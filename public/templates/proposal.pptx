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8"/>
  </p:notesMasterIdLst>
  <p:handoutMasterIdLst>
    <p:handoutMasterId r:id="rId49"/>
  </p:handoutMasterIdLst>
  <p:sldIdLst>
    <p:sldId id="2147479851" r:id="rId5"/>
    <p:sldId id="2147479856" r:id="rId6"/>
    <p:sldId id="2147479855" r:id="rId7"/>
    <p:sldId id="2147479873" r:id="rId8"/>
    <p:sldId id="2147479886" r:id="rId9"/>
    <p:sldId id="2147479900" r:id="rId10"/>
    <p:sldId id="2147479888" r:id="rId11"/>
    <p:sldId id="2147479897" r:id="rId12"/>
    <p:sldId id="2147479896" r:id="rId13"/>
    <p:sldId id="2147479899" r:id="rId14"/>
    <p:sldId id="2147479860" r:id="rId15"/>
    <p:sldId id="2147479885" r:id="rId16"/>
    <p:sldId id="2147479883" r:id="rId17"/>
    <p:sldId id="2147479879" r:id="rId18"/>
    <p:sldId id="2147479901" r:id="rId19"/>
    <p:sldId id="2147479933" r:id="rId20"/>
    <p:sldId id="2147479934" r:id="rId21"/>
    <p:sldId id="2147479935" r:id="rId22"/>
    <p:sldId id="2147479936" r:id="rId23"/>
    <p:sldId id="2147479919" r:id="rId24"/>
    <p:sldId id="2147479874" r:id="rId25"/>
    <p:sldId id="2147479867" r:id="rId26"/>
    <p:sldId id="2147479852" r:id="rId27"/>
    <p:sldId id="2147479938" r:id="rId28"/>
    <p:sldId id="2147479854" r:id="rId29"/>
    <p:sldId id="2147479864" r:id="rId30"/>
    <p:sldId id="2147479939" r:id="rId31"/>
    <p:sldId id="2147479866" r:id="rId32"/>
    <p:sldId id="2147479857" r:id="rId33"/>
    <p:sldId id="2147479940" r:id="rId34"/>
    <p:sldId id="2147480359" r:id="rId35"/>
    <p:sldId id="2147480360" r:id="rId36"/>
    <p:sldId id="2147480743" r:id="rId37"/>
    <p:sldId id="2147480706" r:id="rId38"/>
    <p:sldId id="2147480700" r:id="rId39"/>
    <p:sldId id="2147480750" r:id="rId40"/>
    <p:sldId id="2147483560" r:id="rId41"/>
    <p:sldId id="2147483575" r:id="rId42"/>
    <p:sldId id="2147483626" r:id="rId43"/>
    <p:sldId id="2147483617" r:id="rId44"/>
    <p:sldId id="272" r:id="rId45"/>
    <p:sldId id="2147483566" r:id="rId46"/>
    <p:sldId id="2147480570"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38C1F3"/>
    <a:srgbClr val="01B0F0"/>
    <a:srgbClr val="92D050"/>
    <a:srgbClr val="D6E4F7"/>
    <a:srgbClr val="85BED7"/>
    <a:srgbClr val="32BFF3"/>
    <a:srgbClr val="0F58A5"/>
    <a:srgbClr val="E8F0E7"/>
    <a:srgbClr val="276D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B0832E-8A41-45CC-BAD8-EF489E92775A}" v="85" dt="2026-03-04T14:13:50.684"/>
    <p1510:client id="{2C3FBB9D-D5CF-9EDD-3D1E-79F1360D4BB8}" v="204" dt="2026-03-04T14:23:42.802"/>
    <p1510:client id="{4D247EC6-A98D-425E-997E-A5A5A48262C1}" v="4" dt="2026-03-04T15:04:01.233"/>
    <p1510:client id="{9F819565-2283-4556-9C7A-9C62DE49D673}" v="67" dt="2026-03-04T14:28:19.562"/>
    <p1510:client id="{FF49CDAE-AD49-481E-8545-A6BF4B17CCA1}" v="18" dt="2026-03-04T13:38:47.203"/>
  </p1510:revLst>
</p1510:revInfo>
</file>

<file path=ppt/tableStyles.xml><?xml version="1.0" encoding="utf-8"?>
<a:tblStyleLst xmlns:a="http://schemas.openxmlformats.org/drawingml/2006/main" def="{5C22544A-7EE6-4342-B048-85BDC9FD1C3A}">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18" autoAdjust="0"/>
    <p:restoredTop sz="94660"/>
  </p:normalViewPr>
  <p:slideViewPr>
    <p:cSldViewPr snapToGrid="0">
      <p:cViewPr varScale="1">
        <p:scale>
          <a:sx n="59" d="100"/>
          <a:sy n="59" d="100"/>
        </p:scale>
        <p:origin x="103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2F4BA2D-5304-4630-516F-6CAE57C9390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DFB2AD0-DA34-455B-7B54-B4DA65C772B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ECEC264-B674-BD4A-B559-45855B03B8C9}" type="datetimeFigureOut">
              <a:rPr lang="en-US" smtClean="0"/>
              <a:t>4/10/2026</a:t>
            </a:fld>
            <a:endParaRPr lang="en-US"/>
          </a:p>
        </p:txBody>
      </p:sp>
      <p:sp>
        <p:nvSpPr>
          <p:cNvPr id="4" name="Footer Placeholder 3">
            <a:extLst>
              <a:ext uri="{FF2B5EF4-FFF2-40B4-BE49-F238E27FC236}">
                <a16:creationId xmlns:a16="http://schemas.microsoft.com/office/drawing/2014/main" id="{52263262-4DDB-14B7-A8CA-6F450CD0A95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2F14119-687B-5DE1-18AA-C6A412BD76B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51988E-5F5E-B843-8EE4-7A7AF02E5FB9}" type="slidenum">
              <a:rPr lang="en-US" smtClean="0"/>
              <a:t>‹#›</a:t>
            </a:fld>
            <a:endParaRPr lang="en-US"/>
          </a:p>
        </p:txBody>
      </p:sp>
    </p:spTree>
    <p:extLst>
      <p:ext uri="{BB962C8B-B14F-4D97-AF65-F5344CB8AC3E}">
        <p14:creationId xmlns:p14="http://schemas.microsoft.com/office/powerpoint/2010/main" val="340618490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5ABDF5-12DB-894D-81B5-27DC20258B74}" type="datetimeFigureOut">
              <a:rPr lang="en-US" smtClean="0"/>
              <a:t>4/10/2026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A31BF4-6DDD-9D40-9216-06665F8CDD75}" type="slidenum">
              <a:rPr lang="en-US" smtClean="0"/>
              <a:t>‹#›</a:t>
            </a:fld>
            <a:endParaRPr lang="en-US"/>
          </a:p>
        </p:txBody>
      </p:sp>
    </p:spTree>
    <p:extLst>
      <p:ext uri="{BB962C8B-B14F-4D97-AF65-F5344CB8AC3E}">
        <p14:creationId xmlns:p14="http://schemas.microsoft.com/office/powerpoint/2010/main" val="30071547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EA31BF4-6DDD-9D40-9216-06665F8CDD75}" type="slidenum">
              <a:rPr lang="en-US" smtClean="0"/>
              <a:t>3</a:t>
            </a:fld>
            <a:endParaRPr lang="en-US"/>
          </a:p>
        </p:txBody>
      </p:sp>
    </p:spTree>
    <p:extLst>
      <p:ext uri="{BB962C8B-B14F-4D97-AF65-F5344CB8AC3E}">
        <p14:creationId xmlns:p14="http://schemas.microsoft.com/office/powerpoint/2010/main" val="32535490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EA31BF4-6DDD-9D40-9216-06665F8CDD75}" type="slidenum">
              <a:rPr lang="en-US" smtClean="0"/>
              <a:t>4</a:t>
            </a:fld>
            <a:endParaRPr lang="en-US"/>
          </a:p>
        </p:txBody>
      </p:sp>
    </p:spTree>
    <p:extLst>
      <p:ext uri="{BB962C8B-B14F-4D97-AF65-F5344CB8AC3E}">
        <p14:creationId xmlns:p14="http://schemas.microsoft.com/office/powerpoint/2010/main" val="33675376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Validate</a:t>
            </a:r>
            <a:endParaRPr lang="en-IN"/>
          </a:p>
        </p:txBody>
      </p:sp>
      <p:sp>
        <p:nvSpPr>
          <p:cNvPr id="4" name="Slide Number Placeholder 3"/>
          <p:cNvSpPr>
            <a:spLocks noGrp="1"/>
          </p:cNvSpPr>
          <p:nvPr>
            <p:ph type="sldNum" sz="quarter" idx="5"/>
          </p:nvPr>
        </p:nvSpPr>
        <p:spPr/>
        <p:txBody>
          <a:bodyPr/>
          <a:lstStyle/>
          <a:p>
            <a:fld id="{4EA31BF4-6DDD-9D40-9216-06665F8CDD75}" type="slidenum">
              <a:rPr lang="en-US" smtClean="0"/>
              <a:t>11</a:t>
            </a:fld>
            <a:endParaRPr lang="en-US"/>
          </a:p>
        </p:txBody>
      </p:sp>
    </p:spTree>
    <p:extLst>
      <p:ext uri="{BB962C8B-B14F-4D97-AF65-F5344CB8AC3E}">
        <p14:creationId xmlns:p14="http://schemas.microsoft.com/office/powerpoint/2010/main" val="8565943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D1643-D6AA-E609-BAC6-BE15B8DB54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AF7A49-6DE6-68DE-EB6A-7D3BDB4EE4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664050-60DD-136E-6CD0-2CADCD713BC7}"/>
              </a:ext>
            </a:extLst>
          </p:cNvPr>
          <p:cNvSpPr>
            <a:spLocks noGrp="1"/>
          </p:cNvSpPr>
          <p:nvPr>
            <p:ph type="body" idx="1"/>
          </p:nvPr>
        </p:nvSpPr>
        <p:spPr/>
        <p:txBody>
          <a:bodyPr/>
          <a:lstStyle/>
          <a:p>
            <a:r>
              <a:rPr lang="en-US"/>
              <a:t>Re promt</a:t>
            </a:r>
            <a:endParaRPr lang="en-IN"/>
          </a:p>
        </p:txBody>
      </p:sp>
      <p:sp>
        <p:nvSpPr>
          <p:cNvPr id="4" name="Slide Number Placeholder 3">
            <a:extLst>
              <a:ext uri="{FF2B5EF4-FFF2-40B4-BE49-F238E27FC236}">
                <a16:creationId xmlns:a16="http://schemas.microsoft.com/office/drawing/2014/main" id="{A222AAEA-0FA6-2841-BE1C-41686873F2E4}"/>
              </a:ext>
            </a:extLst>
          </p:cNvPr>
          <p:cNvSpPr>
            <a:spLocks noGrp="1"/>
          </p:cNvSpPr>
          <p:nvPr>
            <p:ph type="sldNum" sz="quarter" idx="5"/>
          </p:nvPr>
        </p:nvSpPr>
        <p:spPr/>
        <p:txBody>
          <a:bodyPr/>
          <a:lstStyle/>
          <a:p>
            <a:fld id="{4EA31BF4-6DDD-9D40-9216-06665F8CDD75}" type="slidenum">
              <a:rPr lang="en-US" smtClean="0"/>
              <a:t>12</a:t>
            </a:fld>
            <a:endParaRPr lang="en-US"/>
          </a:p>
        </p:txBody>
      </p:sp>
    </p:spTree>
    <p:extLst>
      <p:ext uri="{BB962C8B-B14F-4D97-AF65-F5344CB8AC3E}">
        <p14:creationId xmlns:p14="http://schemas.microsoft.com/office/powerpoint/2010/main" val="36117992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20747-CE72-AFFE-7507-7524346015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027009-6B71-AF55-9FE9-2EAF4A4E01D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E6F60F1-3478-60FA-3327-3C3351EF09A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ADC5D11-5E36-97F7-F8B3-E462799C40B4}"/>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7833251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2B557-CB9A-6C0D-1CCD-7F8D2D5B48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77F1EF-BF38-5B11-3BC9-998060A6E9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5DEC4D-888D-2482-44A2-5CE498630C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AE4581D-2E10-6131-2A3E-A4690A669F3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EA31BF4-6DDD-9D40-9216-06665F8CDD75}" type="slidenum">
              <a:rPr kumimoji="0" lang="en-US" sz="1200" b="0" i="0" u="none" strike="noStrike" kern="1200" cap="none" spc="0" normalizeH="0" baseline="0" noProof="0" smtClean="0">
                <a:ln>
                  <a:noFill/>
                </a:ln>
                <a:solidFill>
                  <a:prstClr val="black"/>
                </a:solidFill>
                <a:effectLst/>
                <a:uLnTx/>
                <a:uFillTx/>
                <a:latin typeface="Apto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1565502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EA31BF4-6DDD-9D40-9216-06665F8CDD75}" type="slidenum">
              <a:rPr lang="en-US" smtClean="0"/>
              <a:t>38</a:t>
            </a:fld>
            <a:endParaRPr lang="en-US"/>
          </a:p>
        </p:txBody>
      </p:sp>
    </p:spTree>
    <p:extLst>
      <p:ext uri="{BB962C8B-B14F-4D97-AF65-F5344CB8AC3E}">
        <p14:creationId xmlns:p14="http://schemas.microsoft.com/office/powerpoint/2010/main" val="13338122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79CAA-F8B5-A7E3-A85F-108692BDD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CEC358-23BE-EB50-AE79-9D172658F9F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9D8BD3B-4178-178A-6924-61801C823236}"/>
              </a:ext>
            </a:extLst>
          </p:cNvPr>
          <p:cNvSpPr>
            <a:spLocks noGrp="1"/>
          </p:cNvSpPr>
          <p:nvPr>
            <p:ph type="body" idx="1"/>
          </p:nvPr>
        </p:nvSpPr>
        <p:spPr/>
        <p:txBody>
          <a:bodyPr/>
          <a:lstStyle/>
          <a:p>
            <a:endParaRPr lang="en-US" sz="900"/>
          </a:p>
        </p:txBody>
      </p:sp>
      <p:sp>
        <p:nvSpPr>
          <p:cNvPr id="4" name="Slide Number Placeholder 3">
            <a:extLst>
              <a:ext uri="{FF2B5EF4-FFF2-40B4-BE49-F238E27FC236}">
                <a16:creationId xmlns:a16="http://schemas.microsoft.com/office/drawing/2014/main" id="{CBCCF67A-8431-7978-46B8-78315B27B496}"/>
              </a:ext>
            </a:extLst>
          </p:cNvPr>
          <p:cNvSpPr>
            <a:spLocks noGrp="1"/>
          </p:cNvSpPr>
          <p:nvPr>
            <p:ph type="sldNum" sz="quarter" idx="5"/>
          </p:nvPr>
        </p:nvSpPr>
        <p:spPr/>
        <p:txBody>
          <a:bodyPr/>
          <a:lstStyle/>
          <a:p>
            <a:fld id="{4EA31BF4-6DDD-9D40-9216-06665F8CDD75}" type="slidenum">
              <a:rPr lang="en-US" smtClean="0"/>
              <a:t>40</a:t>
            </a:fld>
            <a:endParaRPr lang="en-US"/>
          </a:p>
        </p:txBody>
      </p:sp>
    </p:spTree>
    <p:extLst>
      <p:ext uri="{BB962C8B-B14F-4D97-AF65-F5344CB8AC3E}">
        <p14:creationId xmlns:p14="http://schemas.microsoft.com/office/powerpoint/2010/main" val="7729237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5CFB76-89F4-2F4D-9685-1AEA36C0C861}" type="slidenum">
              <a:rPr lang="en-US" smtClean="0"/>
              <a:t>43</a:t>
            </a:fld>
            <a:endParaRPr lang="en-US"/>
          </a:p>
        </p:txBody>
      </p:sp>
    </p:spTree>
    <p:extLst>
      <p:ext uri="{BB962C8B-B14F-4D97-AF65-F5344CB8AC3E}">
        <p14:creationId xmlns:p14="http://schemas.microsoft.com/office/powerpoint/2010/main" val="33530524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New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32978E5-BDE2-3748-4070-28D03FD215FD}"/>
              </a:ext>
            </a:extLst>
          </p:cNvPr>
          <p:cNvSpPr>
            <a:spLocks noGrp="1"/>
          </p:cNvSpPr>
          <p:nvPr>
            <p:ph type="title" hasCustomPrompt="1"/>
          </p:nvPr>
        </p:nvSpPr>
        <p:spPr>
          <a:xfrm>
            <a:off x="285205" y="145617"/>
            <a:ext cx="10926134" cy="576000"/>
          </a:xfrm>
        </p:spPr>
        <p:txBody>
          <a:bodyPr/>
          <a:lstStyle/>
          <a:p>
            <a:r>
              <a:rPr lang="en-GB"/>
              <a:t>Click to edit title</a:t>
            </a:r>
            <a:endParaRPr lang="en-US"/>
          </a:p>
        </p:txBody>
      </p:sp>
    </p:spTree>
    <p:extLst>
      <p:ext uri="{BB962C8B-B14F-4D97-AF65-F5344CB8AC3E}">
        <p14:creationId xmlns:p14="http://schemas.microsoft.com/office/powerpoint/2010/main" val="12998953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New Slide">
    <p:spTree>
      <p:nvGrpSpPr>
        <p:cNvPr id="1" name=""/>
        <p:cNvGrpSpPr/>
        <p:nvPr/>
      </p:nvGrpSpPr>
      <p:grpSpPr>
        <a:xfrm>
          <a:off x="0" y="0"/>
          <a:ext cx="0" cy="0"/>
          <a:chOff x="0" y="0"/>
          <a:chExt cx="0" cy="0"/>
        </a:xfrm>
      </p:grpSpPr>
      <p:sp>
        <p:nvSpPr>
          <p:cNvPr id="28" name="Title 1">
            <a:extLst>
              <a:ext uri="{FF2B5EF4-FFF2-40B4-BE49-F238E27FC236}">
                <a16:creationId xmlns:a16="http://schemas.microsoft.com/office/drawing/2014/main" id="{CE2DFD78-0FB9-640E-DC7D-8D1B378AFDFC}"/>
              </a:ext>
            </a:extLst>
          </p:cNvPr>
          <p:cNvSpPr txBox="1">
            <a:spLocks/>
          </p:cNvSpPr>
          <p:nvPr userDrawn="1"/>
        </p:nvSpPr>
        <p:spPr>
          <a:xfrm>
            <a:off x="285205" y="145617"/>
            <a:ext cx="10926134" cy="576000"/>
          </a:xfrm>
          <a:prstGeom prst="rect">
            <a:avLst/>
          </a:prstGeom>
        </p:spPr>
        <p:txBody>
          <a:bodyPr vert="horz" lIns="91440" tIns="45720" rIns="91440" bIns="45720" rtlCol="0" anchor="t">
            <a:normAutofit/>
          </a:bodyPr>
          <a:lstStyle>
            <a:lvl1pPr algn="l" defTabSz="914377" rtl="0" eaLnBrk="1" latinLnBrk="0" hangingPunct="1">
              <a:lnSpc>
                <a:spcPct val="90000"/>
              </a:lnSpc>
              <a:spcBef>
                <a:spcPct val="0"/>
              </a:spcBef>
              <a:buNone/>
              <a:defRPr lang="en-US" sz="2800" b="1" kern="1200" dirty="0">
                <a:solidFill>
                  <a:srgbClr val="E44C25"/>
                </a:solidFill>
                <a:latin typeface="Roboto" panose="02000000000000000000" pitchFamily="2" charset="0"/>
                <a:ea typeface="Roboto" panose="02000000000000000000" pitchFamily="2" charset="0"/>
                <a:cs typeface="+mn-cs"/>
              </a:defRPr>
            </a:lvl1pPr>
          </a:lstStyle>
          <a:p>
            <a:r>
              <a:rPr lang="en-IN">
                <a:cs typeface="Lato" panose="020F0502020204030203" pitchFamily="34" charset="0"/>
              </a:rPr>
              <a:t>Snapshot</a:t>
            </a:r>
          </a:p>
        </p:txBody>
      </p:sp>
      <p:sp>
        <p:nvSpPr>
          <p:cNvPr id="39" name="Rectangle 38">
            <a:extLst>
              <a:ext uri="{FF2B5EF4-FFF2-40B4-BE49-F238E27FC236}">
                <a16:creationId xmlns:a16="http://schemas.microsoft.com/office/drawing/2014/main" id="{CE3E7E0E-640B-A987-6337-67F7D150EF5E}"/>
              </a:ext>
            </a:extLst>
          </p:cNvPr>
          <p:cNvSpPr/>
          <p:nvPr userDrawn="1"/>
        </p:nvSpPr>
        <p:spPr>
          <a:xfrm>
            <a:off x="-1" y="984502"/>
            <a:ext cx="12220009" cy="2621213"/>
          </a:xfrm>
          <a:prstGeom prst="rect">
            <a:avLst/>
          </a:prstGeom>
          <a:solidFill>
            <a:srgbClr val="EEEE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ato" pitchFamily="34" charset="0"/>
              <a:ea typeface="Lato" pitchFamily="34" charset="-122"/>
              <a:cs typeface="Lato" panose="020F0502020204030203" pitchFamily="34" charset="0"/>
            </a:endParaRPr>
          </a:p>
        </p:txBody>
      </p:sp>
      <p:sp>
        <p:nvSpPr>
          <p:cNvPr id="42" name="Round Same-side Corner of Rectangle 41">
            <a:extLst>
              <a:ext uri="{FF2B5EF4-FFF2-40B4-BE49-F238E27FC236}">
                <a16:creationId xmlns:a16="http://schemas.microsoft.com/office/drawing/2014/main" id="{4E918716-ECE6-3683-0036-4BB5B871F1CA}"/>
              </a:ext>
            </a:extLst>
          </p:cNvPr>
          <p:cNvSpPr/>
          <p:nvPr userDrawn="1"/>
        </p:nvSpPr>
        <p:spPr>
          <a:xfrm rot="10800000">
            <a:off x="7598213" y="1180102"/>
            <a:ext cx="1837956" cy="1036182"/>
          </a:xfrm>
          <a:prstGeom prst="round2SameRect">
            <a:avLst>
              <a:gd name="adj1" fmla="val 9389"/>
              <a:gd name="adj2" fmla="val 0"/>
            </a:avLst>
          </a:prstGeom>
          <a:solidFill>
            <a:schemeClr val="bg1"/>
          </a:solidFill>
          <a:ln>
            <a:noFill/>
          </a:ln>
          <a:effectLst>
            <a:outerShdw blurRad="163204" dist="77240" dir="5400000" algn="t" rotWithShape="0">
              <a:prstClr val="black">
                <a:alpha val="4999"/>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a typeface="Lato" panose="020F0502020204030203" pitchFamily="34" charset="0"/>
              <a:cs typeface="Lato" panose="020F0502020204030203" pitchFamily="34" charset="0"/>
            </a:endParaRPr>
          </a:p>
        </p:txBody>
      </p:sp>
      <p:sp>
        <p:nvSpPr>
          <p:cNvPr id="43" name="Round Same-side Corner of Rectangle 42">
            <a:extLst>
              <a:ext uri="{FF2B5EF4-FFF2-40B4-BE49-F238E27FC236}">
                <a16:creationId xmlns:a16="http://schemas.microsoft.com/office/drawing/2014/main" id="{FA18F5DF-221A-9BB6-3824-C81D9EE1D753}"/>
              </a:ext>
            </a:extLst>
          </p:cNvPr>
          <p:cNvSpPr/>
          <p:nvPr userDrawn="1"/>
        </p:nvSpPr>
        <p:spPr>
          <a:xfrm rot="10800000">
            <a:off x="9593959" y="1180102"/>
            <a:ext cx="1837957" cy="1036182"/>
          </a:xfrm>
          <a:prstGeom prst="round2SameRect">
            <a:avLst>
              <a:gd name="adj1" fmla="val 9389"/>
              <a:gd name="adj2" fmla="val 0"/>
            </a:avLst>
          </a:prstGeom>
          <a:solidFill>
            <a:schemeClr val="bg1"/>
          </a:solidFill>
          <a:ln>
            <a:noFill/>
          </a:ln>
          <a:effectLst>
            <a:outerShdw blurRad="163204" dist="77240" dir="5400000" algn="t" rotWithShape="0">
              <a:prstClr val="black">
                <a:alpha val="4999"/>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a typeface="Lato" panose="020F0502020204030203" pitchFamily="34" charset="0"/>
              <a:cs typeface="Lato" panose="020F0502020204030203" pitchFamily="34" charset="0"/>
            </a:endParaRPr>
          </a:p>
        </p:txBody>
      </p:sp>
      <p:sp>
        <p:nvSpPr>
          <p:cNvPr id="44" name="TextBox 43">
            <a:extLst>
              <a:ext uri="{FF2B5EF4-FFF2-40B4-BE49-F238E27FC236}">
                <a16:creationId xmlns:a16="http://schemas.microsoft.com/office/drawing/2014/main" id="{4FABC6C4-1BF9-BA52-408B-A92FFACF0ED6}"/>
              </a:ext>
            </a:extLst>
          </p:cNvPr>
          <p:cNvSpPr txBox="1"/>
          <p:nvPr userDrawn="1"/>
        </p:nvSpPr>
        <p:spPr>
          <a:xfrm>
            <a:off x="7742625" y="1345809"/>
            <a:ext cx="1549130" cy="707886"/>
          </a:xfrm>
          <a:prstGeom prst="rect">
            <a:avLst/>
          </a:prstGeom>
          <a:noFill/>
        </p:spPr>
        <p:txBody>
          <a:bodyPr wrap="square" rtlCol="0">
            <a:spAutoFit/>
          </a:bodyPr>
          <a:lstStyle/>
          <a:p>
            <a:pPr algn="ctr"/>
            <a:r>
              <a:rPr lang="en-US" sz="2600">
                <a:solidFill>
                  <a:srgbClr val="0070C0"/>
                </a:solidFill>
                <a:latin typeface="Lato" panose="020F0502020204030203" pitchFamily="34" charset="0"/>
                <a:ea typeface="Lato" panose="020F0502020204030203" pitchFamily="34" charset="0"/>
                <a:cs typeface="Lato" panose="020F0502020204030203" pitchFamily="34" charset="0"/>
              </a:rPr>
              <a:t>100+</a:t>
            </a:r>
            <a:r>
              <a:rPr lang="en-US" sz="2400" b="1">
                <a:solidFill>
                  <a:srgbClr val="0070C0"/>
                </a:solidFill>
                <a:latin typeface="Lato" panose="020F0502020204030203" pitchFamily="34" charset="0"/>
                <a:ea typeface="Lato" panose="020F0502020204030203" pitchFamily="34" charset="0"/>
                <a:cs typeface="Lato" panose="020F0502020204030203" pitchFamily="34" charset="0"/>
              </a:rPr>
              <a:t> </a:t>
            </a:r>
            <a:br>
              <a:rPr lang="en-US" sz="2400">
                <a:latin typeface="Lato" panose="020F0502020204030203" pitchFamily="34" charset="0"/>
                <a:ea typeface="Lato" panose="020F0502020204030203" pitchFamily="34" charset="0"/>
                <a:cs typeface="Lato" panose="020F0502020204030203" pitchFamily="34" charset="0"/>
              </a:rPr>
            </a:br>
            <a:r>
              <a:rPr lang="en-US" sz="1400">
                <a:latin typeface="Lato" panose="020F0502020204030203" pitchFamily="34" charset="0"/>
                <a:ea typeface="Lato" panose="020F0502020204030203" pitchFamily="34" charset="0"/>
                <a:cs typeface="Lato" panose="020F0502020204030203" pitchFamily="34" charset="0"/>
              </a:rPr>
              <a:t>Releases/year</a:t>
            </a:r>
          </a:p>
        </p:txBody>
      </p:sp>
      <p:sp>
        <p:nvSpPr>
          <p:cNvPr id="45" name="TextBox 44">
            <a:extLst>
              <a:ext uri="{FF2B5EF4-FFF2-40B4-BE49-F238E27FC236}">
                <a16:creationId xmlns:a16="http://schemas.microsoft.com/office/drawing/2014/main" id="{A702931C-0654-7746-1071-291AA61381EA}"/>
              </a:ext>
            </a:extLst>
          </p:cNvPr>
          <p:cNvSpPr txBox="1"/>
          <p:nvPr userDrawn="1"/>
        </p:nvSpPr>
        <p:spPr>
          <a:xfrm>
            <a:off x="9877313" y="1359639"/>
            <a:ext cx="1271249" cy="707886"/>
          </a:xfrm>
          <a:prstGeom prst="rect">
            <a:avLst/>
          </a:prstGeom>
          <a:noFill/>
        </p:spPr>
        <p:txBody>
          <a:bodyPr wrap="square" rtlCol="0">
            <a:spAutoFit/>
          </a:bodyPr>
          <a:lstStyle/>
          <a:p>
            <a:pPr algn="ctr"/>
            <a:r>
              <a:rPr lang="en-US" sz="2600">
                <a:solidFill>
                  <a:srgbClr val="0070C0"/>
                </a:solidFill>
                <a:latin typeface="Lato" panose="020F0502020204030203" pitchFamily="34" charset="0"/>
                <a:ea typeface="Lato" panose="020F0502020204030203" pitchFamily="34" charset="0"/>
                <a:cs typeface="Lato" panose="020F0502020204030203" pitchFamily="34" charset="0"/>
              </a:rPr>
              <a:t>60+</a:t>
            </a:r>
            <a:r>
              <a:rPr lang="en-US" sz="2600">
                <a:latin typeface="Lato" panose="020F0502020204030203" pitchFamily="34" charset="0"/>
                <a:ea typeface="Lato" panose="020F0502020204030203" pitchFamily="34" charset="0"/>
                <a:cs typeface="Lato" panose="020F0502020204030203" pitchFamily="34" charset="0"/>
              </a:rPr>
              <a:t> </a:t>
            </a:r>
          </a:p>
          <a:p>
            <a:pPr algn="ctr"/>
            <a:r>
              <a:rPr lang="en-US" sz="1400">
                <a:latin typeface="Lato" panose="020F0502020204030203" pitchFamily="34" charset="0"/>
                <a:ea typeface="Lato" panose="020F0502020204030203" pitchFamily="34" charset="0"/>
                <a:cs typeface="Lato" panose="020F0502020204030203" pitchFamily="34" charset="0"/>
              </a:rPr>
              <a:t>Customers </a:t>
            </a:r>
          </a:p>
        </p:txBody>
      </p:sp>
      <p:grpSp>
        <p:nvGrpSpPr>
          <p:cNvPr id="46" name="Group 45">
            <a:extLst>
              <a:ext uri="{FF2B5EF4-FFF2-40B4-BE49-F238E27FC236}">
                <a16:creationId xmlns:a16="http://schemas.microsoft.com/office/drawing/2014/main" id="{55CB3B05-5525-1D1E-0EDE-0C1AA4D6E0A5}"/>
              </a:ext>
            </a:extLst>
          </p:cNvPr>
          <p:cNvGrpSpPr/>
          <p:nvPr userDrawn="1"/>
        </p:nvGrpSpPr>
        <p:grpSpPr>
          <a:xfrm>
            <a:off x="8596086" y="2347727"/>
            <a:ext cx="1837955" cy="1036182"/>
            <a:chOff x="8596086" y="2347727"/>
            <a:chExt cx="1837955" cy="1036182"/>
          </a:xfrm>
        </p:grpSpPr>
        <p:sp>
          <p:nvSpPr>
            <p:cNvPr id="47" name="Round Same-side Corner of Rectangle 46">
              <a:extLst>
                <a:ext uri="{FF2B5EF4-FFF2-40B4-BE49-F238E27FC236}">
                  <a16:creationId xmlns:a16="http://schemas.microsoft.com/office/drawing/2014/main" id="{03B0E5FA-6191-1679-BACB-B902D9636001}"/>
                </a:ext>
              </a:extLst>
            </p:cNvPr>
            <p:cNvSpPr/>
            <p:nvPr/>
          </p:nvSpPr>
          <p:spPr>
            <a:xfrm rot="10800000">
              <a:off x="8596086" y="2347727"/>
              <a:ext cx="1837955" cy="1036182"/>
            </a:xfrm>
            <a:prstGeom prst="round2SameRect">
              <a:avLst>
                <a:gd name="adj1" fmla="val 9389"/>
                <a:gd name="adj2" fmla="val 0"/>
              </a:avLst>
            </a:prstGeom>
            <a:solidFill>
              <a:schemeClr val="bg1"/>
            </a:solidFill>
            <a:ln>
              <a:noFill/>
            </a:ln>
            <a:effectLst>
              <a:outerShdw blurRad="163204" dist="77240" dir="5400000" algn="t" rotWithShape="0">
                <a:prstClr val="black">
                  <a:alpha val="4999"/>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a typeface="Lato" panose="020F0502020204030203" pitchFamily="34" charset="0"/>
                <a:cs typeface="Lato" panose="020F0502020204030203" pitchFamily="34" charset="0"/>
              </a:endParaRPr>
            </a:p>
          </p:txBody>
        </p:sp>
        <p:sp>
          <p:nvSpPr>
            <p:cNvPr id="48" name="TextBox 47">
              <a:extLst>
                <a:ext uri="{FF2B5EF4-FFF2-40B4-BE49-F238E27FC236}">
                  <a16:creationId xmlns:a16="http://schemas.microsoft.com/office/drawing/2014/main" id="{3344EC25-BA65-0506-D21E-8FE5DEE6CADD}"/>
                </a:ext>
              </a:extLst>
            </p:cNvPr>
            <p:cNvSpPr txBox="1"/>
            <p:nvPr/>
          </p:nvSpPr>
          <p:spPr>
            <a:xfrm>
              <a:off x="8721652" y="2526378"/>
              <a:ext cx="1584793" cy="707886"/>
            </a:xfrm>
            <a:prstGeom prst="rect">
              <a:avLst/>
            </a:prstGeom>
            <a:noFill/>
          </p:spPr>
          <p:txBody>
            <a:bodyPr wrap="square" rtlCol="0">
              <a:spAutoFit/>
            </a:bodyPr>
            <a:lstStyle/>
            <a:p>
              <a:pPr algn="ctr"/>
              <a:r>
                <a:rPr lang="en-US" sz="2600">
                  <a:solidFill>
                    <a:srgbClr val="0070C0"/>
                  </a:solidFill>
                  <a:latin typeface="Lato" panose="020F0502020204030203" pitchFamily="34" charset="0"/>
                  <a:ea typeface="Lato" panose="020F0502020204030203" pitchFamily="34" charset="0"/>
                  <a:cs typeface="Lato" panose="020F0502020204030203" pitchFamily="34" charset="0"/>
                </a:rPr>
                <a:t>6</a:t>
              </a:r>
            </a:p>
            <a:p>
              <a:pPr algn="ctr"/>
              <a:r>
                <a:rPr lang="en-US" sz="1400">
                  <a:latin typeface="Lato" panose="020F0502020204030203" pitchFamily="34" charset="0"/>
                  <a:ea typeface="Lato" panose="020F0502020204030203" pitchFamily="34" charset="0"/>
                  <a:cs typeface="Lato" panose="020F0502020204030203" pitchFamily="34" charset="0"/>
                </a:rPr>
                <a:t>Delivery Centers</a:t>
              </a:r>
            </a:p>
          </p:txBody>
        </p:sp>
      </p:grpSp>
      <p:sp>
        <p:nvSpPr>
          <p:cNvPr id="49" name="Content Placeholder 2">
            <a:extLst>
              <a:ext uri="{FF2B5EF4-FFF2-40B4-BE49-F238E27FC236}">
                <a16:creationId xmlns:a16="http://schemas.microsoft.com/office/drawing/2014/main" id="{8CCE70D7-A2DD-4FFE-B6A6-895CF51AC6C6}"/>
              </a:ext>
            </a:extLst>
          </p:cNvPr>
          <p:cNvSpPr txBox="1">
            <a:spLocks/>
          </p:cNvSpPr>
          <p:nvPr userDrawn="1"/>
        </p:nvSpPr>
        <p:spPr>
          <a:xfrm>
            <a:off x="1438254" y="1491707"/>
            <a:ext cx="4657746" cy="1606801"/>
          </a:xfrm>
        </p:spPr>
        <p:txBody>
          <a:bodyPr>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Font typeface="Arial" panose="020B0604020202020204" pitchFamily="34" charset="0"/>
              <a:buNone/>
            </a:pPr>
            <a:r>
              <a:rPr lang="en-IN" sz="2400" b="1" baseline="0">
                <a:solidFill>
                  <a:srgbClr val="0070C0"/>
                </a:solidFill>
                <a:latin typeface="Roboto" panose="02000000000000000000" pitchFamily="2" charset="0"/>
                <a:ea typeface="Roboto" panose="02000000000000000000" pitchFamily="2" charset="0"/>
              </a:rPr>
              <a:t>Innominds</a:t>
            </a:r>
            <a:r>
              <a:rPr lang="en-IN" sz="180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 is a differentiated Digital and Product Engineering services company. Over the decades we have been delivering innovation to ISVs, OEMs and Enterprises serving focused industry segments.</a:t>
            </a:r>
          </a:p>
        </p:txBody>
      </p:sp>
      <p:sp>
        <p:nvSpPr>
          <p:cNvPr id="2" name="TextBox 1">
            <a:extLst>
              <a:ext uri="{FF2B5EF4-FFF2-40B4-BE49-F238E27FC236}">
                <a16:creationId xmlns:a16="http://schemas.microsoft.com/office/drawing/2014/main" id="{C06D40AF-ECB7-85D7-E886-F9A3FB187F4F}"/>
              </a:ext>
            </a:extLst>
          </p:cNvPr>
          <p:cNvSpPr txBox="1"/>
          <p:nvPr userDrawn="1"/>
        </p:nvSpPr>
        <p:spPr>
          <a:xfrm>
            <a:off x="570196" y="3771402"/>
            <a:ext cx="1736116" cy="369332"/>
          </a:xfrm>
          <a:prstGeom prst="rect">
            <a:avLst/>
          </a:prstGeom>
          <a:noFill/>
        </p:spPr>
        <p:txBody>
          <a:bodyPr wrap="none" rtlCol="0">
            <a:spAutoFit/>
          </a:bodyPr>
          <a:lstStyle/>
          <a:p>
            <a:r>
              <a:rPr lang="en-US" b="1" baseline="0">
                <a:solidFill>
                  <a:srgbClr val="0070C0"/>
                </a:solidFill>
                <a:latin typeface="Lato" panose="020F0502020204030203" pitchFamily="34" charset="0"/>
              </a:rPr>
              <a:t>Industry Focus</a:t>
            </a:r>
          </a:p>
        </p:txBody>
      </p:sp>
      <p:sp>
        <p:nvSpPr>
          <p:cNvPr id="3" name="TextBox 2">
            <a:extLst>
              <a:ext uri="{FF2B5EF4-FFF2-40B4-BE49-F238E27FC236}">
                <a16:creationId xmlns:a16="http://schemas.microsoft.com/office/drawing/2014/main" id="{B6FEDB64-2A0A-FF15-781C-44B3CB7D0A2F}"/>
              </a:ext>
            </a:extLst>
          </p:cNvPr>
          <p:cNvSpPr txBox="1"/>
          <p:nvPr userDrawn="1"/>
        </p:nvSpPr>
        <p:spPr>
          <a:xfrm>
            <a:off x="5230610" y="5862079"/>
            <a:ext cx="1711358" cy="338554"/>
          </a:xfrm>
          <a:prstGeom prst="rect">
            <a:avLst/>
          </a:prstGeom>
          <a:noFill/>
        </p:spPr>
        <p:txBody>
          <a:bodyPr wrap="square">
            <a:spAutoFit/>
          </a:bodyPr>
          <a:lstStyle/>
          <a:p>
            <a:pPr algn="ctr"/>
            <a:r>
              <a:rPr lang="en-IN" sz="1600">
                <a:latin typeface="Lato" panose="020F0502020204030203" pitchFamily="34" charset="0"/>
                <a:ea typeface="Lato" panose="020F0502020204030203" pitchFamily="34" charset="0"/>
                <a:cs typeface="Lato" panose="020F0502020204030203" pitchFamily="34" charset="0"/>
              </a:rPr>
              <a:t>Life Sciences</a:t>
            </a:r>
            <a:endParaRPr lang="en-US" sz="1600">
              <a:latin typeface="Lato" pitchFamily="34" charset="0"/>
              <a:ea typeface="Lato" pitchFamily="34" charset="-122"/>
              <a:cs typeface="Lato" panose="020F0502020204030203" pitchFamily="34" charset="0"/>
            </a:endParaRPr>
          </a:p>
        </p:txBody>
      </p:sp>
      <p:sp>
        <p:nvSpPr>
          <p:cNvPr id="4" name="TextBox 3">
            <a:extLst>
              <a:ext uri="{FF2B5EF4-FFF2-40B4-BE49-F238E27FC236}">
                <a16:creationId xmlns:a16="http://schemas.microsoft.com/office/drawing/2014/main" id="{F59E1A00-DBC8-FB4C-21F2-C566D1BDCF1A}"/>
              </a:ext>
            </a:extLst>
          </p:cNvPr>
          <p:cNvSpPr txBox="1"/>
          <p:nvPr userDrawn="1"/>
        </p:nvSpPr>
        <p:spPr>
          <a:xfrm>
            <a:off x="2636744" y="5862079"/>
            <a:ext cx="2286000" cy="338554"/>
          </a:xfrm>
          <a:prstGeom prst="rect">
            <a:avLst/>
          </a:prstGeom>
          <a:noFill/>
        </p:spPr>
        <p:txBody>
          <a:bodyPr wrap="square">
            <a:spAutoFit/>
          </a:bodyPr>
          <a:lstStyle/>
          <a:p>
            <a:pPr algn="ctr"/>
            <a:r>
              <a:rPr lang="en-IN" sz="1600">
                <a:latin typeface="Lato" panose="020F0502020204030203" pitchFamily="34" charset="0"/>
                <a:ea typeface="Lato" panose="020F0502020204030203" pitchFamily="34" charset="0"/>
                <a:cs typeface="Lato" panose="020F0502020204030203" pitchFamily="34" charset="0"/>
              </a:rPr>
              <a:t>Construction </a:t>
            </a:r>
          </a:p>
        </p:txBody>
      </p:sp>
      <p:sp>
        <p:nvSpPr>
          <p:cNvPr id="5" name="TextBox 4">
            <a:extLst>
              <a:ext uri="{FF2B5EF4-FFF2-40B4-BE49-F238E27FC236}">
                <a16:creationId xmlns:a16="http://schemas.microsoft.com/office/drawing/2014/main" id="{B86D9840-2EEE-21BE-2F2D-BF5CFCCDF75F}"/>
              </a:ext>
            </a:extLst>
          </p:cNvPr>
          <p:cNvSpPr txBox="1"/>
          <p:nvPr userDrawn="1"/>
        </p:nvSpPr>
        <p:spPr>
          <a:xfrm>
            <a:off x="7249384" y="5862079"/>
            <a:ext cx="2286000" cy="338554"/>
          </a:xfrm>
          <a:prstGeom prst="rect">
            <a:avLst/>
          </a:prstGeom>
          <a:noFill/>
        </p:spPr>
        <p:txBody>
          <a:bodyPr wrap="square">
            <a:spAutoFit/>
          </a:bodyPr>
          <a:lstStyle/>
          <a:p>
            <a:pPr algn="ctr"/>
            <a:r>
              <a:rPr lang="en-IN" sz="1600">
                <a:latin typeface="Lato" panose="020F0502020204030203" pitchFamily="34" charset="0"/>
                <a:ea typeface="Lato" panose="020F0502020204030203" pitchFamily="34" charset="0"/>
                <a:cs typeface="Lato" panose="020F0502020204030203" pitchFamily="34" charset="0"/>
              </a:rPr>
              <a:t>Automotive</a:t>
            </a:r>
          </a:p>
        </p:txBody>
      </p:sp>
      <p:sp>
        <p:nvSpPr>
          <p:cNvPr id="6" name="TextBox 5">
            <a:extLst>
              <a:ext uri="{FF2B5EF4-FFF2-40B4-BE49-F238E27FC236}">
                <a16:creationId xmlns:a16="http://schemas.microsoft.com/office/drawing/2014/main" id="{C01E1C8E-5EA2-B258-631C-B4FEAE807627}"/>
              </a:ext>
            </a:extLst>
          </p:cNvPr>
          <p:cNvSpPr txBox="1"/>
          <p:nvPr userDrawn="1"/>
        </p:nvSpPr>
        <p:spPr>
          <a:xfrm>
            <a:off x="9515064" y="5862079"/>
            <a:ext cx="2286000" cy="584775"/>
          </a:xfrm>
          <a:prstGeom prst="rect">
            <a:avLst/>
          </a:prstGeom>
          <a:noFill/>
        </p:spPr>
        <p:txBody>
          <a:bodyPr wrap="square">
            <a:spAutoFit/>
          </a:bodyPr>
          <a:lstStyle/>
          <a:p>
            <a:pPr algn="ctr"/>
            <a:r>
              <a:rPr lang="en-IN" sz="1600">
                <a:latin typeface="Lato" panose="020F0502020204030203" pitchFamily="34" charset="0"/>
                <a:ea typeface="Lato" panose="020F0502020204030203" pitchFamily="34" charset="0"/>
                <a:cs typeface="Lato" panose="020F0502020204030203" pitchFamily="34" charset="0"/>
              </a:rPr>
              <a:t>Logistics &amp; Transportation</a:t>
            </a:r>
            <a:endParaRPr lang="en-US" sz="1600">
              <a:latin typeface="Lato" panose="020F0502020204030203" pitchFamily="34" charset="0"/>
              <a:ea typeface="Lato" panose="020F0502020204030203" pitchFamily="34" charset="0"/>
              <a:cs typeface="Lato" panose="020F0502020204030203" pitchFamily="34" charset="0"/>
            </a:endParaRPr>
          </a:p>
        </p:txBody>
      </p:sp>
      <p:cxnSp>
        <p:nvCxnSpPr>
          <p:cNvPr id="7" name="Straight Connector 6">
            <a:extLst>
              <a:ext uri="{FF2B5EF4-FFF2-40B4-BE49-F238E27FC236}">
                <a16:creationId xmlns:a16="http://schemas.microsoft.com/office/drawing/2014/main" id="{16AD2BE5-049E-5735-95C8-BBB97D7875B9}"/>
              </a:ext>
            </a:extLst>
          </p:cNvPr>
          <p:cNvCxnSpPr/>
          <p:nvPr userDrawn="1"/>
        </p:nvCxnSpPr>
        <p:spPr>
          <a:xfrm>
            <a:off x="648449" y="4120414"/>
            <a:ext cx="10892505"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8F7AA830-6EBD-AF8D-106A-2FDF1FBF2C4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29596" y="4323890"/>
            <a:ext cx="1711358" cy="1449548"/>
          </a:xfrm>
          <a:custGeom>
            <a:avLst/>
            <a:gdLst>
              <a:gd name="connsiteX0" fmla="*/ 83840 w 1711358"/>
              <a:gd name="connsiteY0" fmla="*/ 0 h 1417408"/>
              <a:gd name="connsiteX1" fmla="*/ 1627518 w 1711358"/>
              <a:gd name="connsiteY1" fmla="*/ 0 h 1417408"/>
              <a:gd name="connsiteX2" fmla="*/ 1711358 w 1711358"/>
              <a:gd name="connsiteY2" fmla="*/ 83840 h 1417408"/>
              <a:gd name="connsiteX3" fmla="*/ 1711358 w 1711358"/>
              <a:gd name="connsiteY3" fmla="*/ 1333568 h 1417408"/>
              <a:gd name="connsiteX4" fmla="*/ 1627518 w 1711358"/>
              <a:gd name="connsiteY4" fmla="*/ 1417408 h 1417408"/>
              <a:gd name="connsiteX5" fmla="*/ 83840 w 1711358"/>
              <a:gd name="connsiteY5" fmla="*/ 1417408 h 1417408"/>
              <a:gd name="connsiteX6" fmla="*/ 0 w 1711358"/>
              <a:gd name="connsiteY6" fmla="*/ 1333568 h 1417408"/>
              <a:gd name="connsiteX7" fmla="*/ 0 w 1711358"/>
              <a:gd name="connsiteY7" fmla="*/ 83840 h 1417408"/>
              <a:gd name="connsiteX8" fmla="*/ 83840 w 1711358"/>
              <a:gd name="connsiteY8" fmla="*/ 0 h 1417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1358" h="1417408">
                <a:moveTo>
                  <a:pt x="83840" y="0"/>
                </a:moveTo>
                <a:lnTo>
                  <a:pt x="1627518" y="0"/>
                </a:lnTo>
                <a:cubicBezTo>
                  <a:pt x="1673822" y="0"/>
                  <a:pt x="1711358" y="37536"/>
                  <a:pt x="1711358" y="83840"/>
                </a:cubicBezTo>
                <a:lnTo>
                  <a:pt x="1711358" y="1333568"/>
                </a:lnTo>
                <a:cubicBezTo>
                  <a:pt x="1711358" y="1379872"/>
                  <a:pt x="1673822" y="1417408"/>
                  <a:pt x="1627518" y="1417408"/>
                </a:cubicBezTo>
                <a:lnTo>
                  <a:pt x="83840" y="1417408"/>
                </a:lnTo>
                <a:cubicBezTo>
                  <a:pt x="37536" y="1417408"/>
                  <a:pt x="0" y="1379872"/>
                  <a:pt x="0" y="1333568"/>
                </a:cubicBezTo>
                <a:lnTo>
                  <a:pt x="0" y="83840"/>
                </a:lnTo>
                <a:cubicBezTo>
                  <a:pt x="0" y="37536"/>
                  <a:pt x="37536" y="0"/>
                  <a:pt x="83840" y="0"/>
                </a:cubicBezTo>
                <a:close/>
              </a:path>
            </a:pathLst>
          </a:custGeom>
          <a:ln w="19050">
            <a:solidFill>
              <a:schemeClr val="bg1"/>
            </a:solidFill>
          </a:ln>
          <a:effectLst>
            <a:outerShdw blurRad="321299" dist="173231" dir="2700000" algn="tl" rotWithShape="0">
              <a:prstClr val="black">
                <a:alpha val="30059"/>
              </a:prstClr>
            </a:outerShdw>
          </a:effectLst>
        </p:spPr>
      </p:pic>
      <p:sp>
        <p:nvSpPr>
          <p:cNvPr id="9" name="TextBox 47">
            <a:extLst>
              <a:ext uri="{FF2B5EF4-FFF2-40B4-BE49-F238E27FC236}">
                <a16:creationId xmlns:a16="http://schemas.microsoft.com/office/drawing/2014/main" id="{6BEFD6B1-8589-6EC6-FAD6-F7A3904EF7DA}"/>
              </a:ext>
            </a:extLst>
          </p:cNvPr>
          <p:cNvSpPr txBox="1"/>
          <p:nvPr userDrawn="1"/>
        </p:nvSpPr>
        <p:spPr>
          <a:xfrm>
            <a:off x="345738" y="5862079"/>
            <a:ext cx="2286000" cy="615553"/>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600">
                <a:latin typeface="Lato"/>
                <a:ea typeface="Lato"/>
                <a:cs typeface="Lato"/>
              </a:rPr>
              <a:t>Software &amp;</a:t>
            </a:r>
            <a:r>
              <a:rPr lang="en-US"/>
              <a:t> </a:t>
            </a:r>
          </a:p>
          <a:p>
            <a:pPr algn="ctr"/>
            <a:r>
              <a:rPr lang="en-IN" sz="1600">
                <a:latin typeface="Lato"/>
                <a:ea typeface="Lato"/>
                <a:cs typeface="Lato"/>
              </a:rPr>
              <a:t>Hi-Tech</a:t>
            </a:r>
            <a:endParaRPr lang="en-IN"/>
          </a:p>
        </p:txBody>
      </p:sp>
      <p:pic>
        <p:nvPicPr>
          <p:cNvPr id="10" name="Picture 9">
            <a:extLst>
              <a:ext uri="{FF2B5EF4-FFF2-40B4-BE49-F238E27FC236}">
                <a16:creationId xmlns:a16="http://schemas.microsoft.com/office/drawing/2014/main" id="{140B5B8A-B5A2-E907-A115-CC814BC86292}"/>
              </a:ext>
            </a:extLst>
          </p:cNvPr>
          <p:cNvPicPr>
            <a:picLocks noChangeAspect="1" noChangeArrowheads="1"/>
          </p:cNvPicPr>
          <p:nvPr userDrawn="1"/>
        </p:nvPicPr>
        <p:blipFill rotWithShape="1">
          <a:blip r:embed="rId3" cstate="screen">
            <a:extLst>
              <a:ext uri="{28A0092B-C50C-407E-A947-70E740481C1C}">
                <a14:useLocalDpi xmlns:a14="http://schemas.microsoft.com/office/drawing/2010/main"/>
              </a:ext>
            </a:extLst>
          </a:blip>
          <a:srcRect/>
          <a:stretch/>
        </p:blipFill>
        <p:spPr bwMode="auto">
          <a:xfrm>
            <a:off x="638065" y="4313418"/>
            <a:ext cx="1711358" cy="1460025"/>
          </a:xfrm>
          <a:custGeom>
            <a:avLst/>
            <a:gdLst>
              <a:gd name="connsiteX0" fmla="*/ 83840 w 1711358"/>
              <a:gd name="connsiteY0" fmla="*/ 0 h 1417408"/>
              <a:gd name="connsiteX1" fmla="*/ 1627518 w 1711358"/>
              <a:gd name="connsiteY1" fmla="*/ 0 h 1417408"/>
              <a:gd name="connsiteX2" fmla="*/ 1711358 w 1711358"/>
              <a:gd name="connsiteY2" fmla="*/ 83840 h 1417408"/>
              <a:gd name="connsiteX3" fmla="*/ 1711358 w 1711358"/>
              <a:gd name="connsiteY3" fmla="*/ 1333568 h 1417408"/>
              <a:gd name="connsiteX4" fmla="*/ 1627518 w 1711358"/>
              <a:gd name="connsiteY4" fmla="*/ 1417408 h 1417408"/>
              <a:gd name="connsiteX5" fmla="*/ 83840 w 1711358"/>
              <a:gd name="connsiteY5" fmla="*/ 1417408 h 1417408"/>
              <a:gd name="connsiteX6" fmla="*/ 0 w 1711358"/>
              <a:gd name="connsiteY6" fmla="*/ 1333568 h 1417408"/>
              <a:gd name="connsiteX7" fmla="*/ 0 w 1711358"/>
              <a:gd name="connsiteY7" fmla="*/ 83840 h 1417408"/>
              <a:gd name="connsiteX8" fmla="*/ 83840 w 1711358"/>
              <a:gd name="connsiteY8" fmla="*/ 0 h 1417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1358" h="1417408">
                <a:moveTo>
                  <a:pt x="83840" y="0"/>
                </a:moveTo>
                <a:lnTo>
                  <a:pt x="1627518" y="0"/>
                </a:lnTo>
                <a:cubicBezTo>
                  <a:pt x="1673822" y="0"/>
                  <a:pt x="1711358" y="37536"/>
                  <a:pt x="1711358" y="83840"/>
                </a:cubicBezTo>
                <a:lnTo>
                  <a:pt x="1711358" y="1333568"/>
                </a:lnTo>
                <a:cubicBezTo>
                  <a:pt x="1711358" y="1379872"/>
                  <a:pt x="1673822" y="1417408"/>
                  <a:pt x="1627518" y="1417408"/>
                </a:cubicBezTo>
                <a:lnTo>
                  <a:pt x="83840" y="1417408"/>
                </a:lnTo>
                <a:cubicBezTo>
                  <a:pt x="37536" y="1417408"/>
                  <a:pt x="0" y="1379872"/>
                  <a:pt x="0" y="1333568"/>
                </a:cubicBezTo>
                <a:lnTo>
                  <a:pt x="0" y="83840"/>
                </a:lnTo>
                <a:cubicBezTo>
                  <a:pt x="0" y="37536"/>
                  <a:pt x="37536" y="0"/>
                  <a:pt x="83840" y="0"/>
                </a:cubicBezTo>
                <a:close/>
              </a:path>
            </a:pathLst>
          </a:custGeom>
          <a:ln w="19050">
            <a:solidFill>
              <a:schemeClr val="bg1"/>
            </a:solidFill>
          </a:ln>
          <a:effectLst>
            <a:outerShdw blurRad="321299" dist="173231" dir="2700000" algn="tl" rotWithShape="0">
              <a:prstClr val="black">
                <a:alpha val="30059"/>
              </a:prstClr>
            </a:outerShdw>
          </a:effectLst>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5A59AB81-0931-54AC-9160-05FF797FFD29}"/>
              </a:ext>
            </a:extLst>
          </p:cNvPr>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a:fillRect/>
          </a:stretch>
        </p:blipFill>
        <p:spPr bwMode="auto">
          <a:xfrm>
            <a:off x="7536257" y="4319294"/>
            <a:ext cx="1711358" cy="1454145"/>
          </a:xfrm>
          <a:custGeom>
            <a:avLst/>
            <a:gdLst>
              <a:gd name="connsiteX0" fmla="*/ 83840 w 1711358"/>
              <a:gd name="connsiteY0" fmla="*/ 0 h 1417408"/>
              <a:gd name="connsiteX1" fmla="*/ 1627518 w 1711358"/>
              <a:gd name="connsiteY1" fmla="*/ 0 h 1417408"/>
              <a:gd name="connsiteX2" fmla="*/ 1711358 w 1711358"/>
              <a:gd name="connsiteY2" fmla="*/ 83840 h 1417408"/>
              <a:gd name="connsiteX3" fmla="*/ 1711358 w 1711358"/>
              <a:gd name="connsiteY3" fmla="*/ 1333568 h 1417408"/>
              <a:gd name="connsiteX4" fmla="*/ 1627518 w 1711358"/>
              <a:gd name="connsiteY4" fmla="*/ 1417408 h 1417408"/>
              <a:gd name="connsiteX5" fmla="*/ 83840 w 1711358"/>
              <a:gd name="connsiteY5" fmla="*/ 1417408 h 1417408"/>
              <a:gd name="connsiteX6" fmla="*/ 0 w 1711358"/>
              <a:gd name="connsiteY6" fmla="*/ 1333568 h 1417408"/>
              <a:gd name="connsiteX7" fmla="*/ 0 w 1711358"/>
              <a:gd name="connsiteY7" fmla="*/ 83840 h 1417408"/>
              <a:gd name="connsiteX8" fmla="*/ 83840 w 1711358"/>
              <a:gd name="connsiteY8" fmla="*/ 0 h 1417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1358" h="1417408">
                <a:moveTo>
                  <a:pt x="83840" y="0"/>
                </a:moveTo>
                <a:lnTo>
                  <a:pt x="1627518" y="0"/>
                </a:lnTo>
                <a:cubicBezTo>
                  <a:pt x="1673822" y="0"/>
                  <a:pt x="1711358" y="37536"/>
                  <a:pt x="1711358" y="83840"/>
                </a:cubicBezTo>
                <a:lnTo>
                  <a:pt x="1711358" y="1333568"/>
                </a:lnTo>
                <a:cubicBezTo>
                  <a:pt x="1711358" y="1379872"/>
                  <a:pt x="1673822" y="1417408"/>
                  <a:pt x="1627518" y="1417408"/>
                </a:cubicBezTo>
                <a:lnTo>
                  <a:pt x="83840" y="1417408"/>
                </a:lnTo>
                <a:cubicBezTo>
                  <a:pt x="37536" y="1417408"/>
                  <a:pt x="0" y="1379872"/>
                  <a:pt x="0" y="1333568"/>
                </a:cubicBezTo>
                <a:lnTo>
                  <a:pt x="0" y="83840"/>
                </a:lnTo>
                <a:cubicBezTo>
                  <a:pt x="0" y="37536"/>
                  <a:pt x="37536" y="0"/>
                  <a:pt x="83840" y="0"/>
                </a:cubicBezTo>
                <a:close/>
              </a:path>
            </a:pathLst>
          </a:custGeom>
          <a:ln w="19050">
            <a:solidFill>
              <a:schemeClr val="bg1"/>
            </a:solidFill>
          </a:ln>
          <a:effectLst>
            <a:outerShdw blurRad="321299" dist="173231" dir="2700000" algn="tl" rotWithShape="0">
              <a:prstClr val="black">
                <a:alpha val="30059"/>
              </a:prstClr>
            </a:outerShdw>
          </a:effectLst>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C8D6B573-7D96-A924-DB8D-C1D121B99ABF}"/>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2900602" y="4313417"/>
            <a:ext cx="1711358" cy="1460025"/>
          </a:xfrm>
          <a:custGeom>
            <a:avLst/>
            <a:gdLst>
              <a:gd name="connsiteX0" fmla="*/ 83840 w 1711358"/>
              <a:gd name="connsiteY0" fmla="*/ 0 h 1417408"/>
              <a:gd name="connsiteX1" fmla="*/ 1627518 w 1711358"/>
              <a:gd name="connsiteY1" fmla="*/ 0 h 1417408"/>
              <a:gd name="connsiteX2" fmla="*/ 1711358 w 1711358"/>
              <a:gd name="connsiteY2" fmla="*/ 83840 h 1417408"/>
              <a:gd name="connsiteX3" fmla="*/ 1711358 w 1711358"/>
              <a:gd name="connsiteY3" fmla="*/ 1333568 h 1417408"/>
              <a:gd name="connsiteX4" fmla="*/ 1627518 w 1711358"/>
              <a:gd name="connsiteY4" fmla="*/ 1417408 h 1417408"/>
              <a:gd name="connsiteX5" fmla="*/ 83840 w 1711358"/>
              <a:gd name="connsiteY5" fmla="*/ 1417408 h 1417408"/>
              <a:gd name="connsiteX6" fmla="*/ 0 w 1711358"/>
              <a:gd name="connsiteY6" fmla="*/ 1333568 h 1417408"/>
              <a:gd name="connsiteX7" fmla="*/ 0 w 1711358"/>
              <a:gd name="connsiteY7" fmla="*/ 83840 h 1417408"/>
              <a:gd name="connsiteX8" fmla="*/ 83840 w 1711358"/>
              <a:gd name="connsiteY8" fmla="*/ 0 h 1417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1358" h="1417408">
                <a:moveTo>
                  <a:pt x="83840" y="0"/>
                </a:moveTo>
                <a:lnTo>
                  <a:pt x="1627518" y="0"/>
                </a:lnTo>
                <a:cubicBezTo>
                  <a:pt x="1673822" y="0"/>
                  <a:pt x="1711358" y="37536"/>
                  <a:pt x="1711358" y="83840"/>
                </a:cubicBezTo>
                <a:lnTo>
                  <a:pt x="1711358" y="1333568"/>
                </a:lnTo>
                <a:cubicBezTo>
                  <a:pt x="1711358" y="1379872"/>
                  <a:pt x="1673822" y="1417408"/>
                  <a:pt x="1627518" y="1417408"/>
                </a:cubicBezTo>
                <a:lnTo>
                  <a:pt x="83840" y="1417408"/>
                </a:lnTo>
                <a:cubicBezTo>
                  <a:pt x="37536" y="1417408"/>
                  <a:pt x="0" y="1379872"/>
                  <a:pt x="0" y="1333568"/>
                </a:cubicBezTo>
                <a:lnTo>
                  <a:pt x="0" y="83840"/>
                </a:lnTo>
                <a:cubicBezTo>
                  <a:pt x="0" y="37536"/>
                  <a:pt x="37536" y="0"/>
                  <a:pt x="83840" y="0"/>
                </a:cubicBezTo>
                <a:close/>
              </a:path>
            </a:pathLst>
          </a:custGeom>
          <a:ln w="19050">
            <a:solidFill>
              <a:schemeClr val="bg1"/>
            </a:solidFill>
          </a:ln>
          <a:effectLst>
            <a:outerShdw blurRad="321299" dist="173231" dir="2700000" algn="tl" rotWithShape="0">
              <a:prstClr val="black">
                <a:alpha val="30059"/>
              </a:prstClr>
            </a:outerShdw>
          </a:effectLst>
        </p:spPr>
      </p:pic>
      <p:pic>
        <p:nvPicPr>
          <p:cNvPr id="13" name="Picture 12">
            <a:extLst>
              <a:ext uri="{FF2B5EF4-FFF2-40B4-BE49-F238E27FC236}">
                <a16:creationId xmlns:a16="http://schemas.microsoft.com/office/drawing/2014/main" id="{9E681A1D-0FD3-71FC-40A4-542498EE355D}"/>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5273720" y="4313415"/>
            <a:ext cx="1711358" cy="1460025"/>
          </a:xfrm>
          <a:custGeom>
            <a:avLst/>
            <a:gdLst>
              <a:gd name="connsiteX0" fmla="*/ 83840 w 1711358"/>
              <a:gd name="connsiteY0" fmla="*/ 0 h 1417408"/>
              <a:gd name="connsiteX1" fmla="*/ 1627518 w 1711358"/>
              <a:gd name="connsiteY1" fmla="*/ 0 h 1417408"/>
              <a:gd name="connsiteX2" fmla="*/ 1711358 w 1711358"/>
              <a:gd name="connsiteY2" fmla="*/ 83840 h 1417408"/>
              <a:gd name="connsiteX3" fmla="*/ 1711358 w 1711358"/>
              <a:gd name="connsiteY3" fmla="*/ 1333568 h 1417408"/>
              <a:gd name="connsiteX4" fmla="*/ 1627518 w 1711358"/>
              <a:gd name="connsiteY4" fmla="*/ 1417408 h 1417408"/>
              <a:gd name="connsiteX5" fmla="*/ 83840 w 1711358"/>
              <a:gd name="connsiteY5" fmla="*/ 1417408 h 1417408"/>
              <a:gd name="connsiteX6" fmla="*/ 0 w 1711358"/>
              <a:gd name="connsiteY6" fmla="*/ 1333568 h 1417408"/>
              <a:gd name="connsiteX7" fmla="*/ 0 w 1711358"/>
              <a:gd name="connsiteY7" fmla="*/ 83840 h 1417408"/>
              <a:gd name="connsiteX8" fmla="*/ 83840 w 1711358"/>
              <a:gd name="connsiteY8" fmla="*/ 0 h 1417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1358" h="1417408">
                <a:moveTo>
                  <a:pt x="83840" y="0"/>
                </a:moveTo>
                <a:lnTo>
                  <a:pt x="1627518" y="0"/>
                </a:lnTo>
                <a:cubicBezTo>
                  <a:pt x="1673822" y="0"/>
                  <a:pt x="1711358" y="37536"/>
                  <a:pt x="1711358" y="83840"/>
                </a:cubicBezTo>
                <a:lnTo>
                  <a:pt x="1711358" y="1333568"/>
                </a:lnTo>
                <a:cubicBezTo>
                  <a:pt x="1711358" y="1379872"/>
                  <a:pt x="1673822" y="1417408"/>
                  <a:pt x="1627518" y="1417408"/>
                </a:cubicBezTo>
                <a:lnTo>
                  <a:pt x="83840" y="1417408"/>
                </a:lnTo>
                <a:cubicBezTo>
                  <a:pt x="37536" y="1417408"/>
                  <a:pt x="0" y="1379872"/>
                  <a:pt x="0" y="1333568"/>
                </a:cubicBezTo>
                <a:lnTo>
                  <a:pt x="0" y="83840"/>
                </a:lnTo>
                <a:cubicBezTo>
                  <a:pt x="0" y="37536"/>
                  <a:pt x="37536" y="0"/>
                  <a:pt x="83840" y="0"/>
                </a:cubicBezTo>
                <a:close/>
              </a:path>
            </a:pathLst>
          </a:custGeom>
          <a:ln w="19050">
            <a:solidFill>
              <a:schemeClr val="bg1"/>
            </a:solidFill>
          </a:ln>
          <a:effectLst>
            <a:outerShdw blurRad="321299" dist="173231" dir="2700000" algn="tl" rotWithShape="0">
              <a:prstClr val="black">
                <a:alpha val="30059"/>
              </a:prstClr>
            </a:outerShdw>
          </a:effectLst>
        </p:spPr>
      </p:pic>
    </p:spTree>
    <p:extLst>
      <p:ext uri="{BB962C8B-B14F-4D97-AF65-F5344CB8AC3E}">
        <p14:creationId xmlns:p14="http://schemas.microsoft.com/office/powerpoint/2010/main" val="2768753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New Slide">
    <p:spTree>
      <p:nvGrpSpPr>
        <p:cNvPr id="1" name=""/>
        <p:cNvGrpSpPr/>
        <p:nvPr/>
      </p:nvGrpSpPr>
      <p:grpSpPr>
        <a:xfrm>
          <a:off x="0" y="0"/>
          <a:ext cx="0" cy="0"/>
          <a:chOff x="0" y="0"/>
          <a:chExt cx="0" cy="0"/>
        </a:xfrm>
      </p:grpSpPr>
      <p:sp>
        <p:nvSpPr>
          <p:cNvPr id="63" name="Title 62">
            <a:extLst>
              <a:ext uri="{FF2B5EF4-FFF2-40B4-BE49-F238E27FC236}">
                <a16:creationId xmlns:a16="http://schemas.microsoft.com/office/drawing/2014/main" id="{B0D21CD0-21B7-9C0F-B910-B5608445EF85}"/>
              </a:ext>
            </a:extLst>
          </p:cNvPr>
          <p:cNvSpPr>
            <a:spLocks noGrp="1"/>
          </p:cNvSpPr>
          <p:nvPr>
            <p:ph type="title" hasCustomPrompt="1"/>
          </p:nvPr>
        </p:nvSpPr>
        <p:spPr/>
        <p:txBody>
          <a:bodyPr/>
          <a:lstStyle/>
          <a:p>
            <a:r>
              <a:rPr lang="en-GB"/>
              <a:t>We Offer</a:t>
            </a:r>
            <a:endParaRPr lang="en-US"/>
          </a:p>
        </p:txBody>
      </p:sp>
      <p:grpSp>
        <p:nvGrpSpPr>
          <p:cNvPr id="2" name="Group 1">
            <a:extLst>
              <a:ext uri="{FF2B5EF4-FFF2-40B4-BE49-F238E27FC236}">
                <a16:creationId xmlns:a16="http://schemas.microsoft.com/office/drawing/2014/main" id="{88EA417F-3A48-AEF4-D3C3-A7AE547E4C92}"/>
              </a:ext>
            </a:extLst>
          </p:cNvPr>
          <p:cNvGrpSpPr/>
          <p:nvPr userDrawn="1"/>
        </p:nvGrpSpPr>
        <p:grpSpPr>
          <a:xfrm>
            <a:off x="188452" y="1173780"/>
            <a:ext cx="11777058" cy="5131674"/>
            <a:chOff x="188452" y="1173780"/>
            <a:chExt cx="11777058" cy="5131674"/>
          </a:xfrm>
        </p:grpSpPr>
        <p:grpSp>
          <p:nvGrpSpPr>
            <p:cNvPr id="3" name="Group 2">
              <a:extLst>
                <a:ext uri="{FF2B5EF4-FFF2-40B4-BE49-F238E27FC236}">
                  <a16:creationId xmlns:a16="http://schemas.microsoft.com/office/drawing/2014/main" id="{3A682C2B-C8F6-7B65-9584-3A4A2A5764D8}"/>
                </a:ext>
              </a:extLst>
            </p:cNvPr>
            <p:cNvGrpSpPr/>
            <p:nvPr userDrawn="1"/>
          </p:nvGrpSpPr>
          <p:grpSpPr>
            <a:xfrm>
              <a:off x="188452" y="1173780"/>
              <a:ext cx="11777058" cy="5131674"/>
              <a:chOff x="252666" y="926970"/>
              <a:chExt cx="11777058" cy="5131674"/>
            </a:xfrm>
          </p:grpSpPr>
          <p:cxnSp>
            <p:nvCxnSpPr>
              <p:cNvPr id="8" name="Straight Arrow Connector 7">
                <a:extLst>
                  <a:ext uri="{FF2B5EF4-FFF2-40B4-BE49-F238E27FC236}">
                    <a16:creationId xmlns:a16="http://schemas.microsoft.com/office/drawing/2014/main" id="{45949C36-4015-154B-E19A-9550336E2A99}"/>
                  </a:ext>
                </a:extLst>
              </p:cNvPr>
              <p:cNvCxnSpPr/>
              <p:nvPr/>
            </p:nvCxnSpPr>
            <p:spPr>
              <a:xfrm flipH="1">
                <a:off x="3747295" y="2631896"/>
                <a:ext cx="867152" cy="0"/>
              </a:xfrm>
              <a:prstGeom prst="straightConnector1">
                <a:avLst/>
              </a:prstGeom>
              <a:ln w="63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A3B5EA2B-06F0-30BF-D40C-50711170897E}"/>
                  </a:ext>
                </a:extLst>
              </p:cNvPr>
              <p:cNvCxnSpPr/>
              <p:nvPr/>
            </p:nvCxnSpPr>
            <p:spPr>
              <a:xfrm flipH="1">
                <a:off x="3710719" y="3646880"/>
                <a:ext cx="1154179" cy="0"/>
              </a:xfrm>
              <a:prstGeom prst="straightConnector1">
                <a:avLst/>
              </a:prstGeom>
              <a:ln w="63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E0FA4AD5-A41C-DE36-9C38-906240ED68B1}"/>
                  </a:ext>
                </a:extLst>
              </p:cNvPr>
              <p:cNvCxnSpPr/>
              <p:nvPr/>
            </p:nvCxnSpPr>
            <p:spPr>
              <a:xfrm flipH="1">
                <a:off x="3958943" y="4652720"/>
                <a:ext cx="716655" cy="0"/>
              </a:xfrm>
              <a:prstGeom prst="straightConnector1">
                <a:avLst/>
              </a:prstGeom>
              <a:ln w="63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F2AF696C-BF4A-F8CC-B99D-EC43BB9FE8A3}"/>
                  </a:ext>
                </a:extLst>
              </p:cNvPr>
              <p:cNvCxnSpPr/>
              <p:nvPr/>
            </p:nvCxnSpPr>
            <p:spPr>
              <a:xfrm flipH="1">
                <a:off x="4556527" y="5585408"/>
                <a:ext cx="1024633" cy="0"/>
              </a:xfrm>
              <a:prstGeom prst="straightConnector1">
                <a:avLst/>
              </a:prstGeom>
              <a:ln w="63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3B494D01-56C7-4FC4-E6AA-6D8C93417FBE}"/>
                  </a:ext>
                </a:extLst>
              </p:cNvPr>
              <p:cNvCxnSpPr/>
              <p:nvPr/>
            </p:nvCxnSpPr>
            <p:spPr>
              <a:xfrm flipH="1">
                <a:off x="4336064" y="1808936"/>
                <a:ext cx="1744976" cy="0"/>
              </a:xfrm>
              <a:prstGeom prst="straightConnector1">
                <a:avLst/>
              </a:prstGeom>
              <a:ln w="63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B19017CE-A8D9-C2B0-F278-6285845715E2}"/>
                  </a:ext>
                </a:extLst>
              </p:cNvPr>
              <p:cNvCxnSpPr/>
              <p:nvPr/>
            </p:nvCxnSpPr>
            <p:spPr>
              <a:xfrm>
                <a:off x="7470648" y="2624048"/>
                <a:ext cx="867152" cy="0"/>
              </a:xfrm>
              <a:prstGeom prst="straightConnector1">
                <a:avLst/>
              </a:prstGeom>
              <a:ln w="63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124FF20B-E1A4-04CD-1D25-36CE89FA5252}"/>
                  </a:ext>
                </a:extLst>
              </p:cNvPr>
              <p:cNvCxnSpPr/>
              <p:nvPr/>
            </p:nvCxnSpPr>
            <p:spPr>
              <a:xfrm>
                <a:off x="7427719" y="3639032"/>
                <a:ext cx="1154179" cy="0"/>
              </a:xfrm>
              <a:prstGeom prst="straightConnector1">
                <a:avLst/>
              </a:prstGeom>
              <a:ln w="63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DBDB3795-56A0-8EB5-0460-4DF89A79EA2F}"/>
                  </a:ext>
                </a:extLst>
              </p:cNvPr>
              <p:cNvCxnSpPr/>
              <p:nvPr/>
            </p:nvCxnSpPr>
            <p:spPr>
              <a:xfrm>
                <a:off x="7646481" y="4644872"/>
                <a:ext cx="716655" cy="0"/>
              </a:xfrm>
              <a:prstGeom prst="straightConnector1">
                <a:avLst/>
              </a:prstGeom>
              <a:ln w="63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B103957E-476E-129F-1E75-E52F5EC80044}"/>
                  </a:ext>
                </a:extLst>
              </p:cNvPr>
              <p:cNvCxnSpPr/>
              <p:nvPr/>
            </p:nvCxnSpPr>
            <p:spPr>
              <a:xfrm>
                <a:off x="6610842" y="5577560"/>
                <a:ext cx="1024633" cy="0"/>
              </a:xfrm>
              <a:prstGeom prst="straightConnector1">
                <a:avLst/>
              </a:prstGeom>
              <a:ln w="63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C2B3A3C2-6534-3F78-4AF4-C36B8CDAE561}"/>
                  </a:ext>
                </a:extLst>
              </p:cNvPr>
              <p:cNvCxnSpPr/>
              <p:nvPr/>
            </p:nvCxnSpPr>
            <p:spPr>
              <a:xfrm>
                <a:off x="6217920" y="1801088"/>
                <a:ext cx="1744976" cy="0"/>
              </a:xfrm>
              <a:prstGeom prst="straightConnector1">
                <a:avLst/>
              </a:prstGeom>
              <a:ln w="635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C241B447-0753-0895-7EC5-D8DFC292A4A1}"/>
                  </a:ext>
                </a:extLst>
              </p:cNvPr>
              <p:cNvSpPr txBox="1"/>
              <p:nvPr/>
            </p:nvSpPr>
            <p:spPr>
              <a:xfrm>
                <a:off x="843280" y="1613580"/>
                <a:ext cx="3473991" cy="646331"/>
              </a:xfrm>
              <a:prstGeom prst="rect">
                <a:avLst/>
              </a:prstGeom>
              <a:noFill/>
            </p:spPr>
            <p:txBody>
              <a:bodyPr wrap="square">
                <a:spAutoFit/>
              </a:bodyPr>
              <a:lstStyle/>
              <a:p>
                <a:pPr algn="r"/>
                <a:r>
                  <a:rPr lang="en-US" sz="1600" b="1">
                    <a:solidFill>
                      <a:schemeClr val="tx1"/>
                    </a:solidFill>
                    <a:latin typeface="Lato" panose="020F0502020204030203" pitchFamily="34" charset="0"/>
                    <a:ea typeface="Lato" panose="020F0502020204030203" pitchFamily="34" charset="0"/>
                    <a:cs typeface="Lato" panose="020F0502020204030203" pitchFamily="34" charset="0"/>
                  </a:rPr>
                  <a:t>Scalable Product Engineering</a:t>
                </a:r>
              </a:p>
              <a:p>
                <a:pPr algn="r"/>
                <a:r>
                  <a:rPr lang="en-US" sz="1000">
                    <a:solidFill>
                      <a:schemeClr val="tx1"/>
                    </a:solidFill>
                    <a:latin typeface="Lato" panose="020F0502020204030203" pitchFamily="34" charset="0"/>
                    <a:ea typeface="Lato" panose="020F0502020204030203" pitchFamily="34" charset="0"/>
                    <a:cs typeface="Lato" panose="020F0502020204030203" pitchFamily="34" charset="0"/>
                  </a:rPr>
                  <a:t>A reliable extended engineering team specializing in adaptable &amp; efficient development of products &amp; solutions</a:t>
                </a:r>
              </a:p>
            </p:txBody>
          </p:sp>
          <p:sp>
            <p:nvSpPr>
              <p:cNvPr id="19" name="TextBox 18">
                <a:extLst>
                  <a:ext uri="{FF2B5EF4-FFF2-40B4-BE49-F238E27FC236}">
                    <a16:creationId xmlns:a16="http://schemas.microsoft.com/office/drawing/2014/main" id="{31113C6E-8D3A-8716-93CC-C61F3BEF656D}"/>
                  </a:ext>
                </a:extLst>
              </p:cNvPr>
              <p:cNvSpPr txBox="1"/>
              <p:nvPr/>
            </p:nvSpPr>
            <p:spPr>
              <a:xfrm>
                <a:off x="765552" y="2444083"/>
                <a:ext cx="2972599" cy="646331"/>
              </a:xfrm>
              <a:prstGeom prst="rect">
                <a:avLst/>
              </a:prstGeom>
              <a:noFill/>
            </p:spPr>
            <p:txBody>
              <a:bodyPr wrap="square">
                <a:spAutoFit/>
              </a:bodyPr>
              <a:lstStyle/>
              <a:p>
                <a:pPr algn="r"/>
                <a:r>
                  <a:rPr lang="en-US" sz="1600" b="1">
                    <a:solidFill>
                      <a:schemeClr val="tx1"/>
                    </a:solidFill>
                    <a:latin typeface="Lato" panose="020F0502020204030203" pitchFamily="34" charset="0"/>
                    <a:ea typeface="Lato" panose="020F0502020204030203" pitchFamily="34" charset="0"/>
                    <a:cs typeface="Lato" panose="020F0502020204030203" pitchFamily="34" charset="0"/>
                  </a:rPr>
                  <a:t>New Product Introduction</a:t>
                </a:r>
              </a:p>
              <a:p>
                <a:r>
                  <a:rPr lang="en-US" sz="1000">
                    <a:solidFill>
                      <a:schemeClr val="tx1"/>
                    </a:solidFill>
                    <a:latin typeface="Lato" panose="020F0502020204030203" pitchFamily="34" charset="0"/>
                    <a:ea typeface="Lato" panose="020F0502020204030203" pitchFamily="34" charset="0"/>
                    <a:cs typeface="Lato" panose="020F0502020204030203" pitchFamily="34" charset="0"/>
                  </a:rPr>
                  <a:t>Premium services to develop an innovative solution using Device-to-Cloud (D2C) technology</a:t>
                </a:r>
              </a:p>
            </p:txBody>
          </p:sp>
          <p:sp>
            <p:nvSpPr>
              <p:cNvPr id="20" name="TextBox 19">
                <a:extLst>
                  <a:ext uri="{FF2B5EF4-FFF2-40B4-BE49-F238E27FC236}">
                    <a16:creationId xmlns:a16="http://schemas.microsoft.com/office/drawing/2014/main" id="{EF2C880B-155A-A704-CEB4-CF58D8BD78DD}"/>
                  </a:ext>
                </a:extLst>
              </p:cNvPr>
              <p:cNvSpPr txBox="1"/>
              <p:nvPr/>
            </p:nvSpPr>
            <p:spPr>
              <a:xfrm>
                <a:off x="389965" y="3462847"/>
                <a:ext cx="3287226" cy="954107"/>
              </a:xfrm>
              <a:prstGeom prst="rect">
                <a:avLst/>
              </a:prstGeom>
              <a:noFill/>
            </p:spPr>
            <p:txBody>
              <a:bodyPr wrap="square">
                <a:spAutoFit/>
              </a:bodyPr>
              <a:lstStyle/>
              <a:p>
                <a:pPr algn="r"/>
                <a:r>
                  <a:rPr lang="en-US" sz="1600" b="1">
                    <a:latin typeface="Lato" panose="020F0502020204030203" pitchFamily="34" charset="0"/>
                    <a:ea typeface="Lato" panose="020F0502020204030203" pitchFamily="34" charset="0"/>
                    <a:cs typeface="Lato" panose="020F0502020204030203" pitchFamily="34" charset="0"/>
                  </a:rPr>
                  <a:t>Technology Modernization</a:t>
                </a:r>
              </a:p>
              <a:p>
                <a:pPr algn="r"/>
                <a:r>
                  <a:rPr lang="en-US" sz="1000">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Reducing accumulated software issues and improving code quality to enhance long-term efficiency and maintainability</a:t>
                </a:r>
              </a:p>
              <a:p>
                <a:pPr algn="r"/>
                <a:endParaRPr lang="en-US" sz="1000">
                  <a:solidFill>
                    <a:schemeClr val="tx1">
                      <a:lumMod val="65000"/>
                      <a:lumOff val="35000"/>
                    </a:schemeClr>
                  </a:solidFill>
                  <a:latin typeface="Lato" pitchFamily="34" charset="0"/>
                  <a:ea typeface="Lato" pitchFamily="34" charset="-122"/>
                  <a:cs typeface="Lato" panose="020F0502020204030203" pitchFamily="34" charset="0"/>
                </a:endParaRPr>
              </a:p>
            </p:txBody>
          </p:sp>
          <p:sp>
            <p:nvSpPr>
              <p:cNvPr id="21" name="TextBox 20">
                <a:extLst>
                  <a:ext uri="{FF2B5EF4-FFF2-40B4-BE49-F238E27FC236}">
                    <a16:creationId xmlns:a16="http://schemas.microsoft.com/office/drawing/2014/main" id="{478650E2-3727-8D7C-E716-21E81E25BA16}"/>
                  </a:ext>
                </a:extLst>
              </p:cNvPr>
              <p:cNvSpPr txBox="1"/>
              <p:nvPr/>
            </p:nvSpPr>
            <p:spPr>
              <a:xfrm>
                <a:off x="252666" y="4477593"/>
                <a:ext cx="3709006" cy="646331"/>
              </a:xfrm>
              <a:prstGeom prst="rect">
                <a:avLst/>
              </a:prstGeom>
              <a:noFill/>
            </p:spPr>
            <p:txBody>
              <a:bodyPr wrap="square">
                <a:spAutoFit/>
              </a:bodyPr>
              <a:lstStyle/>
              <a:p>
                <a:pPr algn="r"/>
                <a:r>
                  <a:rPr lang="en-US" sz="1600" b="1">
                    <a:solidFill>
                      <a:schemeClr val="tx1"/>
                    </a:solidFill>
                    <a:latin typeface="Lato" panose="020F0502020204030203" pitchFamily="34" charset="0"/>
                    <a:ea typeface="Lato" panose="020F0502020204030203" pitchFamily="34" charset="0"/>
                    <a:cs typeface="Lato" panose="020F0502020204030203" pitchFamily="34" charset="0"/>
                  </a:rPr>
                  <a:t>Product Sustenance &amp; Support</a:t>
                </a:r>
              </a:p>
              <a:p>
                <a:pPr algn="r"/>
                <a:r>
                  <a:rPr lang="en-US" sz="1000">
                    <a:solidFill>
                      <a:schemeClr val="tx1"/>
                    </a:solidFill>
                    <a:latin typeface="Lato" panose="020F0502020204030203" pitchFamily="34" charset="0"/>
                    <a:ea typeface="Lato" panose="020F0502020204030203" pitchFamily="34" charset="0"/>
                    <a:cs typeface="Lato" panose="020F0502020204030203" pitchFamily="34" charset="0"/>
                  </a:rPr>
                  <a:t>Ongoing assistance &amp; maintenance are provided for products to ensure their continuous operation and customer satisfaction</a:t>
                </a:r>
              </a:p>
            </p:txBody>
          </p:sp>
          <p:sp>
            <p:nvSpPr>
              <p:cNvPr id="22" name="TextBox 21">
                <a:extLst>
                  <a:ext uri="{FF2B5EF4-FFF2-40B4-BE49-F238E27FC236}">
                    <a16:creationId xmlns:a16="http://schemas.microsoft.com/office/drawing/2014/main" id="{9E1745DB-276C-300B-E85C-1A59ED205123}"/>
                  </a:ext>
                </a:extLst>
              </p:cNvPr>
              <p:cNvSpPr txBox="1"/>
              <p:nvPr/>
            </p:nvSpPr>
            <p:spPr>
              <a:xfrm>
                <a:off x="1249680" y="5412313"/>
                <a:ext cx="3301271" cy="646331"/>
              </a:xfrm>
              <a:prstGeom prst="rect">
                <a:avLst/>
              </a:prstGeom>
              <a:noFill/>
            </p:spPr>
            <p:txBody>
              <a:bodyPr wrap="square">
                <a:spAutoFit/>
              </a:bodyPr>
              <a:lstStyle/>
              <a:p>
                <a:pPr algn="r"/>
                <a:r>
                  <a:rPr lang="en-US" sz="1600" b="1">
                    <a:latin typeface="Lato" panose="020F0502020204030203" pitchFamily="34" charset="0"/>
                    <a:ea typeface="Lato" panose="020F0502020204030203" pitchFamily="34" charset="0"/>
                    <a:cs typeface="Lato" panose="020F0502020204030203" pitchFamily="34" charset="0"/>
                  </a:rPr>
                  <a:t>Modern Enterprise Data Platform</a:t>
                </a:r>
              </a:p>
              <a:p>
                <a:pPr algn="r"/>
                <a:r>
                  <a:rPr lang="en-US" sz="1000">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Data engineering solution that unifies and blends data </a:t>
                </a:r>
              </a:p>
              <a:p>
                <a:pPr algn="r"/>
                <a:r>
                  <a:rPr lang="en-US" sz="1000">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from multiple systems for managing and analyzing data</a:t>
                </a:r>
              </a:p>
            </p:txBody>
          </p:sp>
          <p:sp>
            <p:nvSpPr>
              <p:cNvPr id="23" name="TextBox 22">
                <a:extLst>
                  <a:ext uri="{FF2B5EF4-FFF2-40B4-BE49-F238E27FC236}">
                    <a16:creationId xmlns:a16="http://schemas.microsoft.com/office/drawing/2014/main" id="{F6131896-C8AC-A7BE-8489-7F865A542D8F}"/>
                  </a:ext>
                </a:extLst>
              </p:cNvPr>
              <p:cNvSpPr txBox="1"/>
              <p:nvPr/>
            </p:nvSpPr>
            <p:spPr>
              <a:xfrm>
                <a:off x="7981422" y="1613580"/>
                <a:ext cx="3509389" cy="646331"/>
              </a:xfrm>
              <a:prstGeom prst="rect">
                <a:avLst/>
              </a:prstGeom>
              <a:noFill/>
            </p:spPr>
            <p:txBody>
              <a:bodyPr wrap="square">
                <a:spAutoFit/>
              </a:bodyPr>
              <a:lstStyle/>
              <a:p>
                <a:r>
                  <a:rPr lang="en-US" sz="1600" b="1">
                    <a:solidFill>
                      <a:schemeClr val="tx1"/>
                    </a:solidFill>
                    <a:latin typeface="Lato" panose="020F0502020204030203" pitchFamily="34" charset="0"/>
                    <a:ea typeface="Lato" panose="020F0502020204030203" pitchFamily="34" charset="0"/>
                    <a:cs typeface="Lato" panose="020F0502020204030203" pitchFamily="34" charset="0"/>
                  </a:rPr>
                  <a:t>Enterprise Al</a:t>
                </a:r>
              </a:p>
              <a:p>
                <a:r>
                  <a:rPr lang="en-US" sz="1000">
                    <a:solidFill>
                      <a:schemeClr val="tx1"/>
                    </a:solidFill>
                    <a:latin typeface="Lato" panose="020F0502020204030203" pitchFamily="34" charset="0"/>
                    <a:ea typeface="Lato" panose="020F0502020204030203" pitchFamily="34" charset="0"/>
                    <a:cs typeface="Lato" panose="020F0502020204030203" pitchFamily="34" charset="0"/>
                  </a:rPr>
                  <a:t>The integration of advanced ML, NLP, computer vision, and other Al techniques into existing business operations</a:t>
                </a:r>
              </a:p>
            </p:txBody>
          </p:sp>
          <p:sp>
            <p:nvSpPr>
              <p:cNvPr id="24" name="TextBox 23">
                <a:extLst>
                  <a:ext uri="{FF2B5EF4-FFF2-40B4-BE49-F238E27FC236}">
                    <a16:creationId xmlns:a16="http://schemas.microsoft.com/office/drawing/2014/main" id="{C892374A-0130-97C2-7147-A071BD55C511}"/>
                  </a:ext>
                </a:extLst>
              </p:cNvPr>
              <p:cNvSpPr txBox="1"/>
              <p:nvPr/>
            </p:nvSpPr>
            <p:spPr>
              <a:xfrm>
                <a:off x="8365232" y="2444083"/>
                <a:ext cx="3664492" cy="800219"/>
              </a:xfrm>
              <a:prstGeom prst="rect">
                <a:avLst/>
              </a:prstGeom>
              <a:noFill/>
            </p:spPr>
            <p:txBody>
              <a:bodyPr wrap="square">
                <a:spAutoFit/>
              </a:bodyPr>
              <a:lstStyle/>
              <a:p>
                <a:r>
                  <a:rPr lang="en-US" sz="1600" b="1">
                    <a:solidFill>
                      <a:schemeClr val="tx1"/>
                    </a:solidFill>
                    <a:latin typeface="Lato" panose="020F0502020204030203" pitchFamily="34" charset="0"/>
                    <a:ea typeface="Lato" panose="020F0502020204030203" pitchFamily="34" charset="0"/>
                    <a:cs typeface="Lato" panose="020F0502020204030203" pitchFamily="34" charset="0"/>
                  </a:rPr>
                  <a:t>Al-powered Quality Engineering</a:t>
                </a:r>
              </a:p>
              <a:p>
                <a:r>
                  <a:rPr lang="en-US" sz="1000">
                    <a:solidFill>
                      <a:schemeClr val="tx1"/>
                    </a:solidFill>
                    <a:latin typeface="Lato" panose="020F0502020204030203" pitchFamily="34" charset="0"/>
                    <a:ea typeface="Lato" panose="020F0502020204030203" pitchFamily="34" charset="0"/>
                    <a:cs typeface="Lato" panose="020F0502020204030203" pitchFamily="34" charset="0"/>
                  </a:rPr>
                  <a:t>Comprehensive Al and Script Less approach leveraging Al-led best practices and frameworks to support functional and non-functional testing</a:t>
                </a:r>
              </a:p>
            </p:txBody>
          </p:sp>
          <p:sp>
            <p:nvSpPr>
              <p:cNvPr id="25" name="TextBox 24">
                <a:extLst>
                  <a:ext uri="{FF2B5EF4-FFF2-40B4-BE49-F238E27FC236}">
                    <a16:creationId xmlns:a16="http://schemas.microsoft.com/office/drawing/2014/main" id="{0E80089E-FAD6-50A4-D139-0D5F7EE063EB}"/>
                  </a:ext>
                </a:extLst>
              </p:cNvPr>
              <p:cNvSpPr txBox="1"/>
              <p:nvPr/>
            </p:nvSpPr>
            <p:spPr>
              <a:xfrm>
                <a:off x="8596827" y="3462847"/>
                <a:ext cx="2972599" cy="646331"/>
              </a:xfrm>
              <a:prstGeom prst="rect">
                <a:avLst/>
              </a:prstGeom>
              <a:noFill/>
            </p:spPr>
            <p:txBody>
              <a:bodyPr wrap="square">
                <a:spAutoFit/>
              </a:bodyPr>
              <a:lstStyle/>
              <a:p>
                <a:r>
                  <a:rPr lang="en-US" sz="1600" b="1">
                    <a:latin typeface="Lato" panose="020F0502020204030203" pitchFamily="34" charset="0"/>
                    <a:ea typeface="Lato" panose="020F0502020204030203" pitchFamily="34" charset="0"/>
                    <a:cs typeface="Lato" panose="020F0502020204030203" pitchFamily="34" charset="0"/>
                  </a:rPr>
                  <a:t>Cloud Solutions</a:t>
                </a:r>
              </a:p>
              <a:p>
                <a:r>
                  <a:rPr lang="en-US" sz="1000">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Provide solutions covering assessment, execution and operation aspects of clients' Cloud systems</a:t>
                </a:r>
              </a:p>
            </p:txBody>
          </p:sp>
          <p:sp>
            <p:nvSpPr>
              <p:cNvPr id="26" name="TextBox 25">
                <a:extLst>
                  <a:ext uri="{FF2B5EF4-FFF2-40B4-BE49-F238E27FC236}">
                    <a16:creationId xmlns:a16="http://schemas.microsoft.com/office/drawing/2014/main" id="{943A3573-2009-EDF1-D486-C0639E6CCB20}"/>
                  </a:ext>
                </a:extLst>
              </p:cNvPr>
              <p:cNvSpPr txBox="1"/>
              <p:nvPr/>
            </p:nvSpPr>
            <p:spPr>
              <a:xfrm>
                <a:off x="8365232" y="4477593"/>
                <a:ext cx="3570159" cy="646331"/>
              </a:xfrm>
              <a:prstGeom prst="rect">
                <a:avLst/>
              </a:prstGeom>
              <a:noFill/>
            </p:spPr>
            <p:txBody>
              <a:bodyPr wrap="square">
                <a:spAutoFit/>
              </a:bodyPr>
              <a:lstStyle/>
              <a:p>
                <a:r>
                  <a:rPr lang="en-US" sz="1600" b="1">
                    <a:latin typeface="Lato" panose="020F0502020204030203" pitchFamily="34" charset="0"/>
                    <a:ea typeface="Lato" panose="020F0502020204030203" pitchFamily="34" charset="0"/>
                    <a:cs typeface="Lato" panose="020F0502020204030203" pitchFamily="34" charset="0"/>
                  </a:rPr>
                  <a:t>User Experience Modernization</a:t>
                </a:r>
              </a:p>
              <a:p>
                <a:r>
                  <a:rPr lang="en-US" sz="1000">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Provides a solution to update and enhance the interactions and engagements between a company and its customers</a:t>
                </a:r>
              </a:p>
            </p:txBody>
          </p:sp>
          <p:sp>
            <p:nvSpPr>
              <p:cNvPr id="27" name="TextBox 26">
                <a:extLst>
                  <a:ext uri="{FF2B5EF4-FFF2-40B4-BE49-F238E27FC236}">
                    <a16:creationId xmlns:a16="http://schemas.microsoft.com/office/drawing/2014/main" id="{ABEECB2F-B813-1AA2-59B8-94A0454F7EAD}"/>
                  </a:ext>
                </a:extLst>
              </p:cNvPr>
              <p:cNvSpPr txBox="1"/>
              <p:nvPr/>
            </p:nvSpPr>
            <p:spPr>
              <a:xfrm>
                <a:off x="7635475" y="5412313"/>
                <a:ext cx="3664492" cy="646331"/>
              </a:xfrm>
              <a:prstGeom prst="rect">
                <a:avLst/>
              </a:prstGeom>
              <a:noFill/>
            </p:spPr>
            <p:txBody>
              <a:bodyPr wrap="square">
                <a:spAutoFit/>
              </a:bodyPr>
              <a:lstStyle/>
              <a:p>
                <a:r>
                  <a:rPr lang="en-US" sz="1600" b="1">
                    <a:latin typeface="Lato" panose="020F0502020204030203" pitchFamily="34" charset="0"/>
                    <a:ea typeface="Lato" panose="020F0502020204030203" pitchFamily="34" charset="0"/>
                    <a:cs typeface="Lato" panose="020F0502020204030203" pitchFamily="34" charset="0"/>
                  </a:rPr>
                  <a:t>Enterprise Security Services</a:t>
                </a:r>
              </a:p>
              <a:p>
                <a:r>
                  <a:rPr lang="en-US" sz="1000">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Comprehensive and specialized security solutions designed to protect businesses and their digital assets from cyber threats</a:t>
                </a:r>
              </a:p>
            </p:txBody>
          </p:sp>
          <p:sp>
            <p:nvSpPr>
              <p:cNvPr id="28" name="TextBox 27">
                <a:extLst>
                  <a:ext uri="{FF2B5EF4-FFF2-40B4-BE49-F238E27FC236}">
                    <a16:creationId xmlns:a16="http://schemas.microsoft.com/office/drawing/2014/main" id="{5AF14A5E-F5DB-60C7-3BC2-DFA15CC0A5DE}"/>
                  </a:ext>
                </a:extLst>
              </p:cNvPr>
              <p:cNvSpPr txBox="1"/>
              <p:nvPr/>
            </p:nvSpPr>
            <p:spPr>
              <a:xfrm>
                <a:off x="2107169" y="926970"/>
                <a:ext cx="3473991" cy="400110"/>
              </a:xfrm>
              <a:prstGeom prst="rect">
                <a:avLst/>
              </a:prstGeom>
              <a:noFill/>
            </p:spPr>
            <p:txBody>
              <a:bodyPr wrap="square">
                <a:spAutoFit/>
              </a:bodyPr>
              <a:lstStyle/>
              <a:p>
                <a:pPr algn="r"/>
                <a:r>
                  <a:rPr lang="en-US" sz="2000" b="1">
                    <a:solidFill>
                      <a:schemeClr val="tx2">
                        <a:lumMod val="75000"/>
                        <a:lumOff val="25000"/>
                      </a:schemeClr>
                    </a:solidFill>
                    <a:latin typeface="Lato" panose="020F0502020204030203" pitchFamily="34" charset="0"/>
                    <a:ea typeface="Lato" panose="020F0502020204030203" pitchFamily="34" charset="0"/>
                    <a:cs typeface="Lato" panose="020F0502020204030203" pitchFamily="34" charset="0"/>
                  </a:rPr>
                  <a:t>Product Development</a:t>
                </a:r>
                <a:endParaRPr lang="en-US" sz="2000">
                  <a:solidFill>
                    <a:schemeClr val="tx2">
                      <a:lumMod val="75000"/>
                      <a:lumOff val="25000"/>
                    </a:schemeClr>
                  </a:solidFill>
                  <a:latin typeface="Lato" pitchFamily="34" charset="0"/>
                  <a:ea typeface="Lato" pitchFamily="34" charset="-122"/>
                  <a:cs typeface="Lato" panose="020F0502020204030203" pitchFamily="34" charset="0"/>
                </a:endParaRPr>
              </a:p>
            </p:txBody>
          </p:sp>
          <p:sp>
            <p:nvSpPr>
              <p:cNvPr id="29" name="TextBox 28">
                <a:extLst>
                  <a:ext uri="{FF2B5EF4-FFF2-40B4-BE49-F238E27FC236}">
                    <a16:creationId xmlns:a16="http://schemas.microsoft.com/office/drawing/2014/main" id="{4FE79B68-672D-8236-7F99-2F6DB669206A}"/>
                  </a:ext>
                </a:extLst>
              </p:cNvPr>
              <p:cNvSpPr txBox="1"/>
              <p:nvPr/>
            </p:nvSpPr>
            <p:spPr>
              <a:xfrm>
                <a:off x="6610842" y="926970"/>
                <a:ext cx="3509389" cy="400110"/>
              </a:xfrm>
              <a:prstGeom prst="rect">
                <a:avLst/>
              </a:prstGeom>
              <a:noFill/>
            </p:spPr>
            <p:txBody>
              <a:bodyPr wrap="square">
                <a:spAutoFit/>
              </a:bodyPr>
              <a:lstStyle/>
              <a:p>
                <a:r>
                  <a:rPr lang="en-US" sz="2000" b="1">
                    <a:solidFill>
                      <a:srgbClr val="0070C0"/>
                    </a:solidFill>
                    <a:latin typeface="Lato" panose="020F0502020204030203" pitchFamily="34" charset="0"/>
                    <a:ea typeface="Lato" panose="020F0502020204030203" pitchFamily="34" charset="0"/>
                    <a:cs typeface="Lato" panose="020F0502020204030203" pitchFamily="34" charset="0"/>
                  </a:rPr>
                  <a:t>Enterprise Transformation</a:t>
                </a:r>
              </a:p>
            </p:txBody>
          </p:sp>
          <p:sp>
            <p:nvSpPr>
              <p:cNvPr id="30" name="Rectangle 29">
                <a:extLst>
                  <a:ext uri="{FF2B5EF4-FFF2-40B4-BE49-F238E27FC236}">
                    <a16:creationId xmlns:a16="http://schemas.microsoft.com/office/drawing/2014/main" id="{601D8744-E89B-2BEC-4E46-2B26C39A2A21}"/>
                  </a:ext>
                </a:extLst>
              </p:cNvPr>
              <p:cNvSpPr/>
              <p:nvPr/>
            </p:nvSpPr>
            <p:spPr>
              <a:xfrm>
                <a:off x="2997843" y="1327080"/>
                <a:ext cx="2476982" cy="28800"/>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3F7756F-3350-1220-802A-D9F96732E8A6}"/>
                  </a:ext>
                </a:extLst>
              </p:cNvPr>
              <p:cNvSpPr/>
              <p:nvPr/>
            </p:nvSpPr>
            <p:spPr>
              <a:xfrm>
                <a:off x="6701741" y="1327080"/>
                <a:ext cx="2988000" cy="288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a:extLst>
                <a:ext uri="{FF2B5EF4-FFF2-40B4-BE49-F238E27FC236}">
                  <a16:creationId xmlns:a16="http://schemas.microsoft.com/office/drawing/2014/main" id="{857950BE-1AFD-13AC-E0D0-C9A3B4C410FB}"/>
                </a:ext>
              </a:extLst>
            </p:cNvPr>
            <p:cNvPicPr>
              <a:picLocks noChangeAspect="1"/>
            </p:cNvPicPr>
            <p:nvPr userDrawn="1"/>
          </p:nvPicPr>
          <p:blipFill>
            <a:blip r:embed="rId2"/>
            <a:stretch>
              <a:fillRect/>
            </a:stretch>
          </p:blipFill>
          <p:spPr>
            <a:xfrm>
              <a:off x="4851563" y="2765076"/>
              <a:ext cx="2387600" cy="2387600"/>
            </a:xfrm>
            <a:prstGeom prst="rect">
              <a:avLst/>
            </a:prstGeom>
          </p:spPr>
        </p:pic>
        <p:grpSp>
          <p:nvGrpSpPr>
            <p:cNvPr id="5" name="Group 4">
              <a:extLst>
                <a:ext uri="{FF2B5EF4-FFF2-40B4-BE49-F238E27FC236}">
                  <a16:creationId xmlns:a16="http://schemas.microsoft.com/office/drawing/2014/main" id="{995A72BE-36F1-9A38-97B2-CAF324FB3583}"/>
                </a:ext>
              </a:extLst>
            </p:cNvPr>
            <p:cNvGrpSpPr/>
            <p:nvPr userDrawn="1"/>
          </p:nvGrpSpPr>
          <p:grpSpPr>
            <a:xfrm>
              <a:off x="4053218" y="1972983"/>
              <a:ext cx="3998324" cy="4005654"/>
              <a:chOff x="4044751" y="2771788"/>
              <a:chExt cx="3998324" cy="4005654"/>
            </a:xfrm>
          </p:grpSpPr>
          <p:pic>
            <p:nvPicPr>
              <p:cNvPr id="6" name="Picture 5" descr="A circular chart with icons&#10;&#10;Description automatically generated">
                <a:extLst>
                  <a:ext uri="{FF2B5EF4-FFF2-40B4-BE49-F238E27FC236}">
                    <a16:creationId xmlns:a16="http://schemas.microsoft.com/office/drawing/2014/main" id="{15EDED41-3E95-271B-F7E7-CBC3F50928FD}"/>
                  </a:ext>
                </a:extLst>
              </p:cNvPr>
              <p:cNvPicPr>
                <a:picLocks noChangeAspect="1"/>
              </p:cNvPicPr>
              <p:nvPr userDrawn="1"/>
            </p:nvPicPr>
            <p:blipFill>
              <a:blip r:embed="rId3">
                <a:duotone>
                  <a:prstClr val="black"/>
                  <a:schemeClr val="accent4">
                    <a:tint val="45000"/>
                    <a:satMod val="400000"/>
                  </a:schemeClr>
                </a:duotone>
                <a:extLst>
                  <a:ext uri="{28A0092B-C50C-407E-A947-70E740481C1C}">
                    <a14:useLocalDpi xmlns:a14="http://schemas.microsoft.com/office/drawing/2010/main"/>
                  </a:ext>
                </a:extLst>
              </a:blip>
              <a:stretch>
                <a:fillRect/>
              </a:stretch>
            </p:blipFill>
            <p:spPr>
              <a:xfrm>
                <a:off x="4044751" y="2771788"/>
                <a:ext cx="3998324" cy="3998324"/>
              </a:xfrm>
              <a:prstGeom prst="rect">
                <a:avLst/>
              </a:prstGeom>
            </p:spPr>
          </p:pic>
          <p:pic>
            <p:nvPicPr>
              <p:cNvPr id="7" name="Picture 6" descr="A circular chart with icons&#10;&#10;Description automatically generated">
                <a:extLst>
                  <a:ext uri="{FF2B5EF4-FFF2-40B4-BE49-F238E27FC236}">
                    <a16:creationId xmlns:a16="http://schemas.microsoft.com/office/drawing/2014/main" id="{1C9E06FE-18A9-A3C5-8028-DD097904EEDB}"/>
                  </a:ext>
                </a:extLst>
              </p:cNvPr>
              <p:cNvPicPr>
                <a:picLocks noChangeAspect="1"/>
              </p:cNvPicPr>
              <p:nvPr userDrawn="1"/>
            </p:nvPicPr>
            <p:blipFill>
              <a:blip r:embed="rId4">
                <a:duotone>
                  <a:prstClr val="black"/>
                  <a:schemeClr val="accent1">
                    <a:tint val="45000"/>
                    <a:satMod val="400000"/>
                  </a:schemeClr>
                </a:duotone>
                <a:extLst>
                  <a:ext uri="{BEBA8EAE-BF5A-486C-A8C5-ECC9F3942E4B}">
                    <a14:imgProps xmlns:a14="http://schemas.microsoft.com/office/drawing/2010/main">
                      <a14:imgLayer r:embed="rId5">
                        <a14:imgEffect>
                          <a14:saturation sat="119000"/>
                        </a14:imgEffect>
                        <a14:imgEffect>
                          <a14:brightnessContrast bright="-12000" contrast="100000"/>
                        </a14:imgEffect>
                      </a14:imgLayer>
                    </a14:imgProps>
                  </a:ext>
                  <a:ext uri="{28A0092B-C50C-407E-A947-70E740481C1C}">
                    <a14:useLocalDpi xmlns:a14="http://schemas.microsoft.com/office/drawing/2010/main"/>
                  </a:ext>
                </a:extLst>
              </a:blip>
              <a:srcRect l="49794" r="-1"/>
              <a:stretch/>
            </p:blipFill>
            <p:spPr>
              <a:xfrm>
                <a:off x="6022494" y="2779118"/>
                <a:ext cx="2007400" cy="3998324"/>
              </a:xfrm>
              <a:prstGeom prst="rect">
                <a:avLst/>
              </a:prstGeom>
            </p:spPr>
          </p:pic>
        </p:grpSp>
      </p:grpSp>
    </p:spTree>
    <p:extLst>
      <p:ext uri="{BB962C8B-B14F-4D97-AF65-F5344CB8AC3E}">
        <p14:creationId xmlns:p14="http://schemas.microsoft.com/office/powerpoint/2010/main" val="2368478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peing Title Slide">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74B0024A-9614-80DE-0794-78C7F1378174}"/>
              </a:ext>
            </a:extLst>
          </p:cNvPr>
          <p:cNvGrpSpPr/>
          <p:nvPr userDrawn="1"/>
        </p:nvGrpSpPr>
        <p:grpSpPr>
          <a:xfrm>
            <a:off x="0" y="0"/>
            <a:ext cx="12223750" cy="6857999"/>
            <a:chOff x="0" y="0"/>
            <a:chExt cx="12223750" cy="6857999"/>
          </a:xfrm>
        </p:grpSpPr>
        <p:pic>
          <p:nvPicPr>
            <p:cNvPr id="3" name="Picture 2">
              <a:extLst>
                <a:ext uri="{FF2B5EF4-FFF2-40B4-BE49-F238E27FC236}">
                  <a16:creationId xmlns:a16="http://schemas.microsoft.com/office/drawing/2014/main" id="{50BE671D-9870-263A-E0D3-E56DEA4574A2}"/>
                </a:ext>
              </a:extLst>
            </p:cNvPr>
            <p:cNvPicPr>
              <a:picLocks noChangeAspect="1"/>
            </p:cNvPicPr>
            <p:nvPr userDrawn="1"/>
          </p:nvPicPr>
          <p:blipFill>
            <a:blip r:embed="rId2"/>
            <a:stretch>
              <a:fillRect/>
            </a:stretch>
          </p:blipFill>
          <p:spPr>
            <a:xfrm>
              <a:off x="0" y="0"/>
              <a:ext cx="12223750" cy="6857999"/>
            </a:xfrm>
            <a:prstGeom prst="rect">
              <a:avLst/>
            </a:prstGeom>
          </p:spPr>
        </p:pic>
        <p:cxnSp>
          <p:nvCxnSpPr>
            <p:cNvPr id="8" name="Straight Connector 7">
              <a:extLst>
                <a:ext uri="{FF2B5EF4-FFF2-40B4-BE49-F238E27FC236}">
                  <a16:creationId xmlns:a16="http://schemas.microsoft.com/office/drawing/2014/main" id="{1EA6BB84-E896-62F6-7AD1-87809924E7EF}"/>
                </a:ext>
              </a:extLst>
            </p:cNvPr>
            <p:cNvCxnSpPr/>
            <p:nvPr userDrawn="1"/>
          </p:nvCxnSpPr>
          <p:spPr>
            <a:xfrm>
              <a:off x="631847" y="3894732"/>
              <a:ext cx="1044553"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grpSp>
      <p:sp>
        <p:nvSpPr>
          <p:cNvPr id="11" name="Title 1">
            <a:extLst>
              <a:ext uri="{FF2B5EF4-FFF2-40B4-BE49-F238E27FC236}">
                <a16:creationId xmlns:a16="http://schemas.microsoft.com/office/drawing/2014/main" id="{3ECB4D66-474B-FB51-D508-69B1446DC797}"/>
              </a:ext>
            </a:extLst>
          </p:cNvPr>
          <p:cNvSpPr>
            <a:spLocks noGrp="1"/>
          </p:cNvSpPr>
          <p:nvPr>
            <p:ph type="title" hasCustomPrompt="1"/>
          </p:nvPr>
        </p:nvSpPr>
        <p:spPr>
          <a:xfrm>
            <a:off x="476916" y="2079992"/>
            <a:ext cx="10926134" cy="1684461"/>
          </a:xfrm>
        </p:spPr>
        <p:txBody>
          <a:bodyPr>
            <a:noAutofit/>
          </a:bodyPr>
          <a:lstStyle>
            <a:lvl1pPr>
              <a:defRPr sz="6000">
                <a:solidFill>
                  <a:schemeClr val="bg1"/>
                </a:solidFill>
              </a:defRPr>
            </a:lvl1pPr>
          </a:lstStyle>
          <a:p>
            <a:pPr>
              <a:lnSpc>
                <a:spcPts val="6000"/>
              </a:lnSpc>
              <a:spcBef>
                <a:spcPts val="0"/>
              </a:spcBef>
            </a:pPr>
            <a:r>
              <a:rPr lang="en-IN" sz="6000" b="1">
                <a:solidFill>
                  <a:schemeClr val="bg1"/>
                </a:solidFill>
                <a:latin typeface="Roboto" panose="02000000000000000000" pitchFamily="2" charset="0"/>
                <a:ea typeface="Roboto" panose="02000000000000000000" pitchFamily="2" charset="0"/>
              </a:rPr>
              <a:t>Engineering Intelligence. Responsibly.</a:t>
            </a:r>
            <a:endParaRPr lang="en-IN" sz="6000">
              <a:solidFill>
                <a:schemeClr val="bg1"/>
              </a:solidFill>
            </a:endParaRPr>
          </a:p>
        </p:txBody>
      </p:sp>
      <p:sp>
        <p:nvSpPr>
          <p:cNvPr id="14" name="Content Placeholder 13">
            <a:extLst>
              <a:ext uri="{FF2B5EF4-FFF2-40B4-BE49-F238E27FC236}">
                <a16:creationId xmlns:a16="http://schemas.microsoft.com/office/drawing/2014/main" id="{7A8618D4-6545-62D2-0759-EC9B8ED78317}"/>
              </a:ext>
            </a:extLst>
          </p:cNvPr>
          <p:cNvSpPr>
            <a:spLocks noGrp="1"/>
          </p:cNvSpPr>
          <p:nvPr>
            <p:ph sz="quarter" idx="10" hasCustomPrompt="1"/>
          </p:nvPr>
        </p:nvSpPr>
        <p:spPr>
          <a:xfrm>
            <a:off x="476916" y="4175200"/>
            <a:ext cx="10926134" cy="493918"/>
          </a:xfrm>
          <a:prstGeom prst="rect">
            <a:avLst/>
          </a:prstGeom>
        </p:spPr>
        <p:txBody>
          <a:bodyPr/>
          <a:lstStyle>
            <a:lvl1pPr marL="0" indent="0">
              <a:buFontTx/>
              <a:buNone/>
              <a:defRPr lang="en-US" sz="1800" b="0" i="0" kern="1200" dirty="0">
                <a:solidFill>
                  <a:schemeClr val="bg1"/>
                </a:solidFill>
                <a:effectLst/>
                <a:latin typeface="Roboto" panose="02000000000000000000" pitchFamily="2" charset="0"/>
                <a:ea typeface="+mn-ea"/>
                <a:cs typeface="+mn-cs"/>
              </a:defRPr>
            </a:lvl1pPr>
          </a:lstStyle>
          <a:p>
            <a:r>
              <a:rPr lang="en-IN" b="0" i="0">
                <a:solidFill>
                  <a:schemeClr val="bg1"/>
                </a:solidFill>
                <a:effectLst/>
                <a:latin typeface="Roboto" panose="02000000000000000000" pitchFamily="2" charset="0"/>
              </a:rPr>
              <a:t> From Connected Device to Cloud &amp; Cognition</a:t>
            </a:r>
            <a:endParaRPr lang="en-US">
              <a:solidFill>
                <a:schemeClr val="bg1"/>
              </a:solidFill>
            </a:endParaRPr>
          </a:p>
        </p:txBody>
      </p:sp>
      <p:sp>
        <p:nvSpPr>
          <p:cNvPr id="17" name="Content Placeholder 15">
            <a:extLst>
              <a:ext uri="{FF2B5EF4-FFF2-40B4-BE49-F238E27FC236}">
                <a16:creationId xmlns:a16="http://schemas.microsoft.com/office/drawing/2014/main" id="{AB63863C-D67F-66A2-D2D8-7C3E191DAA2D}"/>
              </a:ext>
            </a:extLst>
          </p:cNvPr>
          <p:cNvSpPr>
            <a:spLocks noGrp="1"/>
          </p:cNvSpPr>
          <p:nvPr>
            <p:ph sz="quarter" idx="11" hasCustomPrompt="1"/>
          </p:nvPr>
        </p:nvSpPr>
        <p:spPr>
          <a:xfrm>
            <a:off x="537717" y="6192748"/>
            <a:ext cx="2568575" cy="349997"/>
          </a:xfrm>
          <a:prstGeom prst="rect">
            <a:avLst/>
          </a:prstGeom>
        </p:spPr>
        <p:txBody>
          <a:bodyPr/>
          <a:lstStyle>
            <a:lvl1pPr marL="0" indent="0">
              <a:buNone/>
              <a:defRPr lang="en-US" sz="1600" b="0" i="0" kern="1200" dirty="0">
                <a:solidFill>
                  <a:schemeClr val="bg1"/>
                </a:solidFill>
                <a:effectLst/>
                <a:latin typeface="Roboto" panose="02000000000000000000" pitchFamily="2" charset="0"/>
                <a:ea typeface="+mn-ea"/>
                <a:cs typeface="+mn-cs"/>
              </a:defRPr>
            </a:lvl1pPr>
          </a:lstStyle>
          <a:p>
            <a:pPr lvl="0"/>
            <a:r>
              <a:rPr lang="en-US"/>
              <a:t>Feb 2026</a:t>
            </a:r>
          </a:p>
        </p:txBody>
      </p:sp>
      <p:pic>
        <p:nvPicPr>
          <p:cNvPr id="6" name="Picture 5" descr="A black and orange logo&#10;&#10;Description automatically generated">
            <a:extLst>
              <a:ext uri="{FF2B5EF4-FFF2-40B4-BE49-F238E27FC236}">
                <a16:creationId xmlns:a16="http://schemas.microsoft.com/office/drawing/2014/main" id="{7877BD8D-6073-07B4-9687-477E5DB34533}"/>
              </a:ext>
            </a:extLst>
          </p:cNvPr>
          <p:cNvPicPr>
            <a:picLocks noChangeAspect="1"/>
          </p:cNvPicPr>
          <p:nvPr userDrawn="1"/>
        </p:nvPicPr>
        <p:blipFill>
          <a:blip r:embed="rId3"/>
          <a:stretch>
            <a:fillRect/>
          </a:stretch>
        </p:blipFill>
        <p:spPr>
          <a:xfrm>
            <a:off x="631847" y="490253"/>
            <a:ext cx="1583479" cy="426321"/>
          </a:xfrm>
          <a:prstGeom prst="rect">
            <a:avLst/>
          </a:prstGeom>
        </p:spPr>
      </p:pic>
    </p:spTree>
    <p:extLst>
      <p:ext uri="{BB962C8B-B14F-4D97-AF65-F5344CB8AC3E}">
        <p14:creationId xmlns:p14="http://schemas.microsoft.com/office/powerpoint/2010/main" val="900091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parator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7DDD043-AE20-5187-3989-D98F839F0902}"/>
              </a:ext>
            </a:extLst>
          </p:cNvPr>
          <p:cNvPicPr>
            <a:picLocks noChangeAspect="1"/>
          </p:cNvPicPr>
          <p:nvPr userDrawn="1"/>
        </p:nvPicPr>
        <p:blipFill>
          <a:blip r:embed="rId2"/>
          <a:stretch>
            <a:fillRect/>
          </a:stretch>
        </p:blipFill>
        <p:spPr>
          <a:xfrm>
            <a:off x="0" y="0"/>
            <a:ext cx="12223750" cy="6857999"/>
          </a:xfrm>
          <a:prstGeom prst="rect">
            <a:avLst/>
          </a:prstGeom>
        </p:spPr>
      </p:pic>
      <p:cxnSp>
        <p:nvCxnSpPr>
          <p:cNvPr id="6" name="Straight Connector 5">
            <a:extLst>
              <a:ext uri="{FF2B5EF4-FFF2-40B4-BE49-F238E27FC236}">
                <a16:creationId xmlns:a16="http://schemas.microsoft.com/office/drawing/2014/main" id="{47C4CA14-A785-75D4-AB32-9C0DA12B4835}"/>
              </a:ext>
            </a:extLst>
          </p:cNvPr>
          <p:cNvCxnSpPr/>
          <p:nvPr userDrawn="1"/>
        </p:nvCxnSpPr>
        <p:spPr>
          <a:xfrm>
            <a:off x="631847" y="3824399"/>
            <a:ext cx="1044553"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13AA7655-ED19-2A01-3B4B-23255402FB96}"/>
              </a:ext>
            </a:extLst>
          </p:cNvPr>
          <p:cNvSpPr>
            <a:spLocks noGrp="1"/>
          </p:cNvSpPr>
          <p:nvPr>
            <p:ph type="title" hasCustomPrompt="1"/>
          </p:nvPr>
        </p:nvSpPr>
        <p:spPr>
          <a:xfrm>
            <a:off x="505124" y="2796366"/>
            <a:ext cx="10926134" cy="712372"/>
          </a:xfrm>
        </p:spPr>
        <p:txBody>
          <a:bodyPr anchor="ctr">
            <a:noAutofit/>
          </a:bodyPr>
          <a:lstStyle>
            <a:lvl1pPr>
              <a:defRPr lang="en-US" sz="3800" b="1" kern="1200" dirty="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r>
              <a:rPr lang="en-GB"/>
              <a:t>Click to edit title</a:t>
            </a:r>
            <a:endParaRPr lang="en-US"/>
          </a:p>
        </p:txBody>
      </p:sp>
    </p:spTree>
    <p:extLst>
      <p:ext uri="{BB962C8B-B14F-4D97-AF65-F5344CB8AC3E}">
        <p14:creationId xmlns:p14="http://schemas.microsoft.com/office/powerpoint/2010/main" val="1193346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3F7891D-B1C8-54EC-D843-6379DDA14529}"/>
              </a:ext>
            </a:extLst>
          </p:cNvPr>
          <p:cNvPicPr>
            <a:picLocks noChangeAspect="1"/>
          </p:cNvPicPr>
          <p:nvPr userDrawn="1"/>
        </p:nvPicPr>
        <p:blipFill>
          <a:blip r:embed="rId2"/>
          <a:stretch>
            <a:fillRect/>
          </a:stretch>
        </p:blipFill>
        <p:spPr>
          <a:xfrm>
            <a:off x="10401208" y="79080"/>
            <a:ext cx="1790792" cy="609631"/>
          </a:xfrm>
          <a:prstGeom prst="rect">
            <a:avLst/>
          </a:prstGeom>
        </p:spPr>
      </p:pic>
    </p:spTree>
    <p:extLst>
      <p:ext uri="{BB962C8B-B14F-4D97-AF65-F5344CB8AC3E}">
        <p14:creationId xmlns:p14="http://schemas.microsoft.com/office/powerpoint/2010/main" val="1149537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tint val="93000"/>
                <a:satMod val="150000"/>
                <a:shade val="98000"/>
                <a:lumMod val="102000"/>
              </a:schemeClr>
            </a:gs>
            <a:gs pos="100000">
              <a:schemeClr val="bg1">
                <a:lumMod val="95000"/>
              </a:schemeClr>
            </a:gs>
          </a:gsLst>
          <a:lin ang="5400000" scaled="0"/>
          <a:tileRect/>
        </a:gradFill>
        <a:effectLst/>
      </p:bgPr>
    </p:bg>
    <p:spTree>
      <p:nvGrpSpPr>
        <p:cNvPr id="1" name=""/>
        <p:cNvGrpSpPr/>
        <p:nvPr/>
      </p:nvGrpSpPr>
      <p:grpSpPr>
        <a:xfrm>
          <a:off x="0" y="0"/>
          <a:ext cx="0" cy="0"/>
          <a:chOff x="0" y="0"/>
          <a:chExt cx="0" cy="0"/>
        </a:xfrm>
      </p:grpSpPr>
      <p:sp>
        <p:nvSpPr>
          <p:cNvPr id="7" name="Slide Number Placeholder 13">
            <a:extLst>
              <a:ext uri="{FF2B5EF4-FFF2-40B4-BE49-F238E27FC236}">
                <a16:creationId xmlns:a16="http://schemas.microsoft.com/office/drawing/2014/main" id="{CCB08035-89B2-E7EE-74B9-F30882B4C877}"/>
              </a:ext>
            </a:extLst>
          </p:cNvPr>
          <p:cNvSpPr txBox="1">
            <a:spLocks/>
          </p:cNvSpPr>
          <p:nvPr userDrawn="1"/>
        </p:nvSpPr>
        <p:spPr>
          <a:xfrm>
            <a:off x="11039347" y="6602011"/>
            <a:ext cx="1160791" cy="25599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2378142-906B-1040-8F06-9AFB26CB07A2}" type="slidenum">
              <a:rPr lang="en-US" sz="800" smtClean="0">
                <a:solidFill>
                  <a:schemeClr val="bg2">
                    <a:lumMod val="50000"/>
                  </a:schemeClr>
                </a:solidFill>
                <a:latin typeface="Lato" panose="020F0502020204030203" pitchFamily="34" charset="0"/>
                <a:ea typeface="Lato" panose="020F0502020204030203" pitchFamily="34" charset="0"/>
                <a:cs typeface="Lato" panose="020F0502020204030203" pitchFamily="34" charset="0"/>
              </a:rPr>
              <a:pPr algn="r"/>
              <a:t>‹#›</a:t>
            </a:fld>
            <a:endParaRPr lang="en-US" sz="800">
              <a:solidFill>
                <a:schemeClr val="bg2">
                  <a:lumMod val="50000"/>
                </a:schemeClr>
              </a:solidFill>
              <a:latin typeface="Lato" panose="020F0502020204030203" pitchFamily="34" charset="0"/>
              <a:ea typeface="Lato" panose="020F0502020204030203" pitchFamily="34" charset="0"/>
              <a:cs typeface="Lato" panose="020F0502020204030203" pitchFamily="34" charset="0"/>
            </a:endParaRPr>
          </a:p>
        </p:txBody>
      </p:sp>
      <p:sp>
        <p:nvSpPr>
          <p:cNvPr id="9" name="Footer Placeholder 2">
            <a:extLst>
              <a:ext uri="{FF2B5EF4-FFF2-40B4-BE49-F238E27FC236}">
                <a16:creationId xmlns:a16="http://schemas.microsoft.com/office/drawing/2014/main" id="{911E4304-1B2F-DD80-1FD0-9E9ED15BD8C5}"/>
              </a:ext>
            </a:extLst>
          </p:cNvPr>
          <p:cNvSpPr txBox="1">
            <a:spLocks/>
          </p:cNvSpPr>
          <p:nvPr userDrawn="1"/>
        </p:nvSpPr>
        <p:spPr>
          <a:xfrm>
            <a:off x="4038600" y="6602011"/>
            <a:ext cx="4114800" cy="25599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00">
                <a:solidFill>
                  <a:schemeClr val="bg2">
                    <a:lumMod val="50000"/>
                  </a:schemeClr>
                </a:solidFill>
                <a:latin typeface="Lato" panose="020F0502020204030203" pitchFamily="34" charset="0"/>
                <a:ea typeface="Lato" panose="020F0502020204030203" pitchFamily="34" charset="0"/>
                <a:cs typeface="Lato" panose="020F0502020204030203" pitchFamily="34" charset="0"/>
              </a:rPr>
              <a:t>© 2026. All Rights Reserved - Confidential</a:t>
            </a:r>
          </a:p>
        </p:txBody>
      </p:sp>
      <p:sp>
        <p:nvSpPr>
          <p:cNvPr id="11" name="Title Placeholder 1">
            <a:extLst>
              <a:ext uri="{FF2B5EF4-FFF2-40B4-BE49-F238E27FC236}">
                <a16:creationId xmlns:a16="http://schemas.microsoft.com/office/drawing/2014/main" id="{AF67FE1F-BBEA-30F1-1B0A-A358BD142D6A}"/>
              </a:ext>
            </a:extLst>
          </p:cNvPr>
          <p:cNvSpPr>
            <a:spLocks noGrp="1"/>
          </p:cNvSpPr>
          <p:nvPr>
            <p:ph type="title"/>
          </p:nvPr>
        </p:nvSpPr>
        <p:spPr>
          <a:xfrm>
            <a:off x="285205" y="145617"/>
            <a:ext cx="10926134" cy="576000"/>
          </a:xfrm>
          <a:prstGeom prst="rect">
            <a:avLst/>
          </a:prstGeom>
        </p:spPr>
        <p:txBody>
          <a:bodyPr vert="horz" lIns="91440" tIns="45720" rIns="91440" bIns="45720" rtlCol="0" anchor="t">
            <a:normAutofit/>
          </a:bodyPr>
          <a:lstStyle/>
          <a:p>
            <a:r>
              <a:rPr lang="en-GB"/>
              <a:t>Click to edit title</a:t>
            </a:r>
            <a:endParaRPr lang="en-US"/>
          </a:p>
        </p:txBody>
      </p:sp>
      <p:pic>
        <p:nvPicPr>
          <p:cNvPr id="3" name="Picture 2" descr="A black and orange logo&#10;&#10;Description automatically generated">
            <a:extLst>
              <a:ext uri="{FF2B5EF4-FFF2-40B4-BE49-F238E27FC236}">
                <a16:creationId xmlns:a16="http://schemas.microsoft.com/office/drawing/2014/main" id="{B0BF8A5E-7D87-739C-221B-BCFE09907015}"/>
              </a:ext>
            </a:extLst>
          </p:cNvPr>
          <p:cNvPicPr>
            <a:picLocks noChangeAspect="1"/>
          </p:cNvPicPr>
          <p:nvPr userDrawn="1"/>
        </p:nvPicPr>
        <p:blipFill>
          <a:blip r:embed="rId8"/>
          <a:stretch>
            <a:fillRect/>
          </a:stretch>
        </p:blipFill>
        <p:spPr>
          <a:xfrm>
            <a:off x="11289301" y="101188"/>
            <a:ext cx="814592" cy="219313"/>
          </a:xfrm>
          <a:prstGeom prst="rect">
            <a:avLst/>
          </a:prstGeom>
        </p:spPr>
      </p:pic>
    </p:spTree>
    <p:extLst>
      <p:ext uri="{BB962C8B-B14F-4D97-AF65-F5344CB8AC3E}">
        <p14:creationId xmlns:p14="http://schemas.microsoft.com/office/powerpoint/2010/main" val="1657687655"/>
      </p:ext>
    </p:extLst>
  </p:cSld>
  <p:clrMap bg1="lt1" tx1="dk1" bg2="lt2" tx2="dk2" accent1="accent1" accent2="accent2" accent3="accent3" accent4="accent4" accent5="accent5" accent6="accent6" hlink="hlink" folHlink="folHlink"/>
  <p:sldLayoutIdLst>
    <p:sldLayoutId id="2147483649" r:id="rId1"/>
    <p:sldLayoutId id="2147483653" r:id="rId2"/>
    <p:sldLayoutId id="2147483654" r:id="rId3"/>
    <p:sldLayoutId id="2147483652" r:id="rId4"/>
    <p:sldLayoutId id="2147483650" r:id="rId5"/>
    <p:sldLayoutId id="2147483664" r:id="rId6"/>
  </p:sldLayoutIdLst>
  <p:hf sldNum="0" hdr="0" ftr="0"/>
  <p:txStyles>
    <p:titleStyle>
      <a:lvl1pPr algn="l" defTabSz="914377" rtl="0" eaLnBrk="1" latinLnBrk="0" hangingPunct="1">
        <a:lnSpc>
          <a:spcPct val="90000"/>
        </a:lnSpc>
        <a:spcBef>
          <a:spcPct val="0"/>
        </a:spcBef>
        <a:buNone/>
        <a:defRPr lang="en-US" sz="2800" b="1" kern="1200" dirty="0">
          <a:solidFill>
            <a:srgbClr val="E44C25"/>
          </a:solidFill>
          <a:latin typeface="Roboto" panose="02000000000000000000" pitchFamily="2" charset="0"/>
          <a:ea typeface="Roboto" panose="02000000000000000000" pitchFamily="2" charset="0"/>
          <a:cs typeface="+mn-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3.sv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0.png"/><Relationship Id="rId18" Type="http://schemas.openxmlformats.org/officeDocument/2006/relationships/image" Target="../media/image25.jpeg"/><Relationship Id="rId26" Type="http://schemas.openxmlformats.org/officeDocument/2006/relationships/image" Target="../media/image33.png"/><Relationship Id="rId3" Type="http://schemas.openxmlformats.org/officeDocument/2006/relationships/image" Target="../media/image14.png"/><Relationship Id="rId21" Type="http://schemas.openxmlformats.org/officeDocument/2006/relationships/image" Target="../media/image28.png"/><Relationship Id="rId7" Type="http://schemas.microsoft.com/office/2007/relationships/hdphoto" Target="../media/hdphoto3.wdp"/><Relationship Id="rId12" Type="http://schemas.openxmlformats.org/officeDocument/2006/relationships/image" Target="../media/image19.jpe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2.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16.png"/><Relationship Id="rId11" Type="http://schemas.microsoft.com/office/2007/relationships/hdphoto" Target="../media/hdphoto5.wdp"/><Relationship Id="rId24" Type="http://schemas.openxmlformats.org/officeDocument/2006/relationships/image" Target="../media/image31.png"/><Relationship Id="rId5" Type="http://schemas.microsoft.com/office/2007/relationships/hdphoto" Target="../media/hdphoto2.wdp"/><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8.png"/><Relationship Id="rId19" Type="http://schemas.openxmlformats.org/officeDocument/2006/relationships/image" Target="../media/image26.png"/><Relationship Id="rId4" Type="http://schemas.openxmlformats.org/officeDocument/2006/relationships/image" Target="../media/image15.png"/><Relationship Id="rId9" Type="http://schemas.microsoft.com/office/2007/relationships/hdphoto" Target="../media/hdphoto4.wdp"/><Relationship Id="rId14" Type="http://schemas.openxmlformats.org/officeDocument/2006/relationships/image" Target="../media/image21.png"/><Relationship Id="rId22" Type="http://schemas.openxmlformats.org/officeDocument/2006/relationships/image" Target="../media/image29.png"/></Relationships>
</file>

<file path=ppt/slides/_rels/slide5.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34.png"/><Relationship Id="rId1" Type="http://schemas.openxmlformats.org/officeDocument/2006/relationships/slideLayout" Target="../slideLayouts/slideLayout1.xml"/><Relationship Id="rId5" Type="http://schemas.microsoft.com/office/2007/relationships/hdphoto" Target="../media/hdphoto7.wdp"/><Relationship Id="rId4" Type="http://schemas.openxmlformats.org/officeDocument/2006/relationships/image" Target="../media/image35.png"/></Relationships>
</file>

<file path=ppt/slides/_rels/slide6.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6.png"/><Relationship Id="rId7" Type="http://schemas.openxmlformats.org/officeDocument/2006/relationships/image" Target="../media/image39.png"/><Relationship Id="rId2" Type="http://schemas.openxmlformats.org/officeDocument/2006/relationships/image" Target="../media/image36.png"/><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0.png"/><Relationship Id="rId4" Type="http://schemas.openxmlformats.org/officeDocument/2006/relationships/image" Target="../media/image38.png"/><Relationship Id="rId9" Type="http://schemas.openxmlformats.org/officeDocument/2006/relationships/image" Target="../media/image400.png"/></Relationships>
</file>

<file path=ppt/slides/_rels/slide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46.png"/><Relationship Id="rId13" Type="http://schemas.microsoft.com/office/2007/relationships/hdphoto" Target="../media/hdphoto12.wdp"/><Relationship Id="rId18" Type="http://schemas.openxmlformats.org/officeDocument/2006/relationships/image" Target="../media/image51.png"/><Relationship Id="rId3" Type="http://schemas.openxmlformats.org/officeDocument/2006/relationships/image" Target="../media/image43.png"/><Relationship Id="rId7" Type="http://schemas.microsoft.com/office/2007/relationships/hdphoto" Target="../media/hdphoto9.wdp"/><Relationship Id="rId12" Type="http://schemas.openxmlformats.org/officeDocument/2006/relationships/image" Target="../media/image48.png"/><Relationship Id="rId17" Type="http://schemas.openxmlformats.org/officeDocument/2006/relationships/image" Target="../media/image50.png"/><Relationship Id="rId2" Type="http://schemas.openxmlformats.org/officeDocument/2006/relationships/image" Target="../media/image42.png"/><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5.png"/><Relationship Id="rId11" Type="http://schemas.microsoft.com/office/2007/relationships/hdphoto" Target="../media/hdphoto11.wdp"/><Relationship Id="rId5" Type="http://schemas.microsoft.com/office/2007/relationships/hdphoto" Target="../media/hdphoto8.wdp"/><Relationship Id="rId15" Type="http://schemas.microsoft.com/office/2007/relationships/hdphoto" Target="../media/hdphoto13.wdp"/><Relationship Id="rId10" Type="http://schemas.openxmlformats.org/officeDocument/2006/relationships/image" Target="../media/image47.png"/><Relationship Id="rId4" Type="http://schemas.openxmlformats.org/officeDocument/2006/relationships/image" Target="../media/image44.png"/><Relationship Id="rId9" Type="http://schemas.microsoft.com/office/2007/relationships/hdphoto" Target="../media/hdphoto10.wdp"/><Relationship Id="rId14" Type="http://schemas.openxmlformats.org/officeDocument/2006/relationships/image" Target="../media/image4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microsoft.com/office/2007/relationships/hdphoto" Target="../media/hdphoto16.wdp"/><Relationship Id="rId3" Type="http://schemas.openxmlformats.org/officeDocument/2006/relationships/image" Target="../media/image54.png"/><Relationship Id="rId7" Type="http://schemas.openxmlformats.org/officeDocument/2006/relationships/image" Target="../media/image5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microsoft.com/office/2007/relationships/hdphoto" Target="../media/hdphoto15.wdp"/><Relationship Id="rId11" Type="http://schemas.openxmlformats.org/officeDocument/2006/relationships/image" Target="../media/image58.png"/><Relationship Id="rId5" Type="http://schemas.openxmlformats.org/officeDocument/2006/relationships/image" Target="../media/image55.png"/><Relationship Id="rId10" Type="http://schemas.microsoft.com/office/2007/relationships/hdphoto" Target="../media/hdphoto17.wdp"/><Relationship Id="rId4" Type="http://schemas.microsoft.com/office/2007/relationships/hdphoto" Target="../media/hdphoto14.wdp"/><Relationship Id="rId9" Type="http://schemas.openxmlformats.org/officeDocument/2006/relationships/image" Target="../media/image57.png"/></Relationships>
</file>

<file path=ppt/slides/_rels/slide12.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9.png"/><Relationship Id="rId7" Type="http://schemas.openxmlformats.org/officeDocument/2006/relationships/image" Target="../media/image63.svg"/><Relationship Id="rId12" Type="http://schemas.openxmlformats.org/officeDocument/2006/relationships/image" Target="../media/image6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2.png"/><Relationship Id="rId11" Type="http://schemas.openxmlformats.org/officeDocument/2006/relationships/image" Target="../media/image67.svg"/><Relationship Id="rId5" Type="http://schemas.openxmlformats.org/officeDocument/2006/relationships/image" Target="../media/image61.svg"/><Relationship Id="rId10" Type="http://schemas.openxmlformats.org/officeDocument/2006/relationships/image" Target="../media/image66.png"/><Relationship Id="rId4" Type="http://schemas.openxmlformats.org/officeDocument/2006/relationships/image" Target="../media/image60.png"/><Relationship Id="rId9" Type="http://schemas.openxmlformats.org/officeDocument/2006/relationships/image" Target="../media/image65.svg"/></Relationships>
</file>

<file path=ppt/slides/_rels/slide13.xml.rels><?xml version="1.0" encoding="UTF-8" standalone="yes"?>
<Relationships xmlns="http://schemas.openxmlformats.org/package/2006/relationships"><Relationship Id="rId3" Type="http://schemas.openxmlformats.org/officeDocument/2006/relationships/image" Target="../media/image70.svg"/><Relationship Id="rId2" Type="http://schemas.openxmlformats.org/officeDocument/2006/relationships/image" Target="../media/image69.png"/><Relationship Id="rId1" Type="http://schemas.openxmlformats.org/officeDocument/2006/relationships/slideLayout" Target="../slideLayouts/slideLayout1.xml"/><Relationship Id="rId5" Type="http://schemas.openxmlformats.org/officeDocument/2006/relationships/image" Target="../media/image72.png"/><Relationship Id="rId4" Type="http://schemas.openxmlformats.org/officeDocument/2006/relationships/image" Target="../media/image71.png"/></Relationships>
</file>

<file path=ppt/slides/_rels/slide14.x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5.emf"/><Relationship Id="rId2" Type="http://schemas.openxmlformats.org/officeDocument/2006/relationships/image" Target="../media/image74.emf"/><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image" Target="../media/image77.jpeg"/><Relationship Id="rId1" Type="http://schemas.openxmlformats.org/officeDocument/2006/relationships/slideLayout" Target="../slideLayouts/slideLayout1.xml"/><Relationship Id="rId4" Type="http://schemas.openxmlformats.org/officeDocument/2006/relationships/image" Target="../media/image79.jpeg"/></Relationships>
</file>

<file path=ppt/slides/_rels/slide23.xml.rels><?xml version="1.0" encoding="UTF-8" standalone="yes"?>
<Relationships xmlns="http://schemas.openxmlformats.org/package/2006/relationships"><Relationship Id="rId3" Type="http://schemas.openxmlformats.org/officeDocument/2006/relationships/image" Target="../media/image81.svg"/><Relationship Id="rId2" Type="http://schemas.openxmlformats.org/officeDocument/2006/relationships/image" Target="../media/image80.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xml"/><Relationship Id="rId4" Type="http://schemas.openxmlformats.org/officeDocument/2006/relationships/image" Target="../media/image84.png"/></Relationships>
</file>

<file path=ppt/slides/_rels/slide2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7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microsoft.com/office/2007/relationships/hdphoto" Target="../media/hdphoto20.wdp"/><Relationship Id="rId3" Type="http://schemas.openxmlformats.org/officeDocument/2006/relationships/image" Target="../media/image86.png"/><Relationship Id="rId7" Type="http://schemas.openxmlformats.org/officeDocument/2006/relationships/image" Target="../media/image88.png"/><Relationship Id="rId2" Type="http://schemas.openxmlformats.org/officeDocument/2006/relationships/image" Target="../media/image14.png"/><Relationship Id="rId1" Type="http://schemas.openxmlformats.org/officeDocument/2006/relationships/slideLayout" Target="../slideLayouts/slideLayout1.xml"/><Relationship Id="rId6" Type="http://schemas.microsoft.com/office/2007/relationships/hdphoto" Target="../media/hdphoto19.wdp"/><Relationship Id="rId5" Type="http://schemas.openxmlformats.org/officeDocument/2006/relationships/image" Target="../media/image87.png"/><Relationship Id="rId4" Type="http://schemas.microsoft.com/office/2007/relationships/hdphoto" Target="../media/hdphoto18.wdp"/></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76.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8" Type="http://schemas.microsoft.com/office/2007/relationships/hdphoto" Target="../media/hdphoto20.wdp"/><Relationship Id="rId3" Type="http://schemas.openxmlformats.org/officeDocument/2006/relationships/image" Target="../media/image86.png"/><Relationship Id="rId7" Type="http://schemas.openxmlformats.org/officeDocument/2006/relationships/image" Target="../media/image88.png"/><Relationship Id="rId2" Type="http://schemas.openxmlformats.org/officeDocument/2006/relationships/image" Target="../media/image14.png"/><Relationship Id="rId1" Type="http://schemas.openxmlformats.org/officeDocument/2006/relationships/slideLayout" Target="../slideLayouts/slideLayout1.xml"/><Relationship Id="rId6" Type="http://schemas.microsoft.com/office/2007/relationships/hdphoto" Target="../media/hdphoto19.wdp"/><Relationship Id="rId5" Type="http://schemas.openxmlformats.org/officeDocument/2006/relationships/image" Target="../media/image87.png"/><Relationship Id="rId4" Type="http://schemas.microsoft.com/office/2007/relationships/hdphoto" Target="../media/hdphoto18.wdp"/></Relationships>
</file>

<file path=ppt/slides/_rels/slide33.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92.svg"/><Relationship Id="rId7" Type="http://schemas.openxmlformats.org/officeDocument/2006/relationships/image" Target="../media/image96.svg"/><Relationship Id="rId2" Type="http://schemas.openxmlformats.org/officeDocument/2006/relationships/image" Target="../media/image91.png"/><Relationship Id="rId1" Type="http://schemas.openxmlformats.org/officeDocument/2006/relationships/slideLayout" Target="../slideLayouts/slideLayout1.xml"/><Relationship Id="rId6" Type="http://schemas.openxmlformats.org/officeDocument/2006/relationships/image" Target="../media/image95.png"/><Relationship Id="rId5" Type="http://schemas.openxmlformats.org/officeDocument/2006/relationships/image" Target="../media/image94.svg"/><Relationship Id="rId4" Type="http://schemas.openxmlformats.org/officeDocument/2006/relationships/image" Target="../media/image93.png"/></Relationships>
</file>

<file path=ppt/slides/_rels/slide3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1.svg"/><Relationship Id="rId5" Type="http://schemas.openxmlformats.org/officeDocument/2006/relationships/image" Target="../media/image100.png"/><Relationship Id="rId4" Type="http://schemas.openxmlformats.org/officeDocument/2006/relationships/image" Target="../media/image99.png"/></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76.png"/><Relationship Id="rId1" Type="http://schemas.openxmlformats.org/officeDocument/2006/relationships/slideLayout" Target="../slideLayouts/slideLayout1.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1803-05DB-FBB5-945F-C6128B1D4BC1}"/>
              </a:ext>
            </a:extLst>
          </p:cNvPr>
          <p:cNvSpPr>
            <a:spLocks noGrp="1"/>
          </p:cNvSpPr>
          <p:nvPr>
            <p:ph type="title"/>
          </p:nvPr>
        </p:nvSpPr>
        <p:spPr>
          <a:xfrm>
            <a:off x="537717" y="2693294"/>
            <a:ext cx="11189463" cy="1215765"/>
          </a:xfrm>
        </p:spPr>
        <p:txBody>
          <a:bodyPr/>
          <a:lstStyle/>
          <a:p>
            <a:r>
              <a:rPr lang="en-US" sz="3600"/>
              <a:t>Innominds Proposal to Daikin</a:t>
            </a:r>
            <a:br>
              <a:rPr lang="en-US" sz="3600"/>
            </a:br>
            <a:r>
              <a:rPr lang="en-US" sz="3600"/>
              <a:t>Managed POD Engagement Model</a:t>
            </a:r>
            <a:endParaRPr lang="en-IN" sz="3600"/>
          </a:p>
        </p:txBody>
      </p:sp>
      <p:sp>
        <p:nvSpPr>
          <p:cNvPr id="3" name="Content Placeholder 2">
            <a:extLst>
              <a:ext uri="{FF2B5EF4-FFF2-40B4-BE49-F238E27FC236}">
                <a16:creationId xmlns:a16="http://schemas.microsoft.com/office/drawing/2014/main" id="{CD041234-53C2-DFF3-550F-2FDC50AC4666}"/>
              </a:ext>
            </a:extLst>
          </p:cNvPr>
          <p:cNvSpPr>
            <a:spLocks noGrp="1"/>
          </p:cNvSpPr>
          <p:nvPr>
            <p:ph sz="quarter" idx="10"/>
          </p:nvPr>
        </p:nvSpPr>
        <p:spPr/>
        <p:txBody>
          <a:bodyPr/>
          <a:lstStyle/>
          <a:p>
            <a:r>
              <a:rPr lang="en-IN"/>
              <a:t> From Connected Device to Cloud &amp; Cognition</a:t>
            </a:r>
            <a:endParaRPr lang="en-US"/>
          </a:p>
        </p:txBody>
      </p:sp>
      <p:sp>
        <p:nvSpPr>
          <p:cNvPr id="4" name="Content Placeholder 3">
            <a:extLst>
              <a:ext uri="{FF2B5EF4-FFF2-40B4-BE49-F238E27FC236}">
                <a16:creationId xmlns:a16="http://schemas.microsoft.com/office/drawing/2014/main" id="{F90C7F91-BAD3-9C63-23BD-7306E4D6DE99}"/>
              </a:ext>
            </a:extLst>
          </p:cNvPr>
          <p:cNvSpPr>
            <a:spLocks noGrp="1"/>
          </p:cNvSpPr>
          <p:nvPr>
            <p:ph sz="quarter" idx="11"/>
          </p:nvPr>
        </p:nvSpPr>
        <p:spPr/>
        <p:txBody>
          <a:bodyPr/>
          <a:lstStyle/>
          <a:p>
            <a:r>
              <a:rPr lang="en-US"/>
              <a:t>Feb 2026</a:t>
            </a:r>
            <a:endParaRPr lang="en-IN"/>
          </a:p>
        </p:txBody>
      </p:sp>
    </p:spTree>
    <p:extLst>
      <p:ext uri="{BB962C8B-B14F-4D97-AF65-F5344CB8AC3E}">
        <p14:creationId xmlns:p14="http://schemas.microsoft.com/office/powerpoint/2010/main" val="26374561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7E8EA-B4A5-7D83-91F6-8181FF466C84}"/>
              </a:ext>
            </a:extLst>
          </p:cNvPr>
          <p:cNvSpPr>
            <a:spLocks noGrp="1"/>
          </p:cNvSpPr>
          <p:nvPr>
            <p:ph type="title"/>
          </p:nvPr>
        </p:nvSpPr>
        <p:spPr/>
        <p:txBody>
          <a:bodyPr/>
          <a:lstStyle/>
          <a:p>
            <a:r>
              <a:rPr lang="en-US"/>
              <a:t>Agenda</a:t>
            </a:r>
            <a:endParaRPr lang="en-IN"/>
          </a:p>
        </p:txBody>
      </p:sp>
      <p:grpSp>
        <p:nvGrpSpPr>
          <p:cNvPr id="36" name="Group 35">
            <a:extLst>
              <a:ext uri="{FF2B5EF4-FFF2-40B4-BE49-F238E27FC236}">
                <a16:creationId xmlns:a16="http://schemas.microsoft.com/office/drawing/2014/main" id="{5516AAF7-90C7-A814-4F62-E8FE94241CA7}"/>
              </a:ext>
            </a:extLst>
          </p:cNvPr>
          <p:cNvGrpSpPr/>
          <p:nvPr/>
        </p:nvGrpSpPr>
        <p:grpSpPr>
          <a:xfrm>
            <a:off x="250986" y="974411"/>
            <a:ext cx="5692613" cy="441264"/>
            <a:chOff x="381000" y="923474"/>
            <a:chExt cx="4822371" cy="576000"/>
          </a:xfrm>
        </p:grpSpPr>
        <p:sp>
          <p:nvSpPr>
            <p:cNvPr id="37" name="Rectangle: Rounded Corners 36">
              <a:extLst>
                <a:ext uri="{FF2B5EF4-FFF2-40B4-BE49-F238E27FC236}">
                  <a16:creationId xmlns:a16="http://schemas.microsoft.com/office/drawing/2014/main" id="{BAD85181-DF47-4730-6D75-6DB093B9E85D}"/>
                </a:ext>
              </a:extLst>
            </p:cNvPr>
            <p:cNvSpPr/>
            <p:nvPr/>
          </p:nvSpPr>
          <p:spPr>
            <a:xfrm>
              <a:off x="381000" y="923474"/>
              <a:ext cx="4212769" cy="576000"/>
            </a:xfrm>
            <a:prstGeom prst="roundRect">
              <a:avLst>
                <a:gd name="adj" fmla="val 50000"/>
              </a:avLst>
            </a:prstGeom>
            <a:solidFill>
              <a:schemeClr val="bg1"/>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01</a:t>
              </a:r>
            </a:p>
          </p:txBody>
        </p:sp>
        <p:sp>
          <p:nvSpPr>
            <p:cNvPr id="38" name="Rectangle: Rounded Corners 37">
              <a:extLst>
                <a:ext uri="{FF2B5EF4-FFF2-40B4-BE49-F238E27FC236}">
                  <a16:creationId xmlns:a16="http://schemas.microsoft.com/office/drawing/2014/main" id="{97DAB337-182B-0235-4ADC-B515E9B215CB}"/>
                </a:ext>
              </a:extLst>
            </p:cNvPr>
            <p:cNvSpPr/>
            <p:nvPr/>
          </p:nvSpPr>
          <p:spPr>
            <a:xfrm>
              <a:off x="990602" y="923474"/>
              <a:ext cx="4212769" cy="576000"/>
            </a:xfrm>
            <a:prstGeom prst="roundRect">
              <a:avLst>
                <a:gd name="adj" fmla="val 50000"/>
              </a:avLst>
            </a:prstGeom>
            <a:solidFill>
              <a:srgbClr val="E3EFF9"/>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72829"/>
                  </a:solidFill>
                  <a:effectLst/>
                  <a:uLnTx/>
                  <a:uFillTx/>
                  <a:latin typeface="Lato" panose="020F0502020204030203" pitchFamily="34" charset="77"/>
                  <a:ea typeface="League Spartan" charset="0"/>
                  <a:cs typeface="Poppins" pitchFamily="2" charset="77"/>
                </a:rPr>
                <a:t>Executive Summary</a:t>
              </a:r>
            </a:p>
          </p:txBody>
        </p:sp>
      </p:grpSp>
      <p:grpSp>
        <p:nvGrpSpPr>
          <p:cNvPr id="39" name="Group 38">
            <a:extLst>
              <a:ext uri="{FF2B5EF4-FFF2-40B4-BE49-F238E27FC236}">
                <a16:creationId xmlns:a16="http://schemas.microsoft.com/office/drawing/2014/main" id="{E48F2CDA-E76F-7F9A-2A5A-657A7DC102E8}"/>
              </a:ext>
            </a:extLst>
          </p:cNvPr>
          <p:cNvGrpSpPr/>
          <p:nvPr/>
        </p:nvGrpSpPr>
        <p:grpSpPr>
          <a:xfrm>
            <a:off x="250986" y="1797185"/>
            <a:ext cx="5692613" cy="441264"/>
            <a:chOff x="381000" y="923474"/>
            <a:chExt cx="4822371" cy="576000"/>
          </a:xfrm>
        </p:grpSpPr>
        <p:sp>
          <p:nvSpPr>
            <p:cNvPr id="40" name="Rectangle: Rounded Corners 39">
              <a:extLst>
                <a:ext uri="{FF2B5EF4-FFF2-40B4-BE49-F238E27FC236}">
                  <a16:creationId xmlns:a16="http://schemas.microsoft.com/office/drawing/2014/main" id="{4DB7DBAB-E68E-6D3E-9D24-77E86C347775}"/>
                </a:ext>
              </a:extLst>
            </p:cNvPr>
            <p:cNvSpPr/>
            <p:nvPr/>
          </p:nvSpPr>
          <p:spPr>
            <a:xfrm>
              <a:off x="381000" y="923474"/>
              <a:ext cx="4212769" cy="576000"/>
            </a:xfrm>
            <a:prstGeom prst="roundRect">
              <a:avLst>
                <a:gd name="adj" fmla="val 50000"/>
              </a:avLst>
            </a:prstGeom>
            <a:solidFill>
              <a:schemeClr val="bg1"/>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02</a:t>
              </a:r>
            </a:p>
          </p:txBody>
        </p:sp>
        <p:sp>
          <p:nvSpPr>
            <p:cNvPr id="41" name="Rectangle: Rounded Corners 40">
              <a:extLst>
                <a:ext uri="{FF2B5EF4-FFF2-40B4-BE49-F238E27FC236}">
                  <a16:creationId xmlns:a16="http://schemas.microsoft.com/office/drawing/2014/main" id="{552BE92B-E0CF-59AC-C351-296624693EDA}"/>
                </a:ext>
              </a:extLst>
            </p:cNvPr>
            <p:cNvSpPr/>
            <p:nvPr/>
          </p:nvSpPr>
          <p:spPr>
            <a:xfrm>
              <a:off x="990602" y="923474"/>
              <a:ext cx="4212769" cy="576000"/>
            </a:xfrm>
            <a:prstGeom prst="roundRect">
              <a:avLst>
                <a:gd name="adj" fmla="val 50000"/>
              </a:avLst>
            </a:prstGeom>
            <a:solidFill>
              <a:srgbClr val="E3EFF9"/>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72829"/>
                  </a:solidFill>
                  <a:effectLst/>
                  <a:uLnTx/>
                  <a:uFillTx/>
                  <a:latin typeface="Lato" panose="020F0502020204030203" pitchFamily="34" charset="77"/>
                  <a:ea typeface="League Spartan" charset="0"/>
                  <a:cs typeface="Poppins" pitchFamily="2" charset="77"/>
                </a:rPr>
                <a:t>Current Engagement Landscape &amp; Challenges</a:t>
              </a:r>
            </a:p>
          </p:txBody>
        </p:sp>
      </p:grpSp>
      <p:grpSp>
        <p:nvGrpSpPr>
          <p:cNvPr id="42" name="Group 41">
            <a:extLst>
              <a:ext uri="{FF2B5EF4-FFF2-40B4-BE49-F238E27FC236}">
                <a16:creationId xmlns:a16="http://schemas.microsoft.com/office/drawing/2014/main" id="{BB86DE43-7FDB-0C55-270A-A0C48FFF86A9}"/>
              </a:ext>
            </a:extLst>
          </p:cNvPr>
          <p:cNvGrpSpPr/>
          <p:nvPr/>
        </p:nvGrpSpPr>
        <p:grpSpPr>
          <a:xfrm>
            <a:off x="250986" y="3442733"/>
            <a:ext cx="5692613" cy="441264"/>
            <a:chOff x="381000" y="923474"/>
            <a:chExt cx="4822371" cy="576000"/>
          </a:xfrm>
        </p:grpSpPr>
        <p:sp>
          <p:nvSpPr>
            <p:cNvPr id="43" name="Rectangle: Rounded Corners 42">
              <a:extLst>
                <a:ext uri="{FF2B5EF4-FFF2-40B4-BE49-F238E27FC236}">
                  <a16:creationId xmlns:a16="http://schemas.microsoft.com/office/drawing/2014/main" id="{B3C956E1-9FD6-0808-1F36-E1D24CC5E124}"/>
                </a:ext>
              </a:extLst>
            </p:cNvPr>
            <p:cNvSpPr/>
            <p:nvPr/>
          </p:nvSpPr>
          <p:spPr>
            <a:xfrm>
              <a:off x="381000" y="923474"/>
              <a:ext cx="4212769" cy="576000"/>
            </a:xfrm>
            <a:prstGeom prst="roundRect">
              <a:avLst>
                <a:gd name="adj" fmla="val 50000"/>
              </a:avLst>
            </a:prstGeom>
            <a:solidFill>
              <a:schemeClr val="bg1"/>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04</a:t>
              </a:r>
            </a:p>
          </p:txBody>
        </p:sp>
        <p:sp>
          <p:nvSpPr>
            <p:cNvPr id="44" name="Rectangle: Rounded Corners 43">
              <a:extLst>
                <a:ext uri="{FF2B5EF4-FFF2-40B4-BE49-F238E27FC236}">
                  <a16:creationId xmlns:a16="http://schemas.microsoft.com/office/drawing/2014/main" id="{BD8135EF-468E-6186-7561-BE4915420E3F}"/>
                </a:ext>
              </a:extLst>
            </p:cNvPr>
            <p:cNvSpPr/>
            <p:nvPr/>
          </p:nvSpPr>
          <p:spPr>
            <a:xfrm>
              <a:off x="990602" y="923474"/>
              <a:ext cx="4212769" cy="576000"/>
            </a:xfrm>
            <a:prstGeom prst="roundRect">
              <a:avLst>
                <a:gd name="adj" fmla="val 50000"/>
              </a:avLst>
            </a:prstGeom>
            <a:solidFill>
              <a:srgbClr val="E3EFF9"/>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72829"/>
                  </a:solidFill>
                  <a:effectLst/>
                  <a:uLnTx/>
                  <a:uFillTx/>
                  <a:latin typeface="Lato" panose="020F0502020204030203" pitchFamily="34" charset="77"/>
                  <a:ea typeface="League Spartan" charset="0"/>
                  <a:cs typeface="Poppins" pitchFamily="2" charset="77"/>
                </a:rPr>
                <a:t>Engagement Objectives</a:t>
              </a:r>
            </a:p>
          </p:txBody>
        </p:sp>
      </p:grpSp>
      <p:grpSp>
        <p:nvGrpSpPr>
          <p:cNvPr id="45" name="Group 44">
            <a:extLst>
              <a:ext uri="{FF2B5EF4-FFF2-40B4-BE49-F238E27FC236}">
                <a16:creationId xmlns:a16="http://schemas.microsoft.com/office/drawing/2014/main" id="{C3F86406-1540-088C-BFF4-F5365A3F44B3}"/>
              </a:ext>
            </a:extLst>
          </p:cNvPr>
          <p:cNvGrpSpPr/>
          <p:nvPr/>
        </p:nvGrpSpPr>
        <p:grpSpPr>
          <a:xfrm>
            <a:off x="250986" y="4265507"/>
            <a:ext cx="5692613" cy="441264"/>
            <a:chOff x="381000" y="923474"/>
            <a:chExt cx="4822371" cy="576000"/>
          </a:xfrm>
        </p:grpSpPr>
        <p:sp>
          <p:nvSpPr>
            <p:cNvPr id="46" name="Rectangle: Rounded Corners 45">
              <a:extLst>
                <a:ext uri="{FF2B5EF4-FFF2-40B4-BE49-F238E27FC236}">
                  <a16:creationId xmlns:a16="http://schemas.microsoft.com/office/drawing/2014/main" id="{2A233F5C-5A98-9A2D-880C-E0D6313DD5AC}"/>
                </a:ext>
              </a:extLst>
            </p:cNvPr>
            <p:cNvSpPr/>
            <p:nvPr/>
          </p:nvSpPr>
          <p:spPr>
            <a:xfrm>
              <a:off x="381000" y="923474"/>
              <a:ext cx="4212769" cy="576000"/>
            </a:xfrm>
            <a:prstGeom prst="roundRect">
              <a:avLst>
                <a:gd name="adj" fmla="val 50000"/>
              </a:avLst>
            </a:prstGeom>
            <a:solidFill>
              <a:schemeClr val="bg1"/>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05</a:t>
              </a:r>
            </a:p>
          </p:txBody>
        </p:sp>
        <p:sp>
          <p:nvSpPr>
            <p:cNvPr id="47" name="Rectangle: Rounded Corners 46">
              <a:extLst>
                <a:ext uri="{FF2B5EF4-FFF2-40B4-BE49-F238E27FC236}">
                  <a16:creationId xmlns:a16="http://schemas.microsoft.com/office/drawing/2014/main" id="{F553191A-587E-F892-232C-F288307774DF}"/>
                </a:ext>
              </a:extLst>
            </p:cNvPr>
            <p:cNvSpPr/>
            <p:nvPr/>
          </p:nvSpPr>
          <p:spPr>
            <a:xfrm>
              <a:off x="990602" y="923474"/>
              <a:ext cx="4212769" cy="576000"/>
            </a:xfrm>
            <a:prstGeom prst="roundRect">
              <a:avLst>
                <a:gd name="adj" fmla="val 50000"/>
              </a:avLst>
            </a:prstGeom>
            <a:solidFill>
              <a:srgbClr val="E3EFF9"/>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72829"/>
                  </a:solidFill>
                  <a:effectLst/>
                  <a:uLnTx/>
                  <a:uFillTx/>
                  <a:latin typeface="Lato" panose="020F0502020204030203" pitchFamily="34" charset="77"/>
                  <a:ea typeface="League Spartan" charset="0"/>
                  <a:cs typeface="Poppins" pitchFamily="2" charset="77"/>
                </a:rPr>
                <a:t>In Scope &amp; Out of scope Items</a:t>
              </a:r>
            </a:p>
          </p:txBody>
        </p:sp>
      </p:grpSp>
      <p:grpSp>
        <p:nvGrpSpPr>
          <p:cNvPr id="48" name="Group 47">
            <a:extLst>
              <a:ext uri="{FF2B5EF4-FFF2-40B4-BE49-F238E27FC236}">
                <a16:creationId xmlns:a16="http://schemas.microsoft.com/office/drawing/2014/main" id="{3F82DAC1-39CF-BE34-8890-6161CAE8F11B}"/>
              </a:ext>
            </a:extLst>
          </p:cNvPr>
          <p:cNvGrpSpPr/>
          <p:nvPr/>
        </p:nvGrpSpPr>
        <p:grpSpPr>
          <a:xfrm>
            <a:off x="250986" y="5088281"/>
            <a:ext cx="5692613" cy="441264"/>
            <a:chOff x="381000" y="923474"/>
            <a:chExt cx="4822371" cy="576000"/>
          </a:xfrm>
        </p:grpSpPr>
        <p:sp>
          <p:nvSpPr>
            <p:cNvPr id="49" name="Rectangle: Rounded Corners 48">
              <a:extLst>
                <a:ext uri="{FF2B5EF4-FFF2-40B4-BE49-F238E27FC236}">
                  <a16:creationId xmlns:a16="http://schemas.microsoft.com/office/drawing/2014/main" id="{A679C6DE-6185-5192-02A6-A5D33D0CEF9C}"/>
                </a:ext>
              </a:extLst>
            </p:cNvPr>
            <p:cNvSpPr/>
            <p:nvPr/>
          </p:nvSpPr>
          <p:spPr>
            <a:xfrm>
              <a:off x="381000" y="923474"/>
              <a:ext cx="4212769" cy="576000"/>
            </a:xfrm>
            <a:prstGeom prst="roundRect">
              <a:avLst>
                <a:gd name="adj" fmla="val 50000"/>
              </a:avLst>
            </a:prstGeom>
            <a:solidFill>
              <a:schemeClr val="bg1"/>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06</a:t>
              </a:r>
            </a:p>
          </p:txBody>
        </p:sp>
        <p:sp>
          <p:nvSpPr>
            <p:cNvPr id="50" name="Rectangle: Rounded Corners 49">
              <a:extLst>
                <a:ext uri="{FF2B5EF4-FFF2-40B4-BE49-F238E27FC236}">
                  <a16:creationId xmlns:a16="http://schemas.microsoft.com/office/drawing/2014/main" id="{A8498297-D509-34EA-C554-74DF115E7F5B}"/>
                </a:ext>
              </a:extLst>
            </p:cNvPr>
            <p:cNvSpPr/>
            <p:nvPr/>
          </p:nvSpPr>
          <p:spPr>
            <a:xfrm>
              <a:off x="990602" y="923474"/>
              <a:ext cx="4212769" cy="576000"/>
            </a:xfrm>
            <a:prstGeom prst="roundRect">
              <a:avLst>
                <a:gd name="adj" fmla="val 50000"/>
              </a:avLst>
            </a:prstGeom>
            <a:solidFill>
              <a:srgbClr val="E3EFF9"/>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defTabSz="914217">
                <a:defRPr/>
              </a:pPr>
              <a:r>
                <a:rPr lang="en-US" sz="1400" b="1">
                  <a:solidFill>
                    <a:srgbClr val="272829"/>
                  </a:solidFill>
                  <a:latin typeface="Lato" panose="020F0502020204030203" pitchFamily="34" charset="77"/>
                  <a:ea typeface="League Spartan" charset="0"/>
                  <a:cs typeface="Poppins" pitchFamily="2" charset="77"/>
                </a:rPr>
                <a:t>Our Engagement Models</a:t>
              </a:r>
            </a:p>
          </p:txBody>
        </p:sp>
      </p:grpSp>
      <p:grpSp>
        <p:nvGrpSpPr>
          <p:cNvPr id="51" name="Group 50">
            <a:extLst>
              <a:ext uri="{FF2B5EF4-FFF2-40B4-BE49-F238E27FC236}">
                <a16:creationId xmlns:a16="http://schemas.microsoft.com/office/drawing/2014/main" id="{1BE28C33-3CEE-BD7D-A9B3-8400C6722E11}"/>
              </a:ext>
            </a:extLst>
          </p:cNvPr>
          <p:cNvGrpSpPr/>
          <p:nvPr/>
        </p:nvGrpSpPr>
        <p:grpSpPr>
          <a:xfrm>
            <a:off x="6248401" y="2619959"/>
            <a:ext cx="5692613" cy="441264"/>
            <a:chOff x="381000" y="923474"/>
            <a:chExt cx="4822371" cy="576000"/>
          </a:xfrm>
        </p:grpSpPr>
        <p:sp>
          <p:nvSpPr>
            <p:cNvPr id="52" name="Rectangle: Rounded Corners 51">
              <a:extLst>
                <a:ext uri="{FF2B5EF4-FFF2-40B4-BE49-F238E27FC236}">
                  <a16:creationId xmlns:a16="http://schemas.microsoft.com/office/drawing/2014/main" id="{059DE421-4D1F-092F-71C8-DA8FC5108FB2}"/>
                </a:ext>
              </a:extLst>
            </p:cNvPr>
            <p:cNvSpPr/>
            <p:nvPr/>
          </p:nvSpPr>
          <p:spPr>
            <a:xfrm>
              <a:off x="381000" y="923474"/>
              <a:ext cx="4212769" cy="576000"/>
            </a:xfrm>
            <a:prstGeom prst="roundRect">
              <a:avLst>
                <a:gd name="adj" fmla="val 50000"/>
              </a:avLst>
            </a:prstGeom>
            <a:solidFill>
              <a:schemeClr val="bg1"/>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10</a:t>
              </a:r>
            </a:p>
          </p:txBody>
        </p:sp>
        <p:sp>
          <p:nvSpPr>
            <p:cNvPr id="53" name="Rectangle: Rounded Corners 52">
              <a:extLst>
                <a:ext uri="{FF2B5EF4-FFF2-40B4-BE49-F238E27FC236}">
                  <a16:creationId xmlns:a16="http://schemas.microsoft.com/office/drawing/2014/main" id="{3AD12E66-9ADC-BDEC-A621-0901C3868366}"/>
                </a:ext>
              </a:extLst>
            </p:cNvPr>
            <p:cNvSpPr/>
            <p:nvPr/>
          </p:nvSpPr>
          <p:spPr>
            <a:xfrm>
              <a:off x="990602" y="923474"/>
              <a:ext cx="4212769" cy="576000"/>
            </a:xfrm>
            <a:prstGeom prst="roundRect">
              <a:avLst>
                <a:gd name="adj" fmla="val 50000"/>
              </a:avLst>
            </a:prstGeom>
            <a:solidFill>
              <a:srgbClr val="E3EFF9"/>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72829"/>
                  </a:solidFill>
                  <a:effectLst/>
                  <a:uLnTx/>
                  <a:uFillTx/>
                  <a:latin typeface="Lato" panose="020F0502020204030203" pitchFamily="34" charset="77"/>
                  <a:ea typeface="League Spartan" charset="0"/>
                  <a:cs typeface="Poppins" pitchFamily="2" charset="77"/>
                </a:rPr>
                <a:t>Governance Model</a:t>
              </a:r>
            </a:p>
          </p:txBody>
        </p:sp>
      </p:grpSp>
      <p:grpSp>
        <p:nvGrpSpPr>
          <p:cNvPr id="54" name="Group 53">
            <a:extLst>
              <a:ext uri="{FF2B5EF4-FFF2-40B4-BE49-F238E27FC236}">
                <a16:creationId xmlns:a16="http://schemas.microsoft.com/office/drawing/2014/main" id="{3C09C326-1E35-01E5-6FC6-BE86174830C0}"/>
              </a:ext>
            </a:extLst>
          </p:cNvPr>
          <p:cNvGrpSpPr/>
          <p:nvPr/>
        </p:nvGrpSpPr>
        <p:grpSpPr>
          <a:xfrm>
            <a:off x="6248401" y="3442733"/>
            <a:ext cx="5692613" cy="441264"/>
            <a:chOff x="381000" y="923474"/>
            <a:chExt cx="4822371" cy="576000"/>
          </a:xfrm>
        </p:grpSpPr>
        <p:sp>
          <p:nvSpPr>
            <p:cNvPr id="55" name="Rectangle: Rounded Corners 54">
              <a:extLst>
                <a:ext uri="{FF2B5EF4-FFF2-40B4-BE49-F238E27FC236}">
                  <a16:creationId xmlns:a16="http://schemas.microsoft.com/office/drawing/2014/main" id="{CBD31812-E5F7-FE2D-04FB-59708A970D54}"/>
                </a:ext>
              </a:extLst>
            </p:cNvPr>
            <p:cNvSpPr/>
            <p:nvPr/>
          </p:nvSpPr>
          <p:spPr>
            <a:xfrm>
              <a:off x="381000" y="923474"/>
              <a:ext cx="4212769" cy="576000"/>
            </a:xfrm>
            <a:prstGeom prst="roundRect">
              <a:avLst>
                <a:gd name="adj" fmla="val 50000"/>
              </a:avLst>
            </a:prstGeom>
            <a:solidFill>
              <a:schemeClr val="bg1"/>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11</a:t>
              </a:r>
            </a:p>
          </p:txBody>
        </p:sp>
        <p:sp>
          <p:nvSpPr>
            <p:cNvPr id="56" name="Rectangle: Rounded Corners 55">
              <a:extLst>
                <a:ext uri="{FF2B5EF4-FFF2-40B4-BE49-F238E27FC236}">
                  <a16:creationId xmlns:a16="http://schemas.microsoft.com/office/drawing/2014/main" id="{F837CA53-C8BA-9E14-62EB-980CA2FD8358}"/>
                </a:ext>
              </a:extLst>
            </p:cNvPr>
            <p:cNvSpPr/>
            <p:nvPr/>
          </p:nvSpPr>
          <p:spPr>
            <a:xfrm>
              <a:off x="990602" y="923474"/>
              <a:ext cx="4212769" cy="576000"/>
            </a:xfrm>
            <a:prstGeom prst="roundRect">
              <a:avLst>
                <a:gd name="adj" fmla="val 50000"/>
              </a:avLst>
            </a:prstGeom>
            <a:solidFill>
              <a:srgbClr val="E3EFF9"/>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72829"/>
                  </a:solidFill>
                  <a:effectLst/>
                  <a:uLnTx/>
                  <a:uFillTx/>
                  <a:latin typeface="Lato" panose="020F0502020204030203" pitchFamily="34" charset="77"/>
                  <a:ea typeface="League Spartan" charset="0"/>
                  <a:cs typeface="Poppins" pitchFamily="2" charset="77"/>
                </a:rPr>
                <a:t>Locations, Ramp-Up &amp; Resourcing Plan</a:t>
              </a:r>
            </a:p>
          </p:txBody>
        </p:sp>
      </p:grpSp>
      <p:grpSp>
        <p:nvGrpSpPr>
          <p:cNvPr id="57" name="Group 56">
            <a:extLst>
              <a:ext uri="{FF2B5EF4-FFF2-40B4-BE49-F238E27FC236}">
                <a16:creationId xmlns:a16="http://schemas.microsoft.com/office/drawing/2014/main" id="{0162D3FB-6F18-2298-05A9-82A2FE69CF2D}"/>
              </a:ext>
            </a:extLst>
          </p:cNvPr>
          <p:cNvGrpSpPr/>
          <p:nvPr/>
        </p:nvGrpSpPr>
        <p:grpSpPr>
          <a:xfrm>
            <a:off x="6248401" y="4265507"/>
            <a:ext cx="5692613" cy="441264"/>
            <a:chOff x="381000" y="923474"/>
            <a:chExt cx="4822371" cy="576000"/>
          </a:xfrm>
        </p:grpSpPr>
        <p:sp>
          <p:nvSpPr>
            <p:cNvPr id="58" name="Rectangle: Rounded Corners 57">
              <a:extLst>
                <a:ext uri="{FF2B5EF4-FFF2-40B4-BE49-F238E27FC236}">
                  <a16:creationId xmlns:a16="http://schemas.microsoft.com/office/drawing/2014/main" id="{C99378B0-9969-3224-E42D-345B9BC47CF6}"/>
                </a:ext>
              </a:extLst>
            </p:cNvPr>
            <p:cNvSpPr/>
            <p:nvPr/>
          </p:nvSpPr>
          <p:spPr>
            <a:xfrm>
              <a:off x="381000" y="923474"/>
              <a:ext cx="4212769" cy="576000"/>
            </a:xfrm>
            <a:prstGeom prst="roundRect">
              <a:avLst>
                <a:gd name="adj" fmla="val 50000"/>
              </a:avLst>
            </a:prstGeom>
            <a:solidFill>
              <a:schemeClr val="bg1"/>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12</a:t>
              </a:r>
            </a:p>
          </p:txBody>
        </p:sp>
        <p:sp>
          <p:nvSpPr>
            <p:cNvPr id="59" name="Rectangle: Rounded Corners 58">
              <a:extLst>
                <a:ext uri="{FF2B5EF4-FFF2-40B4-BE49-F238E27FC236}">
                  <a16:creationId xmlns:a16="http://schemas.microsoft.com/office/drawing/2014/main" id="{E183E1FB-FBD3-3AB8-543F-AAFF5A10AB33}"/>
                </a:ext>
              </a:extLst>
            </p:cNvPr>
            <p:cNvSpPr/>
            <p:nvPr/>
          </p:nvSpPr>
          <p:spPr>
            <a:xfrm>
              <a:off x="990602" y="923474"/>
              <a:ext cx="4212769" cy="576000"/>
            </a:xfrm>
            <a:prstGeom prst="roundRect">
              <a:avLst>
                <a:gd name="adj" fmla="val 50000"/>
              </a:avLst>
            </a:prstGeom>
            <a:solidFill>
              <a:srgbClr val="E3EFF9"/>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72829"/>
                  </a:solidFill>
                  <a:effectLst/>
                  <a:uLnTx/>
                  <a:uFillTx/>
                  <a:latin typeface="Lato" panose="020F0502020204030203" pitchFamily="34" charset="77"/>
                  <a:ea typeface="League Spartan" charset="0"/>
                  <a:cs typeface="Poppins" pitchFamily="2" charset="77"/>
                </a:rPr>
                <a:t>Hybrid Delivery Model</a:t>
              </a:r>
            </a:p>
          </p:txBody>
        </p:sp>
      </p:grpSp>
      <p:grpSp>
        <p:nvGrpSpPr>
          <p:cNvPr id="60" name="Group 59">
            <a:extLst>
              <a:ext uri="{FF2B5EF4-FFF2-40B4-BE49-F238E27FC236}">
                <a16:creationId xmlns:a16="http://schemas.microsoft.com/office/drawing/2014/main" id="{9B81A041-DBAA-EBC8-00B6-38244EEB74E7}"/>
              </a:ext>
            </a:extLst>
          </p:cNvPr>
          <p:cNvGrpSpPr/>
          <p:nvPr/>
        </p:nvGrpSpPr>
        <p:grpSpPr>
          <a:xfrm>
            <a:off x="6248401" y="5088281"/>
            <a:ext cx="5692613" cy="441264"/>
            <a:chOff x="381000" y="923474"/>
            <a:chExt cx="4822371" cy="576000"/>
          </a:xfrm>
        </p:grpSpPr>
        <p:sp>
          <p:nvSpPr>
            <p:cNvPr id="61" name="Rectangle: Rounded Corners 60">
              <a:extLst>
                <a:ext uri="{FF2B5EF4-FFF2-40B4-BE49-F238E27FC236}">
                  <a16:creationId xmlns:a16="http://schemas.microsoft.com/office/drawing/2014/main" id="{CADE76B2-D49B-4DDF-293D-F76CA78B131A}"/>
                </a:ext>
              </a:extLst>
            </p:cNvPr>
            <p:cNvSpPr/>
            <p:nvPr/>
          </p:nvSpPr>
          <p:spPr>
            <a:xfrm>
              <a:off x="381000" y="923474"/>
              <a:ext cx="4212769" cy="576000"/>
            </a:xfrm>
            <a:prstGeom prst="roundRect">
              <a:avLst>
                <a:gd name="adj" fmla="val 50000"/>
              </a:avLst>
            </a:prstGeom>
            <a:solidFill>
              <a:schemeClr val="bg1"/>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13</a:t>
              </a:r>
            </a:p>
          </p:txBody>
        </p:sp>
        <p:sp>
          <p:nvSpPr>
            <p:cNvPr id="62" name="Rectangle: Rounded Corners 61">
              <a:extLst>
                <a:ext uri="{FF2B5EF4-FFF2-40B4-BE49-F238E27FC236}">
                  <a16:creationId xmlns:a16="http://schemas.microsoft.com/office/drawing/2014/main" id="{4EF4E0F2-2751-A2F2-25BF-9FED8057CE4F}"/>
                </a:ext>
              </a:extLst>
            </p:cNvPr>
            <p:cNvSpPr/>
            <p:nvPr/>
          </p:nvSpPr>
          <p:spPr>
            <a:xfrm>
              <a:off x="990602" y="923474"/>
              <a:ext cx="4212769" cy="576000"/>
            </a:xfrm>
            <a:prstGeom prst="roundRect">
              <a:avLst>
                <a:gd name="adj" fmla="val 50000"/>
              </a:avLst>
            </a:prstGeom>
            <a:solidFill>
              <a:srgbClr val="E3EFF9"/>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72829"/>
                  </a:solidFill>
                  <a:effectLst/>
                  <a:uLnTx/>
                  <a:uFillTx/>
                  <a:latin typeface="Lato" panose="020F0502020204030203" pitchFamily="34" charset="77"/>
                  <a:ea typeface="League Spartan" charset="0"/>
                  <a:cs typeface="Poppins" pitchFamily="2" charset="77"/>
                </a:rPr>
                <a:t>Commercials &amp; Pricing Options</a:t>
              </a:r>
            </a:p>
          </p:txBody>
        </p:sp>
      </p:grpSp>
      <p:grpSp>
        <p:nvGrpSpPr>
          <p:cNvPr id="63" name="Group 62">
            <a:extLst>
              <a:ext uri="{FF2B5EF4-FFF2-40B4-BE49-F238E27FC236}">
                <a16:creationId xmlns:a16="http://schemas.microsoft.com/office/drawing/2014/main" id="{901EF2F8-8021-138F-B4ED-F7C42BC6EBC8}"/>
              </a:ext>
            </a:extLst>
          </p:cNvPr>
          <p:cNvGrpSpPr/>
          <p:nvPr/>
        </p:nvGrpSpPr>
        <p:grpSpPr>
          <a:xfrm>
            <a:off x="6248401" y="1797185"/>
            <a:ext cx="5692613" cy="441264"/>
            <a:chOff x="381000" y="923474"/>
            <a:chExt cx="4822371" cy="576000"/>
          </a:xfrm>
        </p:grpSpPr>
        <p:sp>
          <p:nvSpPr>
            <p:cNvPr id="64" name="Rectangle: Rounded Corners 63">
              <a:extLst>
                <a:ext uri="{FF2B5EF4-FFF2-40B4-BE49-F238E27FC236}">
                  <a16:creationId xmlns:a16="http://schemas.microsoft.com/office/drawing/2014/main" id="{E50900F3-F1EF-3C97-A4AC-6666DAB9DD32}"/>
                </a:ext>
              </a:extLst>
            </p:cNvPr>
            <p:cNvSpPr/>
            <p:nvPr/>
          </p:nvSpPr>
          <p:spPr>
            <a:xfrm>
              <a:off x="381000" y="923474"/>
              <a:ext cx="4212769" cy="576000"/>
            </a:xfrm>
            <a:prstGeom prst="roundRect">
              <a:avLst>
                <a:gd name="adj" fmla="val 50000"/>
              </a:avLst>
            </a:prstGeom>
            <a:solidFill>
              <a:schemeClr val="bg1"/>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09</a:t>
              </a:r>
            </a:p>
          </p:txBody>
        </p:sp>
        <p:sp>
          <p:nvSpPr>
            <p:cNvPr id="65" name="Rectangle: Rounded Corners 64">
              <a:extLst>
                <a:ext uri="{FF2B5EF4-FFF2-40B4-BE49-F238E27FC236}">
                  <a16:creationId xmlns:a16="http://schemas.microsoft.com/office/drawing/2014/main" id="{7E99E6DE-79A3-88B6-EEB8-38E8AFC60EED}"/>
                </a:ext>
              </a:extLst>
            </p:cNvPr>
            <p:cNvSpPr/>
            <p:nvPr/>
          </p:nvSpPr>
          <p:spPr>
            <a:xfrm>
              <a:off x="990602" y="923474"/>
              <a:ext cx="4212769" cy="576000"/>
            </a:xfrm>
            <a:prstGeom prst="roundRect">
              <a:avLst>
                <a:gd name="adj" fmla="val 50000"/>
              </a:avLst>
            </a:prstGeom>
            <a:solidFill>
              <a:srgbClr val="E3EFF9"/>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217" rtl="0" eaLnBrk="1" fontAlgn="auto" latinLnBrk="0" hangingPunct="1">
                <a:lnSpc>
                  <a:spcPct val="100000"/>
                </a:lnSpc>
                <a:spcBef>
                  <a:spcPts val="0"/>
                </a:spcBef>
                <a:spcAft>
                  <a:spcPts val="0"/>
                </a:spcAft>
                <a:buClrTx/>
                <a:buSzTx/>
                <a:buFontTx/>
                <a:buNone/>
                <a:tabLst/>
                <a:defRPr/>
              </a:pPr>
              <a:r>
                <a:rPr lang="en-US" sz="1400" b="1">
                  <a:solidFill>
                    <a:srgbClr val="272829"/>
                  </a:solidFill>
                  <a:latin typeface="Lato" panose="020F0502020204030203" pitchFamily="34" charset="77"/>
                  <a:ea typeface="League Spartan" charset="0"/>
                  <a:cs typeface="Poppins" pitchFamily="2" charset="77"/>
                </a:rPr>
                <a:t>Transition &amp; Knowledge Transfer Approach</a:t>
              </a:r>
            </a:p>
          </p:txBody>
        </p:sp>
      </p:grpSp>
      <p:grpSp>
        <p:nvGrpSpPr>
          <p:cNvPr id="66" name="Group 65">
            <a:extLst>
              <a:ext uri="{FF2B5EF4-FFF2-40B4-BE49-F238E27FC236}">
                <a16:creationId xmlns:a16="http://schemas.microsoft.com/office/drawing/2014/main" id="{8B10C295-61F2-7827-46C3-5291F1757ECB}"/>
              </a:ext>
            </a:extLst>
          </p:cNvPr>
          <p:cNvGrpSpPr/>
          <p:nvPr/>
        </p:nvGrpSpPr>
        <p:grpSpPr>
          <a:xfrm>
            <a:off x="250986" y="2619959"/>
            <a:ext cx="5692613" cy="441264"/>
            <a:chOff x="381000" y="923474"/>
            <a:chExt cx="4822371" cy="576000"/>
          </a:xfrm>
        </p:grpSpPr>
        <p:sp>
          <p:nvSpPr>
            <p:cNvPr id="67" name="Rectangle: Rounded Corners 66">
              <a:extLst>
                <a:ext uri="{FF2B5EF4-FFF2-40B4-BE49-F238E27FC236}">
                  <a16:creationId xmlns:a16="http://schemas.microsoft.com/office/drawing/2014/main" id="{621626B4-CCCA-B3B0-5F0F-F4BB6DD4D571}"/>
                </a:ext>
              </a:extLst>
            </p:cNvPr>
            <p:cNvSpPr/>
            <p:nvPr/>
          </p:nvSpPr>
          <p:spPr>
            <a:xfrm>
              <a:off x="381000" y="923474"/>
              <a:ext cx="4212769" cy="576000"/>
            </a:xfrm>
            <a:prstGeom prst="roundRect">
              <a:avLst>
                <a:gd name="adj" fmla="val 50000"/>
              </a:avLst>
            </a:prstGeom>
            <a:solidFill>
              <a:schemeClr val="bg1"/>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03</a:t>
              </a:r>
            </a:p>
          </p:txBody>
        </p:sp>
        <p:sp>
          <p:nvSpPr>
            <p:cNvPr id="68" name="Rectangle: Rounded Corners 67">
              <a:extLst>
                <a:ext uri="{FF2B5EF4-FFF2-40B4-BE49-F238E27FC236}">
                  <a16:creationId xmlns:a16="http://schemas.microsoft.com/office/drawing/2014/main" id="{C06D5964-04EA-AAF1-6222-B2AE4F49776D}"/>
                </a:ext>
              </a:extLst>
            </p:cNvPr>
            <p:cNvSpPr/>
            <p:nvPr/>
          </p:nvSpPr>
          <p:spPr>
            <a:xfrm>
              <a:off x="990602" y="923474"/>
              <a:ext cx="4212769" cy="576000"/>
            </a:xfrm>
            <a:prstGeom prst="roundRect">
              <a:avLst>
                <a:gd name="adj" fmla="val 50000"/>
              </a:avLst>
            </a:prstGeom>
            <a:solidFill>
              <a:srgbClr val="E3EFF9"/>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217" rtl="0" eaLnBrk="1" fontAlgn="auto" latinLnBrk="0" hangingPunct="1">
                <a:lnSpc>
                  <a:spcPct val="100000"/>
                </a:lnSpc>
                <a:spcBef>
                  <a:spcPts val="0"/>
                </a:spcBef>
                <a:spcAft>
                  <a:spcPts val="0"/>
                </a:spcAft>
                <a:buClrTx/>
                <a:buSzTx/>
                <a:buFontTx/>
                <a:buNone/>
                <a:tabLst/>
                <a:defRPr/>
              </a:pPr>
              <a:r>
                <a:rPr lang="en-US" sz="1400" b="1">
                  <a:solidFill>
                    <a:srgbClr val="272829"/>
                  </a:solidFill>
                  <a:latin typeface="Lato" panose="020F0502020204030203" pitchFamily="34" charset="77"/>
                  <a:ea typeface="League Spartan" charset="0"/>
                  <a:cs typeface="Poppins" pitchFamily="2" charset="77"/>
                </a:rPr>
                <a:t>Why Innominds – Differentiation</a:t>
              </a:r>
              <a:endParaRPr kumimoji="0" lang="en-US" sz="1400" b="1" i="0" u="none" strike="noStrike" kern="1200" cap="none" spc="0" normalizeH="0" baseline="0" noProof="0">
                <a:ln>
                  <a:noFill/>
                </a:ln>
                <a:solidFill>
                  <a:srgbClr val="272829"/>
                </a:solidFill>
                <a:effectLst/>
                <a:uLnTx/>
                <a:uFillTx/>
                <a:latin typeface="Lato" panose="020F0502020204030203" pitchFamily="34" charset="77"/>
                <a:ea typeface="League Spartan" charset="0"/>
                <a:cs typeface="Poppins" pitchFamily="2" charset="77"/>
              </a:endParaRPr>
            </a:p>
          </p:txBody>
        </p:sp>
      </p:grpSp>
      <p:grpSp>
        <p:nvGrpSpPr>
          <p:cNvPr id="3" name="Group 2">
            <a:extLst>
              <a:ext uri="{FF2B5EF4-FFF2-40B4-BE49-F238E27FC236}">
                <a16:creationId xmlns:a16="http://schemas.microsoft.com/office/drawing/2014/main" id="{4CB4907F-5A17-E689-B670-EA5682C40120}"/>
              </a:ext>
            </a:extLst>
          </p:cNvPr>
          <p:cNvGrpSpPr/>
          <p:nvPr/>
        </p:nvGrpSpPr>
        <p:grpSpPr>
          <a:xfrm>
            <a:off x="6248401" y="5911057"/>
            <a:ext cx="5692613" cy="441264"/>
            <a:chOff x="381000" y="923474"/>
            <a:chExt cx="4822371" cy="576000"/>
          </a:xfrm>
        </p:grpSpPr>
        <p:sp>
          <p:nvSpPr>
            <p:cNvPr id="4" name="Rectangle: Rounded Corners 3">
              <a:extLst>
                <a:ext uri="{FF2B5EF4-FFF2-40B4-BE49-F238E27FC236}">
                  <a16:creationId xmlns:a16="http://schemas.microsoft.com/office/drawing/2014/main" id="{222974C3-9A24-9CF5-3E9B-AC6CACC6D291}"/>
                </a:ext>
              </a:extLst>
            </p:cNvPr>
            <p:cNvSpPr/>
            <p:nvPr/>
          </p:nvSpPr>
          <p:spPr>
            <a:xfrm>
              <a:off x="381000" y="923474"/>
              <a:ext cx="4212769" cy="576000"/>
            </a:xfrm>
            <a:prstGeom prst="roundRect">
              <a:avLst>
                <a:gd name="adj" fmla="val 50000"/>
              </a:avLst>
            </a:prstGeom>
            <a:solidFill>
              <a:schemeClr val="bg1"/>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14</a:t>
              </a:r>
            </a:p>
          </p:txBody>
        </p:sp>
        <p:sp>
          <p:nvSpPr>
            <p:cNvPr id="5" name="Rectangle: Rounded Corners 4">
              <a:extLst>
                <a:ext uri="{FF2B5EF4-FFF2-40B4-BE49-F238E27FC236}">
                  <a16:creationId xmlns:a16="http://schemas.microsoft.com/office/drawing/2014/main" id="{4EC49BA9-582E-EB54-FF33-92815BDFDA75}"/>
                </a:ext>
              </a:extLst>
            </p:cNvPr>
            <p:cNvSpPr/>
            <p:nvPr/>
          </p:nvSpPr>
          <p:spPr>
            <a:xfrm>
              <a:off x="990602" y="923474"/>
              <a:ext cx="4212769" cy="576000"/>
            </a:xfrm>
            <a:prstGeom prst="roundRect">
              <a:avLst>
                <a:gd name="adj" fmla="val 50000"/>
              </a:avLst>
            </a:prstGeom>
            <a:solidFill>
              <a:srgbClr val="E3EFF9"/>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72829"/>
                  </a:solidFill>
                  <a:effectLst/>
                  <a:uLnTx/>
                  <a:uFillTx/>
                  <a:latin typeface="Lato" panose="020F0502020204030203" pitchFamily="34" charset="77"/>
                  <a:ea typeface="League Spartan" charset="0"/>
                  <a:cs typeface="Poppins" pitchFamily="2" charset="77"/>
                </a:rPr>
                <a:t>Assumptions, Dependencies &amp; Risks</a:t>
              </a:r>
            </a:p>
          </p:txBody>
        </p:sp>
      </p:grpSp>
      <p:grpSp>
        <p:nvGrpSpPr>
          <p:cNvPr id="9" name="Group 8">
            <a:extLst>
              <a:ext uri="{FF2B5EF4-FFF2-40B4-BE49-F238E27FC236}">
                <a16:creationId xmlns:a16="http://schemas.microsoft.com/office/drawing/2014/main" id="{5375E596-FB4E-5472-EF65-F80319B61DB7}"/>
              </a:ext>
            </a:extLst>
          </p:cNvPr>
          <p:cNvGrpSpPr/>
          <p:nvPr/>
        </p:nvGrpSpPr>
        <p:grpSpPr>
          <a:xfrm>
            <a:off x="250986" y="5911057"/>
            <a:ext cx="5692613" cy="441264"/>
            <a:chOff x="381000" y="923474"/>
            <a:chExt cx="4822371" cy="576000"/>
          </a:xfrm>
        </p:grpSpPr>
        <p:sp>
          <p:nvSpPr>
            <p:cNvPr id="10" name="Rectangle: Rounded Corners 9">
              <a:extLst>
                <a:ext uri="{FF2B5EF4-FFF2-40B4-BE49-F238E27FC236}">
                  <a16:creationId xmlns:a16="http://schemas.microsoft.com/office/drawing/2014/main" id="{C00B0FB9-F556-3921-6D36-BC71C6BDDA9A}"/>
                </a:ext>
              </a:extLst>
            </p:cNvPr>
            <p:cNvSpPr/>
            <p:nvPr/>
          </p:nvSpPr>
          <p:spPr>
            <a:xfrm>
              <a:off x="381000" y="923474"/>
              <a:ext cx="4212769" cy="576000"/>
            </a:xfrm>
            <a:prstGeom prst="roundRect">
              <a:avLst>
                <a:gd name="adj" fmla="val 50000"/>
              </a:avLst>
            </a:prstGeom>
            <a:solidFill>
              <a:schemeClr val="bg1"/>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07</a:t>
              </a:r>
            </a:p>
          </p:txBody>
        </p:sp>
        <p:sp>
          <p:nvSpPr>
            <p:cNvPr id="11" name="Rectangle: Rounded Corners 10">
              <a:extLst>
                <a:ext uri="{FF2B5EF4-FFF2-40B4-BE49-F238E27FC236}">
                  <a16:creationId xmlns:a16="http://schemas.microsoft.com/office/drawing/2014/main" id="{2E0E0AD3-0DC1-D264-3016-24C9B7A91738}"/>
                </a:ext>
              </a:extLst>
            </p:cNvPr>
            <p:cNvSpPr/>
            <p:nvPr/>
          </p:nvSpPr>
          <p:spPr>
            <a:xfrm>
              <a:off x="990602" y="923474"/>
              <a:ext cx="4212769" cy="576000"/>
            </a:xfrm>
            <a:prstGeom prst="roundRect">
              <a:avLst>
                <a:gd name="adj" fmla="val 50000"/>
              </a:avLst>
            </a:prstGeom>
            <a:solidFill>
              <a:srgbClr val="E3EFF9"/>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defTabSz="914217">
                <a:defRPr/>
              </a:pPr>
              <a:r>
                <a:rPr lang="en-US" sz="1400" b="1">
                  <a:solidFill>
                    <a:srgbClr val="272829"/>
                  </a:solidFill>
                  <a:latin typeface="Lato" panose="020F0502020204030203" pitchFamily="34" charset="77"/>
                  <a:ea typeface="League Spartan" charset="0"/>
                  <a:cs typeface="Poppins" pitchFamily="2" charset="77"/>
                </a:rPr>
                <a:t>Engagement Model – Fully Managed Pods</a:t>
              </a:r>
            </a:p>
          </p:txBody>
        </p:sp>
      </p:grpSp>
      <p:grpSp>
        <p:nvGrpSpPr>
          <p:cNvPr id="6" name="Group 5">
            <a:extLst>
              <a:ext uri="{FF2B5EF4-FFF2-40B4-BE49-F238E27FC236}">
                <a16:creationId xmlns:a16="http://schemas.microsoft.com/office/drawing/2014/main" id="{BF6A6E8B-4ACD-009E-2B3E-CFE00F4EE5B9}"/>
              </a:ext>
            </a:extLst>
          </p:cNvPr>
          <p:cNvGrpSpPr/>
          <p:nvPr/>
        </p:nvGrpSpPr>
        <p:grpSpPr>
          <a:xfrm>
            <a:off x="6248401" y="974411"/>
            <a:ext cx="5692613" cy="441264"/>
            <a:chOff x="381000" y="923474"/>
            <a:chExt cx="4822371" cy="576000"/>
          </a:xfrm>
        </p:grpSpPr>
        <p:sp>
          <p:nvSpPr>
            <p:cNvPr id="7" name="Rectangle: Rounded Corners 6">
              <a:extLst>
                <a:ext uri="{FF2B5EF4-FFF2-40B4-BE49-F238E27FC236}">
                  <a16:creationId xmlns:a16="http://schemas.microsoft.com/office/drawing/2014/main" id="{DFE55E24-9969-E4C1-7506-3FD08782A51A}"/>
                </a:ext>
              </a:extLst>
            </p:cNvPr>
            <p:cNvSpPr/>
            <p:nvPr/>
          </p:nvSpPr>
          <p:spPr>
            <a:xfrm>
              <a:off x="381000" y="923474"/>
              <a:ext cx="4212769" cy="576000"/>
            </a:xfrm>
            <a:prstGeom prst="roundRect">
              <a:avLst>
                <a:gd name="adj" fmla="val 50000"/>
              </a:avLst>
            </a:prstGeom>
            <a:solidFill>
              <a:schemeClr val="bg1"/>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08</a:t>
              </a:r>
            </a:p>
          </p:txBody>
        </p:sp>
        <p:sp>
          <p:nvSpPr>
            <p:cNvPr id="8" name="Rectangle: Rounded Corners 7">
              <a:extLst>
                <a:ext uri="{FF2B5EF4-FFF2-40B4-BE49-F238E27FC236}">
                  <a16:creationId xmlns:a16="http://schemas.microsoft.com/office/drawing/2014/main" id="{EF846157-9D03-AFE7-E199-A62B28F58339}"/>
                </a:ext>
              </a:extLst>
            </p:cNvPr>
            <p:cNvSpPr/>
            <p:nvPr/>
          </p:nvSpPr>
          <p:spPr>
            <a:xfrm>
              <a:off x="990602" y="923474"/>
              <a:ext cx="4212769" cy="576000"/>
            </a:xfrm>
            <a:prstGeom prst="roundRect">
              <a:avLst>
                <a:gd name="adj" fmla="val 50000"/>
              </a:avLst>
            </a:prstGeom>
            <a:solidFill>
              <a:srgbClr val="E3EFF9"/>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217" rtl="0" eaLnBrk="1" fontAlgn="auto" latinLnBrk="0" hangingPunct="1">
                <a:lnSpc>
                  <a:spcPct val="100000"/>
                </a:lnSpc>
                <a:spcBef>
                  <a:spcPts val="0"/>
                </a:spcBef>
                <a:spcAft>
                  <a:spcPts val="0"/>
                </a:spcAft>
                <a:buClrTx/>
                <a:buSzTx/>
                <a:buFontTx/>
                <a:buNone/>
                <a:tabLst/>
                <a:defRPr/>
              </a:pPr>
              <a:r>
                <a:rPr lang="en-US" sz="1400" b="1">
                  <a:solidFill>
                    <a:srgbClr val="272829"/>
                  </a:solidFill>
                  <a:latin typeface="Lato" panose="020F0502020204030203" pitchFamily="34" charset="77"/>
                  <a:ea typeface="League Spartan" charset="0"/>
                  <a:cs typeface="Poppins" pitchFamily="2" charset="77"/>
                </a:rPr>
                <a:t>Ramp Up Plan</a:t>
              </a:r>
            </a:p>
          </p:txBody>
        </p:sp>
      </p:grpSp>
    </p:spTree>
    <p:extLst>
      <p:ext uri="{BB962C8B-B14F-4D97-AF65-F5344CB8AC3E}">
        <p14:creationId xmlns:p14="http://schemas.microsoft.com/office/powerpoint/2010/main" val="252743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64FE7-9AAD-C597-4240-9AC96A4765DC}"/>
              </a:ext>
            </a:extLst>
          </p:cNvPr>
          <p:cNvSpPr>
            <a:spLocks noGrp="1"/>
          </p:cNvSpPr>
          <p:nvPr>
            <p:ph type="title"/>
          </p:nvPr>
        </p:nvSpPr>
        <p:spPr/>
        <p:txBody>
          <a:bodyPr/>
          <a:lstStyle/>
          <a:p>
            <a:r>
              <a:rPr lang="en-US"/>
              <a:t>Current Engagement Landscape &amp; Key Challenges</a:t>
            </a:r>
            <a:endParaRPr lang="en-IN"/>
          </a:p>
        </p:txBody>
      </p:sp>
      <p:sp>
        <p:nvSpPr>
          <p:cNvPr id="9" name="Rectangle: Top Corners Rounded 16">
            <a:extLst>
              <a:ext uri="{FF2B5EF4-FFF2-40B4-BE49-F238E27FC236}">
                <a16:creationId xmlns:a16="http://schemas.microsoft.com/office/drawing/2014/main" id="{E73FB732-9FF4-8394-078A-949D8C269FB2}"/>
              </a:ext>
            </a:extLst>
          </p:cNvPr>
          <p:cNvSpPr/>
          <p:nvPr/>
        </p:nvSpPr>
        <p:spPr>
          <a:xfrm rot="16200000">
            <a:off x="-1425536" y="2744166"/>
            <a:ext cx="5682670" cy="1904919"/>
          </a:xfrm>
          <a:prstGeom prst="round2SameRect">
            <a:avLst/>
          </a:prstGeom>
          <a:solidFill>
            <a:schemeClr val="bg1"/>
          </a:solidFill>
          <a:ln w="12700">
            <a:solidFill>
              <a:srgbClr val="00B0F0"/>
            </a:solidFill>
          </a:ln>
          <a:effectLst>
            <a:outerShdw dist="50800" dir="10800000" algn="ctr" rotWithShape="0">
              <a:srgbClr val="00B0F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6C84C1F-7B96-3EE6-EECE-35E17D103061}"/>
              </a:ext>
            </a:extLst>
          </p:cNvPr>
          <p:cNvSpPr txBox="1"/>
          <p:nvPr/>
        </p:nvSpPr>
        <p:spPr>
          <a:xfrm>
            <a:off x="509682" y="3878881"/>
            <a:ext cx="1814489" cy="738664"/>
          </a:xfrm>
          <a:prstGeom prst="rect">
            <a:avLst/>
          </a:prstGeom>
          <a:noFill/>
        </p:spPr>
        <p:txBody>
          <a:bodyPr wrap="square" rtlCol="0">
            <a:spAutoFit/>
          </a:bodyPr>
          <a:lstStyle/>
          <a:p>
            <a:pPr algn="ctr"/>
            <a:r>
              <a:rPr lang="en-US" altLang="en-US" sz="1400">
                <a:latin typeface="Lato" panose="020F0502020204030203" pitchFamily="34" charset="0"/>
                <a:ea typeface="Lato" panose="020F0502020204030203" pitchFamily="34" charset="0"/>
                <a:cs typeface="Lato" panose="020F0502020204030203" pitchFamily="34" charset="0"/>
              </a:rPr>
              <a:t>Overview of Daikin’s current engagement model</a:t>
            </a:r>
          </a:p>
        </p:txBody>
      </p:sp>
      <p:sp>
        <p:nvSpPr>
          <p:cNvPr id="24" name="Rectangle: Rounded Corners 29">
            <a:extLst>
              <a:ext uri="{FF2B5EF4-FFF2-40B4-BE49-F238E27FC236}">
                <a16:creationId xmlns:a16="http://schemas.microsoft.com/office/drawing/2014/main" id="{1CA22B5D-5DDE-BCE6-7FD5-5D09F02662FD}"/>
              </a:ext>
            </a:extLst>
          </p:cNvPr>
          <p:cNvSpPr/>
          <p:nvPr/>
        </p:nvSpPr>
        <p:spPr>
          <a:xfrm>
            <a:off x="2639182" y="742877"/>
            <a:ext cx="9273069" cy="885693"/>
          </a:xfrm>
          <a:prstGeom prst="roundRect">
            <a:avLst/>
          </a:prstGeom>
          <a:solidFill>
            <a:schemeClr val="bg1"/>
          </a:solidFill>
          <a:ln w="12700">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457200" rtlCol="0" anchor="ctr"/>
          <a:lstStyle/>
          <a:p>
            <a:r>
              <a:rPr lang="en-US" altLang="en-US" sz="1200" b="1">
                <a:solidFill>
                  <a:srgbClr val="0070C0"/>
                </a:solidFill>
                <a:latin typeface="Lato" panose="020F0502020204030203" pitchFamily="34" charset="0"/>
                <a:ea typeface="Lato" panose="020F0502020204030203" pitchFamily="34" charset="0"/>
                <a:cs typeface="Lato" panose="020F0502020204030203" pitchFamily="34" charset="0"/>
              </a:rPr>
              <a:t>Operating Model &amp; Roles</a:t>
            </a:r>
            <a:endParaRPr lang="en-US" altLang="en-US" sz="1200">
              <a:solidFill>
                <a:schemeClr val="tx1"/>
              </a:solidFill>
              <a:latin typeface="Lato" panose="020F0502020204030203" pitchFamily="34" charset="0"/>
              <a:ea typeface="Lato" panose="020F0502020204030203" pitchFamily="34" charset="0"/>
              <a:cs typeface="Lato" panose="020F0502020204030203" pitchFamily="34" charset="0"/>
            </a:endParaRPr>
          </a:p>
          <a:p>
            <a:r>
              <a:rPr lang="en-US" altLang="en-US" sz="1200">
                <a:solidFill>
                  <a:schemeClr val="tx1"/>
                </a:solidFill>
                <a:latin typeface="Lato" panose="020F0502020204030203" pitchFamily="34" charset="0"/>
                <a:ea typeface="Lato" panose="020F0502020204030203" pitchFamily="34" charset="0"/>
                <a:cs typeface="Lato" panose="020F0502020204030203" pitchFamily="34" charset="0"/>
              </a:rPr>
              <a:t>Architecture, platform administration, and data modeling responsibilities are currently intertwined within an offshore team. This creates ambiguity in ownership and affects long-term platform consistency and decision-making.</a:t>
            </a:r>
          </a:p>
        </p:txBody>
      </p:sp>
      <p:sp>
        <p:nvSpPr>
          <p:cNvPr id="21" name="Rectangle: Rounded Corners 26">
            <a:extLst>
              <a:ext uri="{FF2B5EF4-FFF2-40B4-BE49-F238E27FC236}">
                <a16:creationId xmlns:a16="http://schemas.microsoft.com/office/drawing/2014/main" id="{7F8A15E5-F3E3-1E88-D40B-E0B2ADAB534F}"/>
              </a:ext>
            </a:extLst>
          </p:cNvPr>
          <p:cNvSpPr/>
          <p:nvPr/>
        </p:nvSpPr>
        <p:spPr>
          <a:xfrm>
            <a:off x="2639182" y="1756928"/>
            <a:ext cx="9273069" cy="885692"/>
          </a:xfrm>
          <a:prstGeom prst="roundRect">
            <a:avLst/>
          </a:prstGeom>
          <a:solidFill>
            <a:schemeClr val="bg1"/>
          </a:solidFill>
          <a:ln w="12700">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457200" rtlCol="0" anchor="ctr"/>
          <a:lstStyle/>
          <a:p>
            <a:r>
              <a:rPr lang="en-US" altLang="en-US" sz="1200" b="1">
                <a:solidFill>
                  <a:srgbClr val="0070C0"/>
                </a:solidFill>
                <a:latin typeface="Lato" panose="020F0502020204030203" pitchFamily="34" charset="0"/>
                <a:ea typeface="Lato" panose="020F0502020204030203" pitchFamily="34" charset="0"/>
                <a:cs typeface="Lato" panose="020F0502020204030203" pitchFamily="34" charset="0"/>
              </a:rPr>
              <a:t>Knowledge &amp; Resiliency Risk</a:t>
            </a:r>
            <a:endParaRPr lang="en-US" altLang="en-US" sz="1200">
              <a:solidFill>
                <a:schemeClr val="tx1"/>
              </a:solidFill>
              <a:latin typeface="Lato" panose="020F0502020204030203" pitchFamily="34" charset="0"/>
              <a:ea typeface="Lato" panose="020F0502020204030203" pitchFamily="34" charset="0"/>
              <a:cs typeface="Lato" panose="020F0502020204030203" pitchFamily="34" charset="0"/>
            </a:endParaRPr>
          </a:p>
          <a:p>
            <a:r>
              <a:rPr lang="en-US" altLang="en-US" sz="1200">
                <a:solidFill>
                  <a:schemeClr val="tx1"/>
                </a:solidFill>
                <a:latin typeface="Lato" panose="020F0502020204030203" pitchFamily="34" charset="0"/>
                <a:ea typeface="Lato" panose="020F0502020204030203" pitchFamily="34" charset="0"/>
                <a:cs typeface="Lato" panose="020F0502020204030203" pitchFamily="34" charset="0"/>
              </a:rPr>
              <a:t>Critical production and platform knowledge resides with a small number of long-tenured individuals, creating single points of failure and increasing the risk associated with any vendor transition.</a:t>
            </a:r>
          </a:p>
        </p:txBody>
      </p:sp>
      <p:sp>
        <p:nvSpPr>
          <p:cNvPr id="18" name="Rectangle: Rounded Corners 23">
            <a:extLst>
              <a:ext uri="{FF2B5EF4-FFF2-40B4-BE49-F238E27FC236}">
                <a16:creationId xmlns:a16="http://schemas.microsoft.com/office/drawing/2014/main" id="{DB951A4A-B873-78F2-E816-CBA4B02CF9C3}"/>
              </a:ext>
            </a:extLst>
          </p:cNvPr>
          <p:cNvSpPr/>
          <p:nvPr/>
        </p:nvSpPr>
        <p:spPr>
          <a:xfrm>
            <a:off x="2639182" y="2770978"/>
            <a:ext cx="9273069" cy="885692"/>
          </a:xfrm>
          <a:prstGeom prst="roundRect">
            <a:avLst/>
          </a:prstGeom>
          <a:solidFill>
            <a:schemeClr val="bg1"/>
          </a:solidFill>
          <a:ln w="12700">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457200" rtlCol="0" anchor="ctr"/>
          <a:lstStyle/>
          <a:p>
            <a:r>
              <a:rPr lang="en-US" altLang="en-US" sz="1200" b="1">
                <a:solidFill>
                  <a:srgbClr val="0070C0"/>
                </a:solidFill>
                <a:latin typeface="Lato" panose="020F0502020204030203" pitchFamily="34" charset="0"/>
                <a:ea typeface="Lato" panose="020F0502020204030203" pitchFamily="34" charset="0"/>
                <a:cs typeface="Lato" panose="020F0502020204030203" pitchFamily="34" charset="0"/>
              </a:rPr>
              <a:t>Documentation &amp; Runbook Gaps</a:t>
            </a:r>
            <a:endParaRPr lang="en-US" altLang="en-US" sz="1200">
              <a:solidFill>
                <a:schemeClr val="tx1"/>
              </a:solidFill>
              <a:latin typeface="Lato" panose="020F0502020204030203" pitchFamily="34" charset="0"/>
              <a:ea typeface="Lato" panose="020F0502020204030203" pitchFamily="34" charset="0"/>
              <a:cs typeface="Lato" panose="020F0502020204030203" pitchFamily="34" charset="0"/>
            </a:endParaRPr>
          </a:p>
          <a:p>
            <a:r>
              <a:rPr lang="en-US" altLang="en-US" sz="1200">
                <a:solidFill>
                  <a:schemeClr val="tx1"/>
                </a:solidFill>
                <a:latin typeface="Lato" panose="020F0502020204030203" pitchFamily="34" charset="0"/>
                <a:ea typeface="Lato" panose="020F0502020204030203" pitchFamily="34" charset="0"/>
                <a:cs typeface="Lato" panose="020F0502020204030203" pitchFamily="34" charset="0"/>
              </a:rPr>
              <a:t>Production logic, system dependencies, and operational workarounds are insufficiently documented. This reliance on tribal knowledge slows incident resolution and complicates onboarding of new engineers.</a:t>
            </a:r>
          </a:p>
        </p:txBody>
      </p:sp>
      <p:pic>
        <p:nvPicPr>
          <p:cNvPr id="14" name="Graphic 13">
            <a:extLst>
              <a:ext uri="{FF2B5EF4-FFF2-40B4-BE49-F238E27FC236}">
                <a16:creationId xmlns:a16="http://schemas.microsoft.com/office/drawing/2014/main" id="{F6B95AEB-71EF-A845-930E-AC38231EA58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7125" y="2703610"/>
            <a:ext cx="1814489" cy="1107816"/>
          </a:xfrm>
          <a:prstGeom prst="rect">
            <a:avLst/>
          </a:prstGeom>
        </p:spPr>
      </p:pic>
      <p:sp>
        <p:nvSpPr>
          <p:cNvPr id="28" name="Rectangle: Rounded Corners 26">
            <a:extLst>
              <a:ext uri="{FF2B5EF4-FFF2-40B4-BE49-F238E27FC236}">
                <a16:creationId xmlns:a16="http://schemas.microsoft.com/office/drawing/2014/main" id="{234D8AD2-39F7-2757-DAE0-CF1C5C1EE92D}"/>
              </a:ext>
            </a:extLst>
          </p:cNvPr>
          <p:cNvSpPr/>
          <p:nvPr/>
        </p:nvSpPr>
        <p:spPr>
          <a:xfrm>
            <a:off x="2639182" y="3785028"/>
            <a:ext cx="9273069" cy="1342648"/>
          </a:xfrm>
          <a:prstGeom prst="roundRect">
            <a:avLst/>
          </a:prstGeom>
          <a:solidFill>
            <a:schemeClr val="bg1"/>
          </a:solidFill>
          <a:ln w="12700">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457200" rtlCol="0" anchor="ctr"/>
          <a:lstStyle/>
          <a:p>
            <a:r>
              <a:rPr lang="en-US" altLang="en-US" sz="1200" b="1">
                <a:solidFill>
                  <a:srgbClr val="0070C0"/>
                </a:solidFill>
                <a:latin typeface="Lato" panose="020F0502020204030203" pitchFamily="34" charset="0"/>
                <a:ea typeface="Lato" panose="020F0502020204030203" pitchFamily="34" charset="0"/>
                <a:cs typeface="Lato" panose="020F0502020204030203" pitchFamily="34" charset="0"/>
              </a:rPr>
              <a:t>Time‑Zone &amp; Collaboration Constraints</a:t>
            </a:r>
            <a:endParaRPr lang="en-US" altLang="en-US" sz="1200">
              <a:solidFill>
                <a:schemeClr val="tx1"/>
              </a:solidFill>
              <a:latin typeface="Lato" panose="020F0502020204030203" pitchFamily="34" charset="0"/>
              <a:ea typeface="Lato" panose="020F0502020204030203" pitchFamily="34" charset="0"/>
              <a:cs typeface="Lato" panose="020F0502020204030203" pitchFamily="34" charset="0"/>
            </a:endParaRPr>
          </a:p>
          <a:p>
            <a:r>
              <a:rPr lang="en-US" altLang="en-US" sz="1200">
                <a:solidFill>
                  <a:schemeClr val="tx1"/>
                </a:solidFill>
                <a:latin typeface="Lato" panose="020F0502020204030203" pitchFamily="34" charset="0"/>
                <a:ea typeface="Lato" panose="020F0502020204030203" pitchFamily="34" charset="0"/>
                <a:cs typeface="Lato" panose="020F0502020204030203" pitchFamily="34" charset="0"/>
              </a:rPr>
              <a:t>An offshore-only model limits real-time collaboration to an approximately three-hour morning overlap window:</a:t>
            </a:r>
          </a:p>
          <a:p>
            <a:pPr marL="628650" lvl="1" indent="-171450">
              <a:buFont typeface="Arial" panose="020B0604020202020204" pitchFamily="34" charset="0"/>
              <a:buChar char="•"/>
            </a:pPr>
            <a:r>
              <a:rPr lang="en-US" altLang="en-US" sz="1200">
                <a:solidFill>
                  <a:schemeClr val="tx1"/>
                </a:solidFill>
                <a:latin typeface="Lato" panose="020F0502020204030203" pitchFamily="34" charset="0"/>
                <a:ea typeface="Lato" panose="020F0502020204030203" pitchFamily="34" charset="0"/>
                <a:cs typeface="Lato" panose="020F0502020204030203" pitchFamily="34" charset="0"/>
              </a:rPr>
              <a:t>Scrum ceremonies and daily stand‑ups</a:t>
            </a:r>
          </a:p>
          <a:p>
            <a:pPr marL="628650" lvl="1" indent="-171450">
              <a:buFont typeface="Arial" panose="020B0604020202020204" pitchFamily="34" charset="0"/>
              <a:buChar char="•"/>
            </a:pPr>
            <a:r>
              <a:rPr lang="en-US" altLang="en-US" sz="1200">
                <a:solidFill>
                  <a:schemeClr val="tx1"/>
                </a:solidFill>
                <a:latin typeface="Lato" panose="020F0502020204030203" pitchFamily="34" charset="0"/>
                <a:ea typeface="Lato" panose="020F0502020204030203" pitchFamily="34" charset="0"/>
                <a:cs typeface="Lato" panose="020F0502020204030203" pitchFamily="34" charset="0"/>
              </a:rPr>
              <a:t>PI / sprint planning and demos</a:t>
            </a:r>
          </a:p>
          <a:p>
            <a:pPr marL="628650" lvl="1" indent="-171450">
              <a:buFont typeface="Arial" panose="020B0604020202020204" pitchFamily="34" charset="0"/>
              <a:buChar char="•"/>
            </a:pPr>
            <a:r>
              <a:rPr lang="en-US" altLang="en-US" sz="1200">
                <a:solidFill>
                  <a:schemeClr val="tx1"/>
                </a:solidFill>
                <a:latin typeface="Lato" panose="020F0502020204030203" pitchFamily="34" charset="0"/>
                <a:ea typeface="Lato" panose="020F0502020204030203" pitchFamily="34" charset="0"/>
                <a:cs typeface="Lato" panose="020F0502020204030203" pitchFamily="34" charset="0"/>
              </a:rPr>
              <a:t>Design and architecture reviews</a:t>
            </a:r>
          </a:p>
          <a:p>
            <a:pPr marL="628650" lvl="1" indent="-171450">
              <a:buFont typeface="Arial" panose="020B0604020202020204" pitchFamily="34" charset="0"/>
              <a:buChar char="•"/>
            </a:pPr>
            <a:r>
              <a:rPr lang="en-US" altLang="en-US" sz="1200">
                <a:solidFill>
                  <a:schemeClr val="tx1"/>
                </a:solidFill>
                <a:latin typeface="Lato" panose="020F0502020204030203" pitchFamily="34" charset="0"/>
                <a:ea typeface="Lato" panose="020F0502020204030203" pitchFamily="34" charset="0"/>
                <a:cs typeface="Lato" panose="020F0502020204030203" pitchFamily="34" charset="0"/>
              </a:rPr>
              <a:t>Stakeholder and product team alignment</a:t>
            </a:r>
          </a:p>
        </p:txBody>
      </p:sp>
      <p:sp>
        <p:nvSpPr>
          <p:cNvPr id="32" name="Rectangle: Rounded Corners 23">
            <a:extLst>
              <a:ext uri="{FF2B5EF4-FFF2-40B4-BE49-F238E27FC236}">
                <a16:creationId xmlns:a16="http://schemas.microsoft.com/office/drawing/2014/main" id="{DA6216E5-3A0E-5005-4C0C-9C0CD6DFD33D}"/>
              </a:ext>
            </a:extLst>
          </p:cNvPr>
          <p:cNvSpPr/>
          <p:nvPr/>
        </p:nvSpPr>
        <p:spPr>
          <a:xfrm>
            <a:off x="2639182" y="5256036"/>
            <a:ext cx="9273069" cy="1342648"/>
          </a:xfrm>
          <a:prstGeom prst="roundRect">
            <a:avLst/>
          </a:prstGeom>
          <a:solidFill>
            <a:schemeClr val="bg1"/>
          </a:solidFill>
          <a:ln w="12700">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457200" rtlCol="0" anchor="ctr"/>
          <a:lstStyle/>
          <a:p>
            <a:r>
              <a:rPr lang="en-US" altLang="en-US" sz="1200" b="1">
                <a:solidFill>
                  <a:srgbClr val="0070C0"/>
                </a:solidFill>
                <a:latin typeface="Lato" panose="020F0502020204030203" pitchFamily="34" charset="0"/>
                <a:ea typeface="Lato" panose="020F0502020204030203" pitchFamily="34" charset="0"/>
                <a:cs typeface="Lato" panose="020F0502020204030203" pitchFamily="34" charset="0"/>
              </a:rPr>
              <a:t>Governance &amp; Strategic Guidance Gap</a:t>
            </a:r>
            <a:endParaRPr lang="en-US" altLang="en-US" sz="1200">
              <a:solidFill>
                <a:schemeClr val="tx1"/>
              </a:solidFill>
              <a:latin typeface="Lato" panose="020F0502020204030203" pitchFamily="34" charset="0"/>
              <a:ea typeface="Lato" panose="020F0502020204030203" pitchFamily="34" charset="0"/>
              <a:cs typeface="Lato" panose="020F0502020204030203" pitchFamily="34" charset="0"/>
            </a:endParaRPr>
          </a:p>
          <a:p>
            <a:r>
              <a:rPr lang="en-US" altLang="en-US" sz="1200">
                <a:solidFill>
                  <a:schemeClr val="tx1"/>
                </a:solidFill>
                <a:latin typeface="Lato" panose="020F0502020204030203" pitchFamily="34" charset="0"/>
                <a:ea typeface="Lato" panose="020F0502020204030203" pitchFamily="34" charset="0"/>
                <a:cs typeface="Lato" panose="020F0502020204030203" pitchFamily="34" charset="0"/>
              </a:rPr>
              <a:t>The current vendor engagement is largely reactive, with limited support in:</a:t>
            </a:r>
          </a:p>
          <a:p>
            <a:pPr marL="628650" lvl="1" indent="-171450">
              <a:buFont typeface="Arial" panose="020B0604020202020204" pitchFamily="34" charset="0"/>
              <a:buChar char="•"/>
            </a:pPr>
            <a:r>
              <a:rPr lang="en-US" altLang="en-US" sz="1200">
                <a:solidFill>
                  <a:schemeClr val="tx1"/>
                </a:solidFill>
                <a:latin typeface="Lato" panose="020F0502020204030203" pitchFamily="34" charset="0"/>
                <a:ea typeface="Lato" panose="020F0502020204030203" pitchFamily="34" charset="0"/>
                <a:cs typeface="Lato" panose="020F0502020204030203" pitchFamily="34" charset="0"/>
              </a:rPr>
              <a:t>Architectural and platform guidance (Databricks, Atlan, Okta, BI)</a:t>
            </a:r>
          </a:p>
          <a:p>
            <a:pPr marL="628650" lvl="1" indent="-171450">
              <a:buFont typeface="Arial" panose="020B0604020202020204" pitchFamily="34" charset="0"/>
              <a:buChar char="•"/>
            </a:pPr>
            <a:r>
              <a:rPr lang="en-US" altLang="en-US" sz="1200">
                <a:solidFill>
                  <a:schemeClr val="tx1"/>
                </a:solidFill>
                <a:latin typeface="Lato" panose="020F0502020204030203" pitchFamily="34" charset="0"/>
                <a:ea typeface="Lato" panose="020F0502020204030203" pitchFamily="34" charset="0"/>
                <a:cs typeface="Lato" panose="020F0502020204030203" pitchFamily="34" charset="0"/>
              </a:rPr>
              <a:t>Proactive risk and cost management (FinOps) </a:t>
            </a:r>
          </a:p>
          <a:p>
            <a:pPr marL="628650" lvl="1" indent="-171450">
              <a:buFont typeface="Arial" panose="020B0604020202020204" pitchFamily="34" charset="0"/>
              <a:buChar char="•"/>
            </a:pPr>
            <a:r>
              <a:rPr lang="en-US" altLang="en-US" sz="1200">
                <a:solidFill>
                  <a:schemeClr val="tx1"/>
                </a:solidFill>
                <a:latin typeface="Lato" panose="020F0502020204030203" pitchFamily="34" charset="0"/>
                <a:ea typeface="Lato" panose="020F0502020204030203" pitchFamily="34" charset="0"/>
                <a:cs typeface="Lato" panose="020F0502020204030203" pitchFamily="34" charset="0"/>
              </a:rPr>
              <a:t>Structured value realization and KPI tracking</a:t>
            </a:r>
          </a:p>
          <a:p>
            <a:pPr marL="628650" lvl="1" indent="-171450">
              <a:buFont typeface="Arial" panose="020B0604020202020204" pitchFamily="34" charset="0"/>
              <a:buChar char="•"/>
            </a:pPr>
            <a:r>
              <a:rPr lang="en-US" altLang="en-US" sz="1200">
                <a:solidFill>
                  <a:schemeClr val="tx1"/>
                </a:solidFill>
                <a:latin typeface="Lato" panose="020F0502020204030203" pitchFamily="34" charset="0"/>
                <a:ea typeface="Lato" panose="020F0502020204030203" pitchFamily="34" charset="0"/>
                <a:cs typeface="Lato" panose="020F0502020204030203" pitchFamily="34" charset="0"/>
              </a:rPr>
              <a:t>Roadmap partnership to advance data democratization and curated “gold” datasets</a:t>
            </a:r>
          </a:p>
        </p:txBody>
      </p:sp>
      <p:sp>
        <p:nvSpPr>
          <p:cNvPr id="3" name="Rectangle 2">
            <a:extLst>
              <a:ext uri="{FF2B5EF4-FFF2-40B4-BE49-F238E27FC236}">
                <a16:creationId xmlns:a16="http://schemas.microsoft.com/office/drawing/2014/main" id="{23C5DEB8-D2A8-DE38-CFD9-8D374DBCE8FF}"/>
              </a:ext>
            </a:extLst>
          </p:cNvPr>
          <p:cNvSpPr/>
          <p:nvPr/>
        </p:nvSpPr>
        <p:spPr>
          <a:xfrm>
            <a:off x="2338794" y="1135235"/>
            <a:ext cx="433408" cy="136974"/>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525D149-D6B1-B5A6-9B43-26BDE5BC64AD}"/>
              </a:ext>
            </a:extLst>
          </p:cNvPr>
          <p:cNvSpPr/>
          <p:nvPr/>
        </p:nvSpPr>
        <p:spPr>
          <a:xfrm>
            <a:off x="2338794" y="2145970"/>
            <a:ext cx="433408" cy="136974"/>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4279523-2890-AFE5-67A5-64A0295B1CC8}"/>
              </a:ext>
            </a:extLst>
          </p:cNvPr>
          <p:cNvSpPr/>
          <p:nvPr/>
        </p:nvSpPr>
        <p:spPr>
          <a:xfrm>
            <a:off x="2338794" y="3156705"/>
            <a:ext cx="433408" cy="136974"/>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A158419-90F8-D6F1-AE12-CEB5E4A76A1E}"/>
              </a:ext>
            </a:extLst>
          </p:cNvPr>
          <p:cNvSpPr/>
          <p:nvPr/>
        </p:nvSpPr>
        <p:spPr>
          <a:xfrm>
            <a:off x="2338794" y="4412386"/>
            <a:ext cx="433408" cy="136974"/>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E92B43E-6A67-BE83-2983-6A57A65A2CDC}"/>
              </a:ext>
            </a:extLst>
          </p:cNvPr>
          <p:cNvSpPr/>
          <p:nvPr/>
        </p:nvSpPr>
        <p:spPr>
          <a:xfrm>
            <a:off x="2338794" y="5872040"/>
            <a:ext cx="433408" cy="136974"/>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68641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8">
            <a:extLst>
              <a:ext uri="{FF2B5EF4-FFF2-40B4-BE49-F238E27FC236}">
                <a16:creationId xmlns:a16="http://schemas.microsoft.com/office/drawing/2014/main" id="{62D2EE68-6CB2-E04E-9CA1-CF4FFA5EAE11}"/>
              </a:ext>
            </a:extLst>
          </p:cNvPr>
          <p:cNvSpPr txBox="1">
            <a:spLocks/>
          </p:cNvSpPr>
          <p:nvPr/>
        </p:nvSpPr>
        <p:spPr>
          <a:xfrm>
            <a:off x="354873" y="144000"/>
            <a:ext cx="10926134" cy="576000"/>
          </a:xfrm>
          <a:prstGeom prst="rect">
            <a:avLst/>
          </a:prstGeom>
        </p:spPr>
        <p:txBody>
          <a:bodyPr vert="horz" lIns="91440" tIns="45720" rIns="91440" bIns="45720" rtlCol="0" anchor="t">
            <a:noAutofit/>
          </a:bodyPr>
          <a:lstStyle>
            <a:lvl1pPr algn="l" defTabSz="914377" rtl="0" eaLnBrk="1" latinLnBrk="0" hangingPunct="1">
              <a:lnSpc>
                <a:spcPct val="90000"/>
              </a:lnSpc>
              <a:spcBef>
                <a:spcPct val="0"/>
              </a:spcBef>
              <a:buNone/>
              <a:defRPr lang="en-US" sz="2800" b="1" kern="1200" dirty="0">
                <a:solidFill>
                  <a:srgbClr val="E44C25"/>
                </a:solidFill>
                <a:latin typeface="Roboto" panose="02000000000000000000" pitchFamily="2" charset="0"/>
                <a:ea typeface="Roboto" panose="02000000000000000000" pitchFamily="2" charset="0"/>
                <a:cs typeface="+mn-cs"/>
              </a:defRPr>
            </a:lvl1pPr>
          </a:lstStyle>
          <a:p>
            <a:r>
              <a:rPr lang="en-US">
                <a:sym typeface="Arial"/>
              </a:rPr>
              <a:t>Why Innominds? - </a:t>
            </a:r>
            <a:r>
              <a:rPr lang="en-IN" sz="2000"/>
              <a:t>Innominds Data Platform &amp; Engineering Advantage</a:t>
            </a:r>
            <a:endParaRPr lang="en-US" sz="2000"/>
          </a:p>
        </p:txBody>
      </p:sp>
      <p:grpSp>
        <p:nvGrpSpPr>
          <p:cNvPr id="5" name="Group 4">
            <a:extLst>
              <a:ext uri="{FF2B5EF4-FFF2-40B4-BE49-F238E27FC236}">
                <a16:creationId xmlns:a16="http://schemas.microsoft.com/office/drawing/2014/main" id="{82C4D2D9-39CE-31EA-DF56-A020350E4E78}"/>
              </a:ext>
            </a:extLst>
          </p:cNvPr>
          <p:cNvGrpSpPr/>
          <p:nvPr/>
        </p:nvGrpSpPr>
        <p:grpSpPr>
          <a:xfrm>
            <a:off x="478971" y="670350"/>
            <a:ext cx="11398602" cy="1620951"/>
            <a:chOff x="478971" y="670350"/>
            <a:chExt cx="11398602" cy="1620951"/>
          </a:xfrm>
        </p:grpSpPr>
        <p:grpSp>
          <p:nvGrpSpPr>
            <p:cNvPr id="6" name="Group 5">
              <a:extLst>
                <a:ext uri="{FF2B5EF4-FFF2-40B4-BE49-F238E27FC236}">
                  <a16:creationId xmlns:a16="http://schemas.microsoft.com/office/drawing/2014/main" id="{26F34108-D139-E70A-AA09-0112BECFDD64}"/>
                </a:ext>
              </a:extLst>
            </p:cNvPr>
            <p:cNvGrpSpPr/>
            <p:nvPr/>
          </p:nvGrpSpPr>
          <p:grpSpPr>
            <a:xfrm>
              <a:off x="10166785" y="1032657"/>
              <a:ext cx="1710788" cy="1040274"/>
              <a:chOff x="10157160" y="1032657"/>
              <a:chExt cx="1710788" cy="1040274"/>
            </a:xfrm>
          </p:grpSpPr>
          <p:sp>
            <p:nvSpPr>
              <p:cNvPr id="9" name="Rectangle: Top Corners Rounded 8">
                <a:extLst>
                  <a:ext uri="{FF2B5EF4-FFF2-40B4-BE49-F238E27FC236}">
                    <a16:creationId xmlns:a16="http://schemas.microsoft.com/office/drawing/2014/main" id="{52E96226-B9E1-EA07-C62A-7090403D5569}"/>
                  </a:ext>
                </a:extLst>
              </p:cNvPr>
              <p:cNvSpPr/>
              <p:nvPr/>
            </p:nvSpPr>
            <p:spPr>
              <a:xfrm flipV="1">
                <a:off x="10157160" y="1032657"/>
                <a:ext cx="1710788" cy="1040274"/>
              </a:xfrm>
              <a:prstGeom prst="round2SameRect">
                <a:avLst>
                  <a:gd name="adj1" fmla="val 13542"/>
                  <a:gd name="adj2" fmla="val 0"/>
                </a:avLst>
              </a:prstGeom>
              <a:solidFill>
                <a:schemeClr val="bg1"/>
              </a:solidFill>
              <a:ln w="6350">
                <a:solidFill>
                  <a:srgbClr val="00B0F0"/>
                </a:solidFill>
              </a:ln>
              <a:effectLst>
                <a:outerShdw dist="50800" dir="16200000" algn="t" rotWithShape="0">
                  <a:srgbClr val="00B0F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a:latin typeface="Lato" panose="020F0502020204030203" pitchFamily="34" charset="0"/>
                  <a:ea typeface="Lato" panose="020F0502020204030203" pitchFamily="34" charset="0"/>
                  <a:cs typeface="Lato" panose="020F0502020204030203" pitchFamily="34" charset="0"/>
                </a:endParaRPr>
              </a:p>
            </p:txBody>
          </p:sp>
          <p:sp>
            <p:nvSpPr>
              <p:cNvPr id="10" name="TextBox 9">
                <a:extLst>
                  <a:ext uri="{FF2B5EF4-FFF2-40B4-BE49-F238E27FC236}">
                    <a16:creationId xmlns:a16="http://schemas.microsoft.com/office/drawing/2014/main" id="{FD5878AF-4910-86AE-624C-AAC97DD2795D}"/>
                  </a:ext>
                </a:extLst>
              </p:cNvPr>
              <p:cNvSpPr txBox="1"/>
              <p:nvPr/>
            </p:nvSpPr>
            <p:spPr>
              <a:xfrm>
                <a:off x="10353792" y="1081414"/>
                <a:ext cx="1397022" cy="938719"/>
              </a:xfrm>
              <a:prstGeom prst="rect">
                <a:avLst/>
              </a:prstGeom>
              <a:noFill/>
            </p:spPr>
            <p:txBody>
              <a:bodyPr wrap="square">
                <a:spAutoFit/>
              </a:bodyPr>
              <a:lstStyle/>
              <a:p>
                <a:pPr algn="ctr"/>
                <a:r>
                  <a:rPr lang="en-US" sz="1100" b="1">
                    <a:solidFill>
                      <a:srgbClr val="0070C0"/>
                    </a:solidFill>
                    <a:latin typeface="Lato" panose="020F0502020204030203" pitchFamily="34" charset="0"/>
                    <a:ea typeface="Lato" panose="020F0502020204030203" pitchFamily="34" charset="0"/>
                    <a:cs typeface="Lato" panose="020F0502020204030203" pitchFamily="34" charset="0"/>
                  </a:rPr>
                  <a:t>Innominds:</a:t>
                </a:r>
              </a:p>
              <a:p>
                <a:pPr algn="ctr"/>
                <a:endParaRPr lang="en-US" sz="1100" b="1">
                  <a:solidFill>
                    <a:srgbClr val="0070C0"/>
                  </a:solidFill>
                  <a:latin typeface="Lato" panose="020F0502020204030203" pitchFamily="34" charset="0"/>
                  <a:ea typeface="Lato" panose="020F0502020204030203" pitchFamily="34" charset="0"/>
                  <a:cs typeface="Lato" panose="020F0502020204030203" pitchFamily="34" charset="0"/>
                </a:endParaRPr>
              </a:p>
              <a:p>
                <a:pPr algn="ctr"/>
                <a:r>
                  <a:rPr lang="en-US" sz="1100" b="1">
                    <a:solidFill>
                      <a:srgbClr val="00B0F0"/>
                    </a:solidFill>
                    <a:latin typeface="Lato" panose="020F0502020204030203" pitchFamily="34" charset="0"/>
                    <a:ea typeface="Lato" panose="020F0502020204030203" pitchFamily="34" charset="0"/>
                    <a:cs typeface="Lato" panose="020F0502020204030203" pitchFamily="34" charset="0"/>
                  </a:rPr>
                  <a:t>Delivering Value Beyond Data Engineering</a:t>
                </a:r>
              </a:p>
            </p:txBody>
          </p:sp>
        </p:grpSp>
        <p:sp>
          <p:nvSpPr>
            <p:cNvPr id="7" name="Rectangle: Top Corners Rounded 6">
              <a:extLst>
                <a:ext uri="{FF2B5EF4-FFF2-40B4-BE49-F238E27FC236}">
                  <a16:creationId xmlns:a16="http://schemas.microsoft.com/office/drawing/2014/main" id="{9E161E41-902D-9580-77EA-1B7319A82B49}"/>
                </a:ext>
              </a:extLst>
            </p:cNvPr>
            <p:cNvSpPr/>
            <p:nvPr/>
          </p:nvSpPr>
          <p:spPr>
            <a:xfrm>
              <a:off x="478971" y="670350"/>
              <a:ext cx="9837057" cy="1620951"/>
            </a:xfrm>
            <a:prstGeom prst="round2SameRect">
              <a:avLst>
                <a:gd name="adj1" fmla="val 13542"/>
                <a:gd name="adj2" fmla="val 0"/>
              </a:avLst>
            </a:prstGeom>
            <a:solidFill>
              <a:schemeClr val="bg1"/>
            </a:solidFill>
            <a:ln w="6350">
              <a:solidFill>
                <a:srgbClr val="00B0F0"/>
              </a:solidFill>
            </a:ln>
            <a:effectLst>
              <a:outerShdw dist="50800" dir="5400000" algn="t" rotWithShape="0">
                <a:srgbClr val="00B0F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a:latin typeface="Lato" panose="020F0502020204030203" pitchFamily="34" charset="0"/>
                <a:ea typeface="Lato" panose="020F0502020204030203" pitchFamily="34" charset="0"/>
                <a:cs typeface="Lato" panose="020F0502020204030203" pitchFamily="34" charset="0"/>
              </a:endParaRPr>
            </a:p>
          </p:txBody>
        </p:sp>
        <p:sp>
          <p:nvSpPr>
            <p:cNvPr id="8" name="TextBox 7">
              <a:extLst>
                <a:ext uri="{FF2B5EF4-FFF2-40B4-BE49-F238E27FC236}">
                  <a16:creationId xmlns:a16="http://schemas.microsoft.com/office/drawing/2014/main" id="{322D8396-DABA-38DC-91E3-3FD3B90B781D}"/>
                </a:ext>
              </a:extLst>
            </p:cNvPr>
            <p:cNvSpPr txBox="1"/>
            <p:nvPr/>
          </p:nvSpPr>
          <p:spPr>
            <a:xfrm>
              <a:off x="631871" y="789979"/>
              <a:ext cx="9466673" cy="1446550"/>
            </a:xfrm>
            <a:prstGeom prst="rect">
              <a:avLst/>
            </a:prstGeom>
            <a:noFill/>
          </p:spPr>
          <p:txBody>
            <a:bodyPr wrap="square" rtlCol="0">
              <a:spAutoFit/>
            </a:bodyPr>
            <a:lstStyle/>
            <a:p>
              <a:pPr marL="285750" indent="-285750">
                <a:spcBef>
                  <a:spcPts val="600"/>
                </a:spcBef>
                <a:buBlip>
                  <a:blip r:embed="rId3"/>
                </a:buBlip>
              </a:pPr>
              <a:r>
                <a:rPr lang="en-US" sz="1050">
                  <a:latin typeface="Lato" panose="020F0502020204030203" pitchFamily="34" charset="0"/>
                  <a:ea typeface="Lato" panose="020F0502020204030203" pitchFamily="34" charset="0"/>
                  <a:cs typeface="Lato" panose="020F0502020204030203" pitchFamily="34" charset="0"/>
                </a:rPr>
                <a:t>Deep experience building and operating Azure–Databricks–centric data platforms with governed gold datasets, enterprise BI, and data democratization.</a:t>
              </a:r>
            </a:p>
            <a:p>
              <a:pPr marL="285750" indent="-285750">
                <a:spcBef>
                  <a:spcPts val="600"/>
                </a:spcBef>
                <a:buBlip>
                  <a:blip r:embed="rId3"/>
                </a:buBlip>
              </a:pPr>
              <a:r>
                <a:rPr lang="en-US" sz="1050">
                  <a:latin typeface="Lato" panose="020F0502020204030203" pitchFamily="34" charset="0"/>
                  <a:ea typeface="Lato" panose="020F0502020204030203" pitchFamily="34" charset="0"/>
                  <a:cs typeface="Lato" panose="020F0502020204030203" pitchFamily="34" charset="0"/>
                </a:rPr>
                <a:t>Hybrid nearshore–offshore cross-functional PODs that reduce handoffs, accelerate delivery, and improve accountability.</a:t>
              </a:r>
            </a:p>
            <a:p>
              <a:pPr marL="285750" indent="-285750">
                <a:spcBef>
                  <a:spcPts val="600"/>
                </a:spcBef>
                <a:buBlip>
                  <a:blip r:embed="rId3"/>
                </a:buBlip>
              </a:pPr>
              <a:r>
                <a:rPr lang="en-US" sz="1050">
                  <a:latin typeface="Lato" panose="020F0502020204030203" pitchFamily="34" charset="0"/>
                  <a:ea typeface="Lato" panose="020F0502020204030203" pitchFamily="34" charset="0"/>
                  <a:cs typeface="Lato" panose="020F0502020204030203" pitchFamily="34" charset="0"/>
                </a:rPr>
                <a:t>Strong platform governance capabilities, including identity integration, access management, and secure data exposure.</a:t>
              </a:r>
            </a:p>
            <a:p>
              <a:pPr marL="285750" indent="-285750">
                <a:spcBef>
                  <a:spcPts val="600"/>
                </a:spcBef>
                <a:buBlip>
                  <a:blip r:embed="rId3"/>
                </a:buBlip>
              </a:pPr>
              <a:r>
                <a:rPr lang="en-US" sz="1050">
                  <a:latin typeface="Lato" panose="020F0502020204030203" pitchFamily="34" charset="0"/>
                  <a:ea typeface="Lato" panose="020F0502020204030203" pitchFamily="34" charset="0"/>
                  <a:cs typeface="Lato" panose="020F0502020204030203" pitchFamily="34" charset="0"/>
                </a:rPr>
                <a:t>Proven track record delivering domain-aligned data product teams across Sales, Supply Chain, and Aftermarket analytics.</a:t>
              </a:r>
            </a:p>
            <a:p>
              <a:pPr marL="285750" indent="-285750">
                <a:spcBef>
                  <a:spcPts val="600"/>
                </a:spcBef>
                <a:buBlip>
                  <a:blip r:embed="rId3"/>
                </a:buBlip>
              </a:pPr>
              <a:r>
                <a:rPr lang="en-US" sz="1050">
                  <a:latin typeface="Lato" panose="020F0502020204030203" pitchFamily="34" charset="0"/>
                  <a:ea typeface="Lato" panose="020F0502020204030203" pitchFamily="34" charset="0"/>
                  <a:cs typeface="Lato" panose="020F0502020204030203" pitchFamily="34" charset="0"/>
                </a:rPr>
                <a:t>Expertise in building gold datasets and enabling self-service analytics models</a:t>
              </a:r>
            </a:p>
            <a:p>
              <a:pPr marL="285750" indent="-285750">
                <a:spcBef>
                  <a:spcPts val="600"/>
                </a:spcBef>
                <a:buBlip>
                  <a:blip r:embed="rId3"/>
                </a:buBlip>
              </a:pPr>
              <a:r>
                <a:rPr lang="en-US" sz="1050">
                  <a:latin typeface="Lato" panose="020F0502020204030203" pitchFamily="34" charset="0"/>
                  <a:ea typeface="Lato" panose="020F0502020204030203" pitchFamily="34" charset="0"/>
                  <a:cs typeface="Lato" panose="020F0502020204030203" pitchFamily="34" charset="0"/>
                </a:rPr>
                <a:t>Proven experience separating platform governance from domain engineering to enable long-term scalability</a:t>
              </a:r>
            </a:p>
          </p:txBody>
        </p:sp>
      </p:grpSp>
      <p:sp>
        <p:nvSpPr>
          <p:cNvPr id="11" name="Freeform: Shape 10">
            <a:extLst>
              <a:ext uri="{FF2B5EF4-FFF2-40B4-BE49-F238E27FC236}">
                <a16:creationId xmlns:a16="http://schemas.microsoft.com/office/drawing/2014/main" id="{72E14354-8620-9956-5E4D-4CF80AD4D52F}"/>
              </a:ext>
            </a:extLst>
          </p:cNvPr>
          <p:cNvSpPr/>
          <p:nvPr/>
        </p:nvSpPr>
        <p:spPr>
          <a:xfrm>
            <a:off x="239485" y="4700411"/>
            <a:ext cx="2937640" cy="1484159"/>
          </a:xfrm>
          <a:custGeom>
            <a:avLst/>
            <a:gdLst>
              <a:gd name="connsiteX0" fmla="*/ 2038433 w 2265213"/>
              <a:gd name="connsiteY0" fmla="*/ 226781 h 1084554"/>
              <a:gd name="connsiteX1" fmla="*/ 264041 w 2265213"/>
              <a:gd name="connsiteY1" fmla="*/ 307032 h 1084554"/>
              <a:gd name="connsiteX2" fmla="*/ 0 w 2265213"/>
              <a:gd name="connsiteY2" fmla="*/ 42902 h 1084554"/>
              <a:gd name="connsiteX3" fmla="*/ 0 w 2265213"/>
              <a:gd name="connsiteY3" fmla="*/ 898974 h 1084554"/>
              <a:gd name="connsiteX4" fmla="*/ 185581 w 2265213"/>
              <a:gd name="connsiteY4" fmla="*/ 1084555 h 1084554"/>
              <a:gd name="connsiteX5" fmla="*/ 2079633 w 2265213"/>
              <a:gd name="connsiteY5" fmla="*/ 1084555 h 1084554"/>
              <a:gd name="connsiteX6" fmla="*/ 2265214 w 2265213"/>
              <a:gd name="connsiteY6" fmla="*/ 898974 h 1084554"/>
              <a:gd name="connsiteX7" fmla="*/ 2265214 w 2265213"/>
              <a:gd name="connsiteY7" fmla="*/ 0 h 1084554"/>
              <a:gd name="connsiteX8" fmla="*/ 2038433 w 2265213"/>
              <a:gd name="connsiteY8" fmla="*/ 226781 h 1084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65213" h="1084554">
                <a:moveTo>
                  <a:pt x="2038433" y="226781"/>
                </a:moveTo>
                <a:lnTo>
                  <a:pt x="264041" y="307032"/>
                </a:lnTo>
                <a:lnTo>
                  <a:pt x="0" y="42902"/>
                </a:lnTo>
                <a:lnTo>
                  <a:pt x="0" y="898974"/>
                </a:lnTo>
                <a:cubicBezTo>
                  <a:pt x="0" y="1001437"/>
                  <a:pt x="83117" y="1084555"/>
                  <a:pt x="185581" y="1084555"/>
                </a:cubicBezTo>
                <a:lnTo>
                  <a:pt x="2079633" y="1084555"/>
                </a:lnTo>
                <a:cubicBezTo>
                  <a:pt x="2182097" y="1084555"/>
                  <a:pt x="2265214" y="1001437"/>
                  <a:pt x="2265214" y="898974"/>
                </a:cubicBezTo>
                <a:lnTo>
                  <a:pt x="2265214" y="0"/>
                </a:lnTo>
                <a:lnTo>
                  <a:pt x="2038433" y="226781"/>
                </a:lnTo>
                <a:close/>
              </a:path>
            </a:pathLst>
          </a:custGeom>
          <a:solidFill>
            <a:srgbClr val="00B0F0"/>
          </a:solidFill>
          <a:ln w="8952" cap="flat">
            <a:noFill/>
            <a:prstDash val="solid"/>
            <a:miter/>
          </a:ln>
        </p:spPr>
        <p:txBody>
          <a:bodyPr rtlCol="0" anchor="ctr"/>
          <a:lstStyle/>
          <a:p>
            <a:endParaRPr lang="en-US" sz="1050">
              <a:latin typeface="Lato" panose="020F0502020204030203" pitchFamily="34" charset="0"/>
              <a:ea typeface="Lato" panose="020F0502020204030203" pitchFamily="34" charset="0"/>
              <a:cs typeface="Lato" panose="020F0502020204030203" pitchFamily="34" charset="0"/>
            </a:endParaRPr>
          </a:p>
        </p:txBody>
      </p:sp>
      <p:sp>
        <p:nvSpPr>
          <p:cNvPr id="12" name="Freeform: Shape 11">
            <a:extLst>
              <a:ext uri="{FF2B5EF4-FFF2-40B4-BE49-F238E27FC236}">
                <a16:creationId xmlns:a16="http://schemas.microsoft.com/office/drawing/2014/main" id="{45A93D96-B854-88C7-BEA9-3C9B5B33C391}"/>
              </a:ext>
            </a:extLst>
          </p:cNvPr>
          <p:cNvSpPr/>
          <p:nvPr/>
        </p:nvSpPr>
        <p:spPr>
          <a:xfrm>
            <a:off x="424634" y="3616423"/>
            <a:ext cx="2567343" cy="2506122"/>
          </a:xfrm>
          <a:custGeom>
            <a:avLst/>
            <a:gdLst>
              <a:gd name="connsiteX0" fmla="*/ 1827594 w 1979677"/>
              <a:gd name="connsiteY0" fmla="*/ 0 h 1979677"/>
              <a:gd name="connsiteX1" fmla="*/ 1979677 w 1979677"/>
              <a:gd name="connsiteY1" fmla="*/ 152083 h 1979677"/>
              <a:gd name="connsiteX2" fmla="*/ 1979677 w 1979677"/>
              <a:gd name="connsiteY2" fmla="*/ 1827594 h 1979677"/>
              <a:gd name="connsiteX3" fmla="*/ 1827594 w 1979677"/>
              <a:gd name="connsiteY3" fmla="*/ 1979677 h 1979677"/>
              <a:gd name="connsiteX4" fmla="*/ 152083 w 1979677"/>
              <a:gd name="connsiteY4" fmla="*/ 1979677 h 1979677"/>
              <a:gd name="connsiteX5" fmla="*/ 0 w 1979677"/>
              <a:gd name="connsiteY5" fmla="*/ 1827594 h 1979677"/>
              <a:gd name="connsiteX6" fmla="*/ 0 w 1979677"/>
              <a:gd name="connsiteY6" fmla="*/ 152083 h 1979677"/>
              <a:gd name="connsiteX7" fmla="*/ 152083 w 1979677"/>
              <a:gd name="connsiteY7" fmla="*/ 0 h 1979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79677" h="1979677">
                <a:moveTo>
                  <a:pt x="1827594" y="0"/>
                </a:moveTo>
                <a:cubicBezTo>
                  <a:pt x="1911588" y="0"/>
                  <a:pt x="1979677" y="68090"/>
                  <a:pt x="1979677" y="152083"/>
                </a:cubicBezTo>
                <a:lnTo>
                  <a:pt x="1979677" y="1827594"/>
                </a:lnTo>
                <a:cubicBezTo>
                  <a:pt x="1979677" y="1911587"/>
                  <a:pt x="1911588" y="1979677"/>
                  <a:pt x="1827594" y="1979677"/>
                </a:cubicBezTo>
                <a:lnTo>
                  <a:pt x="152083" y="1979677"/>
                </a:lnTo>
                <a:cubicBezTo>
                  <a:pt x="68090" y="1979677"/>
                  <a:pt x="0" y="1911587"/>
                  <a:pt x="0" y="1827594"/>
                </a:cubicBezTo>
                <a:lnTo>
                  <a:pt x="0" y="152083"/>
                </a:lnTo>
                <a:cubicBezTo>
                  <a:pt x="0" y="68090"/>
                  <a:pt x="68090" y="0"/>
                  <a:pt x="152083" y="0"/>
                </a:cubicBezTo>
                <a:close/>
              </a:path>
            </a:pathLst>
          </a:custGeom>
          <a:solidFill>
            <a:srgbClr val="FFFFFF"/>
          </a:solidFill>
          <a:ln w="8952" cap="flat">
            <a:solidFill>
              <a:srgbClr val="4EA6E6"/>
            </a:solidFill>
            <a:prstDash val="solid"/>
            <a:miter/>
          </a:ln>
        </p:spPr>
        <p:txBody>
          <a:bodyPr rtlCol="0" anchor="ctr"/>
          <a:lstStyle/>
          <a:p>
            <a:endParaRPr lang="en-US" sz="1050">
              <a:latin typeface="Lato" panose="020F0502020204030203" pitchFamily="34" charset="0"/>
              <a:ea typeface="Lato" panose="020F0502020204030203" pitchFamily="34" charset="0"/>
              <a:cs typeface="Lato" panose="020F0502020204030203" pitchFamily="34" charset="0"/>
            </a:endParaRPr>
          </a:p>
        </p:txBody>
      </p:sp>
      <p:sp>
        <p:nvSpPr>
          <p:cNvPr id="13" name="Freeform: Shape 12">
            <a:extLst>
              <a:ext uri="{FF2B5EF4-FFF2-40B4-BE49-F238E27FC236}">
                <a16:creationId xmlns:a16="http://schemas.microsoft.com/office/drawing/2014/main" id="{D4B113DD-C334-0822-1FB9-DA44B03CF3FB}"/>
              </a:ext>
            </a:extLst>
          </p:cNvPr>
          <p:cNvSpPr/>
          <p:nvPr/>
        </p:nvSpPr>
        <p:spPr>
          <a:xfrm>
            <a:off x="3177010" y="3616423"/>
            <a:ext cx="2937640" cy="1142696"/>
          </a:xfrm>
          <a:custGeom>
            <a:avLst/>
            <a:gdLst>
              <a:gd name="connsiteX0" fmla="*/ 226781 w 2265213"/>
              <a:gd name="connsiteY0" fmla="*/ 816752 h 1080792"/>
              <a:gd name="connsiteX1" fmla="*/ 2001173 w 2265213"/>
              <a:gd name="connsiteY1" fmla="*/ 816752 h 1080792"/>
              <a:gd name="connsiteX2" fmla="*/ 2265214 w 2265213"/>
              <a:gd name="connsiteY2" fmla="*/ 1080793 h 1080792"/>
              <a:gd name="connsiteX3" fmla="*/ 2265214 w 2265213"/>
              <a:gd name="connsiteY3" fmla="*/ 185581 h 1080792"/>
              <a:gd name="connsiteX4" fmla="*/ 2079633 w 2265213"/>
              <a:gd name="connsiteY4" fmla="*/ 0 h 1080792"/>
              <a:gd name="connsiteX5" fmla="*/ 185581 w 2265213"/>
              <a:gd name="connsiteY5" fmla="*/ 0 h 1080792"/>
              <a:gd name="connsiteX6" fmla="*/ 0 w 2265213"/>
              <a:gd name="connsiteY6" fmla="*/ 185581 h 1080792"/>
              <a:gd name="connsiteX7" fmla="*/ 0 w 2265213"/>
              <a:gd name="connsiteY7" fmla="*/ 1043444 h 1080792"/>
              <a:gd name="connsiteX8" fmla="*/ 226781 w 2265213"/>
              <a:gd name="connsiteY8" fmla="*/ 816663 h 1080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65213" h="1080792">
                <a:moveTo>
                  <a:pt x="226781" y="816752"/>
                </a:moveTo>
                <a:lnTo>
                  <a:pt x="2001173" y="816752"/>
                </a:lnTo>
                <a:lnTo>
                  <a:pt x="2265214" y="1080793"/>
                </a:lnTo>
                <a:lnTo>
                  <a:pt x="2265214" y="185581"/>
                </a:lnTo>
                <a:cubicBezTo>
                  <a:pt x="2265214" y="83117"/>
                  <a:pt x="2182097" y="0"/>
                  <a:pt x="2079633" y="0"/>
                </a:cubicBezTo>
                <a:lnTo>
                  <a:pt x="185581" y="0"/>
                </a:lnTo>
                <a:cubicBezTo>
                  <a:pt x="83117" y="0"/>
                  <a:pt x="0" y="83117"/>
                  <a:pt x="0" y="185581"/>
                </a:cubicBezTo>
                <a:lnTo>
                  <a:pt x="0" y="1043444"/>
                </a:lnTo>
                <a:lnTo>
                  <a:pt x="226781" y="816663"/>
                </a:lnTo>
                <a:close/>
              </a:path>
            </a:pathLst>
          </a:custGeom>
          <a:solidFill>
            <a:srgbClr val="0070C0"/>
          </a:solidFill>
          <a:ln w="8952" cap="flat">
            <a:noFill/>
            <a:prstDash val="solid"/>
            <a:miter/>
          </a:ln>
        </p:spPr>
        <p:txBody>
          <a:bodyPr rtlCol="0" anchor="ctr"/>
          <a:lstStyle/>
          <a:p>
            <a:endParaRPr lang="en-US" sz="1050">
              <a:latin typeface="Lato" panose="020F0502020204030203" pitchFamily="34" charset="0"/>
              <a:ea typeface="Lato" panose="020F0502020204030203" pitchFamily="34" charset="0"/>
              <a:cs typeface="Lato" panose="020F0502020204030203" pitchFamily="34" charset="0"/>
            </a:endParaRPr>
          </a:p>
        </p:txBody>
      </p:sp>
      <p:sp>
        <p:nvSpPr>
          <p:cNvPr id="14" name="Freeform: Shape 13">
            <a:extLst>
              <a:ext uri="{FF2B5EF4-FFF2-40B4-BE49-F238E27FC236}">
                <a16:creationId xmlns:a16="http://schemas.microsoft.com/office/drawing/2014/main" id="{73FBBFBC-EEF4-E200-FDF7-7EEEFA682BC3}"/>
              </a:ext>
            </a:extLst>
          </p:cNvPr>
          <p:cNvSpPr/>
          <p:nvPr/>
        </p:nvSpPr>
        <p:spPr>
          <a:xfrm rot="10800000">
            <a:off x="3362273" y="3695030"/>
            <a:ext cx="2567343" cy="2489539"/>
          </a:xfrm>
          <a:custGeom>
            <a:avLst/>
            <a:gdLst>
              <a:gd name="connsiteX0" fmla="*/ 1827594 w 1979677"/>
              <a:gd name="connsiteY0" fmla="*/ 0 h 1979677"/>
              <a:gd name="connsiteX1" fmla="*/ 1979678 w 1979677"/>
              <a:gd name="connsiteY1" fmla="*/ 152083 h 1979677"/>
              <a:gd name="connsiteX2" fmla="*/ 1979678 w 1979677"/>
              <a:gd name="connsiteY2" fmla="*/ 1827594 h 1979677"/>
              <a:gd name="connsiteX3" fmla="*/ 1827594 w 1979677"/>
              <a:gd name="connsiteY3" fmla="*/ 1979677 h 1979677"/>
              <a:gd name="connsiteX4" fmla="*/ 152083 w 1979677"/>
              <a:gd name="connsiteY4" fmla="*/ 1979677 h 1979677"/>
              <a:gd name="connsiteX5" fmla="*/ 0 w 1979677"/>
              <a:gd name="connsiteY5" fmla="*/ 1827594 h 1979677"/>
              <a:gd name="connsiteX6" fmla="*/ 0 w 1979677"/>
              <a:gd name="connsiteY6" fmla="*/ 152083 h 1979677"/>
              <a:gd name="connsiteX7" fmla="*/ 152083 w 1979677"/>
              <a:gd name="connsiteY7" fmla="*/ 0 h 1979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79677" h="1979677">
                <a:moveTo>
                  <a:pt x="1827594" y="0"/>
                </a:moveTo>
                <a:cubicBezTo>
                  <a:pt x="1911588" y="0"/>
                  <a:pt x="1979678" y="68090"/>
                  <a:pt x="1979678" y="152083"/>
                </a:cubicBezTo>
                <a:lnTo>
                  <a:pt x="1979678" y="1827594"/>
                </a:lnTo>
                <a:cubicBezTo>
                  <a:pt x="1979678" y="1911588"/>
                  <a:pt x="1911588" y="1979677"/>
                  <a:pt x="1827594" y="1979677"/>
                </a:cubicBezTo>
                <a:lnTo>
                  <a:pt x="152083" y="1979677"/>
                </a:lnTo>
                <a:cubicBezTo>
                  <a:pt x="68090" y="1979677"/>
                  <a:pt x="0" y="1911588"/>
                  <a:pt x="0" y="1827594"/>
                </a:cubicBezTo>
                <a:lnTo>
                  <a:pt x="0" y="152083"/>
                </a:lnTo>
                <a:cubicBezTo>
                  <a:pt x="0" y="68090"/>
                  <a:pt x="68090" y="0"/>
                  <a:pt x="152083" y="0"/>
                </a:cubicBezTo>
                <a:close/>
              </a:path>
            </a:pathLst>
          </a:custGeom>
          <a:solidFill>
            <a:srgbClr val="FFFFFF"/>
          </a:solidFill>
          <a:ln w="8952" cap="flat">
            <a:solidFill>
              <a:srgbClr val="1F69B3"/>
            </a:solidFill>
            <a:prstDash val="solid"/>
            <a:miter/>
          </a:ln>
        </p:spPr>
        <p:txBody>
          <a:bodyPr rtlCol="0" anchor="ctr"/>
          <a:lstStyle/>
          <a:p>
            <a:endParaRPr lang="en-US" sz="1050">
              <a:latin typeface="Lato" panose="020F0502020204030203" pitchFamily="34" charset="0"/>
              <a:ea typeface="Lato" panose="020F0502020204030203" pitchFamily="34" charset="0"/>
              <a:cs typeface="Lato" panose="020F0502020204030203" pitchFamily="34" charset="0"/>
            </a:endParaRPr>
          </a:p>
        </p:txBody>
      </p:sp>
      <p:sp>
        <p:nvSpPr>
          <p:cNvPr id="15" name="Freeform: Shape 14">
            <a:extLst>
              <a:ext uri="{FF2B5EF4-FFF2-40B4-BE49-F238E27FC236}">
                <a16:creationId xmlns:a16="http://schemas.microsoft.com/office/drawing/2014/main" id="{81249B7E-ACFB-301B-9E64-60B90C521B25}"/>
              </a:ext>
            </a:extLst>
          </p:cNvPr>
          <p:cNvSpPr/>
          <p:nvPr/>
        </p:nvSpPr>
        <p:spPr>
          <a:xfrm>
            <a:off x="6110005" y="4700533"/>
            <a:ext cx="2937640" cy="1484159"/>
          </a:xfrm>
          <a:custGeom>
            <a:avLst/>
            <a:gdLst>
              <a:gd name="connsiteX0" fmla="*/ 2038433 w 2265213"/>
              <a:gd name="connsiteY0" fmla="*/ 226692 h 1084554"/>
              <a:gd name="connsiteX1" fmla="*/ 264041 w 2265213"/>
              <a:gd name="connsiteY1" fmla="*/ 306943 h 1084554"/>
              <a:gd name="connsiteX2" fmla="*/ 0 w 2265213"/>
              <a:gd name="connsiteY2" fmla="*/ 42902 h 1084554"/>
              <a:gd name="connsiteX3" fmla="*/ 0 w 2265213"/>
              <a:gd name="connsiteY3" fmla="*/ 898974 h 1084554"/>
              <a:gd name="connsiteX4" fmla="*/ 185581 w 2265213"/>
              <a:gd name="connsiteY4" fmla="*/ 1084555 h 1084554"/>
              <a:gd name="connsiteX5" fmla="*/ 2079633 w 2265213"/>
              <a:gd name="connsiteY5" fmla="*/ 1084555 h 1084554"/>
              <a:gd name="connsiteX6" fmla="*/ 2265214 w 2265213"/>
              <a:gd name="connsiteY6" fmla="*/ 898974 h 1084554"/>
              <a:gd name="connsiteX7" fmla="*/ 2265214 w 2265213"/>
              <a:gd name="connsiteY7" fmla="*/ 0 h 1084554"/>
              <a:gd name="connsiteX8" fmla="*/ 2038433 w 2265213"/>
              <a:gd name="connsiteY8" fmla="*/ 226781 h 1084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65213" h="1084554">
                <a:moveTo>
                  <a:pt x="2038433" y="226692"/>
                </a:moveTo>
                <a:lnTo>
                  <a:pt x="264041" y="306943"/>
                </a:lnTo>
                <a:lnTo>
                  <a:pt x="0" y="42902"/>
                </a:lnTo>
                <a:lnTo>
                  <a:pt x="0" y="898974"/>
                </a:lnTo>
                <a:cubicBezTo>
                  <a:pt x="0" y="1001438"/>
                  <a:pt x="83117" y="1084555"/>
                  <a:pt x="185581" y="1084555"/>
                </a:cubicBezTo>
                <a:lnTo>
                  <a:pt x="2079633" y="1084555"/>
                </a:lnTo>
                <a:cubicBezTo>
                  <a:pt x="2182096" y="1084555"/>
                  <a:pt x="2265214" y="1001438"/>
                  <a:pt x="2265214" y="898974"/>
                </a:cubicBezTo>
                <a:lnTo>
                  <a:pt x="2265214" y="0"/>
                </a:lnTo>
                <a:lnTo>
                  <a:pt x="2038433" y="226781"/>
                </a:lnTo>
                <a:close/>
              </a:path>
            </a:pathLst>
          </a:custGeom>
          <a:solidFill>
            <a:srgbClr val="00B0F0"/>
          </a:solidFill>
          <a:ln w="8952" cap="flat">
            <a:noFill/>
            <a:prstDash val="solid"/>
            <a:miter/>
          </a:ln>
        </p:spPr>
        <p:txBody>
          <a:bodyPr rtlCol="0" anchor="ctr"/>
          <a:lstStyle/>
          <a:p>
            <a:endParaRPr lang="en-US" sz="1050">
              <a:latin typeface="Lato" panose="020F0502020204030203" pitchFamily="34" charset="0"/>
              <a:ea typeface="Lato" panose="020F0502020204030203" pitchFamily="34" charset="0"/>
              <a:cs typeface="Lato" panose="020F0502020204030203" pitchFamily="34" charset="0"/>
            </a:endParaRPr>
          </a:p>
        </p:txBody>
      </p:sp>
      <p:sp>
        <p:nvSpPr>
          <p:cNvPr id="16" name="Freeform: Shape 15">
            <a:extLst>
              <a:ext uri="{FF2B5EF4-FFF2-40B4-BE49-F238E27FC236}">
                <a16:creationId xmlns:a16="http://schemas.microsoft.com/office/drawing/2014/main" id="{51CB6DD0-9D04-2236-C705-92FF010456E4}"/>
              </a:ext>
            </a:extLst>
          </p:cNvPr>
          <p:cNvSpPr/>
          <p:nvPr/>
        </p:nvSpPr>
        <p:spPr>
          <a:xfrm>
            <a:off x="6295153" y="3616423"/>
            <a:ext cx="2567343" cy="2506122"/>
          </a:xfrm>
          <a:custGeom>
            <a:avLst/>
            <a:gdLst>
              <a:gd name="connsiteX0" fmla="*/ 1827595 w 1979677"/>
              <a:gd name="connsiteY0" fmla="*/ 0 h 1979677"/>
              <a:gd name="connsiteX1" fmla="*/ 1979678 w 1979677"/>
              <a:gd name="connsiteY1" fmla="*/ 152083 h 1979677"/>
              <a:gd name="connsiteX2" fmla="*/ 1979678 w 1979677"/>
              <a:gd name="connsiteY2" fmla="*/ 1827594 h 1979677"/>
              <a:gd name="connsiteX3" fmla="*/ 1827595 w 1979677"/>
              <a:gd name="connsiteY3" fmla="*/ 1979677 h 1979677"/>
              <a:gd name="connsiteX4" fmla="*/ 152083 w 1979677"/>
              <a:gd name="connsiteY4" fmla="*/ 1979677 h 1979677"/>
              <a:gd name="connsiteX5" fmla="*/ 0 w 1979677"/>
              <a:gd name="connsiteY5" fmla="*/ 1827594 h 1979677"/>
              <a:gd name="connsiteX6" fmla="*/ 0 w 1979677"/>
              <a:gd name="connsiteY6" fmla="*/ 152083 h 1979677"/>
              <a:gd name="connsiteX7" fmla="*/ 152083 w 1979677"/>
              <a:gd name="connsiteY7" fmla="*/ 0 h 1979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79677" h="1979677">
                <a:moveTo>
                  <a:pt x="1827595" y="0"/>
                </a:moveTo>
                <a:cubicBezTo>
                  <a:pt x="1911588" y="0"/>
                  <a:pt x="1979678" y="68090"/>
                  <a:pt x="1979678" y="152083"/>
                </a:cubicBezTo>
                <a:lnTo>
                  <a:pt x="1979678" y="1827594"/>
                </a:lnTo>
                <a:cubicBezTo>
                  <a:pt x="1979678" y="1911587"/>
                  <a:pt x="1911587" y="1979677"/>
                  <a:pt x="1827595" y="1979677"/>
                </a:cubicBezTo>
                <a:lnTo>
                  <a:pt x="152083" y="1979677"/>
                </a:lnTo>
                <a:cubicBezTo>
                  <a:pt x="68090" y="1979677"/>
                  <a:pt x="0" y="1911587"/>
                  <a:pt x="0" y="1827594"/>
                </a:cubicBezTo>
                <a:lnTo>
                  <a:pt x="0" y="152083"/>
                </a:lnTo>
                <a:cubicBezTo>
                  <a:pt x="0" y="68090"/>
                  <a:pt x="68091" y="0"/>
                  <a:pt x="152083" y="0"/>
                </a:cubicBezTo>
                <a:close/>
              </a:path>
            </a:pathLst>
          </a:custGeom>
          <a:solidFill>
            <a:srgbClr val="FFFFFF"/>
          </a:solidFill>
          <a:ln w="8952" cap="flat">
            <a:solidFill>
              <a:srgbClr val="4EA6E6"/>
            </a:solidFill>
            <a:prstDash val="solid"/>
            <a:miter/>
          </a:ln>
        </p:spPr>
        <p:txBody>
          <a:bodyPr rtlCol="0" anchor="ctr"/>
          <a:lstStyle/>
          <a:p>
            <a:endParaRPr lang="en-US" sz="1050">
              <a:latin typeface="Lato" panose="020F0502020204030203" pitchFamily="34" charset="0"/>
              <a:ea typeface="Lato" panose="020F0502020204030203" pitchFamily="34" charset="0"/>
              <a:cs typeface="Lato" panose="020F0502020204030203" pitchFamily="34" charset="0"/>
            </a:endParaRPr>
          </a:p>
        </p:txBody>
      </p:sp>
      <p:sp>
        <p:nvSpPr>
          <p:cNvPr id="17" name="Freeform: Shape 16">
            <a:extLst>
              <a:ext uri="{FF2B5EF4-FFF2-40B4-BE49-F238E27FC236}">
                <a16:creationId xmlns:a16="http://schemas.microsoft.com/office/drawing/2014/main" id="{CAFA872D-F069-0FDB-CCE6-AA2DADCF64A4}"/>
              </a:ext>
            </a:extLst>
          </p:cNvPr>
          <p:cNvSpPr/>
          <p:nvPr/>
        </p:nvSpPr>
        <p:spPr>
          <a:xfrm>
            <a:off x="9047530" y="3616423"/>
            <a:ext cx="2937640" cy="1142696"/>
          </a:xfrm>
          <a:custGeom>
            <a:avLst/>
            <a:gdLst>
              <a:gd name="connsiteX0" fmla="*/ 226781 w 2265213"/>
              <a:gd name="connsiteY0" fmla="*/ 816752 h 1080792"/>
              <a:gd name="connsiteX1" fmla="*/ 2001173 w 2265213"/>
              <a:gd name="connsiteY1" fmla="*/ 816752 h 1080792"/>
              <a:gd name="connsiteX2" fmla="*/ 2265214 w 2265213"/>
              <a:gd name="connsiteY2" fmla="*/ 1080793 h 1080792"/>
              <a:gd name="connsiteX3" fmla="*/ 2265214 w 2265213"/>
              <a:gd name="connsiteY3" fmla="*/ 185581 h 1080792"/>
              <a:gd name="connsiteX4" fmla="*/ 2079633 w 2265213"/>
              <a:gd name="connsiteY4" fmla="*/ 0 h 1080792"/>
              <a:gd name="connsiteX5" fmla="*/ 185581 w 2265213"/>
              <a:gd name="connsiteY5" fmla="*/ 0 h 1080792"/>
              <a:gd name="connsiteX6" fmla="*/ 0 w 2265213"/>
              <a:gd name="connsiteY6" fmla="*/ 185581 h 1080792"/>
              <a:gd name="connsiteX7" fmla="*/ 0 w 2265213"/>
              <a:gd name="connsiteY7" fmla="*/ 1043444 h 1080792"/>
              <a:gd name="connsiteX8" fmla="*/ 226781 w 2265213"/>
              <a:gd name="connsiteY8" fmla="*/ 816663 h 1080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65213" h="1080792">
                <a:moveTo>
                  <a:pt x="226781" y="816752"/>
                </a:moveTo>
                <a:lnTo>
                  <a:pt x="2001173" y="816752"/>
                </a:lnTo>
                <a:lnTo>
                  <a:pt x="2265214" y="1080793"/>
                </a:lnTo>
                <a:lnTo>
                  <a:pt x="2265214" y="185581"/>
                </a:lnTo>
                <a:cubicBezTo>
                  <a:pt x="2265214" y="83117"/>
                  <a:pt x="2182097" y="0"/>
                  <a:pt x="2079633" y="0"/>
                </a:cubicBezTo>
                <a:lnTo>
                  <a:pt x="185581" y="0"/>
                </a:lnTo>
                <a:cubicBezTo>
                  <a:pt x="83118" y="0"/>
                  <a:pt x="0" y="83117"/>
                  <a:pt x="0" y="185581"/>
                </a:cubicBezTo>
                <a:lnTo>
                  <a:pt x="0" y="1043444"/>
                </a:lnTo>
                <a:lnTo>
                  <a:pt x="226781" y="816663"/>
                </a:lnTo>
                <a:close/>
              </a:path>
            </a:pathLst>
          </a:custGeom>
          <a:solidFill>
            <a:srgbClr val="0070C0"/>
          </a:solidFill>
          <a:ln w="8952" cap="flat">
            <a:noFill/>
            <a:prstDash val="solid"/>
            <a:miter/>
          </a:ln>
        </p:spPr>
        <p:txBody>
          <a:bodyPr rtlCol="0" anchor="ctr"/>
          <a:lstStyle/>
          <a:p>
            <a:endParaRPr lang="en-US" sz="1050">
              <a:latin typeface="Lato" panose="020F0502020204030203" pitchFamily="34" charset="0"/>
              <a:ea typeface="Lato" panose="020F0502020204030203" pitchFamily="34" charset="0"/>
              <a:cs typeface="Lato" panose="020F0502020204030203" pitchFamily="34" charset="0"/>
            </a:endParaRPr>
          </a:p>
        </p:txBody>
      </p:sp>
      <p:sp>
        <p:nvSpPr>
          <p:cNvPr id="18" name="Freeform: Shape 17">
            <a:extLst>
              <a:ext uri="{FF2B5EF4-FFF2-40B4-BE49-F238E27FC236}">
                <a16:creationId xmlns:a16="http://schemas.microsoft.com/office/drawing/2014/main" id="{737DD123-D731-A9A8-EB94-679A573EE181}"/>
              </a:ext>
            </a:extLst>
          </p:cNvPr>
          <p:cNvSpPr/>
          <p:nvPr/>
        </p:nvSpPr>
        <p:spPr>
          <a:xfrm rot="10800000">
            <a:off x="9232676" y="3695030"/>
            <a:ext cx="2567343" cy="2489539"/>
          </a:xfrm>
          <a:custGeom>
            <a:avLst/>
            <a:gdLst>
              <a:gd name="connsiteX0" fmla="*/ 1827594 w 1979677"/>
              <a:gd name="connsiteY0" fmla="*/ 0 h 1979677"/>
              <a:gd name="connsiteX1" fmla="*/ 1979677 w 1979677"/>
              <a:gd name="connsiteY1" fmla="*/ 152083 h 1979677"/>
              <a:gd name="connsiteX2" fmla="*/ 1979677 w 1979677"/>
              <a:gd name="connsiteY2" fmla="*/ 1827594 h 1979677"/>
              <a:gd name="connsiteX3" fmla="*/ 1827594 w 1979677"/>
              <a:gd name="connsiteY3" fmla="*/ 1979677 h 1979677"/>
              <a:gd name="connsiteX4" fmla="*/ 152083 w 1979677"/>
              <a:gd name="connsiteY4" fmla="*/ 1979677 h 1979677"/>
              <a:gd name="connsiteX5" fmla="*/ 0 w 1979677"/>
              <a:gd name="connsiteY5" fmla="*/ 1827594 h 1979677"/>
              <a:gd name="connsiteX6" fmla="*/ 0 w 1979677"/>
              <a:gd name="connsiteY6" fmla="*/ 152083 h 1979677"/>
              <a:gd name="connsiteX7" fmla="*/ 152083 w 1979677"/>
              <a:gd name="connsiteY7" fmla="*/ 0 h 1979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79677" h="1979677">
                <a:moveTo>
                  <a:pt x="1827594" y="0"/>
                </a:moveTo>
                <a:cubicBezTo>
                  <a:pt x="1911588" y="0"/>
                  <a:pt x="1979677" y="68090"/>
                  <a:pt x="1979677" y="152083"/>
                </a:cubicBezTo>
                <a:lnTo>
                  <a:pt x="1979677" y="1827594"/>
                </a:lnTo>
                <a:cubicBezTo>
                  <a:pt x="1979677" y="1911588"/>
                  <a:pt x="1911587" y="1979677"/>
                  <a:pt x="1827594" y="1979677"/>
                </a:cubicBezTo>
                <a:lnTo>
                  <a:pt x="152083" y="1979677"/>
                </a:lnTo>
                <a:cubicBezTo>
                  <a:pt x="68090" y="1979677"/>
                  <a:pt x="0" y="1911588"/>
                  <a:pt x="0" y="1827594"/>
                </a:cubicBezTo>
                <a:lnTo>
                  <a:pt x="0" y="152083"/>
                </a:lnTo>
                <a:cubicBezTo>
                  <a:pt x="0" y="68090"/>
                  <a:pt x="68090" y="0"/>
                  <a:pt x="152083" y="0"/>
                </a:cubicBezTo>
                <a:close/>
              </a:path>
            </a:pathLst>
          </a:custGeom>
          <a:solidFill>
            <a:srgbClr val="FFFFFF"/>
          </a:solidFill>
          <a:ln w="8952" cap="flat">
            <a:solidFill>
              <a:srgbClr val="1F69B3"/>
            </a:solidFill>
            <a:prstDash val="solid"/>
            <a:miter/>
          </a:ln>
        </p:spPr>
        <p:txBody>
          <a:bodyPr rtlCol="0" anchor="ctr"/>
          <a:lstStyle/>
          <a:p>
            <a:endParaRPr lang="en-US" sz="1050">
              <a:latin typeface="Lato" panose="020F0502020204030203" pitchFamily="34" charset="0"/>
              <a:ea typeface="Lato" panose="020F0502020204030203" pitchFamily="34" charset="0"/>
              <a:cs typeface="Lato" panose="020F0502020204030203" pitchFamily="34" charset="0"/>
            </a:endParaRPr>
          </a:p>
        </p:txBody>
      </p:sp>
      <p:sp>
        <p:nvSpPr>
          <p:cNvPr id="19" name="TextBox 18">
            <a:extLst>
              <a:ext uri="{FF2B5EF4-FFF2-40B4-BE49-F238E27FC236}">
                <a16:creationId xmlns:a16="http://schemas.microsoft.com/office/drawing/2014/main" id="{D3054ECC-BDC9-BC72-E262-6AC056D20639}"/>
              </a:ext>
            </a:extLst>
          </p:cNvPr>
          <p:cNvSpPr txBox="1"/>
          <p:nvPr/>
        </p:nvSpPr>
        <p:spPr>
          <a:xfrm>
            <a:off x="400650" y="3945313"/>
            <a:ext cx="2641037" cy="1862048"/>
          </a:xfrm>
          <a:prstGeom prst="rect">
            <a:avLst/>
          </a:prstGeom>
          <a:noFill/>
        </p:spPr>
        <p:txBody>
          <a:bodyPr wrap="square" rtlCol="0">
            <a:spAutoFit/>
          </a:bodyPr>
          <a:lstStyle/>
          <a:p>
            <a:pPr marL="285750" indent="-285750">
              <a:spcBef>
                <a:spcPts val="600"/>
              </a:spcBef>
              <a:buBlip>
                <a:blip r:embed="rId3"/>
              </a:buBlip>
            </a:pPr>
            <a:r>
              <a:rPr lang="en-US" sz="1050">
                <a:latin typeface="Lato" panose="020F0502020204030203" pitchFamily="34" charset="0"/>
                <a:ea typeface="Lato" panose="020F0502020204030203" pitchFamily="34" charset="0"/>
                <a:cs typeface="Lato" panose="020F0502020204030203" pitchFamily="34" charset="0"/>
              </a:rPr>
              <a:t>Hands-on experience delivering capacity-based, long-running PODs for large enterprise platforms.</a:t>
            </a:r>
          </a:p>
          <a:p>
            <a:pPr marL="285750" indent="-285750">
              <a:spcBef>
                <a:spcPts val="600"/>
              </a:spcBef>
              <a:buBlip>
                <a:blip r:embed="rId3"/>
              </a:buBlip>
            </a:pPr>
            <a:r>
              <a:rPr lang="en-US" sz="1050">
                <a:latin typeface="Lato" panose="020F0502020204030203" pitchFamily="34" charset="0"/>
                <a:ea typeface="Lato" panose="020F0502020204030203" pitchFamily="34" charset="0"/>
                <a:cs typeface="Lato" panose="020F0502020204030203" pitchFamily="34" charset="0"/>
              </a:rPr>
              <a:t>Established POD operating models covering engineering, QA, DevOps, including  AI/GenAI roles</a:t>
            </a:r>
          </a:p>
          <a:p>
            <a:pPr marL="285750" indent="-285750">
              <a:spcBef>
                <a:spcPts val="600"/>
              </a:spcBef>
              <a:buBlip>
                <a:blip r:embed="rId3"/>
              </a:buBlip>
            </a:pPr>
            <a:r>
              <a:rPr lang="en-US" sz="1050">
                <a:latin typeface="Lato" panose="020F0502020204030203" pitchFamily="34" charset="0"/>
                <a:ea typeface="Lato" panose="020F0502020204030203" pitchFamily="34" charset="0"/>
                <a:cs typeface="Lato" panose="020F0502020204030203" pitchFamily="34" charset="0"/>
              </a:rPr>
              <a:t>Demonstrated ability to sustain stable velocity and predictable outcomes across multi-quarter engagements</a:t>
            </a:r>
          </a:p>
        </p:txBody>
      </p:sp>
      <p:sp>
        <p:nvSpPr>
          <p:cNvPr id="20" name="TextBox 19">
            <a:extLst>
              <a:ext uri="{FF2B5EF4-FFF2-40B4-BE49-F238E27FC236}">
                <a16:creationId xmlns:a16="http://schemas.microsoft.com/office/drawing/2014/main" id="{8AE16806-8F77-6C51-092D-787BECDCD68C}"/>
              </a:ext>
            </a:extLst>
          </p:cNvPr>
          <p:cNvSpPr txBox="1"/>
          <p:nvPr/>
        </p:nvSpPr>
        <p:spPr>
          <a:xfrm>
            <a:off x="3419710" y="3945313"/>
            <a:ext cx="2463490" cy="1862048"/>
          </a:xfrm>
          <a:prstGeom prst="rect">
            <a:avLst/>
          </a:prstGeom>
          <a:noFill/>
        </p:spPr>
        <p:txBody>
          <a:bodyPr wrap="square" rtlCol="0">
            <a:spAutoFit/>
          </a:bodyPr>
          <a:lstStyle/>
          <a:p>
            <a:pPr marL="285750" indent="-285750">
              <a:spcBef>
                <a:spcPts val="600"/>
              </a:spcBef>
              <a:buBlip>
                <a:blip r:embed="rId3"/>
              </a:buBlip>
            </a:pPr>
            <a:r>
              <a:rPr lang="en-US" sz="1050">
                <a:latin typeface="Lato" panose="020F0502020204030203" pitchFamily="34" charset="0"/>
                <a:ea typeface="Lato" panose="020F0502020204030203" pitchFamily="34" charset="0"/>
                <a:cs typeface="Lato" panose="020F0502020204030203" pitchFamily="34" charset="0"/>
              </a:rPr>
              <a:t>Ready-to-deploy POD resources aligned to Daikin technology stacks and delivery practices.</a:t>
            </a:r>
          </a:p>
          <a:p>
            <a:pPr marL="285750" indent="-285750">
              <a:spcBef>
                <a:spcPts val="600"/>
              </a:spcBef>
              <a:buBlip>
                <a:blip r:embed="rId3"/>
              </a:buBlip>
            </a:pPr>
            <a:r>
              <a:rPr lang="en-US" sz="1050">
                <a:latin typeface="Lato" panose="020F0502020204030203" pitchFamily="34" charset="0"/>
                <a:ea typeface="Lato" panose="020F0502020204030203" pitchFamily="34" charset="0"/>
                <a:cs typeface="Lato" panose="020F0502020204030203" pitchFamily="34" charset="0"/>
              </a:rPr>
              <a:t>Structured onboarding enabling fully operational PODs within 30 days.</a:t>
            </a:r>
          </a:p>
          <a:p>
            <a:pPr marL="285750" indent="-285750">
              <a:spcBef>
                <a:spcPts val="600"/>
              </a:spcBef>
              <a:buBlip>
                <a:blip r:embed="rId3"/>
              </a:buBlip>
            </a:pPr>
            <a:r>
              <a:rPr lang="en-US" sz="1050">
                <a:latin typeface="Lato" panose="020F0502020204030203" pitchFamily="34" charset="0"/>
                <a:ea typeface="Lato" panose="020F0502020204030203" pitchFamily="34" charset="0"/>
                <a:cs typeface="Lato" panose="020F0502020204030203" pitchFamily="34" charset="0"/>
              </a:rPr>
              <a:t>Proven ramp-up approach with pre-aligned role definitions, skill matrices, and shadow-ready resources.</a:t>
            </a:r>
          </a:p>
        </p:txBody>
      </p:sp>
      <p:sp>
        <p:nvSpPr>
          <p:cNvPr id="21" name="TextBox 20">
            <a:extLst>
              <a:ext uri="{FF2B5EF4-FFF2-40B4-BE49-F238E27FC236}">
                <a16:creationId xmlns:a16="http://schemas.microsoft.com/office/drawing/2014/main" id="{53268816-53F0-6841-F77F-9A281F7BADA8}"/>
              </a:ext>
            </a:extLst>
          </p:cNvPr>
          <p:cNvSpPr txBox="1"/>
          <p:nvPr/>
        </p:nvSpPr>
        <p:spPr>
          <a:xfrm>
            <a:off x="6345183" y="3945313"/>
            <a:ext cx="2463490" cy="1138773"/>
          </a:xfrm>
          <a:prstGeom prst="rect">
            <a:avLst/>
          </a:prstGeom>
          <a:noFill/>
        </p:spPr>
        <p:txBody>
          <a:bodyPr wrap="square" rtlCol="0">
            <a:spAutoFit/>
          </a:bodyPr>
          <a:lstStyle/>
          <a:p>
            <a:pPr marL="285750" indent="-285750">
              <a:spcBef>
                <a:spcPts val="600"/>
              </a:spcBef>
              <a:buBlip>
                <a:blip r:embed="rId3"/>
              </a:buBlip>
            </a:pPr>
            <a:r>
              <a:rPr lang="en-US" sz="1050">
                <a:latin typeface="Lato" panose="020F0502020204030203" pitchFamily="34" charset="0"/>
                <a:ea typeface="Lato" panose="020F0502020204030203" pitchFamily="34" charset="0"/>
                <a:cs typeface="Lato" panose="020F0502020204030203" pitchFamily="34" charset="0"/>
              </a:rPr>
              <a:t>Agile delivery aligned to Daikin cadence, sprint rituals, and release cycles.</a:t>
            </a:r>
          </a:p>
          <a:p>
            <a:pPr marL="285750" indent="-285750">
              <a:spcBef>
                <a:spcPts val="600"/>
              </a:spcBef>
              <a:buBlip>
                <a:blip r:embed="rId3"/>
              </a:buBlip>
            </a:pPr>
            <a:r>
              <a:rPr lang="en-US" sz="1050">
                <a:latin typeface="Lato" panose="020F0502020204030203" pitchFamily="34" charset="0"/>
                <a:ea typeface="Lato" panose="020F0502020204030203" pitchFamily="34" charset="0"/>
                <a:cs typeface="Lato" panose="020F0502020204030203" pitchFamily="34" charset="0"/>
              </a:rPr>
              <a:t>Transparent reporting on velocity, quality, utilization, and delivery health.</a:t>
            </a:r>
          </a:p>
        </p:txBody>
      </p:sp>
      <p:sp>
        <p:nvSpPr>
          <p:cNvPr id="22" name="TextBox 21">
            <a:extLst>
              <a:ext uri="{FF2B5EF4-FFF2-40B4-BE49-F238E27FC236}">
                <a16:creationId xmlns:a16="http://schemas.microsoft.com/office/drawing/2014/main" id="{3FADD833-C4DF-FE66-5B82-A16E6BA52308}"/>
              </a:ext>
            </a:extLst>
          </p:cNvPr>
          <p:cNvSpPr txBox="1"/>
          <p:nvPr/>
        </p:nvSpPr>
        <p:spPr>
          <a:xfrm>
            <a:off x="9280802" y="3945313"/>
            <a:ext cx="2463490" cy="1862048"/>
          </a:xfrm>
          <a:prstGeom prst="rect">
            <a:avLst/>
          </a:prstGeom>
          <a:noFill/>
        </p:spPr>
        <p:txBody>
          <a:bodyPr wrap="square" rtlCol="0">
            <a:spAutoFit/>
          </a:bodyPr>
          <a:lstStyle/>
          <a:p>
            <a:pPr marL="285750" indent="-285750">
              <a:spcBef>
                <a:spcPts val="600"/>
              </a:spcBef>
              <a:buBlip>
                <a:blip r:embed="rId3"/>
              </a:buBlip>
            </a:pPr>
            <a:r>
              <a:rPr lang="en-US" sz="1050">
                <a:latin typeface="Lato" panose="020F0502020204030203" pitchFamily="34" charset="0"/>
                <a:ea typeface="Lato" panose="020F0502020204030203" pitchFamily="34" charset="0"/>
                <a:cs typeface="Lato" panose="020F0502020204030203" pitchFamily="34" charset="0"/>
              </a:rPr>
              <a:t>Ability to scale POD capacity up or down based on program demand.</a:t>
            </a:r>
          </a:p>
          <a:p>
            <a:pPr marL="285750" indent="-285750">
              <a:spcBef>
                <a:spcPts val="600"/>
              </a:spcBef>
              <a:buBlip>
                <a:blip r:embed="rId3"/>
              </a:buBlip>
            </a:pPr>
            <a:r>
              <a:rPr lang="en-US" sz="1050">
                <a:latin typeface="Lato" panose="020F0502020204030203" pitchFamily="34" charset="0"/>
                <a:ea typeface="Lato" panose="020F0502020204030203" pitchFamily="34" charset="0"/>
                <a:cs typeface="Lato" panose="020F0502020204030203" pitchFamily="34" charset="0"/>
              </a:rPr>
              <a:t>Flexible delivery models across offshore, hybrid, and onsite (as required).</a:t>
            </a:r>
          </a:p>
          <a:p>
            <a:pPr marL="285750" indent="-285750">
              <a:spcBef>
                <a:spcPts val="600"/>
              </a:spcBef>
              <a:buBlip>
                <a:blip r:embed="rId3"/>
              </a:buBlip>
            </a:pPr>
            <a:r>
              <a:rPr lang="en-US" sz="1050">
                <a:latin typeface="Lato" panose="020F0502020204030203" pitchFamily="34" charset="0"/>
                <a:ea typeface="Lato" panose="020F0502020204030203" pitchFamily="34" charset="0"/>
                <a:cs typeface="Lato" panose="020F0502020204030203" pitchFamily="34" charset="0"/>
              </a:rPr>
              <a:t>Innominds maintains a readily available pool of Daikin-relevant skilled professionals, enabling immediate POD formation.</a:t>
            </a:r>
          </a:p>
        </p:txBody>
      </p:sp>
      <p:sp>
        <p:nvSpPr>
          <p:cNvPr id="23" name="TextBox 22">
            <a:extLst>
              <a:ext uri="{FF2B5EF4-FFF2-40B4-BE49-F238E27FC236}">
                <a16:creationId xmlns:a16="http://schemas.microsoft.com/office/drawing/2014/main" id="{D73217D7-06BC-3BC1-AAD7-5C92ADC84378}"/>
              </a:ext>
            </a:extLst>
          </p:cNvPr>
          <p:cNvSpPr txBox="1"/>
          <p:nvPr/>
        </p:nvSpPr>
        <p:spPr>
          <a:xfrm>
            <a:off x="489424" y="3695031"/>
            <a:ext cx="2463490" cy="253916"/>
          </a:xfrm>
          <a:prstGeom prst="rect">
            <a:avLst/>
          </a:prstGeom>
          <a:noFill/>
        </p:spPr>
        <p:txBody>
          <a:bodyPr wrap="square" rtlCol="0">
            <a:spAutoFit/>
          </a:bodyPr>
          <a:lstStyle/>
          <a:p>
            <a:pPr algn="ctr">
              <a:spcBef>
                <a:spcPts val="600"/>
              </a:spcBef>
            </a:pPr>
            <a:r>
              <a:rPr lang="en-US" sz="1050" b="1">
                <a:solidFill>
                  <a:srgbClr val="0070C0"/>
                </a:solidFill>
                <a:latin typeface="Lato" panose="020F0502020204030203" pitchFamily="34" charset="0"/>
                <a:ea typeface="Lato" panose="020F0502020204030203" pitchFamily="34" charset="0"/>
                <a:cs typeface="Lato" panose="020F0502020204030203" pitchFamily="34" charset="0"/>
              </a:rPr>
              <a:t>Proven Expertise</a:t>
            </a:r>
          </a:p>
        </p:txBody>
      </p:sp>
      <p:sp>
        <p:nvSpPr>
          <p:cNvPr id="24" name="TextBox 23">
            <a:extLst>
              <a:ext uri="{FF2B5EF4-FFF2-40B4-BE49-F238E27FC236}">
                <a16:creationId xmlns:a16="http://schemas.microsoft.com/office/drawing/2014/main" id="{1BB82EEF-63B0-88F8-0C0C-4A985AE1E7CF}"/>
              </a:ext>
            </a:extLst>
          </p:cNvPr>
          <p:cNvSpPr txBox="1"/>
          <p:nvPr/>
        </p:nvSpPr>
        <p:spPr>
          <a:xfrm>
            <a:off x="3415459" y="3695031"/>
            <a:ext cx="2463490" cy="253916"/>
          </a:xfrm>
          <a:prstGeom prst="rect">
            <a:avLst/>
          </a:prstGeom>
          <a:noFill/>
        </p:spPr>
        <p:txBody>
          <a:bodyPr wrap="square" rtlCol="0">
            <a:spAutoFit/>
          </a:bodyPr>
          <a:lstStyle/>
          <a:p>
            <a:pPr algn="ctr">
              <a:spcBef>
                <a:spcPts val="600"/>
              </a:spcBef>
            </a:pPr>
            <a:r>
              <a:rPr lang="en-US" sz="1050" b="1">
                <a:solidFill>
                  <a:srgbClr val="0070C0"/>
                </a:solidFill>
                <a:latin typeface="Lato" panose="020F0502020204030203" pitchFamily="34" charset="0"/>
                <a:ea typeface="Lato" panose="020F0502020204030203" pitchFamily="34" charset="0"/>
                <a:cs typeface="Lato" panose="020F0502020204030203" pitchFamily="34" charset="0"/>
              </a:rPr>
              <a:t>Rapid Ramp-Up</a:t>
            </a:r>
          </a:p>
        </p:txBody>
      </p:sp>
      <p:sp>
        <p:nvSpPr>
          <p:cNvPr id="25" name="TextBox 24">
            <a:extLst>
              <a:ext uri="{FF2B5EF4-FFF2-40B4-BE49-F238E27FC236}">
                <a16:creationId xmlns:a16="http://schemas.microsoft.com/office/drawing/2014/main" id="{E6AFD791-94C6-2C54-E83F-16704C803D6A}"/>
              </a:ext>
            </a:extLst>
          </p:cNvPr>
          <p:cNvSpPr txBox="1"/>
          <p:nvPr/>
        </p:nvSpPr>
        <p:spPr>
          <a:xfrm>
            <a:off x="6345183" y="3695031"/>
            <a:ext cx="2463490" cy="253916"/>
          </a:xfrm>
          <a:prstGeom prst="rect">
            <a:avLst/>
          </a:prstGeom>
          <a:noFill/>
        </p:spPr>
        <p:txBody>
          <a:bodyPr wrap="square" rtlCol="0">
            <a:spAutoFit/>
          </a:bodyPr>
          <a:lstStyle/>
          <a:p>
            <a:pPr algn="ctr">
              <a:spcBef>
                <a:spcPts val="600"/>
              </a:spcBef>
            </a:pPr>
            <a:r>
              <a:rPr lang="en-US" sz="1050" b="1">
                <a:solidFill>
                  <a:srgbClr val="0070C0"/>
                </a:solidFill>
                <a:latin typeface="Lato" panose="020F0502020204030203" pitchFamily="34" charset="0"/>
                <a:ea typeface="Lato" panose="020F0502020204030203" pitchFamily="34" charset="0"/>
                <a:cs typeface="Lato" panose="020F0502020204030203" pitchFamily="34" charset="0"/>
              </a:rPr>
              <a:t>Delivery &amp; Governance</a:t>
            </a:r>
          </a:p>
        </p:txBody>
      </p:sp>
      <p:sp>
        <p:nvSpPr>
          <p:cNvPr id="26" name="TextBox 25">
            <a:extLst>
              <a:ext uri="{FF2B5EF4-FFF2-40B4-BE49-F238E27FC236}">
                <a16:creationId xmlns:a16="http://schemas.microsoft.com/office/drawing/2014/main" id="{8DEFA9D0-2C23-B820-CCC6-9E0DE2ADAE8E}"/>
              </a:ext>
            </a:extLst>
          </p:cNvPr>
          <p:cNvSpPr txBox="1"/>
          <p:nvPr/>
        </p:nvSpPr>
        <p:spPr>
          <a:xfrm>
            <a:off x="9292462" y="3695031"/>
            <a:ext cx="2463490" cy="253916"/>
          </a:xfrm>
          <a:prstGeom prst="rect">
            <a:avLst/>
          </a:prstGeom>
          <a:noFill/>
        </p:spPr>
        <p:txBody>
          <a:bodyPr wrap="square" rtlCol="0">
            <a:spAutoFit/>
          </a:bodyPr>
          <a:lstStyle/>
          <a:p>
            <a:pPr algn="ctr">
              <a:spcBef>
                <a:spcPts val="600"/>
              </a:spcBef>
            </a:pPr>
            <a:r>
              <a:rPr lang="en-US" sz="1050" b="1">
                <a:solidFill>
                  <a:srgbClr val="0070C0"/>
                </a:solidFill>
                <a:latin typeface="Lato" panose="020F0502020204030203" pitchFamily="34" charset="0"/>
                <a:ea typeface="Lato" panose="020F0502020204030203" pitchFamily="34" charset="0"/>
                <a:cs typeface="Lato" panose="020F0502020204030203" pitchFamily="34" charset="0"/>
              </a:rPr>
              <a:t>Scalable Engagement</a:t>
            </a:r>
          </a:p>
        </p:txBody>
      </p:sp>
      <p:grpSp>
        <p:nvGrpSpPr>
          <p:cNvPr id="27" name="Group 26">
            <a:extLst>
              <a:ext uri="{FF2B5EF4-FFF2-40B4-BE49-F238E27FC236}">
                <a16:creationId xmlns:a16="http://schemas.microsoft.com/office/drawing/2014/main" id="{9B3C6F61-C899-878A-1B8D-03BA6B5FE3A6}"/>
              </a:ext>
            </a:extLst>
          </p:cNvPr>
          <p:cNvGrpSpPr/>
          <p:nvPr/>
        </p:nvGrpSpPr>
        <p:grpSpPr>
          <a:xfrm>
            <a:off x="1364431" y="6104865"/>
            <a:ext cx="9501602" cy="692362"/>
            <a:chOff x="1364431" y="6104865"/>
            <a:chExt cx="9501602" cy="692362"/>
          </a:xfrm>
        </p:grpSpPr>
        <p:sp>
          <p:nvSpPr>
            <p:cNvPr id="28" name="Freeform: Shape 27">
              <a:extLst>
                <a:ext uri="{FF2B5EF4-FFF2-40B4-BE49-F238E27FC236}">
                  <a16:creationId xmlns:a16="http://schemas.microsoft.com/office/drawing/2014/main" id="{9A747991-0A98-D8E5-3D9E-888B5756692A}"/>
                </a:ext>
              </a:extLst>
            </p:cNvPr>
            <p:cNvSpPr/>
            <p:nvPr/>
          </p:nvSpPr>
          <p:spPr>
            <a:xfrm>
              <a:off x="1364431" y="6104866"/>
              <a:ext cx="699248" cy="692361"/>
            </a:xfrm>
            <a:custGeom>
              <a:avLst/>
              <a:gdLst>
                <a:gd name="connsiteX0" fmla="*/ 863058 w 863058"/>
                <a:gd name="connsiteY0" fmla="*/ 431529 h 863057"/>
                <a:gd name="connsiteX1" fmla="*/ 431529 w 863058"/>
                <a:gd name="connsiteY1" fmla="*/ 863058 h 863057"/>
                <a:gd name="connsiteX2" fmla="*/ 0 w 863058"/>
                <a:gd name="connsiteY2" fmla="*/ 431529 h 863057"/>
                <a:gd name="connsiteX3" fmla="*/ 431529 w 863058"/>
                <a:gd name="connsiteY3" fmla="*/ 0 h 863057"/>
                <a:gd name="connsiteX4" fmla="*/ 863058 w 863058"/>
                <a:gd name="connsiteY4" fmla="*/ 431529 h 863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058" h="863057">
                  <a:moveTo>
                    <a:pt x="863058" y="431529"/>
                  </a:moveTo>
                  <a:cubicBezTo>
                    <a:pt x="863058" y="669856"/>
                    <a:pt x="669856" y="863058"/>
                    <a:pt x="431529" y="863058"/>
                  </a:cubicBezTo>
                  <a:cubicBezTo>
                    <a:pt x="193202" y="863058"/>
                    <a:pt x="0" y="669856"/>
                    <a:pt x="0" y="431529"/>
                  </a:cubicBezTo>
                  <a:cubicBezTo>
                    <a:pt x="0" y="193202"/>
                    <a:pt x="193202" y="0"/>
                    <a:pt x="431529" y="0"/>
                  </a:cubicBezTo>
                  <a:cubicBezTo>
                    <a:pt x="669856" y="0"/>
                    <a:pt x="863058" y="193202"/>
                    <a:pt x="863058" y="431529"/>
                  </a:cubicBezTo>
                  <a:close/>
                </a:path>
              </a:pathLst>
            </a:custGeom>
            <a:solidFill>
              <a:srgbClr val="00B0F0"/>
            </a:solidFill>
            <a:ln w="8952" cap="flat">
              <a:noFill/>
              <a:prstDash val="solid"/>
              <a:miter/>
            </a:ln>
          </p:spPr>
          <p:txBody>
            <a:bodyPr rtlCol="0" anchor="ctr"/>
            <a:lstStyle/>
            <a:p>
              <a:endParaRPr lang="en-US" sz="1050">
                <a:latin typeface="Lato" panose="020F0502020204030203" pitchFamily="34" charset="0"/>
                <a:ea typeface="Lato" panose="020F0502020204030203" pitchFamily="34" charset="0"/>
                <a:cs typeface="Lato" panose="020F0502020204030203" pitchFamily="34" charset="0"/>
              </a:endParaRPr>
            </a:p>
          </p:txBody>
        </p:sp>
        <p:sp>
          <p:nvSpPr>
            <p:cNvPr id="29" name="Freeform: Shape 28">
              <a:extLst>
                <a:ext uri="{FF2B5EF4-FFF2-40B4-BE49-F238E27FC236}">
                  <a16:creationId xmlns:a16="http://schemas.microsoft.com/office/drawing/2014/main" id="{BF0178B0-37B2-C55A-0B74-DB526B315CA2}"/>
                </a:ext>
              </a:extLst>
            </p:cNvPr>
            <p:cNvSpPr/>
            <p:nvPr/>
          </p:nvSpPr>
          <p:spPr>
            <a:xfrm>
              <a:off x="4296264" y="6104866"/>
              <a:ext cx="699248" cy="692361"/>
            </a:xfrm>
            <a:custGeom>
              <a:avLst/>
              <a:gdLst>
                <a:gd name="connsiteX0" fmla="*/ 863058 w 863058"/>
                <a:gd name="connsiteY0" fmla="*/ 431529 h 863057"/>
                <a:gd name="connsiteX1" fmla="*/ 431529 w 863058"/>
                <a:gd name="connsiteY1" fmla="*/ 863058 h 863057"/>
                <a:gd name="connsiteX2" fmla="*/ 0 w 863058"/>
                <a:gd name="connsiteY2" fmla="*/ 431529 h 863057"/>
                <a:gd name="connsiteX3" fmla="*/ 431529 w 863058"/>
                <a:gd name="connsiteY3" fmla="*/ 0 h 863057"/>
                <a:gd name="connsiteX4" fmla="*/ 863058 w 863058"/>
                <a:gd name="connsiteY4" fmla="*/ 431529 h 863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058" h="863057">
                  <a:moveTo>
                    <a:pt x="863058" y="431529"/>
                  </a:moveTo>
                  <a:cubicBezTo>
                    <a:pt x="863058" y="669856"/>
                    <a:pt x="669856" y="863058"/>
                    <a:pt x="431529" y="863058"/>
                  </a:cubicBezTo>
                  <a:cubicBezTo>
                    <a:pt x="193202" y="863058"/>
                    <a:pt x="0" y="669856"/>
                    <a:pt x="0" y="431529"/>
                  </a:cubicBezTo>
                  <a:cubicBezTo>
                    <a:pt x="0" y="193202"/>
                    <a:pt x="193202" y="0"/>
                    <a:pt x="431529" y="0"/>
                  </a:cubicBezTo>
                  <a:cubicBezTo>
                    <a:pt x="669856" y="0"/>
                    <a:pt x="863058" y="193202"/>
                    <a:pt x="863058" y="431529"/>
                  </a:cubicBezTo>
                  <a:close/>
                </a:path>
              </a:pathLst>
            </a:custGeom>
            <a:solidFill>
              <a:srgbClr val="0070C0"/>
            </a:solidFill>
            <a:ln w="8952" cap="flat">
              <a:noFill/>
              <a:prstDash val="solid"/>
              <a:miter/>
            </a:ln>
          </p:spPr>
          <p:txBody>
            <a:bodyPr rtlCol="0" anchor="ctr"/>
            <a:lstStyle/>
            <a:p>
              <a:endParaRPr lang="en-US" sz="1050">
                <a:latin typeface="Lato" panose="020F0502020204030203" pitchFamily="34" charset="0"/>
                <a:ea typeface="Lato" panose="020F0502020204030203" pitchFamily="34" charset="0"/>
                <a:cs typeface="Lato" panose="020F0502020204030203" pitchFamily="34" charset="0"/>
              </a:endParaRPr>
            </a:p>
          </p:txBody>
        </p:sp>
        <p:sp>
          <p:nvSpPr>
            <p:cNvPr id="30" name="Freeform: Shape 29">
              <a:extLst>
                <a:ext uri="{FF2B5EF4-FFF2-40B4-BE49-F238E27FC236}">
                  <a16:creationId xmlns:a16="http://schemas.microsoft.com/office/drawing/2014/main" id="{001B7407-3266-090F-AFDF-6FA109B3A53C}"/>
                </a:ext>
              </a:extLst>
            </p:cNvPr>
            <p:cNvSpPr/>
            <p:nvPr/>
          </p:nvSpPr>
          <p:spPr>
            <a:xfrm>
              <a:off x="10166785" y="6104866"/>
              <a:ext cx="699248" cy="692361"/>
            </a:xfrm>
            <a:custGeom>
              <a:avLst/>
              <a:gdLst>
                <a:gd name="connsiteX0" fmla="*/ 863058 w 863058"/>
                <a:gd name="connsiteY0" fmla="*/ 431529 h 863057"/>
                <a:gd name="connsiteX1" fmla="*/ 431529 w 863058"/>
                <a:gd name="connsiteY1" fmla="*/ 863058 h 863057"/>
                <a:gd name="connsiteX2" fmla="*/ 0 w 863058"/>
                <a:gd name="connsiteY2" fmla="*/ 431529 h 863057"/>
                <a:gd name="connsiteX3" fmla="*/ 431529 w 863058"/>
                <a:gd name="connsiteY3" fmla="*/ 0 h 863057"/>
                <a:gd name="connsiteX4" fmla="*/ 863058 w 863058"/>
                <a:gd name="connsiteY4" fmla="*/ 431529 h 863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058" h="863057">
                  <a:moveTo>
                    <a:pt x="863058" y="431529"/>
                  </a:moveTo>
                  <a:cubicBezTo>
                    <a:pt x="863058" y="669856"/>
                    <a:pt x="669856" y="863058"/>
                    <a:pt x="431529" y="863058"/>
                  </a:cubicBezTo>
                  <a:cubicBezTo>
                    <a:pt x="193202" y="863058"/>
                    <a:pt x="0" y="669856"/>
                    <a:pt x="0" y="431529"/>
                  </a:cubicBezTo>
                  <a:cubicBezTo>
                    <a:pt x="0" y="193202"/>
                    <a:pt x="193202" y="0"/>
                    <a:pt x="431529" y="0"/>
                  </a:cubicBezTo>
                  <a:cubicBezTo>
                    <a:pt x="669856" y="0"/>
                    <a:pt x="863058" y="193202"/>
                    <a:pt x="863058" y="431529"/>
                  </a:cubicBezTo>
                  <a:close/>
                </a:path>
              </a:pathLst>
            </a:custGeom>
            <a:solidFill>
              <a:srgbClr val="0070C0"/>
            </a:solidFill>
            <a:ln w="8952" cap="flat">
              <a:noFill/>
              <a:prstDash val="solid"/>
              <a:miter/>
            </a:ln>
          </p:spPr>
          <p:txBody>
            <a:bodyPr rtlCol="0" anchor="ctr"/>
            <a:lstStyle/>
            <a:p>
              <a:endParaRPr lang="en-US" sz="1050">
                <a:latin typeface="Lato" panose="020F0502020204030203" pitchFamily="34" charset="0"/>
                <a:ea typeface="Lato" panose="020F0502020204030203" pitchFamily="34" charset="0"/>
                <a:cs typeface="Lato" panose="020F0502020204030203" pitchFamily="34" charset="0"/>
              </a:endParaRPr>
            </a:p>
          </p:txBody>
        </p:sp>
        <p:sp>
          <p:nvSpPr>
            <p:cNvPr id="31" name="Freeform: Shape 30">
              <a:extLst>
                <a:ext uri="{FF2B5EF4-FFF2-40B4-BE49-F238E27FC236}">
                  <a16:creationId xmlns:a16="http://schemas.microsoft.com/office/drawing/2014/main" id="{04EAEA29-3388-5E89-7D78-708961802DB7}"/>
                </a:ext>
              </a:extLst>
            </p:cNvPr>
            <p:cNvSpPr/>
            <p:nvPr/>
          </p:nvSpPr>
          <p:spPr>
            <a:xfrm>
              <a:off x="7229143" y="6104865"/>
              <a:ext cx="699248" cy="692362"/>
            </a:xfrm>
            <a:custGeom>
              <a:avLst/>
              <a:gdLst>
                <a:gd name="connsiteX0" fmla="*/ 863058 w 863058"/>
                <a:gd name="connsiteY0" fmla="*/ 431529 h 863057"/>
                <a:gd name="connsiteX1" fmla="*/ 431529 w 863058"/>
                <a:gd name="connsiteY1" fmla="*/ 863058 h 863057"/>
                <a:gd name="connsiteX2" fmla="*/ 0 w 863058"/>
                <a:gd name="connsiteY2" fmla="*/ 431529 h 863057"/>
                <a:gd name="connsiteX3" fmla="*/ 431529 w 863058"/>
                <a:gd name="connsiteY3" fmla="*/ 0 h 863057"/>
                <a:gd name="connsiteX4" fmla="*/ 863058 w 863058"/>
                <a:gd name="connsiteY4" fmla="*/ 431529 h 863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058" h="863057">
                  <a:moveTo>
                    <a:pt x="863058" y="431529"/>
                  </a:moveTo>
                  <a:cubicBezTo>
                    <a:pt x="863058" y="669856"/>
                    <a:pt x="669856" y="863058"/>
                    <a:pt x="431529" y="863058"/>
                  </a:cubicBezTo>
                  <a:cubicBezTo>
                    <a:pt x="193202" y="863058"/>
                    <a:pt x="0" y="669856"/>
                    <a:pt x="0" y="431529"/>
                  </a:cubicBezTo>
                  <a:cubicBezTo>
                    <a:pt x="0" y="193202"/>
                    <a:pt x="193202" y="0"/>
                    <a:pt x="431529" y="0"/>
                  </a:cubicBezTo>
                  <a:cubicBezTo>
                    <a:pt x="669856" y="0"/>
                    <a:pt x="863058" y="193202"/>
                    <a:pt x="863058" y="431529"/>
                  </a:cubicBezTo>
                  <a:close/>
                </a:path>
              </a:pathLst>
            </a:custGeom>
            <a:solidFill>
              <a:srgbClr val="00B0F0"/>
            </a:solidFill>
            <a:ln w="8952" cap="flat">
              <a:noFill/>
              <a:prstDash val="solid"/>
              <a:miter/>
            </a:ln>
          </p:spPr>
          <p:txBody>
            <a:bodyPr rtlCol="0" anchor="ctr"/>
            <a:lstStyle/>
            <a:p>
              <a:endParaRPr lang="en-US" sz="1050">
                <a:latin typeface="Lato" panose="020F0502020204030203" pitchFamily="34" charset="0"/>
                <a:ea typeface="Lato" panose="020F0502020204030203" pitchFamily="34" charset="0"/>
                <a:cs typeface="Lato" panose="020F0502020204030203" pitchFamily="34" charset="0"/>
              </a:endParaRPr>
            </a:p>
          </p:txBody>
        </p:sp>
        <p:pic>
          <p:nvPicPr>
            <p:cNvPr id="32" name="Picture 31">
              <a:extLst>
                <a:ext uri="{FF2B5EF4-FFF2-40B4-BE49-F238E27FC236}">
                  <a16:creationId xmlns:a16="http://schemas.microsoft.com/office/drawing/2014/main" id="{6CB5F410-1207-2CAF-2CF5-C9A795E511E2}"/>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a:off x="1489654" y="6219531"/>
              <a:ext cx="463030" cy="463030"/>
            </a:xfrm>
            <a:prstGeom prst="rect">
              <a:avLst/>
            </a:prstGeom>
          </p:spPr>
        </p:pic>
        <p:pic>
          <p:nvPicPr>
            <p:cNvPr id="33" name="Picture 32">
              <a:extLst>
                <a:ext uri="{FF2B5EF4-FFF2-40B4-BE49-F238E27FC236}">
                  <a16:creationId xmlns:a16="http://schemas.microsoft.com/office/drawing/2014/main" id="{8426DC57-CC43-36E2-28DC-A1FD0504D173}"/>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bright="100000"/>
                      </a14:imgEffect>
                    </a14:imgLayer>
                  </a14:imgProps>
                </a:ext>
              </a:extLst>
            </a:blip>
            <a:srcRect/>
            <a:stretch/>
          </p:blipFill>
          <p:spPr>
            <a:xfrm>
              <a:off x="7345413" y="6219531"/>
              <a:ext cx="463030" cy="463030"/>
            </a:xfrm>
            <a:prstGeom prst="rect">
              <a:avLst/>
            </a:prstGeom>
          </p:spPr>
        </p:pic>
        <p:pic>
          <p:nvPicPr>
            <p:cNvPr id="34" name="Picture 33">
              <a:extLst>
                <a:ext uri="{FF2B5EF4-FFF2-40B4-BE49-F238E27FC236}">
                  <a16:creationId xmlns:a16="http://schemas.microsoft.com/office/drawing/2014/main" id="{CD213529-B1BE-964C-388D-D7E0B7743805}"/>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Lst>
            </a:blip>
            <a:srcRect/>
            <a:stretch/>
          </p:blipFill>
          <p:spPr>
            <a:xfrm>
              <a:off x="4409132" y="6219531"/>
              <a:ext cx="463030" cy="463030"/>
            </a:xfrm>
            <a:prstGeom prst="rect">
              <a:avLst/>
            </a:prstGeom>
          </p:spPr>
        </p:pic>
        <p:pic>
          <p:nvPicPr>
            <p:cNvPr id="35" name="Picture 34">
              <a:extLst>
                <a:ext uri="{FF2B5EF4-FFF2-40B4-BE49-F238E27FC236}">
                  <a16:creationId xmlns:a16="http://schemas.microsoft.com/office/drawing/2014/main" id="{07CFB496-CA69-C292-2104-113C0DDC1889}"/>
                </a:ext>
              </a:extLst>
            </p:cNvPr>
            <p:cNvPicPr>
              <a:picLocks noChangeAspect="1"/>
            </p:cNvPicPr>
            <p:nvPr/>
          </p:nvPicPr>
          <p:blipFill>
            <a:blip r:embed="rId10">
              <a:extLst>
                <a:ext uri="{BEBA8EAE-BF5A-486C-A8C5-ECC9F3942E4B}">
                  <a14:imgProps xmlns:a14="http://schemas.microsoft.com/office/drawing/2010/main">
                    <a14:imgLayer r:embed="rId11">
                      <a14:imgEffect>
                        <a14:brightnessContrast bright="100000"/>
                      </a14:imgEffect>
                    </a14:imgLayer>
                  </a14:imgProps>
                </a:ext>
              </a:extLst>
            </a:blip>
            <a:srcRect/>
            <a:stretch/>
          </p:blipFill>
          <p:spPr>
            <a:xfrm>
              <a:off x="10264891" y="6219531"/>
              <a:ext cx="463030" cy="463030"/>
            </a:xfrm>
            <a:prstGeom prst="rect">
              <a:avLst/>
            </a:prstGeom>
          </p:spPr>
        </p:pic>
      </p:grpSp>
      <p:sp>
        <p:nvSpPr>
          <p:cNvPr id="3" name="Rectangle 2">
            <a:extLst>
              <a:ext uri="{FF2B5EF4-FFF2-40B4-BE49-F238E27FC236}">
                <a16:creationId xmlns:a16="http://schemas.microsoft.com/office/drawing/2014/main" id="{353EB6B5-270C-CD48-F16E-3DDFB3CC24DE}"/>
              </a:ext>
            </a:extLst>
          </p:cNvPr>
          <p:cNvSpPr/>
          <p:nvPr/>
        </p:nvSpPr>
        <p:spPr>
          <a:xfrm>
            <a:off x="698500" y="2648296"/>
            <a:ext cx="10795000" cy="608264"/>
          </a:xfrm>
          <a:prstGeom prst="rect">
            <a:avLst/>
          </a:prstGeom>
          <a:solidFill>
            <a:schemeClr val="tx2">
              <a:lumMod val="10000"/>
              <a:lumOff val="9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a:latin typeface="Lato" panose="020F0502020204030203" pitchFamily="34" charset="0"/>
              <a:ea typeface="Lato" panose="020F0502020204030203" pitchFamily="34" charset="0"/>
              <a:cs typeface="Lato" panose="020F0502020204030203" pitchFamily="34" charset="0"/>
            </a:endParaRPr>
          </a:p>
        </p:txBody>
      </p:sp>
      <p:sp>
        <p:nvSpPr>
          <p:cNvPr id="36" name="Rectangle 35">
            <a:extLst>
              <a:ext uri="{FF2B5EF4-FFF2-40B4-BE49-F238E27FC236}">
                <a16:creationId xmlns:a16="http://schemas.microsoft.com/office/drawing/2014/main" id="{33B79838-79F7-1D44-7BCD-8CB42F7DBCF9}"/>
              </a:ext>
            </a:extLst>
          </p:cNvPr>
          <p:cNvSpPr/>
          <p:nvPr/>
        </p:nvSpPr>
        <p:spPr>
          <a:xfrm>
            <a:off x="1177471" y="2415699"/>
            <a:ext cx="9837058" cy="1073458"/>
          </a:xfrm>
          <a:prstGeom prst="rect">
            <a:avLst/>
          </a:prstGeom>
          <a:solidFill>
            <a:schemeClr val="bg1"/>
          </a:solid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a:latin typeface="Lato" panose="020F0502020204030203" pitchFamily="34" charset="0"/>
              <a:ea typeface="Lato" panose="020F0502020204030203" pitchFamily="34" charset="0"/>
              <a:cs typeface="Lato" panose="020F0502020204030203" pitchFamily="34" charset="0"/>
            </a:endParaRPr>
          </a:p>
        </p:txBody>
      </p:sp>
      <p:pic>
        <p:nvPicPr>
          <p:cNvPr id="38" name="Picture 37" descr="A close-up of a logo&#10;&#10;AI-generated content may be incorrect.">
            <a:extLst>
              <a:ext uri="{FF2B5EF4-FFF2-40B4-BE49-F238E27FC236}">
                <a16:creationId xmlns:a16="http://schemas.microsoft.com/office/drawing/2014/main" id="{7F14E2EF-3EB0-F30E-40DB-778BAF7670F4}"/>
              </a:ext>
            </a:extLst>
          </p:cNvPr>
          <p:cNvPicPr>
            <a:picLocks noChangeAspect="1"/>
          </p:cNvPicPr>
          <p:nvPr/>
        </p:nvPicPr>
        <p:blipFill>
          <a:blip r:embed="rId12"/>
          <a:srcRect l="8411" t="21213" r="8411" b="21213"/>
          <a:stretch>
            <a:fillRect/>
          </a:stretch>
        </p:blipFill>
        <p:spPr>
          <a:xfrm>
            <a:off x="7945662" y="2585243"/>
            <a:ext cx="925839" cy="235307"/>
          </a:xfrm>
          <a:prstGeom prst="rect">
            <a:avLst/>
          </a:prstGeom>
        </p:spPr>
      </p:pic>
      <p:pic>
        <p:nvPicPr>
          <p:cNvPr id="39" name="Picture 38" descr="A logo with green arrows&#10;&#10;AI-generated content may be incorrect.">
            <a:extLst>
              <a:ext uri="{FF2B5EF4-FFF2-40B4-BE49-F238E27FC236}">
                <a16:creationId xmlns:a16="http://schemas.microsoft.com/office/drawing/2014/main" id="{9847C2D6-4400-4DFB-7C3A-547568C32F8F}"/>
              </a:ext>
            </a:extLst>
          </p:cNvPr>
          <p:cNvPicPr>
            <a:picLocks noChangeAspect="1"/>
          </p:cNvPicPr>
          <p:nvPr/>
        </p:nvPicPr>
        <p:blipFill>
          <a:blip r:embed="rId13"/>
          <a:srcRect t="16303" b="16303"/>
          <a:stretch>
            <a:fillRect/>
          </a:stretch>
        </p:blipFill>
        <p:spPr>
          <a:xfrm>
            <a:off x="2722451" y="3045003"/>
            <a:ext cx="709838" cy="309748"/>
          </a:xfrm>
          <a:prstGeom prst="rect">
            <a:avLst/>
          </a:prstGeom>
        </p:spPr>
      </p:pic>
      <p:pic>
        <p:nvPicPr>
          <p:cNvPr id="40" name="Picture 39" descr="A blue text on a black background&#10;&#10;AI-generated content may be incorrect.">
            <a:extLst>
              <a:ext uri="{FF2B5EF4-FFF2-40B4-BE49-F238E27FC236}">
                <a16:creationId xmlns:a16="http://schemas.microsoft.com/office/drawing/2014/main" id="{4EEE32B0-E01E-3191-1438-6B2728B906AE}"/>
              </a:ext>
            </a:extLst>
          </p:cNvPr>
          <p:cNvPicPr>
            <a:picLocks noChangeAspect="1"/>
          </p:cNvPicPr>
          <p:nvPr/>
        </p:nvPicPr>
        <p:blipFill>
          <a:blip r:embed="rId14"/>
          <a:stretch>
            <a:fillRect/>
          </a:stretch>
        </p:blipFill>
        <p:spPr>
          <a:xfrm>
            <a:off x="5366922" y="3096990"/>
            <a:ext cx="902035" cy="319235"/>
          </a:xfrm>
          <a:prstGeom prst="rect">
            <a:avLst/>
          </a:prstGeom>
        </p:spPr>
      </p:pic>
      <p:pic>
        <p:nvPicPr>
          <p:cNvPr id="41" name="Picture 40">
            <a:extLst>
              <a:ext uri="{FF2B5EF4-FFF2-40B4-BE49-F238E27FC236}">
                <a16:creationId xmlns:a16="http://schemas.microsoft.com/office/drawing/2014/main" id="{9902252D-AEFB-26CA-17FD-784422D44518}"/>
              </a:ext>
            </a:extLst>
          </p:cNvPr>
          <p:cNvPicPr>
            <a:picLocks noChangeAspect="1"/>
          </p:cNvPicPr>
          <p:nvPr/>
        </p:nvPicPr>
        <p:blipFill>
          <a:blip r:embed="rId15"/>
          <a:stretch>
            <a:fillRect/>
          </a:stretch>
        </p:blipFill>
        <p:spPr>
          <a:xfrm>
            <a:off x="7860126" y="3125067"/>
            <a:ext cx="1058849" cy="149620"/>
          </a:xfrm>
          <a:prstGeom prst="rect">
            <a:avLst/>
          </a:prstGeom>
        </p:spPr>
      </p:pic>
      <p:pic>
        <p:nvPicPr>
          <p:cNvPr id="42" name="Picture 41" descr="A blue and white sign&#10;&#10;AI-generated content may be incorrect.">
            <a:extLst>
              <a:ext uri="{FF2B5EF4-FFF2-40B4-BE49-F238E27FC236}">
                <a16:creationId xmlns:a16="http://schemas.microsoft.com/office/drawing/2014/main" id="{EE06E733-9DDA-3B90-E654-C4E020D77D39}"/>
              </a:ext>
            </a:extLst>
          </p:cNvPr>
          <p:cNvPicPr>
            <a:picLocks noChangeAspect="1"/>
          </p:cNvPicPr>
          <p:nvPr/>
        </p:nvPicPr>
        <p:blipFill>
          <a:blip r:embed="rId16"/>
          <a:stretch>
            <a:fillRect/>
          </a:stretch>
        </p:blipFill>
        <p:spPr>
          <a:xfrm>
            <a:off x="6803369" y="3039884"/>
            <a:ext cx="791465" cy="319986"/>
          </a:xfrm>
          <a:prstGeom prst="rect">
            <a:avLst/>
          </a:prstGeom>
        </p:spPr>
      </p:pic>
      <p:pic>
        <p:nvPicPr>
          <p:cNvPr id="43" name="Picture 42" descr="A blue text on a black background&#10;&#10;AI-generated content may be incorrect.">
            <a:extLst>
              <a:ext uri="{FF2B5EF4-FFF2-40B4-BE49-F238E27FC236}">
                <a16:creationId xmlns:a16="http://schemas.microsoft.com/office/drawing/2014/main" id="{265D150B-0649-EE34-AB14-7F9C2AB40230}"/>
              </a:ext>
            </a:extLst>
          </p:cNvPr>
          <p:cNvPicPr>
            <a:picLocks noChangeAspect="1"/>
          </p:cNvPicPr>
          <p:nvPr/>
        </p:nvPicPr>
        <p:blipFill>
          <a:blip r:embed="rId17"/>
          <a:stretch>
            <a:fillRect/>
          </a:stretch>
        </p:blipFill>
        <p:spPr>
          <a:xfrm>
            <a:off x="5260758" y="2608067"/>
            <a:ext cx="1034498" cy="189658"/>
          </a:xfrm>
          <a:prstGeom prst="rect">
            <a:avLst/>
          </a:prstGeom>
        </p:spPr>
      </p:pic>
      <p:pic>
        <p:nvPicPr>
          <p:cNvPr id="44" name="Picture 43" descr="A blue and white logo&#10;&#10;AI-generated content may be incorrect.">
            <a:extLst>
              <a:ext uri="{FF2B5EF4-FFF2-40B4-BE49-F238E27FC236}">
                <a16:creationId xmlns:a16="http://schemas.microsoft.com/office/drawing/2014/main" id="{F6E36185-59B8-696C-649A-D0C6D7BD7FB5}"/>
              </a:ext>
            </a:extLst>
          </p:cNvPr>
          <p:cNvPicPr>
            <a:picLocks noChangeAspect="1"/>
          </p:cNvPicPr>
          <p:nvPr/>
        </p:nvPicPr>
        <p:blipFill>
          <a:blip r:embed="rId18"/>
          <a:stretch>
            <a:fillRect/>
          </a:stretch>
        </p:blipFill>
        <p:spPr>
          <a:xfrm>
            <a:off x="3766161" y="3078984"/>
            <a:ext cx="1034497" cy="241786"/>
          </a:xfrm>
          <a:prstGeom prst="rect">
            <a:avLst/>
          </a:prstGeom>
        </p:spPr>
      </p:pic>
      <p:pic>
        <p:nvPicPr>
          <p:cNvPr id="45" name="Picture 44" descr="A black and grey sign&#10;&#10;AI-generated content may be incorrect.">
            <a:extLst>
              <a:ext uri="{FF2B5EF4-FFF2-40B4-BE49-F238E27FC236}">
                <a16:creationId xmlns:a16="http://schemas.microsoft.com/office/drawing/2014/main" id="{7E6CFCE8-089C-07D2-97EC-C4E026DC8DB0}"/>
              </a:ext>
            </a:extLst>
          </p:cNvPr>
          <p:cNvPicPr>
            <a:picLocks noChangeAspect="1"/>
          </p:cNvPicPr>
          <p:nvPr/>
        </p:nvPicPr>
        <p:blipFill>
          <a:blip r:embed="rId19"/>
          <a:stretch>
            <a:fillRect/>
          </a:stretch>
        </p:blipFill>
        <p:spPr>
          <a:xfrm>
            <a:off x="3758962" y="2567120"/>
            <a:ext cx="1112924" cy="271553"/>
          </a:xfrm>
          <a:prstGeom prst="rect">
            <a:avLst/>
          </a:prstGeom>
        </p:spPr>
      </p:pic>
      <p:pic>
        <p:nvPicPr>
          <p:cNvPr id="46" name="Picture 45" descr="A blue and black logo&#10;&#10;AI-generated content may be incorrect.">
            <a:extLst>
              <a:ext uri="{FF2B5EF4-FFF2-40B4-BE49-F238E27FC236}">
                <a16:creationId xmlns:a16="http://schemas.microsoft.com/office/drawing/2014/main" id="{CFA42129-B253-58AA-5E59-FD9B6F1D0029}"/>
              </a:ext>
            </a:extLst>
          </p:cNvPr>
          <p:cNvPicPr>
            <a:picLocks noChangeAspect="1"/>
          </p:cNvPicPr>
          <p:nvPr/>
        </p:nvPicPr>
        <p:blipFill>
          <a:blip r:embed="rId20"/>
          <a:stretch>
            <a:fillRect/>
          </a:stretch>
        </p:blipFill>
        <p:spPr>
          <a:xfrm>
            <a:off x="6649838" y="2590957"/>
            <a:ext cx="952672" cy="223878"/>
          </a:xfrm>
          <a:prstGeom prst="rect">
            <a:avLst/>
          </a:prstGeom>
        </p:spPr>
      </p:pic>
      <p:pic>
        <p:nvPicPr>
          <p:cNvPr id="47" name="Picture 46" descr="A green text on a white background&#10;&#10;AI-generated content may be incorrect.">
            <a:extLst>
              <a:ext uri="{FF2B5EF4-FFF2-40B4-BE49-F238E27FC236}">
                <a16:creationId xmlns:a16="http://schemas.microsoft.com/office/drawing/2014/main" id="{769B7A8E-944C-AFC5-421E-85B839994465}"/>
              </a:ext>
            </a:extLst>
          </p:cNvPr>
          <p:cNvPicPr>
            <a:picLocks noChangeAspect="1"/>
          </p:cNvPicPr>
          <p:nvPr/>
        </p:nvPicPr>
        <p:blipFill>
          <a:blip r:embed="rId21"/>
          <a:srcRect l="14228" t="36284" r="14283" b="34652"/>
          <a:stretch>
            <a:fillRect/>
          </a:stretch>
        </p:blipFill>
        <p:spPr>
          <a:xfrm>
            <a:off x="2824851" y="2634050"/>
            <a:ext cx="648109" cy="137693"/>
          </a:xfrm>
          <a:prstGeom prst="rect">
            <a:avLst/>
          </a:prstGeom>
        </p:spPr>
      </p:pic>
      <p:sp>
        <p:nvSpPr>
          <p:cNvPr id="48" name="AutoShape 2" descr="Azure Data Factory, Azure Databricks, and Azure SQL Server: A Focus on  Change Data Capture and Medallion Architecture">
            <a:extLst>
              <a:ext uri="{FF2B5EF4-FFF2-40B4-BE49-F238E27FC236}">
                <a16:creationId xmlns:a16="http://schemas.microsoft.com/office/drawing/2014/main" id="{AA796047-84BD-A770-EB16-FE9F9E341ADA}"/>
              </a:ext>
            </a:extLst>
          </p:cNvPr>
          <p:cNvSpPr>
            <a:spLocks noChangeAspect="1" noChangeArrowheads="1"/>
          </p:cNvSpPr>
          <p:nvPr/>
        </p:nvSpPr>
        <p:spPr bwMode="auto">
          <a:xfrm>
            <a:off x="6324717" y="3047477"/>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0" name="Picture 49">
            <a:extLst>
              <a:ext uri="{FF2B5EF4-FFF2-40B4-BE49-F238E27FC236}">
                <a16:creationId xmlns:a16="http://schemas.microsoft.com/office/drawing/2014/main" id="{FAD83C11-66F1-6E35-8921-21B9C8203B1A}"/>
              </a:ext>
            </a:extLst>
          </p:cNvPr>
          <p:cNvPicPr>
            <a:picLocks noChangeAspect="1"/>
          </p:cNvPicPr>
          <p:nvPr/>
        </p:nvPicPr>
        <p:blipFill>
          <a:blip r:embed="rId22"/>
          <a:stretch>
            <a:fillRect/>
          </a:stretch>
        </p:blipFill>
        <p:spPr>
          <a:xfrm>
            <a:off x="9123212" y="2508864"/>
            <a:ext cx="707494" cy="388064"/>
          </a:xfrm>
          <a:prstGeom prst="rect">
            <a:avLst/>
          </a:prstGeom>
        </p:spPr>
      </p:pic>
      <p:pic>
        <p:nvPicPr>
          <p:cNvPr id="51" name="Picture 50" descr="A black and white logo&#10;&#10;AI-generated content may be incorrect.">
            <a:extLst>
              <a:ext uri="{FF2B5EF4-FFF2-40B4-BE49-F238E27FC236}">
                <a16:creationId xmlns:a16="http://schemas.microsoft.com/office/drawing/2014/main" id="{B57296BB-29FB-35E5-E6DC-2B67DC675017}"/>
              </a:ext>
            </a:extLst>
          </p:cNvPr>
          <p:cNvPicPr>
            <a:picLocks noChangeAspect="1"/>
          </p:cNvPicPr>
          <p:nvPr/>
        </p:nvPicPr>
        <p:blipFill>
          <a:blip r:embed="rId23"/>
          <a:stretch>
            <a:fillRect/>
          </a:stretch>
        </p:blipFill>
        <p:spPr>
          <a:xfrm>
            <a:off x="1394076" y="2586061"/>
            <a:ext cx="1041903" cy="233671"/>
          </a:xfrm>
          <a:prstGeom prst="rect">
            <a:avLst/>
          </a:prstGeom>
        </p:spPr>
      </p:pic>
      <p:pic>
        <p:nvPicPr>
          <p:cNvPr id="53" name="Picture 52">
            <a:extLst>
              <a:ext uri="{FF2B5EF4-FFF2-40B4-BE49-F238E27FC236}">
                <a16:creationId xmlns:a16="http://schemas.microsoft.com/office/drawing/2014/main" id="{04E9CEFC-9392-4EC4-F28D-E0AF0BAB9677}"/>
              </a:ext>
            </a:extLst>
          </p:cNvPr>
          <p:cNvPicPr>
            <a:picLocks noChangeAspect="1"/>
          </p:cNvPicPr>
          <p:nvPr/>
        </p:nvPicPr>
        <p:blipFill>
          <a:blip r:embed="rId24"/>
          <a:stretch>
            <a:fillRect/>
          </a:stretch>
        </p:blipFill>
        <p:spPr>
          <a:xfrm>
            <a:off x="1446103" y="3069681"/>
            <a:ext cx="851036" cy="260392"/>
          </a:xfrm>
          <a:prstGeom prst="rect">
            <a:avLst/>
          </a:prstGeom>
        </p:spPr>
      </p:pic>
      <p:pic>
        <p:nvPicPr>
          <p:cNvPr id="56" name="Picture 55">
            <a:extLst>
              <a:ext uri="{FF2B5EF4-FFF2-40B4-BE49-F238E27FC236}">
                <a16:creationId xmlns:a16="http://schemas.microsoft.com/office/drawing/2014/main" id="{7D2F9245-CA75-97BC-6691-3E3E8337E832}"/>
              </a:ext>
            </a:extLst>
          </p:cNvPr>
          <p:cNvPicPr>
            <a:picLocks noChangeAspect="1"/>
          </p:cNvPicPr>
          <p:nvPr/>
        </p:nvPicPr>
        <p:blipFill>
          <a:blip r:embed="rId25"/>
          <a:stretch>
            <a:fillRect/>
          </a:stretch>
        </p:blipFill>
        <p:spPr>
          <a:xfrm>
            <a:off x="9118438" y="3094200"/>
            <a:ext cx="808656" cy="211354"/>
          </a:xfrm>
          <a:prstGeom prst="rect">
            <a:avLst/>
          </a:prstGeom>
        </p:spPr>
      </p:pic>
      <p:pic>
        <p:nvPicPr>
          <p:cNvPr id="58" name="Picture 57">
            <a:extLst>
              <a:ext uri="{FF2B5EF4-FFF2-40B4-BE49-F238E27FC236}">
                <a16:creationId xmlns:a16="http://schemas.microsoft.com/office/drawing/2014/main" id="{5531040E-487B-637A-8376-98D097ACDA0D}"/>
              </a:ext>
            </a:extLst>
          </p:cNvPr>
          <p:cNvPicPr>
            <a:picLocks noChangeAspect="1"/>
          </p:cNvPicPr>
          <p:nvPr/>
        </p:nvPicPr>
        <p:blipFill>
          <a:blip r:embed="rId26"/>
          <a:stretch>
            <a:fillRect/>
          </a:stretch>
        </p:blipFill>
        <p:spPr>
          <a:xfrm>
            <a:off x="9999116" y="2827289"/>
            <a:ext cx="981142" cy="264286"/>
          </a:xfrm>
          <a:prstGeom prst="rect">
            <a:avLst/>
          </a:prstGeom>
        </p:spPr>
      </p:pic>
    </p:spTree>
    <p:extLst>
      <p:ext uri="{BB962C8B-B14F-4D97-AF65-F5344CB8AC3E}">
        <p14:creationId xmlns:p14="http://schemas.microsoft.com/office/powerpoint/2010/main" val="1454793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ound Same-side Corner of Rectangle 8">
            <a:extLst>
              <a:ext uri="{FF2B5EF4-FFF2-40B4-BE49-F238E27FC236}">
                <a16:creationId xmlns:a16="http://schemas.microsoft.com/office/drawing/2014/main" id="{ACCBF9F7-67B1-0AC9-9BE2-EAAAB311E396}"/>
              </a:ext>
            </a:extLst>
          </p:cNvPr>
          <p:cNvSpPr/>
          <p:nvPr/>
        </p:nvSpPr>
        <p:spPr>
          <a:xfrm rot="10800000">
            <a:off x="413041" y="4228391"/>
            <a:ext cx="10926134" cy="2322038"/>
          </a:xfrm>
          <a:prstGeom prst="round2SameRect">
            <a:avLst>
              <a:gd name="adj1" fmla="val 3801"/>
              <a:gd name="adj2" fmla="val 0"/>
            </a:avLst>
          </a:prstGeom>
          <a:solidFill>
            <a:schemeClr val="bg1"/>
          </a:solidFill>
          <a:ln w="6350">
            <a:solidFill>
              <a:schemeClr val="bg2">
                <a:lumMod val="50000"/>
              </a:schemeClr>
            </a:solidFill>
          </a:ln>
          <a:effectLst>
            <a:outerShdw dist="38100" dir="5400000" algn="t" rotWithShape="0">
              <a:schemeClr val="bg2">
                <a:lumMod val="5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 Same-side Corner of Rectangle 8">
            <a:extLst>
              <a:ext uri="{FF2B5EF4-FFF2-40B4-BE49-F238E27FC236}">
                <a16:creationId xmlns:a16="http://schemas.microsoft.com/office/drawing/2014/main" id="{834F46F4-1881-473E-35CB-6882D96AF5A1}"/>
              </a:ext>
            </a:extLst>
          </p:cNvPr>
          <p:cNvSpPr/>
          <p:nvPr/>
        </p:nvSpPr>
        <p:spPr>
          <a:xfrm rot="10800000">
            <a:off x="413041" y="840959"/>
            <a:ext cx="10926134" cy="3200876"/>
          </a:xfrm>
          <a:prstGeom prst="round2SameRect">
            <a:avLst>
              <a:gd name="adj1" fmla="val 3801"/>
              <a:gd name="adj2" fmla="val 0"/>
            </a:avLst>
          </a:prstGeom>
          <a:solidFill>
            <a:schemeClr val="bg1"/>
          </a:solidFill>
          <a:ln w="6350">
            <a:solidFill>
              <a:srgbClr val="00B0F0"/>
            </a:solidFill>
          </a:ln>
          <a:effectLst>
            <a:outerShdw dist="38100" dir="5400000" algn="t" rotWithShape="0">
              <a:srgbClr val="00B0F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905E0F-EF42-FD4E-B569-543D7800B326}"/>
              </a:ext>
            </a:extLst>
          </p:cNvPr>
          <p:cNvSpPr>
            <a:spLocks noGrp="1"/>
          </p:cNvSpPr>
          <p:nvPr>
            <p:ph type="title"/>
          </p:nvPr>
        </p:nvSpPr>
        <p:spPr/>
        <p:txBody>
          <a:bodyPr/>
          <a:lstStyle/>
          <a:p>
            <a:r>
              <a:rPr lang="en-US"/>
              <a:t>In Scope &amp; Out of scope Items</a:t>
            </a:r>
            <a:endParaRPr lang="en-IN"/>
          </a:p>
        </p:txBody>
      </p:sp>
      <p:sp>
        <p:nvSpPr>
          <p:cNvPr id="4" name="TextBox 3">
            <a:extLst>
              <a:ext uri="{FF2B5EF4-FFF2-40B4-BE49-F238E27FC236}">
                <a16:creationId xmlns:a16="http://schemas.microsoft.com/office/drawing/2014/main" id="{A7899A16-F0B8-7E96-CF75-EDE33CD41B36}"/>
              </a:ext>
            </a:extLst>
          </p:cNvPr>
          <p:cNvSpPr txBox="1"/>
          <p:nvPr/>
        </p:nvSpPr>
        <p:spPr>
          <a:xfrm>
            <a:off x="2779643" y="1109913"/>
            <a:ext cx="8294186" cy="2708434"/>
          </a:xfrm>
          <a:prstGeom prst="rect">
            <a:avLst/>
          </a:prstGeom>
          <a:noFill/>
        </p:spPr>
        <p:txBody>
          <a:bodyPr wrap="square" numCol="2" spcCol="180000">
            <a:spAutoFit/>
          </a:bodyPr>
          <a:lstStyle/>
          <a:p>
            <a:pPr marL="171450" indent="-171450" fontAlgn="base">
              <a:spcAft>
                <a:spcPts val="1200"/>
              </a:spcAft>
              <a:buClr>
                <a:srgbClr val="00B0F0"/>
              </a:buClr>
              <a:buFont typeface="Wingdings" pitchFamily="2" charset="2"/>
              <a:buChar char="Ø"/>
            </a:pPr>
            <a:r>
              <a:rPr lang="en-US" sz="1200" dirty="0">
                <a:solidFill>
                  <a:srgbClr val="000000"/>
                </a:solidFill>
                <a:latin typeface="Lato" panose="020F0502020204030203" pitchFamily="34" charset="0"/>
                <a:ea typeface="Lato" panose="020F0502020204030203" pitchFamily="34" charset="0"/>
                <a:cs typeface="Lato" panose="020F0502020204030203" pitchFamily="34" charset="0"/>
              </a:rPr>
              <a:t>Operate and support Daikin’s Azure–Databricks data and analytics platform under a Managed POD model.</a:t>
            </a:r>
          </a:p>
          <a:p>
            <a:pPr marL="171450" indent="-171450" fontAlgn="base">
              <a:spcAft>
                <a:spcPts val="1200"/>
              </a:spcAft>
              <a:buClr>
                <a:srgbClr val="00B0F0"/>
              </a:buClr>
              <a:buFont typeface="Wingdings" pitchFamily="2" charset="2"/>
              <a:buChar char="Ø"/>
            </a:pPr>
            <a:r>
              <a:rPr lang="en-US" sz="1200" dirty="0">
                <a:solidFill>
                  <a:srgbClr val="000000"/>
                </a:solidFill>
                <a:latin typeface="Lato" panose="020F0502020204030203" pitchFamily="34" charset="0"/>
                <a:ea typeface="Lato" panose="020F0502020204030203" pitchFamily="34" charset="0"/>
                <a:cs typeface="Lato" panose="020F0502020204030203" pitchFamily="34" charset="0"/>
              </a:rPr>
              <a:t>Design, enhance, and maintain data ingestion, transformation, and analytics pipelines.</a:t>
            </a:r>
          </a:p>
          <a:p>
            <a:pPr marL="171450" indent="-171450" fontAlgn="base">
              <a:spcAft>
                <a:spcPts val="1200"/>
              </a:spcAft>
              <a:buClr>
                <a:srgbClr val="00B0F0"/>
              </a:buClr>
              <a:buFont typeface="Wingdings" pitchFamily="2" charset="2"/>
              <a:buChar char="Ø"/>
            </a:pPr>
            <a:r>
              <a:rPr lang="en-US" sz="1200" dirty="0">
                <a:solidFill>
                  <a:srgbClr val="000000"/>
                </a:solidFill>
                <a:latin typeface="Lato" panose="020F0502020204030203" pitchFamily="34" charset="0"/>
                <a:ea typeface="Lato" panose="020F0502020204030203" pitchFamily="34" charset="0"/>
                <a:cs typeface="Lato" panose="020F0502020204030203" pitchFamily="34" charset="0"/>
              </a:rPr>
              <a:t>Develop and support curated datasets, semantic models, and Power BI analytics solutions.</a:t>
            </a:r>
          </a:p>
          <a:p>
            <a:pPr marL="171450" indent="-171450" fontAlgn="base">
              <a:spcAft>
                <a:spcPts val="1200"/>
              </a:spcAft>
              <a:buClr>
                <a:srgbClr val="00B0F0"/>
              </a:buClr>
              <a:buFont typeface="Wingdings" pitchFamily="2" charset="2"/>
              <a:buChar char="Ø"/>
            </a:pPr>
            <a:r>
              <a:rPr lang="en-US" sz="1200" dirty="0">
                <a:solidFill>
                  <a:srgbClr val="000000"/>
                </a:solidFill>
                <a:latin typeface="Lato" panose="020F0502020204030203" pitchFamily="34" charset="0"/>
                <a:ea typeface="Lato" panose="020F0502020204030203" pitchFamily="34" charset="0"/>
                <a:cs typeface="Lato" panose="020F0502020204030203" pitchFamily="34" charset="0"/>
              </a:rPr>
              <a:t>Provide platform monitoring, performance optimization, and production issue resolution (L2/L3).</a:t>
            </a:r>
          </a:p>
          <a:p>
            <a:pPr marL="171450" indent="-171450" fontAlgn="base">
              <a:spcAft>
                <a:spcPts val="1200"/>
              </a:spcAft>
              <a:buClr>
                <a:srgbClr val="00B0F0"/>
              </a:buClr>
              <a:buFont typeface="Wingdings" pitchFamily="2" charset="2"/>
              <a:buChar char="Ø"/>
            </a:pPr>
            <a:r>
              <a:rPr lang="en-US" sz="1200" dirty="0">
                <a:solidFill>
                  <a:srgbClr val="000000"/>
                </a:solidFill>
                <a:latin typeface="Lato" panose="020F0502020204030203" pitchFamily="34" charset="0"/>
                <a:ea typeface="Lato" panose="020F0502020204030203" pitchFamily="34" charset="0"/>
                <a:cs typeface="Lato" panose="020F0502020204030203" pitchFamily="34" charset="0"/>
              </a:rPr>
              <a:t>Deliver architecture oversight and platform governance through the Architect.</a:t>
            </a:r>
          </a:p>
          <a:p>
            <a:pPr marL="171450" indent="-171450" fontAlgn="base">
              <a:spcAft>
                <a:spcPts val="1200"/>
              </a:spcAft>
              <a:buClr>
                <a:srgbClr val="00B0F0"/>
              </a:buClr>
              <a:buFont typeface="Wingdings" pitchFamily="2" charset="2"/>
              <a:buChar char="Ø"/>
            </a:pPr>
            <a:r>
              <a:rPr lang="en-US" sz="1200" dirty="0">
                <a:solidFill>
                  <a:srgbClr val="000000"/>
                </a:solidFill>
                <a:latin typeface="Lato" panose="020F0502020204030203" pitchFamily="34" charset="0"/>
                <a:ea typeface="Lato" panose="020F0502020204030203" pitchFamily="34" charset="0"/>
                <a:cs typeface="Lato" panose="020F0502020204030203" pitchFamily="34" charset="0"/>
              </a:rPr>
              <a:t>Execute sprint-based Agile delivery aligned with Daikin’s planning and release cadence.</a:t>
            </a:r>
          </a:p>
          <a:p>
            <a:pPr marL="171450" indent="-171450" fontAlgn="base">
              <a:spcAft>
                <a:spcPts val="1200"/>
              </a:spcAft>
              <a:buClr>
                <a:srgbClr val="00B0F0"/>
              </a:buClr>
              <a:buFont typeface="Wingdings" pitchFamily="2" charset="2"/>
              <a:buChar char="Ø"/>
            </a:pPr>
            <a:r>
              <a:rPr lang="en-US" sz="1200" dirty="0">
                <a:solidFill>
                  <a:srgbClr val="000000"/>
                </a:solidFill>
                <a:latin typeface="Lato" panose="020F0502020204030203" pitchFamily="34" charset="0"/>
                <a:ea typeface="Lato" panose="020F0502020204030203" pitchFamily="34" charset="0"/>
                <a:cs typeface="Lato" panose="020F0502020204030203" pitchFamily="34" charset="0"/>
              </a:rPr>
              <a:t>Manage POD staffing, continuity, knowledge transfer, and operational ownership.</a:t>
            </a:r>
          </a:p>
          <a:p>
            <a:pPr marL="171450" indent="-171450" fontAlgn="base">
              <a:spcAft>
                <a:spcPts val="1200"/>
              </a:spcAft>
              <a:buClr>
                <a:srgbClr val="00B0F0"/>
              </a:buClr>
              <a:buFont typeface="Wingdings" pitchFamily="2" charset="2"/>
              <a:buChar char="Ø"/>
            </a:pPr>
            <a:r>
              <a:rPr lang="en-US" sz="1200" dirty="0">
                <a:solidFill>
                  <a:srgbClr val="000000"/>
                </a:solidFill>
                <a:latin typeface="Lato" panose="020F0502020204030203" pitchFamily="34" charset="0"/>
                <a:ea typeface="Lato" panose="020F0502020204030203" pitchFamily="34" charset="0"/>
                <a:cs typeface="Lato" panose="020F0502020204030203" pitchFamily="34" charset="0"/>
              </a:rPr>
              <a:t>Provide delivery governance, KPI reporting, and continuous improvement recommendations.</a:t>
            </a:r>
          </a:p>
          <a:p>
            <a:pPr marL="171450" indent="-171450" fontAlgn="base">
              <a:spcAft>
                <a:spcPts val="1200"/>
              </a:spcAft>
              <a:buClr>
                <a:srgbClr val="00B0F0"/>
              </a:buClr>
              <a:buFont typeface="Wingdings" pitchFamily="2" charset="2"/>
              <a:buChar char="Ø"/>
            </a:pPr>
            <a:r>
              <a:rPr lang="en-US" sz="1200" dirty="0">
                <a:solidFill>
                  <a:srgbClr val="000000"/>
                </a:solidFill>
                <a:latin typeface="Lato" panose="020F0502020204030203" pitchFamily="34" charset="0"/>
                <a:ea typeface="Lato" panose="020F0502020204030203" pitchFamily="34" charset="0"/>
                <a:cs typeface="Lato" panose="020F0502020204030203" pitchFamily="34" charset="0"/>
              </a:rPr>
              <a:t>Collaborate with Daikin business, IT, and dependent system teams during agreed CST-aligned working hours.</a:t>
            </a:r>
          </a:p>
        </p:txBody>
      </p:sp>
      <p:grpSp>
        <p:nvGrpSpPr>
          <p:cNvPr id="10" name="Group 9">
            <a:extLst>
              <a:ext uri="{FF2B5EF4-FFF2-40B4-BE49-F238E27FC236}">
                <a16:creationId xmlns:a16="http://schemas.microsoft.com/office/drawing/2014/main" id="{4CA93047-DAA7-92CB-317F-BE1B97CE650A}"/>
              </a:ext>
            </a:extLst>
          </p:cNvPr>
          <p:cNvGrpSpPr/>
          <p:nvPr/>
        </p:nvGrpSpPr>
        <p:grpSpPr>
          <a:xfrm>
            <a:off x="675860" y="1639510"/>
            <a:ext cx="1722783" cy="1355991"/>
            <a:chOff x="675860" y="1639510"/>
            <a:chExt cx="1722783" cy="1355991"/>
          </a:xfrm>
        </p:grpSpPr>
        <p:sp>
          <p:nvSpPr>
            <p:cNvPr id="6" name="Rectangle: Rounded Corners 5">
              <a:extLst>
                <a:ext uri="{FF2B5EF4-FFF2-40B4-BE49-F238E27FC236}">
                  <a16:creationId xmlns:a16="http://schemas.microsoft.com/office/drawing/2014/main" id="{7FC8525C-CCDF-F4DD-5C1C-EDB169645F4B}"/>
                </a:ext>
              </a:extLst>
            </p:cNvPr>
            <p:cNvSpPr/>
            <p:nvPr/>
          </p:nvSpPr>
          <p:spPr>
            <a:xfrm>
              <a:off x="675860" y="2073848"/>
              <a:ext cx="1722783" cy="921653"/>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600" b="1">
                  <a:solidFill>
                    <a:schemeClr val="bg1"/>
                  </a:solidFill>
                  <a:latin typeface="Lato" panose="020F0502020204030203" pitchFamily="34" charset="0"/>
                  <a:ea typeface="Lato" panose="020F0502020204030203" pitchFamily="34" charset="0"/>
                  <a:cs typeface="Lato" panose="020F0502020204030203" pitchFamily="34" charset="0"/>
                </a:rPr>
                <a:t>In scope</a:t>
              </a:r>
            </a:p>
          </p:txBody>
        </p:sp>
        <p:sp>
          <p:nvSpPr>
            <p:cNvPr id="9" name="Oval 8">
              <a:extLst>
                <a:ext uri="{FF2B5EF4-FFF2-40B4-BE49-F238E27FC236}">
                  <a16:creationId xmlns:a16="http://schemas.microsoft.com/office/drawing/2014/main" id="{7F85581D-D7D9-ABF3-C475-C6DB6A1D9CB0}"/>
                </a:ext>
              </a:extLst>
            </p:cNvPr>
            <p:cNvSpPr/>
            <p:nvPr/>
          </p:nvSpPr>
          <p:spPr>
            <a:xfrm>
              <a:off x="1056860" y="1639510"/>
              <a:ext cx="960783" cy="960783"/>
            </a:xfrm>
            <a:prstGeom prst="ellipse">
              <a:avLst/>
            </a:prstGeom>
            <a:solidFill>
              <a:srgbClr val="0070C0"/>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E840C92E-F33E-FA71-4034-08AA2F62785F}"/>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1200694" y="1783344"/>
              <a:ext cx="673114" cy="673114"/>
            </a:xfrm>
            <a:prstGeom prst="rect">
              <a:avLst/>
            </a:prstGeom>
          </p:spPr>
        </p:pic>
      </p:grpSp>
      <p:grpSp>
        <p:nvGrpSpPr>
          <p:cNvPr id="12" name="Group 11">
            <a:extLst>
              <a:ext uri="{FF2B5EF4-FFF2-40B4-BE49-F238E27FC236}">
                <a16:creationId xmlns:a16="http://schemas.microsoft.com/office/drawing/2014/main" id="{06C458FF-A822-AE21-A5F3-3241F07C9572}"/>
              </a:ext>
            </a:extLst>
          </p:cNvPr>
          <p:cNvGrpSpPr/>
          <p:nvPr/>
        </p:nvGrpSpPr>
        <p:grpSpPr>
          <a:xfrm>
            <a:off x="675860" y="4870770"/>
            <a:ext cx="1722783" cy="1355991"/>
            <a:chOff x="675860" y="1639510"/>
            <a:chExt cx="1722783" cy="1355991"/>
          </a:xfrm>
        </p:grpSpPr>
        <p:sp>
          <p:nvSpPr>
            <p:cNvPr id="13" name="Rectangle: Rounded Corners 5">
              <a:extLst>
                <a:ext uri="{FF2B5EF4-FFF2-40B4-BE49-F238E27FC236}">
                  <a16:creationId xmlns:a16="http://schemas.microsoft.com/office/drawing/2014/main" id="{4A574819-44DB-8F4A-197B-852617E091F9}"/>
                </a:ext>
              </a:extLst>
            </p:cNvPr>
            <p:cNvSpPr/>
            <p:nvPr/>
          </p:nvSpPr>
          <p:spPr>
            <a:xfrm>
              <a:off x="675860" y="2073848"/>
              <a:ext cx="1722783" cy="921653"/>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600" b="1">
                  <a:solidFill>
                    <a:schemeClr val="tx1">
                      <a:lumMod val="95000"/>
                      <a:lumOff val="5000"/>
                    </a:schemeClr>
                  </a:solidFill>
                  <a:latin typeface="Lato" panose="020F0502020204030203" pitchFamily="34" charset="0"/>
                  <a:ea typeface="Lato" panose="020F0502020204030203" pitchFamily="34" charset="0"/>
                  <a:cs typeface="Lato" panose="020F0502020204030203" pitchFamily="34" charset="0"/>
                </a:rPr>
                <a:t>Out of scope</a:t>
              </a:r>
            </a:p>
          </p:txBody>
        </p:sp>
        <p:sp>
          <p:nvSpPr>
            <p:cNvPr id="14" name="Oval 13">
              <a:extLst>
                <a:ext uri="{FF2B5EF4-FFF2-40B4-BE49-F238E27FC236}">
                  <a16:creationId xmlns:a16="http://schemas.microsoft.com/office/drawing/2014/main" id="{AB8F6FB2-74D4-A4CB-0965-6786E92381CE}"/>
                </a:ext>
              </a:extLst>
            </p:cNvPr>
            <p:cNvSpPr/>
            <p:nvPr/>
          </p:nvSpPr>
          <p:spPr>
            <a:xfrm>
              <a:off x="1056860" y="1639510"/>
              <a:ext cx="960783" cy="960783"/>
            </a:xfrm>
            <a:prstGeom prst="ellipse">
              <a:avLst/>
            </a:prstGeom>
            <a:solidFill>
              <a:schemeClr val="tx2">
                <a:lumMod val="10000"/>
                <a:lumOff val="90000"/>
              </a:schemeClr>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FDBBA3F2-9522-EFF4-C69D-1C70879AD471}"/>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Lst>
            </a:blip>
            <a:srcRect/>
            <a:stretch/>
          </p:blipFill>
          <p:spPr>
            <a:xfrm>
              <a:off x="1200694" y="1783344"/>
              <a:ext cx="673114" cy="673114"/>
            </a:xfrm>
            <a:prstGeom prst="rect">
              <a:avLst/>
            </a:prstGeom>
          </p:spPr>
        </p:pic>
      </p:grpSp>
      <p:sp>
        <p:nvSpPr>
          <p:cNvPr id="16" name="TextBox 15">
            <a:extLst>
              <a:ext uri="{FF2B5EF4-FFF2-40B4-BE49-F238E27FC236}">
                <a16:creationId xmlns:a16="http://schemas.microsoft.com/office/drawing/2014/main" id="{24EC38D3-F71A-AAA2-4FF4-758D48D31E77}"/>
              </a:ext>
            </a:extLst>
          </p:cNvPr>
          <p:cNvSpPr txBox="1"/>
          <p:nvPr/>
        </p:nvSpPr>
        <p:spPr>
          <a:xfrm>
            <a:off x="2779643" y="4378467"/>
            <a:ext cx="4003542" cy="2031325"/>
          </a:xfrm>
          <a:prstGeom prst="rect">
            <a:avLst/>
          </a:prstGeom>
          <a:noFill/>
        </p:spPr>
        <p:txBody>
          <a:bodyPr wrap="square" numCol="1" spcCol="180000">
            <a:spAutoFit/>
          </a:bodyPr>
          <a:lstStyle/>
          <a:p>
            <a:pPr marL="171450" indent="-171450" fontAlgn="base">
              <a:spcAft>
                <a:spcPts val="1200"/>
              </a:spcAft>
              <a:buClr>
                <a:schemeClr val="bg2">
                  <a:lumMod val="25000"/>
                </a:schemeClr>
              </a:buClr>
              <a:buFont typeface="Wingdings" pitchFamily="2" charset="2"/>
              <a:buChar char="Ø"/>
            </a:pPr>
            <a:r>
              <a:rPr lang="en-US" sz="1200">
                <a:solidFill>
                  <a:srgbClr val="000000"/>
                </a:solidFill>
                <a:latin typeface="Lato" panose="020F0502020204030203" pitchFamily="34" charset="0"/>
                <a:ea typeface="Lato" panose="020F0502020204030203" pitchFamily="34" charset="0"/>
                <a:cs typeface="Lato" panose="020F0502020204030203" pitchFamily="34" charset="0"/>
              </a:rPr>
              <a:t>Business requirement ownership, prioritization, or final acceptance decisions.</a:t>
            </a:r>
          </a:p>
          <a:p>
            <a:pPr marL="171450" indent="-171450" fontAlgn="base">
              <a:spcAft>
                <a:spcPts val="1200"/>
              </a:spcAft>
              <a:buClr>
                <a:schemeClr val="bg2">
                  <a:lumMod val="25000"/>
                </a:schemeClr>
              </a:buClr>
              <a:buFont typeface="Wingdings" pitchFamily="2" charset="2"/>
              <a:buChar char="Ø"/>
            </a:pPr>
            <a:r>
              <a:rPr lang="en-US" sz="1200">
                <a:solidFill>
                  <a:srgbClr val="000000"/>
                </a:solidFill>
                <a:latin typeface="Lato" panose="020F0502020204030203" pitchFamily="34" charset="0"/>
                <a:ea typeface="Lato" panose="020F0502020204030203" pitchFamily="34" charset="0"/>
                <a:cs typeface="Lato" panose="020F0502020204030203" pitchFamily="34" charset="0"/>
              </a:rPr>
              <a:t>Changes or support for upstream source systems or third-party applications.</a:t>
            </a:r>
          </a:p>
          <a:p>
            <a:pPr marL="171450" indent="-171450" fontAlgn="base">
              <a:spcAft>
                <a:spcPts val="1200"/>
              </a:spcAft>
              <a:buClr>
                <a:schemeClr val="bg2">
                  <a:lumMod val="25000"/>
                </a:schemeClr>
              </a:buClr>
              <a:buFont typeface="Wingdings" pitchFamily="2" charset="2"/>
              <a:buChar char="Ø"/>
            </a:pPr>
            <a:r>
              <a:rPr lang="en-US" sz="1200">
                <a:solidFill>
                  <a:srgbClr val="000000"/>
                </a:solidFill>
                <a:latin typeface="Lato" panose="020F0502020204030203" pitchFamily="34" charset="0"/>
                <a:ea typeface="Lato" panose="020F0502020204030203" pitchFamily="34" charset="0"/>
                <a:cs typeface="Lato" panose="020F0502020204030203" pitchFamily="34" charset="0"/>
              </a:rPr>
              <a:t>Azure subscription ownership, enterprise cloud governance, or licensing procurement.</a:t>
            </a:r>
          </a:p>
          <a:p>
            <a:pPr marL="171450" indent="-171450" fontAlgn="base">
              <a:spcAft>
                <a:spcPts val="1200"/>
              </a:spcAft>
              <a:buClr>
                <a:schemeClr val="bg2">
                  <a:lumMod val="25000"/>
                </a:schemeClr>
              </a:buClr>
              <a:buFont typeface="Wingdings" pitchFamily="2" charset="2"/>
              <a:buChar char="Ø"/>
            </a:pPr>
            <a:r>
              <a:rPr lang="en-US" sz="1200">
                <a:solidFill>
                  <a:srgbClr val="000000"/>
                </a:solidFill>
                <a:latin typeface="Lato" panose="020F0502020204030203" pitchFamily="34" charset="0"/>
                <a:ea typeface="Lato" panose="020F0502020204030203" pitchFamily="34" charset="0"/>
                <a:cs typeface="Lato" panose="020F0502020204030203" pitchFamily="34" charset="0"/>
              </a:rPr>
              <a:t>Major platform re-architecture, migrations, or new technology implementations outside POD scope.</a:t>
            </a:r>
          </a:p>
        </p:txBody>
      </p:sp>
      <p:sp>
        <p:nvSpPr>
          <p:cNvPr id="17" name="TextBox 16">
            <a:extLst>
              <a:ext uri="{FF2B5EF4-FFF2-40B4-BE49-F238E27FC236}">
                <a16:creationId xmlns:a16="http://schemas.microsoft.com/office/drawing/2014/main" id="{832CFBEF-3804-E727-0B99-BB4E5659D662}"/>
              </a:ext>
            </a:extLst>
          </p:cNvPr>
          <p:cNvSpPr txBox="1"/>
          <p:nvPr/>
        </p:nvSpPr>
        <p:spPr>
          <a:xfrm>
            <a:off x="6926736" y="4378467"/>
            <a:ext cx="4003542" cy="1846659"/>
          </a:xfrm>
          <a:prstGeom prst="rect">
            <a:avLst/>
          </a:prstGeom>
          <a:noFill/>
        </p:spPr>
        <p:txBody>
          <a:bodyPr wrap="square" numCol="1" spcCol="180000">
            <a:spAutoFit/>
          </a:bodyPr>
          <a:lstStyle/>
          <a:p>
            <a:pPr marL="171450" indent="-171450" fontAlgn="base">
              <a:spcAft>
                <a:spcPts val="1200"/>
              </a:spcAft>
              <a:buClr>
                <a:schemeClr val="bg2">
                  <a:lumMod val="25000"/>
                </a:schemeClr>
              </a:buClr>
              <a:buFont typeface="Wingdings" pitchFamily="2" charset="2"/>
              <a:buChar char="Ø"/>
            </a:pPr>
            <a:r>
              <a:rPr lang="en-US" sz="1200">
                <a:solidFill>
                  <a:srgbClr val="000000"/>
                </a:solidFill>
                <a:latin typeface="Lato" panose="020F0502020204030203" pitchFamily="34" charset="0"/>
                <a:ea typeface="Lato" panose="020F0502020204030203" pitchFamily="34" charset="0"/>
                <a:cs typeface="Lato" panose="020F0502020204030203" pitchFamily="34" charset="0"/>
              </a:rPr>
              <a:t>24×7 production or follow-the-sun support unless separately agreed.</a:t>
            </a:r>
          </a:p>
          <a:p>
            <a:pPr marL="171450" indent="-171450" fontAlgn="base">
              <a:spcAft>
                <a:spcPts val="1200"/>
              </a:spcAft>
              <a:buClr>
                <a:schemeClr val="bg2">
                  <a:lumMod val="25000"/>
                </a:schemeClr>
              </a:buClr>
              <a:buFont typeface="Wingdings" pitchFamily="2" charset="2"/>
              <a:buChar char="Ø"/>
            </a:pPr>
            <a:r>
              <a:rPr lang="en-US" sz="1200">
                <a:solidFill>
                  <a:srgbClr val="000000"/>
                </a:solidFill>
                <a:latin typeface="Lato" panose="020F0502020204030203" pitchFamily="34" charset="0"/>
                <a:ea typeface="Lato" panose="020F0502020204030203" pitchFamily="34" charset="0"/>
                <a:cs typeface="Lato" panose="020F0502020204030203" pitchFamily="34" charset="0"/>
              </a:rPr>
              <a:t>Work exceeding agreed POD capacity or onboarding of additional PODs/domains.</a:t>
            </a:r>
          </a:p>
          <a:p>
            <a:pPr marL="171450" indent="-171450" fontAlgn="base">
              <a:spcAft>
                <a:spcPts val="1200"/>
              </a:spcAft>
              <a:buClr>
                <a:schemeClr val="bg2">
                  <a:lumMod val="25000"/>
                </a:schemeClr>
              </a:buClr>
              <a:buFont typeface="Wingdings" pitchFamily="2" charset="2"/>
              <a:buChar char="Ø"/>
            </a:pPr>
            <a:r>
              <a:rPr lang="en-US" sz="1200">
                <a:solidFill>
                  <a:srgbClr val="000000"/>
                </a:solidFill>
                <a:latin typeface="Lato" panose="020F0502020204030203" pitchFamily="34" charset="0"/>
                <a:ea typeface="Lato" panose="020F0502020204030203" pitchFamily="34" charset="0"/>
                <a:cs typeface="Lato" panose="020F0502020204030203" pitchFamily="34" charset="0"/>
              </a:rPr>
              <a:t>Enterprise-wide data governance programs or organizational change management initiatives.</a:t>
            </a:r>
          </a:p>
          <a:p>
            <a:pPr marL="171450" indent="-171450" fontAlgn="base">
              <a:spcAft>
                <a:spcPts val="1200"/>
              </a:spcAft>
              <a:buClr>
                <a:schemeClr val="bg2">
                  <a:lumMod val="25000"/>
                </a:schemeClr>
              </a:buClr>
              <a:buFont typeface="Wingdings" pitchFamily="2" charset="2"/>
              <a:buChar char="Ø"/>
            </a:pPr>
            <a:r>
              <a:rPr lang="en-US" sz="1200">
                <a:solidFill>
                  <a:srgbClr val="000000"/>
                </a:solidFill>
                <a:latin typeface="Lato" panose="020F0502020204030203" pitchFamily="34" charset="0"/>
                <a:ea typeface="Lato" panose="020F0502020204030203" pitchFamily="34" charset="0"/>
                <a:cs typeface="Lato" panose="020F0502020204030203" pitchFamily="34" charset="0"/>
              </a:rPr>
              <a:t>Anything not explicitly not mentioned in the scope</a:t>
            </a:r>
          </a:p>
        </p:txBody>
      </p:sp>
    </p:spTree>
    <p:extLst>
      <p:ext uri="{BB962C8B-B14F-4D97-AF65-F5344CB8AC3E}">
        <p14:creationId xmlns:p14="http://schemas.microsoft.com/office/powerpoint/2010/main" val="4284220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A5A01-C4F3-C57E-F024-1C519F62E57F}"/>
              </a:ext>
            </a:extLst>
          </p:cNvPr>
          <p:cNvSpPr>
            <a:spLocks noGrp="1"/>
          </p:cNvSpPr>
          <p:nvPr>
            <p:ph type="title"/>
          </p:nvPr>
        </p:nvSpPr>
        <p:spPr/>
        <p:txBody>
          <a:bodyPr/>
          <a:lstStyle/>
          <a:p>
            <a:r>
              <a:rPr lang="en-US" dirty="0"/>
              <a:t>Solution Overview</a:t>
            </a:r>
            <a:endParaRPr lang="en-IN" dirty="0"/>
          </a:p>
        </p:txBody>
      </p:sp>
      <mc:AlternateContent xmlns:mc="http://schemas.openxmlformats.org/markup-compatibility/2006" xmlns:pslz="http://schemas.microsoft.com/office/powerpoint/2016/slidezoom">
        <mc:Choice Requires="pslz">
          <p:graphicFrame>
            <p:nvGraphicFramePr>
              <p:cNvPr id="6" name="Slide Zoom 5">
                <a:extLst>
                  <a:ext uri="{FF2B5EF4-FFF2-40B4-BE49-F238E27FC236}">
                    <a16:creationId xmlns:a16="http://schemas.microsoft.com/office/drawing/2014/main" id="{97C2417E-08B2-8B10-5BC8-DCC6EAE9F3F2}"/>
                  </a:ext>
                </a:extLst>
              </p:cNvPr>
              <p:cNvGraphicFramePr>
                <a:graphicFrameLocks noChangeAspect="1"/>
              </p:cNvGraphicFramePr>
              <p:nvPr>
                <p:extLst>
                  <p:ext uri="{D42A27DB-BD31-4B8C-83A1-F6EECF244321}">
                    <p14:modId xmlns:p14="http://schemas.microsoft.com/office/powerpoint/2010/main" val="3549385347"/>
                  </p:ext>
                </p:extLst>
              </p:nvPr>
            </p:nvGraphicFramePr>
            <p:xfrm>
              <a:off x="505152" y="2111496"/>
              <a:ext cx="4998720" cy="2811780"/>
            </p:xfrm>
            <a:graphic>
              <a:graphicData uri="http://schemas.microsoft.com/office/powerpoint/2016/slidezoom">
                <pslz:sldZm>
                  <pslz:sldZmObj sldId="2147479888" cId="4165569395">
                    <pslz:zmPr id="{9121BAF3-8B21-4B59-A327-3EACBE6B8DFE}" returnToParent="0" transitionDur="1000">
                      <p166:blipFill xmlns:p166="http://schemas.microsoft.com/office/powerpoint/2016/6/main">
                        <a:blip r:embed="rId2"/>
                        <a:stretch>
                          <a:fillRect/>
                        </a:stretch>
                      </p166:blipFill>
                      <p166:spPr xmlns:p166="http://schemas.microsoft.com/office/powerpoint/2016/6/main">
                        <a:xfrm>
                          <a:off x="0" y="0"/>
                          <a:ext cx="4998720" cy="2811780"/>
                        </a:xfrm>
                        <a:prstGeom prst="rect">
                          <a:avLst/>
                        </a:prstGeom>
                        <a:ln w="3175">
                          <a:solidFill>
                            <a:prstClr val="ltGray"/>
                          </a:solidFill>
                        </a:ln>
                      </p166:spPr>
                    </pslz:zmPr>
                  </pslz:sldZmObj>
                </pslz:sldZm>
              </a:graphicData>
            </a:graphic>
          </p:graphicFrame>
        </mc:Choice>
        <mc:Fallback xmlns="">
          <p:pic>
            <p:nvPicPr>
              <p:cNvPr id="6" name="Slide Zoom 5">
                <a:extLst>
                  <a:ext uri="{FF2B5EF4-FFF2-40B4-BE49-F238E27FC236}">
                    <a16:creationId xmlns:a16="http://schemas.microsoft.com/office/drawing/2014/main" id="{97C2417E-08B2-8B10-5BC8-DCC6EAE9F3F2}"/>
                  </a:ext>
                </a:extLst>
              </p:cNvPr>
              <p:cNvPicPr>
                <a:picLocks noGrp="1" noRot="1" noChangeAspect="1" noMove="1" noResize="1" noEditPoints="1" noAdjustHandles="1" noChangeArrowheads="1" noChangeShapeType="1"/>
              </p:cNvPicPr>
              <p:nvPr/>
            </p:nvPicPr>
            <p:blipFill>
              <a:blip r:embed="rId3"/>
              <a:stretch>
                <a:fillRect/>
              </a:stretch>
            </p:blipFill>
            <p:spPr>
              <a:xfrm>
                <a:off x="505152" y="2111496"/>
                <a:ext cx="4998720" cy="281178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8" name="Slide Zoom 7">
                <a:extLst>
                  <a:ext uri="{FF2B5EF4-FFF2-40B4-BE49-F238E27FC236}">
                    <a16:creationId xmlns:a16="http://schemas.microsoft.com/office/drawing/2014/main" id="{1AFD1595-0CE2-3866-C5A0-59788285F082}"/>
                  </a:ext>
                </a:extLst>
              </p:cNvPr>
              <p:cNvGraphicFramePr>
                <a:graphicFrameLocks noChangeAspect="1"/>
              </p:cNvGraphicFramePr>
              <p:nvPr>
                <p:extLst>
                  <p:ext uri="{D42A27DB-BD31-4B8C-83A1-F6EECF244321}">
                    <p14:modId xmlns:p14="http://schemas.microsoft.com/office/powerpoint/2010/main" val="808864763"/>
                  </p:ext>
                </p:extLst>
              </p:nvPr>
            </p:nvGraphicFramePr>
            <p:xfrm>
              <a:off x="6293630" y="907476"/>
              <a:ext cx="3113260" cy="1751208"/>
            </p:xfrm>
            <a:graphic>
              <a:graphicData uri="http://schemas.microsoft.com/office/powerpoint/2016/slidezoom">
                <pslz:sldZm>
                  <pslz:sldZmObj sldId="2147479897" cId="942064495">
                    <pslz:zmPr id="{33A338C5-6CC7-41AB-87D7-B05C75D1DADC}" returnToParent="0" transitionDur="1000">
                      <p166:blipFill xmlns:p166="http://schemas.microsoft.com/office/powerpoint/2016/6/main">
                        <a:blip r:embed="rId4"/>
                        <a:stretch>
                          <a:fillRect/>
                        </a:stretch>
                      </p166:blipFill>
                      <p166:spPr xmlns:p166="http://schemas.microsoft.com/office/powerpoint/2016/6/main">
                        <a:xfrm>
                          <a:off x="0" y="0"/>
                          <a:ext cx="3113260" cy="1751208"/>
                        </a:xfrm>
                        <a:prstGeom prst="rect">
                          <a:avLst/>
                        </a:prstGeom>
                        <a:ln w="3175">
                          <a:solidFill>
                            <a:prstClr val="ltGray"/>
                          </a:solidFill>
                        </a:ln>
                      </p166:spPr>
                    </pslz:zmPr>
                  </pslz:sldZmObj>
                </pslz:sldZm>
              </a:graphicData>
            </a:graphic>
          </p:graphicFrame>
        </mc:Choice>
        <mc:Fallback xmlns="">
          <p:pic>
            <p:nvPicPr>
              <p:cNvPr id="8" name="Slide Zoom 7">
                <a:extLst>
                  <a:ext uri="{FF2B5EF4-FFF2-40B4-BE49-F238E27FC236}">
                    <a16:creationId xmlns:a16="http://schemas.microsoft.com/office/drawing/2014/main" id="{1AFD1595-0CE2-3866-C5A0-59788285F082}"/>
                  </a:ext>
                </a:extLst>
              </p:cNvPr>
              <p:cNvPicPr>
                <a:picLocks noGrp="1" noRot="1" noChangeAspect="1" noMove="1" noResize="1" noEditPoints="1" noAdjustHandles="1" noChangeArrowheads="1" noChangeShapeType="1"/>
              </p:cNvPicPr>
              <p:nvPr/>
            </p:nvPicPr>
            <p:blipFill>
              <a:blip r:embed="rId5"/>
              <a:stretch>
                <a:fillRect/>
              </a:stretch>
            </p:blipFill>
            <p:spPr>
              <a:xfrm>
                <a:off x="6293630" y="907476"/>
                <a:ext cx="3113260" cy="1751208"/>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0" name="Slide Zoom 9">
                <a:extLst>
                  <a:ext uri="{FF2B5EF4-FFF2-40B4-BE49-F238E27FC236}">
                    <a16:creationId xmlns:a16="http://schemas.microsoft.com/office/drawing/2014/main" id="{2A1A5AB6-CB05-B4F7-CA52-1D9C1A2244B7}"/>
                  </a:ext>
                </a:extLst>
              </p:cNvPr>
              <p:cNvGraphicFramePr>
                <a:graphicFrameLocks noChangeAspect="1"/>
              </p:cNvGraphicFramePr>
              <p:nvPr>
                <p:extLst>
                  <p:ext uri="{D42A27DB-BD31-4B8C-83A1-F6EECF244321}">
                    <p14:modId xmlns:p14="http://schemas.microsoft.com/office/powerpoint/2010/main" val="4262004346"/>
                  </p:ext>
                </p:extLst>
              </p:nvPr>
            </p:nvGraphicFramePr>
            <p:xfrm>
              <a:off x="6293630" y="2844543"/>
              <a:ext cx="3080630" cy="1714500"/>
            </p:xfrm>
            <a:graphic>
              <a:graphicData uri="http://schemas.microsoft.com/office/powerpoint/2016/slidezoom">
                <pslz:sldZm>
                  <pslz:sldZmObj sldId="2147479860" cId="3934362477">
                    <pslz:zmPr id="{B2A363EA-B407-43A9-AF34-8D42448F8D06}" returnToParent="0" transitionDur="1000">
                      <p166:blipFill xmlns:p166="http://schemas.microsoft.com/office/powerpoint/2016/6/main">
                        <a:blip r:embed="rId6"/>
                        <a:stretch>
                          <a:fillRect/>
                        </a:stretch>
                      </p166:blipFill>
                      <p166:spPr xmlns:p166="http://schemas.microsoft.com/office/powerpoint/2016/6/main">
                        <a:xfrm>
                          <a:off x="0" y="0"/>
                          <a:ext cx="3080630" cy="1714500"/>
                        </a:xfrm>
                        <a:prstGeom prst="rect">
                          <a:avLst/>
                        </a:prstGeom>
                        <a:ln w="3175">
                          <a:solidFill>
                            <a:prstClr val="ltGray"/>
                          </a:solidFill>
                        </a:ln>
                      </p166:spPr>
                    </pslz:zmPr>
                  </pslz:sldZmObj>
                </pslz:sldZm>
              </a:graphicData>
            </a:graphic>
          </p:graphicFrame>
        </mc:Choice>
        <mc:Fallback xmlns="">
          <p:pic>
            <p:nvPicPr>
              <p:cNvPr id="10" name="Slide Zoom 9">
                <a:extLst>
                  <a:ext uri="{FF2B5EF4-FFF2-40B4-BE49-F238E27FC236}">
                    <a16:creationId xmlns:a16="http://schemas.microsoft.com/office/drawing/2014/main" id="{2A1A5AB6-CB05-B4F7-CA52-1D9C1A2244B7}"/>
                  </a:ext>
                </a:extLst>
              </p:cNvPr>
              <p:cNvPicPr>
                <a:picLocks noGrp="1" noRot="1" noChangeAspect="1" noMove="1" noResize="1" noEditPoints="1" noAdjustHandles="1" noChangeArrowheads="1" noChangeShapeType="1"/>
              </p:cNvPicPr>
              <p:nvPr/>
            </p:nvPicPr>
            <p:blipFill>
              <a:blip r:embed="rId7"/>
              <a:stretch>
                <a:fillRect/>
              </a:stretch>
            </p:blipFill>
            <p:spPr>
              <a:xfrm>
                <a:off x="6293630" y="2844543"/>
                <a:ext cx="308063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2" name="Slide Zoom 11">
                <a:extLst>
                  <a:ext uri="{FF2B5EF4-FFF2-40B4-BE49-F238E27FC236}">
                    <a16:creationId xmlns:a16="http://schemas.microsoft.com/office/drawing/2014/main" id="{C10E1AB5-EE16-0384-DA1E-E4FD12C51BA1}"/>
                  </a:ext>
                </a:extLst>
              </p:cNvPr>
              <p:cNvGraphicFramePr>
                <a:graphicFrameLocks noChangeAspect="1"/>
              </p:cNvGraphicFramePr>
              <p:nvPr>
                <p:extLst>
                  <p:ext uri="{D42A27DB-BD31-4B8C-83A1-F6EECF244321}">
                    <p14:modId xmlns:p14="http://schemas.microsoft.com/office/powerpoint/2010/main" val="4101945475"/>
                  </p:ext>
                </p:extLst>
              </p:nvPr>
            </p:nvGraphicFramePr>
            <p:xfrm>
              <a:off x="6293630" y="4749408"/>
              <a:ext cx="3113260" cy="1751208"/>
            </p:xfrm>
            <a:graphic>
              <a:graphicData uri="http://schemas.microsoft.com/office/powerpoint/2016/slidezoom">
                <pslz:sldZm>
                  <pslz:sldZmObj sldId="2147479885" cId="1415109874">
                    <pslz:zmPr id="{3973724A-8D6D-48DF-A1CF-3E58D50B0B26}" returnToParent="0" transitionDur="1000">
                      <p166:blipFill xmlns:p166="http://schemas.microsoft.com/office/powerpoint/2016/6/main">
                        <a:blip r:embed="rId8"/>
                        <a:stretch>
                          <a:fillRect/>
                        </a:stretch>
                      </p166:blipFill>
                      <p166:spPr xmlns:p166="http://schemas.microsoft.com/office/powerpoint/2016/6/main">
                        <a:xfrm>
                          <a:off x="0" y="0"/>
                          <a:ext cx="3113260" cy="1751208"/>
                        </a:xfrm>
                        <a:prstGeom prst="rect">
                          <a:avLst/>
                        </a:prstGeom>
                        <a:ln w="3175">
                          <a:solidFill>
                            <a:prstClr val="ltGray"/>
                          </a:solidFill>
                        </a:ln>
                      </p166:spPr>
                    </pslz:zmPr>
                  </pslz:sldZmObj>
                </pslz:sldZm>
              </a:graphicData>
            </a:graphic>
          </p:graphicFrame>
        </mc:Choice>
        <mc:Fallback xmlns="">
          <p:pic>
            <p:nvPicPr>
              <p:cNvPr id="12" name="Slide Zoom 11">
                <a:extLst>
                  <a:ext uri="{FF2B5EF4-FFF2-40B4-BE49-F238E27FC236}">
                    <a16:creationId xmlns:a16="http://schemas.microsoft.com/office/drawing/2014/main" id="{C10E1AB5-EE16-0384-DA1E-E4FD12C51BA1}"/>
                  </a:ext>
                </a:extLst>
              </p:cNvPr>
              <p:cNvPicPr>
                <a:picLocks noGrp="1" noRot="1" noChangeAspect="1" noMove="1" noResize="1" noEditPoints="1" noAdjustHandles="1" noChangeArrowheads="1" noChangeShapeType="1"/>
              </p:cNvPicPr>
              <p:nvPr/>
            </p:nvPicPr>
            <p:blipFill>
              <a:blip r:embed="rId9"/>
              <a:stretch>
                <a:fillRect/>
              </a:stretch>
            </p:blipFill>
            <p:spPr>
              <a:xfrm>
                <a:off x="6293630" y="4749408"/>
                <a:ext cx="3113260" cy="1751208"/>
              </a:xfrm>
              <a:prstGeom prst="rect">
                <a:avLst/>
              </a:prstGeom>
              <a:ln w="3175">
                <a:solidFill>
                  <a:prstClr val="ltGray"/>
                </a:solidFill>
              </a:ln>
            </p:spPr>
          </p:pic>
        </mc:Fallback>
      </mc:AlternateContent>
    </p:spTree>
    <p:extLst>
      <p:ext uri="{BB962C8B-B14F-4D97-AF65-F5344CB8AC3E}">
        <p14:creationId xmlns:p14="http://schemas.microsoft.com/office/powerpoint/2010/main" val="2517731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9FA0A-AA50-9CCC-AF9C-1A67C428B50B}"/>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B657F44A-E32A-CB5C-8A1E-E71DB47E2357}"/>
              </a:ext>
            </a:extLst>
          </p:cNvPr>
          <p:cNvSpPr/>
          <p:nvPr/>
        </p:nvSpPr>
        <p:spPr>
          <a:xfrm>
            <a:off x="4122326" y="1279170"/>
            <a:ext cx="4467102" cy="4999165"/>
          </a:xfrm>
          <a:prstGeom prst="roundRect">
            <a:avLst>
              <a:gd name="adj" fmla="val 4278"/>
            </a:avLst>
          </a:prstGeom>
          <a:solidFill>
            <a:schemeClr val="bg1"/>
          </a:solidFill>
          <a:ln w="12700">
            <a:solidFill>
              <a:srgbClr val="0070C0"/>
            </a:solidFill>
          </a:ln>
          <a:effectLst>
            <a:outerShdw blurRad="3278" sx="102000" sy="102000" algn="ctr" rotWithShape="0">
              <a:srgbClr val="00B0F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0">
            <a:extLst>
              <a:ext uri="{FF2B5EF4-FFF2-40B4-BE49-F238E27FC236}">
                <a16:creationId xmlns:a16="http://schemas.microsoft.com/office/drawing/2014/main" id="{95B2359D-F098-C5E7-7EBA-EE42319EFF7E}"/>
              </a:ext>
            </a:extLst>
          </p:cNvPr>
          <p:cNvSpPr/>
          <p:nvPr/>
        </p:nvSpPr>
        <p:spPr>
          <a:xfrm>
            <a:off x="4563494" y="1060279"/>
            <a:ext cx="3487764" cy="382386"/>
          </a:xfrm>
          <a:prstGeom prst="roundRect">
            <a:avLst>
              <a:gd name="adj" fmla="val 4058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AA0BC8-3D6C-9A5C-193D-C87D52AF7F2D}"/>
              </a:ext>
            </a:extLst>
          </p:cNvPr>
          <p:cNvSpPr>
            <a:spLocks noGrp="1"/>
          </p:cNvSpPr>
          <p:nvPr>
            <p:ph type="title"/>
          </p:nvPr>
        </p:nvSpPr>
        <p:spPr/>
        <p:txBody>
          <a:bodyPr/>
          <a:lstStyle/>
          <a:p>
            <a:r>
              <a:rPr lang="en-IN"/>
              <a:t>Our Engagement Models</a:t>
            </a:r>
          </a:p>
        </p:txBody>
      </p:sp>
      <p:sp>
        <p:nvSpPr>
          <p:cNvPr id="5" name="Rounded Rectangle 4">
            <a:extLst>
              <a:ext uri="{FF2B5EF4-FFF2-40B4-BE49-F238E27FC236}">
                <a16:creationId xmlns:a16="http://schemas.microsoft.com/office/drawing/2014/main" id="{65BBF5AF-B810-6EB2-D10B-80C58B8E23E7}"/>
              </a:ext>
            </a:extLst>
          </p:cNvPr>
          <p:cNvSpPr/>
          <p:nvPr/>
        </p:nvSpPr>
        <p:spPr>
          <a:xfrm>
            <a:off x="285205" y="1279170"/>
            <a:ext cx="3458095" cy="4999165"/>
          </a:xfrm>
          <a:prstGeom prst="roundRect">
            <a:avLst>
              <a:gd name="adj" fmla="val 4278"/>
            </a:avLst>
          </a:prstGeom>
          <a:solidFill>
            <a:schemeClr val="bg1"/>
          </a:solid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9A172D4F-3A5D-D643-C77C-29CAD7A85A13}"/>
              </a:ext>
            </a:extLst>
          </p:cNvPr>
          <p:cNvSpPr/>
          <p:nvPr/>
        </p:nvSpPr>
        <p:spPr>
          <a:xfrm>
            <a:off x="285205" y="1060279"/>
            <a:ext cx="3487764" cy="382386"/>
          </a:xfrm>
          <a:prstGeom prst="roundRect">
            <a:avLst>
              <a:gd name="adj" fmla="val 4058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735B51AC-D6EE-1A1B-8858-61078028A7BC}"/>
              </a:ext>
            </a:extLst>
          </p:cNvPr>
          <p:cNvSpPr txBox="1"/>
          <p:nvPr/>
        </p:nvSpPr>
        <p:spPr>
          <a:xfrm>
            <a:off x="880078" y="1112973"/>
            <a:ext cx="2268348" cy="276999"/>
          </a:xfrm>
          <a:prstGeom prst="rect">
            <a:avLst/>
          </a:prstGeom>
          <a:noFill/>
        </p:spPr>
        <p:txBody>
          <a:bodyPr wrap="square" rtlCol="0">
            <a:spAutoFit/>
          </a:bodyPr>
          <a:lstStyle/>
          <a:p>
            <a:pPr algn="ctr">
              <a:buNone/>
            </a:pPr>
            <a:r>
              <a:rPr lang="en-US" sz="1200" b="1" dirty="0">
                <a:solidFill>
                  <a:schemeClr val="bg1"/>
                </a:solidFill>
                <a:latin typeface="Lato" panose="020F0502020204030203" pitchFamily="34" charset="0"/>
                <a:ea typeface="Lato" panose="020F0502020204030203" pitchFamily="34" charset="0"/>
                <a:cs typeface="Lato" panose="020F0502020204030203" pitchFamily="34" charset="0"/>
              </a:rPr>
              <a:t>Staff Augmentation</a:t>
            </a:r>
          </a:p>
        </p:txBody>
      </p:sp>
      <p:sp>
        <p:nvSpPr>
          <p:cNvPr id="15" name="TextBox 14">
            <a:extLst>
              <a:ext uri="{FF2B5EF4-FFF2-40B4-BE49-F238E27FC236}">
                <a16:creationId xmlns:a16="http://schemas.microsoft.com/office/drawing/2014/main" id="{23D3D25A-7984-71A1-177B-E38EE1103C2C}"/>
              </a:ext>
            </a:extLst>
          </p:cNvPr>
          <p:cNvSpPr txBox="1"/>
          <p:nvPr/>
        </p:nvSpPr>
        <p:spPr>
          <a:xfrm>
            <a:off x="4817782" y="1097584"/>
            <a:ext cx="3076190" cy="307777"/>
          </a:xfrm>
          <a:prstGeom prst="rect">
            <a:avLst/>
          </a:prstGeom>
          <a:noFill/>
        </p:spPr>
        <p:txBody>
          <a:bodyPr wrap="square" rtlCol="0">
            <a:spAutoFit/>
          </a:bodyPr>
          <a:lstStyle/>
          <a:p>
            <a:pPr algn="ctr">
              <a:buNone/>
            </a:pPr>
            <a:r>
              <a:rPr lang="en-US" sz="1400" b="1" dirty="0">
                <a:solidFill>
                  <a:schemeClr val="bg1"/>
                </a:solidFill>
                <a:latin typeface="Lato" panose="020F0502020204030203" pitchFamily="34" charset="0"/>
                <a:ea typeface="Lato" panose="020F0502020204030203" pitchFamily="34" charset="0"/>
                <a:cs typeface="Lato" panose="020F0502020204030203" pitchFamily="34" charset="0"/>
              </a:rPr>
              <a:t>Managed Delivery POD</a:t>
            </a:r>
          </a:p>
        </p:txBody>
      </p:sp>
      <p:sp>
        <p:nvSpPr>
          <p:cNvPr id="16" name="Rounded Rectangle 15">
            <a:extLst>
              <a:ext uri="{FF2B5EF4-FFF2-40B4-BE49-F238E27FC236}">
                <a16:creationId xmlns:a16="http://schemas.microsoft.com/office/drawing/2014/main" id="{00AE82A2-DDC7-B89D-3F3A-26367E69CB3B}"/>
              </a:ext>
            </a:extLst>
          </p:cNvPr>
          <p:cNvSpPr/>
          <p:nvPr/>
        </p:nvSpPr>
        <p:spPr>
          <a:xfrm>
            <a:off x="813459" y="1603720"/>
            <a:ext cx="2268348" cy="276999"/>
          </a:xfrm>
          <a:prstGeom prst="roundRect">
            <a:avLst>
              <a:gd name="adj" fmla="val 40580"/>
            </a:avLst>
          </a:prstGeom>
          <a:solidFill>
            <a:schemeClr val="tx2">
              <a:lumMod val="10000"/>
              <a:lumOff val="90000"/>
            </a:schemeClr>
          </a:solidFill>
          <a:ln w="31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1777B9F8-EF56-9288-64DF-34631404FA9D}"/>
              </a:ext>
            </a:extLst>
          </p:cNvPr>
          <p:cNvSpPr txBox="1"/>
          <p:nvPr/>
        </p:nvSpPr>
        <p:spPr>
          <a:xfrm>
            <a:off x="880772" y="1603721"/>
            <a:ext cx="2268348" cy="276999"/>
          </a:xfrm>
          <a:prstGeom prst="rect">
            <a:avLst/>
          </a:prstGeom>
          <a:noFill/>
        </p:spPr>
        <p:txBody>
          <a:bodyPr wrap="square" rtlCol="0">
            <a:spAutoFit/>
          </a:bodyPr>
          <a:lstStyle/>
          <a:p>
            <a:pPr algn="ctr">
              <a:buNone/>
            </a:pPr>
            <a:r>
              <a:rPr lang="en-US" sz="1200" b="1">
                <a:latin typeface="Lato" panose="020F0502020204030203" pitchFamily="34" charset="0"/>
                <a:ea typeface="Lato" panose="020F0502020204030203" pitchFamily="34" charset="0"/>
                <a:cs typeface="Lato" panose="020F0502020204030203" pitchFamily="34" charset="0"/>
              </a:rPr>
              <a:t>What We Deliver</a:t>
            </a:r>
          </a:p>
        </p:txBody>
      </p:sp>
      <p:sp>
        <p:nvSpPr>
          <p:cNvPr id="18" name="TextBox 17">
            <a:extLst>
              <a:ext uri="{FF2B5EF4-FFF2-40B4-BE49-F238E27FC236}">
                <a16:creationId xmlns:a16="http://schemas.microsoft.com/office/drawing/2014/main" id="{DDEE3C58-BDDD-9506-6E33-D9DBEEF89865}"/>
              </a:ext>
            </a:extLst>
          </p:cNvPr>
          <p:cNvSpPr txBox="1"/>
          <p:nvPr/>
        </p:nvSpPr>
        <p:spPr>
          <a:xfrm>
            <a:off x="285204" y="1950973"/>
            <a:ext cx="3458095" cy="1800493"/>
          </a:xfrm>
          <a:prstGeom prst="rect">
            <a:avLst/>
          </a:prstGeom>
          <a:noFill/>
        </p:spPr>
        <p:txBody>
          <a:bodyPr wrap="square" rtlCol="0">
            <a:spAutoFit/>
          </a:bodyPr>
          <a:lstStyle/>
          <a:p>
            <a:pPr marL="171450" indent="-171450">
              <a:spcBef>
                <a:spcPts val="600"/>
              </a:spcBef>
              <a:buClr>
                <a:srgbClr val="00B0F0"/>
              </a:buClr>
              <a:buFont typeface="Wingdings" pitchFamily="2" charset="2"/>
              <a:buChar char="Ø"/>
            </a:pPr>
            <a:r>
              <a:rPr lang="en-US" sz="1200">
                <a:latin typeface="Lato" panose="020F0502020204030203" pitchFamily="34" charset="0"/>
                <a:ea typeface="Lato" panose="020F0502020204030203" pitchFamily="34" charset="0"/>
                <a:cs typeface="Lato" panose="020F0502020204030203" pitchFamily="34" charset="0"/>
              </a:rPr>
              <a:t>Individual skilled resources aligned to Daikin teams</a:t>
            </a:r>
          </a:p>
          <a:p>
            <a:pPr marL="171450" indent="-171450">
              <a:spcBef>
                <a:spcPts val="600"/>
              </a:spcBef>
              <a:buClr>
                <a:srgbClr val="00B0F0"/>
              </a:buClr>
              <a:buFont typeface="Wingdings" pitchFamily="2" charset="2"/>
              <a:buChar char="Ø"/>
            </a:pPr>
            <a:r>
              <a:rPr lang="en-US" sz="1200">
                <a:latin typeface="Lato" panose="020F0502020204030203" pitchFamily="34" charset="0"/>
                <a:ea typeface="Lato" panose="020F0502020204030203" pitchFamily="34" charset="0"/>
                <a:cs typeface="Lato" panose="020F0502020204030203" pitchFamily="34" charset="0"/>
              </a:rPr>
              <a:t>Execution support for development, enhancement, and support activities</a:t>
            </a:r>
          </a:p>
          <a:p>
            <a:pPr marL="171450" indent="-171450">
              <a:spcBef>
                <a:spcPts val="600"/>
              </a:spcBef>
              <a:buClr>
                <a:srgbClr val="00B0F0"/>
              </a:buClr>
              <a:buFont typeface="Wingdings" pitchFamily="2" charset="2"/>
              <a:buChar char="Ø"/>
            </a:pPr>
            <a:r>
              <a:rPr lang="en-US" sz="1200">
                <a:latin typeface="Lato" panose="020F0502020204030203" pitchFamily="34" charset="0"/>
                <a:ea typeface="Lato" panose="020F0502020204030203" pitchFamily="34" charset="0"/>
                <a:cs typeface="Lato" panose="020F0502020204030203" pitchFamily="34" charset="0"/>
              </a:rPr>
              <a:t>Resources operate under Daikin’s delivery ownership and governance</a:t>
            </a:r>
          </a:p>
          <a:p>
            <a:pPr marL="171450" indent="-171450">
              <a:spcBef>
                <a:spcPts val="600"/>
              </a:spcBef>
              <a:buClr>
                <a:srgbClr val="00B0F0"/>
              </a:buClr>
              <a:buFont typeface="Wingdings" pitchFamily="2" charset="2"/>
              <a:buChar char="Ø"/>
            </a:pPr>
            <a:r>
              <a:rPr lang="en-US" sz="1200">
                <a:latin typeface="Lato" panose="020F0502020204030203" pitchFamily="34" charset="0"/>
                <a:ea typeface="Lato" panose="020F0502020204030203" pitchFamily="34" charset="0"/>
                <a:cs typeface="Lato" panose="020F0502020204030203" pitchFamily="34" charset="0"/>
              </a:rPr>
              <a:t>Flexible ramp-up based on immediate capacity needs</a:t>
            </a:r>
          </a:p>
        </p:txBody>
      </p:sp>
      <p:sp>
        <p:nvSpPr>
          <p:cNvPr id="20" name="TextBox 19">
            <a:extLst>
              <a:ext uri="{FF2B5EF4-FFF2-40B4-BE49-F238E27FC236}">
                <a16:creationId xmlns:a16="http://schemas.microsoft.com/office/drawing/2014/main" id="{9C4BFF32-F899-5593-A085-969CAA13EBAC}"/>
              </a:ext>
            </a:extLst>
          </p:cNvPr>
          <p:cNvSpPr txBox="1"/>
          <p:nvPr/>
        </p:nvSpPr>
        <p:spPr>
          <a:xfrm>
            <a:off x="4092657" y="1950973"/>
            <a:ext cx="4496772" cy="1877437"/>
          </a:xfrm>
          <a:prstGeom prst="rect">
            <a:avLst/>
          </a:prstGeom>
          <a:noFill/>
        </p:spPr>
        <p:txBody>
          <a:bodyPr wrap="square" rtlCol="0">
            <a:spAutoFit/>
          </a:bodyPr>
          <a:lstStyle/>
          <a:p>
            <a:pPr marL="171450" indent="-171450">
              <a:spcBef>
                <a:spcPts val="600"/>
              </a:spcBef>
              <a:buClr>
                <a:srgbClr val="00B0F0"/>
              </a:buClr>
              <a:buFont typeface="Wingdings" pitchFamily="2" charset="2"/>
              <a:buChar char="Ø"/>
            </a:pPr>
            <a:r>
              <a:rPr lang="en-US" sz="1200">
                <a:latin typeface="Lato" panose="020F0502020204030203" pitchFamily="34" charset="0"/>
                <a:ea typeface="Lato" panose="020F0502020204030203" pitchFamily="34" charset="0"/>
                <a:cs typeface="Lato" panose="020F0502020204030203" pitchFamily="34" charset="0"/>
              </a:rPr>
              <a:t>End-to-end POD ownership covering platform, engineering, and operations</a:t>
            </a:r>
          </a:p>
          <a:p>
            <a:pPr marL="171450" indent="-171450">
              <a:spcBef>
                <a:spcPts val="600"/>
              </a:spcBef>
              <a:buClr>
                <a:srgbClr val="00B0F0"/>
              </a:buClr>
              <a:buFont typeface="Wingdings" pitchFamily="2" charset="2"/>
              <a:buChar char="Ø"/>
            </a:pPr>
            <a:r>
              <a:rPr lang="en-US" sz="1200">
                <a:latin typeface="Lato" panose="020F0502020204030203" pitchFamily="34" charset="0"/>
                <a:ea typeface="Lato" panose="020F0502020204030203" pitchFamily="34" charset="0"/>
                <a:cs typeface="Lato" panose="020F0502020204030203" pitchFamily="34" charset="0"/>
              </a:rPr>
              <a:t>Vendor-managed delivery, governance, and performance tracking</a:t>
            </a:r>
          </a:p>
          <a:p>
            <a:pPr marL="171450" indent="-171450">
              <a:spcBef>
                <a:spcPts val="600"/>
              </a:spcBef>
              <a:buClr>
                <a:srgbClr val="00B0F0"/>
              </a:buClr>
              <a:buFont typeface="Wingdings" pitchFamily="2" charset="2"/>
              <a:buChar char="Ø"/>
            </a:pPr>
            <a:r>
              <a:rPr lang="en-US" sz="1200">
                <a:latin typeface="Lato" panose="020F0502020204030203" pitchFamily="34" charset="0"/>
                <a:ea typeface="Lato" panose="020F0502020204030203" pitchFamily="34" charset="0"/>
                <a:cs typeface="Lato" panose="020F0502020204030203" pitchFamily="34" charset="0"/>
              </a:rPr>
              <a:t>Defined SLAs, KPIs, and value-based execution model</a:t>
            </a:r>
          </a:p>
          <a:p>
            <a:pPr marL="171450" indent="-171450">
              <a:spcBef>
                <a:spcPts val="600"/>
              </a:spcBef>
              <a:buClr>
                <a:srgbClr val="00B0F0"/>
              </a:buClr>
              <a:buFont typeface="Wingdings" pitchFamily="2" charset="2"/>
              <a:buChar char="Ø"/>
            </a:pPr>
            <a:r>
              <a:rPr lang="en-US" sz="1200">
                <a:latin typeface="Lato" panose="020F0502020204030203" pitchFamily="34" charset="0"/>
                <a:ea typeface="Lato" panose="020F0502020204030203" pitchFamily="34" charset="0"/>
                <a:cs typeface="Lato" panose="020F0502020204030203" pitchFamily="34" charset="0"/>
              </a:rPr>
              <a:t>Continuous platform optimization and advisory support</a:t>
            </a:r>
          </a:p>
          <a:p>
            <a:pPr marL="171450" indent="-171450">
              <a:spcBef>
                <a:spcPts val="600"/>
              </a:spcBef>
              <a:buClr>
                <a:srgbClr val="00B0F0"/>
              </a:buClr>
              <a:buFont typeface="Wingdings" pitchFamily="2" charset="2"/>
              <a:buChar char="Ø"/>
            </a:pPr>
            <a:r>
              <a:rPr lang="en-US" sz="1200">
                <a:latin typeface="Lato" panose="020F0502020204030203" pitchFamily="34" charset="0"/>
                <a:ea typeface="Lato" panose="020F0502020204030203" pitchFamily="34" charset="0"/>
                <a:cs typeface="Lato" panose="020F0502020204030203" pitchFamily="34" charset="0"/>
              </a:rPr>
              <a:t>Hybrid nearshore–offshore execution ensuring collaboration and scalability</a:t>
            </a:r>
          </a:p>
        </p:txBody>
      </p:sp>
      <p:sp>
        <p:nvSpPr>
          <p:cNvPr id="21" name="Rounded Rectangle 20">
            <a:extLst>
              <a:ext uri="{FF2B5EF4-FFF2-40B4-BE49-F238E27FC236}">
                <a16:creationId xmlns:a16="http://schemas.microsoft.com/office/drawing/2014/main" id="{D1DA9C74-A7F3-50B9-81CA-490BC90934B4}"/>
              </a:ext>
            </a:extLst>
          </p:cNvPr>
          <p:cNvSpPr/>
          <p:nvPr/>
        </p:nvSpPr>
        <p:spPr>
          <a:xfrm>
            <a:off x="813459" y="4074959"/>
            <a:ext cx="2268348" cy="276999"/>
          </a:xfrm>
          <a:prstGeom prst="roundRect">
            <a:avLst>
              <a:gd name="adj" fmla="val 40580"/>
            </a:avLst>
          </a:prstGeom>
          <a:solidFill>
            <a:schemeClr val="tx2">
              <a:lumMod val="10000"/>
              <a:lumOff val="90000"/>
            </a:schemeClr>
          </a:solidFill>
          <a:ln w="31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DE3474A1-68CF-2C52-E9C1-B9783851563B}"/>
              </a:ext>
            </a:extLst>
          </p:cNvPr>
          <p:cNvSpPr txBox="1"/>
          <p:nvPr/>
        </p:nvSpPr>
        <p:spPr>
          <a:xfrm>
            <a:off x="314874" y="4470353"/>
            <a:ext cx="3458095" cy="1477328"/>
          </a:xfrm>
          <a:prstGeom prst="rect">
            <a:avLst/>
          </a:prstGeom>
          <a:noFill/>
        </p:spPr>
        <p:txBody>
          <a:bodyPr wrap="square" rtlCol="0">
            <a:spAutoFit/>
          </a:bodyPr>
          <a:lstStyle/>
          <a:p>
            <a:pPr marL="171450" indent="-171450">
              <a:spcBef>
                <a:spcPts val="1200"/>
              </a:spcBef>
              <a:buClr>
                <a:srgbClr val="00B0F0"/>
              </a:buClr>
              <a:buFont typeface="Wingdings" pitchFamily="2" charset="2"/>
              <a:buChar char="Ø"/>
            </a:pPr>
            <a:r>
              <a:rPr lang="en-US" sz="1200">
                <a:latin typeface="Lato" panose="020F0502020204030203" pitchFamily="34" charset="0"/>
                <a:ea typeface="Lato" panose="020F0502020204030203" pitchFamily="34" charset="0"/>
                <a:cs typeface="Lato" panose="020F0502020204030203" pitchFamily="34" charset="0"/>
              </a:rPr>
              <a:t>Quick onboarding for short-term skill gaps</a:t>
            </a:r>
          </a:p>
          <a:p>
            <a:pPr marL="171450" indent="-171450">
              <a:spcBef>
                <a:spcPts val="1200"/>
              </a:spcBef>
              <a:buClr>
                <a:srgbClr val="00B0F0"/>
              </a:buClr>
              <a:buFont typeface="Wingdings" pitchFamily="2" charset="2"/>
              <a:buChar char="Ø"/>
            </a:pPr>
            <a:r>
              <a:rPr lang="en-US" sz="1200">
                <a:latin typeface="Lato" panose="020F0502020204030203" pitchFamily="34" charset="0"/>
                <a:ea typeface="Lato" panose="020F0502020204030203" pitchFamily="34" charset="0"/>
                <a:cs typeface="Lato" panose="020F0502020204030203" pitchFamily="34" charset="0"/>
              </a:rPr>
              <a:t>High flexibility in resource scaling</a:t>
            </a:r>
          </a:p>
          <a:p>
            <a:pPr marL="171450" indent="-171450">
              <a:spcBef>
                <a:spcPts val="1200"/>
              </a:spcBef>
              <a:buClr>
                <a:srgbClr val="00B0F0"/>
              </a:buClr>
              <a:buFont typeface="Wingdings" pitchFamily="2" charset="2"/>
              <a:buChar char="Ø"/>
            </a:pPr>
            <a:r>
              <a:rPr lang="en-US" sz="1200">
                <a:latin typeface="Lato" panose="020F0502020204030203" pitchFamily="34" charset="0"/>
                <a:ea typeface="Lato" panose="020F0502020204030203" pitchFamily="34" charset="0"/>
                <a:cs typeface="Lato" panose="020F0502020204030203" pitchFamily="34" charset="0"/>
              </a:rPr>
              <a:t>Suitable for tactical or temporary workload support</a:t>
            </a:r>
          </a:p>
          <a:p>
            <a:pPr marL="171450" indent="-171450">
              <a:spcBef>
                <a:spcPts val="1200"/>
              </a:spcBef>
              <a:buClr>
                <a:srgbClr val="00B0F0"/>
              </a:buClr>
              <a:buFont typeface="Wingdings" pitchFamily="2" charset="2"/>
              <a:buChar char="Ø"/>
            </a:pPr>
            <a:r>
              <a:rPr lang="en-US" sz="1200">
                <a:latin typeface="Lato" panose="020F0502020204030203" pitchFamily="34" charset="0"/>
                <a:ea typeface="Lato" panose="020F0502020204030203" pitchFamily="34" charset="0"/>
                <a:cs typeface="Lato" panose="020F0502020204030203" pitchFamily="34" charset="0"/>
              </a:rPr>
              <a:t>Direct operational control retained by Daikin</a:t>
            </a:r>
          </a:p>
        </p:txBody>
      </p:sp>
      <p:sp>
        <p:nvSpPr>
          <p:cNvPr id="25" name="TextBox 24">
            <a:extLst>
              <a:ext uri="{FF2B5EF4-FFF2-40B4-BE49-F238E27FC236}">
                <a16:creationId xmlns:a16="http://schemas.microsoft.com/office/drawing/2014/main" id="{14E55478-2EC5-0870-E17A-662952542FE2}"/>
              </a:ext>
            </a:extLst>
          </p:cNvPr>
          <p:cNvSpPr txBox="1"/>
          <p:nvPr/>
        </p:nvSpPr>
        <p:spPr>
          <a:xfrm>
            <a:off x="4122326" y="4470353"/>
            <a:ext cx="4437433" cy="1631216"/>
          </a:xfrm>
          <a:prstGeom prst="rect">
            <a:avLst/>
          </a:prstGeom>
          <a:noFill/>
        </p:spPr>
        <p:txBody>
          <a:bodyPr wrap="square" rtlCol="0">
            <a:spAutoFit/>
          </a:bodyPr>
          <a:lstStyle/>
          <a:p>
            <a:pPr marL="171450" indent="-171450">
              <a:spcBef>
                <a:spcPts val="1200"/>
              </a:spcBef>
              <a:buClr>
                <a:srgbClr val="00B0F0"/>
              </a:buClr>
              <a:buFont typeface="Wingdings" pitchFamily="2" charset="2"/>
              <a:buChar char="Ø"/>
            </a:pPr>
            <a:r>
              <a:rPr lang="en-US" sz="1200">
                <a:latin typeface="Lato" panose="020F0502020204030203" pitchFamily="34" charset="0"/>
                <a:ea typeface="Lato" panose="020F0502020204030203" pitchFamily="34" charset="0"/>
                <a:cs typeface="Lato" panose="020F0502020204030203" pitchFamily="34" charset="0"/>
              </a:rPr>
              <a:t>Single-point ownership and accountability</a:t>
            </a:r>
          </a:p>
          <a:p>
            <a:pPr marL="171450" indent="-171450">
              <a:spcBef>
                <a:spcPts val="1200"/>
              </a:spcBef>
              <a:buClr>
                <a:srgbClr val="00B0F0"/>
              </a:buClr>
              <a:buFont typeface="Wingdings" pitchFamily="2" charset="2"/>
              <a:buChar char="Ø"/>
            </a:pPr>
            <a:r>
              <a:rPr lang="en-US" sz="1200">
                <a:latin typeface="Lato" panose="020F0502020204030203" pitchFamily="34" charset="0"/>
                <a:ea typeface="Lato" panose="020F0502020204030203" pitchFamily="34" charset="0"/>
                <a:cs typeface="Lato" panose="020F0502020204030203" pitchFamily="34" charset="0"/>
              </a:rPr>
              <a:t>Reduced operational dependency risks</a:t>
            </a:r>
          </a:p>
          <a:p>
            <a:pPr marL="171450" indent="-171450">
              <a:spcBef>
                <a:spcPts val="1200"/>
              </a:spcBef>
              <a:buClr>
                <a:srgbClr val="00B0F0"/>
              </a:buClr>
              <a:buFont typeface="Wingdings" pitchFamily="2" charset="2"/>
              <a:buChar char="Ø"/>
            </a:pPr>
            <a:r>
              <a:rPr lang="en-US" sz="1200">
                <a:latin typeface="Lato" panose="020F0502020204030203" pitchFamily="34" charset="0"/>
                <a:ea typeface="Lato" panose="020F0502020204030203" pitchFamily="34" charset="0"/>
                <a:cs typeface="Lato" panose="020F0502020204030203" pitchFamily="34" charset="0"/>
              </a:rPr>
              <a:t>Predictable delivery aligned to business outcomes</a:t>
            </a:r>
          </a:p>
          <a:p>
            <a:pPr marL="171450" indent="-171450">
              <a:spcBef>
                <a:spcPts val="1200"/>
              </a:spcBef>
              <a:buClr>
                <a:srgbClr val="00B0F0"/>
              </a:buClr>
              <a:buFont typeface="Wingdings" pitchFamily="2" charset="2"/>
              <a:buChar char="Ø"/>
            </a:pPr>
            <a:r>
              <a:rPr lang="en-US" sz="1200">
                <a:latin typeface="Lato" panose="020F0502020204030203" pitchFamily="34" charset="0"/>
                <a:ea typeface="Lato" panose="020F0502020204030203" pitchFamily="34" charset="0"/>
                <a:cs typeface="Lato" panose="020F0502020204030203" pitchFamily="34" charset="0"/>
              </a:rPr>
              <a:t>Faster onboarding of new data domains and use cases</a:t>
            </a:r>
          </a:p>
          <a:p>
            <a:pPr marL="171450" indent="-171450">
              <a:spcBef>
                <a:spcPts val="1200"/>
              </a:spcBef>
              <a:buClr>
                <a:srgbClr val="00B0F0"/>
              </a:buClr>
              <a:buFont typeface="Wingdings" pitchFamily="2" charset="2"/>
              <a:buChar char="Ø"/>
            </a:pPr>
            <a:r>
              <a:rPr lang="en-US" sz="1200">
                <a:latin typeface="Lato" panose="020F0502020204030203" pitchFamily="34" charset="0"/>
                <a:ea typeface="Lato" panose="020F0502020204030203" pitchFamily="34" charset="0"/>
                <a:cs typeface="Lato" panose="020F0502020204030203" pitchFamily="34" charset="0"/>
              </a:rPr>
              <a:t>Improved platform stability, documentation, and governance</a:t>
            </a:r>
          </a:p>
        </p:txBody>
      </p:sp>
      <p:sp>
        <p:nvSpPr>
          <p:cNvPr id="4" name="TextBox 3">
            <a:extLst>
              <a:ext uri="{FF2B5EF4-FFF2-40B4-BE49-F238E27FC236}">
                <a16:creationId xmlns:a16="http://schemas.microsoft.com/office/drawing/2014/main" id="{BB1034F5-F596-D867-E824-E2A986B9EACD}"/>
              </a:ext>
            </a:extLst>
          </p:cNvPr>
          <p:cNvSpPr txBox="1"/>
          <p:nvPr/>
        </p:nvSpPr>
        <p:spPr>
          <a:xfrm>
            <a:off x="880772" y="4058208"/>
            <a:ext cx="2268348" cy="276999"/>
          </a:xfrm>
          <a:prstGeom prst="rect">
            <a:avLst/>
          </a:prstGeom>
          <a:noFill/>
        </p:spPr>
        <p:txBody>
          <a:bodyPr wrap="square" rtlCol="0">
            <a:spAutoFit/>
          </a:bodyPr>
          <a:lstStyle/>
          <a:p>
            <a:pPr algn="ctr">
              <a:buNone/>
            </a:pPr>
            <a:r>
              <a:rPr lang="en-US" sz="1200" b="1">
                <a:latin typeface="Lato" panose="020F0502020204030203" pitchFamily="34" charset="0"/>
                <a:ea typeface="Lato" panose="020F0502020204030203" pitchFamily="34" charset="0"/>
                <a:cs typeface="Lato" panose="020F0502020204030203" pitchFamily="34" charset="0"/>
              </a:rPr>
              <a:t>Benefits to Daikin</a:t>
            </a:r>
          </a:p>
        </p:txBody>
      </p:sp>
      <p:pic>
        <p:nvPicPr>
          <p:cNvPr id="2052" name="Picture 4" descr="Engagement Models | Zobi Web Solutions">
            <a:extLst>
              <a:ext uri="{FF2B5EF4-FFF2-40B4-BE49-F238E27FC236}">
                <a16:creationId xmlns:a16="http://schemas.microsoft.com/office/drawing/2014/main" id="{861AFAA8-2ED8-E354-A2BC-256D12B75F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63959" y="2135670"/>
            <a:ext cx="3233772" cy="3233772"/>
          </a:xfrm>
          <a:prstGeom prst="rect">
            <a:avLst/>
          </a:prstGeom>
          <a:noFill/>
          <a:extLst>
            <a:ext uri="{909E8E84-426E-40DD-AFC4-6F175D3DCCD1}">
              <a14:hiddenFill xmlns:a14="http://schemas.microsoft.com/office/drawing/2010/main">
                <a:solidFill>
                  <a:srgbClr val="FFFFFF"/>
                </a:solidFill>
              </a14:hiddenFill>
            </a:ext>
          </a:extLst>
        </p:spPr>
      </p:pic>
      <p:sp>
        <p:nvSpPr>
          <p:cNvPr id="7" name="Rounded Rectangle 15">
            <a:extLst>
              <a:ext uri="{FF2B5EF4-FFF2-40B4-BE49-F238E27FC236}">
                <a16:creationId xmlns:a16="http://schemas.microsoft.com/office/drawing/2014/main" id="{543C8541-1002-9ECD-127D-AF500BDD922A}"/>
              </a:ext>
            </a:extLst>
          </p:cNvPr>
          <p:cNvSpPr/>
          <p:nvPr/>
        </p:nvSpPr>
        <p:spPr>
          <a:xfrm>
            <a:off x="5173202" y="1620585"/>
            <a:ext cx="2268348" cy="276999"/>
          </a:xfrm>
          <a:prstGeom prst="roundRect">
            <a:avLst>
              <a:gd name="adj" fmla="val 40580"/>
            </a:avLst>
          </a:prstGeom>
          <a:solidFill>
            <a:schemeClr val="tx2">
              <a:lumMod val="10000"/>
              <a:lumOff val="90000"/>
            </a:schemeClr>
          </a:solidFill>
          <a:ln w="31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FBF187F-C0C1-19D4-509B-F9DB1A71CC61}"/>
              </a:ext>
            </a:extLst>
          </p:cNvPr>
          <p:cNvSpPr txBox="1"/>
          <p:nvPr/>
        </p:nvSpPr>
        <p:spPr>
          <a:xfrm>
            <a:off x="5240515" y="1620586"/>
            <a:ext cx="2268348" cy="276999"/>
          </a:xfrm>
          <a:prstGeom prst="rect">
            <a:avLst/>
          </a:prstGeom>
          <a:noFill/>
        </p:spPr>
        <p:txBody>
          <a:bodyPr wrap="square" rtlCol="0">
            <a:spAutoFit/>
          </a:bodyPr>
          <a:lstStyle/>
          <a:p>
            <a:pPr algn="ctr">
              <a:buNone/>
            </a:pPr>
            <a:r>
              <a:rPr lang="en-US" sz="1200" b="1">
                <a:latin typeface="Lato" panose="020F0502020204030203" pitchFamily="34" charset="0"/>
                <a:ea typeface="Lato" panose="020F0502020204030203" pitchFamily="34" charset="0"/>
                <a:cs typeface="Lato" panose="020F0502020204030203" pitchFamily="34" charset="0"/>
              </a:rPr>
              <a:t>What We Deliver</a:t>
            </a:r>
          </a:p>
        </p:txBody>
      </p:sp>
      <p:sp>
        <p:nvSpPr>
          <p:cNvPr id="10" name="Rounded Rectangle 20">
            <a:extLst>
              <a:ext uri="{FF2B5EF4-FFF2-40B4-BE49-F238E27FC236}">
                <a16:creationId xmlns:a16="http://schemas.microsoft.com/office/drawing/2014/main" id="{A4532D9D-0601-32C3-E89D-5D9551E45C43}"/>
              </a:ext>
            </a:extLst>
          </p:cNvPr>
          <p:cNvSpPr/>
          <p:nvPr/>
        </p:nvSpPr>
        <p:spPr>
          <a:xfrm>
            <a:off x="5173202" y="4091824"/>
            <a:ext cx="2268348" cy="276999"/>
          </a:xfrm>
          <a:prstGeom prst="roundRect">
            <a:avLst>
              <a:gd name="adj" fmla="val 40580"/>
            </a:avLst>
          </a:prstGeom>
          <a:solidFill>
            <a:schemeClr val="tx2">
              <a:lumMod val="10000"/>
              <a:lumOff val="90000"/>
            </a:schemeClr>
          </a:solidFill>
          <a:ln w="31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8086EE5-12EF-D37A-94EF-6E1391E4E104}"/>
              </a:ext>
            </a:extLst>
          </p:cNvPr>
          <p:cNvSpPr txBox="1"/>
          <p:nvPr/>
        </p:nvSpPr>
        <p:spPr>
          <a:xfrm>
            <a:off x="5240515" y="4075073"/>
            <a:ext cx="2268348" cy="276999"/>
          </a:xfrm>
          <a:prstGeom prst="rect">
            <a:avLst/>
          </a:prstGeom>
          <a:noFill/>
        </p:spPr>
        <p:txBody>
          <a:bodyPr wrap="square" rtlCol="0">
            <a:spAutoFit/>
          </a:bodyPr>
          <a:lstStyle/>
          <a:p>
            <a:pPr algn="ctr">
              <a:buNone/>
            </a:pPr>
            <a:r>
              <a:rPr lang="en-US" sz="1200" b="1">
                <a:latin typeface="Lato" panose="020F0502020204030203" pitchFamily="34" charset="0"/>
                <a:ea typeface="Lato" panose="020F0502020204030203" pitchFamily="34" charset="0"/>
                <a:cs typeface="Lato" panose="020F0502020204030203" pitchFamily="34" charset="0"/>
              </a:rPr>
              <a:t>Benefits to Daikin</a:t>
            </a:r>
          </a:p>
        </p:txBody>
      </p:sp>
    </p:spTree>
    <p:extLst>
      <p:ext uri="{BB962C8B-B14F-4D97-AF65-F5344CB8AC3E}">
        <p14:creationId xmlns:p14="http://schemas.microsoft.com/office/powerpoint/2010/main" val="41655693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71C93-58CF-5A01-C273-EF33984488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B71887-D641-809A-0FD5-582CAFB35D9A}"/>
              </a:ext>
            </a:extLst>
          </p:cNvPr>
          <p:cNvSpPr>
            <a:spLocks noGrp="1"/>
          </p:cNvSpPr>
          <p:nvPr>
            <p:ph type="title"/>
          </p:nvPr>
        </p:nvSpPr>
        <p:spPr/>
        <p:txBody>
          <a:bodyPr>
            <a:normAutofit/>
          </a:bodyPr>
          <a:lstStyle/>
          <a:p>
            <a:r>
              <a:rPr lang="en-US" dirty="0"/>
              <a:t>Engagement Model – Managed Delivery Pod</a:t>
            </a:r>
            <a:endParaRPr lang="en-IN" dirty="0"/>
          </a:p>
        </p:txBody>
      </p:sp>
      <p:sp>
        <p:nvSpPr>
          <p:cNvPr id="20" name="Rounded Rectangle 19">
            <a:extLst>
              <a:ext uri="{FF2B5EF4-FFF2-40B4-BE49-F238E27FC236}">
                <a16:creationId xmlns:a16="http://schemas.microsoft.com/office/drawing/2014/main" id="{6847108A-D9FE-2A32-6EF3-6E325D7F7D18}"/>
              </a:ext>
            </a:extLst>
          </p:cNvPr>
          <p:cNvSpPr/>
          <p:nvPr/>
        </p:nvSpPr>
        <p:spPr>
          <a:xfrm>
            <a:off x="218098" y="1054016"/>
            <a:ext cx="8075296" cy="4038153"/>
          </a:xfrm>
          <a:prstGeom prst="roundRect">
            <a:avLst>
              <a:gd name="adj" fmla="val 875"/>
            </a:avLst>
          </a:prstGeom>
          <a:solidFill>
            <a:schemeClr val="bg1"/>
          </a:solid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31390BF7-38EE-F07D-5C4A-69C482030E72}"/>
              </a:ext>
            </a:extLst>
          </p:cNvPr>
          <p:cNvGrpSpPr/>
          <p:nvPr/>
        </p:nvGrpSpPr>
        <p:grpSpPr>
          <a:xfrm>
            <a:off x="331431" y="1259502"/>
            <a:ext cx="1542745" cy="2512908"/>
            <a:chOff x="4648261" y="650535"/>
            <a:chExt cx="1542745" cy="2512908"/>
          </a:xfrm>
        </p:grpSpPr>
        <p:pic>
          <p:nvPicPr>
            <p:cNvPr id="27" name="Picture 26">
              <a:extLst>
                <a:ext uri="{FF2B5EF4-FFF2-40B4-BE49-F238E27FC236}">
                  <a16:creationId xmlns:a16="http://schemas.microsoft.com/office/drawing/2014/main" id="{F6A7798A-B86B-71D1-3357-6B367BD83E80}"/>
                </a:ext>
              </a:extLst>
            </p:cNvPr>
            <p:cNvPicPr>
              <a:picLocks noChangeAspect="1"/>
            </p:cNvPicPr>
            <p:nvPr/>
          </p:nvPicPr>
          <p:blipFill>
            <a:blip r:embed="rId2">
              <a:duotone>
                <a:schemeClr val="accent4">
                  <a:shade val="45000"/>
                  <a:satMod val="135000"/>
                </a:schemeClr>
                <a:prstClr val="white"/>
              </a:duotone>
            </a:blip>
            <a:srcRect l="-6681" t="9684" r="6681" b="10218"/>
            <a:stretch>
              <a:fillRect/>
            </a:stretch>
          </p:blipFill>
          <p:spPr>
            <a:xfrm>
              <a:off x="4648261" y="1905894"/>
              <a:ext cx="1542745" cy="1257549"/>
            </a:xfrm>
            <a:prstGeom prst="rect">
              <a:avLst/>
            </a:prstGeom>
          </p:spPr>
        </p:pic>
        <p:pic>
          <p:nvPicPr>
            <p:cNvPr id="35" name="Picture 34">
              <a:extLst>
                <a:ext uri="{FF2B5EF4-FFF2-40B4-BE49-F238E27FC236}">
                  <a16:creationId xmlns:a16="http://schemas.microsoft.com/office/drawing/2014/main" id="{2D4B0B20-03FB-76ED-48B0-49292DC1A7EE}"/>
                </a:ext>
              </a:extLst>
            </p:cNvPr>
            <p:cNvPicPr>
              <a:picLocks noChangeAspect="1"/>
            </p:cNvPicPr>
            <p:nvPr/>
          </p:nvPicPr>
          <p:blipFill>
            <a:blip r:embed="rId3"/>
            <a:stretch>
              <a:fillRect/>
            </a:stretch>
          </p:blipFill>
          <p:spPr>
            <a:xfrm>
              <a:off x="4789697" y="650535"/>
              <a:ext cx="1259872" cy="243654"/>
            </a:xfrm>
            <a:prstGeom prst="rect">
              <a:avLst/>
            </a:prstGeom>
          </p:spPr>
        </p:pic>
      </p:grpSp>
      <p:cxnSp>
        <p:nvCxnSpPr>
          <p:cNvPr id="43" name="Straight Connector 42">
            <a:extLst>
              <a:ext uri="{FF2B5EF4-FFF2-40B4-BE49-F238E27FC236}">
                <a16:creationId xmlns:a16="http://schemas.microsoft.com/office/drawing/2014/main" id="{613BD694-261F-6EA4-FA39-318E04C237A5}"/>
              </a:ext>
            </a:extLst>
          </p:cNvPr>
          <p:cNvCxnSpPr>
            <a:cxnSpLocks/>
          </p:cNvCxnSpPr>
          <p:nvPr/>
        </p:nvCxnSpPr>
        <p:spPr>
          <a:xfrm>
            <a:off x="2202723" y="1052814"/>
            <a:ext cx="0" cy="4057948"/>
          </a:xfrm>
          <a:prstGeom prst="line">
            <a:avLst/>
          </a:prstGeom>
          <a:ln w="12700">
            <a:solidFill>
              <a:srgbClr val="00B0F0"/>
            </a:solidFill>
            <a:prstDash val="dash"/>
          </a:ln>
        </p:spPr>
        <p:style>
          <a:lnRef idx="2">
            <a:schemeClr val="accent1"/>
          </a:lnRef>
          <a:fillRef idx="0">
            <a:schemeClr val="accent1"/>
          </a:fillRef>
          <a:effectRef idx="1">
            <a:schemeClr val="accent1"/>
          </a:effectRef>
          <a:fontRef idx="minor">
            <a:schemeClr val="tx1"/>
          </a:fontRef>
        </p:style>
      </p:cxnSp>
      <p:sp>
        <p:nvSpPr>
          <p:cNvPr id="46" name="Rounded Rectangle 10">
            <a:extLst>
              <a:ext uri="{FF2B5EF4-FFF2-40B4-BE49-F238E27FC236}">
                <a16:creationId xmlns:a16="http://schemas.microsoft.com/office/drawing/2014/main" id="{D510C659-3DDA-B2C9-B523-DF8DF5A8AF43}"/>
              </a:ext>
            </a:extLst>
          </p:cNvPr>
          <p:cNvSpPr/>
          <p:nvPr/>
        </p:nvSpPr>
        <p:spPr>
          <a:xfrm>
            <a:off x="2284175" y="3513052"/>
            <a:ext cx="1261568" cy="2366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pPr>
            <a:r>
              <a:rPr lang="en-US" sz="1000" b="1" kern="1200">
                <a:solidFill>
                  <a:prstClr val="black"/>
                </a:solidFill>
                <a:latin typeface="Lato" panose="020F0502020204030203" pitchFamily="34" charset="0"/>
                <a:ea typeface="Lato" panose="020F0502020204030203" pitchFamily="34" charset="0"/>
                <a:cs typeface="Lato" panose="020F0502020204030203" pitchFamily="34" charset="0"/>
              </a:rPr>
              <a:t>Data Engineer</a:t>
            </a:r>
          </a:p>
        </p:txBody>
      </p:sp>
      <p:sp>
        <p:nvSpPr>
          <p:cNvPr id="47" name="TextBox 46">
            <a:extLst>
              <a:ext uri="{FF2B5EF4-FFF2-40B4-BE49-F238E27FC236}">
                <a16:creationId xmlns:a16="http://schemas.microsoft.com/office/drawing/2014/main" id="{0284893E-CCB7-AD67-D044-41DE39F8E542}"/>
              </a:ext>
            </a:extLst>
          </p:cNvPr>
          <p:cNvSpPr txBox="1"/>
          <p:nvPr/>
        </p:nvSpPr>
        <p:spPr>
          <a:xfrm>
            <a:off x="2206712" y="1625343"/>
            <a:ext cx="1511952" cy="307777"/>
          </a:xfrm>
          <a:prstGeom prst="rect">
            <a:avLst/>
          </a:prstGeom>
          <a:noFill/>
        </p:spPr>
        <p:txBody>
          <a:bodyPr wrap="none" rtlCol="0">
            <a:spAutoFit/>
          </a:bodyPr>
          <a:lstStyle/>
          <a:p>
            <a:pPr algn="ctr"/>
            <a:r>
              <a:rPr lang="en-US" sz="1400" b="1">
                <a:latin typeface="Lato" panose="020F0502020204030203" pitchFamily="34" charset="0"/>
                <a:ea typeface="Lato" panose="020F0502020204030203" pitchFamily="34" charset="0"/>
                <a:cs typeface="Lato" panose="020F0502020204030203" pitchFamily="34" charset="0"/>
              </a:rPr>
              <a:t>Nearshore Team</a:t>
            </a:r>
          </a:p>
        </p:txBody>
      </p:sp>
      <p:grpSp>
        <p:nvGrpSpPr>
          <p:cNvPr id="54" name="Group 53">
            <a:extLst>
              <a:ext uri="{FF2B5EF4-FFF2-40B4-BE49-F238E27FC236}">
                <a16:creationId xmlns:a16="http://schemas.microsoft.com/office/drawing/2014/main" id="{D3A0A77D-FEBE-6302-B419-C06790F5BB9D}"/>
              </a:ext>
            </a:extLst>
          </p:cNvPr>
          <p:cNvGrpSpPr/>
          <p:nvPr/>
        </p:nvGrpSpPr>
        <p:grpSpPr>
          <a:xfrm>
            <a:off x="5768014" y="3238344"/>
            <a:ext cx="573032" cy="573032"/>
            <a:chOff x="7992348" y="3667264"/>
            <a:chExt cx="656613" cy="656613"/>
          </a:xfrm>
        </p:grpSpPr>
        <p:sp>
          <p:nvSpPr>
            <p:cNvPr id="53" name="Oval 52">
              <a:extLst>
                <a:ext uri="{FF2B5EF4-FFF2-40B4-BE49-F238E27FC236}">
                  <a16:creationId xmlns:a16="http://schemas.microsoft.com/office/drawing/2014/main" id="{484B3767-A3DB-91DE-A28C-8B39F3C88B76}"/>
                </a:ext>
              </a:extLst>
            </p:cNvPr>
            <p:cNvSpPr/>
            <p:nvPr/>
          </p:nvSpPr>
          <p:spPr>
            <a:xfrm>
              <a:off x="7992348" y="3667264"/>
              <a:ext cx="656613" cy="656613"/>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8" name="Picture 47">
              <a:extLst>
                <a:ext uri="{FF2B5EF4-FFF2-40B4-BE49-F238E27FC236}">
                  <a16:creationId xmlns:a16="http://schemas.microsoft.com/office/drawing/2014/main" id="{83E7D08F-50FD-C167-BD46-4990F5146B81}"/>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a:off x="8103820" y="3783293"/>
              <a:ext cx="424553" cy="424553"/>
            </a:xfrm>
            <a:prstGeom prst="rect">
              <a:avLst/>
            </a:prstGeom>
          </p:spPr>
        </p:pic>
      </p:grpSp>
      <p:grpSp>
        <p:nvGrpSpPr>
          <p:cNvPr id="56" name="Group 55">
            <a:extLst>
              <a:ext uri="{FF2B5EF4-FFF2-40B4-BE49-F238E27FC236}">
                <a16:creationId xmlns:a16="http://schemas.microsoft.com/office/drawing/2014/main" id="{DB57DC1C-7C0C-CCB6-2175-9088159FAEB1}"/>
              </a:ext>
            </a:extLst>
          </p:cNvPr>
          <p:cNvGrpSpPr/>
          <p:nvPr/>
        </p:nvGrpSpPr>
        <p:grpSpPr>
          <a:xfrm>
            <a:off x="2628443" y="4004368"/>
            <a:ext cx="573032" cy="573032"/>
            <a:chOff x="7992348" y="3667264"/>
            <a:chExt cx="656613" cy="656613"/>
          </a:xfrm>
        </p:grpSpPr>
        <p:sp>
          <p:nvSpPr>
            <p:cNvPr id="57" name="Oval 56">
              <a:extLst>
                <a:ext uri="{FF2B5EF4-FFF2-40B4-BE49-F238E27FC236}">
                  <a16:creationId xmlns:a16="http://schemas.microsoft.com/office/drawing/2014/main" id="{CEA03E8F-E806-035A-3064-7185CB3432DE}"/>
                </a:ext>
              </a:extLst>
            </p:cNvPr>
            <p:cNvSpPr/>
            <p:nvPr/>
          </p:nvSpPr>
          <p:spPr>
            <a:xfrm>
              <a:off x="7992348" y="3667264"/>
              <a:ext cx="656613" cy="656613"/>
            </a:xfrm>
            <a:prstGeom prst="ellipse">
              <a:avLst/>
            </a:prstGeom>
            <a:solidFill>
              <a:srgbClr val="38C1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 name="Picture 59">
              <a:extLst>
                <a:ext uri="{FF2B5EF4-FFF2-40B4-BE49-F238E27FC236}">
                  <a16:creationId xmlns:a16="http://schemas.microsoft.com/office/drawing/2014/main" id="{9507485C-0168-6666-2DD0-5D3C9409451D}"/>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bright="100000"/>
                      </a14:imgEffect>
                    </a14:imgLayer>
                  </a14:imgProps>
                </a:ext>
              </a:extLst>
            </a:blip>
            <a:srcRect/>
            <a:stretch/>
          </p:blipFill>
          <p:spPr>
            <a:xfrm>
              <a:off x="8107480" y="3783293"/>
              <a:ext cx="417233" cy="424553"/>
            </a:xfrm>
            <a:prstGeom prst="rect">
              <a:avLst/>
            </a:prstGeom>
          </p:spPr>
        </p:pic>
      </p:grpSp>
      <p:grpSp>
        <p:nvGrpSpPr>
          <p:cNvPr id="63" name="Group 62">
            <a:extLst>
              <a:ext uri="{FF2B5EF4-FFF2-40B4-BE49-F238E27FC236}">
                <a16:creationId xmlns:a16="http://schemas.microsoft.com/office/drawing/2014/main" id="{2B4E2BFE-1387-D268-EA47-DFBA3E949401}"/>
              </a:ext>
            </a:extLst>
          </p:cNvPr>
          <p:cNvGrpSpPr/>
          <p:nvPr/>
        </p:nvGrpSpPr>
        <p:grpSpPr>
          <a:xfrm>
            <a:off x="6617964" y="4164619"/>
            <a:ext cx="573032" cy="573032"/>
            <a:chOff x="7992348" y="3667264"/>
            <a:chExt cx="656613" cy="656613"/>
          </a:xfrm>
        </p:grpSpPr>
        <p:sp>
          <p:nvSpPr>
            <p:cNvPr id="64" name="Oval 63">
              <a:extLst>
                <a:ext uri="{FF2B5EF4-FFF2-40B4-BE49-F238E27FC236}">
                  <a16:creationId xmlns:a16="http://schemas.microsoft.com/office/drawing/2014/main" id="{E639F331-F994-5377-661B-6BAF500CA2CE}"/>
                </a:ext>
              </a:extLst>
            </p:cNvPr>
            <p:cNvSpPr/>
            <p:nvPr/>
          </p:nvSpPr>
          <p:spPr>
            <a:xfrm>
              <a:off x="7992348" y="3667264"/>
              <a:ext cx="656613" cy="656613"/>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5" name="Picture 64">
              <a:extLst>
                <a:ext uri="{FF2B5EF4-FFF2-40B4-BE49-F238E27FC236}">
                  <a16:creationId xmlns:a16="http://schemas.microsoft.com/office/drawing/2014/main" id="{BF2D916E-21FD-BCC0-747E-72E85B6792DC}"/>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Lst>
            </a:blip>
            <a:srcRect/>
            <a:stretch/>
          </p:blipFill>
          <p:spPr>
            <a:xfrm>
              <a:off x="8107480" y="3786953"/>
              <a:ext cx="417233" cy="417233"/>
            </a:xfrm>
            <a:prstGeom prst="rect">
              <a:avLst/>
            </a:prstGeom>
          </p:spPr>
        </p:pic>
      </p:grpSp>
      <p:grpSp>
        <p:nvGrpSpPr>
          <p:cNvPr id="66" name="Group 65">
            <a:extLst>
              <a:ext uri="{FF2B5EF4-FFF2-40B4-BE49-F238E27FC236}">
                <a16:creationId xmlns:a16="http://schemas.microsoft.com/office/drawing/2014/main" id="{5407CAE7-9290-682C-923D-6882ABE439EA}"/>
              </a:ext>
            </a:extLst>
          </p:cNvPr>
          <p:cNvGrpSpPr/>
          <p:nvPr/>
        </p:nvGrpSpPr>
        <p:grpSpPr>
          <a:xfrm>
            <a:off x="4541327" y="3238344"/>
            <a:ext cx="573032" cy="573032"/>
            <a:chOff x="7992348" y="3667264"/>
            <a:chExt cx="656613" cy="656613"/>
          </a:xfrm>
        </p:grpSpPr>
        <p:sp>
          <p:nvSpPr>
            <p:cNvPr id="67" name="Oval 66">
              <a:extLst>
                <a:ext uri="{FF2B5EF4-FFF2-40B4-BE49-F238E27FC236}">
                  <a16:creationId xmlns:a16="http://schemas.microsoft.com/office/drawing/2014/main" id="{E6E45480-F977-692C-14DD-E241783E9274}"/>
                </a:ext>
              </a:extLst>
            </p:cNvPr>
            <p:cNvSpPr/>
            <p:nvPr/>
          </p:nvSpPr>
          <p:spPr>
            <a:xfrm>
              <a:off x="7992348" y="3667264"/>
              <a:ext cx="656613" cy="656613"/>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2" name="Picture 71">
              <a:extLst>
                <a:ext uri="{FF2B5EF4-FFF2-40B4-BE49-F238E27FC236}">
                  <a16:creationId xmlns:a16="http://schemas.microsoft.com/office/drawing/2014/main" id="{5CA56634-F0F0-4E9D-4FD1-42C2029877D4}"/>
                </a:ext>
              </a:extLst>
            </p:cNvPr>
            <p:cNvPicPr>
              <a:picLocks noChangeAspect="1"/>
            </p:cNvPicPr>
            <p:nvPr/>
          </p:nvPicPr>
          <p:blipFill>
            <a:blip r:embed="rId10">
              <a:extLst>
                <a:ext uri="{BEBA8EAE-BF5A-486C-A8C5-ECC9F3942E4B}">
                  <a14:imgProps xmlns:a14="http://schemas.microsoft.com/office/drawing/2010/main">
                    <a14:imgLayer r:embed="rId11">
                      <a14:imgEffect>
                        <a14:brightnessContrast bright="100000"/>
                      </a14:imgEffect>
                    </a14:imgLayer>
                  </a14:imgProps>
                </a:ext>
              </a:extLst>
            </a:blip>
            <a:srcRect/>
            <a:stretch/>
          </p:blipFill>
          <p:spPr>
            <a:xfrm>
              <a:off x="8107480" y="3790114"/>
              <a:ext cx="417233" cy="410911"/>
            </a:xfrm>
            <a:prstGeom prst="rect">
              <a:avLst/>
            </a:prstGeom>
          </p:spPr>
        </p:pic>
      </p:grpSp>
      <p:grpSp>
        <p:nvGrpSpPr>
          <p:cNvPr id="73" name="Group 72">
            <a:extLst>
              <a:ext uri="{FF2B5EF4-FFF2-40B4-BE49-F238E27FC236}">
                <a16:creationId xmlns:a16="http://schemas.microsoft.com/office/drawing/2014/main" id="{73B4EF43-07EA-B3A3-3A42-B42144B22B55}"/>
              </a:ext>
            </a:extLst>
          </p:cNvPr>
          <p:cNvGrpSpPr/>
          <p:nvPr/>
        </p:nvGrpSpPr>
        <p:grpSpPr>
          <a:xfrm>
            <a:off x="4873936" y="2184095"/>
            <a:ext cx="573032" cy="573032"/>
            <a:chOff x="7992348" y="3667264"/>
            <a:chExt cx="656613" cy="656613"/>
          </a:xfrm>
        </p:grpSpPr>
        <p:sp>
          <p:nvSpPr>
            <p:cNvPr id="74" name="Oval 73">
              <a:extLst>
                <a:ext uri="{FF2B5EF4-FFF2-40B4-BE49-F238E27FC236}">
                  <a16:creationId xmlns:a16="http://schemas.microsoft.com/office/drawing/2014/main" id="{0C6EA510-7408-F4C7-B0B6-813D9D1A45EF}"/>
                </a:ext>
              </a:extLst>
            </p:cNvPr>
            <p:cNvSpPr/>
            <p:nvPr/>
          </p:nvSpPr>
          <p:spPr>
            <a:xfrm>
              <a:off x="7992348" y="3667264"/>
              <a:ext cx="656613" cy="656613"/>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1D997149-7B6B-314E-4099-757128FF949B}"/>
                </a:ext>
              </a:extLst>
            </p:cNvPr>
            <p:cNvPicPr>
              <a:picLocks noChangeAspect="1"/>
            </p:cNvPicPr>
            <p:nvPr/>
          </p:nvPicPr>
          <p:blipFill>
            <a:blip r:embed="rId12">
              <a:extLst>
                <a:ext uri="{BEBA8EAE-BF5A-486C-A8C5-ECC9F3942E4B}">
                  <a14:imgProps xmlns:a14="http://schemas.microsoft.com/office/drawing/2010/main">
                    <a14:imgLayer r:embed="rId13">
                      <a14:imgEffect>
                        <a14:brightnessContrast bright="100000"/>
                      </a14:imgEffect>
                    </a14:imgLayer>
                  </a14:imgProps>
                </a:ext>
              </a:extLst>
            </a:blip>
            <a:srcRect/>
            <a:stretch/>
          </p:blipFill>
          <p:spPr>
            <a:xfrm>
              <a:off x="8110641" y="3790114"/>
              <a:ext cx="410911" cy="410911"/>
            </a:xfrm>
            <a:prstGeom prst="rect">
              <a:avLst/>
            </a:prstGeom>
          </p:spPr>
        </p:pic>
      </p:grpSp>
      <p:grpSp>
        <p:nvGrpSpPr>
          <p:cNvPr id="76" name="Group 75">
            <a:extLst>
              <a:ext uri="{FF2B5EF4-FFF2-40B4-BE49-F238E27FC236}">
                <a16:creationId xmlns:a16="http://schemas.microsoft.com/office/drawing/2014/main" id="{578553E9-EA05-05B0-03C3-5811EFF8D355}"/>
              </a:ext>
            </a:extLst>
          </p:cNvPr>
          <p:cNvGrpSpPr/>
          <p:nvPr/>
        </p:nvGrpSpPr>
        <p:grpSpPr>
          <a:xfrm>
            <a:off x="2628443" y="2877375"/>
            <a:ext cx="573032" cy="573032"/>
            <a:chOff x="7992348" y="3667264"/>
            <a:chExt cx="656613" cy="656613"/>
          </a:xfrm>
        </p:grpSpPr>
        <p:sp>
          <p:nvSpPr>
            <p:cNvPr id="77" name="Oval 76">
              <a:extLst>
                <a:ext uri="{FF2B5EF4-FFF2-40B4-BE49-F238E27FC236}">
                  <a16:creationId xmlns:a16="http://schemas.microsoft.com/office/drawing/2014/main" id="{9216CC4B-BA47-9F8F-C835-8E7416E0147A}"/>
                </a:ext>
              </a:extLst>
            </p:cNvPr>
            <p:cNvSpPr/>
            <p:nvPr/>
          </p:nvSpPr>
          <p:spPr>
            <a:xfrm>
              <a:off x="7992348" y="3667264"/>
              <a:ext cx="656613" cy="656613"/>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8" name="Picture 77">
              <a:extLst>
                <a:ext uri="{FF2B5EF4-FFF2-40B4-BE49-F238E27FC236}">
                  <a16:creationId xmlns:a16="http://schemas.microsoft.com/office/drawing/2014/main" id="{0A9ED5C7-1EB3-7BAD-5B08-FDDB521EFCCF}"/>
                </a:ext>
              </a:extLst>
            </p:cNvPr>
            <p:cNvPicPr>
              <a:picLocks noChangeAspect="1"/>
            </p:cNvPicPr>
            <p:nvPr/>
          </p:nvPicPr>
          <p:blipFill>
            <a:blip r:embed="rId14">
              <a:extLst>
                <a:ext uri="{BEBA8EAE-BF5A-486C-A8C5-ECC9F3942E4B}">
                  <a14:imgProps xmlns:a14="http://schemas.microsoft.com/office/drawing/2010/main">
                    <a14:imgLayer r:embed="rId15">
                      <a14:imgEffect>
                        <a14:brightnessContrast bright="100000"/>
                      </a14:imgEffect>
                    </a14:imgLayer>
                  </a14:imgProps>
                </a:ext>
              </a:extLst>
            </a:blip>
            <a:srcRect/>
            <a:stretch/>
          </p:blipFill>
          <p:spPr>
            <a:xfrm>
              <a:off x="8107480" y="3786953"/>
              <a:ext cx="417233" cy="417233"/>
            </a:xfrm>
            <a:prstGeom prst="rect">
              <a:avLst/>
            </a:prstGeom>
          </p:spPr>
        </p:pic>
      </p:grpSp>
      <p:sp>
        <p:nvSpPr>
          <p:cNvPr id="101" name="TextBox 100">
            <a:extLst>
              <a:ext uri="{FF2B5EF4-FFF2-40B4-BE49-F238E27FC236}">
                <a16:creationId xmlns:a16="http://schemas.microsoft.com/office/drawing/2014/main" id="{793FEB6A-4949-E3C0-E9A1-FD5D6C6DFDED}"/>
              </a:ext>
            </a:extLst>
          </p:cNvPr>
          <p:cNvSpPr txBox="1"/>
          <p:nvPr/>
        </p:nvSpPr>
        <p:spPr>
          <a:xfrm>
            <a:off x="5477619" y="1661631"/>
            <a:ext cx="1391728" cy="307777"/>
          </a:xfrm>
          <a:prstGeom prst="rect">
            <a:avLst/>
          </a:prstGeom>
          <a:noFill/>
        </p:spPr>
        <p:txBody>
          <a:bodyPr wrap="none" rtlCol="0">
            <a:spAutoFit/>
          </a:bodyPr>
          <a:lstStyle/>
          <a:p>
            <a:pPr algn="ctr"/>
            <a:r>
              <a:rPr lang="en-US" sz="1400" b="1">
                <a:latin typeface="Lato" panose="020F0502020204030203" pitchFamily="34" charset="0"/>
                <a:ea typeface="Lato" panose="020F0502020204030203" pitchFamily="34" charset="0"/>
                <a:cs typeface="Lato" panose="020F0502020204030203" pitchFamily="34" charset="0"/>
              </a:rPr>
              <a:t>Offshore Team</a:t>
            </a:r>
          </a:p>
        </p:txBody>
      </p:sp>
      <p:sp>
        <p:nvSpPr>
          <p:cNvPr id="102" name="Rounded Rectangle 10">
            <a:extLst>
              <a:ext uri="{FF2B5EF4-FFF2-40B4-BE49-F238E27FC236}">
                <a16:creationId xmlns:a16="http://schemas.microsoft.com/office/drawing/2014/main" id="{4FDD603A-AD95-C5CD-21E8-2AFD9EDDC401}"/>
              </a:ext>
            </a:extLst>
          </p:cNvPr>
          <p:cNvSpPr/>
          <p:nvPr/>
        </p:nvSpPr>
        <p:spPr>
          <a:xfrm>
            <a:off x="4562798" y="2784005"/>
            <a:ext cx="1391717" cy="24707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pPr>
            <a:r>
              <a:rPr lang="en-US" sz="1000" b="1" kern="1200">
                <a:solidFill>
                  <a:prstClr val="black"/>
                </a:solidFill>
                <a:latin typeface="Lato" panose="020F0502020204030203" pitchFamily="34" charset="0"/>
                <a:ea typeface="Lato" panose="020F0502020204030203" pitchFamily="34" charset="0"/>
                <a:cs typeface="Lato" panose="020F0502020204030203" pitchFamily="34" charset="0"/>
              </a:rPr>
              <a:t>Platform Architect</a:t>
            </a:r>
          </a:p>
        </p:txBody>
      </p:sp>
      <p:sp>
        <p:nvSpPr>
          <p:cNvPr id="103" name="Rounded Rectangle 10">
            <a:extLst>
              <a:ext uri="{FF2B5EF4-FFF2-40B4-BE49-F238E27FC236}">
                <a16:creationId xmlns:a16="http://schemas.microsoft.com/office/drawing/2014/main" id="{C60D0422-30E6-FAFD-D2D9-D3B96885EC6F}"/>
              </a:ext>
            </a:extLst>
          </p:cNvPr>
          <p:cNvSpPr/>
          <p:nvPr/>
        </p:nvSpPr>
        <p:spPr>
          <a:xfrm>
            <a:off x="5468752" y="3837795"/>
            <a:ext cx="1171554" cy="2366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pPr>
            <a:r>
              <a:rPr lang="en-US" sz="1000" b="1" kern="1200">
                <a:solidFill>
                  <a:prstClr val="black"/>
                </a:solidFill>
                <a:latin typeface="Lato" panose="020F0502020204030203" pitchFamily="34" charset="0"/>
                <a:ea typeface="Lato" panose="020F0502020204030203" pitchFamily="34" charset="0"/>
                <a:cs typeface="Lato" panose="020F0502020204030203" pitchFamily="34" charset="0"/>
              </a:rPr>
              <a:t>Data Modeler</a:t>
            </a:r>
          </a:p>
        </p:txBody>
      </p:sp>
      <p:sp>
        <p:nvSpPr>
          <p:cNvPr id="104" name="Rounded Rectangle 10">
            <a:extLst>
              <a:ext uri="{FF2B5EF4-FFF2-40B4-BE49-F238E27FC236}">
                <a16:creationId xmlns:a16="http://schemas.microsoft.com/office/drawing/2014/main" id="{F1BC5806-DF08-1A0B-C9B9-CA79D9D97299}"/>
              </a:ext>
            </a:extLst>
          </p:cNvPr>
          <p:cNvSpPr/>
          <p:nvPr/>
        </p:nvSpPr>
        <p:spPr>
          <a:xfrm>
            <a:off x="2132085" y="4590916"/>
            <a:ext cx="1776472" cy="2366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pPr>
            <a:r>
              <a:rPr lang="en-US" sz="1000" b="1" kern="1200">
                <a:solidFill>
                  <a:prstClr val="black"/>
                </a:solidFill>
                <a:latin typeface="Lato" panose="020F0502020204030203" pitchFamily="34" charset="0"/>
                <a:ea typeface="Lato" panose="020F0502020204030203" pitchFamily="34" charset="0"/>
                <a:cs typeface="Lato" panose="020F0502020204030203" pitchFamily="34" charset="0"/>
              </a:rPr>
              <a:t>Power BI Developers</a:t>
            </a:r>
          </a:p>
        </p:txBody>
      </p:sp>
      <p:sp>
        <p:nvSpPr>
          <p:cNvPr id="105" name="Rounded Rectangle 10">
            <a:extLst>
              <a:ext uri="{FF2B5EF4-FFF2-40B4-BE49-F238E27FC236}">
                <a16:creationId xmlns:a16="http://schemas.microsoft.com/office/drawing/2014/main" id="{1CB5E712-9E54-E232-3775-FC812396F9EF}"/>
              </a:ext>
            </a:extLst>
          </p:cNvPr>
          <p:cNvSpPr/>
          <p:nvPr/>
        </p:nvSpPr>
        <p:spPr>
          <a:xfrm>
            <a:off x="6318702" y="4764070"/>
            <a:ext cx="1171554" cy="2366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pPr>
            <a:r>
              <a:rPr lang="en-US" sz="1000" b="1" kern="1200">
                <a:solidFill>
                  <a:prstClr val="black"/>
                </a:solidFill>
                <a:latin typeface="Lato" panose="020F0502020204030203" pitchFamily="34" charset="0"/>
                <a:ea typeface="Lato" panose="020F0502020204030203" pitchFamily="34" charset="0"/>
                <a:cs typeface="Lato" panose="020F0502020204030203" pitchFamily="34" charset="0"/>
              </a:rPr>
              <a:t>QA Engineers</a:t>
            </a:r>
          </a:p>
        </p:txBody>
      </p:sp>
      <p:sp>
        <p:nvSpPr>
          <p:cNvPr id="106" name="Rounded Rectangle 10">
            <a:extLst>
              <a:ext uri="{FF2B5EF4-FFF2-40B4-BE49-F238E27FC236}">
                <a16:creationId xmlns:a16="http://schemas.microsoft.com/office/drawing/2014/main" id="{2614ABEE-C196-13E0-2FE6-5A270090DC18}"/>
              </a:ext>
            </a:extLst>
          </p:cNvPr>
          <p:cNvSpPr/>
          <p:nvPr/>
        </p:nvSpPr>
        <p:spPr>
          <a:xfrm>
            <a:off x="4252951" y="3837795"/>
            <a:ext cx="1171554" cy="2366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pPr>
            <a:r>
              <a:rPr lang="en-US" sz="1000" b="1" kern="1200">
                <a:solidFill>
                  <a:prstClr val="black"/>
                </a:solidFill>
                <a:latin typeface="Lato" panose="020F0502020204030203" pitchFamily="34" charset="0"/>
                <a:ea typeface="Lato" panose="020F0502020204030203" pitchFamily="34" charset="0"/>
                <a:cs typeface="Lato" panose="020F0502020204030203" pitchFamily="34" charset="0"/>
              </a:rPr>
              <a:t>Scrum Master</a:t>
            </a:r>
          </a:p>
        </p:txBody>
      </p:sp>
      <p:grpSp>
        <p:nvGrpSpPr>
          <p:cNvPr id="5" name="Group 4">
            <a:extLst>
              <a:ext uri="{FF2B5EF4-FFF2-40B4-BE49-F238E27FC236}">
                <a16:creationId xmlns:a16="http://schemas.microsoft.com/office/drawing/2014/main" id="{0557DC0D-2FC6-D2AF-1A7F-F014E55D8296}"/>
              </a:ext>
            </a:extLst>
          </p:cNvPr>
          <p:cNvGrpSpPr/>
          <p:nvPr/>
        </p:nvGrpSpPr>
        <p:grpSpPr>
          <a:xfrm>
            <a:off x="3489954" y="1142190"/>
            <a:ext cx="1914992" cy="276380"/>
            <a:chOff x="8121804" y="888104"/>
            <a:chExt cx="1914992" cy="276380"/>
          </a:xfrm>
        </p:grpSpPr>
        <p:pic>
          <p:nvPicPr>
            <p:cNvPr id="41" name="Picture 40" descr="A black and orange logo&#10;&#10;Description automatically generated">
              <a:extLst>
                <a:ext uri="{FF2B5EF4-FFF2-40B4-BE49-F238E27FC236}">
                  <a16:creationId xmlns:a16="http://schemas.microsoft.com/office/drawing/2014/main" id="{14CA85CB-F659-C025-7CA7-1947E00D9BDE}"/>
                </a:ext>
              </a:extLst>
            </p:cNvPr>
            <p:cNvPicPr>
              <a:picLocks noChangeAspect="1"/>
            </p:cNvPicPr>
            <p:nvPr/>
          </p:nvPicPr>
          <p:blipFill>
            <a:blip r:embed="rId16"/>
            <a:stretch>
              <a:fillRect/>
            </a:stretch>
          </p:blipFill>
          <p:spPr>
            <a:xfrm>
              <a:off x="8121804" y="906697"/>
              <a:ext cx="957496" cy="257787"/>
            </a:xfrm>
            <a:prstGeom prst="rect">
              <a:avLst/>
            </a:prstGeom>
          </p:spPr>
        </p:pic>
        <p:sp>
          <p:nvSpPr>
            <p:cNvPr id="107" name="Rounded Rectangle 3095">
              <a:extLst>
                <a:ext uri="{FF2B5EF4-FFF2-40B4-BE49-F238E27FC236}">
                  <a16:creationId xmlns:a16="http://schemas.microsoft.com/office/drawing/2014/main" id="{375823D1-D18B-89F3-022E-E5B0615B348C}"/>
                </a:ext>
              </a:extLst>
            </p:cNvPr>
            <p:cNvSpPr/>
            <p:nvPr/>
          </p:nvSpPr>
          <p:spPr>
            <a:xfrm>
              <a:off x="9079300" y="888104"/>
              <a:ext cx="957496" cy="22087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buClrTx/>
              </a:pPr>
              <a:r>
                <a:rPr lang="en-US" sz="1200" b="1" u="sng" kern="1200">
                  <a:solidFill>
                    <a:srgbClr val="0070C0"/>
                  </a:solidFill>
                  <a:latin typeface="Lato" panose="020F0502020204030203" pitchFamily="34" charset="0"/>
                  <a:ea typeface="Lato" panose="020F0502020204030203" pitchFamily="34" charset="0"/>
                  <a:cs typeface="Lato" panose="020F0502020204030203" pitchFamily="34" charset="0"/>
                </a:rPr>
                <a:t>POD Team</a:t>
              </a:r>
            </a:p>
          </p:txBody>
        </p:sp>
      </p:grpSp>
      <p:cxnSp>
        <p:nvCxnSpPr>
          <p:cNvPr id="108" name="Straight Connector 107">
            <a:extLst>
              <a:ext uri="{FF2B5EF4-FFF2-40B4-BE49-F238E27FC236}">
                <a16:creationId xmlns:a16="http://schemas.microsoft.com/office/drawing/2014/main" id="{65BA2336-C1D6-2DE3-F35D-A817B3A90F1C}"/>
              </a:ext>
            </a:extLst>
          </p:cNvPr>
          <p:cNvCxnSpPr>
            <a:cxnSpLocks/>
          </p:cNvCxnSpPr>
          <p:nvPr/>
        </p:nvCxnSpPr>
        <p:spPr>
          <a:xfrm>
            <a:off x="4096180" y="2278457"/>
            <a:ext cx="0" cy="2519666"/>
          </a:xfrm>
          <a:prstGeom prst="line">
            <a:avLst/>
          </a:prstGeom>
          <a:ln w="6350">
            <a:solidFill>
              <a:srgbClr val="0070C0"/>
            </a:solidFill>
            <a:prstDash val="dash"/>
          </a:ln>
        </p:spPr>
        <p:style>
          <a:lnRef idx="2">
            <a:schemeClr val="accent1"/>
          </a:lnRef>
          <a:fillRef idx="0">
            <a:schemeClr val="accent1"/>
          </a:fillRef>
          <a:effectRef idx="1">
            <a:schemeClr val="accent1"/>
          </a:effectRef>
          <a:fontRef idx="minor">
            <a:schemeClr val="tx1"/>
          </a:fontRef>
        </p:style>
      </p:cxnSp>
      <p:sp>
        <p:nvSpPr>
          <p:cNvPr id="109" name="Up-down Arrow 108">
            <a:extLst>
              <a:ext uri="{FF2B5EF4-FFF2-40B4-BE49-F238E27FC236}">
                <a16:creationId xmlns:a16="http://schemas.microsoft.com/office/drawing/2014/main" id="{39C8F99A-38CE-6974-E9CB-3990AA080699}"/>
              </a:ext>
            </a:extLst>
          </p:cNvPr>
          <p:cNvSpPr/>
          <p:nvPr/>
        </p:nvSpPr>
        <p:spPr>
          <a:xfrm rot="16200000">
            <a:off x="3882598" y="1742917"/>
            <a:ext cx="382604" cy="1469885"/>
          </a:xfrm>
          <a:prstGeom prst="upDownArrow">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ounded Rectangle 10">
            <a:extLst>
              <a:ext uri="{FF2B5EF4-FFF2-40B4-BE49-F238E27FC236}">
                <a16:creationId xmlns:a16="http://schemas.microsoft.com/office/drawing/2014/main" id="{67D37427-5862-BC03-CF9A-182C3FCAA5CA}"/>
              </a:ext>
            </a:extLst>
          </p:cNvPr>
          <p:cNvSpPr/>
          <p:nvPr/>
        </p:nvSpPr>
        <p:spPr>
          <a:xfrm>
            <a:off x="3286139" y="2355621"/>
            <a:ext cx="1559338" cy="2366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pPr>
            <a:r>
              <a:rPr lang="en-US" sz="900" b="1" kern="1200">
                <a:solidFill>
                  <a:schemeClr val="bg1"/>
                </a:solidFill>
                <a:latin typeface="Lato" panose="020F0502020204030203" pitchFamily="34" charset="0"/>
                <a:ea typeface="Lato" panose="020F0502020204030203" pitchFamily="34" charset="0"/>
                <a:cs typeface="Lato" panose="020F0502020204030203" pitchFamily="34" charset="0"/>
              </a:rPr>
              <a:t>Onsite Travel as Required</a:t>
            </a:r>
          </a:p>
        </p:txBody>
      </p:sp>
      <p:pic>
        <p:nvPicPr>
          <p:cNvPr id="111" name="Picture 110">
            <a:extLst>
              <a:ext uri="{FF2B5EF4-FFF2-40B4-BE49-F238E27FC236}">
                <a16:creationId xmlns:a16="http://schemas.microsoft.com/office/drawing/2014/main" id="{F4E1DFE2-FE7F-A1C9-FDE2-508B4FCA2D57}"/>
              </a:ext>
            </a:extLst>
          </p:cNvPr>
          <p:cNvPicPr>
            <a:picLocks noChangeAspect="1"/>
          </p:cNvPicPr>
          <p:nvPr/>
        </p:nvPicPr>
        <p:blipFill>
          <a:blip r:embed="rId17"/>
          <a:stretch>
            <a:fillRect/>
          </a:stretch>
        </p:blipFill>
        <p:spPr>
          <a:xfrm>
            <a:off x="3925754" y="2034840"/>
            <a:ext cx="340852" cy="340852"/>
          </a:xfrm>
          <a:prstGeom prst="rect">
            <a:avLst/>
          </a:prstGeom>
        </p:spPr>
      </p:pic>
      <p:sp>
        <p:nvSpPr>
          <p:cNvPr id="112" name="Rounded Rectangle 10">
            <a:extLst>
              <a:ext uri="{FF2B5EF4-FFF2-40B4-BE49-F238E27FC236}">
                <a16:creationId xmlns:a16="http://schemas.microsoft.com/office/drawing/2014/main" id="{84E31154-5A88-8B9C-A491-129122D15FEF}"/>
              </a:ext>
            </a:extLst>
          </p:cNvPr>
          <p:cNvSpPr/>
          <p:nvPr/>
        </p:nvSpPr>
        <p:spPr>
          <a:xfrm>
            <a:off x="511665" y="2278193"/>
            <a:ext cx="1261568" cy="2366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pPr>
            <a:r>
              <a:rPr lang="en-US" sz="1000" b="1">
                <a:solidFill>
                  <a:prstClr val="black"/>
                </a:solidFill>
                <a:latin typeface="Lato" panose="020F0502020204030203" pitchFamily="34" charset="0"/>
                <a:ea typeface="Lato" panose="020F0502020204030203" pitchFamily="34" charset="0"/>
                <a:cs typeface="Lato" panose="020F0502020204030203" pitchFamily="34" charset="0"/>
              </a:rPr>
              <a:t>PM</a:t>
            </a:r>
            <a:endParaRPr lang="en-US" sz="1000" b="1" kern="1200">
              <a:solidFill>
                <a:prstClr val="black"/>
              </a:solidFill>
              <a:latin typeface="Lato" panose="020F0502020204030203" pitchFamily="34" charset="0"/>
              <a:ea typeface="Lato" panose="020F0502020204030203" pitchFamily="34" charset="0"/>
              <a:cs typeface="Lato" panose="020F0502020204030203" pitchFamily="34" charset="0"/>
            </a:endParaRPr>
          </a:p>
        </p:txBody>
      </p:sp>
      <p:sp>
        <p:nvSpPr>
          <p:cNvPr id="113" name="Rounded Rectangle 10">
            <a:extLst>
              <a:ext uri="{FF2B5EF4-FFF2-40B4-BE49-F238E27FC236}">
                <a16:creationId xmlns:a16="http://schemas.microsoft.com/office/drawing/2014/main" id="{F5DC280C-115B-50D6-C999-CC43A9039CEA}"/>
              </a:ext>
            </a:extLst>
          </p:cNvPr>
          <p:cNvSpPr/>
          <p:nvPr/>
        </p:nvSpPr>
        <p:spPr>
          <a:xfrm>
            <a:off x="329642" y="3725991"/>
            <a:ext cx="647385" cy="2366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pPr>
            <a:r>
              <a:rPr lang="en-US" sz="1000" b="1" kern="1200">
                <a:solidFill>
                  <a:prstClr val="black"/>
                </a:solidFill>
                <a:latin typeface="Lato" panose="020F0502020204030203" pitchFamily="34" charset="0"/>
                <a:ea typeface="Lato" panose="020F0502020204030203" pitchFamily="34" charset="0"/>
                <a:cs typeface="Lato" panose="020F0502020204030203" pitchFamily="34" charset="0"/>
              </a:rPr>
              <a:t>SME</a:t>
            </a:r>
          </a:p>
        </p:txBody>
      </p:sp>
      <p:sp>
        <p:nvSpPr>
          <p:cNvPr id="114" name="Rounded Rectangle 10">
            <a:extLst>
              <a:ext uri="{FF2B5EF4-FFF2-40B4-BE49-F238E27FC236}">
                <a16:creationId xmlns:a16="http://schemas.microsoft.com/office/drawing/2014/main" id="{2E45ADBD-0E40-DBA6-894E-171B255AB944}"/>
              </a:ext>
            </a:extLst>
          </p:cNvPr>
          <p:cNvSpPr/>
          <p:nvPr/>
        </p:nvSpPr>
        <p:spPr>
          <a:xfrm>
            <a:off x="1324235" y="3725991"/>
            <a:ext cx="588532" cy="2366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pPr>
            <a:r>
              <a:rPr lang="en-US" sz="1000" b="1" kern="1200">
                <a:solidFill>
                  <a:prstClr val="black"/>
                </a:solidFill>
                <a:latin typeface="Lato" panose="020F0502020204030203" pitchFamily="34" charset="0"/>
                <a:ea typeface="Lato" panose="020F0502020204030203" pitchFamily="34" charset="0"/>
                <a:cs typeface="Lato" panose="020F0502020204030203" pitchFamily="34" charset="0"/>
              </a:rPr>
              <a:t>PO</a:t>
            </a:r>
          </a:p>
        </p:txBody>
      </p:sp>
      <p:sp>
        <p:nvSpPr>
          <p:cNvPr id="8" name="Rectangle 7">
            <a:extLst>
              <a:ext uri="{FF2B5EF4-FFF2-40B4-BE49-F238E27FC236}">
                <a16:creationId xmlns:a16="http://schemas.microsoft.com/office/drawing/2014/main" id="{C4CE9D6A-626B-3E3A-909B-FC5ACE6758C3}"/>
              </a:ext>
            </a:extLst>
          </p:cNvPr>
          <p:cNvSpPr/>
          <p:nvPr/>
        </p:nvSpPr>
        <p:spPr>
          <a:xfrm>
            <a:off x="5041977" y="5110653"/>
            <a:ext cx="3102401" cy="215444"/>
          </a:xfrm>
          <a:prstGeom prst="rect">
            <a:avLst/>
          </a:prstGeom>
        </p:spPr>
        <p:txBody>
          <a:bodyPr wrap="square" numCol="1" spcCol="0">
            <a:spAutoFit/>
          </a:bodyPr>
          <a:lstStyle/>
          <a:p>
            <a:pPr defTabSz="914377" fontAlgn="base">
              <a:spcBef>
                <a:spcPct val="0"/>
              </a:spcBef>
              <a:spcAft>
                <a:spcPct val="0"/>
              </a:spcAft>
            </a:pPr>
            <a:r>
              <a:rPr lang="en-US" sz="800" i="1" u="sng">
                <a:solidFill>
                  <a:prstClr val="black"/>
                </a:solidFill>
                <a:latin typeface="Lato" panose="020F0502020204030203" pitchFamily="34" charset="0"/>
                <a:ea typeface="Lato" panose="020F0502020204030203" pitchFamily="34" charset="0"/>
                <a:cs typeface="Lato" panose="020F0502020204030203" pitchFamily="34" charset="0"/>
              </a:rPr>
              <a:t>* Indicative POD structure — final resourcing to be mutually agreed.</a:t>
            </a:r>
            <a:endParaRPr lang="en-IN" sz="800" i="1" u="sng">
              <a:solidFill>
                <a:prstClr val="black"/>
              </a:solidFill>
              <a:latin typeface="Lato" panose="020F0502020204030203" pitchFamily="34" charset="0"/>
              <a:ea typeface="Lato" panose="020F0502020204030203" pitchFamily="34" charset="0"/>
              <a:cs typeface="Lato" panose="020F0502020204030203" pitchFamily="34" charset="0"/>
            </a:endParaRPr>
          </a:p>
        </p:txBody>
      </p:sp>
      <p:sp>
        <p:nvSpPr>
          <p:cNvPr id="12" name="Arrow: Up 11">
            <a:extLst>
              <a:ext uri="{FF2B5EF4-FFF2-40B4-BE49-F238E27FC236}">
                <a16:creationId xmlns:a16="http://schemas.microsoft.com/office/drawing/2014/main" id="{87542180-4489-A288-8C2C-D4F92BB2E9AD}"/>
              </a:ext>
            </a:extLst>
          </p:cNvPr>
          <p:cNvSpPr/>
          <p:nvPr/>
        </p:nvSpPr>
        <p:spPr>
          <a:xfrm>
            <a:off x="3976564" y="5113135"/>
            <a:ext cx="157626" cy="355515"/>
          </a:xfrm>
          <a:prstGeom prst="upArrow">
            <a:avLst/>
          </a:prstGeom>
          <a:solidFill>
            <a:srgbClr val="01B0F0"/>
          </a:solidFill>
          <a:ln>
            <a:solidFill>
              <a:srgbClr val="01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ounded Rectangle 19">
            <a:extLst>
              <a:ext uri="{FF2B5EF4-FFF2-40B4-BE49-F238E27FC236}">
                <a16:creationId xmlns:a16="http://schemas.microsoft.com/office/drawing/2014/main" id="{3465E68E-BCAF-0C96-1938-897EB8777B80}"/>
              </a:ext>
            </a:extLst>
          </p:cNvPr>
          <p:cNvSpPr/>
          <p:nvPr/>
        </p:nvSpPr>
        <p:spPr>
          <a:xfrm>
            <a:off x="218099" y="5480878"/>
            <a:ext cx="8075293" cy="965500"/>
          </a:xfrm>
          <a:prstGeom prst="roundRect">
            <a:avLst>
              <a:gd name="adj" fmla="val 875"/>
            </a:avLst>
          </a:prstGeom>
          <a:solidFill>
            <a:schemeClr val="bg1"/>
          </a:solid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3095">
            <a:extLst>
              <a:ext uri="{FF2B5EF4-FFF2-40B4-BE49-F238E27FC236}">
                <a16:creationId xmlns:a16="http://schemas.microsoft.com/office/drawing/2014/main" id="{107BC591-ABEA-1823-4F6E-730366E67E49}"/>
              </a:ext>
            </a:extLst>
          </p:cNvPr>
          <p:cNvSpPr/>
          <p:nvPr/>
        </p:nvSpPr>
        <p:spPr>
          <a:xfrm>
            <a:off x="251120" y="5521708"/>
            <a:ext cx="1162456" cy="22432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buClrTx/>
            </a:pPr>
            <a:r>
              <a:rPr lang="en-US" sz="1400" b="1" u="sng" kern="1200">
                <a:solidFill>
                  <a:srgbClr val="0070C0"/>
                </a:solidFill>
                <a:latin typeface="Lato" panose="020F0502020204030203" pitchFamily="34" charset="0"/>
                <a:ea typeface="Lato" panose="020F0502020204030203" pitchFamily="34" charset="0"/>
                <a:cs typeface="Lato" panose="020F0502020204030203" pitchFamily="34" charset="0"/>
              </a:rPr>
              <a:t>Flex Team</a:t>
            </a:r>
          </a:p>
        </p:txBody>
      </p:sp>
      <p:pic>
        <p:nvPicPr>
          <p:cNvPr id="16" name="Picture 15">
            <a:extLst>
              <a:ext uri="{FF2B5EF4-FFF2-40B4-BE49-F238E27FC236}">
                <a16:creationId xmlns:a16="http://schemas.microsoft.com/office/drawing/2014/main" id="{246B9833-EC08-1A2E-204B-A4C1C819B89C}"/>
              </a:ext>
            </a:extLst>
          </p:cNvPr>
          <p:cNvPicPr>
            <a:picLocks noChangeAspect="1"/>
          </p:cNvPicPr>
          <p:nvPr/>
        </p:nvPicPr>
        <p:blipFill>
          <a:blip r:embed="rId18">
            <a:duotone>
              <a:schemeClr val="accent4">
                <a:shade val="45000"/>
                <a:satMod val="135000"/>
              </a:schemeClr>
              <a:prstClr val="white"/>
            </a:duotone>
          </a:blip>
          <a:stretch>
            <a:fillRect/>
          </a:stretch>
        </p:blipFill>
        <p:spPr>
          <a:xfrm>
            <a:off x="2722826" y="5663999"/>
            <a:ext cx="599258" cy="599258"/>
          </a:xfrm>
          <a:prstGeom prst="rect">
            <a:avLst/>
          </a:prstGeom>
        </p:spPr>
      </p:pic>
      <p:sp>
        <p:nvSpPr>
          <p:cNvPr id="17" name="Rounded Rectangle 10">
            <a:extLst>
              <a:ext uri="{FF2B5EF4-FFF2-40B4-BE49-F238E27FC236}">
                <a16:creationId xmlns:a16="http://schemas.microsoft.com/office/drawing/2014/main" id="{D453486C-4075-BBE0-1381-D40679CAC611}"/>
              </a:ext>
            </a:extLst>
          </p:cNvPr>
          <p:cNvSpPr/>
          <p:nvPr/>
        </p:nvSpPr>
        <p:spPr>
          <a:xfrm>
            <a:off x="3813339" y="5765762"/>
            <a:ext cx="3578916" cy="46383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pPr>
            <a:r>
              <a:rPr lang="en-US" sz="1000" b="1" kern="1200">
                <a:solidFill>
                  <a:prstClr val="black"/>
                </a:solidFill>
                <a:latin typeface="Lato" panose="020F0502020204030203" pitchFamily="34" charset="0"/>
                <a:ea typeface="Lato" panose="020F0502020204030203" pitchFamily="34" charset="0"/>
                <a:cs typeface="Lato" panose="020F0502020204030203" pitchFamily="34" charset="0"/>
              </a:rPr>
              <a:t>Innominds maintains a ready Flex Talent Pool with skills aligned to Daikin’s technology landscape, enabling rapid resource ramp-up on demand without delivery delays.</a:t>
            </a:r>
          </a:p>
        </p:txBody>
      </p:sp>
      <p:sp>
        <p:nvSpPr>
          <p:cNvPr id="6" name="Rounded Rectangle 10">
            <a:extLst>
              <a:ext uri="{FF2B5EF4-FFF2-40B4-BE49-F238E27FC236}">
                <a16:creationId xmlns:a16="http://schemas.microsoft.com/office/drawing/2014/main" id="{A7EA34E4-70D1-3947-A870-F86ED6038468}"/>
              </a:ext>
            </a:extLst>
          </p:cNvPr>
          <p:cNvSpPr/>
          <p:nvPr/>
        </p:nvSpPr>
        <p:spPr>
          <a:xfrm>
            <a:off x="6654653" y="3837795"/>
            <a:ext cx="1261568" cy="2366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pPr>
            <a:r>
              <a:rPr lang="en-US" sz="1000" b="1" kern="1200">
                <a:solidFill>
                  <a:prstClr val="black"/>
                </a:solidFill>
                <a:latin typeface="Lato" panose="020F0502020204030203" pitchFamily="34" charset="0"/>
                <a:ea typeface="Lato" panose="020F0502020204030203" pitchFamily="34" charset="0"/>
                <a:cs typeface="Lato" panose="020F0502020204030203" pitchFamily="34" charset="0"/>
              </a:rPr>
              <a:t>Data Engineer</a:t>
            </a:r>
          </a:p>
        </p:txBody>
      </p:sp>
      <p:grpSp>
        <p:nvGrpSpPr>
          <p:cNvPr id="22" name="Group 21">
            <a:extLst>
              <a:ext uri="{FF2B5EF4-FFF2-40B4-BE49-F238E27FC236}">
                <a16:creationId xmlns:a16="http://schemas.microsoft.com/office/drawing/2014/main" id="{29F1FD2E-AA6F-8AFB-0033-277C86CA67B3}"/>
              </a:ext>
            </a:extLst>
          </p:cNvPr>
          <p:cNvGrpSpPr/>
          <p:nvPr/>
        </p:nvGrpSpPr>
        <p:grpSpPr>
          <a:xfrm>
            <a:off x="6998921" y="3238344"/>
            <a:ext cx="573032" cy="573032"/>
            <a:chOff x="7992348" y="3667264"/>
            <a:chExt cx="656613" cy="656613"/>
          </a:xfrm>
        </p:grpSpPr>
        <p:sp>
          <p:nvSpPr>
            <p:cNvPr id="23" name="Oval 22">
              <a:extLst>
                <a:ext uri="{FF2B5EF4-FFF2-40B4-BE49-F238E27FC236}">
                  <a16:creationId xmlns:a16="http://schemas.microsoft.com/office/drawing/2014/main" id="{2DC2942E-05B4-B7C7-28F8-3063174792F0}"/>
                </a:ext>
              </a:extLst>
            </p:cNvPr>
            <p:cNvSpPr/>
            <p:nvPr/>
          </p:nvSpPr>
          <p:spPr>
            <a:xfrm>
              <a:off x="7992348" y="3667264"/>
              <a:ext cx="656613" cy="656613"/>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7D514F62-606D-3925-AA6C-CDFC7E3242EA}"/>
                </a:ext>
              </a:extLst>
            </p:cNvPr>
            <p:cNvPicPr>
              <a:picLocks noChangeAspect="1"/>
            </p:cNvPicPr>
            <p:nvPr/>
          </p:nvPicPr>
          <p:blipFill>
            <a:blip r:embed="rId14">
              <a:extLst>
                <a:ext uri="{BEBA8EAE-BF5A-486C-A8C5-ECC9F3942E4B}">
                  <a14:imgProps xmlns:a14="http://schemas.microsoft.com/office/drawing/2010/main">
                    <a14:imgLayer r:embed="rId15">
                      <a14:imgEffect>
                        <a14:brightnessContrast bright="100000"/>
                      </a14:imgEffect>
                    </a14:imgLayer>
                  </a14:imgProps>
                </a:ext>
              </a:extLst>
            </a:blip>
            <a:srcRect/>
            <a:stretch/>
          </p:blipFill>
          <p:spPr>
            <a:xfrm>
              <a:off x="8107480" y="3786953"/>
              <a:ext cx="417233" cy="417233"/>
            </a:xfrm>
            <a:prstGeom prst="rect">
              <a:avLst/>
            </a:prstGeom>
          </p:spPr>
        </p:pic>
      </p:grpSp>
      <p:grpSp>
        <p:nvGrpSpPr>
          <p:cNvPr id="29" name="Group 28">
            <a:extLst>
              <a:ext uri="{FF2B5EF4-FFF2-40B4-BE49-F238E27FC236}">
                <a16:creationId xmlns:a16="http://schemas.microsoft.com/office/drawing/2014/main" id="{CF2EB1DB-D6DB-3DE6-55C4-3B6B945A44FE}"/>
              </a:ext>
            </a:extLst>
          </p:cNvPr>
          <p:cNvGrpSpPr/>
          <p:nvPr/>
        </p:nvGrpSpPr>
        <p:grpSpPr>
          <a:xfrm>
            <a:off x="5158247" y="4232656"/>
            <a:ext cx="573032" cy="573032"/>
            <a:chOff x="7992348" y="3667264"/>
            <a:chExt cx="656613" cy="656613"/>
          </a:xfrm>
        </p:grpSpPr>
        <p:sp>
          <p:nvSpPr>
            <p:cNvPr id="30" name="Oval 29">
              <a:extLst>
                <a:ext uri="{FF2B5EF4-FFF2-40B4-BE49-F238E27FC236}">
                  <a16:creationId xmlns:a16="http://schemas.microsoft.com/office/drawing/2014/main" id="{C1934022-F648-CEB2-BFBC-858874B2169F}"/>
                </a:ext>
              </a:extLst>
            </p:cNvPr>
            <p:cNvSpPr/>
            <p:nvPr/>
          </p:nvSpPr>
          <p:spPr>
            <a:xfrm>
              <a:off x="7992348" y="3667264"/>
              <a:ext cx="656613" cy="656613"/>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a:extLst>
                <a:ext uri="{FF2B5EF4-FFF2-40B4-BE49-F238E27FC236}">
                  <a16:creationId xmlns:a16="http://schemas.microsoft.com/office/drawing/2014/main" id="{11F7882F-7C8F-B420-C397-E9AB99CD2EBE}"/>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a:off x="8103820" y="3783293"/>
              <a:ext cx="424553" cy="424553"/>
            </a:xfrm>
            <a:prstGeom prst="rect">
              <a:avLst/>
            </a:prstGeom>
          </p:spPr>
        </p:pic>
      </p:grpSp>
      <p:sp>
        <p:nvSpPr>
          <p:cNvPr id="32" name="Rounded Rectangle 10">
            <a:extLst>
              <a:ext uri="{FF2B5EF4-FFF2-40B4-BE49-F238E27FC236}">
                <a16:creationId xmlns:a16="http://schemas.microsoft.com/office/drawing/2014/main" id="{DC1885E8-01E3-4FF4-CBCB-1C6456D7881E}"/>
              </a:ext>
            </a:extLst>
          </p:cNvPr>
          <p:cNvSpPr/>
          <p:nvPr/>
        </p:nvSpPr>
        <p:spPr>
          <a:xfrm>
            <a:off x="4697211" y="4752191"/>
            <a:ext cx="1541465" cy="27906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pPr>
            <a:r>
              <a:rPr lang="en-US" sz="1000" b="1" kern="1200">
                <a:solidFill>
                  <a:prstClr val="black"/>
                </a:solidFill>
                <a:latin typeface="Lato" panose="020F0502020204030203" pitchFamily="34" charset="0"/>
                <a:ea typeface="Lato" panose="020F0502020204030203" pitchFamily="34" charset="0"/>
                <a:cs typeface="Lato" panose="020F0502020204030203" pitchFamily="34" charset="0"/>
              </a:rPr>
              <a:t>Power BI Developers</a:t>
            </a:r>
          </a:p>
        </p:txBody>
      </p:sp>
      <p:sp>
        <p:nvSpPr>
          <p:cNvPr id="52" name="Text Box 6">
            <a:extLst>
              <a:ext uri="{FF2B5EF4-FFF2-40B4-BE49-F238E27FC236}">
                <a16:creationId xmlns:a16="http://schemas.microsoft.com/office/drawing/2014/main" id="{4C8DE140-0E3C-C01C-EDDD-7DB5D8280D3D}"/>
              </a:ext>
            </a:extLst>
          </p:cNvPr>
          <p:cNvSpPr txBox="1">
            <a:spLocks noChangeArrowheads="1"/>
          </p:cNvSpPr>
          <p:nvPr/>
        </p:nvSpPr>
        <p:spPr bwMode="auto">
          <a:xfrm>
            <a:off x="8519859" y="892190"/>
            <a:ext cx="3614504" cy="769441"/>
          </a:xfrm>
          <a:prstGeom prst="rect">
            <a:avLst/>
          </a:prstGeom>
          <a:noFill/>
          <a:ln w="9525">
            <a:noFill/>
            <a:miter lim="800000"/>
            <a:headEnd/>
            <a:tailEnd/>
          </a:ln>
          <a:effectLst/>
        </p:spPr>
        <p:txBody>
          <a:bodyPr wrap="square">
            <a:spAutoFit/>
          </a:bodyPr>
          <a:lstStyle/>
          <a:p>
            <a:pPr marL="112711" indent="-112711" defTabSz="914377"/>
            <a:r>
              <a:rPr lang="en-US" sz="1100" b="1">
                <a:solidFill>
                  <a:srgbClr val="0070C0"/>
                </a:solidFill>
                <a:latin typeface="Lato" panose="020F0502020204030203" pitchFamily="34" charset="0"/>
                <a:ea typeface="Lato" panose="020F0502020204030203" pitchFamily="34" charset="0"/>
                <a:cs typeface="Lato" panose="020F0502020204030203" pitchFamily="34" charset="0"/>
              </a:rPr>
              <a:t>Platform Architect:</a:t>
            </a:r>
          </a:p>
          <a:p>
            <a:pPr marL="231769" indent="-231769" defTabSz="914377">
              <a:buFont typeface="Wingdings" panose="05000000000000000000" pitchFamily="2" charset="2"/>
              <a:buChar char="§"/>
            </a:pPr>
            <a:r>
              <a:rPr lang="en-US" sz="1100">
                <a:solidFill>
                  <a:prstClr val="black"/>
                </a:solidFill>
                <a:latin typeface="Lato" panose="020F0502020204030203" pitchFamily="34" charset="0"/>
                <a:ea typeface="Lato" panose="020F0502020204030203" pitchFamily="34" charset="0"/>
                <a:cs typeface="Lato" panose="020F0502020204030203" pitchFamily="34" charset="0"/>
              </a:rPr>
              <a:t>Defines platform architecture and engineering standards</a:t>
            </a:r>
          </a:p>
          <a:p>
            <a:pPr marL="231769" indent="-231769" defTabSz="914377">
              <a:buFont typeface="Wingdings" panose="05000000000000000000" pitchFamily="2" charset="2"/>
              <a:buChar char="§"/>
            </a:pPr>
            <a:r>
              <a:rPr lang="en-US" sz="1100">
                <a:solidFill>
                  <a:prstClr val="black"/>
                </a:solidFill>
                <a:latin typeface="Lato" panose="020F0502020204030203" pitchFamily="34" charset="0"/>
                <a:ea typeface="Lato" panose="020F0502020204030203" pitchFamily="34" charset="0"/>
                <a:cs typeface="Lato" panose="020F0502020204030203" pitchFamily="34" charset="0"/>
              </a:rPr>
              <a:t>Guides technology decisions and platform evolution</a:t>
            </a:r>
          </a:p>
        </p:txBody>
      </p:sp>
      <p:sp>
        <p:nvSpPr>
          <p:cNvPr id="55" name="Rectangle 54">
            <a:extLst>
              <a:ext uri="{FF2B5EF4-FFF2-40B4-BE49-F238E27FC236}">
                <a16:creationId xmlns:a16="http://schemas.microsoft.com/office/drawing/2014/main" id="{B835F75F-72EE-3E07-8666-30E8D7833233}"/>
              </a:ext>
            </a:extLst>
          </p:cNvPr>
          <p:cNvSpPr/>
          <p:nvPr/>
        </p:nvSpPr>
        <p:spPr>
          <a:xfrm>
            <a:off x="8519859" y="5732836"/>
            <a:ext cx="3686809" cy="769441"/>
          </a:xfrm>
          <a:prstGeom prst="rect">
            <a:avLst/>
          </a:prstGeom>
        </p:spPr>
        <p:txBody>
          <a:bodyPr wrap="square">
            <a:spAutoFit/>
          </a:bodyPr>
          <a:lstStyle/>
          <a:p>
            <a:pPr indent="-112711" defTabSz="914377"/>
            <a:r>
              <a:rPr lang="en-US" sz="1100" b="1">
                <a:solidFill>
                  <a:srgbClr val="0070C0"/>
                </a:solidFill>
                <a:latin typeface="Lato" panose="020F0502020204030203" pitchFamily="34" charset="0"/>
                <a:ea typeface="Lato" panose="020F0502020204030203" pitchFamily="34" charset="0"/>
                <a:cs typeface="Lato" panose="020F0502020204030203" pitchFamily="34" charset="0"/>
              </a:rPr>
              <a:t>Scrum Master / PM:</a:t>
            </a:r>
          </a:p>
          <a:p>
            <a:pPr marL="231769" indent="-231769" defTabSz="914377" fontAlgn="base">
              <a:spcBef>
                <a:spcPct val="0"/>
              </a:spcBef>
              <a:spcAft>
                <a:spcPct val="0"/>
              </a:spcAft>
              <a:buFont typeface="Wingdings" panose="05000000000000000000" pitchFamily="2" charset="2"/>
              <a:buChar char="§"/>
            </a:pPr>
            <a:r>
              <a:rPr lang="en-US" sz="1100">
                <a:solidFill>
                  <a:prstClr val="black"/>
                </a:solidFill>
                <a:latin typeface="Lato" panose="020F0502020204030203" pitchFamily="34" charset="0"/>
                <a:ea typeface="Lato" panose="020F0502020204030203" pitchFamily="34" charset="0"/>
                <a:cs typeface="Lato" panose="020F0502020204030203" pitchFamily="34" charset="0"/>
              </a:rPr>
              <a:t>Drive agile delivery execution and sprint governance</a:t>
            </a:r>
          </a:p>
          <a:p>
            <a:pPr marL="231769" indent="-231769" defTabSz="914377" fontAlgn="base">
              <a:spcBef>
                <a:spcPct val="0"/>
              </a:spcBef>
              <a:spcAft>
                <a:spcPct val="0"/>
              </a:spcAft>
              <a:buFont typeface="Wingdings" panose="05000000000000000000" pitchFamily="2" charset="2"/>
              <a:buChar char="§"/>
            </a:pPr>
            <a:r>
              <a:rPr lang="en-US" sz="1100">
                <a:solidFill>
                  <a:prstClr val="black"/>
                </a:solidFill>
                <a:latin typeface="Lato" panose="020F0502020204030203" pitchFamily="34" charset="0"/>
                <a:ea typeface="Lato" panose="020F0502020204030203" pitchFamily="34" charset="0"/>
                <a:cs typeface="Lato" panose="020F0502020204030203" pitchFamily="34" charset="0"/>
              </a:rPr>
              <a:t>Manage coordination and delivery risks</a:t>
            </a:r>
          </a:p>
          <a:p>
            <a:pPr marL="231769" indent="-231769" defTabSz="914377" fontAlgn="base">
              <a:spcBef>
                <a:spcPct val="0"/>
              </a:spcBef>
              <a:spcAft>
                <a:spcPct val="0"/>
              </a:spcAft>
              <a:buFont typeface="Wingdings" panose="05000000000000000000" pitchFamily="2" charset="2"/>
              <a:buChar char="§"/>
            </a:pPr>
            <a:r>
              <a:rPr lang="en-US" sz="1100">
                <a:solidFill>
                  <a:prstClr val="black"/>
                </a:solidFill>
                <a:latin typeface="Lato" panose="020F0502020204030203" pitchFamily="34" charset="0"/>
                <a:ea typeface="Lato" panose="020F0502020204030203" pitchFamily="34" charset="0"/>
                <a:cs typeface="Lato" panose="020F0502020204030203" pitchFamily="34" charset="0"/>
              </a:rPr>
              <a:t>Ensure stakeholder visibility and alignment</a:t>
            </a:r>
            <a:endParaRPr lang="en-IN" sz="1100">
              <a:solidFill>
                <a:prstClr val="black"/>
              </a:solidFill>
              <a:latin typeface="Lato" panose="020F0502020204030203" pitchFamily="34" charset="0"/>
              <a:ea typeface="Lato" panose="020F0502020204030203" pitchFamily="34" charset="0"/>
              <a:cs typeface="Lato" panose="020F0502020204030203" pitchFamily="34" charset="0"/>
            </a:endParaRPr>
          </a:p>
        </p:txBody>
      </p:sp>
      <p:sp>
        <p:nvSpPr>
          <p:cNvPr id="58" name="Rectangle 57">
            <a:extLst>
              <a:ext uri="{FF2B5EF4-FFF2-40B4-BE49-F238E27FC236}">
                <a16:creationId xmlns:a16="http://schemas.microsoft.com/office/drawing/2014/main" id="{3B0B4E81-EB03-23A0-7456-F50C93EC7713}"/>
              </a:ext>
            </a:extLst>
          </p:cNvPr>
          <p:cNvSpPr/>
          <p:nvPr/>
        </p:nvSpPr>
        <p:spPr>
          <a:xfrm>
            <a:off x="8519859" y="1775825"/>
            <a:ext cx="3614502" cy="769441"/>
          </a:xfrm>
          <a:prstGeom prst="rect">
            <a:avLst/>
          </a:prstGeom>
        </p:spPr>
        <p:txBody>
          <a:bodyPr wrap="square">
            <a:spAutoFit/>
          </a:bodyPr>
          <a:lstStyle/>
          <a:p>
            <a:pPr indent="-112711" defTabSz="914377"/>
            <a:r>
              <a:rPr lang="en-US" sz="1100" b="1">
                <a:solidFill>
                  <a:srgbClr val="0070C0"/>
                </a:solidFill>
                <a:latin typeface="Lato" panose="020F0502020204030203" pitchFamily="34" charset="0"/>
                <a:ea typeface="Lato" panose="020F0502020204030203" pitchFamily="34" charset="0"/>
                <a:cs typeface="Lato" panose="020F0502020204030203" pitchFamily="34" charset="0"/>
              </a:rPr>
              <a:t>Data Engineers :</a:t>
            </a:r>
          </a:p>
          <a:p>
            <a:pPr marL="231769" indent="-231769" defTabSz="914377" fontAlgn="base">
              <a:spcBef>
                <a:spcPct val="0"/>
              </a:spcBef>
              <a:spcAft>
                <a:spcPct val="0"/>
              </a:spcAft>
              <a:buFont typeface="Wingdings" panose="05000000000000000000" pitchFamily="2" charset="2"/>
              <a:buChar char="§"/>
            </a:pPr>
            <a:r>
              <a:rPr lang="en-US" sz="1100">
                <a:solidFill>
                  <a:prstClr val="black"/>
                </a:solidFill>
                <a:latin typeface="Lato" panose="020F0502020204030203" pitchFamily="34" charset="0"/>
                <a:ea typeface="Lato" panose="020F0502020204030203" pitchFamily="34" charset="0"/>
                <a:cs typeface="Lato" panose="020F0502020204030203" pitchFamily="34" charset="0"/>
              </a:rPr>
              <a:t>Build and maintain data ingestion pipelines</a:t>
            </a:r>
          </a:p>
          <a:p>
            <a:pPr marL="231769" indent="-231769" defTabSz="914377" fontAlgn="base">
              <a:spcBef>
                <a:spcPct val="0"/>
              </a:spcBef>
              <a:spcAft>
                <a:spcPct val="0"/>
              </a:spcAft>
              <a:buFont typeface="Wingdings" panose="05000000000000000000" pitchFamily="2" charset="2"/>
              <a:buChar char="§"/>
            </a:pPr>
            <a:r>
              <a:rPr lang="en-US" sz="1100">
                <a:solidFill>
                  <a:prstClr val="black"/>
                </a:solidFill>
                <a:latin typeface="Lato" panose="020F0502020204030203" pitchFamily="34" charset="0"/>
                <a:ea typeface="Lato" panose="020F0502020204030203" pitchFamily="34" charset="0"/>
                <a:cs typeface="Lato" panose="020F0502020204030203" pitchFamily="34" charset="0"/>
              </a:rPr>
              <a:t>Implement transformations on Databricks platform</a:t>
            </a:r>
          </a:p>
          <a:p>
            <a:pPr marL="231769" indent="-231769" defTabSz="914377" fontAlgn="base">
              <a:spcBef>
                <a:spcPct val="0"/>
              </a:spcBef>
              <a:spcAft>
                <a:spcPct val="0"/>
              </a:spcAft>
              <a:buFont typeface="Wingdings" panose="05000000000000000000" pitchFamily="2" charset="2"/>
              <a:buChar char="§"/>
            </a:pPr>
            <a:r>
              <a:rPr lang="en-US" sz="1100">
                <a:solidFill>
                  <a:prstClr val="black"/>
                </a:solidFill>
                <a:latin typeface="Lato" panose="020F0502020204030203" pitchFamily="34" charset="0"/>
                <a:ea typeface="Lato" panose="020F0502020204030203" pitchFamily="34" charset="0"/>
                <a:cs typeface="Lato" panose="020F0502020204030203" pitchFamily="34" charset="0"/>
              </a:rPr>
              <a:t>Ensure reliable and performant data workflows</a:t>
            </a:r>
            <a:endParaRPr lang="en-IN" sz="1100">
              <a:solidFill>
                <a:prstClr val="black"/>
              </a:solidFill>
              <a:latin typeface="Lato" panose="020F0502020204030203" pitchFamily="34" charset="0"/>
              <a:ea typeface="Lato" panose="020F0502020204030203" pitchFamily="34" charset="0"/>
              <a:cs typeface="Lato" panose="020F0502020204030203" pitchFamily="34" charset="0"/>
            </a:endParaRPr>
          </a:p>
        </p:txBody>
      </p:sp>
      <p:sp>
        <p:nvSpPr>
          <p:cNvPr id="59" name="Rectangle 2">
            <a:extLst>
              <a:ext uri="{FF2B5EF4-FFF2-40B4-BE49-F238E27FC236}">
                <a16:creationId xmlns:a16="http://schemas.microsoft.com/office/drawing/2014/main" id="{B3E695B2-AB56-584C-EE35-A6691A3C6417}"/>
              </a:ext>
            </a:extLst>
          </p:cNvPr>
          <p:cNvSpPr>
            <a:spLocks noChangeArrowheads="1"/>
          </p:cNvSpPr>
          <p:nvPr/>
        </p:nvSpPr>
        <p:spPr bwMode="auto">
          <a:xfrm>
            <a:off x="8519859" y="2743954"/>
            <a:ext cx="3614502"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defTabSz="914377" fontAlgn="base">
              <a:lnSpc>
                <a:spcPct val="100000"/>
              </a:lnSpc>
              <a:spcBef>
                <a:spcPct val="0"/>
              </a:spcBef>
              <a:spcAft>
                <a:spcPct val="0"/>
              </a:spcAft>
              <a:buClrTx/>
              <a:buSzTx/>
              <a:tabLst/>
            </a:pPr>
            <a:r>
              <a:rPr lang="en-US" altLang="en-US" sz="1100" b="1">
                <a:solidFill>
                  <a:srgbClr val="0070C0"/>
                </a:solidFill>
                <a:latin typeface="Lato" panose="020F0502020204030203" pitchFamily="34" charset="0"/>
                <a:ea typeface="Lato" panose="020F0502020204030203" pitchFamily="34" charset="0"/>
                <a:cs typeface="Lato" panose="020F0502020204030203" pitchFamily="34" charset="0"/>
              </a:rPr>
              <a:t>BI / Power BI Developers:</a:t>
            </a:r>
          </a:p>
          <a:p>
            <a:pPr marL="231769" marR="0" lvl="0" indent="-231769" defTabSz="914377" fontAlgn="base">
              <a:lnSpc>
                <a:spcPct val="100000"/>
              </a:lnSpc>
              <a:spcBef>
                <a:spcPct val="0"/>
              </a:spcBef>
              <a:spcAft>
                <a:spcPct val="0"/>
              </a:spcAft>
              <a:buClrTx/>
              <a:buSzTx/>
              <a:buFont typeface="Wingdings" panose="05000000000000000000" pitchFamily="2" charset="2"/>
              <a:buChar char="§"/>
              <a:tabLst/>
            </a:pPr>
            <a:r>
              <a:rPr lang="en-US" altLang="en-US" sz="1100">
                <a:solidFill>
                  <a:prstClr val="black"/>
                </a:solidFill>
                <a:latin typeface="Lato" panose="020F0502020204030203" pitchFamily="34" charset="0"/>
                <a:ea typeface="Lato" panose="020F0502020204030203" pitchFamily="34" charset="0"/>
                <a:cs typeface="Lato" panose="020F0502020204030203" pitchFamily="34" charset="0"/>
              </a:rPr>
              <a:t>Develop dashboards and reporting solutions</a:t>
            </a:r>
          </a:p>
          <a:p>
            <a:pPr marL="231769" marR="0" lvl="0" indent="-231769" defTabSz="914377" fontAlgn="base">
              <a:lnSpc>
                <a:spcPct val="100000"/>
              </a:lnSpc>
              <a:spcBef>
                <a:spcPct val="0"/>
              </a:spcBef>
              <a:spcAft>
                <a:spcPct val="0"/>
              </a:spcAft>
              <a:buClrTx/>
              <a:buSzTx/>
              <a:buFont typeface="Wingdings" panose="05000000000000000000" pitchFamily="2" charset="2"/>
              <a:buChar char="§"/>
              <a:tabLst/>
            </a:pPr>
            <a:r>
              <a:rPr lang="en-US" altLang="en-US" sz="1100">
                <a:solidFill>
                  <a:prstClr val="black"/>
                </a:solidFill>
                <a:latin typeface="Lato" panose="020F0502020204030203" pitchFamily="34" charset="0"/>
                <a:ea typeface="Lato" panose="020F0502020204030203" pitchFamily="34" charset="0"/>
                <a:cs typeface="Lato" panose="020F0502020204030203" pitchFamily="34" charset="0"/>
              </a:rPr>
              <a:t>Enable self-service analytics for business users</a:t>
            </a:r>
          </a:p>
          <a:p>
            <a:pPr marL="231769" marR="0" lvl="0" indent="-231769" defTabSz="914377" fontAlgn="base">
              <a:lnSpc>
                <a:spcPct val="100000"/>
              </a:lnSpc>
              <a:spcBef>
                <a:spcPct val="0"/>
              </a:spcBef>
              <a:spcAft>
                <a:spcPct val="0"/>
              </a:spcAft>
              <a:buClrTx/>
              <a:buSzTx/>
              <a:buFont typeface="Wingdings" panose="05000000000000000000" pitchFamily="2" charset="2"/>
              <a:buChar char="§"/>
              <a:tabLst/>
            </a:pPr>
            <a:r>
              <a:rPr lang="en-US" altLang="en-US" sz="1100">
                <a:solidFill>
                  <a:prstClr val="black"/>
                </a:solidFill>
                <a:latin typeface="Lato" panose="020F0502020204030203" pitchFamily="34" charset="0"/>
                <a:ea typeface="Lato" panose="020F0502020204030203" pitchFamily="34" charset="0"/>
                <a:cs typeface="Lato" panose="020F0502020204030203" pitchFamily="34" charset="0"/>
              </a:rPr>
              <a:t>Optimize report usability and performance</a:t>
            </a:r>
          </a:p>
        </p:txBody>
      </p:sp>
      <p:sp>
        <p:nvSpPr>
          <p:cNvPr id="61" name="Rectangle 2">
            <a:extLst>
              <a:ext uri="{FF2B5EF4-FFF2-40B4-BE49-F238E27FC236}">
                <a16:creationId xmlns:a16="http://schemas.microsoft.com/office/drawing/2014/main" id="{79DDF6DF-E9C7-E206-9502-3BDC244F7CC2}"/>
              </a:ext>
            </a:extLst>
          </p:cNvPr>
          <p:cNvSpPr>
            <a:spLocks noChangeArrowheads="1"/>
          </p:cNvSpPr>
          <p:nvPr/>
        </p:nvSpPr>
        <p:spPr bwMode="auto">
          <a:xfrm>
            <a:off x="8519859" y="4764706"/>
            <a:ext cx="3614502"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377" fontAlgn="base">
              <a:spcBef>
                <a:spcPct val="0"/>
              </a:spcBef>
              <a:spcAft>
                <a:spcPct val="0"/>
              </a:spcAft>
            </a:pPr>
            <a:r>
              <a:rPr lang="en-US" altLang="en-US" sz="1100" b="1">
                <a:solidFill>
                  <a:srgbClr val="0070C0"/>
                </a:solidFill>
                <a:latin typeface="Lato" panose="020F0502020204030203" pitchFamily="34" charset="0"/>
                <a:ea typeface="Lato" panose="020F0502020204030203" pitchFamily="34" charset="0"/>
                <a:cs typeface="Lato" panose="020F0502020204030203" pitchFamily="34" charset="0"/>
              </a:rPr>
              <a:t>QA Engineers:</a:t>
            </a:r>
          </a:p>
          <a:p>
            <a:pPr marL="231769" indent="-231769" defTabSz="914377" fontAlgn="base">
              <a:spcBef>
                <a:spcPct val="0"/>
              </a:spcBef>
              <a:spcAft>
                <a:spcPct val="0"/>
              </a:spcAft>
              <a:buFont typeface="Wingdings" panose="05000000000000000000" pitchFamily="2" charset="2"/>
              <a:buChar char="§"/>
            </a:pPr>
            <a:r>
              <a:rPr lang="en-US" altLang="en-US" sz="1100">
                <a:solidFill>
                  <a:prstClr val="black"/>
                </a:solidFill>
                <a:latin typeface="Lato" panose="020F0502020204030203" pitchFamily="34" charset="0"/>
                <a:ea typeface="Lato" panose="020F0502020204030203" pitchFamily="34" charset="0"/>
                <a:cs typeface="Lato" panose="020F0502020204030203" pitchFamily="34" charset="0"/>
              </a:rPr>
              <a:t>Validate data accuracy and pipeline quality</a:t>
            </a:r>
          </a:p>
          <a:p>
            <a:pPr marL="231769" indent="-231769" defTabSz="914377" fontAlgn="base">
              <a:spcBef>
                <a:spcPct val="0"/>
              </a:spcBef>
              <a:spcAft>
                <a:spcPct val="0"/>
              </a:spcAft>
              <a:buFont typeface="Wingdings" panose="05000000000000000000" pitchFamily="2" charset="2"/>
              <a:buChar char="§"/>
            </a:pPr>
            <a:r>
              <a:rPr lang="en-US" altLang="en-US" sz="1100">
                <a:solidFill>
                  <a:prstClr val="black"/>
                </a:solidFill>
                <a:latin typeface="Lato" panose="020F0502020204030203" pitchFamily="34" charset="0"/>
                <a:ea typeface="Lato" panose="020F0502020204030203" pitchFamily="34" charset="0"/>
                <a:cs typeface="Lato" panose="020F0502020204030203" pitchFamily="34" charset="0"/>
              </a:rPr>
              <a:t>Perform functional and regression testing</a:t>
            </a:r>
          </a:p>
          <a:p>
            <a:pPr marL="231769" indent="-231769" defTabSz="914377" fontAlgn="base">
              <a:spcBef>
                <a:spcPct val="0"/>
              </a:spcBef>
              <a:spcAft>
                <a:spcPct val="0"/>
              </a:spcAft>
              <a:buFont typeface="Wingdings" panose="05000000000000000000" pitchFamily="2" charset="2"/>
              <a:buChar char="§"/>
            </a:pPr>
            <a:r>
              <a:rPr lang="en-US" altLang="en-US" sz="1100">
                <a:solidFill>
                  <a:prstClr val="black"/>
                </a:solidFill>
                <a:latin typeface="Lato" panose="020F0502020204030203" pitchFamily="34" charset="0"/>
                <a:ea typeface="Lato" panose="020F0502020204030203" pitchFamily="34" charset="0"/>
                <a:cs typeface="Lato" panose="020F0502020204030203" pitchFamily="34" charset="0"/>
              </a:rPr>
              <a:t>Ensure release readiness and defect control</a:t>
            </a:r>
          </a:p>
        </p:txBody>
      </p:sp>
      <p:sp>
        <p:nvSpPr>
          <p:cNvPr id="62" name="Rectangle 61">
            <a:extLst>
              <a:ext uri="{FF2B5EF4-FFF2-40B4-BE49-F238E27FC236}">
                <a16:creationId xmlns:a16="http://schemas.microsoft.com/office/drawing/2014/main" id="{BFD825C2-86BC-49B0-AC26-ADB2B31E4EAD}"/>
              </a:ext>
            </a:extLst>
          </p:cNvPr>
          <p:cNvSpPr/>
          <p:nvPr/>
        </p:nvSpPr>
        <p:spPr>
          <a:xfrm>
            <a:off x="8446228" y="927164"/>
            <a:ext cx="59763" cy="699492"/>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8A316999-976A-4C65-6B39-787EE32D1BD9}"/>
              </a:ext>
            </a:extLst>
          </p:cNvPr>
          <p:cNvSpPr/>
          <p:nvPr/>
        </p:nvSpPr>
        <p:spPr>
          <a:xfrm>
            <a:off x="8446228" y="4805752"/>
            <a:ext cx="59763" cy="699492"/>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BEB157FC-4381-E502-9EB1-6B559D379768}"/>
              </a:ext>
            </a:extLst>
          </p:cNvPr>
          <p:cNvSpPr/>
          <p:nvPr/>
        </p:nvSpPr>
        <p:spPr>
          <a:xfrm>
            <a:off x="8446228" y="5775399"/>
            <a:ext cx="59763" cy="699492"/>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ext Box 7">
            <a:extLst>
              <a:ext uri="{FF2B5EF4-FFF2-40B4-BE49-F238E27FC236}">
                <a16:creationId xmlns:a16="http://schemas.microsoft.com/office/drawing/2014/main" id="{471E5BC3-0A82-03B3-F9E0-8AE1B266D719}"/>
              </a:ext>
            </a:extLst>
          </p:cNvPr>
          <p:cNvSpPr txBox="1">
            <a:spLocks noChangeArrowheads="1"/>
          </p:cNvSpPr>
          <p:nvPr/>
        </p:nvSpPr>
        <p:spPr bwMode="auto">
          <a:xfrm>
            <a:off x="8519858" y="3731651"/>
            <a:ext cx="3614502" cy="769441"/>
          </a:xfrm>
          <a:prstGeom prst="rect">
            <a:avLst/>
          </a:prstGeom>
          <a:noFill/>
          <a:ln w="9525">
            <a:noFill/>
            <a:miter lim="800000"/>
            <a:headEnd/>
            <a:tailEnd/>
          </a:ln>
          <a:effectLst/>
        </p:spPr>
        <p:txBody>
          <a:bodyPr wrap="square">
            <a:spAutoFit/>
          </a:bodyPr>
          <a:lstStyle/>
          <a:p>
            <a:pPr defTabSz="914377"/>
            <a:r>
              <a:rPr lang="en-US" sz="1100" b="1">
                <a:solidFill>
                  <a:srgbClr val="0070C0"/>
                </a:solidFill>
                <a:highlight>
                  <a:srgbClr val="FFFFFF"/>
                </a:highlight>
                <a:latin typeface="Lato" panose="020F0502020204030203" pitchFamily="34" charset="0"/>
                <a:ea typeface="Lato" panose="020F0502020204030203" pitchFamily="34" charset="0"/>
                <a:cs typeface="Lato" panose="020F0502020204030203" pitchFamily="34" charset="0"/>
              </a:rPr>
              <a:t>Data Modeler:</a:t>
            </a:r>
          </a:p>
          <a:p>
            <a:pPr marL="231769" indent="-231769" defTabSz="914377">
              <a:buFont typeface="Wingdings" panose="05000000000000000000" pitchFamily="2" charset="2"/>
              <a:buChar char="§"/>
            </a:pPr>
            <a:r>
              <a:rPr lang="en-US" sz="1100">
                <a:solidFill>
                  <a:prstClr val="black"/>
                </a:solidFill>
                <a:latin typeface="Lato" panose="020F0502020204030203" pitchFamily="34" charset="0"/>
                <a:ea typeface="Lato" panose="020F0502020204030203" pitchFamily="34" charset="0"/>
                <a:cs typeface="Lato" panose="020F0502020204030203" pitchFamily="34" charset="0"/>
              </a:rPr>
              <a:t>Designs semantic and gold data models</a:t>
            </a:r>
          </a:p>
          <a:p>
            <a:pPr marL="231769" indent="-231769" defTabSz="914377">
              <a:buFont typeface="Wingdings" panose="05000000000000000000" pitchFamily="2" charset="2"/>
              <a:buChar char="§"/>
            </a:pPr>
            <a:r>
              <a:rPr lang="en-US" sz="1100">
                <a:solidFill>
                  <a:prstClr val="black"/>
                </a:solidFill>
                <a:latin typeface="Lato" panose="020F0502020204030203" pitchFamily="34" charset="0"/>
                <a:ea typeface="Lato" panose="020F0502020204030203" pitchFamily="34" charset="0"/>
                <a:cs typeface="Lato" panose="020F0502020204030203" pitchFamily="34" charset="0"/>
              </a:rPr>
              <a:t>Align data structures with business requirements</a:t>
            </a:r>
          </a:p>
          <a:p>
            <a:pPr marL="231769" indent="-231769" defTabSz="914377">
              <a:buFont typeface="Wingdings" panose="05000000000000000000" pitchFamily="2" charset="2"/>
              <a:buChar char="§"/>
            </a:pPr>
            <a:r>
              <a:rPr lang="en-US" sz="1100">
                <a:solidFill>
                  <a:prstClr val="black"/>
                </a:solidFill>
                <a:latin typeface="Lato" panose="020F0502020204030203" pitchFamily="34" charset="0"/>
                <a:ea typeface="Lato" panose="020F0502020204030203" pitchFamily="34" charset="0"/>
                <a:cs typeface="Lato" panose="020F0502020204030203" pitchFamily="34" charset="0"/>
              </a:rPr>
              <a:t>Ensures consistency across enterprise datasets</a:t>
            </a:r>
          </a:p>
        </p:txBody>
      </p:sp>
      <p:sp>
        <p:nvSpPr>
          <p:cNvPr id="71" name="Rectangle 70">
            <a:extLst>
              <a:ext uri="{FF2B5EF4-FFF2-40B4-BE49-F238E27FC236}">
                <a16:creationId xmlns:a16="http://schemas.microsoft.com/office/drawing/2014/main" id="{79FB7D0B-27CB-1534-4271-E986D0565727}"/>
              </a:ext>
            </a:extLst>
          </p:cNvPr>
          <p:cNvSpPr/>
          <p:nvPr/>
        </p:nvSpPr>
        <p:spPr>
          <a:xfrm>
            <a:off x="8446228" y="3768143"/>
            <a:ext cx="59763" cy="699492"/>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BA03B6A4-870E-E2EB-EFA6-2AD9FBFED371}"/>
              </a:ext>
            </a:extLst>
          </p:cNvPr>
          <p:cNvSpPr/>
          <p:nvPr/>
        </p:nvSpPr>
        <p:spPr>
          <a:xfrm>
            <a:off x="8446228" y="1854279"/>
            <a:ext cx="59763" cy="699492"/>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3E7FEDC2-8555-B163-3FB8-2855BD133725}"/>
              </a:ext>
            </a:extLst>
          </p:cNvPr>
          <p:cNvSpPr/>
          <p:nvPr/>
        </p:nvSpPr>
        <p:spPr>
          <a:xfrm>
            <a:off x="8446228" y="2823926"/>
            <a:ext cx="59763" cy="699492"/>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42064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ABB6D-B7A7-AAA6-9B7A-4E564402CC24}"/>
              </a:ext>
            </a:extLst>
          </p:cNvPr>
          <p:cNvSpPr>
            <a:spLocks noGrp="1"/>
          </p:cNvSpPr>
          <p:nvPr>
            <p:ph type="title"/>
          </p:nvPr>
        </p:nvSpPr>
        <p:spPr/>
        <p:txBody>
          <a:bodyPr/>
          <a:lstStyle/>
          <a:p>
            <a:r>
              <a:rPr lang="en-US"/>
              <a:t>Ramp Up Plan </a:t>
            </a:r>
            <a:endParaRPr lang="en-IN"/>
          </a:p>
        </p:txBody>
      </p:sp>
      <p:graphicFrame>
        <p:nvGraphicFramePr>
          <p:cNvPr id="3" name="Table 2">
            <a:extLst>
              <a:ext uri="{FF2B5EF4-FFF2-40B4-BE49-F238E27FC236}">
                <a16:creationId xmlns:a16="http://schemas.microsoft.com/office/drawing/2014/main" id="{63E380ED-B7FC-59F3-6212-B1B707E3BAEB}"/>
              </a:ext>
            </a:extLst>
          </p:cNvPr>
          <p:cNvGraphicFramePr>
            <a:graphicFrameLocks noGrp="1"/>
          </p:cNvGraphicFramePr>
          <p:nvPr>
            <p:extLst>
              <p:ext uri="{D42A27DB-BD31-4B8C-83A1-F6EECF244321}">
                <p14:modId xmlns:p14="http://schemas.microsoft.com/office/powerpoint/2010/main" val="3769332663"/>
              </p:ext>
            </p:extLst>
          </p:nvPr>
        </p:nvGraphicFramePr>
        <p:xfrm>
          <a:off x="198611" y="1457107"/>
          <a:ext cx="8211740" cy="4752305"/>
        </p:xfrm>
        <a:graphic>
          <a:graphicData uri="http://schemas.openxmlformats.org/drawingml/2006/table">
            <a:tbl>
              <a:tblPr>
                <a:tableStyleId>{00A15C55-8517-42AA-B614-E9B94910E393}</a:tableStyleId>
              </a:tblPr>
              <a:tblGrid>
                <a:gridCol w="1405143">
                  <a:extLst>
                    <a:ext uri="{9D8B030D-6E8A-4147-A177-3AD203B41FA5}">
                      <a16:colId xmlns:a16="http://schemas.microsoft.com/office/drawing/2014/main" val="1155291632"/>
                    </a:ext>
                  </a:extLst>
                </a:gridCol>
                <a:gridCol w="1203622">
                  <a:extLst>
                    <a:ext uri="{9D8B030D-6E8A-4147-A177-3AD203B41FA5}">
                      <a16:colId xmlns:a16="http://schemas.microsoft.com/office/drawing/2014/main" val="3608147478"/>
                    </a:ext>
                  </a:extLst>
                </a:gridCol>
                <a:gridCol w="160191">
                  <a:extLst>
                    <a:ext uri="{9D8B030D-6E8A-4147-A177-3AD203B41FA5}">
                      <a16:colId xmlns:a16="http://schemas.microsoft.com/office/drawing/2014/main" val="2166554355"/>
                    </a:ext>
                  </a:extLst>
                </a:gridCol>
                <a:gridCol w="967286">
                  <a:extLst>
                    <a:ext uri="{9D8B030D-6E8A-4147-A177-3AD203B41FA5}">
                      <a16:colId xmlns:a16="http://schemas.microsoft.com/office/drawing/2014/main" val="4170525330"/>
                    </a:ext>
                  </a:extLst>
                </a:gridCol>
                <a:gridCol w="1051621">
                  <a:extLst>
                    <a:ext uri="{9D8B030D-6E8A-4147-A177-3AD203B41FA5}">
                      <a16:colId xmlns:a16="http://schemas.microsoft.com/office/drawing/2014/main" val="3500462940"/>
                    </a:ext>
                  </a:extLst>
                </a:gridCol>
                <a:gridCol w="952376">
                  <a:extLst>
                    <a:ext uri="{9D8B030D-6E8A-4147-A177-3AD203B41FA5}">
                      <a16:colId xmlns:a16="http://schemas.microsoft.com/office/drawing/2014/main" val="482272744"/>
                    </a:ext>
                  </a:extLst>
                </a:gridCol>
                <a:gridCol w="188917">
                  <a:extLst>
                    <a:ext uri="{9D8B030D-6E8A-4147-A177-3AD203B41FA5}">
                      <a16:colId xmlns:a16="http://schemas.microsoft.com/office/drawing/2014/main" val="4133920270"/>
                    </a:ext>
                  </a:extLst>
                </a:gridCol>
                <a:gridCol w="962466">
                  <a:extLst>
                    <a:ext uri="{9D8B030D-6E8A-4147-A177-3AD203B41FA5}">
                      <a16:colId xmlns:a16="http://schemas.microsoft.com/office/drawing/2014/main" val="3862288987"/>
                    </a:ext>
                  </a:extLst>
                </a:gridCol>
                <a:gridCol w="178826">
                  <a:extLst>
                    <a:ext uri="{9D8B030D-6E8A-4147-A177-3AD203B41FA5}">
                      <a16:colId xmlns:a16="http://schemas.microsoft.com/office/drawing/2014/main" val="720421695"/>
                    </a:ext>
                  </a:extLst>
                </a:gridCol>
                <a:gridCol w="1141292">
                  <a:extLst>
                    <a:ext uri="{9D8B030D-6E8A-4147-A177-3AD203B41FA5}">
                      <a16:colId xmlns:a16="http://schemas.microsoft.com/office/drawing/2014/main" val="2459030550"/>
                    </a:ext>
                  </a:extLst>
                </a:gridCol>
              </a:tblGrid>
              <a:tr h="420546">
                <a:tc>
                  <a:txBody>
                    <a:bodyPr/>
                    <a:lstStyle/>
                    <a:p>
                      <a:pPr algn="ctr" fontAlgn="ctr"/>
                      <a:r>
                        <a:rPr lang="en-IN" sz="1200" b="1" u="none" strike="noStrike">
                          <a:solidFill>
                            <a:schemeClr val="bg1"/>
                          </a:solidFill>
                          <a:effectLst/>
                          <a:latin typeface="Lato" panose="020F0502020204030203" pitchFamily="34" charset="0"/>
                          <a:ea typeface="Lato" panose="020F0502020204030203" pitchFamily="34" charset="0"/>
                          <a:cs typeface="Lato" panose="020F0502020204030203" pitchFamily="34" charset="0"/>
                        </a:rPr>
                        <a:t>Project Start Date</a:t>
                      </a:r>
                      <a:endParaRPr lang="en-IN" sz="1200" b="1" i="0" u="none" strike="noStrike">
                        <a:solidFill>
                          <a:schemeClr val="bg1"/>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solidFill>
                      <a:srgbClr val="0070C0"/>
                    </a:solidFill>
                  </a:tcPr>
                </a:tc>
                <a:tc>
                  <a:txBody>
                    <a:bodyPr/>
                    <a:lstStyle/>
                    <a:p>
                      <a:pPr algn="ctr" fontAlgn="ctr"/>
                      <a:r>
                        <a:rPr lang="en-IN" sz="1200" b="1" u="none" strike="noStrike">
                          <a:solidFill>
                            <a:schemeClr val="bg1"/>
                          </a:solidFill>
                          <a:effectLst/>
                          <a:latin typeface="Lato" panose="020F0502020204030203" pitchFamily="34" charset="0"/>
                          <a:ea typeface="Lato" panose="020F0502020204030203" pitchFamily="34" charset="0"/>
                          <a:cs typeface="Lato" panose="020F0502020204030203" pitchFamily="34" charset="0"/>
                        </a:rPr>
                        <a:t>22-Mar-2026</a:t>
                      </a:r>
                      <a:endParaRPr lang="en-IN" sz="1200" b="1" i="0" u="none" strike="noStrike">
                        <a:solidFill>
                          <a:schemeClr val="bg1"/>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solidFill>
                      <a:srgbClr val="0070C0"/>
                    </a:solidFill>
                  </a:tcPr>
                </a:tc>
                <a:tc gridSpan="2">
                  <a:txBody>
                    <a:bodyPr/>
                    <a:lstStyle/>
                    <a:p>
                      <a:pPr algn="ctr" fontAlgn="ctr"/>
                      <a:r>
                        <a:rPr lang="en-IN" sz="1200" b="1" u="none" strike="noStrike">
                          <a:solidFill>
                            <a:schemeClr val="bg1"/>
                          </a:solidFill>
                          <a:effectLst/>
                          <a:latin typeface="Lato" panose="020F0502020204030203" pitchFamily="34" charset="0"/>
                          <a:ea typeface="Lato" panose="020F0502020204030203" pitchFamily="34" charset="0"/>
                          <a:cs typeface="Lato" panose="020F0502020204030203" pitchFamily="34" charset="0"/>
                        </a:rPr>
                        <a:t>22-Mar-2026</a:t>
                      </a:r>
                      <a:endParaRPr lang="en-IN" sz="1200" b="1" i="0" u="none" strike="noStrike">
                        <a:solidFill>
                          <a:schemeClr val="bg1"/>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solidFill>
                      <a:srgbClr val="0070C0"/>
                    </a:solidFill>
                  </a:tcPr>
                </a:tc>
                <a:tc hMerge="1">
                  <a:txBody>
                    <a:bodyPr/>
                    <a:lstStyle/>
                    <a:p>
                      <a:pPr algn="ctr" fontAlgn="ctr"/>
                      <a:r>
                        <a:rPr lang="en-IN" sz="1200" b="1" u="none" strike="noStrike">
                          <a:solidFill>
                            <a:schemeClr val="bg1"/>
                          </a:solidFill>
                          <a:effectLst/>
                          <a:latin typeface="Lato" panose="020F0502020204030203" pitchFamily="34" charset="0"/>
                          <a:ea typeface="Lato" panose="020F0502020204030203" pitchFamily="34" charset="0"/>
                          <a:cs typeface="Lato" panose="020F0502020204030203" pitchFamily="34" charset="0"/>
                        </a:rPr>
                        <a:t>22-March-2026</a:t>
                      </a:r>
                    </a:p>
                  </a:txBody>
                  <a:tcPr marL="9525" marR="9525" marT="9525" marB="0" anchor="ctr">
                    <a:solidFill>
                      <a:srgbClr val="0070C0"/>
                    </a:solidFill>
                  </a:tcPr>
                </a:tc>
                <a:tc>
                  <a:txBody>
                    <a:bodyPr/>
                    <a:lstStyle/>
                    <a:p>
                      <a:pPr algn="ctr" fontAlgn="ctr"/>
                      <a:r>
                        <a:rPr lang="en-IN" sz="1200" b="1" u="none" strike="noStrike">
                          <a:solidFill>
                            <a:schemeClr val="bg1"/>
                          </a:solidFill>
                          <a:effectLst/>
                          <a:latin typeface="Lato" panose="020F0502020204030203" pitchFamily="34" charset="0"/>
                          <a:ea typeface="Lato" panose="020F0502020204030203" pitchFamily="34" charset="0"/>
                          <a:cs typeface="Lato" panose="020F0502020204030203" pitchFamily="34" charset="0"/>
                        </a:rPr>
                        <a:t>29-Mar-2026</a:t>
                      </a:r>
                    </a:p>
                  </a:txBody>
                  <a:tcPr marL="9525" marR="9525" marT="9525" marB="0" anchor="ctr">
                    <a:solidFill>
                      <a:srgbClr val="0070C0"/>
                    </a:solidFill>
                  </a:tcPr>
                </a:tc>
                <a:tc>
                  <a:txBody>
                    <a:bodyPr/>
                    <a:lstStyle/>
                    <a:p>
                      <a:pPr algn="ctr" fontAlgn="ctr"/>
                      <a:r>
                        <a:rPr lang="en-IN" sz="1200" b="1" u="none" strike="noStrike">
                          <a:solidFill>
                            <a:schemeClr val="bg1"/>
                          </a:solidFill>
                          <a:effectLst/>
                          <a:latin typeface="Lato" panose="020F0502020204030203" pitchFamily="34" charset="0"/>
                          <a:ea typeface="Lato" panose="020F0502020204030203" pitchFamily="34" charset="0"/>
                          <a:cs typeface="Lato" panose="020F0502020204030203" pitchFamily="34" charset="0"/>
                        </a:rPr>
                        <a:t>05-Apr-2026</a:t>
                      </a:r>
                    </a:p>
                  </a:txBody>
                  <a:tcPr marL="9525" marR="9525" marT="9525" marB="0" anchor="ctr">
                    <a:solidFill>
                      <a:srgbClr val="0070C0"/>
                    </a:solidFill>
                  </a:tcPr>
                </a:tc>
                <a:tc gridSpan="2">
                  <a:txBody>
                    <a:bodyPr/>
                    <a:lstStyle/>
                    <a:p>
                      <a:pPr algn="ctr" fontAlgn="ctr"/>
                      <a:r>
                        <a:rPr lang="en-IN" sz="1200" b="1" i="0" u="none" strike="noStrike">
                          <a:solidFill>
                            <a:schemeClr val="bg1"/>
                          </a:solidFill>
                          <a:effectLst/>
                          <a:latin typeface="Lato" panose="020F0502020204030203" pitchFamily="34" charset="0"/>
                          <a:ea typeface="Lato" panose="020F0502020204030203" pitchFamily="34" charset="0"/>
                          <a:cs typeface="Lato" panose="020F0502020204030203" pitchFamily="34" charset="0"/>
                        </a:rPr>
                        <a:t>12-Apr-2026</a:t>
                      </a:r>
                      <a:endParaRPr lang="en-IN" sz="1200" b="1" u="none" strike="noStrike">
                        <a:solidFill>
                          <a:schemeClr val="bg1"/>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solidFill>
                      <a:srgbClr val="0070C0"/>
                    </a:solidFill>
                  </a:tcPr>
                </a:tc>
                <a:tc hMerge="1">
                  <a:txBody>
                    <a:bodyPr/>
                    <a:lstStyle/>
                    <a:p>
                      <a:pPr algn="ctr" fontAlgn="ctr"/>
                      <a:r>
                        <a:rPr lang="en-IN" sz="1200" b="1" i="0" u="none" strike="noStrike">
                          <a:solidFill>
                            <a:schemeClr val="bg1"/>
                          </a:solidFill>
                          <a:effectLst/>
                          <a:latin typeface="Lato" panose="020F0502020204030203" pitchFamily="34" charset="0"/>
                          <a:ea typeface="Lato" panose="020F0502020204030203" pitchFamily="34" charset="0"/>
                          <a:cs typeface="Lato" panose="020F0502020204030203" pitchFamily="34" charset="0"/>
                        </a:rPr>
                        <a:t>12-April-2026</a:t>
                      </a:r>
                    </a:p>
                  </a:txBody>
                  <a:tcPr marL="9525" marR="9525" marT="9525" marB="0" anchor="ctr">
                    <a:solidFill>
                      <a:srgbClr val="0070C0"/>
                    </a:solidFill>
                  </a:tcPr>
                </a:tc>
                <a:tc gridSpan="2">
                  <a:txBody>
                    <a:bodyPr/>
                    <a:lstStyle/>
                    <a:p>
                      <a:pPr algn="ctr" fontAlgn="ctr"/>
                      <a:r>
                        <a:rPr lang="en-IN" sz="1200" b="1" i="0" u="none" strike="noStrike">
                          <a:solidFill>
                            <a:schemeClr val="bg1"/>
                          </a:solidFill>
                          <a:effectLst/>
                          <a:latin typeface="Lato" panose="020F0502020204030203" pitchFamily="34" charset="0"/>
                          <a:ea typeface="Lato" panose="020F0502020204030203" pitchFamily="34" charset="0"/>
                          <a:cs typeface="Lato" panose="020F0502020204030203" pitchFamily="34" charset="0"/>
                        </a:rPr>
                        <a:t>19-Apr-2026</a:t>
                      </a:r>
                      <a:endParaRPr lang="en-IN" sz="1200" b="1" u="none" strike="noStrike">
                        <a:solidFill>
                          <a:schemeClr val="bg1"/>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solidFill>
                      <a:srgbClr val="0070C0"/>
                    </a:solidFill>
                  </a:tcPr>
                </a:tc>
                <a:tc hMerge="1">
                  <a:txBody>
                    <a:bodyPr/>
                    <a:lstStyle/>
                    <a:p>
                      <a:pPr algn="ctr" fontAlgn="ctr"/>
                      <a:r>
                        <a:rPr lang="en-IN" sz="1200" b="1" i="0" u="none" strike="noStrike">
                          <a:solidFill>
                            <a:schemeClr val="bg1"/>
                          </a:solidFill>
                          <a:effectLst/>
                          <a:latin typeface="Lato" panose="020F0502020204030203" pitchFamily="34" charset="0"/>
                          <a:ea typeface="Lato" panose="020F0502020204030203" pitchFamily="34" charset="0"/>
                          <a:cs typeface="Lato" panose="020F0502020204030203" pitchFamily="34" charset="0"/>
                        </a:rPr>
                        <a:t>19-April-2026</a:t>
                      </a:r>
                    </a:p>
                  </a:txBody>
                  <a:tcPr marL="9525" marR="9525" marT="9525" marB="0" anchor="ctr">
                    <a:solidFill>
                      <a:srgbClr val="0070C0"/>
                    </a:solidFill>
                  </a:tcPr>
                </a:tc>
                <a:extLst>
                  <a:ext uri="{0D108BD9-81ED-4DB2-BD59-A6C34878D82A}">
                    <a16:rowId xmlns:a16="http://schemas.microsoft.com/office/drawing/2014/main" val="1876062999"/>
                  </a:ext>
                </a:extLst>
              </a:tr>
              <a:tr h="379844">
                <a:tc>
                  <a:txBody>
                    <a:bodyPr/>
                    <a:lstStyle/>
                    <a:p>
                      <a:pPr algn="ctr" fontAlgn="ctr"/>
                      <a:endParaRPr lang="en-IN" sz="1200" b="1" i="0" u="none" strike="noStrike">
                        <a:solidFill>
                          <a:schemeClr val="bg1"/>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solidFill>
                      <a:srgbClr val="0070C0"/>
                    </a:solidFill>
                  </a:tcPr>
                </a:tc>
                <a:tc>
                  <a:txBody>
                    <a:bodyPr/>
                    <a:lstStyle/>
                    <a:p>
                      <a:pPr algn="ctr" fontAlgn="ctr"/>
                      <a:r>
                        <a:rPr lang="en-IN" sz="1200" b="1" i="0" u="none" strike="noStrike">
                          <a:solidFill>
                            <a:schemeClr val="bg1"/>
                          </a:solidFill>
                          <a:effectLst/>
                          <a:latin typeface="Lato" panose="020F0502020204030203" pitchFamily="34" charset="0"/>
                          <a:ea typeface="Lato" panose="020F0502020204030203" pitchFamily="34" charset="0"/>
                          <a:cs typeface="Lato" panose="020F0502020204030203" pitchFamily="34" charset="0"/>
                        </a:rPr>
                        <a:t>Full Squad</a:t>
                      </a:r>
                    </a:p>
                  </a:txBody>
                  <a:tcPr marL="9525" marR="9525" marT="9525" marB="0" anchor="ctr">
                    <a:solidFill>
                      <a:srgbClr val="0070C0"/>
                    </a:solidFill>
                  </a:tcPr>
                </a:tc>
                <a:tc gridSpan="2">
                  <a:txBody>
                    <a:bodyPr/>
                    <a:lstStyle/>
                    <a:p>
                      <a:pPr algn="ctr" fontAlgn="ctr"/>
                      <a:r>
                        <a:rPr lang="en-US" sz="1200" b="1" i="0" u="none" strike="noStrike">
                          <a:solidFill>
                            <a:schemeClr val="bg1"/>
                          </a:solidFill>
                          <a:effectLst/>
                          <a:latin typeface="Lato" panose="020F0502020204030203" pitchFamily="34" charset="0"/>
                          <a:ea typeface="Lato" panose="020F0502020204030203" pitchFamily="34" charset="0"/>
                          <a:cs typeface="Lato" panose="020F0502020204030203" pitchFamily="34" charset="0"/>
                        </a:rPr>
                        <a:t>Week – 1</a:t>
                      </a:r>
                      <a:endParaRPr lang="en-IN" sz="1200" b="1" i="0" u="none" strike="noStrike">
                        <a:solidFill>
                          <a:schemeClr val="bg1"/>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solidFill>
                      <a:srgbClr val="0070C0"/>
                    </a:solidFill>
                  </a:tcPr>
                </a:tc>
                <a:tc hMerge="1">
                  <a:txBody>
                    <a:bodyPr/>
                    <a:lstStyle/>
                    <a:p>
                      <a:pPr algn="ctr" fontAlgn="ctr"/>
                      <a:r>
                        <a:rPr lang="en-US" sz="1200" b="1" i="0" u="none" strike="noStrike">
                          <a:solidFill>
                            <a:schemeClr val="bg1"/>
                          </a:solidFill>
                          <a:effectLst/>
                          <a:latin typeface="Lato" panose="020F0502020204030203" pitchFamily="34" charset="0"/>
                          <a:ea typeface="Lato" panose="020F0502020204030203" pitchFamily="34" charset="0"/>
                          <a:cs typeface="Lato" panose="020F0502020204030203" pitchFamily="34" charset="0"/>
                        </a:rPr>
                        <a:t>Week – 1</a:t>
                      </a:r>
                      <a:endParaRPr lang="en-IN" sz="1200" b="1" i="0" u="none" strike="noStrike">
                        <a:solidFill>
                          <a:schemeClr val="bg1"/>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solidFill>
                      <a:srgbClr val="0070C0"/>
                    </a:solidFill>
                  </a:tcPr>
                </a:tc>
                <a:tc>
                  <a:txBody>
                    <a:bodyPr/>
                    <a:lstStyle/>
                    <a:p>
                      <a:pPr algn="ctr" fontAlgn="ctr"/>
                      <a:r>
                        <a:rPr lang="en-IN" sz="1200" b="1" i="0" u="none" strike="noStrike">
                          <a:solidFill>
                            <a:schemeClr val="bg1"/>
                          </a:solidFill>
                          <a:effectLst/>
                          <a:latin typeface="Lato" panose="020F0502020204030203" pitchFamily="34" charset="0"/>
                          <a:ea typeface="Lato" panose="020F0502020204030203" pitchFamily="34" charset="0"/>
                          <a:cs typeface="Lato" panose="020F0502020204030203" pitchFamily="34" charset="0"/>
                        </a:rPr>
                        <a:t>Week – 1</a:t>
                      </a:r>
                    </a:p>
                  </a:txBody>
                  <a:tcPr marL="9525" marR="9525" marT="9525" marB="0" anchor="ctr">
                    <a:solidFill>
                      <a:srgbClr val="0070C0"/>
                    </a:solidFill>
                  </a:tcPr>
                </a:tc>
                <a:tc>
                  <a:txBody>
                    <a:bodyPr/>
                    <a:lstStyle/>
                    <a:p>
                      <a:pPr algn="ctr" fontAlgn="ctr"/>
                      <a:r>
                        <a:rPr lang="en-IN" sz="1200" b="1" i="0" u="none" strike="noStrike">
                          <a:solidFill>
                            <a:schemeClr val="bg1"/>
                          </a:solidFill>
                          <a:effectLst/>
                          <a:latin typeface="Lato" panose="020F0502020204030203" pitchFamily="34" charset="0"/>
                          <a:ea typeface="Lato" panose="020F0502020204030203" pitchFamily="34" charset="0"/>
                          <a:cs typeface="Lato" panose="020F0502020204030203" pitchFamily="34" charset="0"/>
                        </a:rPr>
                        <a:t>Week – 2</a:t>
                      </a:r>
                    </a:p>
                  </a:txBody>
                  <a:tcPr marL="9525" marR="9525" marT="9525" marB="0" anchor="ctr">
                    <a:solidFill>
                      <a:srgbClr val="0070C0"/>
                    </a:solidFill>
                  </a:tcPr>
                </a:tc>
                <a:tc gridSpan="2">
                  <a:txBody>
                    <a:bodyPr/>
                    <a:lstStyle/>
                    <a:p>
                      <a:pPr algn="ctr" fontAlgn="ctr"/>
                      <a:r>
                        <a:rPr lang="en-US" sz="1200" b="1" i="0" u="none" strike="noStrike">
                          <a:solidFill>
                            <a:schemeClr val="bg1"/>
                          </a:solidFill>
                          <a:effectLst/>
                          <a:latin typeface="Lato" panose="020F0502020204030203" pitchFamily="34" charset="0"/>
                          <a:ea typeface="Lato" panose="020F0502020204030203" pitchFamily="34" charset="0"/>
                          <a:cs typeface="Lato" panose="020F0502020204030203" pitchFamily="34" charset="0"/>
                        </a:rPr>
                        <a:t>Week – 3</a:t>
                      </a:r>
                      <a:endParaRPr lang="en-IN" sz="1200" b="1" i="0" u="none" strike="noStrike">
                        <a:solidFill>
                          <a:schemeClr val="bg1"/>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solidFill>
                      <a:srgbClr val="0070C0"/>
                    </a:solidFill>
                  </a:tcPr>
                </a:tc>
                <a:tc hMerge="1">
                  <a:txBody>
                    <a:bodyPr/>
                    <a:lstStyle/>
                    <a:p>
                      <a:pPr algn="ctr" fontAlgn="ctr"/>
                      <a:r>
                        <a:rPr lang="en-US" sz="1200" b="1" i="0" u="none" strike="noStrike">
                          <a:solidFill>
                            <a:schemeClr val="bg1"/>
                          </a:solidFill>
                          <a:effectLst/>
                          <a:latin typeface="Lato" panose="020F0502020204030203" pitchFamily="34" charset="0"/>
                          <a:ea typeface="Lato" panose="020F0502020204030203" pitchFamily="34" charset="0"/>
                          <a:cs typeface="Lato" panose="020F0502020204030203" pitchFamily="34" charset="0"/>
                        </a:rPr>
                        <a:t>Week – 3</a:t>
                      </a:r>
                      <a:endParaRPr lang="en-IN" sz="1200" b="1" i="0" u="none" strike="noStrike">
                        <a:solidFill>
                          <a:schemeClr val="bg1"/>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solidFill>
                      <a:srgbClr val="0070C0"/>
                    </a:solidFill>
                  </a:tcPr>
                </a:tc>
                <a:tc gridSpan="2">
                  <a:txBody>
                    <a:bodyPr/>
                    <a:lstStyle/>
                    <a:p>
                      <a:pPr algn="ctr" fontAlgn="ctr"/>
                      <a:r>
                        <a:rPr lang="en-IN" sz="1200" b="1" i="0" u="none" strike="noStrike">
                          <a:solidFill>
                            <a:schemeClr val="bg1"/>
                          </a:solidFill>
                          <a:effectLst/>
                          <a:latin typeface="Lato" panose="020F0502020204030203" pitchFamily="34" charset="0"/>
                          <a:ea typeface="Lato" panose="020F0502020204030203" pitchFamily="34" charset="0"/>
                          <a:cs typeface="Lato" panose="020F0502020204030203" pitchFamily="34" charset="0"/>
                        </a:rPr>
                        <a:t>Week – 4</a:t>
                      </a:r>
                    </a:p>
                  </a:txBody>
                  <a:tcPr marL="9525" marR="9525" marT="9525" marB="0" anchor="ctr">
                    <a:solidFill>
                      <a:srgbClr val="0070C0"/>
                    </a:solidFill>
                  </a:tcPr>
                </a:tc>
                <a:tc hMerge="1">
                  <a:txBody>
                    <a:bodyPr/>
                    <a:lstStyle/>
                    <a:p>
                      <a:pPr algn="ctr" fontAlgn="ctr"/>
                      <a:r>
                        <a:rPr lang="en-IN" sz="1200" b="1" i="0" u="none" strike="noStrike">
                          <a:solidFill>
                            <a:schemeClr val="bg1"/>
                          </a:solidFill>
                          <a:effectLst/>
                          <a:latin typeface="Lato" panose="020F0502020204030203" pitchFamily="34" charset="0"/>
                          <a:ea typeface="Lato" panose="020F0502020204030203" pitchFamily="34" charset="0"/>
                          <a:cs typeface="Lato" panose="020F0502020204030203" pitchFamily="34" charset="0"/>
                        </a:rPr>
                        <a:t>Week – 4</a:t>
                      </a:r>
                    </a:p>
                  </a:txBody>
                  <a:tcPr marL="9525" marR="9525" marT="9525" marB="0" anchor="ctr">
                    <a:solidFill>
                      <a:srgbClr val="0070C0"/>
                    </a:solidFill>
                  </a:tcPr>
                </a:tc>
                <a:extLst>
                  <a:ext uri="{0D108BD9-81ED-4DB2-BD59-A6C34878D82A}">
                    <a16:rowId xmlns:a16="http://schemas.microsoft.com/office/drawing/2014/main" val="1790609573"/>
                  </a:ext>
                </a:extLst>
              </a:tr>
              <a:tr h="357500">
                <a:tc gridSpan="10">
                  <a:txBody>
                    <a:bodyPr/>
                    <a:lstStyle/>
                    <a:p>
                      <a:pPr algn="ctr" fontAlgn="ctr"/>
                      <a:r>
                        <a:rPr lang="en-IN" sz="1400" b="1"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Nearshore</a:t>
                      </a:r>
                      <a:endParaRPr lang="en-IN" sz="1400"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solidFill>
                      <a:schemeClr val="accent2">
                        <a:lumMod val="20000"/>
                        <a:lumOff val="80000"/>
                      </a:schemeClr>
                    </a:solidFill>
                  </a:tcPr>
                </a:tc>
                <a:tc hMerge="1">
                  <a:txBody>
                    <a:bodyPr/>
                    <a:lstStyle/>
                    <a:p>
                      <a:pPr algn="ctr" fontAlgn="ctr"/>
                      <a:endParaRPr lang="en-IN" sz="12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hMerge="1">
                  <a:txBody>
                    <a:bodyPr/>
                    <a:lstStyle/>
                    <a:p>
                      <a:endParaRPr lang="en-IN"/>
                    </a:p>
                  </a:txBody>
                  <a:tcPr/>
                </a:tc>
                <a:tc hMerge="1">
                  <a:txBody>
                    <a:bodyPr/>
                    <a:lstStyle/>
                    <a:p>
                      <a:pPr algn="ctr" fontAlgn="ct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hMerge="1">
                  <a:txBody>
                    <a:bodyPr/>
                    <a:lstStyle/>
                    <a:p>
                      <a:pPr algn="ctr" fontAlgn="ct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hMerge="1">
                  <a:txBody>
                    <a:bodyPr/>
                    <a:lstStyle/>
                    <a:p>
                      <a:pPr algn="ctr" fontAlgn="ct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hMerge="1">
                  <a:txBody>
                    <a:bodyPr/>
                    <a:lstStyle/>
                    <a:p>
                      <a:endParaRPr lang="en-IN"/>
                    </a:p>
                  </a:txBody>
                  <a:tcPr/>
                </a:tc>
                <a:tc hMerge="1">
                  <a:txBody>
                    <a:bodyPr/>
                    <a:lstStyle/>
                    <a:p>
                      <a:pPr algn="ctr" fontAlgn="ct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hMerge="1">
                  <a:txBody>
                    <a:bodyPr/>
                    <a:lstStyle/>
                    <a:p>
                      <a:endParaRPr lang="en-IN"/>
                    </a:p>
                  </a:txBody>
                  <a:tcPr/>
                </a:tc>
                <a:tc hMerge="1">
                  <a:txBody>
                    <a:bodyPr/>
                    <a:lstStyle/>
                    <a:p>
                      <a:pPr algn="ctr" fontAlgn="ct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extLst>
                  <a:ext uri="{0D108BD9-81ED-4DB2-BD59-A6C34878D82A}">
                    <a16:rowId xmlns:a16="http://schemas.microsoft.com/office/drawing/2014/main" val="2579445147"/>
                  </a:ext>
                </a:extLst>
              </a:tr>
              <a:tr h="357500">
                <a:tc>
                  <a:txBody>
                    <a:bodyPr/>
                    <a:lstStyle/>
                    <a:p>
                      <a:pPr marL="0" algn="ctr" defTabSz="914377" rtl="0" eaLnBrk="1" fontAlgn="ctr" latinLnBrk="0" hangingPunct="1"/>
                      <a:r>
                        <a:rPr lang="en-IN" sz="1200" b="1" i="0" u="none" strike="noStrike" kern="1200">
                          <a:solidFill>
                            <a:srgbClr val="000000"/>
                          </a:solidFill>
                          <a:effectLst/>
                          <a:latin typeface="Lato" panose="020F0502020204030203" pitchFamily="34" charset="0"/>
                          <a:ea typeface="Lato" panose="020F0502020204030203" pitchFamily="34" charset="0"/>
                          <a:cs typeface="Lato" panose="020F0502020204030203" pitchFamily="34" charset="0"/>
                        </a:rPr>
                        <a:t>Data Engineer</a:t>
                      </a:r>
                    </a:p>
                  </a:txBody>
                  <a:tcPr marL="9525" marR="9525" marT="9525" marB="0" anchor="ctr"/>
                </a:tc>
                <a:tc gridSpan="2">
                  <a:txBody>
                    <a:bodyPr/>
                    <a:lstStyle/>
                    <a:p>
                      <a:pPr algn="ctr" fontAlgn="ctr"/>
                      <a:r>
                        <a:rPr lang="en-US" sz="1200"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1</a:t>
                      </a:r>
                      <a:endParaRPr lang="en-IN" sz="1200"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hMerge="1">
                  <a:txBody>
                    <a:bodyPr/>
                    <a:lstStyle/>
                    <a:p>
                      <a:pPr algn="ctr" fontAlgn="ctr"/>
                      <a:endParaRPr lang="en-IN" sz="12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a:txBody>
                    <a:bodyPr/>
                    <a:lstStyle/>
                    <a:p>
                      <a:pPr algn="ctr" fontAlgn="ct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a:txBody>
                    <a:bodyPr/>
                    <a:lstStyle/>
                    <a:p>
                      <a:pPr algn="ctr" fontAlgn="ct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gridSpan="2">
                  <a:txBody>
                    <a:bodyPr/>
                    <a:lstStyle/>
                    <a:p>
                      <a:pPr algn="ctr" fontAlgn="ct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hMerge="1">
                  <a:txBody>
                    <a:bodyPr/>
                    <a:lstStyle/>
                    <a:p>
                      <a:pPr algn="ctr" fontAlgn="ct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gridSpan="2">
                  <a:txBody>
                    <a:bodyPr/>
                    <a:lstStyle/>
                    <a:p>
                      <a:pPr algn="ctr" fontAlgn="ctr"/>
                      <a:r>
                        <a:rPr lang="en-US"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1</a:t>
                      </a: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solidFill>
                      <a:srgbClr val="00B050"/>
                    </a:solidFill>
                  </a:tcPr>
                </a:tc>
                <a:tc hMerge="1">
                  <a:txBody>
                    <a:bodyPr/>
                    <a:lstStyle/>
                    <a:p>
                      <a:pPr algn="ctr" fontAlgn="ct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solidFill>
                      <a:srgbClr val="00B050"/>
                    </a:solidFill>
                  </a:tcPr>
                </a:tc>
                <a:tc>
                  <a:txBody>
                    <a:bodyPr/>
                    <a:lstStyle/>
                    <a:p>
                      <a:pPr algn="ctr" fontAlgn="ct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extLst>
                  <a:ext uri="{0D108BD9-81ED-4DB2-BD59-A6C34878D82A}">
                    <a16:rowId xmlns:a16="http://schemas.microsoft.com/office/drawing/2014/main" val="1179337835"/>
                  </a:ext>
                </a:extLst>
              </a:tr>
              <a:tr h="357500">
                <a:tc>
                  <a:txBody>
                    <a:bodyPr/>
                    <a:lstStyle/>
                    <a:p>
                      <a:pPr marL="0" algn="ctr" defTabSz="914377" rtl="0" eaLnBrk="1" fontAlgn="ctr" latinLnBrk="0" hangingPunct="1"/>
                      <a:r>
                        <a:rPr lang="en-IN" sz="1200" b="1" i="0" u="none" strike="noStrike" kern="1200">
                          <a:solidFill>
                            <a:srgbClr val="000000"/>
                          </a:solidFill>
                          <a:effectLst/>
                          <a:latin typeface="Lato" panose="020F0502020204030203" pitchFamily="34" charset="0"/>
                          <a:ea typeface="Lato" panose="020F0502020204030203" pitchFamily="34" charset="0"/>
                          <a:cs typeface="Lato" panose="020F0502020204030203" pitchFamily="34" charset="0"/>
                        </a:rPr>
                        <a:t>Power BI</a:t>
                      </a:r>
                    </a:p>
                  </a:txBody>
                  <a:tcPr marL="9525" marR="9525" marT="9525" marB="0" anchor="ctr"/>
                </a:tc>
                <a:tc gridSpan="2">
                  <a:txBody>
                    <a:bodyPr/>
                    <a:lstStyle/>
                    <a:p>
                      <a:pPr algn="ctr" fontAlgn="ctr"/>
                      <a:r>
                        <a:rPr lang="en-US" sz="1200"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1</a:t>
                      </a:r>
                      <a:endParaRPr lang="en-IN" sz="1200"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hMerge="1">
                  <a:txBody>
                    <a:bodyPr/>
                    <a:lstStyle/>
                    <a:p>
                      <a:pPr algn="ctr" fontAlgn="ctr"/>
                      <a:endParaRPr lang="en-IN" sz="12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a:txBody>
                    <a:bodyPr/>
                    <a:lstStyle/>
                    <a:p>
                      <a:pPr algn="ctr" fontAlgn="ct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a:txBody>
                    <a:bodyPr/>
                    <a:lstStyle/>
                    <a:p>
                      <a:pPr algn="ctr" fontAlgn="ct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gridSpan="2">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hMerge="1">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gridSpan="2">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US"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1</a:t>
                      </a: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solidFill>
                      <a:srgbClr val="00B050"/>
                    </a:solidFill>
                  </a:tcPr>
                </a:tc>
                <a:tc hMerge="1">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solidFill>
                      <a:srgbClr val="00B050"/>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extLst>
                  <a:ext uri="{0D108BD9-81ED-4DB2-BD59-A6C34878D82A}">
                    <a16:rowId xmlns:a16="http://schemas.microsoft.com/office/drawing/2014/main" val="3224228536"/>
                  </a:ext>
                </a:extLst>
              </a:tr>
              <a:tr h="357500">
                <a:tc gridSpan="10">
                  <a:txBody>
                    <a:bodyPr/>
                    <a:lstStyle/>
                    <a:p>
                      <a:pPr marL="0" algn="ctr" defTabSz="914377" rtl="0" eaLnBrk="1" fontAlgn="ctr" latinLnBrk="0" hangingPunct="1"/>
                      <a:r>
                        <a:rPr lang="en-IN" sz="1400" b="1" i="0" u="none" strike="noStrike" kern="1200">
                          <a:solidFill>
                            <a:srgbClr val="000000"/>
                          </a:solidFill>
                          <a:effectLst/>
                          <a:latin typeface="Lato" panose="020F0502020204030203" pitchFamily="34" charset="0"/>
                          <a:ea typeface="Lato" panose="020F0502020204030203" pitchFamily="34" charset="0"/>
                          <a:cs typeface="Lato" panose="020F0502020204030203" pitchFamily="34" charset="0"/>
                        </a:rPr>
                        <a:t>Offshore</a:t>
                      </a:r>
                    </a:p>
                  </a:txBody>
                  <a:tcPr marL="9525" marR="9525" marT="9525" marB="0" anchor="ctr">
                    <a:solidFill>
                      <a:schemeClr val="accent2">
                        <a:lumMod val="20000"/>
                        <a:lumOff val="80000"/>
                      </a:schemeClr>
                    </a:solidFill>
                  </a:tcPr>
                </a:tc>
                <a:tc hMerge="1">
                  <a:txBody>
                    <a:bodyPr/>
                    <a:lstStyle/>
                    <a:p>
                      <a:pPr algn="ctr" fontAlgn="ctr"/>
                      <a:endParaRPr lang="en-IN" sz="12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hMerge="1">
                  <a:txBody>
                    <a:bodyPr/>
                    <a:lstStyle/>
                    <a:p>
                      <a:endParaRPr lang="en-IN"/>
                    </a:p>
                  </a:txBody>
                  <a:tcPr/>
                </a:tc>
                <a:tc hMerge="1">
                  <a:txBody>
                    <a:bodyPr/>
                    <a:lstStyle/>
                    <a:p>
                      <a:pPr algn="ctr" fontAlgn="ct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hMerge="1">
                  <a:txBody>
                    <a:bodyPr/>
                    <a:lstStyle/>
                    <a:p>
                      <a:pPr algn="ctr" fontAlgn="ct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hMerge="1">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hMerge="1">
                  <a:txBody>
                    <a:bodyPr/>
                    <a:lstStyle/>
                    <a:p>
                      <a:endParaRPr lang="en-IN"/>
                    </a:p>
                  </a:txBody>
                  <a:tcPr/>
                </a:tc>
                <a:tc hMerge="1">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hMerge="1">
                  <a:txBody>
                    <a:bodyPr/>
                    <a:lstStyle/>
                    <a:p>
                      <a:endParaRPr lang="en-IN"/>
                    </a:p>
                  </a:txBody>
                  <a:tcPr/>
                </a:tc>
                <a:tc hMerge="1">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extLst>
                  <a:ext uri="{0D108BD9-81ED-4DB2-BD59-A6C34878D82A}">
                    <a16:rowId xmlns:a16="http://schemas.microsoft.com/office/drawing/2014/main" val="2155115193"/>
                  </a:ext>
                </a:extLst>
              </a:tr>
              <a:tr h="357500">
                <a:tc>
                  <a:txBody>
                    <a:bodyPr/>
                    <a:lstStyle/>
                    <a:p>
                      <a:pPr marL="0" algn="ctr" defTabSz="914377" rtl="0" eaLnBrk="1" fontAlgn="ctr" latinLnBrk="0" hangingPunct="1">
                        <a:buNone/>
                      </a:pPr>
                      <a:r>
                        <a:rPr lang="en-IN" sz="1200" b="1" i="0" u="none" strike="noStrike" kern="1200">
                          <a:solidFill>
                            <a:srgbClr val="000000"/>
                          </a:solidFill>
                          <a:effectLst/>
                          <a:latin typeface="Lato" panose="020F0502020204030203" pitchFamily="34" charset="0"/>
                          <a:ea typeface="Lato" panose="020F0502020204030203" pitchFamily="34" charset="0"/>
                          <a:cs typeface="Lato" panose="020F0502020204030203" pitchFamily="34" charset="0"/>
                        </a:rPr>
                        <a:t>Data Engineer</a:t>
                      </a:r>
                    </a:p>
                  </a:txBody>
                  <a:tcPr marL="190500" marR="0" marT="0" marB="0" anchor="ctr"/>
                </a:tc>
                <a:tc gridSpan="2">
                  <a:txBody>
                    <a:bodyPr/>
                    <a:lstStyle/>
                    <a:p>
                      <a:pPr algn="ctr" fontAlgn="ctr"/>
                      <a:r>
                        <a:rPr lang="en-US" sz="1200"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2</a:t>
                      </a:r>
                      <a:endParaRPr lang="en-IN" sz="1200"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hMerge="1">
                  <a:txBody>
                    <a:bodyPr/>
                    <a:lstStyle/>
                    <a:p>
                      <a:pPr algn="ctr" fontAlgn="ctr"/>
                      <a:endParaRPr lang="en-IN" sz="12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a:txBody>
                    <a:bodyPr/>
                    <a:lstStyle/>
                    <a:p>
                      <a:pPr algn="ctr" fontAlgn="ctr"/>
                      <a:r>
                        <a:rPr lang="en-US"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2</a:t>
                      </a: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solidFill>
                      <a:srgbClr val="00B050"/>
                    </a:solidFill>
                  </a:tcPr>
                </a:tc>
                <a:tc>
                  <a:txBody>
                    <a:bodyPr/>
                    <a:lstStyle/>
                    <a:p>
                      <a:pPr algn="ctr" fontAlgn="ct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gridSpan="2">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hMerge="1">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gridSpan="2">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hMerge="1">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extLst>
                  <a:ext uri="{0D108BD9-81ED-4DB2-BD59-A6C34878D82A}">
                    <a16:rowId xmlns:a16="http://schemas.microsoft.com/office/drawing/2014/main" val="473045021"/>
                  </a:ext>
                </a:extLst>
              </a:tr>
              <a:tr h="357500">
                <a:tc>
                  <a:txBody>
                    <a:bodyPr/>
                    <a:lstStyle/>
                    <a:p>
                      <a:pPr marL="0" algn="ctr" defTabSz="914377" rtl="0" eaLnBrk="1" fontAlgn="ctr" latinLnBrk="0" hangingPunct="1">
                        <a:buNone/>
                      </a:pPr>
                      <a:r>
                        <a:rPr lang="en-IN" sz="1200" b="1" i="0" u="none" strike="noStrike" kern="1200">
                          <a:solidFill>
                            <a:srgbClr val="000000"/>
                          </a:solidFill>
                          <a:effectLst/>
                          <a:latin typeface="Lato" panose="020F0502020204030203" pitchFamily="34" charset="0"/>
                          <a:ea typeface="Lato" panose="020F0502020204030203" pitchFamily="34" charset="0"/>
                          <a:cs typeface="Lato" panose="020F0502020204030203" pitchFamily="34" charset="0"/>
                        </a:rPr>
                        <a:t>Power BI </a:t>
                      </a:r>
                    </a:p>
                  </a:txBody>
                  <a:tcPr marL="190500" marR="0" marT="0" marB="0" anchor="ctr"/>
                </a:tc>
                <a:tc gridSpan="2">
                  <a:txBody>
                    <a:bodyPr/>
                    <a:lstStyle/>
                    <a:p>
                      <a:pPr algn="ctr" fontAlgn="ctr"/>
                      <a:r>
                        <a:rPr lang="en-US" sz="1200"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2</a:t>
                      </a:r>
                      <a:endParaRPr lang="en-IN" sz="1200"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hMerge="1">
                  <a:txBody>
                    <a:bodyPr/>
                    <a:lstStyle/>
                    <a:p>
                      <a:pPr algn="ctr" fontAlgn="ctr"/>
                      <a:endParaRPr lang="en-IN" sz="12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a:txBody>
                    <a:bodyPr/>
                    <a:lstStyle/>
                    <a:p>
                      <a:pPr algn="ctr" fontAlgn="ctr"/>
                      <a:r>
                        <a:rPr lang="en-US"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2</a:t>
                      </a: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solidFill>
                      <a:srgbClr val="00B050"/>
                    </a:solidFill>
                  </a:tcPr>
                </a:tc>
                <a:tc>
                  <a:txBody>
                    <a:bodyPr/>
                    <a:lstStyle/>
                    <a:p>
                      <a:pPr algn="ctr" fontAlgn="ct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gridSpan="2">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hMerge="1">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gridSpan="2">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hMerge="1">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extLst>
                  <a:ext uri="{0D108BD9-81ED-4DB2-BD59-A6C34878D82A}">
                    <a16:rowId xmlns:a16="http://schemas.microsoft.com/office/drawing/2014/main" val="4152325376"/>
                  </a:ext>
                </a:extLst>
              </a:tr>
              <a:tr h="376915">
                <a:tc>
                  <a:txBody>
                    <a:bodyPr/>
                    <a:lstStyle/>
                    <a:p>
                      <a:pPr marL="0" algn="ctr" defTabSz="914377" rtl="0" eaLnBrk="1" fontAlgn="ctr" latinLnBrk="0" hangingPunct="1">
                        <a:buNone/>
                      </a:pPr>
                      <a:r>
                        <a:rPr lang="en-IN" sz="1200" b="1" i="0" u="none" strike="noStrike" kern="1200" dirty="0">
                          <a:solidFill>
                            <a:srgbClr val="000000"/>
                          </a:solidFill>
                          <a:effectLst/>
                          <a:latin typeface="Lato" panose="020F0502020204030203" pitchFamily="34" charset="0"/>
                          <a:ea typeface="Lato" panose="020F0502020204030203" pitchFamily="34" charset="0"/>
                          <a:cs typeface="Lato" panose="020F0502020204030203" pitchFamily="34" charset="0"/>
                        </a:rPr>
                        <a:t>Platform Architect</a:t>
                      </a:r>
                    </a:p>
                  </a:txBody>
                  <a:tcPr marL="190500" marR="0" marT="0" marB="0" anchor="ctr"/>
                </a:tc>
                <a:tc gridSpan="2">
                  <a:txBody>
                    <a:bodyPr/>
                    <a:lstStyle/>
                    <a:p>
                      <a:pPr algn="ctr" fontAlgn="ctr"/>
                      <a:r>
                        <a:rPr lang="en-US" sz="1200"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1</a:t>
                      </a:r>
                      <a:endParaRPr lang="en-IN" sz="1200"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hMerge="1">
                  <a:txBody>
                    <a:bodyPr/>
                    <a:lstStyle/>
                    <a:p>
                      <a:pPr algn="ctr" fontAlgn="ctr"/>
                      <a:endParaRPr lang="en-IN" sz="12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a:txBody>
                    <a:bodyPr/>
                    <a:lstStyle/>
                    <a:p>
                      <a:pPr algn="ctr" fontAlgn="ct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a:txBody>
                    <a:bodyPr/>
                    <a:lstStyle/>
                    <a:p>
                      <a:pPr algn="ctr" fontAlgn="ct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gridSpan="2">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hMerge="1">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gridSpan="2">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hMerge="1">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US"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1</a:t>
                      </a: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solidFill>
                      <a:srgbClr val="00B050"/>
                    </a:solidFill>
                  </a:tcPr>
                </a:tc>
                <a:extLst>
                  <a:ext uri="{0D108BD9-81ED-4DB2-BD59-A6C34878D82A}">
                    <a16:rowId xmlns:a16="http://schemas.microsoft.com/office/drawing/2014/main" val="161127253"/>
                  </a:ext>
                </a:extLst>
              </a:tr>
              <a:tr h="357500">
                <a:tc>
                  <a:txBody>
                    <a:bodyPr/>
                    <a:lstStyle/>
                    <a:p>
                      <a:pPr marL="0" algn="ctr" defTabSz="914377" rtl="0" eaLnBrk="1" fontAlgn="ctr" latinLnBrk="0" hangingPunct="1">
                        <a:buNone/>
                      </a:pPr>
                      <a:r>
                        <a:rPr lang="en-IN" sz="1200" b="1" i="0" u="none" strike="noStrike" kern="1200">
                          <a:solidFill>
                            <a:srgbClr val="000000"/>
                          </a:solidFill>
                          <a:effectLst/>
                          <a:latin typeface="Lato" panose="020F0502020204030203" pitchFamily="34" charset="0"/>
                          <a:ea typeface="Lato" panose="020F0502020204030203" pitchFamily="34" charset="0"/>
                          <a:cs typeface="Lato" panose="020F0502020204030203" pitchFamily="34" charset="0"/>
                        </a:rPr>
                        <a:t>Data Modeler</a:t>
                      </a:r>
                    </a:p>
                  </a:txBody>
                  <a:tcPr marL="190500" marR="0" marT="0" marB="0" anchor="ctr"/>
                </a:tc>
                <a:tc gridSpan="2">
                  <a:txBody>
                    <a:bodyPr/>
                    <a:lstStyle/>
                    <a:p>
                      <a:pPr algn="ctr" fontAlgn="ctr"/>
                      <a:r>
                        <a:rPr lang="en-US" sz="1200"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1</a:t>
                      </a:r>
                      <a:endParaRPr lang="en-IN" sz="1200"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hMerge="1">
                  <a:txBody>
                    <a:bodyPr/>
                    <a:lstStyle/>
                    <a:p>
                      <a:pPr algn="ctr" fontAlgn="ctr"/>
                      <a:endParaRPr lang="en-IN" sz="12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a:txBody>
                    <a:bodyPr/>
                    <a:lstStyle/>
                    <a:p>
                      <a:pPr algn="ctr" fontAlgn="ct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a:txBody>
                    <a:bodyPr/>
                    <a:lstStyle/>
                    <a:p>
                      <a:pPr algn="ctr" fontAlgn="ct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gridSpan="2">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hMerge="1">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gridSpan="2">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hMerge="1">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US"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1</a:t>
                      </a: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solidFill>
                      <a:srgbClr val="00B050"/>
                    </a:solidFill>
                  </a:tcPr>
                </a:tc>
                <a:extLst>
                  <a:ext uri="{0D108BD9-81ED-4DB2-BD59-A6C34878D82A}">
                    <a16:rowId xmlns:a16="http://schemas.microsoft.com/office/drawing/2014/main" val="4116447492"/>
                  </a:ext>
                </a:extLst>
              </a:tr>
              <a:tr h="357500">
                <a:tc>
                  <a:txBody>
                    <a:bodyPr/>
                    <a:lstStyle/>
                    <a:p>
                      <a:pPr marL="0" algn="ctr" defTabSz="914377" rtl="0" eaLnBrk="1" fontAlgn="ctr" latinLnBrk="0" hangingPunct="1">
                        <a:buNone/>
                      </a:pPr>
                      <a:r>
                        <a:rPr lang="en-IN" sz="1200" b="1" i="0" u="none" strike="noStrike" kern="1200" dirty="0">
                          <a:solidFill>
                            <a:srgbClr val="000000"/>
                          </a:solidFill>
                          <a:effectLst/>
                          <a:latin typeface="Lato" panose="020F0502020204030203" pitchFamily="34" charset="0"/>
                          <a:ea typeface="Lato" panose="020F0502020204030203" pitchFamily="34" charset="0"/>
                          <a:cs typeface="Lato" panose="020F0502020204030203" pitchFamily="34" charset="0"/>
                        </a:rPr>
                        <a:t>Scrum Master</a:t>
                      </a:r>
                    </a:p>
                  </a:txBody>
                  <a:tcPr marL="190500" marR="0" marT="0" marB="0" anchor="ctr"/>
                </a:tc>
                <a:tc gridSpan="2">
                  <a:txBody>
                    <a:bodyPr/>
                    <a:lstStyle/>
                    <a:p>
                      <a:pPr algn="ctr" fontAlgn="ctr"/>
                      <a:r>
                        <a:rPr lang="en-US" sz="1200" b="1" i="0" u="none" strike="noStrike" dirty="0">
                          <a:solidFill>
                            <a:srgbClr val="000000"/>
                          </a:solidFill>
                          <a:effectLst/>
                          <a:latin typeface="Lato" panose="020F0502020204030203" pitchFamily="34" charset="0"/>
                          <a:ea typeface="Lato" panose="020F0502020204030203" pitchFamily="34" charset="0"/>
                          <a:cs typeface="Lato" panose="020F0502020204030203" pitchFamily="34" charset="0"/>
                        </a:rPr>
                        <a:t>1</a:t>
                      </a:r>
                      <a:endParaRPr lang="en-IN" sz="1200" b="1" i="0" u="none" strike="noStrike" dirty="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hMerge="1">
                  <a:txBody>
                    <a:bodyPr/>
                    <a:lstStyle/>
                    <a:p>
                      <a:pPr algn="ctr" fontAlgn="ctr"/>
                      <a:endParaRPr lang="en-IN" sz="12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a:txBody>
                    <a:bodyPr/>
                    <a:lstStyle/>
                    <a:p>
                      <a:pPr algn="ctr" fontAlgn="ctr"/>
                      <a:r>
                        <a:rPr lang="en-US" sz="1200" b="0" u="none" strike="noStrike" dirty="0">
                          <a:solidFill>
                            <a:srgbClr val="000000"/>
                          </a:solidFill>
                          <a:effectLst/>
                          <a:latin typeface="Lato" panose="020F0502020204030203" pitchFamily="34" charset="0"/>
                          <a:ea typeface="Lato" panose="020F0502020204030203" pitchFamily="34" charset="0"/>
                          <a:cs typeface="Lato" panose="020F0502020204030203" pitchFamily="34" charset="0"/>
                        </a:rPr>
                        <a:t>1</a:t>
                      </a:r>
                      <a:endParaRPr lang="en-IN" sz="1200" b="0" u="none" strike="noStrike" dirty="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solidFill>
                      <a:srgbClr val="00B050"/>
                    </a:solidFill>
                  </a:tcPr>
                </a:tc>
                <a:tc>
                  <a:txBody>
                    <a:bodyPr/>
                    <a:lstStyle/>
                    <a:p>
                      <a:pPr algn="ctr" fontAlgn="ctr"/>
                      <a:endParaRPr lang="en-IN" sz="1200" b="0" u="none" strike="noStrike" dirty="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gridSpan="2">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dirty="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hMerge="1">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gridSpan="2">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dirty="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hMerge="1">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dirty="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extLst>
                  <a:ext uri="{0D108BD9-81ED-4DB2-BD59-A6C34878D82A}">
                    <a16:rowId xmlns:a16="http://schemas.microsoft.com/office/drawing/2014/main" val="4273914854"/>
                  </a:ext>
                </a:extLst>
              </a:tr>
              <a:tr h="357500">
                <a:tc>
                  <a:txBody>
                    <a:bodyPr/>
                    <a:lstStyle/>
                    <a:p>
                      <a:pPr marL="0" algn="ctr" defTabSz="914377" rtl="0" eaLnBrk="1" fontAlgn="ctr" latinLnBrk="0" hangingPunct="1">
                        <a:buNone/>
                      </a:pPr>
                      <a:r>
                        <a:rPr lang="en-IN" sz="1200" b="1" i="0" u="none" strike="noStrike" kern="1200">
                          <a:solidFill>
                            <a:srgbClr val="000000"/>
                          </a:solidFill>
                          <a:effectLst/>
                          <a:latin typeface="Lato" panose="020F0502020204030203" pitchFamily="34" charset="0"/>
                          <a:ea typeface="Lato" panose="020F0502020204030203" pitchFamily="34" charset="0"/>
                          <a:cs typeface="Lato" panose="020F0502020204030203" pitchFamily="34" charset="0"/>
                        </a:rPr>
                        <a:t>Data QE</a:t>
                      </a:r>
                    </a:p>
                  </a:txBody>
                  <a:tcPr marL="190500" marR="0" marT="0" marB="0" anchor="ctr"/>
                </a:tc>
                <a:tc gridSpan="2">
                  <a:txBody>
                    <a:bodyPr/>
                    <a:lstStyle/>
                    <a:p>
                      <a:pPr algn="ctr" fontAlgn="ctr"/>
                      <a:r>
                        <a:rPr lang="en-US" sz="1200"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1</a:t>
                      </a:r>
                      <a:endParaRPr lang="en-IN" sz="1200"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hMerge="1">
                  <a:txBody>
                    <a:bodyPr/>
                    <a:lstStyle/>
                    <a:p>
                      <a:pPr algn="ctr" fontAlgn="ctr"/>
                      <a:endParaRPr lang="en-IN" sz="12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a:txBody>
                    <a:bodyPr/>
                    <a:lstStyle/>
                    <a:p>
                      <a:pPr algn="ctr" fontAlgn="ctr"/>
                      <a:r>
                        <a:rPr lang="en-US"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1</a:t>
                      </a: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solidFill>
                      <a:srgbClr val="00B050"/>
                    </a:solidFill>
                  </a:tcPr>
                </a:tc>
                <a:tc>
                  <a:txBody>
                    <a:bodyPr/>
                    <a:lstStyle/>
                    <a:p>
                      <a:pPr algn="ctr" fontAlgn="ct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gridSpan="2">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hMerge="1">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gridSpan="2">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hMerge="1">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tc>
                <a:extLst>
                  <a:ext uri="{0D108BD9-81ED-4DB2-BD59-A6C34878D82A}">
                    <a16:rowId xmlns:a16="http://schemas.microsoft.com/office/drawing/2014/main" val="173304333"/>
                  </a:ext>
                </a:extLst>
              </a:tr>
              <a:tr h="357500">
                <a:tc>
                  <a:txBody>
                    <a:bodyPr/>
                    <a:lstStyle/>
                    <a:p>
                      <a:pPr marL="0" algn="ctr" defTabSz="914377" rtl="0" eaLnBrk="1" fontAlgn="ctr" latinLnBrk="0" hangingPunct="1">
                        <a:buNone/>
                      </a:pPr>
                      <a:r>
                        <a:rPr lang="en-US" sz="1200" b="1" i="0" u="none" strike="noStrike" kern="1200">
                          <a:solidFill>
                            <a:srgbClr val="000000"/>
                          </a:solidFill>
                          <a:effectLst/>
                          <a:latin typeface="Lato" panose="020F0502020204030203" pitchFamily="34" charset="0"/>
                          <a:ea typeface="Lato" panose="020F0502020204030203" pitchFamily="34" charset="0"/>
                          <a:cs typeface="Lato" panose="020F0502020204030203" pitchFamily="34" charset="0"/>
                        </a:rPr>
                        <a:t>Total</a:t>
                      </a:r>
                      <a:endParaRPr lang="en-IN" sz="1200" b="1" i="0" u="none" strike="noStrike" kern="120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190500" marR="0" marT="0" marB="0" anchor="ctr">
                    <a:solidFill>
                      <a:schemeClr val="accent2">
                        <a:lumMod val="20000"/>
                        <a:lumOff val="80000"/>
                      </a:schemeClr>
                    </a:solidFill>
                  </a:tcPr>
                </a:tc>
                <a:tc gridSpan="2">
                  <a:txBody>
                    <a:bodyPr/>
                    <a:lstStyle/>
                    <a:p>
                      <a:pPr algn="ctr" fontAlgn="ctr"/>
                      <a:r>
                        <a:rPr lang="en-US" sz="1200"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10</a:t>
                      </a:r>
                      <a:endParaRPr lang="en-IN" sz="1200"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solidFill>
                      <a:schemeClr val="accent2">
                        <a:lumMod val="20000"/>
                        <a:lumOff val="80000"/>
                      </a:schemeClr>
                    </a:solidFill>
                  </a:tcPr>
                </a:tc>
                <a:tc hMerge="1">
                  <a:txBody>
                    <a:bodyPr/>
                    <a:lstStyle/>
                    <a:p>
                      <a:pPr algn="ctr" fontAlgn="ctr"/>
                      <a:endParaRPr lang="en-IN" sz="12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solidFill>
                      <a:schemeClr val="accent2">
                        <a:lumMod val="20000"/>
                        <a:lumOff val="80000"/>
                      </a:schemeClr>
                    </a:solidFill>
                  </a:tcPr>
                </a:tc>
                <a:tc>
                  <a:txBody>
                    <a:bodyPr/>
                    <a:lstStyle/>
                    <a:p>
                      <a:pPr algn="ctr" fontAlgn="ctr"/>
                      <a:r>
                        <a:rPr lang="en-US" sz="1200" b="1"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6</a:t>
                      </a:r>
                      <a:endParaRPr lang="en-IN" sz="1200" b="1"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solidFill>
                      <a:schemeClr val="accent2">
                        <a:lumMod val="20000"/>
                        <a:lumOff val="80000"/>
                      </a:schemeClr>
                    </a:solidFill>
                  </a:tcPr>
                </a:tc>
                <a:tc>
                  <a:txBody>
                    <a:bodyPr/>
                    <a:lstStyle/>
                    <a:p>
                      <a:pPr algn="ctr" fontAlgn="ctr"/>
                      <a:endParaRPr lang="en-IN" sz="1200" b="1"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solidFill>
                      <a:schemeClr val="accent2">
                        <a:lumMod val="20000"/>
                        <a:lumOff val="80000"/>
                      </a:schemeClr>
                    </a:solidFill>
                  </a:tcPr>
                </a:tc>
                <a:tc gridSpan="2">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1"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solidFill>
                      <a:schemeClr val="accent2">
                        <a:lumMod val="20000"/>
                        <a:lumOff val="80000"/>
                      </a:schemeClr>
                    </a:solidFill>
                  </a:tcPr>
                </a:tc>
                <a:tc hMerge="1">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solidFill>
                      <a:schemeClr val="accent2">
                        <a:lumMod val="20000"/>
                        <a:lumOff val="80000"/>
                      </a:schemeClr>
                    </a:solidFill>
                  </a:tcPr>
                </a:tc>
                <a:tc gridSpan="2">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US" sz="1200" b="1"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2</a:t>
                      </a:r>
                      <a:endParaRPr lang="en-IN" sz="1200" b="1"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solidFill>
                      <a:schemeClr val="accent2">
                        <a:lumMod val="20000"/>
                        <a:lumOff val="80000"/>
                      </a:schemeClr>
                    </a:solidFill>
                  </a:tcPr>
                </a:tc>
                <a:tc hMerge="1">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IN" sz="1200" b="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solidFill>
                      <a:schemeClr val="accent2">
                        <a:lumMod val="20000"/>
                        <a:lumOff val="80000"/>
                      </a:schemeClr>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US" sz="1200" b="1" u="none" strike="noStrike" dirty="0">
                          <a:solidFill>
                            <a:srgbClr val="000000"/>
                          </a:solidFill>
                          <a:effectLst/>
                          <a:latin typeface="Lato" panose="020F0502020204030203" pitchFamily="34" charset="0"/>
                          <a:ea typeface="Lato" panose="020F0502020204030203" pitchFamily="34" charset="0"/>
                          <a:cs typeface="Lato" panose="020F0502020204030203" pitchFamily="34" charset="0"/>
                        </a:rPr>
                        <a:t>2</a:t>
                      </a:r>
                      <a:endParaRPr lang="en-IN" sz="1200" b="1" u="none" strike="noStrike" dirty="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ctr">
                    <a:solidFill>
                      <a:schemeClr val="accent2">
                        <a:lumMod val="20000"/>
                        <a:lumOff val="80000"/>
                      </a:schemeClr>
                    </a:solidFill>
                  </a:tcPr>
                </a:tc>
                <a:extLst>
                  <a:ext uri="{0D108BD9-81ED-4DB2-BD59-A6C34878D82A}">
                    <a16:rowId xmlns:a16="http://schemas.microsoft.com/office/drawing/2014/main" val="4282564176"/>
                  </a:ext>
                </a:extLst>
              </a:tr>
            </a:tbl>
          </a:graphicData>
        </a:graphic>
      </p:graphicFrame>
      <p:sp>
        <p:nvSpPr>
          <p:cNvPr id="5" name="TextBox 4">
            <a:extLst>
              <a:ext uri="{FF2B5EF4-FFF2-40B4-BE49-F238E27FC236}">
                <a16:creationId xmlns:a16="http://schemas.microsoft.com/office/drawing/2014/main" id="{39E3B5DD-9D73-9D1E-D3AB-540F7BBD8AD7}"/>
              </a:ext>
            </a:extLst>
          </p:cNvPr>
          <p:cNvSpPr txBox="1"/>
          <p:nvPr/>
        </p:nvSpPr>
        <p:spPr>
          <a:xfrm>
            <a:off x="2410933" y="803332"/>
            <a:ext cx="7828222" cy="461665"/>
          </a:xfrm>
          <a:prstGeom prst="rect">
            <a:avLst/>
          </a:prstGeom>
          <a:noFill/>
        </p:spPr>
        <p:txBody>
          <a:bodyPr wrap="square">
            <a:spAutoFit/>
          </a:bodyPr>
          <a:lstStyle/>
          <a:p>
            <a:pPr algn="ctr">
              <a:buNone/>
            </a:pPr>
            <a:r>
              <a:rPr lang="en-US" sz="1200" b="1">
                <a:solidFill>
                  <a:srgbClr val="0070C0"/>
                </a:solidFill>
                <a:latin typeface="Lato" panose="020F0502020204030203" pitchFamily="34" charset="0"/>
                <a:ea typeface="Lato" panose="020F0502020204030203" pitchFamily="34" charset="0"/>
                <a:cs typeface="Lato" panose="020F0502020204030203" pitchFamily="34" charset="0"/>
              </a:rPr>
              <a:t>This ramp-up approach ensures rapid transition readiness while establishing a stable and fully operational Managed POD within the first month of engagement.</a:t>
            </a:r>
          </a:p>
        </p:txBody>
      </p:sp>
      <p:sp>
        <p:nvSpPr>
          <p:cNvPr id="7" name="Oval 6">
            <a:extLst>
              <a:ext uri="{FF2B5EF4-FFF2-40B4-BE49-F238E27FC236}">
                <a16:creationId xmlns:a16="http://schemas.microsoft.com/office/drawing/2014/main" id="{AA4A233B-175C-2D4E-C735-454CEE8BBA4D}"/>
              </a:ext>
            </a:extLst>
          </p:cNvPr>
          <p:cNvSpPr/>
          <p:nvPr/>
        </p:nvSpPr>
        <p:spPr>
          <a:xfrm>
            <a:off x="8608160" y="1420265"/>
            <a:ext cx="782538" cy="782538"/>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Lato" panose="020F0502020204030203" pitchFamily="34" charset="0"/>
                <a:ea typeface="Lato" panose="020F0502020204030203" pitchFamily="34" charset="0"/>
                <a:cs typeface="Lato" panose="020F0502020204030203" pitchFamily="34" charset="0"/>
              </a:rPr>
              <a:t>60%</a:t>
            </a:r>
          </a:p>
        </p:txBody>
      </p:sp>
      <p:sp>
        <p:nvSpPr>
          <p:cNvPr id="9" name="Rectangle: Rounded Corners 8">
            <a:extLst>
              <a:ext uri="{FF2B5EF4-FFF2-40B4-BE49-F238E27FC236}">
                <a16:creationId xmlns:a16="http://schemas.microsoft.com/office/drawing/2014/main" id="{1DF408EB-0071-6BB9-403E-046F9AC81267}"/>
              </a:ext>
            </a:extLst>
          </p:cNvPr>
          <p:cNvSpPr/>
          <p:nvPr/>
        </p:nvSpPr>
        <p:spPr>
          <a:xfrm>
            <a:off x="8712335" y="5427433"/>
            <a:ext cx="3175178" cy="1020725"/>
          </a:xfrm>
          <a:prstGeom prst="round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F1BE82CC-A00C-D4D9-A923-238BD8E975CD}"/>
              </a:ext>
            </a:extLst>
          </p:cNvPr>
          <p:cNvSpPr txBox="1"/>
          <p:nvPr/>
        </p:nvSpPr>
        <p:spPr>
          <a:xfrm>
            <a:off x="9390698" y="1420265"/>
            <a:ext cx="2590801" cy="830997"/>
          </a:xfrm>
          <a:prstGeom prst="rect">
            <a:avLst/>
          </a:prstGeom>
          <a:noFill/>
        </p:spPr>
        <p:txBody>
          <a:bodyPr wrap="square">
            <a:spAutoFit/>
          </a:bodyPr>
          <a:lstStyle/>
          <a:p>
            <a:pPr algn="ctr">
              <a:buNone/>
            </a:pPr>
            <a:r>
              <a:rPr lang="en-US" sz="1200">
                <a:latin typeface="Lato" panose="020F0502020204030203" pitchFamily="34" charset="0"/>
                <a:ea typeface="Lato" panose="020F0502020204030203" pitchFamily="34" charset="0"/>
                <a:cs typeface="Lato" panose="020F0502020204030203" pitchFamily="34" charset="0"/>
              </a:rPr>
              <a:t>~60% resources deployed in Week-1 using readily available team to immediately start transition with the existing vendor.</a:t>
            </a:r>
          </a:p>
        </p:txBody>
      </p:sp>
      <p:sp>
        <p:nvSpPr>
          <p:cNvPr id="11" name="Oval 10">
            <a:extLst>
              <a:ext uri="{FF2B5EF4-FFF2-40B4-BE49-F238E27FC236}">
                <a16:creationId xmlns:a16="http://schemas.microsoft.com/office/drawing/2014/main" id="{0153FF6C-A3D3-1178-3EEE-F6427C187B4E}"/>
              </a:ext>
            </a:extLst>
          </p:cNvPr>
          <p:cNvSpPr/>
          <p:nvPr/>
        </p:nvSpPr>
        <p:spPr>
          <a:xfrm>
            <a:off x="8608160" y="3453958"/>
            <a:ext cx="782538" cy="782538"/>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latin typeface="Lato" panose="020F0502020204030203" pitchFamily="34" charset="0"/>
                <a:ea typeface="Lato" panose="020F0502020204030203" pitchFamily="34" charset="0"/>
                <a:cs typeface="Lato" panose="020F0502020204030203" pitchFamily="34" charset="0"/>
              </a:rPr>
              <a:t>100%</a:t>
            </a:r>
          </a:p>
        </p:txBody>
      </p:sp>
      <p:sp>
        <p:nvSpPr>
          <p:cNvPr id="12" name="Rectangle: Rounded Corners 11">
            <a:extLst>
              <a:ext uri="{FF2B5EF4-FFF2-40B4-BE49-F238E27FC236}">
                <a16:creationId xmlns:a16="http://schemas.microsoft.com/office/drawing/2014/main" id="{4B6D4283-24D7-43B6-CCBD-47509F0DF1E1}"/>
              </a:ext>
            </a:extLst>
          </p:cNvPr>
          <p:cNvSpPr/>
          <p:nvPr/>
        </p:nvSpPr>
        <p:spPr>
          <a:xfrm>
            <a:off x="8596585" y="3340014"/>
            <a:ext cx="3373338" cy="1020725"/>
          </a:xfrm>
          <a:prstGeom prst="round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D5718AC7-C3BC-3F44-7825-5CCFBE1CDED2}"/>
              </a:ext>
            </a:extLst>
          </p:cNvPr>
          <p:cNvSpPr txBox="1"/>
          <p:nvPr/>
        </p:nvSpPr>
        <p:spPr>
          <a:xfrm>
            <a:off x="9390698" y="3539020"/>
            <a:ext cx="2590801" cy="646331"/>
          </a:xfrm>
          <a:prstGeom prst="rect">
            <a:avLst/>
          </a:prstGeom>
          <a:noFill/>
        </p:spPr>
        <p:txBody>
          <a:bodyPr wrap="square">
            <a:spAutoFit/>
          </a:bodyPr>
          <a:lstStyle/>
          <a:p>
            <a:pPr algn="ctr">
              <a:buNone/>
            </a:pPr>
            <a:r>
              <a:rPr lang="en-US" sz="1200">
                <a:latin typeface="Lato" panose="020F0502020204030203" pitchFamily="34" charset="0"/>
                <a:ea typeface="Lato" panose="020F0502020204030203" pitchFamily="34" charset="0"/>
                <a:cs typeface="Lato" panose="020F0502020204030203" pitchFamily="34" charset="0"/>
              </a:rPr>
              <a:t>100% POD ramp-up achieved within 4–5 weeks from project start date.</a:t>
            </a:r>
          </a:p>
        </p:txBody>
      </p:sp>
      <p:sp>
        <p:nvSpPr>
          <p:cNvPr id="15" name="Rectangle 14">
            <a:extLst>
              <a:ext uri="{FF2B5EF4-FFF2-40B4-BE49-F238E27FC236}">
                <a16:creationId xmlns:a16="http://schemas.microsoft.com/office/drawing/2014/main" id="{01AFBE3C-85C3-4C86-DA55-4A1087D3413C}"/>
              </a:ext>
            </a:extLst>
          </p:cNvPr>
          <p:cNvSpPr/>
          <p:nvPr/>
        </p:nvSpPr>
        <p:spPr>
          <a:xfrm>
            <a:off x="8712335" y="2328575"/>
            <a:ext cx="3249155" cy="430887"/>
          </a:xfrm>
          <a:prstGeom prst="rect">
            <a:avLst/>
          </a:prstGeom>
        </p:spPr>
        <p:txBody>
          <a:bodyPr wrap="square">
            <a:spAutoFit/>
          </a:bodyPr>
          <a:lstStyle/>
          <a:p>
            <a:pPr marL="231769" indent="-231769" defTabSz="914377" fontAlgn="base">
              <a:spcBef>
                <a:spcPct val="0"/>
              </a:spcBef>
              <a:spcAft>
                <a:spcPct val="0"/>
              </a:spcAft>
              <a:buFont typeface="Wingdings" panose="05000000000000000000" pitchFamily="2" charset="2"/>
              <a:buChar char="§"/>
            </a:pPr>
            <a:r>
              <a:rPr lang="en-US" sz="1100">
                <a:solidFill>
                  <a:prstClr val="black"/>
                </a:solidFill>
                <a:latin typeface="Lato" panose="020F0502020204030203" pitchFamily="34" charset="0"/>
                <a:ea typeface="Lato" panose="020F0502020204030203" pitchFamily="34" charset="0"/>
                <a:cs typeface="Lato" panose="020F0502020204030203" pitchFamily="34" charset="0"/>
              </a:rPr>
              <a:t>Early team focuses on KT, environment onboarding, and production stabilization.</a:t>
            </a:r>
            <a:endParaRPr lang="en-IN" sz="1100">
              <a:solidFill>
                <a:prstClr val="black"/>
              </a:solidFill>
              <a:latin typeface="Lato" panose="020F0502020204030203" pitchFamily="34" charset="0"/>
              <a:ea typeface="Lato" panose="020F0502020204030203" pitchFamily="34" charset="0"/>
              <a:cs typeface="Lato" panose="020F0502020204030203" pitchFamily="34" charset="0"/>
            </a:endParaRPr>
          </a:p>
        </p:txBody>
      </p:sp>
      <p:sp>
        <p:nvSpPr>
          <p:cNvPr id="16" name="Rectangle 15">
            <a:extLst>
              <a:ext uri="{FF2B5EF4-FFF2-40B4-BE49-F238E27FC236}">
                <a16:creationId xmlns:a16="http://schemas.microsoft.com/office/drawing/2014/main" id="{2863E0A0-842A-69A3-E0AF-432861400AFA}"/>
              </a:ext>
            </a:extLst>
          </p:cNvPr>
          <p:cNvSpPr/>
          <p:nvPr/>
        </p:nvSpPr>
        <p:spPr>
          <a:xfrm>
            <a:off x="8670251" y="2836775"/>
            <a:ext cx="3249155" cy="430887"/>
          </a:xfrm>
          <a:prstGeom prst="rect">
            <a:avLst/>
          </a:prstGeom>
        </p:spPr>
        <p:txBody>
          <a:bodyPr wrap="square">
            <a:spAutoFit/>
          </a:bodyPr>
          <a:lstStyle/>
          <a:p>
            <a:pPr marL="231769" indent="-231769" defTabSz="914377" fontAlgn="base">
              <a:spcBef>
                <a:spcPct val="0"/>
              </a:spcBef>
              <a:spcAft>
                <a:spcPct val="0"/>
              </a:spcAft>
              <a:buFont typeface="Wingdings" panose="05000000000000000000" pitchFamily="2" charset="2"/>
              <a:buChar char="§"/>
            </a:pPr>
            <a:r>
              <a:rPr lang="en-US" sz="1100">
                <a:solidFill>
                  <a:prstClr val="black"/>
                </a:solidFill>
                <a:latin typeface="Lato" panose="020F0502020204030203" pitchFamily="34" charset="0"/>
                <a:ea typeface="Lato" panose="020F0502020204030203" pitchFamily="34" charset="0"/>
                <a:cs typeface="Lato" panose="020F0502020204030203" pitchFamily="34" charset="0"/>
              </a:rPr>
              <a:t>Additional roles onboarded progressively to strengthen platform and domain delivery.</a:t>
            </a:r>
            <a:endParaRPr lang="en-IN" sz="1100">
              <a:solidFill>
                <a:prstClr val="black"/>
              </a:solidFill>
              <a:latin typeface="Lato" panose="020F0502020204030203" pitchFamily="34" charset="0"/>
              <a:ea typeface="Lato" panose="020F0502020204030203" pitchFamily="34" charset="0"/>
              <a:cs typeface="Lato" panose="020F0502020204030203" pitchFamily="34" charset="0"/>
            </a:endParaRPr>
          </a:p>
        </p:txBody>
      </p:sp>
      <p:sp>
        <p:nvSpPr>
          <p:cNvPr id="17" name="Rectangle 16">
            <a:extLst>
              <a:ext uri="{FF2B5EF4-FFF2-40B4-BE49-F238E27FC236}">
                <a16:creationId xmlns:a16="http://schemas.microsoft.com/office/drawing/2014/main" id="{A493A80A-E852-9C48-2F07-139718879D14}"/>
              </a:ext>
            </a:extLst>
          </p:cNvPr>
          <p:cNvSpPr/>
          <p:nvPr/>
        </p:nvSpPr>
        <p:spPr>
          <a:xfrm>
            <a:off x="8638358" y="4417337"/>
            <a:ext cx="3249155" cy="430887"/>
          </a:xfrm>
          <a:prstGeom prst="rect">
            <a:avLst/>
          </a:prstGeom>
        </p:spPr>
        <p:txBody>
          <a:bodyPr wrap="square">
            <a:spAutoFit/>
          </a:bodyPr>
          <a:lstStyle/>
          <a:p>
            <a:pPr marL="231769" indent="-231769" defTabSz="914377" fontAlgn="base">
              <a:spcBef>
                <a:spcPct val="0"/>
              </a:spcBef>
              <a:spcAft>
                <a:spcPct val="0"/>
              </a:spcAft>
              <a:buFont typeface="Wingdings" panose="05000000000000000000" pitchFamily="2" charset="2"/>
              <a:buChar char="§"/>
            </a:pPr>
            <a:r>
              <a:rPr lang="en-US" sz="1100">
                <a:solidFill>
                  <a:prstClr val="black"/>
                </a:solidFill>
                <a:latin typeface="Lato" panose="020F0502020204030203" pitchFamily="34" charset="0"/>
                <a:ea typeface="Lato" panose="020F0502020204030203" pitchFamily="34" charset="0"/>
                <a:cs typeface="Lato" panose="020F0502020204030203" pitchFamily="34" charset="0"/>
              </a:rPr>
              <a:t>Ready Flex Talent Pool enables on-demand scaling without delay.</a:t>
            </a:r>
            <a:endParaRPr lang="en-IN" sz="1100">
              <a:solidFill>
                <a:prstClr val="black"/>
              </a:solidFill>
              <a:latin typeface="Lato" panose="020F0502020204030203" pitchFamily="34" charset="0"/>
              <a:ea typeface="Lato" panose="020F0502020204030203" pitchFamily="34" charset="0"/>
              <a:cs typeface="Lato" panose="020F0502020204030203" pitchFamily="34" charset="0"/>
            </a:endParaRPr>
          </a:p>
        </p:txBody>
      </p:sp>
      <p:sp>
        <p:nvSpPr>
          <p:cNvPr id="18" name="Rectangle 17">
            <a:extLst>
              <a:ext uri="{FF2B5EF4-FFF2-40B4-BE49-F238E27FC236}">
                <a16:creationId xmlns:a16="http://schemas.microsoft.com/office/drawing/2014/main" id="{24305D8A-A389-5BC7-8328-236E911CA909}"/>
              </a:ext>
            </a:extLst>
          </p:cNvPr>
          <p:cNvSpPr/>
          <p:nvPr/>
        </p:nvSpPr>
        <p:spPr>
          <a:xfrm rot="5400000">
            <a:off x="5580482" y="3690110"/>
            <a:ext cx="216934" cy="5442803"/>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9BDCCF58-C5F2-FB63-0FC8-BAA8C4461AF0}"/>
              </a:ext>
            </a:extLst>
          </p:cNvPr>
          <p:cNvSpPr/>
          <p:nvPr/>
        </p:nvSpPr>
        <p:spPr>
          <a:xfrm>
            <a:off x="6688969" y="6303044"/>
            <a:ext cx="1721382" cy="216934"/>
          </a:xfrm>
          <a:prstGeom prst="roundRect">
            <a:avLst>
              <a:gd name="adj" fmla="val 50000"/>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Rounded Corners 18">
            <a:extLst>
              <a:ext uri="{FF2B5EF4-FFF2-40B4-BE49-F238E27FC236}">
                <a16:creationId xmlns:a16="http://schemas.microsoft.com/office/drawing/2014/main" id="{7A584C89-9C5F-9D59-8904-A40112D17523}"/>
              </a:ext>
            </a:extLst>
          </p:cNvPr>
          <p:cNvSpPr/>
          <p:nvPr/>
        </p:nvSpPr>
        <p:spPr>
          <a:xfrm>
            <a:off x="2979975" y="6303044"/>
            <a:ext cx="2105900" cy="216934"/>
          </a:xfrm>
          <a:prstGeom prst="roundRect">
            <a:avLst>
              <a:gd name="adj" fmla="val 50000"/>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Rounded Corners 19">
            <a:extLst>
              <a:ext uri="{FF2B5EF4-FFF2-40B4-BE49-F238E27FC236}">
                <a16:creationId xmlns:a16="http://schemas.microsoft.com/office/drawing/2014/main" id="{303DF0BF-578A-ED4C-2744-E0663E04E1F1}"/>
              </a:ext>
            </a:extLst>
          </p:cNvPr>
          <p:cNvSpPr/>
          <p:nvPr/>
        </p:nvSpPr>
        <p:spPr>
          <a:xfrm>
            <a:off x="4809400" y="6303044"/>
            <a:ext cx="2238171" cy="216934"/>
          </a:xfrm>
          <a:prstGeom prst="roundRect">
            <a:avLst>
              <a:gd name="adj" fmla="val 50000"/>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6EA2DE87-961A-8CEE-E3A2-652DDC57E716}"/>
              </a:ext>
            </a:extLst>
          </p:cNvPr>
          <p:cNvSpPr txBox="1"/>
          <p:nvPr/>
        </p:nvSpPr>
        <p:spPr>
          <a:xfrm>
            <a:off x="3765159" y="6288401"/>
            <a:ext cx="463852" cy="246221"/>
          </a:xfrm>
          <a:prstGeom prst="rect">
            <a:avLst/>
          </a:prstGeom>
          <a:noFill/>
        </p:spPr>
        <p:txBody>
          <a:bodyPr wrap="square">
            <a:spAutoFit/>
          </a:bodyPr>
          <a:lstStyle/>
          <a:p>
            <a:pPr>
              <a:spcBef>
                <a:spcPts val="1200"/>
              </a:spcBef>
              <a:buClr>
                <a:srgbClr val="00B0F0"/>
              </a:buClr>
            </a:pPr>
            <a:r>
              <a:rPr lang="en-US" sz="1000" b="1">
                <a:latin typeface="Lato" panose="020F0502020204030203" pitchFamily="34" charset="0"/>
                <a:ea typeface="Lato" panose="020F0502020204030203" pitchFamily="34" charset="0"/>
                <a:cs typeface="Lato" panose="020F0502020204030203" pitchFamily="34" charset="0"/>
              </a:rPr>
              <a:t>60%</a:t>
            </a:r>
          </a:p>
        </p:txBody>
      </p:sp>
      <p:sp>
        <p:nvSpPr>
          <p:cNvPr id="23" name="TextBox 22">
            <a:extLst>
              <a:ext uri="{FF2B5EF4-FFF2-40B4-BE49-F238E27FC236}">
                <a16:creationId xmlns:a16="http://schemas.microsoft.com/office/drawing/2014/main" id="{CF35C4B7-C8C6-84FD-1735-15EE046C054A}"/>
              </a:ext>
            </a:extLst>
          </p:cNvPr>
          <p:cNvSpPr txBox="1"/>
          <p:nvPr/>
        </p:nvSpPr>
        <p:spPr>
          <a:xfrm>
            <a:off x="5806221" y="6288401"/>
            <a:ext cx="660960" cy="246221"/>
          </a:xfrm>
          <a:prstGeom prst="rect">
            <a:avLst/>
          </a:prstGeom>
          <a:noFill/>
        </p:spPr>
        <p:txBody>
          <a:bodyPr wrap="square">
            <a:spAutoFit/>
          </a:bodyPr>
          <a:lstStyle/>
          <a:p>
            <a:pPr>
              <a:spcBef>
                <a:spcPts val="1200"/>
              </a:spcBef>
              <a:buClr>
                <a:srgbClr val="00B0F0"/>
              </a:buClr>
            </a:pPr>
            <a:r>
              <a:rPr lang="en-US" sz="1000" b="1">
                <a:latin typeface="Lato" panose="020F0502020204030203" pitchFamily="34" charset="0"/>
                <a:ea typeface="Lato" panose="020F0502020204030203" pitchFamily="34" charset="0"/>
                <a:cs typeface="Lato" panose="020F0502020204030203" pitchFamily="34" charset="0"/>
              </a:rPr>
              <a:t>80%</a:t>
            </a:r>
          </a:p>
        </p:txBody>
      </p:sp>
      <p:sp>
        <p:nvSpPr>
          <p:cNvPr id="24" name="TextBox 23">
            <a:extLst>
              <a:ext uri="{FF2B5EF4-FFF2-40B4-BE49-F238E27FC236}">
                <a16:creationId xmlns:a16="http://schemas.microsoft.com/office/drawing/2014/main" id="{25D6EC40-1628-E064-A3AC-80903A1A7A7E}"/>
              </a:ext>
            </a:extLst>
          </p:cNvPr>
          <p:cNvSpPr txBox="1"/>
          <p:nvPr/>
        </p:nvSpPr>
        <p:spPr>
          <a:xfrm>
            <a:off x="7447763" y="6288401"/>
            <a:ext cx="589480" cy="246221"/>
          </a:xfrm>
          <a:prstGeom prst="rect">
            <a:avLst/>
          </a:prstGeom>
          <a:noFill/>
        </p:spPr>
        <p:txBody>
          <a:bodyPr wrap="square">
            <a:spAutoFit/>
          </a:bodyPr>
          <a:lstStyle/>
          <a:p>
            <a:pPr>
              <a:spcBef>
                <a:spcPts val="1200"/>
              </a:spcBef>
              <a:buClr>
                <a:srgbClr val="00B0F0"/>
              </a:buClr>
            </a:pPr>
            <a:r>
              <a:rPr lang="en-US" sz="1000" b="1">
                <a:latin typeface="Lato" panose="020F0502020204030203" pitchFamily="34" charset="0"/>
                <a:ea typeface="Lato" panose="020F0502020204030203" pitchFamily="34" charset="0"/>
                <a:cs typeface="Lato" panose="020F0502020204030203" pitchFamily="34" charset="0"/>
              </a:rPr>
              <a:t>100%</a:t>
            </a:r>
          </a:p>
        </p:txBody>
      </p:sp>
      <p:sp>
        <p:nvSpPr>
          <p:cNvPr id="4" name="Rectangle 3">
            <a:extLst>
              <a:ext uri="{FF2B5EF4-FFF2-40B4-BE49-F238E27FC236}">
                <a16:creationId xmlns:a16="http://schemas.microsoft.com/office/drawing/2014/main" id="{C1514346-8D68-F1D4-7931-359A0728F0A0}"/>
              </a:ext>
            </a:extLst>
          </p:cNvPr>
          <p:cNvSpPr/>
          <p:nvPr/>
        </p:nvSpPr>
        <p:spPr>
          <a:xfrm>
            <a:off x="8744233" y="5484031"/>
            <a:ext cx="1494921" cy="1277273"/>
          </a:xfrm>
          <a:prstGeom prst="rect">
            <a:avLst/>
          </a:prstGeom>
        </p:spPr>
        <p:txBody>
          <a:bodyPr wrap="square">
            <a:spAutoFit/>
          </a:bodyPr>
          <a:lstStyle/>
          <a:p>
            <a:pPr defTabSz="914377" fontAlgn="base">
              <a:spcBef>
                <a:spcPct val="0"/>
              </a:spcBef>
              <a:spcAft>
                <a:spcPct val="0"/>
              </a:spcAft>
            </a:pPr>
            <a:r>
              <a:rPr lang="en-IN" sz="1100" dirty="0">
                <a:solidFill>
                  <a:prstClr val="black"/>
                </a:solidFill>
                <a:latin typeface="Lato" panose="020F0502020204030203" pitchFamily="34" charset="0"/>
                <a:ea typeface="Lato" panose="020F0502020204030203" pitchFamily="34" charset="0"/>
                <a:cs typeface="Lato" panose="020F0502020204030203" pitchFamily="34" charset="0"/>
              </a:rPr>
              <a:t>Data Engineers</a:t>
            </a:r>
          </a:p>
          <a:p>
            <a:pPr defTabSz="914377" fontAlgn="base">
              <a:spcBef>
                <a:spcPct val="0"/>
              </a:spcBef>
              <a:spcAft>
                <a:spcPct val="0"/>
              </a:spcAft>
            </a:pPr>
            <a:endParaRPr lang="en-IN" sz="1100" dirty="0">
              <a:solidFill>
                <a:prstClr val="black"/>
              </a:solidFill>
              <a:latin typeface="Lato" panose="020F0502020204030203" pitchFamily="34" charset="0"/>
              <a:ea typeface="Lato" panose="020F0502020204030203" pitchFamily="34" charset="0"/>
              <a:cs typeface="Lato" panose="020F0502020204030203" pitchFamily="34" charset="0"/>
            </a:endParaRPr>
          </a:p>
          <a:p>
            <a:pPr marL="171450" indent="-171450" defTabSz="914377" fontAlgn="base">
              <a:spcBef>
                <a:spcPct val="0"/>
              </a:spcBef>
              <a:spcAft>
                <a:spcPct val="0"/>
              </a:spcAft>
              <a:buFont typeface="Arial" panose="020B0604020202020204" pitchFamily="34" charset="0"/>
              <a:buChar char="•"/>
            </a:pPr>
            <a:r>
              <a:rPr lang="en-IN" sz="1100" b="1" dirty="0">
                <a:solidFill>
                  <a:prstClr val="black"/>
                </a:solidFill>
                <a:latin typeface="Lato" panose="020F0502020204030203" pitchFamily="34" charset="0"/>
                <a:ea typeface="Lato" panose="020F0502020204030203" pitchFamily="34" charset="0"/>
                <a:cs typeface="Lato" panose="020F0502020204030203" pitchFamily="34" charset="0"/>
              </a:rPr>
              <a:t>Bharat Teja</a:t>
            </a:r>
          </a:p>
          <a:p>
            <a:pPr marL="171450" indent="-171450" defTabSz="914377" fontAlgn="base">
              <a:spcBef>
                <a:spcPct val="0"/>
              </a:spcBef>
              <a:spcAft>
                <a:spcPct val="0"/>
              </a:spcAft>
              <a:buFont typeface="Arial" panose="020B0604020202020204" pitchFamily="34" charset="0"/>
              <a:buChar char="•"/>
            </a:pPr>
            <a:r>
              <a:rPr lang="en-IN" sz="1100" b="1" dirty="0">
                <a:solidFill>
                  <a:prstClr val="black"/>
                </a:solidFill>
                <a:latin typeface="Lato" panose="020F0502020204030203" pitchFamily="34" charset="0"/>
                <a:ea typeface="Lato" panose="020F0502020204030203" pitchFamily="34" charset="0"/>
                <a:cs typeface="Lato" panose="020F0502020204030203" pitchFamily="34" charset="0"/>
              </a:rPr>
              <a:t>Shaker </a:t>
            </a:r>
            <a:r>
              <a:rPr lang="en-IN" sz="1100" b="1" dirty="0" err="1">
                <a:solidFill>
                  <a:prstClr val="black"/>
                </a:solidFill>
                <a:latin typeface="Lato" panose="020F0502020204030203" pitchFamily="34" charset="0"/>
                <a:ea typeface="Lato" panose="020F0502020204030203" pitchFamily="34" charset="0"/>
                <a:cs typeface="Lato" panose="020F0502020204030203" pitchFamily="34" charset="0"/>
              </a:rPr>
              <a:t>Pallapu</a:t>
            </a:r>
            <a:endParaRPr lang="en-IN" sz="1100" b="1" dirty="0">
              <a:solidFill>
                <a:prstClr val="black"/>
              </a:solidFill>
              <a:latin typeface="Lato" panose="020F0502020204030203" pitchFamily="34" charset="0"/>
              <a:ea typeface="Lato" panose="020F0502020204030203" pitchFamily="34" charset="0"/>
              <a:cs typeface="Lato" panose="020F0502020204030203" pitchFamily="34" charset="0"/>
            </a:endParaRPr>
          </a:p>
          <a:p>
            <a:pPr defTabSz="914377" fontAlgn="base">
              <a:spcBef>
                <a:spcPct val="0"/>
              </a:spcBef>
              <a:spcAft>
                <a:spcPct val="0"/>
              </a:spcAft>
            </a:pPr>
            <a:endParaRPr lang="en-IN" sz="1100" b="1" dirty="0">
              <a:solidFill>
                <a:prstClr val="black"/>
              </a:solidFill>
              <a:latin typeface="Lato" panose="020F0502020204030203" pitchFamily="34" charset="0"/>
              <a:ea typeface="Lato" panose="020F0502020204030203" pitchFamily="34" charset="0"/>
              <a:cs typeface="Lato" panose="020F0502020204030203" pitchFamily="34" charset="0"/>
            </a:endParaRPr>
          </a:p>
          <a:p>
            <a:pPr defTabSz="914377" fontAlgn="base">
              <a:spcBef>
                <a:spcPct val="0"/>
              </a:spcBef>
              <a:spcAft>
                <a:spcPct val="0"/>
              </a:spcAft>
            </a:pPr>
            <a:endParaRPr lang="en-IN" sz="1100" b="1" dirty="0">
              <a:solidFill>
                <a:prstClr val="black"/>
              </a:solidFill>
              <a:latin typeface="Lato" panose="020F0502020204030203" pitchFamily="34" charset="0"/>
              <a:ea typeface="Lato" panose="020F0502020204030203" pitchFamily="34" charset="0"/>
              <a:cs typeface="Lato" panose="020F0502020204030203" pitchFamily="34" charset="0"/>
            </a:endParaRPr>
          </a:p>
          <a:p>
            <a:pPr defTabSz="914377" fontAlgn="base">
              <a:spcBef>
                <a:spcPct val="0"/>
              </a:spcBef>
              <a:spcAft>
                <a:spcPct val="0"/>
              </a:spcAft>
            </a:pPr>
            <a:endParaRPr lang="en-IN" sz="1100" dirty="0">
              <a:solidFill>
                <a:prstClr val="black"/>
              </a:solidFill>
              <a:latin typeface="Lato" panose="020F0502020204030203" pitchFamily="34" charset="0"/>
              <a:ea typeface="Lato" panose="020F0502020204030203" pitchFamily="34" charset="0"/>
              <a:cs typeface="Lato" panose="020F0502020204030203" pitchFamily="34" charset="0"/>
            </a:endParaRPr>
          </a:p>
        </p:txBody>
      </p:sp>
      <p:sp>
        <p:nvSpPr>
          <p:cNvPr id="6" name="Rectangle: Rounded Corners 5">
            <a:extLst>
              <a:ext uri="{FF2B5EF4-FFF2-40B4-BE49-F238E27FC236}">
                <a16:creationId xmlns:a16="http://schemas.microsoft.com/office/drawing/2014/main" id="{DFFAF81A-4188-B88C-1219-6CE9A1F86E87}"/>
              </a:ext>
            </a:extLst>
          </p:cNvPr>
          <p:cNvSpPr/>
          <p:nvPr/>
        </p:nvSpPr>
        <p:spPr>
          <a:xfrm>
            <a:off x="8588152" y="1280654"/>
            <a:ext cx="3373338" cy="1020725"/>
          </a:xfrm>
          <a:prstGeom prst="round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FEC25E71-D436-99C7-E974-9814108D6751}"/>
              </a:ext>
            </a:extLst>
          </p:cNvPr>
          <p:cNvSpPr/>
          <p:nvPr/>
        </p:nvSpPr>
        <p:spPr>
          <a:xfrm>
            <a:off x="8670251" y="5101942"/>
            <a:ext cx="3249155" cy="261610"/>
          </a:xfrm>
          <a:prstGeom prst="rect">
            <a:avLst/>
          </a:prstGeom>
        </p:spPr>
        <p:txBody>
          <a:bodyPr wrap="square">
            <a:spAutoFit/>
          </a:bodyPr>
          <a:lstStyle/>
          <a:p>
            <a:pPr defTabSz="914377" fontAlgn="base">
              <a:spcBef>
                <a:spcPct val="0"/>
              </a:spcBef>
              <a:spcAft>
                <a:spcPct val="0"/>
              </a:spcAft>
            </a:pPr>
            <a:r>
              <a:rPr lang="en-IN" sz="1100" b="1">
                <a:solidFill>
                  <a:prstClr val="black"/>
                </a:solidFill>
                <a:latin typeface="Lato" panose="020F0502020204030203" pitchFamily="34" charset="0"/>
                <a:ea typeface="Lato" panose="020F0502020204030203" pitchFamily="34" charset="0"/>
                <a:cs typeface="Lato" panose="020F0502020204030203" pitchFamily="34" charset="0"/>
              </a:rPr>
              <a:t>Resources for Ramp Up Plan</a:t>
            </a:r>
          </a:p>
        </p:txBody>
      </p:sp>
      <p:sp>
        <p:nvSpPr>
          <p:cNvPr id="14" name="Rectangle 13">
            <a:extLst>
              <a:ext uri="{FF2B5EF4-FFF2-40B4-BE49-F238E27FC236}">
                <a16:creationId xmlns:a16="http://schemas.microsoft.com/office/drawing/2014/main" id="{32C21396-8938-AEA2-645F-9E4318216463}"/>
              </a:ext>
            </a:extLst>
          </p:cNvPr>
          <p:cNvSpPr/>
          <p:nvPr/>
        </p:nvSpPr>
        <p:spPr>
          <a:xfrm>
            <a:off x="10166785" y="5473109"/>
            <a:ext cx="1494921" cy="1277273"/>
          </a:xfrm>
          <a:prstGeom prst="rect">
            <a:avLst/>
          </a:prstGeom>
        </p:spPr>
        <p:txBody>
          <a:bodyPr wrap="square">
            <a:spAutoFit/>
          </a:bodyPr>
          <a:lstStyle/>
          <a:p>
            <a:pPr defTabSz="914377" fontAlgn="base">
              <a:spcBef>
                <a:spcPct val="0"/>
              </a:spcBef>
              <a:spcAft>
                <a:spcPct val="0"/>
              </a:spcAft>
            </a:pPr>
            <a:r>
              <a:rPr lang="en-IN" sz="1100" dirty="0">
                <a:solidFill>
                  <a:prstClr val="black"/>
                </a:solidFill>
                <a:latin typeface="Lato" panose="020F0502020204030203" pitchFamily="34" charset="0"/>
                <a:ea typeface="Lato" panose="020F0502020204030203" pitchFamily="34" charset="0"/>
                <a:cs typeface="Lato" panose="020F0502020204030203" pitchFamily="34" charset="0"/>
              </a:rPr>
              <a:t>Power BI Engineers</a:t>
            </a:r>
          </a:p>
          <a:p>
            <a:pPr defTabSz="914377" fontAlgn="base">
              <a:spcBef>
                <a:spcPct val="0"/>
              </a:spcBef>
              <a:spcAft>
                <a:spcPct val="0"/>
              </a:spcAft>
            </a:pPr>
            <a:endParaRPr lang="en-IN" sz="1100" dirty="0">
              <a:solidFill>
                <a:prstClr val="black"/>
              </a:solidFill>
              <a:latin typeface="Lato" panose="020F0502020204030203" pitchFamily="34" charset="0"/>
              <a:ea typeface="Lato" panose="020F0502020204030203" pitchFamily="34" charset="0"/>
              <a:cs typeface="Lato" panose="020F0502020204030203" pitchFamily="34" charset="0"/>
            </a:endParaRPr>
          </a:p>
          <a:p>
            <a:pPr marL="171450" indent="-171450" defTabSz="914377" fontAlgn="base">
              <a:spcBef>
                <a:spcPct val="0"/>
              </a:spcBef>
              <a:spcAft>
                <a:spcPct val="0"/>
              </a:spcAft>
              <a:buFont typeface="Arial" panose="020B0604020202020204" pitchFamily="34" charset="0"/>
              <a:buChar char="•"/>
            </a:pPr>
            <a:r>
              <a:rPr lang="en-IN" sz="1100" b="1" dirty="0">
                <a:solidFill>
                  <a:prstClr val="black"/>
                </a:solidFill>
                <a:latin typeface="Lato" panose="020F0502020204030203" pitchFamily="34" charset="0"/>
                <a:ea typeface="Lato" panose="020F0502020204030203" pitchFamily="34" charset="0"/>
                <a:cs typeface="Lato" panose="020F0502020204030203" pitchFamily="34" charset="0"/>
              </a:rPr>
              <a:t>Santosh Velma</a:t>
            </a:r>
          </a:p>
          <a:p>
            <a:pPr marL="171450" indent="-171450" defTabSz="914377" fontAlgn="base">
              <a:spcBef>
                <a:spcPct val="0"/>
              </a:spcBef>
              <a:spcAft>
                <a:spcPct val="0"/>
              </a:spcAft>
              <a:buFont typeface="Arial" panose="020B0604020202020204" pitchFamily="34" charset="0"/>
              <a:buChar char="•"/>
            </a:pPr>
            <a:r>
              <a:rPr lang="en-IN" sz="1100" b="1" dirty="0">
                <a:solidFill>
                  <a:prstClr val="black"/>
                </a:solidFill>
                <a:latin typeface="Lato" panose="020F0502020204030203" pitchFamily="34" charset="0"/>
                <a:ea typeface="Lato" panose="020F0502020204030203" pitchFamily="34" charset="0"/>
                <a:cs typeface="Lato" panose="020F0502020204030203" pitchFamily="34" charset="0"/>
              </a:rPr>
              <a:t>Sai Kiran </a:t>
            </a:r>
          </a:p>
          <a:p>
            <a:pPr defTabSz="914377" fontAlgn="base">
              <a:spcBef>
                <a:spcPct val="0"/>
              </a:spcBef>
              <a:spcAft>
                <a:spcPct val="0"/>
              </a:spcAft>
            </a:pPr>
            <a:endParaRPr lang="en-IN" sz="1100" b="1" dirty="0">
              <a:solidFill>
                <a:prstClr val="black"/>
              </a:solidFill>
              <a:latin typeface="Lato" panose="020F0502020204030203" pitchFamily="34" charset="0"/>
              <a:ea typeface="Lato" panose="020F0502020204030203" pitchFamily="34" charset="0"/>
              <a:cs typeface="Lato" panose="020F0502020204030203" pitchFamily="34" charset="0"/>
            </a:endParaRPr>
          </a:p>
          <a:p>
            <a:pPr defTabSz="914377" fontAlgn="base">
              <a:spcBef>
                <a:spcPct val="0"/>
              </a:spcBef>
              <a:spcAft>
                <a:spcPct val="0"/>
              </a:spcAft>
            </a:pPr>
            <a:endParaRPr lang="en-IN" sz="1100" b="1" dirty="0">
              <a:solidFill>
                <a:prstClr val="black"/>
              </a:solidFill>
              <a:latin typeface="Lato" panose="020F0502020204030203" pitchFamily="34" charset="0"/>
              <a:ea typeface="Lato" panose="020F0502020204030203" pitchFamily="34" charset="0"/>
              <a:cs typeface="Lato" panose="020F0502020204030203" pitchFamily="34" charset="0"/>
            </a:endParaRPr>
          </a:p>
          <a:p>
            <a:pPr defTabSz="914377" fontAlgn="base">
              <a:spcBef>
                <a:spcPct val="0"/>
              </a:spcBef>
              <a:spcAft>
                <a:spcPct val="0"/>
              </a:spcAft>
            </a:pPr>
            <a:endParaRPr lang="en-IN" sz="1100" dirty="0">
              <a:solidFill>
                <a:prstClr val="black"/>
              </a:solidFill>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4206775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0B5AA-B2E4-92C6-CF39-831A26FA9836}"/>
              </a:ext>
            </a:extLst>
          </p:cNvPr>
          <p:cNvSpPr>
            <a:spLocks noGrp="1"/>
          </p:cNvSpPr>
          <p:nvPr>
            <p:ph type="title"/>
          </p:nvPr>
        </p:nvSpPr>
        <p:spPr/>
        <p:txBody>
          <a:bodyPr/>
          <a:lstStyle/>
          <a:p>
            <a:r>
              <a:rPr lang="en-US"/>
              <a:t>Profiles Available for Immediate POD Ramp-Up</a:t>
            </a:r>
            <a:endParaRPr lang="en-IN"/>
          </a:p>
        </p:txBody>
      </p:sp>
      <p:sp>
        <p:nvSpPr>
          <p:cNvPr id="10" name="Rectangle: Rounded Corners 9">
            <a:extLst>
              <a:ext uri="{FF2B5EF4-FFF2-40B4-BE49-F238E27FC236}">
                <a16:creationId xmlns:a16="http://schemas.microsoft.com/office/drawing/2014/main" id="{7C70AA02-B46C-2ADB-F92B-2A993CD6174F}"/>
              </a:ext>
            </a:extLst>
          </p:cNvPr>
          <p:cNvSpPr/>
          <p:nvPr/>
        </p:nvSpPr>
        <p:spPr>
          <a:xfrm>
            <a:off x="992112" y="1278205"/>
            <a:ext cx="4554549" cy="2409756"/>
          </a:xfrm>
          <a:prstGeom prst="roundRect">
            <a:avLst>
              <a:gd name="adj" fmla="val 7832"/>
            </a:avLst>
          </a:prstGeom>
          <a:solidFill>
            <a:schemeClr val="tx2">
              <a:lumMod val="10000"/>
              <a:lumOff val="90000"/>
              <a:alpha val="4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180000" rIns="91440" bIns="45720" rtlCol="0" anchor="t"/>
          <a:lstStyle/>
          <a:p>
            <a:pPr algn="just">
              <a:spcBef>
                <a:spcPts val="400"/>
              </a:spcBef>
              <a:spcAft>
                <a:spcPts val="400"/>
              </a:spcAft>
              <a:buClr>
                <a:srgbClr val="0070C0"/>
              </a:buClr>
              <a:defRPr/>
            </a:pPr>
            <a:r>
              <a:rPr lang="en-US" sz="1200">
                <a:solidFill>
                  <a:schemeClr val="accent1">
                    <a:lumMod val="75000"/>
                  </a:schemeClr>
                </a:solidFill>
                <a:latin typeface="Lato" panose="020F0502020204030203" pitchFamily="34" charset="0"/>
                <a:ea typeface="Lato" panose="020F0502020204030203" pitchFamily="34" charset="0"/>
                <a:cs typeface="Lato" panose="020F0502020204030203" pitchFamily="34" charset="0"/>
              </a:rPr>
              <a:t>Bharat is a Senior Data Engineer  with 7+ years of experience in implementing Scalable Data Archi-</a:t>
            </a:r>
            <a:r>
              <a:rPr lang="en-US" sz="1200" err="1">
                <a:solidFill>
                  <a:schemeClr val="accent1">
                    <a:lumMod val="75000"/>
                  </a:schemeClr>
                </a:solidFill>
                <a:latin typeface="Lato" panose="020F0502020204030203" pitchFamily="34" charset="0"/>
                <a:ea typeface="Lato" panose="020F0502020204030203" pitchFamily="34" charset="0"/>
                <a:cs typeface="Lato" panose="020F0502020204030203" pitchFamily="34" charset="0"/>
              </a:rPr>
              <a:t>tecture</a:t>
            </a:r>
            <a:r>
              <a:rPr lang="en-US" sz="1200">
                <a:solidFill>
                  <a:schemeClr val="accent1">
                    <a:lumMod val="75000"/>
                  </a:schemeClr>
                </a:solidFill>
                <a:latin typeface="Lato" panose="020F0502020204030203" pitchFamily="34" charset="0"/>
                <a:ea typeface="Lato" panose="020F0502020204030203" pitchFamily="34" charset="0"/>
                <a:cs typeface="Lato" panose="020F0502020204030203" pitchFamily="34" charset="0"/>
              </a:rPr>
              <a:t>,  designing, build, and maintain ETL/ELT pipelines for Cloud &amp; Native Technical Solutions Architecture and has skills in Metadata Management. He is well-versed in big data solutions and can optimize data processing workflows for performance for Data-bricks, Azure, Fabric along-with Kafka, Python, SQL, Scala &amp; Spark. He is an excellent team member who can partner with key  stakeholders. </a:t>
            </a:r>
            <a:endParaRPr lang="en-IN" sz="1200" b="1">
              <a:solidFill>
                <a:schemeClr val="accent1">
                  <a:lumMod val="75000"/>
                </a:schemeClr>
              </a:solidFill>
              <a:latin typeface="Lato" panose="020F0502020204030203" pitchFamily="34" charset="0"/>
              <a:ea typeface="Lato" panose="020F0502020204030203" pitchFamily="34" charset="0"/>
              <a:cs typeface="Lato" panose="020F0502020204030203" pitchFamily="34" charset="0"/>
            </a:endParaRPr>
          </a:p>
          <a:p>
            <a:pPr marR="0" lvl="0" algn="just" defTabSz="914400" rtl="0" eaLnBrk="1" fontAlgn="auto" latinLnBrk="0" hangingPunct="1">
              <a:lnSpc>
                <a:spcPct val="100000"/>
              </a:lnSpc>
              <a:spcBef>
                <a:spcPts val="400"/>
              </a:spcBef>
              <a:spcAft>
                <a:spcPts val="400"/>
              </a:spcAft>
              <a:buClr>
                <a:srgbClr val="0070C0"/>
              </a:buClr>
              <a:buSzTx/>
              <a:tabLst/>
              <a:defRPr/>
            </a:pPr>
            <a:endParaRPr kumimoji="0" lang="en-US" sz="1200" b="0" i="0" u="none" strike="noStrike" kern="1200" cap="none" spc="0" normalizeH="0" baseline="0" noProof="0">
              <a:ln>
                <a:noFill/>
              </a:ln>
              <a:solidFill>
                <a:schemeClr val="accent1">
                  <a:lumMod val="75000"/>
                </a:schemeClr>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11" name="Rectangle: Rounded Corners 10">
            <a:extLst>
              <a:ext uri="{FF2B5EF4-FFF2-40B4-BE49-F238E27FC236}">
                <a16:creationId xmlns:a16="http://schemas.microsoft.com/office/drawing/2014/main" id="{1A002838-497F-EC50-4113-22ED668F950D}"/>
              </a:ext>
            </a:extLst>
          </p:cNvPr>
          <p:cNvSpPr/>
          <p:nvPr/>
        </p:nvSpPr>
        <p:spPr>
          <a:xfrm>
            <a:off x="988967" y="4199443"/>
            <a:ext cx="4557693" cy="2374037"/>
          </a:xfrm>
          <a:prstGeom prst="roundRect">
            <a:avLst>
              <a:gd name="adj" fmla="val 7832"/>
            </a:avLst>
          </a:prstGeom>
          <a:solidFill>
            <a:schemeClr val="tx2">
              <a:lumMod val="10000"/>
              <a:lumOff val="90000"/>
              <a:alpha val="4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180000" rIns="91440" bIns="45720" rtlCol="0" anchor="t"/>
          <a:lstStyle/>
          <a:p>
            <a:pPr algn="just" fontAlgn="base">
              <a:spcBef>
                <a:spcPts val="400"/>
              </a:spcBef>
              <a:spcAft>
                <a:spcPts val="400"/>
              </a:spcAft>
              <a:buClr>
                <a:srgbClr val="0070C0"/>
              </a:buClr>
              <a:defRPr/>
            </a:pPr>
            <a:r>
              <a:rPr lang="en-US" sz="1200">
                <a:solidFill>
                  <a:schemeClr val="accent1">
                    <a:lumMod val="75000"/>
                  </a:schemeClr>
                </a:solidFill>
                <a:latin typeface="Lato" panose="020F0502020204030203" pitchFamily="34" charset="0"/>
                <a:ea typeface="Lato" panose="020F0502020204030203" pitchFamily="34" charset="0"/>
                <a:cs typeface="Lato" panose="020F0502020204030203" pitchFamily="34" charset="0"/>
              </a:rPr>
              <a:t>Shaker has proven expertise for 8+ years in designing and implementing scalable ELT/ETL pipelines using Azure services, Databricks, </a:t>
            </a:r>
            <a:r>
              <a:rPr lang="en-US" sz="1200" err="1">
                <a:solidFill>
                  <a:schemeClr val="accent1">
                    <a:lumMod val="75000"/>
                  </a:schemeClr>
                </a:solidFill>
                <a:latin typeface="Lato" panose="020F0502020204030203" pitchFamily="34" charset="0"/>
                <a:ea typeface="Lato" panose="020F0502020204030203" pitchFamily="34" charset="0"/>
                <a:cs typeface="Lato" panose="020F0502020204030203" pitchFamily="34" charset="0"/>
              </a:rPr>
              <a:t>PySpark</a:t>
            </a:r>
            <a:r>
              <a:rPr lang="en-US" sz="1200">
                <a:solidFill>
                  <a:schemeClr val="accent1">
                    <a:lumMod val="75000"/>
                  </a:schemeClr>
                </a:solidFill>
                <a:latin typeface="Lato" panose="020F0502020204030203" pitchFamily="34" charset="0"/>
                <a:ea typeface="Lato" panose="020F0502020204030203" pitchFamily="34" charset="0"/>
                <a:cs typeface="Lato" panose="020F0502020204030203" pitchFamily="34" charset="0"/>
              </a:rPr>
              <a:t>, and SQL Server. He has a strong background in Python, data processing in real time, cloud automation, data transformation, and backend development. He has worked with structured and unstructured data and with SQL and NoSQL databases. Shaker is a team person who can partner with data analytics and other functions like software engineering to drive overall success. </a:t>
            </a:r>
          </a:p>
          <a:p>
            <a:pPr defTabSz="914377" fontAlgn="base">
              <a:spcBef>
                <a:spcPct val="0"/>
              </a:spcBef>
              <a:spcAft>
                <a:spcPct val="0"/>
              </a:spcAft>
            </a:pPr>
            <a:endParaRPr lang="en-US" sz="1200">
              <a:solidFill>
                <a:schemeClr val="accent1">
                  <a:lumMod val="75000"/>
                </a:schemeClr>
              </a:solidFill>
            </a:endParaRPr>
          </a:p>
        </p:txBody>
      </p:sp>
      <p:sp>
        <p:nvSpPr>
          <p:cNvPr id="12" name="Rectangle: Top Corners Rounded 11">
            <a:extLst>
              <a:ext uri="{FF2B5EF4-FFF2-40B4-BE49-F238E27FC236}">
                <a16:creationId xmlns:a16="http://schemas.microsoft.com/office/drawing/2014/main" id="{C1EE58AF-17A6-F6DB-C658-AD4C2A43AB8A}"/>
              </a:ext>
            </a:extLst>
          </p:cNvPr>
          <p:cNvSpPr/>
          <p:nvPr/>
        </p:nvSpPr>
        <p:spPr>
          <a:xfrm>
            <a:off x="1676012" y="3742716"/>
            <a:ext cx="3325641" cy="478102"/>
          </a:xfrm>
          <a:prstGeom prst="round2Same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Lato" panose="020F0502020204030203" pitchFamily="34" charset="0"/>
                <a:ea typeface="Lato" panose="020F0502020204030203" pitchFamily="34" charset="0"/>
                <a:cs typeface="Lato" panose="020F0502020204030203" pitchFamily="34" charset="0"/>
              </a:rPr>
              <a:t>Shaker </a:t>
            </a:r>
            <a:r>
              <a:rPr kumimoji="0" lang="en-US" sz="1400" b="1" i="0" u="none" strike="noStrike" kern="1200" cap="none" spc="0" normalizeH="0" baseline="0" noProof="0" err="1">
                <a:ln>
                  <a:noFill/>
                </a:ln>
                <a:solidFill>
                  <a:prstClr val="white"/>
                </a:solidFill>
                <a:effectLst/>
                <a:uLnTx/>
                <a:uFillTx/>
                <a:latin typeface="Lato" panose="020F0502020204030203" pitchFamily="34" charset="0"/>
                <a:ea typeface="Lato" panose="020F0502020204030203" pitchFamily="34" charset="0"/>
                <a:cs typeface="Lato" panose="020F0502020204030203" pitchFamily="34" charset="0"/>
              </a:rPr>
              <a:t>Pallapu</a:t>
            </a:r>
            <a:endParaRPr kumimoji="0" lang="en-US" sz="1400" b="1" i="0" u="none" strike="noStrike" kern="1200" cap="none" spc="0" normalizeH="0" baseline="0" noProof="0">
              <a:ln>
                <a:noFill/>
              </a:ln>
              <a:solidFill>
                <a:prstClr val="white"/>
              </a:solidFill>
              <a:effectLst/>
              <a:uLnTx/>
              <a:uFillTx/>
              <a:latin typeface="Lato" panose="020F0502020204030203" pitchFamily="34" charset="0"/>
              <a:ea typeface="Lato" panose="020F0502020204030203" pitchFamily="34" charset="0"/>
              <a:cs typeface="Lato" panose="020F0502020204030203"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Lato" panose="020F0502020204030203" pitchFamily="34" charset="0"/>
                <a:ea typeface="Lato" panose="020F0502020204030203" pitchFamily="34" charset="0"/>
                <a:cs typeface="Lato" panose="020F0502020204030203" pitchFamily="34" charset="0"/>
              </a:rPr>
              <a:t>Data Engineer</a:t>
            </a:r>
          </a:p>
        </p:txBody>
      </p:sp>
      <p:sp>
        <p:nvSpPr>
          <p:cNvPr id="13" name="Rectangle: Top Corners Rounded 12">
            <a:extLst>
              <a:ext uri="{FF2B5EF4-FFF2-40B4-BE49-F238E27FC236}">
                <a16:creationId xmlns:a16="http://schemas.microsoft.com/office/drawing/2014/main" id="{CD01F8D0-46B6-6123-311E-7FC4563E9D78}"/>
              </a:ext>
            </a:extLst>
          </p:cNvPr>
          <p:cNvSpPr/>
          <p:nvPr/>
        </p:nvSpPr>
        <p:spPr>
          <a:xfrm>
            <a:off x="1606567" y="814747"/>
            <a:ext cx="3325641" cy="478102"/>
          </a:xfrm>
          <a:prstGeom prst="round2Same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Lato" panose="020F0502020204030203" pitchFamily="34" charset="0"/>
                <a:ea typeface="Lato" panose="020F0502020204030203" pitchFamily="34" charset="0"/>
                <a:cs typeface="Lato" panose="020F0502020204030203" pitchFamily="34" charset="0"/>
              </a:rPr>
              <a:t>Bharat Teja</a:t>
            </a:r>
            <a:br>
              <a:rPr kumimoji="0" lang="en-US" sz="1400" b="1" i="0" u="none" strike="noStrike" kern="1200" cap="none" spc="0" normalizeH="0" baseline="0" noProof="0">
                <a:ln>
                  <a:noFill/>
                </a:ln>
                <a:solidFill>
                  <a:prstClr val="white"/>
                </a:solidFill>
                <a:effectLst/>
                <a:uLnTx/>
                <a:uFillTx/>
                <a:latin typeface="Lato" panose="020F0502020204030203" pitchFamily="34" charset="0"/>
                <a:ea typeface="Lato" panose="020F0502020204030203" pitchFamily="34" charset="0"/>
                <a:cs typeface="Lato" panose="020F0502020204030203" pitchFamily="34" charset="0"/>
              </a:rPr>
            </a:br>
            <a:r>
              <a:rPr kumimoji="0" lang="en-US" sz="1200" b="0" i="0" u="none" strike="noStrike" kern="1200" cap="none" spc="0" normalizeH="0" baseline="0" noProof="0">
                <a:ln>
                  <a:noFill/>
                </a:ln>
                <a:solidFill>
                  <a:prstClr val="white"/>
                </a:solidFill>
                <a:effectLst/>
                <a:uLnTx/>
                <a:uFillTx/>
                <a:latin typeface="Lato" panose="020F0502020204030203" pitchFamily="34" charset="0"/>
                <a:ea typeface="Lato" panose="020F0502020204030203" pitchFamily="34" charset="0"/>
                <a:cs typeface="Lato" panose="020F0502020204030203" pitchFamily="34" charset="0"/>
              </a:rPr>
              <a:t>Senior Data Engineer</a:t>
            </a:r>
          </a:p>
        </p:txBody>
      </p:sp>
      <p:sp>
        <p:nvSpPr>
          <p:cNvPr id="18" name="Rectangle: Rounded Corners 17">
            <a:extLst>
              <a:ext uri="{FF2B5EF4-FFF2-40B4-BE49-F238E27FC236}">
                <a16:creationId xmlns:a16="http://schemas.microsoft.com/office/drawing/2014/main" id="{87580594-8E3C-8572-0539-22AB2E01F68E}"/>
              </a:ext>
            </a:extLst>
          </p:cNvPr>
          <p:cNvSpPr/>
          <p:nvPr/>
        </p:nvSpPr>
        <p:spPr>
          <a:xfrm>
            <a:off x="6242351" y="1315597"/>
            <a:ext cx="4659229" cy="2405915"/>
          </a:xfrm>
          <a:prstGeom prst="roundRect">
            <a:avLst>
              <a:gd name="adj" fmla="val 7832"/>
            </a:avLst>
          </a:prstGeom>
          <a:solidFill>
            <a:schemeClr val="tx2">
              <a:lumMod val="10000"/>
              <a:lumOff val="90000"/>
              <a:alpha val="4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180000" rIns="91440" bIns="45720" rtlCol="0" anchor="t"/>
          <a:lstStyle/>
          <a:p>
            <a:pPr algn="just">
              <a:spcBef>
                <a:spcPts val="400"/>
              </a:spcBef>
              <a:spcAft>
                <a:spcPts val="400"/>
              </a:spcAft>
              <a:buClr>
                <a:srgbClr val="0070C0"/>
              </a:buClr>
              <a:defRPr/>
            </a:pPr>
            <a:r>
              <a:rPr lang="en-US" sz="1200">
                <a:solidFill>
                  <a:schemeClr val="accent1">
                    <a:lumMod val="75000"/>
                  </a:schemeClr>
                </a:solidFill>
                <a:latin typeface="Lato" panose="020F0502020204030203" pitchFamily="34" charset="0"/>
                <a:ea typeface="Lato" panose="020F0502020204030203" pitchFamily="34" charset="0"/>
                <a:cs typeface="Lato" panose="020F0502020204030203" pitchFamily="34" charset="0"/>
              </a:rPr>
              <a:t>Santosh is a Senior BI Engineer/Developer with 10+ years of experience delivering enterprise-scale data and analytics solutions with strong expertise in Power BI. He has proven ability to design and develop interactive dashboards, semantic data models, and advanced DAX calculations to support data-driven decision-making. Experienced in  Power BI governance, report optimization, and performance tuning to ensure secure and high-performing BI solutions and can collaborate with cross-functional stakeholders. </a:t>
            </a:r>
          </a:p>
          <a:p>
            <a:pPr algn="just">
              <a:spcBef>
                <a:spcPts val="400"/>
              </a:spcBef>
              <a:spcAft>
                <a:spcPts val="400"/>
              </a:spcAft>
              <a:buClr>
                <a:srgbClr val="0070C0"/>
              </a:buClr>
              <a:defRPr/>
            </a:pPr>
            <a:endParaRPr lang="en-US" sz="1200" b="0" i="0" u="none" strike="noStrike" kern="1200" cap="none" spc="0" normalizeH="0" baseline="0" noProof="0">
              <a:ln>
                <a:noFill/>
              </a:ln>
              <a:solidFill>
                <a:schemeClr val="accent1">
                  <a:lumMod val="75000"/>
                </a:schemeClr>
              </a:solidFill>
              <a:effectLst/>
              <a:uLnTx/>
              <a:uFillTx/>
              <a:latin typeface="Lato"/>
              <a:ea typeface="Lato"/>
              <a:cs typeface="Lato"/>
            </a:endParaRPr>
          </a:p>
        </p:txBody>
      </p:sp>
      <p:sp>
        <p:nvSpPr>
          <p:cNvPr id="19" name="Rectangle: Rounded Corners 18">
            <a:extLst>
              <a:ext uri="{FF2B5EF4-FFF2-40B4-BE49-F238E27FC236}">
                <a16:creationId xmlns:a16="http://schemas.microsoft.com/office/drawing/2014/main" id="{69C37ADB-2D39-42D0-46B0-1E337089B2ED}"/>
              </a:ext>
            </a:extLst>
          </p:cNvPr>
          <p:cNvSpPr/>
          <p:nvPr/>
        </p:nvSpPr>
        <p:spPr>
          <a:xfrm>
            <a:off x="6242351" y="4220818"/>
            <a:ext cx="4658774" cy="2351615"/>
          </a:xfrm>
          <a:prstGeom prst="roundRect">
            <a:avLst>
              <a:gd name="adj" fmla="val 7832"/>
            </a:avLst>
          </a:prstGeom>
          <a:solidFill>
            <a:schemeClr val="tx2">
              <a:lumMod val="10000"/>
              <a:lumOff val="90000"/>
              <a:alpha val="4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180000" rIns="91440" bIns="45720" rtlCol="0" anchor="t"/>
          <a:lstStyle/>
          <a:p>
            <a:pPr algn="just" fontAlgn="base">
              <a:spcBef>
                <a:spcPts val="400"/>
              </a:spcBef>
              <a:spcAft>
                <a:spcPts val="400"/>
              </a:spcAft>
              <a:buClr>
                <a:srgbClr val="0070C0"/>
              </a:buClr>
              <a:defRPr/>
            </a:pPr>
            <a:r>
              <a:rPr lang="en-US" sz="1200">
                <a:solidFill>
                  <a:schemeClr val="accent1">
                    <a:lumMod val="75000"/>
                  </a:schemeClr>
                </a:solidFill>
                <a:latin typeface="Lato" panose="020F0502020204030203" pitchFamily="34" charset="0"/>
                <a:ea typeface="Lato" panose="020F0502020204030203" pitchFamily="34" charset="0"/>
                <a:cs typeface="Lato" panose="020F0502020204030203" pitchFamily="34" charset="0"/>
              </a:rPr>
              <a:t>Saikiran is a Power BI Developer with 6+ years of hands-on experience in creating various reports and dashboards using Power BI and Tableau. He is a certified Power BI Professional. His analytical expertise includes implementing the BI life cycle from requirements analysis, design, development to  support/ maintenance phases. He is adept at troubleshooting and optimizing existing Power BI reports.  Sai is able to collaborate keenly with cross-functional teams can provide guidance and support to teams adopting Power BI. </a:t>
            </a:r>
          </a:p>
          <a:p>
            <a:pPr defTabSz="914377" fontAlgn="base">
              <a:spcBef>
                <a:spcPct val="0"/>
              </a:spcBef>
              <a:spcAft>
                <a:spcPct val="0"/>
              </a:spcAft>
            </a:pPr>
            <a:endParaRPr lang="en-IN" sz="1200" b="1">
              <a:solidFill>
                <a:prstClr val="black"/>
              </a:solidFill>
              <a:ea typeface="Lato" panose="020F0502020204030203" pitchFamily="34" charset="0"/>
              <a:cs typeface="Lato" panose="020F0502020204030203" pitchFamily="34" charset="0"/>
            </a:endParaRPr>
          </a:p>
        </p:txBody>
      </p:sp>
      <p:sp>
        <p:nvSpPr>
          <p:cNvPr id="20" name="Rectangle: Top Corners Rounded 19">
            <a:extLst>
              <a:ext uri="{FF2B5EF4-FFF2-40B4-BE49-F238E27FC236}">
                <a16:creationId xmlns:a16="http://schemas.microsoft.com/office/drawing/2014/main" id="{4A498389-EDC1-31BC-2409-D0141ED1A1F9}"/>
              </a:ext>
            </a:extLst>
          </p:cNvPr>
          <p:cNvSpPr/>
          <p:nvPr/>
        </p:nvSpPr>
        <p:spPr>
          <a:xfrm>
            <a:off x="6903193" y="3767575"/>
            <a:ext cx="3325641" cy="478102"/>
          </a:xfrm>
          <a:prstGeom prst="round2Same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Lato" panose="020F0502020204030203" pitchFamily="34" charset="0"/>
                <a:ea typeface="Lato" panose="020F0502020204030203" pitchFamily="34" charset="0"/>
                <a:cs typeface="Lato" panose="020F0502020204030203" pitchFamily="34" charset="0"/>
              </a:rPr>
              <a:t>Sai Kiran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Lato"/>
                <a:ea typeface="Lato"/>
                <a:cs typeface="Lato"/>
              </a:rPr>
              <a:t>Power BI </a:t>
            </a:r>
            <a:r>
              <a:rPr lang="en-US" sz="1200">
                <a:solidFill>
                  <a:prstClr val="white"/>
                </a:solidFill>
                <a:latin typeface="Lato"/>
                <a:ea typeface="Lato"/>
                <a:cs typeface="Lato"/>
              </a:rPr>
              <a:t>Engineer</a:t>
            </a:r>
            <a:endParaRPr lang="en-US" sz="1200" b="0" i="0" u="none" strike="noStrike" kern="1200" cap="none" spc="0" normalizeH="0" baseline="0" noProof="0">
              <a:ln>
                <a:noFill/>
              </a:ln>
              <a:solidFill>
                <a:prstClr val="white"/>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21" name="Rectangle: Top Corners Rounded 20">
            <a:extLst>
              <a:ext uri="{FF2B5EF4-FFF2-40B4-BE49-F238E27FC236}">
                <a16:creationId xmlns:a16="http://schemas.microsoft.com/office/drawing/2014/main" id="{DA76E5F6-DF4B-88A7-1367-A2E347E08AA7}"/>
              </a:ext>
            </a:extLst>
          </p:cNvPr>
          <p:cNvSpPr/>
          <p:nvPr/>
        </p:nvSpPr>
        <p:spPr>
          <a:xfrm>
            <a:off x="6787443" y="862756"/>
            <a:ext cx="3325641" cy="478102"/>
          </a:xfrm>
          <a:prstGeom prst="round2Same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Lato"/>
                <a:ea typeface="Lato"/>
                <a:cs typeface="Lato"/>
              </a:rPr>
              <a:t>Santosh Velma</a:t>
            </a:r>
            <a:br>
              <a:rPr lang="en-US" sz="1400" b="1" i="0"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rPr>
            </a:br>
            <a:r>
              <a:rPr lang="en-US" sz="1200">
                <a:solidFill>
                  <a:prstClr val="white"/>
                </a:solidFill>
                <a:latin typeface="Lato"/>
                <a:ea typeface="Lato"/>
                <a:cs typeface="Lato"/>
              </a:rPr>
              <a:t>Power</a:t>
            </a:r>
            <a:r>
              <a:rPr kumimoji="0" lang="en-US" sz="1200" b="0" i="0" u="none" strike="noStrike" kern="1200" cap="none" spc="0" normalizeH="0" baseline="0" noProof="0">
                <a:ln>
                  <a:noFill/>
                </a:ln>
                <a:solidFill>
                  <a:prstClr val="white"/>
                </a:solidFill>
                <a:effectLst/>
                <a:uLnTx/>
                <a:uFillTx/>
                <a:latin typeface="Lato"/>
                <a:ea typeface="Lato"/>
                <a:cs typeface="Lato"/>
              </a:rPr>
              <a:t> BI </a:t>
            </a:r>
            <a:r>
              <a:rPr lang="en-US" sz="1200">
                <a:solidFill>
                  <a:prstClr val="white"/>
                </a:solidFill>
                <a:latin typeface="Lato"/>
                <a:ea typeface="Lato"/>
                <a:cs typeface="Lato"/>
              </a:rPr>
              <a:t>Engineer</a:t>
            </a:r>
            <a:endParaRPr kumimoji="0" lang="en-US" sz="1200" b="0" i="0" u="none" strike="noStrike" kern="1200" cap="none" spc="0" normalizeH="0" baseline="0" noProof="0">
              <a:ln>
                <a:noFill/>
              </a:ln>
              <a:solidFill>
                <a:prstClr val="white"/>
              </a:solidFill>
              <a:effectLst/>
              <a:uLnTx/>
              <a:uFillTx/>
              <a:latin typeface="Lato"/>
              <a:ea typeface="Lato"/>
              <a:cs typeface="Lato"/>
            </a:endParaRPr>
          </a:p>
        </p:txBody>
      </p:sp>
      <p:pic>
        <p:nvPicPr>
          <p:cNvPr id="25" name="Graphic 24" descr="Office worker male outline">
            <a:extLst>
              <a:ext uri="{FF2B5EF4-FFF2-40B4-BE49-F238E27FC236}">
                <a16:creationId xmlns:a16="http://schemas.microsoft.com/office/drawing/2014/main" id="{B1397835-B4C5-BAA6-F9C8-2FCD31290E38}"/>
              </a:ext>
            </a:extLst>
          </p:cNvPr>
          <p:cNvPicPr>
            <a:picLocks noChangeAspect="1"/>
          </p:cNvPicPr>
          <p:nvPr/>
        </p:nvPicPr>
        <p:blipFill>
          <a:blip r:embed="rId2">
            <a:lum bright="100000"/>
            <a:extLst>
              <a:ext uri="{96DAC541-7B7A-43D3-8B79-37D633B846F1}">
                <asvg:svgBlip xmlns:asvg="http://schemas.microsoft.com/office/drawing/2016/SVG/main" r:embed="rId3"/>
              </a:ext>
            </a:extLst>
          </a:blip>
          <a:stretch>
            <a:fillRect/>
          </a:stretch>
        </p:blipFill>
        <p:spPr>
          <a:xfrm>
            <a:off x="6943341" y="939451"/>
            <a:ext cx="368762" cy="368762"/>
          </a:xfrm>
          <a:prstGeom prst="rect">
            <a:avLst/>
          </a:prstGeom>
        </p:spPr>
      </p:pic>
      <p:pic>
        <p:nvPicPr>
          <p:cNvPr id="26" name="Graphic 25" descr="Office worker male outline">
            <a:extLst>
              <a:ext uri="{FF2B5EF4-FFF2-40B4-BE49-F238E27FC236}">
                <a16:creationId xmlns:a16="http://schemas.microsoft.com/office/drawing/2014/main" id="{0F1F780D-C43C-06CE-FE70-0B7463F804D7}"/>
              </a:ext>
            </a:extLst>
          </p:cNvPr>
          <p:cNvPicPr>
            <a:picLocks noChangeAspect="1"/>
          </p:cNvPicPr>
          <p:nvPr/>
        </p:nvPicPr>
        <p:blipFill>
          <a:blip r:embed="rId2">
            <a:lum bright="100000"/>
            <a:extLst>
              <a:ext uri="{96DAC541-7B7A-43D3-8B79-37D633B846F1}">
                <asvg:svgBlip xmlns:asvg="http://schemas.microsoft.com/office/drawing/2016/SVG/main" r:embed="rId3"/>
              </a:ext>
            </a:extLst>
          </a:blip>
          <a:stretch>
            <a:fillRect/>
          </a:stretch>
        </p:blipFill>
        <p:spPr>
          <a:xfrm>
            <a:off x="7137060" y="3838829"/>
            <a:ext cx="368762" cy="368762"/>
          </a:xfrm>
          <a:prstGeom prst="rect">
            <a:avLst/>
          </a:prstGeom>
        </p:spPr>
      </p:pic>
      <p:pic>
        <p:nvPicPr>
          <p:cNvPr id="27" name="Graphic 26" descr="Office worker male outline">
            <a:extLst>
              <a:ext uri="{FF2B5EF4-FFF2-40B4-BE49-F238E27FC236}">
                <a16:creationId xmlns:a16="http://schemas.microsoft.com/office/drawing/2014/main" id="{973FAEEA-E53E-4D86-B2B0-1C5A47F3166A}"/>
              </a:ext>
            </a:extLst>
          </p:cNvPr>
          <p:cNvPicPr>
            <a:picLocks noChangeAspect="1"/>
          </p:cNvPicPr>
          <p:nvPr/>
        </p:nvPicPr>
        <p:blipFill>
          <a:blip r:embed="rId2">
            <a:lum bright="100000"/>
            <a:extLst>
              <a:ext uri="{96DAC541-7B7A-43D3-8B79-37D633B846F1}">
                <asvg:svgBlip xmlns:asvg="http://schemas.microsoft.com/office/drawing/2016/SVG/main" r:embed="rId3"/>
              </a:ext>
            </a:extLst>
          </a:blip>
          <a:stretch>
            <a:fillRect/>
          </a:stretch>
        </p:blipFill>
        <p:spPr>
          <a:xfrm>
            <a:off x="1734108" y="849577"/>
            <a:ext cx="368762" cy="368762"/>
          </a:xfrm>
          <a:prstGeom prst="rect">
            <a:avLst/>
          </a:prstGeom>
        </p:spPr>
      </p:pic>
      <p:pic>
        <p:nvPicPr>
          <p:cNvPr id="28" name="Graphic 27" descr="Office worker male outline">
            <a:extLst>
              <a:ext uri="{FF2B5EF4-FFF2-40B4-BE49-F238E27FC236}">
                <a16:creationId xmlns:a16="http://schemas.microsoft.com/office/drawing/2014/main" id="{F4B61DC6-7F96-437C-36C4-4105E5E46E51}"/>
              </a:ext>
            </a:extLst>
          </p:cNvPr>
          <p:cNvPicPr>
            <a:picLocks noChangeAspect="1"/>
          </p:cNvPicPr>
          <p:nvPr/>
        </p:nvPicPr>
        <p:blipFill>
          <a:blip r:embed="rId2">
            <a:lum bright="100000"/>
            <a:extLst>
              <a:ext uri="{96DAC541-7B7A-43D3-8B79-37D633B846F1}">
                <asvg:svgBlip xmlns:asvg="http://schemas.microsoft.com/office/drawing/2016/SVG/main" r:embed="rId3"/>
              </a:ext>
            </a:extLst>
          </a:blip>
          <a:stretch>
            <a:fillRect/>
          </a:stretch>
        </p:blipFill>
        <p:spPr>
          <a:xfrm>
            <a:off x="1881522" y="3772105"/>
            <a:ext cx="368762" cy="368762"/>
          </a:xfrm>
          <a:prstGeom prst="rect">
            <a:avLst/>
          </a:prstGeom>
        </p:spPr>
      </p:pic>
    </p:spTree>
    <p:extLst>
      <p:ext uri="{BB962C8B-B14F-4D97-AF65-F5344CB8AC3E}">
        <p14:creationId xmlns:p14="http://schemas.microsoft.com/office/powerpoint/2010/main" val="1003619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3ABA1-C118-49F2-266F-8F142B063FBE}"/>
              </a:ext>
            </a:extLst>
          </p:cNvPr>
          <p:cNvSpPr>
            <a:spLocks noGrp="1"/>
          </p:cNvSpPr>
          <p:nvPr>
            <p:ph type="title"/>
          </p:nvPr>
        </p:nvSpPr>
        <p:spPr/>
        <p:txBody>
          <a:bodyPr>
            <a:normAutofit/>
          </a:bodyPr>
          <a:lstStyle/>
          <a:p>
            <a:r>
              <a:rPr lang="en-US"/>
              <a:t>Transition &amp; Knowledge Transfer Approach</a:t>
            </a:r>
            <a:endParaRPr lang="en-IN"/>
          </a:p>
        </p:txBody>
      </p:sp>
      <p:grpSp>
        <p:nvGrpSpPr>
          <p:cNvPr id="3" name="Group 2">
            <a:extLst>
              <a:ext uri="{FF2B5EF4-FFF2-40B4-BE49-F238E27FC236}">
                <a16:creationId xmlns:a16="http://schemas.microsoft.com/office/drawing/2014/main" id="{DAC85D94-F222-9E8D-2469-001C6F55A6F4}"/>
              </a:ext>
            </a:extLst>
          </p:cNvPr>
          <p:cNvGrpSpPr/>
          <p:nvPr/>
        </p:nvGrpSpPr>
        <p:grpSpPr>
          <a:xfrm>
            <a:off x="1239723" y="807411"/>
            <a:ext cx="9258926" cy="408914"/>
            <a:chOff x="1466537" y="721617"/>
            <a:chExt cx="9258926" cy="408914"/>
          </a:xfrm>
        </p:grpSpPr>
        <p:sp>
          <p:nvSpPr>
            <p:cNvPr id="4" name="Rounded Rectangle 4">
              <a:extLst>
                <a:ext uri="{FF2B5EF4-FFF2-40B4-BE49-F238E27FC236}">
                  <a16:creationId xmlns:a16="http://schemas.microsoft.com/office/drawing/2014/main" id="{355812C2-F292-AE54-7181-DB3849FF3EDB}"/>
                </a:ext>
              </a:extLst>
            </p:cNvPr>
            <p:cNvSpPr/>
            <p:nvPr/>
          </p:nvSpPr>
          <p:spPr>
            <a:xfrm>
              <a:off x="1466537" y="814795"/>
              <a:ext cx="9258926" cy="222559"/>
            </a:xfrm>
            <a:prstGeom prst="roundRect">
              <a:avLst>
                <a:gd name="adj" fmla="val 0"/>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Lato" panose="020F0502020204030203" pitchFamily="34" charset="0"/>
                <a:ea typeface="Lato" panose="020F0502020204030203" pitchFamily="34" charset="0"/>
                <a:cs typeface="Lato" panose="020F0502020204030203" pitchFamily="34" charset="0"/>
              </a:endParaRPr>
            </a:p>
          </p:txBody>
        </p:sp>
        <p:sp>
          <p:nvSpPr>
            <p:cNvPr id="5" name="Rounded Rectangle 2">
              <a:extLst>
                <a:ext uri="{FF2B5EF4-FFF2-40B4-BE49-F238E27FC236}">
                  <a16:creationId xmlns:a16="http://schemas.microsoft.com/office/drawing/2014/main" id="{806893A7-FF94-3391-E947-D0D6ECC2F448}"/>
                </a:ext>
              </a:extLst>
            </p:cNvPr>
            <p:cNvSpPr/>
            <p:nvPr/>
          </p:nvSpPr>
          <p:spPr>
            <a:xfrm>
              <a:off x="1962307" y="721617"/>
              <a:ext cx="8267386" cy="408914"/>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latin typeface="Lato" panose="020F0502020204030203" pitchFamily="34" charset="0"/>
                  <a:ea typeface="Lato" panose="020F0502020204030203" pitchFamily="34" charset="0"/>
                  <a:cs typeface="Lato" panose="020F0502020204030203" pitchFamily="34" charset="0"/>
                </a:rPr>
                <a:t>Discovery &amp; Access → Shadow &amp; Learning → Reverse Shadow → Independent Ownership</a:t>
              </a:r>
            </a:p>
          </p:txBody>
        </p:sp>
      </p:grpSp>
      <p:sp>
        <p:nvSpPr>
          <p:cNvPr id="7" name="Oval 6">
            <a:extLst>
              <a:ext uri="{FF2B5EF4-FFF2-40B4-BE49-F238E27FC236}">
                <a16:creationId xmlns:a16="http://schemas.microsoft.com/office/drawing/2014/main" id="{45A4EFC5-C58B-0DB0-3BCA-767FA756315E}"/>
              </a:ext>
            </a:extLst>
          </p:cNvPr>
          <p:cNvSpPr/>
          <p:nvPr/>
        </p:nvSpPr>
        <p:spPr>
          <a:xfrm>
            <a:off x="2092103" y="1453612"/>
            <a:ext cx="700159" cy="700159"/>
          </a:xfrm>
          <a:prstGeom prst="ellipse">
            <a:avLst/>
          </a:prstGeom>
          <a:solidFill>
            <a:srgbClr val="00B0F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A5F771D-C68D-E5B2-B7AA-F608A85FB5AD}"/>
              </a:ext>
            </a:extLst>
          </p:cNvPr>
          <p:cNvSpPr/>
          <p:nvPr/>
        </p:nvSpPr>
        <p:spPr>
          <a:xfrm>
            <a:off x="1103121" y="1811999"/>
            <a:ext cx="2678121" cy="4703077"/>
          </a:xfrm>
          <a:prstGeom prst="rect">
            <a:avLst/>
          </a:prstGeom>
          <a:solidFill>
            <a:schemeClr val="bg1">
              <a:alpha val="67000"/>
            </a:schemeClr>
          </a:solidFill>
          <a:ln w="6350">
            <a:solidFill>
              <a:srgbClr val="00B0F0"/>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25549A12-1320-F59F-D91D-D69E8A1C0AC8}"/>
              </a:ext>
            </a:extLst>
          </p:cNvPr>
          <p:cNvSpPr/>
          <p:nvPr/>
        </p:nvSpPr>
        <p:spPr>
          <a:xfrm>
            <a:off x="2141159" y="1506454"/>
            <a:ext cx="602047" cy="602047"/>
          </a:xfrm>
          <a:prstGeom prst="ellipse">
            <a:avLst/>
          </a:prstGeom>
          <a:solidFill>
            <a:srgbClr val="0070C0"/>
          </a:solid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D1B07FA4-5313-E799-1547-AF30FCEC22D5}"/>
              </a:ext>
            </a:extLst>
          </p:cNvPr>
          <p:cNvPicPr>
            <a:picLocks noChangeAspect="1"/>
          </p:cNvPicPr>
          <p:nvPr/>
        </p:nvPicPr>
        <p:blipFill>
          <a:blip r:embed="rId3" cstate="screen">
            <a:duotone>
              <a:schemeClr val="accent1">
                <a:shade val="45000"/>
                <a:satMod val="135000"/>
              </a:schemeClr>
              <a:prstClr val="white"/>
            </a:duotone>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rcRect/>
          <a:stretch/>
        </p:blipFill>
        <p:spPr>
          <a:xfrm>
            <a:off x="2250145" y="1619955"/>
            <a:ext cx="390596" cy="390595"/>
          </a:xfrm>
          <a:prstGeom prst="rect">
            <a:avLst/>
          </a:prstGeom>
        </p:spPr>
      </p:pic>
      <p:sp>
        <p:nvSpPr>
          <p:cNvPr id="12" name="Oval 11">
            <a:extLst>
              <a:ext uri="{FF2B5EF4-FFF2-40B4-BE49-F238E27FC236}">
                <a16:creationId xmlns:a16="http://schemas.microsoft.com/office/drawing/2014/main" id="{A558C525-EE70-B80B-152C-795FB9F6C294}"/>
              </a:ext>
            </a:extLst>
          </p:cNvPr>
          <p:cNvSpPr/>
          <p:nvPr/>
        </p:nvSpPr>
        <p:spPr>
          <a:xfrm>
            <a:off x="4841440" y="1453186"/>
            <a:ext cx="700159" cy="700159"/>
          </a:xfrm>
          <a:prstGeom prst="ellipse">
            <a:avLst/>
          </a:prstGeom>
          <a:solidFill>
            <a:srgbClr val="00B0F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4CDEEE3-BCCE-FF7E-6A65-11B89ACE9D0D}"/>
              </a:ext>
            </a:extLst>
          </p:cNvPr>
          <p:cNvSpPr/>
          <p:nvPr/>
        </p:nvSpPr>
        <p:spPr>
          <a:xfrm>
            <a:off x="3852458" y="1811573"/>
            <a:ext cx="2678121" cy="4703515"/>
          </a:xfrm>
          <a:prstGeom prst="rect">
            <a:avLst/>
          </a:prstGeom>
          <a:solidFill>
            <a:schemeClr val="bg1">
              <a:alpha val="67000"/>
            </a:schemeClr>
          </a:solidFill>
          <a:ln w="6350">
            <a:solidFill>
              <a:srgbClr val="00B0F0"/>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B74B44DA-389B-8A2E-D37F-52809BC7466D}"/>
              </a:ext>
            </a:extLst>
          </p:cNvPr>
          <p:cNvSpPr/>
          <p:nvPr/>
        </p:nvSpPr>
        <p:spPr>
          <a:xfrm>
            <a:off x="4890496" y="1506028"/>
            <a:ext cx="602047" cy="602047"/>
          </a:xfrm>
          <a:prstGeom prst="ellipse">
            <a:avLst/>
          </a:prstGeom>
          <a:solidFill>
            <a:srgbClr val="0070C0"/>
          </a:solid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E26CCAA9-3F6E-80DF-F513-47599AC2EAA6}"/>
              </a:ext>
            </a:extLst>
          </p:cNvPr>
          <p:cNvPicPr>
            <a:picLocks noChangeAspect="1"/>
          </p:cNvPicPr>
          <p:nvPr/>
        </p:nvPicPr>
        <p:blipFill>
          <a:blip r:embed="rId5" cstate="screen">
            <a:duotone>
              <a:schemeClr val="accent1">
                <a:shade val="45000"/>
                <a:satMod val="135000"/>
              </a:schemeClr>
              <a:prstClr val="white"/>
            </a:duotone>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a:ext>
            </a:extLst>
          </a:blip>
          <a:srcRect/>
          <a:stretch/>
        </p:blipFill>
        <p:spPr>
          <a:xfrm>
            <a:off x="4999482" y="1588168"/>
            <a:ext cx="390596" cy="390595"/>
          </a:xfrm>
          <a:prstGeom prst="rect">
            <a:avLst/>
          </a:prstGeom>
        </p:spPr>
      </p:pic>
      <p:sp>
        <p:nvSpPr>
          <p:cNvPr id="17" name="Oval 16">
            <a:extLst>
              <a:ext uri="{FF2B5EF4-FFF2-40B4-BE49-F238E27FC236}">
                <a16:creationId xmlns:a16="http://schemas.microsoft.com/office/drawing/2014/main" id="{44016BE3-5E33-12B0-38A0-B31739BD8705}"/>
              </a:ext>
            </a:extLst>
          </p:cNvPr>
          <p:cNvSpPr/>
          <p:nvPr/>
        </p:nvSpPr>
        <p:spPr>
          <a:xfrm>
            <a:off x="7590778" y="1452761"/>
            <a:ext cx="700159" cy="700159"/>
          </a:xfrm>
          <a:prstGeom prst="ellipse">
            <a:avLst/>
          </a:prstGeom>
          <a:solidFill>
            <a:srgbClr val="00B0F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9692C18-B0F0-FC57-D77C-50F7363E949E}"/>
              </a:ext>
            </a:extLst>
          </p:cNvPr>
          <p:cNvSpPr/>
          <p:nvPr/>
        </p:nvSpPr>
        <p:spPr>
          <a:xfrm>
            <a:off x="6601796" y="1811148"/>
            <a:ext cx="2678121" cy="4703952"/>
          </a:xfrm>
          <a:prstGeom prst="rect">
            <a:avLst/>
          </a:prstGeom>
          <a:solidFill>
            <a:schemeClr val="bg1">
              <a:alpha val="67000"/>
            </a:schemeClr>
          </a:solidFill>
          <a:ln w="6350">
            <a:solidFill>
              <a:srgbClr val="00B0F0"/>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C6120102-9EB1-AAB6-4795-448C8A43E544}"/>
              </a:ext>
            </a:extLst>
          </p:cNvPr>
          <p:cNvSpPr/>
          <p:nvPr/>
        </p:nvSpPr>
        <p:spPr>
          <a:xfrm>
            <a:off x="7639834" y="1505603"/>
            <a:ext cx="602047" cy="602047"/>
          </a:xfrm>
          <a:prstGeom prst="ellipse">
            <a:avLst/>
          </a:prstGeom>
          <a:solidFill>
            <a:srgbClr val="0070C0"/>
          </a:solid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E7A11735-0F76-0F5D-FBB0-167FBDB7B51E}"/>
              </a:ext>
            </a:extLst>
          </p:cNvPr>
          <p:cNvPicPr>
            <a:picLocks noChangeAspect="1"/>
          </p:cNvPicPr>
          <p:nvPr/>
        </p:nvPicPr>
        <p:blipFill>
          <a:blip r:embed="rId7" cstate="screen">
            <a:duotone>
              <a:schemeClr val="accent1">
                <a:shade val="45000"/>
                <a:satMod val="135000"/>
              </a:schemeClr>
              <a:prstClr val="white"/>
            </a:duotone>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a:ext>
            </a:extLst>
          </a:blip>
          <a:srcRect/>
          <a:stretch/>
        </p:blipFill>
        <p:spPr>
          <a:xfrm>
            <a:off x="7748820" y="1606559"/>
            <a:ext cx="390596" cy="390595"/>
          </a:xfrm>
          <a:prstGeom prst="rect">
            <a:avLst/>
          </a:prstGeom>
        </p:spPr>
      </p:pic>
      <p:sp>
        <p:nvSpPr>
          <p:cNvPr id="22" name="Oval 21">
            <a:extLst>
              <a:ext uri="{FF2B5EF4-FFF2-40B4-BE49-F238E27FC236}">
                <a16:creationId xmlns:a16="http://schemas.microsoft.com/office/drawing/2014/main" id="{2625C6DA-5C70-F71F-0659-CC62C570D662}"/>
              </a:ext>
            </a:extLst>
          </p:cNvPr>
          <p:cNvSpPr/>
          <p:nvPr/>
        </p:nvSpPr>
        <p:spPr>
          <a:xfrm>
            <a:off x="10340115" y="1452335"/>
            <a:ext cx="700159" cy="700159"/>
          </a:xfrm>
          <a:prstGeom prst="ellipse">
            <a:avLst/>
          </a:prstGeom>
          <a:solidFill>
            <a:srgbClr val="00B0F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885165B-9A86-EF5C-DB14-B6394B555FAC}"/>
              </a:ext>
            </a:extLst>
          </p:cNvPr>
          <p:cNvSpPr/>
          <p:nvPr/>
        </p:nvSpPr>
        <p:spPr>
          <a:xfrm>
            <a:off x="9351133" y="1810722"/>
            <a:ext cx="2678121" cy="4704390"/>
          </a:xfrm>
          <a:prstGeom prst="rect">
            <a:avLst/>
          </a:prstGeom>
          <a:solidFill>
            <a:schemeClr val="bg1">
              <a:alpha val="67000"/>
            </a:schemeClr>
          </a:solidFill>
          <a:ln w="6350">
            <a:solidFill>
              <a:srgbClr val="00B0F0"/>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AF1B9191-D970-91CC-CDB3-E13CD4612280}"/>
              </a:ext>
            </a:extLst>
          </p:cNvPr>
          <p:cNvSpPr/>
          <p:nvPr/>
        </p:nvSpPr>
        <p:spPr>
          <a:xfrm>
            <a:off x="10389171" y="1505177"/>
            <a:ext cx="602047" cy="602047"/>
          </a:xfrm>
          <a:prstGeom prst="ellipse">
            <a:avLst/>
          </a:prstGeom>
          <a:solidFill>
            <a:srgbClr val="0070C0"/>
          </a:solid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8A857DA6-89B8-19DC-B2FB-1FF439DF8C3D}"/>
              </a:ext>
            </a:extLst>
          </p:cNvPr>
          <p:cNvPicPr>
            <a:picLocks noChangeAspect="1"/>
          </p:cNvPicPr>
          <p:nvPr/>
        </p:nvPicPr>
        <p:blipFill>
          <a:blip r:embed="rId9" cstate="screen">
            <a:duotone>
              <a:schemeClr val="accent1">
                <a:shade val="45000"/>
                <a:satMod val="135000"/>
              </a:schemeClr>
              <a:prstClr val="white"/>
            </a:duotone>
            <a:extLst>
              <a:ext uri="{BEBA8EAE-BF5A-486C-A8C5-ECC9F3942E4B}">
                <a14:imgProps xmlns:a14="http://schemas.microsoft.com/office/drawing/2010/main">
                  <a14:imgLayer r:embed="rId10">
                    <a14:imgEffect>
                      <a14:brightnessContrast bright="100000"/>
                    </a14:imgEffect>
                  </a14:imgLayer>
                </a14:imgProps>
              </a:ext>
              <a:ext uri="{28A0092B-C50C-407E-A947-70E740481C1C}">
                <a14:useLocalDpi xmlns:a14="http://schemas.microsoft.com/office/drawing/2010/main"/>
              </a:ext>
            </a:extLst>
          </a:blip>
          <a:srcRect/>
          <a:stretch/>
        </p:blipFill>
        <p:spPr>
          <a:xfrm>
            <a:off x="10510702" y="1624950"/>
            <a:ext cx="384074" cy="384073"/>
          </a:xfrm>
          <a:prstGeom prst="rect">
            <a:avLst/>
          </a:prstGeom>
        </p:spPr>
      </p:pic>
      <p:sp>
        <p:nvSpPr>
          <p:cNvPr id="26" name="Right Arrow 3">
            <a:extLst>
              <a:ext uri="{FF2B5EF4-FFF2-40B4-BE49-F238E27FC236}">
                <a16:creationId xmlns:a16="http://schemas.microsoft.com/office/drawing/2014/main" id="{A40F800A-DD2E-3D1A-A100-9EDF1FDA3ACC}"/>
              </a:ext>
            </a:extLst>
          </p:cNvPr>
          <p:cNvSpPr/>
          <p:nvPr/>
        </p:nvSpPr>
        <p:spPr>
          <a:xfrm>
            <a:off x="2959523" y="1601919"/>
            <a:ext cx="1714656" cy="134949"/>
          </a:xfrm>
          <a:prstGeom prst="rightArrow">
            <a:avLst>
              <a:gd name="adj1" fmla="val 50000"/>
              <a:gd name="adj2" fmla="val 134530"/>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ight Arrow 6">
            <a:extLst>
              <a:ext uri="{FF2B5EF4-FFF2-40B4-BE49-F238E27FC236}">
                <a16:creationId xmlns:a16="http://schemas.microsoft.com/office/drawing/2014/main" id="{51351A6C-9914-6F3E-E636-2DB8B18A9B99}"/>
              </a:ext>
            </a:extLst>
          </p:cNvPr>
          <p:cNvSpPr/>
          <p:nvPr/>
        </p:nvSpPr>
        <p:spPr>
          <a:xfrm>
            <a:off x="5708286" y="1601919"/>
            <a:ext cx="1714656" cy="134949"/>
          </a:xfrm>
          <a:prstGeom prst="rightArrow">
            <a:avLst>
              <a:gd name="adj1" fmla="val 50000"/>
              <a:gd name="adj2" fmla="val 134530"/>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ight Arrow 9">
            <a:extLst>
              <a:ext uri="{FF2B5EF4-FFF2-40B4-BE49-F238E27FC236}">
                <a16:creationId xmlns:a16="http://schemas.microsoft.com/office/drawing/2014/main" id="{F7D5C797-7253-9C86-148A-1BB0CB58E97B}"/>
              </a:ext>
            </a:extLst>
          </p:cNvPr>
          <p:cNvSpPr/>
          <p:nvPr/>
        </p:nvSpPr>
        <p:spPr>
          <a:xfrm>
            <a:off x="8457050" y="1601919"/>
            <a:ext cx="1714656" cy="134949"/>
          </a:xfrm>
          <a:prstGeom prst="rightArrow">
            <a:avLst>
              <a:gd name="adj1" fmla="val 50000"/>
              <a:gd name="adj2" fmla="val 134530"/>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6A84C967-00A3-F102-F7BD-4C22A97057EB}"/>
              </a:ext>
            </a:extLst>
          </p:cNvPr>
          <p:cNvSpPr/>
          <p:nvPr/>
        </p:nvSpPr>
        <p:spPr>
          <a:xfrm>
            <a:off x="1103121" y="2181941"/>
            <a:ext cx="10926132" cy="404946"/>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E6E34F8E-5309-A8E0-62A6-9D4351D0F9F8}"/>
              </a:ext>
            </a:extLst>
          </p:cNvPr>
          <p:cNvSpPr txBox="1"/>
          <p:nvPr/>
        </p:nvSpPr>
        <p:spPr>
          <a:xfrm>
            <a:off x="1103121" y="2239822"/>
            <a:ext cx="2678121" cy="261610"/>
          </a:xfrm>
          <a:prstGeom prst="rect">
            <a:avLst/>
          </a:prstGeom>
          <a:noFill/>
        </p:spPr>
        <p:txBody>
          <a:bodyPr wrap="square">
            <a:spAutoFit/>
          </a:bodyPr>
          <a:lstStyle/>
          <a:p>
            <a:pPr algn="ctr"/>
            <a:r>
              <a:rPr lang="en-US" sz="1100" b="1">
                <a:solidFill>
                  <a:srgbClr val="0070C0"/>
                </a:solidFill>
                <a:latin typeface="Lato" panose="020F0502020204030203" pitchFamily="34" charset="0"/>
                <a:ea typeface="Lato" panose="020F0502020204030203" pitchFamily="34" charset="0"/>
                <a:cs typeface="Lato" panose="020F0502020204030203" pitchFamily="34" charset="0"/>
              </a:rPr>
              <a:t>Discovery &amp; Environment Readiness</a:t>
            </a:r>
            <a:endParaRPr lang="en-US" sz="1100">
              <a:latin typeface="Lato" panose="020F0502020204030203" pitchFamily="34" charset="0"/>
              <a:ea typeface="Lato" panose="020F0502020204030203" pitchFamily="34" charset="0"/>
              <a:cs typeface="Lato" panose="020F0502020204030203" pitchFamily="34" charset="0"/>
            </a:endParaRPr>
          </a:p>
        </p:txBody>
      </p:sp>
      <p:sp>
        <p:nvSpPr>
          <p:cNvPr id="31" name="TextBox 30">
            <a:extLst>
              <a:ext uri="{FF2B5EF4-FFF2-40B4-BE49-F238E27FC236}">
                <a16:creationId xmlns:a16="http://schemas.microsoft.com/office/drawing/2014/main" id="{383187B0-AF9E-E476-AAC9-B961B27C3D42}"/>
              </a:ext>
            </a:extLst>
          </p:cNvPr>
          <p:cNvSpPr txBox="1"/>
          <p:nvPr/>
        </p:nvSpPr>
        <p:spPr>
          <a:xfrm>
            <a:off x="3852459" y="2239822"/>
            <a:ext cx="2678120" cy="430887"/>
          </a:xfrm>
          <a:prstGeom prst="rect">
            <a:avLst/>
          </a:prstGeom>
          <a:noFill/>
        </p:spPr>
        <p:txBody>
          <a:bodyPr wrap="square">
            <a:spAutoFit/>
          </a:bodyPr>
          <a:lstStyle/>
          <a:p>
            <a:pPr algn="ctr"/>
            <a:r>
              <a:rPr lang="en-US" sz="1100" b="1">
                <a:solidFill>
                  <a:srgbClr val="0070C0"/>
                </a:solidFill>
                <a:latin typeface="Lato" panose="020F0502020204030203" pitchFamily="34" charset="0"/>
                <a:ea typeface="Lato" panose="020F0502020204030203" pitchFamily="34" charset="0"/>
                <a:cs typeface="Lato" panose="020F0502020204030203" pitchFamily="34" charset="0"/>
              </a:rPr>
              <a:t>Shadow Execution &amp; Knowledge Capture</a:t>
            </a:r>
          </a:p>
        </p:txBody>
      </p:sp>
      <p:sp>
        <p:nvSpPr>
          <p:cNvPr id="32" name="TextBox 31">
            <a:extLst>
              <a:ext uri="{FF2B5EF4-FFF2-40B4-BE49-F238E27FC236}">
                <a16:creationId xmlns:a16="http://schemas.microsoft.com/office/drawing/2014/main" id="{1B2A170E-AD33-F9FE-B7F1-6371BA6A0416}"/>
              </a:ext>
            </a:extLst>
          </p:cNvPr>
          <p:cNvSpPr txBox="1"/>
          <p:nvPr/>
        </p:nvSpPr>
        <p:spPr>
          <a:xfrm>
            <a:off x="6601796" y="2160280"/>
            <a:ext cx="2678123" cy="261610"/>
          </a:xfrm>
          <a:prstGeom prst="rect">
            <a:avLst/>
          </a:prstGeom>
          <a:noFill/>
        </p:spPr>
        <p:txBody>
          <a:bodyPr wrap="square">
            <a:spAutoFit/>
          </a:bodyPr>
          <a:lstStyle/>
          <a:p>
            <a:pPr algn="ctr"/>
            <a:r>
              <a:rPr lang="en-US" sz="1100" b="1">
                <a:solidFill>
                  <a:srgbClr val="0070C0"/>
                </a:solidFill>
                <a:latin typeface="Lato" panose="020F0502020204030203" pitchFamily="34" charset="0"/>
                <a:ea typeface="Lato" panose="020F0502020204030203" pitchFamily="34" charset="0"/>
                <a:cs typeface="Lato" panose="020F0502020204030203" pitchFamily="34" charset="0"/>
              </a:rPr>
              <a:t>Reverse Shadow &amp; Validation</a:t>
            </a:r>
            <a:endParaRPr lang="en-US" sz="1100" b="1">
              <a:solidFill>
                <a:srgbClr val="00B0F0"/>
              </a:solidFill>
              <a:latin typeface="Lato" panose="020F0502020204030203" pitchFamily="34" charset="0"/>
              <a:ea typeface="Lato" panose="020F0502020204030203" pitchFamily="34" charset="0"/>
              <a:cs typeface="Lato" panose="020F0502020204030203" pitchFamily="34" charset="0"/>
            </a:endParaRPr>
          </a:p>
        </p:txBody>
      </p:sp>
      <p:sp>
        <p:nvSpPr>
          <p:cNvPr id="33" name="TextBox 32">
            <a:extLst>
              <a:ext uri="{FF2B5EF4-FFF2-40B4-BE49-F238E27FC236}">
                <a16:creationId xmlns:a16="http://schemas.microsoft.com/office/drawing/2014/main" id="{46119DAB-F2AF-7FEB-C76C-02D2AA026C1D}"/>
              </a:ext>
            </a:extLst>
          </p:cNvPr>
          <p:cNvSpPr txBox="1"/>
          <p:nvPr/>
        </p:nvSpPr>
        <p:spPr>
          <a:xfrm>
            <a:off x="9351136" y="2160280"/>
            <a:ext cx="2678119" cy="261610"/>
          </a:xfrm>
          <a:prstGeom prst="rect">
            <a:avLst/>
          </a:prstGeom>
          <a:noFill/>
        </p:spPr>
        <p:txBody>
          <a:bodyPr wrap="square">
            <a:spAutoFit/>
          </a:bodyPr>
          <a:lstStyle/>
          <a:p>
            <a:pPr algn="ctr"/>
            <a:r>
              <a:rPr lang="en-US" sz="1100" b="1">
                <a:solidFill>
                  <a:srgbClr val="0070C0"/>
                </a:solidFill>
                <a:latin typeface="Lato" panose="020F0502020204030203" pitchFamily="34" charset="0"/>
                <a:ea typeface="Lato" panose="020F0502020204030203" pitchFamily="34" charset="0"/>
                <a:cs typeface="Lato" panose="020F0502020204030203" pitchFamily="34" charset="0"/>
              </a:rPr>
              <a:t>Independent Ownership &amp; Stabilization</a:t>
            </a:r>
          </a:p>
        </p:txBody>
      </p:sp>
      <p:sp>
        <p:nvSpPr>
          <p:cNvPr id="34" name="Rounded Rectangle 15">
            <a:extLst>
              <a:ext uri="{FF2B5EF4-FFF2-40B4-BE49-F238E27FC236}">
                <a16:creationId xmlns:a16="http://schemas.microsoft.com/office/drawing/2014/main" id="{2797CDC6-AA34-5B61-541B-063DDD1D27CC}"/>
              </a:ext>
            </a:extLst>
          </p:cNvPr>
          <p:cNvSpPr/>
          <p:nvPr/>
        </p:nvSpPr>
        <p:spPr>
          <a:xfrm>
            <a:off x="98854" y="2706130"/>
            <a:ext cx="11930399" cy="2374670"/>
          </a:xfrm>
          <a:prstGeom prst="roundRect">
            <a:avLst/>
          </a:prstGeom>
          <a:noFill/>
          <a:ln w="31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A47A9CE1-9AE9-8A63-BBE7-A705912F75CB}"/>
              </a:ext>
            </a:extLst>
          </p:cNvPr>
          <p:cNvSpPr txBox="1"/>
          <p:nvPr/>
        </p:nvSpPr>
        <p:spPr>
          <a:xfrm>
            <a:off x="1103118" y="2940486"/>
            <a:ext cx="2678121" cy="2159566"/>
          </a:xfrm>
          <a:prstGeom prst="rect">
            <a:avLst/>
          </a:prstGeom>
          <a:noFill/>
        </p:spPr>
        <p:txBody>
          <a:bodyPr wrap="square">
            <a:spAutoFit/>
          </a:bodyPr>
          <a:lstStyle/>
          <a:p>
            <a:pPr marL="171450" indent="-171450">
              <a:spcAft>
                <a:spcPts val="400"/>
              </a:spcAft>
              <a:buBlip>
                <a:blip r:embed="rId11"/>
              </a:buBlip>
            </a:pPr>
            <a:r>
              <a:rPr lang="en-US" sz="1100">
                <a:latin typeface="Lato" panose="020F0502020204030203" pitchFamily="34" charset="0"/>
                <a:ea typeface="Lato" panose="020F0502020204030203" pitchFamily="34" charset="0"/>
                <a:cs typeface="Lato" panose="020F0502020204030203" pitchFamily="34" charset="0"/>
              </a:rPr>
              <a:t>Access provisioning across Azure, Databricks, ADF, BI, and governance tools</a:t>
            </a:r>
          </a:p>
          <a:p>
            <a:pPr marL="171450" indent="-171450">
              <a:spcAft>
                <a:spcPts val="400"/>
              </a:spcAft>
              <a:buBlip>
                <a:blip r:embed="rId11"/>
              </a:buBlip>
            </a:pPr>
            <a:r>
              <a:rPr lang="en-US" sz="1100">
                <a:latin typeface="Lato" panose="020F0502020204030203" pitchFamily="34" charset="0"/>
                <a:ea typeface="Lato" panose="020F0502020204030203" pitchFamily="34" charset="0"/>
                <a:cs typeface="Lato" panose="020F0502020204030203" pitchFamily="34" charset="0"/>
              </a:rPr>
              <a:t>Landscape walkthrough and platform topology understanding</a:t>
            </a:r>
          </a:p>
          <a:p>
            <a:pPr marL="171450" indent="-171450">
              <a:spcAft>
                <a:spcPts val="400"/>
              </a:spcAft>
              <a:buBlip>
                <a:blip r:embed="rId11"/>
              </a:buBlip>
            </a:pPr>
            <a:r>
              <a:rPr lang="en-US" sz="1100">
                <a:latin typeface="Lato" panose="020F0502020204030203" pitchFamily="34" charset="0"/>
                <a:ea typeface="Lato" panose="020F0502020204030203" pitchFamily="34" charset="0"/>
                <a:cs typeface="Lato" panose="020F0502020204030203" pitchFamily="34" charset="0"/>
              </a:rPr>
              <a:t>Identification of critical production pipelines and dependencies</a:t>
            </a:r>
          </a:p>
          <a:p>
            <a:pPr marL="171450" indent="-171450">
              <a:spcAft>
                <a:spcPts val="400"/>
              </a:spcAft>
              <a:buBlip>
                <a:blip r:embed="rId11"/>
              </a:buBlip>
            </a:pPr>
            <a:r>
              <a:rPr lang="en-US" sz="1100">
                <a:latin typeface="Lato" panose="020F0502020204030203" pitchFamily="34" charset="0"/>
                <a:ea typeface="Lato" panose="020F0502020204030203" pitchFamily="34" charset="0"/>
                <a:cs typeface="Lato" panose="020F0502020204030203" pitchFamily="34" charset="0"/>
              </a:rPr>
              <a:t>Review of existing documentation, architecture decisions, and workflows</a:t>
            </a:r>
          </a:p>
          <a:p>
            <a:pPr marL="171450" indent="-171450">
              <a:spcAft>
                <a:spcPts val="400"/>
              </a:spcAft>
              <a:buBlip>
                <a:blip r:embed="rId11"/>
              </a:buBlip>
            </a:pPr>
            <a:r>
              <a:rPr lang="en-US" sz="1100">
                <a:latin typeface="Lato" panose="020F0502020204030203" pitchFamily="34" charset="0"/>
                <a:ea typeface="Lato" panose="020F0502020204030203" pitchFamily="34" charset="0"/>
                <a:cs typeface="Lato" panose="020F0502020204030203" pitchFamily="34" charset="0"/>
              </a:rPr>
              <a:t>Transition risk and knowledge gap assessment</a:t>
            </a:r>
          </a:p>
        </p:txBody>
      </p:sp>
      <p:sp>
        <p:nvSpPr>
          <p:cNvPr id="36" name="TextBox 35">
            <a:extLst>
              <a:ext uri="{FF2B5EF4-FFF2-40B4-BE49-F238E27FC236}">
                <a16:creationId xmlns:a16="http://schemas.microsoft.com/office/drawing/2014/main" id="{C3E8CDC1-25B4-D2DC-0EA7-734B75C9D3AA}"/>
              </a:ext>
            </a:extLst>
          </p:cNvPr>
          <p:cNvSpPr txBox="1"/>
          <p:nvPr/>
        </p:nvSpPr>
        <p:spPr>
          <a:xfrm>
            <a:off x="3854951" y="2940486"/>
            <a:ext cx="2678121" cy="1821011"/>
          </a:xfrm>
          <a:prstGeom prst="rect">
            <a:avLst/>
          </a:prstGeom>
          <a:noFill/>
        </p:spPr>
        <p:txBody>
          <a:bodyPr wrap="square">
            <a:spAutoFit/>
          </a:bodyPr>
          <a:lstStyle/>
          <a:p>
            <a:pPr marL="171450" indent="-171450">
              <a:spcAft>
                <a:spcPts val="400"/>
              </a:spcAft>
              <a:buBlip>
                <a:blip r:embed="rId11"/>
              </a:buBlip>
            </a:pPr>
            <a:r>
              <a:rPr lang="en-US" sz="1100">
                <a:latin typeface="Lato" panose="020F0502020204030203" pitchFamily="34" charset="0"/>
                <a:ea typeface="Lato" panose="020F0502020204030203" pitchFamily="34" charset="0"/>
                <a:cs typeface="Lato" panose="020F0502020204030203" pitchFamily="34" charset="0"/>
              </a:rPr>
              <a:t>Innominds team shadows incumbent vendor operations</a:t>
            </a:r>
          </a:p>
          <a:p>
            <a:pPr marL="171450" indent="-171450">
              <a:spcAft>
                <a:spcPts val="400"/>
              </a:spcAft>
              <a:buBlip>
                <a:blip r:embed="rId11"/>
              </a:buBlip>
            </a:pPr>
            <a:r>
              <a:rPr lang="en-US" sz="1100">
                <a:latin typeface="Lato" panose="020F0502020204030203" pitchFamily="34" charset="0"/>
                <a:ea typeface="Lato" panose="020F0502020204030203" pitchFamily="34" charset="0"/>
                <a:cs typeface="Lato" panose="020F0502020204030203" pitchFamily="34" charset="0"/>
              </a:rPr>
              <a:t>Observation of deployments, monitoring, and incident handling</a:t>
            </a:r>
          </a:p>
          <a:p>
            <a:pPr marL="171450" indent="-171450">
              <a:spcAft>
                <a:spcPts val="400"/>
              </a:spcAft>
              <a:buBlip>
                <a:blip r:embed="rId11"/>
              </a:buBlip>
            </a:pPr>
            <a:r>
              <a:rPr lang="en-US" sz="1100">
                <a:latin typeface="Lato" panose="020F0502020204030203" pitchFamily="34" charset="0"/>
                <a:ea typeface="Lato" panose="020F0502020204030203" pitchFamily="34" charset="0"/>
                <a:cs typeface="Lato" panose="020F0502020204030203" pitchFamily="34" charset="0"/>
              </a:rPr>
              <a:t>Capture of undocumented logic and transformation rules</a:t>
            </a:r>
          </a:p>
          <a:p>
            <a:pPr marL="171450" indent="-171450">
              <a:spcAft>
                <a:spcPts val="400"/>
              </a:spcAft>
              <a:buBlip>
                <a:blip r:embed="rId11"/>
              </a:buBlip>
            </a:pPr>
            <a:r>
              <a:rPr lang="en-US" sz="1100">
                <a:latin typeface="Lato" panose="020F0502020204030203" pitchFamily="34" charset="0"/>
                <a:ea typeface="Lato" panose="020F0502020204030203" pitchFamily="34" charset="0"/>
                <a:cs typeface="Lato" panose="020F0502020204030203" pitchFamily="34" charset="0"/>
              </a:rPr>
              <a:t>Recording KT sessions and rebuilding documentation repository</a:t>
            </a:r>
          </a:p>
          <a:p>
            <a:pPr marL="171450" indent="-171450">
              <a:spcAft>
                <a:spcPts val="400"/>
              </a:spcAft>
              <a:buBlip>
                <a:blip r:embed="rId11"/>
              </a:buBlip>
            </a:pPr>
            <a:r>
              <a:rPr lang="en-US" sz="1100">
                <a:latin typeface="Lato" panose="020F0502020204030203" pitchFamily="34" charset="0"/>
                <a:ea typeface="Lato" panose="020F0502020204030203" pitchFamily="34" charset="0"/>
                <a:cs typeface="Lato" panose="020F0502020204030203" pitchFamily="34" charset="0"/>
              </a:rPr>
              <a:t>Creation of pipeline-level runbooks</a:t>
            </a:r>
          </a:p>
        </p:txBody>
      </p:sp>
      <p:sp>
        <p:nvSpPr>
          <p:cNvPr id="37" name="TextBox 36">
            <a:extLst>
              <a:ext uri="{FF2B5EF4-FFF2-40B4-BE49-F238E27FC236}">
                <a16:creationId xmlns:a16="http://schemas.microsoft.com/office/drawing/2014/main" id="{85121199-0CB6-E61C-1E6F-58640A9C3632}"/>
              </a:ext>
            </a:extLst>
          </p:cNvPr>
          <p:cNvSpPr txBox="1"/>
          <p:nvPr/>
        </p:nvSpPr>
        <p:spPr>
          <a:xfrm>
            <a:off x="6606784" y="2940486"/>
            <a:ext cx="2678121" cy="1990288"/>
          </a:xfrm>
          <a:prstGeom prst="rect">
            <a:avLst/>
          </a:prstGeom>
          <a:noFill/>
        </p:spPr>
        <p:txBody>
          <a:bodyPr wrap="square">
            <a:spAutoFit/>
          </a:bodyPr>
          <a:lstStyle/>
          <a:p>
            <a:pPr marL="171450" indent="-171450">
              <a:spcAft>
                <a:spcPts val="400"/>
              </a:spcAft>
              <a:buBlip>
                <a:blip r:embed="rId11"/>
              </a:buBlip>
            </a:pPr>
            <a:r>
              <a:rPr lang="en-US" sz="1100">
                <a:latin typeface="Lato" panose="020F0502020204030203" pitchFamily="34" charset="0"/>
                <a:ea typeface="Lato" panose="020F0502020204030203" pitchFamily="34" charset="0"/>
                <a:cs typeface="Lato" panose="020F0502020204030203" pitchFamily="34" charset="0"/>
              </a:rPr>
              <a:t>Innominds executes deployments while incumbent observes</a:t>
            </a:r>
          </a:p>
          <a:p>
            <a:pPr marL="171450" indent="-171450">
              <a:spcAft>
                <a:spcPts val="400"/>
              </a:spcAft>
              <a:buBlip>
                <a:blip r:embed="rId11"/>
              </a:buBlip>
            </a:pPr>
            <a:r>
              <a:rPr lang="en-US" sz="1100">
                <a:latin typeface="Lato" panose="020F0502020204030203" pitchFamily="34" charset="0"/>
                <a:ea typeface="Lato" panose="020F0502020204030203" pitchFamily="34" charset="0"/>
                <a:cs typeface="Lato" panose="020F0502020204030203" pitchFamily="34" charset="0"/>
              </a:rPr>
              <a:t>Independent execution of production workflows</a:t>
            </a:r>
          </a:p>
          <a:p>
            <a:pPr marL="171450" indent="-171450">
              <a:spcAft>
                <a:spcPts val="400"/>
              </a:spcAft>
              <a:buBlip>
                <a:blip r:embed="rId11"/>
              </a:buBlip>
            </a:pPr>
            <a:r>
              <a:rPr lang="en-US" sz="1100">
                <a:latin typeface="Lato" panose="020F0502020204030203" pitchFamily="34" charset="0"/>
                <a:ea typeface="Lato" panose="020F0502020204030203" pitchFamily="34" charset="0"/>
                <a:cs typeface="Lato" panose="020F0502020204030203" pitchFamily="34" charset="0"/>
              </a:rPr>
              <a:t>Incident simulation and recovery validation</a:t>
            </a:r>
          </a:p>
          <a:p>
            <a:pPr marL="171450" indent="-171450">
              <a:spcAft>
                <a:spcPts val="400"/>
              </a:spcAft>
              <a:buBlip>
                <a:blip r:embed="rId11"/>
              </a:buBlip>
            </a:pPr>
            <a:r>
              <a:rPr lang="en-US" sz="1100">
                <a:latin typeface="Lato" panose="020F0502020204030203" pitchFamily="34" charset="0"/>
                <a:ea typeface="Lato" panose="020F0502020204030203" pitchFamily="34" charset="0"/>
                <a:cs typeface="Lato" panose="020F0502020204030203" pitchFamily="34" charset="0"/>
              </a:rPr>
              <a:t>Access ownership and operational responsibilities transferred</a:t>
            </a:r>
          </a:p>
          <a:p>
            <a:pPr marL="171450" indent="-171450">
              <a:spcAft>
                <a:spcPts val="400"/>
              </a:spcAft>
              <a:buBlip>
                <a:blip r:embed="rId11"/>
              </a:buBlip>
            </a:pPr>
            <a:r>
              <a:rPr lang="en-US" sz="1100">
                <a:latin typeface="Lato" panose="020F0502020204030203" pitchFamily="34" charset="0"/>
                <a:ea typeface="Lato" panose="020F0502020204030203" pitchFamily="34" charset="0"/>
                <a:cs typeface="Lato" panose="020F0502020204030203" pitchFamily="34" charset="0"/>
              </a:rPr>
              <a:t>Documentation and runbooks validated</a:t>
            </a:r>
          </a:p>
        </p:txBody>
      </p:sp>
      <p:sp>
        <p:nvSpPr>
          <p:cNvPr id="38" name="TextBox 37">
            <a:extLst>
              <a:ext uri="{FF2B5EF4-FFF2-40B4-BE49-F238E27FC236}">
                <a16:creationId xmlns:a16="http://schemas.microsoft.com/office/drawing/2014/main" id="{6E3D8316-FBDE-56FE-40D0-526605EBCFDE}"/>
              </a:ext>
            </a:extLst>
          </p:cNvPr>
          <p:cNvSpPr txBox="1"/>
          <p:nvPr/>
        </p:nvSpPr>
        <p:spPr>
          <a:xfrm>
            <a:off x="9358617" y="2940486"/>
            <a:ext cx="2678121" cy="1821011"/>
          </a:xfrm>
          <a:prstGeom prst="rect">
            <a:avLst/>
          </a:prstGeom>
          <a:noFill/>
        </p:spPr>
        <p:txBody>
          <a:bodyPr wrap="square">
            <a:spAutoFit/>
          </a:bodyPr>
          <a:lstStyle/>
          <a:p>
            <a:pPr marL="171450" indent="-171450">
              <a:spcAft>
                <a:spcPts val="400"/>
              </a:spcAft>
              <a:buBlip>
                <a:blip r:embed="rId11"/>
              </a:buBlip>
            </a:pPr>
            <a:r>
              <a:rPr lang="en-US" sz="1100">
                <a:latin typeface="Lato" panose="020F0502020204030203" pitchFamily="34" charset="0"/>
                <a:ea typeface="Lato" panose="020F0502020204030203" pitchFamily="34" charset="0"/>
                <a:cs typeface="Lato" panose="020F0502020204030203" pitchFamily="34" charset="0"/>
              </a:rPr>
              <a:t>Full operational ownership assumed by Innominds PODs</a:t>
            </a:r>
          </a:p>
          <a:p>
            <a:pPr marL="171450" indent="-171450">
              <a:spcAft>
                <a:spcPts val="400"/>
              </a:spcAft>
              <a:buBlip>
                <a:blip r:embed="rId11"/>
              </a:buBlip>
            </a:pPr>
            <a:r>
              <a:rPr lang="en-US" sz="1100">
                <a:latin typeface="Lato" panose="020F0502020204030203" pitchFamily="34" charset="0"/>
                <a:ea typeface="Lato" panose="020F0502020204030203" pitchFamily="34" charset="0"/>
                <a:cs typeface="Lato" panose="020F0502020204030203" pitchFamily="34" charset="0"/>
              </a:rPr>
              <a:t>Production monitoring and support fully managed</a:t>
            </a:r>
          </a:p>
          <a:p>
            <a:pPr marL="171450" indent="-171450">
              <a:spcAft>
                <a:spcPts val="400"/>
              </a:spcAft>
              <a:buBlip>
                <a:blip r:embed="rId11"/>
              </a:buBlip>
            </a:pPr>
            <a:r>
              <a:rPr lang="en-US" sz="1100">
                <a:latin typeface="Lato" panose="020F0502020204030203" pitchFamily="34" charset="0"/>
                <a:ea typeface="Lato" panose="020F0502020204030203" pitchFamily="34" charset="0"/>
                <a:cs typeface="Lato" panose="020F0502020204030203" pitchFamily="34" charset="0"/>
              </a:rPr>
              <a:t>Transition stabilization and performance tuning</a:t>
            </a:r>
          </a:p>
          <a:p>
            <a:pPr marL="171450" indent="-171450">
              <a:spcAft>
                <a:spcPts val="400"/>
              </a:spcAft>
              <a:buBlip>
                <a:blip r:embed="rId11"/>
              </a:buBlip>
            </a:pPr>
            <a:r>
              <a:rPr lang="en-US" sz="1100">
                <a:latin typeface="Lato" panose="020F0502020204030203" pitchFamily="34" charset="0"/>
                <a:ea typeface="Lato" panose="020F0502020204030203" pitchFamily="34" charset="0"/>
                <a:cs typeface="Lato" panose="020F0502020204030203" pitchFamily="34" charset="0"/>
              </a:rPr>
              <a:t>Knowledge institutionalized into centralized repository</a:t>
            </a:r>
          </a:p>
          <a:p>
            <a:pPr marL="171450" indent="-171450">
              <a:spcAft>
                <a:spcPts val="400"/>
              </a:spcAft>
              <a:buBlip>
                <a:blip r:embed="rId11"/>
              </a:buBlip>
            </a:pPr>
            <a:r>
              <a:rPr lang="en-US" sz="1100">
                <a:latin typeface="Lato" panose="020F0502020204030203" pitchFamily="34" charset="0"/>
                <a:ea typeface="Lato" panose="020F0502020204030203" pitchFamily="34" charset="0"/>
                <a:cs typeface="Lato" panose="020F0502020204030203" pitchFamily="34" charset="0"/>
              </a:rPr>
              <a:t>Transition completion sign-off</a:t>
            </a:r>
          </a:p>
        </p:txBody>
      </p:sp>
      <p:sp>
        <p:nvSpPr>
          <p:cNvPr id="44" name="Rounded Rectangle 11">
            <a:extLst>
              <a:ext uri="{FF2B5EF4-FFF2-40B4-BE49-F238E27FC236}">
                <a16:creationId xmlns:a16="http://schemas.microsoft.com/office/drawing/2014/main" id="{ACDA56D4-8E6E-3F12-2AE9-5F57F6A100A9}"/>
              </a:ext>
            </a:extLst>
          </p:cNvPr>
          <p:cNvSpPr/>
          <p:nvPr/>
        </p:nvSpPr>
        <p:spPr>
          <a:xfrm>
            <a:off x="0" y="3741980"/>
            <a:ext cx="1054771" cy="302970"/>
          </a:xfrm>
          <a:prstGeom prst="roundRect">
            <a:avLst>
              <a:gd name="adj" fmla="val 50000"/>
            </a:avLst>
          </a:prstGeom>
          <a:solidFill>
            <a:srgbClr val="0070C0"/>
          </a:solidFill>
          <a:ln>
            <a:noFill/>
          </a:ln>
          <a:effectLst>
            <a:outerShdw dist="38100" dir="5400000" algn="t" rotWithShape="0">
              <a:srgbClr val="00B0F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latin typeface="Lato" panose="020F0502020204030203" pitchFamily="34" charset="0"/>
                <a:ea typeface="Lato" panose="020F0502020204030203" pitchFamily="34" charset="0"/>
                <a:cs typeface="Lato" panose="020F0502020204030203" pitchFamily="34" charset="0"/>
              </a:rPr>
              <a:t>Focus</a:t>
            </a:r>
          </a:p>
        </p:txBody>
      </p:sp>
      <p:sp>
        <p:nvSpPr>
          <p:cNvPr id="46" name="Rounded Rectangle 46">
            <a:extLst>
              <a:ext uri="{FF2B5EF4-FFF2-40B4-BE49-F238E27FC236}">
                <a16:creationId xmlns:a16="http://schemas.microsoft.com/office/drawing/2014/main" id="{8681BD18-38C9-A4F5-50D1-810D6C43E94F}"/>
              </a:ext>
            </a:extLst>
          </p:cNvPr>
          <p:cNvSpPr/>
          <p:nvPr/>
        </p:nvSpPr>
        <p:spPr>
          <a:xfrm>
            <a:off x="91369" y="5221994"/>
            <a:ext cx="11930399" cy="1293082"/>
          </a:xfrm>
          <a:prstGeom prst="roundRect">
            <a:avLst/>
          </a:prstGeom>
          <a:noFill/>
          <a:ln w="31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75396904-9575-B116-2E6E-7648AED5B55A}"/>
              </a:ext>
            </a:extLst>
          </p:cNvPr>
          <p:cNvSpPr txBox="1"/>
          <p:nvPr/>
        </p:nvSpPr>
        <p:spPr>
          <a:xfrm>
            <a:off x="1095633" y="5319246"/>
            <a:ext cx="2678121" cy="702756"/>
          </a:xfrm>
          <a:prstGeom prst="rect">
            <a:avLst/>
          </a:prstGeom>
          <a:noFill/>
        </p:spPr>
        <p:txBody>
          <a:bodyPr wrap="square">
            <a:spAutoFit/>
          </a:bodyPr>
          <a:lstStyle/>
          <a:p>
            <a:pPr marL="171450" indent="-171450">
              <a:spcAft>
                <a:spcPts val="400"/>
              </a:spcAft>
              <a:buBlip>
                <a:blip r:embed="rId11"/>
              </a:buBlip>
            </a:pPr>
            <a:r>
              <a:rPr lang="en-US" sz="1100">
                <a:latin typeface="Lato" panose="020F0502020204030203" pitchFamily="34" charset="0"/>
                <a:ea typeface="Lato" panose="020F0502020204030203" pitchFamily="34" charset="0"/>
                <a:cs typeface="Lato" panose="020F0502020204030203" pitchFamily="34" charset="0"/>
              </a:rPr>
              <a:t>Complete environment visibility</a:t>
            </a:r>
          </a:p>
          <a:p>
            <a:pPr marL="171450" indent="-171450">
              <a:spcAft>
                <a:spcPts val="400"/>
              </a:spcAft>
              <a:buBlip>
                <a:blip r:embed="rId11"/>
              </a:buBlip>
            </a:pPr>
            <a:r>
              <a:rPr lang="en-US" sz="1100">
                <a:latin typeface="Lato" panose="020F0502020204030203" pitchFamily="34" charset="0"/>
                <a:ea typeface="Lato" panose="020F0502020204030203" pitchFamily="34" charset="0"/>
                <a:cs typeface="Lato" panose="020F0502020204030203" pitchFamily="34" charset="0"/>
              </a:rPr>
              <a:t>Transition risks identified early</a:t>
            </a:r>
          </a:p>
          <a:p>
            <a:pPr marL="171450" indent="-171450">
              <a:spcAft>
                <a:spcPts val="400"/>
              </a:spcAft>
              <a:buBlip>
                <a:blip r:embed="rId11"/>
              </a:buBlip>
            </a:pPr>
            <a:r>
              <a:rPr lang="en-US" sz="1100">
                <a:latin typeface="Lato" panose="020F0502020204030203" pitchFamily="34" charset="0"/>
                <a:ea typeface="Lato" panose="020F0502020204030203" pitchFamily="34" charset="0"/>
                <a:cs typeface="Lato" panose="020F0502020204030203" pitchFamily="34" charset="0"/>
              </a:rPr>
              <a:t>KT plan aligned to business criticality</a:t>
            </a:r>
          </a:p>
        </p:txBody>
      </p:sp>
      <p:sp>
        <p:nvSpPr>
          <p:cNvPr id="48" name="TextBox 47">
            <a:extLst>
              <a:ext uri="{FF2B5EF4-FFF2-40B4-BE49-F238E27FC236}">
                <a16:creationId xmlns:a16="http://schemas.microsoft.com/office/drawing/2014/main" id="{DD9B7CD2-AF3F-5FDE-3EB8-6EF804E8AE39}"/>
              </a:ext>
            </a:extLst>
          </p:cNvPr>
          <p:cNvSpPr txBox="1"/>
          <p:nvPr/>
        </p:nvSpPr>
        <p:spPr>
          <a:xfrm>
            <a:off x="3847466" y="5319246"/>
            <a:ext cx="2678121" cy="1210588"/>
          </a:xfrm>
          <a:prstGeom prst="rect">
            <a:avLst/>
          </a:prstGeom>
          <a:noFill/>
        </p:spPr>
        <p:txBody>
          <a:bodyPr wrap="square">
            <a:spAutoFit/>
          </a:bodyPr>
          <a:lstStyle/>
          <a:p>
            <a:pPr marL="171450" indent="-171450">
              <a:spcAft>
                <a:spcPts val="400"/>
              </a:spcAft>
              <a:buBlip>
                <a:blip r:embed="rId11"/>
              </a:buBlip>
            </a:pPr>
            <a:r>
              <a:rPr lang="en-US" sz="1100">
                <a:latin typeface="Lato" panose="020F0502020204030203" pitchFamily="34" charset="0"/>
                <a:ea typeface="Lato" panose="020F0502020204030203" pitchFamily="34" charset="0"/>
                <a:cs typeface="Lato" panose="020F0502020204030203" pitchFamily="34" charset="0"/>
              </a:rPr>
              <a:t>Knowledge converted into documented assets</a:t>
            </a:r>
          </a:p>
          <a:p>
            <a:pPr marL="171450" indent="-171450">
              <a:spcAft>
                <a:spcPts val="400"/>
              </a:spcAft>
              <a:buBlip>
                <a:blip r:embed="rId11"/>
              </a:buBlip>
            </a:pPr>
            <a:r>
              <a:rPr lang="en-US" sz="1100">
                <a:latin typeface="Lato" panose="020F0502020204030203" pitchFamily="34" charset="0"/>
                <a:ea typeface="Lato" panose="020F0502020204030203" pitchFamily="34" charset="0"/>
                <a:cs typeface="Lato" panose="020F0502020204030203" pitchFamily="34" charset="0"/>
              </a:rPr>
              <a:t>Operational workflows clearly understood</a:t>
            </a:r>
          </a:p>
          <a:p>
            <a:pPr marL="171450" indent="-171450">
              <a:spcAft>
                <a:spcPts val="400"/>
              </a:spcAft>
              <a:buBlip>
                <a:blip r:embed="rId11"/>
              </a:buBlip>
            </a:pPr>
            <a:r>
              <a:rPr lang="en-US" sz="1100">
                <a:latin typeface="Lato" panose="020F0502020204030203" pitchFamily="34" charset="0"/>
                <a:ea typeface="Lato" panose="020F0502020204030203" pitchFamily="34" charset="0"/>
                <a:cs typeface="Lato" panose="020F0502020204030203" pitchFamily="34" charset="0"/>
              </a:rPr>
              <a:t>Dependency transparency established</a:t>
            </a:r>
          </a:p>
        </p:txBody>
      </p:sp>
      <p:sp>
        <p:nvSpPr>
          <p:cNvPr id="49" name="TextBox 48">
            <a:extLst>
              <a:ext uri="{FF2B5EF4-FFF2-40B4-BE49-F238E27FC236}">
                <a16:creationId xmlns:a16="http://schemas.microsoft.com/office/drawing/2014/main" id="{1248394D-AB20-0067-7850-E25E7B698F9D}"/>
              </a:ext>
            </a:extLst>
          </p:cNvPr>
          <p:cNvSpPr txBox="1"/>
          <p:nvPr/>
        </p:nvSpPr>
        <p:spPr>
          <a:xfrm>
            <a:off x="6599299" y="5319246"/>
            <a:ext cx="2678121" cy="872034"/>
          </a:xfrm>
          <a:prstGeom prst="rect">
            <a:avLst/>
          </a:prstGeom>
          <a:noFill/>
        </p:spPr>
        <p:txBody>
          <a:bodyPr wrap="square">
            <a:spAutoFit/>
          </a:bodyPr>
          <a:lstStyle/>
          <a:p>
            <a:pPr marL="171450" indent="-171450">
              <a:spcAft>
                <a:spcPts val="400"/>
              </a:spcAft>
              <a:buBlip>
                <a:blip r:embed="rId11"/>
              </a:buBlip>
            </a:pPr>
            <a:r>
              <a:rPr lang="en-US" sz="1100">
                <a:latin typeface="Lato" panose="020F0502020204030203" pitchFamily="34" charset="0"/>
                <a:ea typeface="Lato" panose="020F0502020204030203" pitchFamily="34" charset="0"/>
                <a:cs typeface="Lato" panose="020F0502020204030203" pitchFamily="34" charset="0"/>
              </a:rPr>
              <a:t>Proven execution capability</a:t>
            </a:r>
          </a:p>
          <a:p>
            <a:pPr marL="171450" indent="-171450">
              <a:spcAft>
                <a:spcPts val="400"/>
              </a:spcAft>
              <a:buBlip>
                <a:blip r:embed="rId11"/>
              </a:buBlip>
            </a:pPr>
            <a:r>
              <a:rPr lang="en-US" sz="1100">
                <a:latin typeface="Lato" panose="020F0502020204030203" pitchFamily="34" charset="0"/>
                <a:ea typeface="Lato" panose="020F0502020204030203" pitchFamily="34" charset="0"/>
                <a:cs typeface="Lato" panose="020F0502020204030203" pitchFamily="34" charset="0"/>
              </a:rPr>
              <a:t>Deployment and support readiness achieved</a:t>
            </a:r>
          </a:p>
          <a:p>
            <a:pPr marL="171450" indent="-171450">
              <a:spcAft>
                <a:spcPts val="400"/>
              </a:spcAft>
              <a:buBlip>
                <a:blip r:embed="rId11"/>
              </a:buBlip>
            </a:pPr>
            <a:r>
              <a:rPr lang="en-US" sz="1100">
                <a:latin typeface="Lato" panose="020F0502020204030203" pitchFamily="34" charset="0"/>
                <a:ea typeface="Lato" panose="020F0502020204030203" pitchFamily="34" charset="0"/>
                <a:cs typeface="Lato" panose="020F0502020204030203" pitchFamily="34" charset="0"/>
              </a:rPr>
              <a:t>Ownership transfer validated</a:t>
            </a:r>
          </a:p>
        </p:txBody>
      </p:sp>
      <p:sp>
        <p:nvSpPr>
          <p:cNvPr id="50" name="TextBox 49">
            <a:extLst>
              <a:ext uri="{FF2B5EF4-FFF2-40B4-BE49-F238E27FC236}">
                <a16:creationId xmlns:a16="http://schemas.microsoft.com/office/drawing/2014/main" id="{2C7CA57C-E8A0-D3D9-00DA-B6BEBFF46556}"/>
              </a:ext>
            </a:extLst>
          </p:cNvPr>
          <p:cNvSpPr txBox="1"/>
          <p:nvPr/>
        </p:nvSpPr>
        <p:spPr>
          <a:xfrm>
            <a:off x="9351132" y="5319246"/>
            <a:ext cx="2678121" cy="1041311"/>
          </a:xfrm>
          <a:prstGeom prst="rect">
            <a:avLst/>
          </a:prstGeom>
          <a:noFill/>
        </p:spPr>
        <p:txBody>
          <a:bodyPr wrap="square">
            <a:spAutoFit/>
          </a:bodyPr>
          <a:lstStyle/>
          <a:p>
            <a:pPr marL="171450" indent="-171450">
              <a:spcAft>
                <a:spcPts val="400"/>
              </a:spcAft>
              <a:buBlip>
                <a:blip r:embed="rId11"/>
              </a:buBlip>
            </a:pPr>
            <a:r>
              <a:rPr lang="en-US" sz="1100">
                <a:latin typeface="Lato" panose="020F0502020204030203" pitchFamily="34" charset="0"/>
                <a:ea typeface="Lato" panose="020F0502020204030203" pitchFamily="34" charset="0"/>
                <a:cs typeface="Lato" panose="020F0502020204030203" pitchFamily="34" charset="0"/>
              </a:rPr>
              <a:t>Seamless takeover with zero disruption</a:t>
            </a:r>
          </a:p>
          <a:p>
            <a:pPr marL="171450" indent="-171450">
              <a:spcAft>
                <a:spcPts val="400"/>
              </a:spcAft>
              <a:buBlip>
                <a:blip r:embed="rId11"/>
              </a:buBlip>
            </a:pPr>
            <a:r>
              <a:rPr lang="en-US" sz="1100">
                <a:latin typeface="Lato" panose="020F0502020204030203" pitchFamily="34" charset="0"/>
                <a:ea typeface="Lato" panose="020F0502020204030203" pitchFamily="34" charset="0"/>
                <a:cs typeface="Lato" panose="020F0502020204030203" pitchFamily="34" charset="0"/>
              </a:rPr>
              <a:t>Stable and self-sufficient platform operations</a:t>
            </a:r>
          </a:p>
          <a:p>
            <a:pPr marL="171450" indent="-171450">
              <a:spcAft>
                <a:spcPts val="400"/>
              </a:spcAft>
              <a:buBlip>
                <a:blip r:embed="rId11"/>
              </a:buBlip>
            </a:pPr>
            <a:r>
              <a:rPr lang="en-US" sz="1100">
                <a:latin typeface="Lato" panose="020F0502020204030203" pitchFamily="34" charset="0"/>
                <a:ea typeface="Lato" panose="020F0502020204030203" pitchFamily="34" charset="0"/>
                <a:cs typeface="Lato" panose="020F0502020204030203" pitchFamily="34" charset="0"/>
              </a:rPr>
              <a:t>Institutionalized platform knowledge</a:t>
            </a:r>
          </a:p>
        </p:txBody>
      </p:sp>
      <p:sp>
        <p:nvSpPr>
          <p:cNvPr id="51" name="Rounded Rectangle 14">
            <a:extLst>
              <a:ext uri="{FF2B5EF4-FFF2-40B4-BE49-F238E27FC236}">
                <a16:creationId xmlns:a16="http://schemas.microsoft.com/office/drawing/2014/main" id="{BF344343-B7BB-977E-3CDD-5CD303809217}"/>
              </a:ext>
            </a:extLst>
          </p:cNvPr>
          <p:cNvSpPr/>
          <p:nvPr/>
        </p:nvSpPr>
        <p:spPr>
          <a:xfrm>
            <a:off x="-7485" y="5646301"/>
            <a:ext cx="1054771" cy="302970"/>
          </a:xfrm>
          <a:prstGeom prst="roundRect">
            <a:avLst>
              <a:gd name="adj" fmla="val 50000"/>
            </a:avLst>
          </a:prstGeom>
          <a:solidFill>
            <a:srgbClr val="0070C0"/>
          </a:solidFill>
          <a:ln>
            <a:noFill/>
          </a:ln>
          <a:effectLst>
            <a:outerShdw dist="38100" dir="5400000" algn="t" rotWithShape="0">
              <a:srgbClr val="00B0F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latin typeface="Lato" panose="020F0502020204030203" pitchFamily="34" charset="0"/>
                <a:ea typeface="Lato" panose="020F0502020204030203" pitchFamily="34" charset="0"/>
                <a:cs typeface="Lato" panose="020F0502020204030203" pitchFamily="34" charset="0"/>
              </a:rPr>
              <a:t>Outcome</a:t>
            </a:r>
          </a:p>
        </p:txBody>
      </p:sp>
    </p:spTree>
    <p:extLst>
      <p:ext uri="{BB962C8B-B14F-4D97-AF65-F5344CB8AC3E}">
        <p14:creationId xmlns:p14="http://schemas.microsoft.com/office/powerpoint/2010/main" val="3934362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75E4F-C884-75A3-84BB-07EE6C2CA7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1F956E-F19C-A686-9A7B-823586C76425}"/>
              </a:ext>
            </a:extLst>
          </p:cNvPr>
          <p:cNvSpPr>
            <a:spLocks noGrp="1"/>
          </p:cNvSpPr>
          <p:nvPr>
            <p:ph type="title"/>
          </p:nvPr>
        </p:nvSpPr>
        <p:spPr/>
        <p:txBody>
          <a:bodyPr/>
          <a:lstStyle/>
          <a:p>
            <a:r>
              <a:rPr lang="en-US"/>
              <a:t>Governance Model</a:t>
            </a:r>
            <a:endParaRPr lang="en-IN"/>
          </a:p>
        </p:txBody>
      </p:sp>
      <p:sp>
        <p:nvSpPr>
          <p:cNvPr id="15" name="Rectangle: Rounded Corners 14">
            <a:extLst>
              <a:ext uri="{FF2B5EF4-FFF2-40B4-BE49-F238E27FC236}">
                <a16:creationId xmlns:a16="http://schemas.microsoft.com/office/drawing/2014/main" id="{78551FA3-84DC-329A-898C-47FE5BFDECCC}"/>
              </a:ext>
            </a:extLst>
          </p:cNvPr>
          <p:cNvSpPr/>
          <p:nvPr/>
        </p:nvSpPr>
        <p:spPr>
          <a:xfrm>
            <a:off x="528252" y="5668065"/>
            <a:ext cx="8116215" cy="570873"/>
          </a:xfrm>
          <a:prstGeom prst="roundRect">
            <a:avLst>
              <a:gd name="adj" fmla="val 9628"/>
            </a:avLst>
          </a:prstGeom>
          <a:solidFill>
            <a:srgbClr val="E7F0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A746FB4D-C5AD-C42F-487C-F876BB373B76}"/>
              </a:ext>
            </a:extLst>
          </p:cNvPr>
          <p:cNvSpPr/>
          <p:nvPr/>
        </p:nvSpPr>
        <p:spPr>
          <a:xfrm>
            <a:off x="528253" y="4387294"/>
            <a:ext cx="3134427" cy="909263"/>
          </a:xfrm>
          <a:prstGeom prst="roundRect">
            <a:avLst>
              <a:gd name="adj" fmla="val 9628"/>
            </a:avLst>
          </a:prstGeom>
          <a:solidFill>
            <a:srgbClr val="127B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978A04C7-6DA8-8FF5-4ACC-CB6582F2530D}"/>
              </a:ext>
            </a:extLst>
          </p:cNvPr>
          <p:cNvSpPr/>
          <p:nvPr/>
        </p:nvSpPr>
        <p:spPr>
          <a:xfrm>
            <a:off x="3983567" y="4387294"/>
            <a:ext cx="4660900" cy="913031"/>
          </a:xfrm>
          <a:prstGeom prst="roundRect">
            <a:avLst>
              <a:gd name="adj" fmla="val 9628"/>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Single Corner Snipped 17">
            <a:extLst>
              <a:ext uri="{FF2B5EF4-FFF2-40B4-BE49-F238E27FC236}">
                <a16:creationId xmlns:a16="http://schemas.microsoft.com/office/drawing/2014/main" id="{FD6B12B6-2DA6-0FB4-6C9F-B9B51DD726E2}"/>
              </a:ext>
            </a:extLst>
          </p:cNvPr>
          <p:cNvSpPr/>
          <p:nvPr/>
        </p:nvSpPr>
        <p:spPr>
          <a:xfrm flipH="1">
            <a:off x="6432689" y="1239980"/>
            <a:ext cx="2012948" cy="817564"/>
          </a:xfrm>
          <a:prstGeom prst="snip1Rect">
            <a:avLst>
              <a:gd name="adj" fmla="val 29982"/>
            </a:avLst>
          </a:prstGeom>
          <a:solidFill>
            <a:schemeClr val="bg1"/>
          </a:solidFill>
          <a:ln>
            <a:solidFill>
              <a:srgbClr val="E44C2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Single Corner Snipped 18">
            <a:extLst>
              <a:ext uri="{FF2B5EF4-FFF2-40B4-BE49-F238E27FC236}">
                <a16:creationId xmlns:a16="http://schemas.microsoft.com/office/drawing/2014/main" id="{79764F52-A096-508A-9971-87AE4F422148}"/>
              </a:ext>
            </a:extLst>
          </p:cNvPr>
          <p:cNvSpPr/>
          <p:nvPr/>
        </p:nvSpPr>
        <p:spPr>
          <a:xfrm>
            <a:off x="735485" y="1066358"/>
            <a:ext cx="2012949" cy="990170"/>
          </a:xfrm>
          <a:prstGeom prst="snip1Rect">
            <a:avLst>
              <a:gd name="adj" fmla="val 29982"/>
            </a:avLst>
          </a:prstGeom>
          <a:solidFill>
            <a:schemeClr val="bg1"/>
          </a:solidFill>
          <a:ln>
            <a:solidFill>
              <a:srgbClr val="1982A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6">
            <a:extLst>
              <a:ext uri="{FF2B5EF4-FFF2-40B4-BE49-F238E27FC236}">
                <a16:creationId xmlns:a16="http://schemas.microsoft.com/office/drawing/2014/main" id="{7A913804-4792-E1B3-A162-8281AF7F942E}"/>
              </a:ext>
            </a:extLst>
          </p:cNvPr>
          <p:cNvSpPr>
            <a:spLocks noChangeArrowheads="1"/>
          </p:cNvSpPr>
          <p:nvPr/>
        </p:nvSpPr>
        <p:spPr bwMode="auto">
          <a:xfrm>
            <a:off x="3446463" y="1359355"/>
            <a:ext cx="2246312" cy="250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5000" rIns="90000" bIns="45000">
            <a:spAutoFit/>
          </a:bodyPr>
          <a:lstStyle>
            <a:lvl1pPr>
              <a:tabLst>
                <a:tab pos="723900" algn="l"/>
                <a:tab pos="1447800" algn="l"/>
                <a:tab pos="21717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1pPr>
            <a:lvl2pPr>
              <a:tabLst>
                <a:tab pos="723900" algn="l"/>
                <a:tab pos="1447800" algn="l"/>
                <a:tab pos="21717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2pPr>
            <a:lvl3pPr>
              <a:tabLst>
                <a:tab pos="723900" algn="l"/>
                <a:tab pos="1447800" algn="l"/>
                <a:tab pos="21717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3pPr>
            <a:lvl4pPr>
              <a:tabLst>
                <a:tab pos="723900" algn="l"/>
                <a:tab pos="1447800" algn="l"/>
                <a:tab pos="21717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4pPr>
            <a:lvl5pPr>
              <a:tabLst>
                <a:tab pos="723900" algn="l"/>
                <a:tab pos="1447800" algn="l"/>
                <a:tab pos="21717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5pPr>
            <a:lvl6pPr marL="25146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6pPr>
            <a:lvl7pPr marL="29718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7pPr>
            <a:lvl8pPr marL="34290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8pPr>
            <a:lvl9pPr marL="38862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9pPr>
          </a:lstStyle>
          <a:p>
            <a:pPr hangingPunct="1">
              <a:lnSpc>
                <a:spcPct val="100000"/>
              </a:lnSpc>
            </a:pPr>
            <a:r>
              <a:rPr lang="en-IN" altLang="en-US" sz="1100">
                <a:solidFill>
                  <a:srgbClr val="44546A"/>
                </a:solidFill>
                <a:latin typeface="Lato" charset="0"/>
                <a:cs typeface="Lato" charset="0"/>
              </a:rPr>
              <a:t>Strategic Discussions / Escalations</a:t>
            </a:r>
          </a:p>
        </p:txBody>
      </p:sp>
      <p:sp>
        <p:nvSpPr>
          <p:cNvPr id="21" name="Rectangle 7">
            <a:extLst>
              <a:ext uri="{FF2B5EF4-FFF2-40B4-BE49-F238E27FC236}">
                <a16:creationId xmlns:a16="http://schemas.microsoft.com/office/drawing/2014/main" id="{5C7FDD31-5E54-36B7-B5EC-9978072C7830}"/>
              </a:ext>
            </a:extLst>
          </p:cNvPr>
          <p:cNvSpPr>
            <a:spLocks noChangeArrowheads="1"/>
          </p:cNvSpPr>
          <p:nvPr/>
        </p:nvSpPr>
        <p:spPr bwMode="auto">
          <a:xfrm>
            <a:off x="3400425" y="2540000"/>
            <a:ext cx="2135188" cy="409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5000" rIns="90000" bIns="45000">
            <a:spAutoFit/>
          </a:bodyPr>
          <a:lstStyle>
            <a:lvl1pPr>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1pPr>
            <a:lvl2pPr>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2pPr>
            <a:lvl3pPr>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3pPr>
            <a:lvl4pPr>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4pPr>
            <a:lvl5pPr>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5pPr>
            <a:lvl6pPr marL="25146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6pPr>
            <a:lvl7pPr marL="29718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7pPr>
            <a:lvl8pPr marL="34290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8pPr>
            <a:lvl9pPr marL="38862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9pPr>
          </a:lstStyle>
          <a:p>
            <a:pPr algn="ctr" hangingPunct="1">
              <a:lnSpc>
                <a:spcPct val="100000"/>
              </a:lnSpc>
            </a:pPr>
            <a:r>
              <a:rPr lang="en-IN" altLang="en-US" sz="1100">
                <a:solidFill>
                  <a:srgbClr val="44546A"/>
                </a:solidFill>
                <a:latin typeface="Lato" charset="0"/>
                <a:cs typeface="Lato" charset="0"/>
              </a:rPr>
              <a:t>Operational Reviews</a:t>
            </a:r>
          </a:p>
          <a:p>
            <a:pPr algn="ctr" hangingPunct="1">
              <a:lnSpc>
                <a:spcPct val="100000"/>
              </a:lnSpc>
            </a:pPr>
            <a:r>
              <a:rPr lang="en-IN" altLang="en-US" sz="1100">
                <a:solidFill>
                  <a:srgbClr val="44546A"/>
                </a:solidFill>
                <a:latin typeface="Lato" charset="0"/>
                <a:cs typeface="Lato" charset="0"/>
              </a:rPr>
              <a:t>Project Discussions / Escalations</a:t>
            </a:r>
          </a:p>
        </p:txBody>
      </p:sp>
      <p:sp>
        <p:nvSpPr>
          <p:cNvPr id="22" name="Rectangle 10">
            <a:extLst>
              <a:ext uri="{FF2B5EF4-FFF2-40B4-BE49-F238E27FC236}">
                <a16:creationId xmlns:a16="http://schemas.microsoft.com/office/drawing/2014/main" id="{1B6205C5-58E9-A150-886E-B8FE32D25C58}"/>
              </a:ext>
            </a:extLst>
          </p:cNvPr>
          <p:cNvSpPr>
            <a:spLocks noChangeArrowheads="1"/>
          </p:cNvSpPr>
          <p:nvPr/>
        </p:nvSpPr>
        <p:spPr bwMode="auto">
          <a:xfrm>
            <a:off x="3336925" y="3455988"/>
            <a:ext cx="2022475" cy="250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5000" rIns="90000" bIns="45000">
            <a:spAutoFit/>
          </a:bodyPr>
          <a:lstStyle>
            <a:lvl1pPr>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1pPr>
            <a:lvl2pPr>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2pPr>
            <a:lvl3pPr>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3pPr>
            <a:lvl4pPr>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4pPr>
            <a:lvl5pPr>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5pPr>
            <a:lvl6pPr marL="25146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6pPr>
            <a:lvl7pPr marL="29718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7pPr>
            <a:lvl8pPr marL="34290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8pPr>
            <a:lvl9pPr marL="38862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9pPr>
          </a:lstStyle>
          <a:p>
            <a:pPr algn="ctr" hangingPunct="1">
              <a:lnSpc>
                <a:spcPct val="100000"/>
              </a:lnSpc>
            </a:pPr>
            <a:r>
              <a:rPr lang="en-IN" altLang="en-US" sz="1100">
                <a:solidFill>
                  <a:srgbClr val="44546A"/>
                </a:solidFill>
                <a:latin typeface="Lato" charset="0"/>
                <a:cs typeface="Lato" charset="0"/>
              </a:rPr>
              <a:t>Technical / Project Discussions</a:t>
            </a:r>
          </a:p>
        </p:txBody>
      </p:sp>
      <p:sp>
        <p:nvSpPr>
          <p:cNvPr id="23" name="Rectangle 11">
            <a:extLst>
              <a:ext uri="{FF2B5EF4-FFF2-40B4-BE49-F238E27FC236}">
                <a16:creationId xmlns:a16="http://schemas.microsoft.com/office/drawing/2014/main" id="{1EB3C1C2-A7B7-BE03-3FEF-6C0173F5FCCB}"/>
              </a:ext>
            </a:extLst>
          </p:cNvPr>
          <p:cNvSpPr>
            <a:spLocks noChangeArrowheads="1"/>
          </p:cNvSpPr>
          <p:nvPr/>
        </p:nvSpPr>
        <p:spPr bwMode="auto">
          <a:xfrm>
            <a:off x="4355836" y="3874860"/>
            <a:ext cx="1523472" cy="2601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5000" rIns="90000" bIns="45000">
            <a:spAutoFit/>
          </a:bodyPr>
          <a:lstStyle>
            <a:lvl1pPr>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1pPr>
            <a:lvl2pPr>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2pPr>
            <a:lvl3pPr>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3pPr>
            <a:lvl4pPr>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4pPr>
            <a:lvl5pPr>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5pPr>
            <a:lvl6pPr marL="25146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6pPr>
            <a:lvl7pPr marL="29718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7pPr>
            <a:lvl8pPr marL="34290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8pPr>
            <a:lvl9pPr marL="38862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9pPr>
          </a:lstStyle>
          <a:p>
            <a:pPr algn="ctr" hangingPunct="1">
              <a:lnSpc>
                <a:spcPct val="100000"/>
              </a:lnSpc>
            </a:pPr>
            <a:r>
              <a:rPr lang="en-IN" altLang="en-US" sz="1100">
                <a:solidFill>
                  <a:srgbClr val="44546A"/>
                </a:solidFill>
                <a:latin typeface="Lato" charset="0"/>
                <a:cs typeface="Lato" charset="0"/>
              </a:rPr>
              <a:t>Daily Scrum meetings</a:t>
            </a:r>
          </a:p>
        </p:txBody>
      </p:sp>
      <p:sp>
        <p:nvSpPr>
          <p:cNvPr id="24" name="AutoShape 12">
            <a:extLst>
              <a:ext uri="{FF2B5EF4-FFF2-40B4-BE49-F238E27FC236}">
                <a16:creationId xmlns:a16="http://schemas.microsoft.com/office/drawing/2014/main" id="{C2975FAB-0C98-33BC-A494-B8A09B112064}"/>
              </a:ext>
            </a:extLst>
          </p:cNvPr>
          <p:cNvSpPr>
            <a:spLocks noChangeArrowheads="1"/>
          </p:cNvSpPr>
          <p:nvPr/>
        </p:nvSpPr>
        <p:spPr bwMode="auto">
          <a:xfrm>
            <a:off x="614363" y="4556299"/>
            <a:ext cx="1504950" cy="617538"/>
          </a:xfrm>
          <a:prstGeom prst="roundRect">
            <a:avLst>
              <a:gd name="adj" fmla="val 0"/>
            </a:avLst>
          </a:prstGeom>
          <a:solidFill>
            <a:srgbClr val="FFFFFF"/>
          </a:solidFill>
          <a:ln w="12600" cap="flat">
            <a:no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Lato" charset="0"/>
                <a:ea typeface="Lato" charset="0"/>
                <a:cs typeface="Lato" charset="0"/>
              </a:rPr>
              <a:t>Business analysts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Lato" charset="0"/>
                <a:ea typeface="Lato" charset="0"/>
                <a:cs typeface="Lato" charset="0"/>
              </a:rPr>
              <a:t>/ stakeholders</a:t>
            </a:r>
          </a:p>
        </p:txBody>
      </p:sp>
      <p:sp>
        <p:nvSpPr>
          <p:cNvPr id="25" name="AutoShape 13">
            <a:extLst>
              <a:ext uri="{FF2B5EF4-FFF2-40B4-BE49-F238E27FC236}">
                <a16:creationId xmlns:a16="http://schemas.microsoft.com/office/drawing/2014/main" id="{49E29F80-1642-A737-FA40-F2DF1F123989}"/>
              </a:ext>
            </a:extLst>
          </p:cNvPr>
          <p:cNvSpPr>
            <a:spLocks noChangeArrowheads="1"/>
          </p:cNvSpPr>
          <p:nvPr/>
        </p:nvSpPr>
        <p:spPr bwMode="auto">
          <a:xfrm>
            <a:off x="2279650" y="4561062"/>
            <a:ext cx="1301750" cy="612775"/>
          </a:xfrm>
          <a:prstGeom prst="roundRect">
            <a:avLst>
              <a:gd name="adj" fmla="val 0"/>
            </a:avLst>
          </a:prstGeom>
          <a:solidFill>
            <a:srgbClr val="FFFFFF"/>
          </a:solidFill>
          <a:ln w="12600" cap="flat">
            <a:no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Lato" charset="0"/>
                <a:ea typeface="Lato" charset="0"/>
                <a:cs typeface="Lato" charset="0"/>
              </a:rPr>
              <a:t>Technical teams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Lato" charset="0"/>
                <a:ea typeface="Lato" charset="0"/>
                <a:cs typeface="Lato" charset="0"/>
              </a:rPr>
              <a:t>/ SMEs</a:t>
            </a:r>
          </a:p>
        </p:txBody>
      </p:sp>
      <p:pic>
        <p:nvPicPr>
          <p:cNvPr id="26" name="Picture 18">
            <a:extLst>
              <a:ext uri="{FF2B5EF4-FFF2-40B4-BE49-F238E27FC236}">
                <a16:creationId xmlns:a16="http://schemas.microsoft.com/office/drawing/2014/main" id="{E961E566-A925-6B29-3A01-A48DAD2BBA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3494" b="21979"/>
          <a:stretch>
            <a:fillRect/>
          </a:stretch>
        </p:blipFill>
        <p:spPr bwMode="auto">
          <a:xfrm>
            <a:off x="6719888" y="1327151"/>
            <a:ext cx="1580832" cy="445758"/>
          </a:xfrm>
          <a:prstGeom prst="rect">
            <a:avLst/>
          </a:prstGeom>
          <a:noFill/>
          <a:ln>
            <a:noFill/>
          </a:ln>
          <a:effectLst/>
          <a:extLst>
            <a:ext uri="{909E8E84-426E-40DD-AFC4-6F175D3DCCD1}">
              <a14:hiddenFill xmlns:a14="http://schemas.microsoft.com/office/drawing/2010/main">
                <a:blipFill dpi="0" rotWithShape="0">
                  <a:blip/>
                  <a:srcRect t="23494" b="21979"/>
                  <a:stretch>
                    <a:fillRect/>
                  </a:stretch>
                </a:blipFill>
              </a14:hiddenFill>
            </a:ext>
            <a:ext uri="{91240B29-F687-4F45-9708-019B960494DF}">
              <a14:hiddenLine xmlns:a14="http://schemas.microsoft.com/office/drawing/2010/main" w="9525">
                <a:solidFill>
                  <a:srgbClr val="80808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7" name="Rectangle 19">
            <a:extLst>
              <a:ext uri="{FF2B5EF4-FFF2-40B4-BE49-F238E27FC236}">
                <a16:creationId xmlns:a16="http://schemas.microsoft.com/office/drawing/2014/main" id="{4515049F-5391-A4EC-E926-F5D9F1065E8A}"/>
              </a:ext>
            </a:extLst>
          </p:cNvPr>
          <p:cNvSpPr>
            <a:spLocks noChangeArrowheads="1"/>
          </p:cNvSpPr>
          <p:nvPr/>
        </p:nvSpPr>
        <p:spPr bwMode="auto">
          <a:xfrm>
            <a:off x="6157535" y="5713413"/>
            <a:ext cx="2454275" cy="4602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a:tabLst>
                <a:tab pos="723900" algn="l"/>
                <a:tab pos="1447800" algn="l"/>
                <a:tab pos="21717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1pPr>
            <a:lvl2pPr>
              <a:tabLst>
                <a:tab pos="723900" algn="l"/>
                <a:tab pos="1447800" algn="l"/>
                <a:tab pos="21717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2pPr>
            <a:lvl3pPr>
              <a:tabLst>
                <a:tab pos="723900" algn="l"/>
                <a:tab pos="1447800" algn="l"/>
                <a:tab pos="21717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3pPr>
            <a:lvl4pPr>
              <a:tabLst>
                <a:tab pos="723900" algn="l"/>
                <a:tab pos="1447800" algn="l"/>
                <a:tab pos="21717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4pPr>
            <a:lvl5pPr>
              <a:tabLst>
                <a:tab pos="723900" algn="l"/>
                <a:tab pos="1447800" algn="l"/>
                <a:tab pos="21717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5pPr>
            <a:lvl6pPr marL="25146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6pPr>
            <a:lvl7pPr marL="29718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7pPr>
            <a:lvl8pPr marL="34290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8pPr>
            <a:lvl9pPr marL="38862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9pPr>
          </a:lstStyle>
          <a:p>
            <a:pPr hangingPunct="1">
              <a:lnSpc>
                <a:spcPct val="100000"/>
              </a:lnSpc>
            </a:pPr>
            <a:r>
              <a:rPr lang="en-IN" altLang="en-US" sz="1200" b="1">
                <a:solidFill>
                  <a:schemeClr val="tx1"/>
                </a:solidFill>
                <a:latin typeface="Lato" charset="0"/>
                <a:cs typeface="Lato" charset="0"/>
              </a:rPr>
              <a:t>Status and Reporting:</a:t>
            </a:r>
          </a:p>
          <a:p>
            <a:pPr hangingPunct="1">
              <a:lnSpc>
                <a:spcPct val="100000"/>
              </a:lnSpc>
            </a:pPr>
            <a:r>
              <a:rPr lang="en-IN" altLang="en-US" sz="1200">
                <a:solidFill>
                  <a:schemeClr val="tx1"/>
                </a:solidFill>
                <a:latin typeface="Lato" charset="0"/>
                <a:cs typeface="Lato" charset="0"/>
              </a:rPr>
              <a:t>Weekly/Monthly Status Report</a:t>
            </a:r>
          </a:p>
        </p:txBody>
      </p:sp>
      <p:sp>
        <p:nvSpPr>
          <p:cNvPr id="28" name="Rectangle 20">
            <a:extLst>
              <a:ext uri="{FF2B5EF4-FFF2-40B4-BE49-F238E27FC236}">
                <a16:creationId xmlns:a16="http://schemas.microsoft.com/office/drawing/2014/main" id="{CF3D9068-ADEE-98DB-B349-89725246820B}"/>
              </a:ext>
            </a:extLst>
          </p:cNvPr>
          <p:cNvSpPr>
            <a:spLocks noChangeArrowheads="1"/>
          </p:cNvSpPr>
          <p:nvPr/>
        </p:nvSpPr>
        <p:spPr bwMode="auto">
          <a:xfrm>
            <a:off x="6694170" y="1779905"/>
            <a:ext cx="1580832" cy="2755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5000" rIns="90000" bIns="45000">
            <a:spAutoFit/>
          </a:bodyPr>
          <a:lstStyle>
            <a:lvl1pPr>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1pPr>
            <a:lvl2pPr>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2pPr>
            <a:lvl3pPr>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3pPr>
            <a:lvl4pPr>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4pPr>
            <a:lvl5pPr>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5pPr>
            <a:lvl6pPr marL="25146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6pPr>
            <a:lvl7pPr marL="29718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7pPr>
            <a:lvl8pPr marL="34290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8pPr>
            <a:lvl9pPr marL="38862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9pPr>
          </a:lstStyle>
          <a:p>
            <a:pPr hangingPunct="1">
              <a:lnSpc>
                <a:spcPct val="100000"/>
              </a:lnSpc>
            </a:pPr>
            <a:r>
              <a:rPr lang="en-IN" altLang="en-US" sz="1200">
                <a:solidFill>
                  <a:srgbClr val="44546A"/>
                </a:solidFill>
                <a:latin typeface="Lato" charset="0"/>
                <a:cs typeface="Lato" charset="0"/>
              </a:rPr>
              <a:t>EXECUTIVE TEAM</a:t>
            </a:r>
          </a:p>
        </p:txBody>
      </p:sp>
      <p:sp>
        <p:nvSpPr>
          <p:cNvPr id="29" name="AutoShape 25">
            <a:extLst>
              <a:ext uri="{FF2B5EF4-FFF2-40B4-BE49-F238E27FC236}">
                <a16:creationId xmlns:a16="http://schemas.microsoft.com/office/drawing/2014/main" id="{5FC11041-1046-B33E-A680-9A0CC7A5128C}"/>
              </a:ext>
            </a:extLst>
          </p:cNvPr>
          <p:cNvSpPr>
            <a:spLocks noChangeArrowheads="1"/>
          </p:cNvSpPr>
          <p:nvPr/>
        </p:nvSpPr>
        <p:spPr bwMode="auto">
          <a:xfrm>
            <a:off x="8870950" y="4994275"/>
            <a:ext cx="2706688" cy="1287463"/>
          </a:xfrm>
          <a:prstGeom prst="roundRect">
            <a:avLst>
              <a:gd name="adj" fmla="val 16667"/>
            </a:avLst>
          </a:prstGeom>
          <a:solidFill>
            <a:schemeClr val="bg1"/>
          </a:solidFill>
          <a:ln w="6350">
            <a:solidFill>
              <a:srgbClr val="00B0F0"/>
            </a:solidFill>
          </a:ln>
          <a:effectLst/>
        </p:spPr>
        <p:txBody>
          <a:bodyPr wrap="none" anchor="ctr"/>
          <a:lstStyle/>
          <a:p>
            <a:pPr hangingPunct="1">
              <a:lnSpc>
                <a:spcPct val="100000"/>
              </a:lnSpc>
              <a:spcAft>
                <a:spcPts val="600"/>
              </a:spcAft>
            </a:pPr>
            <a:r>
              <a:rPr lang="en-IN" altLang="en-US" sz="1200" b="1">
                <a:latin typeface="Lato" charset="0"/>
                <a:cs typeface="Lato" charset="0"/>
              </a:rPr>
              <a:t>Operational Reviews:</a:t>
            </a:r>
          </a:p>
          <a:p>
            <a:pPr marL="171450" indent="-171450" hangingPunct="1">
              <a:lnSpc>
                <a:spcPct val="100000"/>
              </a:lnSpc>
              <a:buClr>
                <a:srgbClr val="0070C0"/>
              </a:buClr>
              <a:buSzPct val="45000"/>
              <a:buFont typeface="Wingdings" panose="05000000000000000000" pitchFamily="2" charset="2"/>
              <a:buChar char="Ø"/>
            </a:pPr>
            <a:r>
              <a:rPr lang="en-IN" altLang="en-US" sz="1000">
                <a:latin typeface="Lato" charset="0"/>
                <a:cs typeface="Lato" charset="0"/>
              </a:rPr>
              <a:t>Project status </a:t>
            </a:r>
          </a:p>
          <a:p>
            <a:pPr marL="171450" indent="-171450" hangingPunct="1">
              <a:lnSpc>
                <a:spcPct val="100000"/>
              </a:lnSpc>
              <a:buClr>
                <a:srgbClr val="0070C0"/>
              </a:buClr>
              <a:buSzPct val="45000"/>
              <a:buFont typeface="Wingdings" panose="05000000000000000000" pitchFamily="2" charset="2"/>
              <a:buChar char="Ø"/>
            </a:pPr>
            <a:r>
              <a:rPr lang="en-IN" altLang="en-US" sz="1000">
                <a:latin typeface="Lato" charset="0"/>
                <a:cs typeface="Lato" charset="0"/>
              </a:rPr>
              <a:t>Escalations</a:t>
            </a:r>
          </a:p>
          <a:p>
            <a:pPr marL="171450" indent="-171450" hangingPunct="1">
              <a:lnSpc>
                <a:spcPct val="100000"/>
              </a:lnSpc>
              <a:buClr>
                <a:srgbClr val="0070C0"/>
              </a:buClr>
              <a:buSzPct val="45000"/>
              <a:buFont typeface="Wingdings" panose="05000000000000000000" pitchFamily="2" charset="2"/>
              <a:buChar char="Ø"/>
            </a:pPr>
            <a:r>
              <a:rPr lang="en-IN" altLang="en-US" sz="1000">
                <a:latin typeface="Lato" charset="0"/>
                <a:cs typeface="Lato" charset="0"/>
              </a:rPr>
              <a:t>Requirement reviews</a:t>
            </a:r>
          </a:p>
          <a:p>
            <a:pPr marL="171450" indent="-171450" hangingPunct="1">
              <a:lnSpc>
                <a:spcPct val="100000"/>
              </a:lnSpc>
              <a:buClr>
                <a:srgbClr val="0070C0"/>
              </a:buClr>
              <a:buSzPct val="45000"/>
              <a:buFont typeface="Wingdings" panose="05000000000000000000" pitchFamily="2" charset="2"/>
              <a:buChar char="Ø"/>
            </a:pPr>
            <a:r>
              <a:rPr lang="en-IN" altLang="en-US" sz="1000">
                <a:latin typeface="Lato" charset="0"/>
                <a:cs typeface="Lato" charset="0"/>
              </a:rPr>
              <a:t>Operations support</a:t>
            </a:r>
          </a:p>
        </p:txBody>
      </p:sp>
      <p:sp>
        <p:nvSpPr>
          <p:cNvPr id="30" name="AutoShape 26">
            <a:extLst>
              <a:ext uri="{FF2B5EF4-FFF2-40B4-BE49-F238E27FC236}">
                <a16:creationId xmlns:a16="http://schemas.microsoft.com/office/drawing/2014/main" id="{A40A9D89-E4AB-FBE7-CD54-56C9380D1C90}"/>
              </a:ext>
            </a:extLst>
          </p:cNvPr>
          <p:cNvSpPr>
            <a:spLocks noChangeArrowheads="1"/>
          </p:cNvSpPr>
          <p:nvPr/>
        </p:nvSpPr>
        <p:spPr bwMode="auto">
          <a:xfrm>
            <a:off x="8867775" y="3544888"/>
            <a:ext cx="2706688" cy="1287462"/>
          </a:xfrm>
          <a:prstGeom prst="roundRect">
            <a:avLst>
              <a:gd name="adj" fmla="val 16667"/>
            </a:avLst>
          </a:prstGeom>
          <a:solidFill>
            <a:schemeClr val="bg1"/>
          </a:solidFill>
          <a:ln w="6350">
            <a:solidFill>
              <a:srgbClr val="00B0F0"/>
            </a:solidFill>
          </a:ln>
          <a:effectLst/>
        </p:spPr>
        <p:txBody>
          <a:bodyPr wrap="none" anchor="ctr"/>
          <a:lstStyle/>
          <a:p>
            <a:pPr hangingPunct="1">
              <a:lnSpc>
                <a:spcPct val="100000"/>
              </a:lnSpc>
              <a:spcAft>
                <a:spcPts val="600"/>
              </a:spcAft>
            </a:pPr>
            <a:r>
              <a:rPr lang="en-IN" altLang="en-US" sz="1200" b="1">
                <a:solidFill>
                  <a:schemeClr val="tx1"/>
                </a:solidFill>
                <a:latin typeface="Lato" charset="0"/>
                <a:cs typeface="Lato" charset="0"/>
              </a:rPr>
              <a:t>Technical / Project Discussions:</a:t>
            </a:r>
          </a:p>
          <a:p>
            <a:pPr marL="171450" indent="-171450" hangingPunct="1">
              <a:lnSpc>
                <a:spcPct val="100000"/>
              </a:lnSpc>
              <a:buClr>
                <a:srgbClr val="0070C0"/>
              </a:buClr>
              <a:buSzPct val="45000"/>
              <a:buFont typeface="Wingdings" panose="05000000000000000000" pitchFamily="2" charset="2"/>
              <a:buChar char="Ø"/>
            </a:pPr>
            <a:r>
              <a:rPr lang="en-IN" altLang="en-US" sz="1000">
                <a:solidFill>
                  <a:schemeClr val="tx1"/>
                </a:solidFill>
                <a:latin typeface="Lato" charset="0"/>
                <a:cs typeface="Lato" charset="0"/>
              </a:rPr>
              <a:t>Design / Architecture discussions</a:t>
            </a:r>
          </a:p>
          <a:p>
            <a:pPr marL="171450" indent="-171450" hangingPunct="1">
              <a:lnSpc>
                <a:spcPct val="100000"/>
              </a:lnSpc>
              <a:buClr>
                <a:srgbClr val="0070C0"/>
              </a:buClr>
              <a:buSzPct val="45000"/>
              <a:buFont typeface="Wingdings" panose="05000000000000000000" pitchFamily="2" charset="2"/>
              <a:buChar char="Ø"/>
            </a:pPr>
            <a:r>
              <a:rPr lang="en-IN" altLang="en-US" sz="1000">
                <a:solidFill>
                  <a:schemeClr val="tx1"/>
                </a:solidFill>
                <a:latin typeface="Lato" charset="0"/>
                <a:cs typeface="Lato" charset="0"/>
              </a:rPr>
              <a:t>Project Progress</a:t>
            </a:r>
          </a:p>
          <a:p>
            <a:pPr marL="171450" indent="-171450" hangingPunct="1">
              <a:lnSpc>
                <a:spcPct val="100000"/>
              </a:lnSpc>
              <a:buClr>
                <a:srgbClr val="0070C0"/>
              </a:buClr>
              <a:buSzPct val="45000"/>
              <a:buFont typeface="Wingdings" panose="05000000000000000000" pitchFamily="2" charset="2"/>
              <a:buChar char="Ø"/>
            </a:pPr>
            <a:r>
              <a:rPr lang="en-IN" altLang="en-US" sz="1000">
                <a:solidFill>
                  <a:schemeClr val="tx1"/>
                </a:solidFill>
                <a:latin typeface="Lato" charset="0"/>
                <a:cs typeface="Lato" charset="0"/>
              </a:rPr>
              <a:t>Task monitoring</a:t>
            </a:r>
          </a:p>
          <a:p>
            <a:pPr marL="171450" indent="-171450" hangingPunct="1">
              <a:lnSpc>
                <a:spcPct val="100000"/>
              </a:lnSpc>
              <a:buClr>
                <a:srgbClr val="0070C0"/>
              </a:buClr>
              <a:buSzPct val="45000"/>
              <a:buFont typeface="Wingdings" panose="05000000000000000000" pitchFamily="2" charset="2"/>
              <a:buChar char="Ø"/>
            </a:pPr>
            <a:r>
              <a:rPr lang="en-IN" altLang="en-US" sz="1000">
                <a:solidFill>
                  <a:schemeClr val="tx1"/>
                </a:solidFill>
                <a:latin typeface="Lato" charset="0"/>
                <a:cs typeface="Lato" charset="0"/>
              </a:rPr>
              <a:t>Issue management </a:t>
            </a:r>
          </a:p>
        </p:txBody>
      </p:sp>
      <p:sp>
        <p:nvSpPr>
          <p:cNvPr id="31" name="AutoShape 27">
            <a:extLst>
              <a:ext uri="{FF2B5EF4-FFF2-40B4-BE49-F238E27FC236}">
                <a16:creationId xmlns:a16="http://schemas.microsoft.com/office/drawing/2014/main" id="{CE3365D5-95BD-070D-0B97-350A80B1881A}"/>
              </a:ext>
            </a:extLst>
          </p:cNvPr>
          <p:cNvSpPr>
            <a:spLocks noChangeArrowheads="1"/>
          </p:cNvSpPr>
          <p:nvPr/>
        </p:nvSpPr>
        <p:spPr bwMode="auto">
          <a:xfrm>
            <a:off x="8863013" y="2306638"/>
            <a:ext cx="2706687" cy="1076325"/>
          </a:xfrm>
          <a:prstGeom prst="roundRect">
            <a:avLst>
              <a:gd name="adj" fmla="val 16667"/>
            </a:avLst>
          </a:prstGeom>
          <a:solidFill>
            <a:schemeClr val="bg1"/>
          </a:solidFill>
          <a:ln w="6350">
            <a:solidFill>
              <a:srgbClr val="00B0F0"/>
            </a:solidFill>
          </a:ln>
          <a:effectLst/>
        </p:spPr>
        <p:txBody>
          <a:bodyPr wrap="none" anchor="ctr"/>
          <a:lstStyle/>
          <a:p>
            <a:pPr hangingPunct="1">
              <a:lnSpc>
                <a:spcPct val="100000"/>
              </a:lnSpc>
              <a:spcAft>
                <a:spcPts val="600"/>
              </a:spcAft>
            </a:pPr>
            <a:r>
              <a:rPr lang="en-IN" altLang="en-US" sz="1200" b="1">
                <a:solidFill>
                  <a:schemeClr val="tx1"/>
                </a:solidFill>
                <a:latin typeface="Lato" charset="0"/>
                <a:cs typeface="Lato" charset="0"/>
              </a:rPr>
              <a:t>Strategic Discussions / Escalations:</a:t>
            </a:r>
          </a:p>
          <a:p>
            <a:pPr marL="171450" indent="-171450" hangingPunct="1">
              <a:lnSpc>
                <a:spcPct val="100000"/>
              </a:lnSpc>
              <a:buClr>
                <a:srgbClr val="0070C0"/>
              </a:buClr>
              <a:buSzPct val="45000"/>
              <a:buFont typeface="Wingdings" panose="05000000000000000000" pitchFamily="2" charset="2"/>
              <a:buChar char="Ø"/>
            </a:pPr>
            <a:r>
              <a:rPr lang="en-IN" altLang="en-US" sz="1000">
                <a:solidFill>
                  <a:schemeClr val="tx1"/>
                </a:solidFill>
                <a:latin typeface="Lato" charset="0"/>
                <a:cs typeface="Lato" charset="0"/>
              </a:rPr>
              <a:t>Alignment of goals</a:t>
            </a:r>
          </a:p>
          <a:p>
            <a:pPr marL="171450" indent="-171450" hangingPunct="1">
              <a:lnSpc>
                <a:spcPct val="100000"/>
              </a:lnSpc>
              <a:buClr>
                <a:srgbClr val="0070C0"/>
              </a:buClr>
              <a:buSzPct val="45000"/>
              <a:buFont typeface="Wingdings" panose="05000000000000000000" pitchFamily="2" charset="2"/>
              <a:buChar char="Ø"/>
            </a:pPr>
            <a:r>
              <a:rPr lang="en-IN" altLang="en-US" sz="1000">
                <a:solidFill>
                  <a:schemeClr val="tx1"/>
                </a:solidFill>
                <a:latin typeface="Lato" charset="0"/>
                <a:cs typeface="Lato" charset="0"/>
              </a:rPr>
              <a:t>Escalation management</a:t>
            </a:r>
          </a:p>
        </p:txBody>
      </p:sp>
      <p:sp>
        <p:nvSpPr>
          <p:cNvPr id="32" name="AutoShape 31">
            <a:extLst>
              <a:ext uri="{FF2B5EF4-FFF2-40B4-BE49-F238E27FC236}">
                <a16:creationId xmlns:a16="http://schemas.microsoft.com/office/drawing/2014/main" id="{DE8EC456-154A-0031-6E93-B9F47819F322}"/>
              </a:ext>
            </a:extLst>
          </p:cNvPr>
          <p:cNvSpPr>
            <a:spLocks noChangeArrowheads="1"/>
          </p:cNvSpPr>
          <p:nvPr/>
        </p:nvSpPr>
        <p:spPr bwMode="auto">
          <a:xfrm>
            <a:off x="8863013" y="1076325"/>
            <a:ext cx="2706687" cy="1076325"/>
          </a:xfrm>
          <a:prstGeom prst="roundRect">
            <a:avLst>
              <a:gd name="adj" fmla="val 16667"/>
            </a:avLst>
          </a:prstGeom>
          <a:solidFill>
            <a:schemeClr val="bg1"/>
          </a:solidFill>
          <a:ln w="6350">
            <a:solidFill>
              <a:srgbClr val="00B0F0"/>
            </a:solidFill>
          </a:ln>
          <a:effectLst/>
        </p:spPr>
        <p:txBody>
          <a:bodyPr wrap="none" anchor="ctr"/>
          <a:lstStyle/>
          <a:p>
            <a:pPr hangingPunct="1">
              <a:lnSpc>
                <a:spcPct val="100000"/>
              </a:lnSpc>
              <a:spcAft>
                <a:spcPts val="600"/>
              </a:spcAft>
            </a:pPr>
            <a:r>
              <a:rPr lang="en-IN" altLang="en-US" sz="1200" b="1">
                <a:latin typeface="Lato" charset="0"/>
                <a:cs typeface="Lato" charset="0"/>
              </a:rPr>
              <a:t>Change Request Board:</a:t>
            </a:r>
          </a:p>
          <a:p>
            <a:pPr marL="171450" indent="-171450" hangingPunct="1">
              <a:lnSpc>
                <a:spcPct val="100000"/>
              </a:lnSpc>
              <a:buClr>
                <a:srgbClr val="0070C0"/>
              </a:buClr>
              <a:buSzPct val="45000"/>
              <a:buFont typeface="Wingdings" panose="05000000000000000000" pitchFamily="2" charset="2"/>
              <a:buChar char="Ø"/>
            </a:pPr>
            <a:r>
              <a:rPr lang="en-US" altLang="en-IN" sz="1000">
                <a:latin typeface="Lato" charset="0"/>
                <a:cs typeface="Lato" charset="0"/>
              </a:rPr>
              <a:t>Client’s SPOC/manager</a:t>
            </a:r>
          </a:p>
          <a:p>
            <a:pPr marL="171450" indent="-171450" hangingPunct="1">
              <a:lnSpc>
                <a:spcPct val="100000"/>
              </a:lnSpc>
              <a:buClr>
                <a:srgbClr val="0070C0"/>
              </a:buClr>
              <a:buSzPct val="45000"/>
              <a:buFont typeface="Wingdings" panose="05000000000000000000" pitchFamily="2" charset="2"/>
              <a:buChar char="Ø"/>
            </a:pPr>
            <a:r>
              <a:rPr lang="en-US" altLang="en-IN" sz="1000">
                <a:latin typeface="Lato" charset="0"/>
                <a:cs typeface="Lato" charset="0"/>
              </a:rPr>
              <a:t>Innominds Technical Manager</a:t>
            </a:r>
          </a:p>
          <a:p>
            <a:pPr marL="171450" indent="-171450" hangingPunct="1">
              <a:lnSpc>
                <a:spcPct val="100000"/>
              </a:lnSpc>
              <a:buClr>
                <a:srgbClr val="0070C0"/>
              </a:buClr>
              <a:buSzPct val="45000"/>
              <a:buFont typeface="Wingdings" panose="05000000000000000000" pitchFamily="2" charset="2"/>
              <a:buChar char="Ø"/>
            </a:pPr>
            <a:r>
              <a:rPr lang="en-US" altLang="en-IN" sz="1000">
                <a:latin typeface="Lato" charset="0"/>
                <a:cs typeface="Lato" charset="0"/>
              </a:rPr>
              <a:t>Innominds Client Relationship Manager</a:t>
            </a:r>
          </a:p>
        </p:txBody>
      </p:sp>
      <p:cxnSp>
        <p:nvCxnSpPr>
          <p:cNvPr id="33" name="Straight Arrow Connector 32">
            <a:extLst>
              <a:ext uri="{FF2B5EF4-FFF2-40B4-BE49-F238E27FC236}">
                <a16:creationId xmlns:a16="http://schemas.microsoft.com/office/drawing/2014/main" id="{235C2ED6-4FE8-8171-732A-59E337DBDF89}"/>
              </a:ext>
            </a:extLst>
          </p:cNvPr>
          <p:cNvCxnSpPr/>
          <p:nvPr/>
        </p:nvCxnSpPr>
        <p:spPr>
          <a:xfrm>
            <a:off x="2858703" y="1779905"/>
            <a:ext cx="3445844" cy="0"/>
          </a:xfrm>
          <a:prstGeom prst="straightConnector1">
            <a:avLst/>
          </a:prstGeom>
          <a:ln w="25400">
            <a:solidFill>
              <a:srgbClr val="00B0F0"/>
            </a:solidFill>
            <a:headEnd type="triangle"/>
            <a:tailEnd type="triangle"/>
          </a:ln>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B8CF0E8C-C7AD-FF25-9CBA-5A55F69F1064}"/>
              </a:ext>
            </a:extLst>
          </p:cNvPr>
          <p:cNvGrpSpPr/>
          <p:nvPr/>
        </p:nvGrpSpPr>
        <p:grpSpPr>
          <a:xfrm>
            <a:off x="697496" y="2544549"/>
            <a:ext cx="1944106" cy="779145"/>
            <a:chOff x="697496" y="2544549"/>
            <a:chExt cx="1944106" cy="779145"/>
          </a:xfrm>
        </p:grpSpPr>
        <p:sp>
          <p:nvSpPr>
            <p:cNvPr id="35" name="Rectangle: Top Corners Snipped 34">
              <a:extLst>
                <a:ext uri="{FF2B5EF4-FFF2-40B4-BE49-F238E27FC236}">
                  <a16:creationId xmlns:a16="http://schemas.microsoft.com/office/drawing/2014/main" id="{DC8655F5-0A62-8B82-FBDA-7491F31954C0}"/>
                </a:ext>
              </a:extLst>
            </p:cNvPr>
            <p:cNvSpPr/>
            <p:nvPr/>
          </p:nvSpPr>
          <p:spPr>
            <a:xfrm>
              <a:off x="697496" y="2544549"/>
              <a:ext cx="1944106" cy="779145"/>
            </a:xfrm>
            <a:prstGeom prst="snip2SameRect">
              <a:avLst/>
            </a:prstGeom>
            <a:solidFill>
              <a:srgbClr val="127B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8">
              <a:extLst>
                <a:ext uri="{FF2B5EF4-FFF2-40B4-BE49-F238E27FC236}">
                  <a16:creationId xmlns:a16="http://schemas.microsoft.com/office/drawing/2014/main" id="{41BBBB91-7846-C7F0-4A86-423D3C8B5C0D}"/>
                </a:ext>
              </a:extLst>
            </p:cNvPr>
            <p:cNvSpPr>
              <a:spLocks noChangeArrowheads="1"/>
            </p:cNvSpPr>
            <p:nvPr/>
          </p:nvSpPr>
          <p:spPr bwMode="auto">
            <a:xfrm>
              <a:off x="1069566" y="2579156"/>
              <a:ext cx="1288814" cy="246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1pPr>
              <a:lvl2pPr>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2pPr>
              <a:lvl3pPr>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3pPr>
              <a:lvl4pPr>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4pPr>
              <a:lvl5pPr>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5pPr>
              <a:lvl6pPr marL="25146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6pPr>
              <a:lvl7pPr marL="29718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7pPr>
              <a:lvl8pPr marL="34290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8pPr>
              <a:lvl9pPr marL="38862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9pPr>
            </a:lstStyle>
            <a:p>
              <a:pPr algn="ctr" hangingPunct="1">
                <a:lnSpc>
                  <a:spcPct val="100000"/>
                </a:lnSpc>
              </a:pPr>
              <a:r>
                <a:rPr lang="en-US" altLang="en-IN" sz="1600">
                  <a:solidFill>
                    <a:srgbClr val="FFFFFF"/>
                  </a:solidFill>
                  <a:latin typeface="Lato" charset="0"/>
                  <a:cs typeface="Lato" charset="0"/>
                </a:rPr>
                <a:t>Project Teams</a:t>
              </a:r>
              <a:endParaRPr lang="en-IN" altLang="en-US" sz="1600">
                <a:solidFill>
                  <a:srgbClr val="FFFFFF"/>
                </a:solidFill>
                <a:latin typeface="Lato" charset="0"/>
                <a:cs typeface="Lato" charset="0"/>
              </a:endParaRPr>
            </a:p>
          </p:txBody>
        </p:sp>
        <p:sp>
          <p:nvSpPr>
            <p:cNvPr id="37" name="Rectangle 16">
              <a:extLst>
                <a:ext uri="{FF2B5EF4-FFF2-40B4-BE49-F238E27FC236}">
                  <a16:creationId xmlns:a16="http://schemas.microsoft.com/office/drawing/2014/main" id="{95063D4B-E9AF-05F9-9813-CD7D45897505}"/>
                </a:ext>
              </a:extLst>
            </p:cNvPr>
            <p:cNvSpPr>
              <a:spLocks noChangeArrowheads="1"/>
            </p:cNvSpPr>
            <p:nvPr/>
          </p:nvSpPr>
          <p:spPr bwMode="auto">
            <a:xfrm>
              <a:off x="1197609" y="2938522"/>
              <a:ext cx="1260578" cy="2601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5000" rIns="90000" bIns="45000">
              <a:spAutoFit/>
            </a:bodyPr>
            <a:lstStyle>
              <a:lvl1pPr>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1pPr>
              <a:lvl2pPr>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2pPr>
              <a:lvl3pPr>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3pPr>
              <a:lvl4pPr>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4pPr>
              <a:lvl5pPr>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5pPr>
              <a:lvl6pPr marL="25146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6pPr>
              <a:lvl7pPr marL="29718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7pPr>
              <a:lvl8pPr marL="34290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8pPr>
              <a:lvl9pPr marL="38862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9pPr>
            </a:lstStyle>
            <a:p>
              <a:pPr algn="ctr" hangingPunct="1">
                <a:lnSpc>
                  <a:spcPct val="100000"/>
                </a:lnSpc>
              </a:pPr>
              <a:r>
                <a:rPr lang="en-IN" altLang="en-US" sz="1100">
                  <a:solidFill>
                    <a:schemeClr val="bg1"/>
                  </a:solidFill>
                  <a:latin typeface="Lato" charset="0"/>
                  <a:cs typeface="Lato" charset="0"/>
                </a:rPr>
                <a:t>Product Manager</a:t>
              </a:r>
            </a:p>
          </p:txBody>
        </p:sp>
        <p:pic>
          <p:nvPicPr>
            <p:cNvPr id="38" name="Graphic 37" descr="Office worker male with solid fill">
              <a:extLst>
                <a:ext uri="{FF2B5EF4-FFF2-40B4-BE49-F238E27FC236}">
                  <a16:creationId xmlns:a16="http://schemas.microsoft.com/office/drawing/2014/main" id="{DB806CF2-8929-5AAE-7D5C-966D594E252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7828" y="2890306"/>
              <a:ext cx="359781" cy="359781"/>
            </a:xfrm>
            <a:prstGeom prst="rect">
              <a:avLst/>
            </a:prstGeom>
          </p:spPr>
        </p:pic>
      </p:grpSp>
      <p:grpSp>
        <p:nvGrpSpPr>
          <p:cNvPr id="39" name="Group 38">
            <a:extLst>
              <a:ext uri="{FF2B5EF4-FFF2-40B4-BE49-F238E27FC236}">
                <a16:creationId xmlns:a16="http://schemas.microsoft.com/office/drawing/2014/main" id="{119224A6-AAA5-1350-E206-6A18231A3B60}"/>
              </a:ext>
            </a:extLst>
          </p:cNvPr>
          <p:cNvGrpSpPr/>
          <p:nvPr/>
        </p:nvGrpSpPr>
        <p:grpSpPr>
          <a:xfrm>
            <a:off x="6537564" y="2544549"/>
            <a:ext cx="1944106" cy="779145"/>
            <a:chOff x="697496" y="2544549"/>
            <a:chExt cx="1944106" cy="779145"/>
          </a:xfrm>
        </p:grpSpPr>
        <p:sp>
          <p:nvSpPr>
            <p:cNvPr id="40" name="Rectangle: Top Corners Snipped 39">
              <a:extLst>
                <a:ext uri="{FF2B5EF4-FFF2-40B4-BE49-F238E27FC236}">
                  <a16:creationId xmlns:a16="http://schemas.microsoft.com/office/drawing/2014/main" id="{A69A7E6C-A7BA-7463-8B71-CB13D9651CC6}"/>
                </a:ext>
              </a:extLst>
            </p:cNvPr>
            <p:cNvSpPr/>
            <p:nvPr/>
          </p:nvSpPr>
          <p:spPr>
            <a:xfrm>
              <a:off x="697496" y="2544549"/>
              <a:ext cx="1944106" cy="779145"/>
            </a:xfrm>
            <a:prstGeom prst="snip2Same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8">
              <a:extLst>
                <a:ext uri="{FF2B5EF4-FFF2-40B4-BE49-F238E27FC236}">
                  <a16:creationId xmlns:a16="http://schemas.microsoft.com/office/drawing/2014/main" id="{B41C8F20-97BF-4016-F16B-C236B8CAAA87}"/>
                </a:ext>
              </a:extLst>
            </p:cNvPr>
            <p:cNvSpPr>
              <a:spLocks noChangeArrowheads="1"/>
            </p:cNvSpPr>
            <p:nvPr/>
          </p:nvSpPr>
          <p:spPr bwMode="auto">
            <a:xfrm>
              <a:off x="1069566" y="2579156"/>
              <a:ext cx="1288814" cy="246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1pPr>
              <a:lvl2pPr>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2pPr>
              <a:lvl3pPr>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3pPr>
              <a:lvl4pPr>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4pPr>
              <a:lvl5pPr>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5pPr>
              <a:lvl6pPr marL="25146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6pPr>
              <a:lvl7pPr marL="29718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7pPr>
              <a:lvl8pPr marL="34290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8pPr>
              <a:lvl9pPr marL="38862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9pPr>
            </a:lstStyle>
            <a:p>
              <a:pPr algn="ctr" hangingPunct="1">
                <a:lnSpc>
                  <a:spcPct val="100000"/>
                </a:lnSpc>
              </a:pPr>
              <a:r>
                <a:rPr lang="en-US" altLang="en-US" sz="1600">
                  <a:solidFill>
                    <a:schemeClr val="tx1"/>
                  </a:solidFill>
                  <a:latin typeface="Lato" charset="0"/>
                  <a:cs typeface="Lato" charset="0"/>
                </a:rPr>
                <a:t>Project Teams</a:t>
              </a:r>
              <a:endParaRPr lang="en-IN" altLang="en-US" sz="1600">
                <a:solidFill>
                  <a:schemeClr val="tx1"/>
                </a:solidFill>
                <a:latin typeface="Lato" charset="0"/>
                <a:cs typeface="Lato" charset="0"/>
              </a:endParaRPr>
            </a:p>
          </p:txBody>
        </p:sp>
        <p:sp>
          <p:nvSpPr>
            <p:cNvPr id="42" name="Rectangle 16">
              <a:extLst>
                <a:ext uri="{FF2B5EF4-FFF2-40B4-BE49-F238E27FC236}">
                  <a16:creationId xmlns:a16="http://schemas.microsoft.com/office/drawing/2014/main" id="{0676EF8E-91ED-9633-CF90-55279F15F97D}"/>
                </a:ext>
              </a:extLst>
            </p:cNvPr>
            <p:cNvSpPr>
              <a:spLocks noChangeArrowheads="1"/>
            </p:cNvSpPr>
            <p:nvPr/>
          </p:nvSpPr>
          <p:spPr bwMode="auto">
            <a:xfrm>
              <a:off x="1150323" y="2938522"/>
              <a:ext cx="1355156" cy="2601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5000" rIns="90000" bIns="45000">
              <a:spAutoFit/>
            </a:bodyPr>
            <a:lstStyle>
              <a:lvl1pPr>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1pPr>
              <a:lvl2pPr>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2pPr>
              <a:lvl3pPr>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3pPr>
              <a:lvl4pPr>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4pPr>
              <a:lvl5pPr>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5pPr>
              <a:lvl6pPr marL="25146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6pPr>
              <a:lvl7pPr marL="29718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7pPr>
              <a:lvl8pPr marL="34290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8pPr>
              <a:lvl9pPr marL="38862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Lst>
                <a:defRPr>
                  <a:solidFill>
                    <a:srgbClr val="000000"/>
                  </a:solidFill>
                  <a:latin typeface="Arial" panose="02080604020202020204" pitchFamily="34" charset="0"/>
                  <a:ea typeface="Arial Unicode MS" panose="020B0604020202020204" pitchFamily="34" charset="-128"/>
                  <a:cs typeface="Arial Unicode MS" panose="020B0604020202020204" pitchFamily="34" charset="-128"/>
                </a:defRPr>
              </a:lvl9pPr>
            </a:lstStyle>
            <a:p>
              <a:pPr algn="ctr" hangingPunct="1">
                <a:lnSpc>
                  <a:spcPct val="100000"/>
                </a:lnSpc>
              </a:pPr>
              <a:r>
                <a:rPr lang="en-IN" altLang="en-US" sz="1100">
                  <a:solidFill>
                    <a:schemeClr val="tx1"/>
                  </a:solidFill>
                  <a:latin typeface="Lato" charset="0"/>
                  <a:cs typeface="Lato" charset="0"/>
                </a:rPr>
                <a:t>Technical Manager</a:t>
              </a:r>
            </a:p>
          </p:txBody>
        </p:sp>
        <p:pic>
          <p:nvPicPr>
            <p:cNvPr id="43" name="Graphic 42" descr="Office worker male with solid fill">
              <a:extLst>
                <a:ext uri="{FF2B5EF4-FFF2-40B4-BE49-F238E27FC236}">
                  <a16:creationId xmlns:a16="http://schemas.microsoft.com/office/drawing/2014/main" id="{81BF50E7-B9DF-DF3B-9E0D-2EDACF57BE5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37828" y="2890306"/>
              <a:ext cx="359781" cy="359781"/>
            </a:xfrm>
            <a:prstGeom prst="rect">
              <a:avLst/>
            </a:prstGeom>
          </p:spPr>
        </p:pic>
      </p:grpSp>
      <p:cxnSp>
        <p:nvCxnSpPr>
          <p:cNvPr id="44" name="Straight Arrow Connector 43">
            <a:extLst>
              <a:ext uri="{FF2B5EF4-FFF2-40B4-BE49-F238E27FC236}">
                <a16:creationId xmlns:a16="http://schemas.microsoft.com/office/drawing/2014/main" id="{660348E8-DCDB-0BDD-3C2A-C1132D5DCF32}"/>
              </a:ext>
            </a:extLst>
          </p:cNvPr>
          <p:cNvCxnSpPr/>
          <p:nvPr/>
        </p:nvCxnSpPr>
        <p:spPr>
          <a:xfrm>
            <a:off x="2806533" y="3068600"/>
            <a:ext cx="3445844" cy="0"/>
          </a:xfrm>
          <a:prstGeom prst="straightConnector1">
            <a:avLst/>
          </a:prstGeom>
          <a:ln w="25400">
            <a:solidFill>
              <a:srgbClr val="00B0F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5C801619-989E-F850-018B-CE4E9537F726}"/>
              </a:ext>
            </a:extLst>
          </p:cNvPr>
          <p:cNvCxnSpPr>
            <a:cxnSpLocks/>
          </p:cNvCxnSpPr>
          <p:nvPr/>
        </p:nvCxnSpPr>
        <p:spPr>
          <a:xfrm>
            <a:off x="1763486" y="3830147"/>
            <a:ext cx="5519057" cy="0"/>
          </a:xfrm>
          <a:prstGeom prst="straightConnector1">
            <a:avLst/>
          </a:prstGeom>
          <a:ln w="25400">
            <a:solidFill>
              <a:srgbClr val="00B0F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E8336913-7A87-FACB-A91E-71B62A904845}"/>
              </a:ext>
            </a:extLst>
          </p:cNvPr>
          <p:cNvCxnSpPr>
            <a:cxnSpLocks/>
          </p:cNvCxnSpPr>
          <p:nvPr/>
        </p:nvCxnSpPr>
        <p:spPr>
          <a:xfrm>
            <a:off x="7484586" y="2085930"/>
            <a:ext cx="0" cy="443910"/>
          </a:xfrm>
          <a:prstGeom prst="straightConnector1">
            <a:avLst/>
          </a:prstGeom>
          <a:ln>
            <a:solidFill>
              <a:srgbClr val="0070C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20AB920E-901D-40E7-AE25-5211037CCBB5}"/>
              </a:ext>
            </a:extLst>
          </p:cNvPr>
          <p:cNvCxnSpPr>
            <a:cxnSpLocks/>
          </p:cNvCxnSpPr>
          <p:nvPr/>
        </p:nvCxnSpPr>
        <p:spPr>
          <a:xfrm>
            <a:off x="7468915" y="3322933"/>
            <a:ext cx="0" cy="1064362"/>
          </a:xfrm>
          <a:prstGeom prst="straightConnector1">
            <a:avLst/>
          </a:prstGeom>
          <a:ln>
            <a:solidFill>
              <a:srgbClr val="0070C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2D7701B6-AE6F-502A-B947-78ECDF772202}"/>
              </a:ext>
            </a:extLst>
          </p:cNvPr>
          <p:cNvCxnSpPr>
            <a:cxnSpLocks/>
          </p:cNvCxnSpPr>
          <p:nvPr/>
        </p:nvCxnSpPr>
        <p:spPr>
          <a:xfrm>
            <a:off x="1628936" y="2085930"/>
            <a:ext cx="0" cy="443910"/>
          </a:xfrm>
          <a:prstGeom prst="straightConnector1">
            <a:avLst/>
          </a:prstGeom>
          <a:ln>
            <a:solidFill>
              <a:srgbClr val="1982A7"/>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0A49B39A-5695-3973-335C-C6B6410AA560}"/>
              </a:ext>
            </a:extLst>
          </p:cNvPr>
          <p:cNvCxnSpPr>
            <a:cxnSpLocks/>
          </p:cNvCxnSpPr>
          <p:nvPr/>
        </p:nvCxnSpPr>
        <p:spPr>
          <a:xfrm>
            <a:off x="1613265" y="3322933"/>
            <a:ext cx="0" cy="1064362"/>
          </a:xfrm>
          <a:prstGeom prst="straightConnector1">
            <a:avLst/>
          </a:prstGeom>
          <a:ln>
            <a:solidFill>
              <a:srgbClr val="1982A7"/>
            </a:solidFill>
            <a:headEnd type="triangle"/>
            <a:tailEnd type="triangle"/>
          </a:ln>
        </p:spPr>
        <p:style>
          <a:lnRef idx="2">
            <a:schemeClr val="accent1"/>
          </a:lnRef>
          <a:fillRef idx="0">
            <a:schemeClr val="accent1"/>
          </a:fillRef>
          <a:effectRef idx="1">
            <a:schemeClr val="accent1"/>
          </a:effectRef>
          <a:fontRef idx="minor">
            <a:schemeClr val="tx1"/>
          </a:fontRef>
        </p:style>
      </p:cxnSp>
      <p:pic>
        <p:nvPicPr>
          <p:cNvPr id="50" name="Graphic 49">
            <a:extLst>
              <a:ext uri="{FF2B5EF4-FFF2-40B4-BE49-F238E27FC236}">
                <a16:creationId xmlns:a16="http://schemas.microsoft.com/office/drawing/2014/main" id="{3D40318C-64AF-0ED8-764D-C7506A1D14D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424872" y="3902427"/>
            <a:ext cx="948055" cy="209972"/>
          </a:xfrm>
          <a:prstGeom prst="rect">
            <a:avLst/>
          </a:prstGeom>
        </p:spPr>
      </p:pic>
      <p:sp>
        <p:nvSpPr>
          <p:cNvPr id="51" name="Rectangle 50">
            <a:extLst>
              <a:ext uri="{FF2B5EF4-FFF2-40B4-BE49-F238E27FC236}">
                <a16:creationId xmlns:a16="http://schemas.microsoft.com/office/drawing/2014/main" id="{836015F4-BB1F-C2E3-73CC-C9DAC0F809DA}"/>
              </a:ext>
            </a:extLst>
          </p:cNvPr>
          <p:cNvSpPr/>
          <p:nvPr/>
        </p:nvSpPr>
        <p:spPr>
          <a:xfrm>
            <a:off x="614425" y="5800548"/>
            <a:ext cx="1722376" cy="295454"/>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a:latin typeface="Lato" panose="020F0502020204030203" pitchFamily="34" charset="0"/>
                <a:ea typeface="Lato" panose="020F0502020204030203" pitchFamily="34" charset="0"/>
                <a:cs typeface="Lato" panose="020F0502020204030203" pitchFamily="34" charset="0"/>
              </a:rPr>
              <a:t>Tools for Communication</a:t>
            </a:r>
          </a:p>
        </p:txBody>
      </p:sp>
      <p:pic>
        <p:nvPicPr>
          <p:cNvPr id="52" name="Graphic 51">
            <a:extLst>
              <a:ext uri="{FF2B5EF4-FFF2-40B4-BE49-F238E27FC236}">
                <a16:creationId xmlns:a16="http://schemas.microsoft.com/office/drawing/2014/main" id="{89A725E5-1059-C05D-6238-839538508F5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487085" y="5790387"/>
            <a:ext cx="1145115" cy="336287"/>
          </a:xfrm>
          <a:prstGeom prst="rect">
            <a:avLst/>
          </a:prstGeom>
        </p:spPr>
      </p:pic>
      <p:sp>
        <p:nvSpPr>
          <p:cNvPr id="53" name="Rectangle 52">
            <a:extLst>
              <a:ext uri="{FF2B5EF4-FFF2-40B4-BE49-F238E27FC236}">
                <a16:creationId xmlns:a16="http://schemas.microsoft.com/office/drawing/2014/main" id="{3A6227D3-8B03-7738-927E-B30BC94D26D3}"/>
              </a:ext>
            </a:extLst>
          </p:cNvPr>
          <p:cNvSpPr/>
          <p:nvPr/>
        </p:nvSpPr>
        <p:spPr>
          <a:xfrm>
            <a:off x="880292" y="1767288"/>
            <a:ext cx="1579277" cy="26154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70C0"/>
                </a:solidFill>
                <a:effectLst/>
                <a:uLnTx/>
                <a:uFillTx/>
                <a:latin typeface="Lato" charset="0"/>
                <a:ea typeface="Lato" charset="0"/>
                <a:cs typeface="Lato" charset="0"/>
              </a:rPr>
              <a:t>PROGRAM SPONSOR</a:t>
            </a:r>
          </a:p>
        </p:txBody>
      </p:sp>
      <p:pic>
        <p:nvPicPr>
          <p:cNvPr id="54" name="Picture 53">
            <a:extLst>
              <a:ext uri="{FF2B5EF4-FFF2-40B4-BE49-F238E27FC236}">
                <a16:creationId xmlns:a16="http://schemas.microsoft.com/office/drawing/2014/main" id="{0E7161A0-7534-0CEB-0D89-64C5D17B572C}"/>
              </a:ext>
            </a:extLst>
          </p:cNvPr>
          <p:cNvPicPr>
            <a:picLocks noChangeAspect="1"/>
          </p:cNvPicPr>
          <p:nvPr/>
        </p:nvPicPr>
        <p:blipFill>
          <a:blip r:embed="rId12"/>
          <a:srcRect/>
          <a:stretch/>
        </p:blipFill>
        <p:spPr>
          <a:xfrm>
            <a:off x="916376" y="1286834"/>
            <a:ext cx="1507110" cy="292644"/>
          </a:xfrm>
          <a:prstGeom prst="rect">
            <a:avLst/>
          </a:prstGeom>
        </p:spPr>
      </p:pic>
      <p:sp>
        <p:nvSpPr>
          <p:cNvPr id="56" name="Rounded Rectangle 46">
            <a:extLst>
              <a:ext uri="{FF2B5EF4-FFF2-40B4-BE49-F238E27FC236}">
                <a16:creationId xmlns:a16="http://schemas.microsoft.com/office/drawing/2014/main" id="{D0EE28FE-C83C-EFBD-593F-3BBCA22180C2}"/>
              </a:ext>
            </a:extLst>
          </p:cNvPr>
          <p:cNvSpPr/>
          <p:nvPr/>
        </p:nvSpPr>
        <p:spPr>
          <a:xfrm>
            <a:off x="5382788" y="4844568"/>
            <a:ext cx="1551418" cy="38372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1100" kern="0">
                <a:solidFill>
                  <a:prstClr val="black"/>
                </a:solidFill>
                <a:latin typeface="Lato" charset="0"/>
                <a:ea typeface="Lato" charset="0"/>
                <a:cs typeface="Lato" charset="0"/>
              </a:rPr>
              <a:t>Power BI Developers</a:t>
            </a:r>
            <a:endParaRPr kumimoji="0" lang="en-US" sz="1100" b="0" i="0" u="none" strike="noStrike" kern="1200" cap="none" spc="0" normalizeH="0" baseline="0" noProof="0">
              <a:ln>
                <a:noFill/>
              </a:ln>
              <a:solidFill>
                <a:prstClr val="black"/>
              </a:solidFill>
              <a:effectLst/>
              <a:uLnTx/>
              <a:uFillTx/>
              <a:latin typeface="Lato" charset="0"/>
              <a:ea typeface="Lato" charset="0"/>
              <a:cs typeface="Lato" charset="0"/>
            </a:endParaRPr>
          </a:p>
        </p:txBody>
      </p:sp>
      <p:sp>
        <p:nvSpPr>
          <p:cNvPr id="57" name="Rounded Rectangle 44">
            <a:extLst>
              <a:ext uri="{FF2B5EF4-FFF2-40B4-BE49-F238E27FC236}">
                <a16:creationId xmlns:a16="http://schemas.microsoft.com/office/drawing/2014/main" id="{41E04DE4-DFDB-6FDD-FA19-BC0F6CF9EBCB}"/>
              </a:ext>
            </a:extLst>
          </p:cNvPr>
          <p:cNvSpPr/>
          <p:nvPr/>
        </p:nvSpPr>
        <p:spPr>
          <a:xfrm>
            <a:off x="4157977" y="4649477"/>
            <a:ext cx="1058138" cy="344798"/>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kern="0">
                <a:solidFill>
                  <a:prstClr val="black"/>
                </a:solidFill>
                <a:latin typeface="Lato" charset="0"/>
                <a:ea typeface="Lato" charset="0"/>
                <a:cs typeface="Lato" charset="0"/>
              </a:rPr>
              <a:t>POD Team</a:t>
            </a:r>
            <a:endParaRPr kumimoji="0" lang="en-US" sz="1100" b="0" i="0" u="none" strike="noStrike" kern="1200" cap="none" spc="0" normalizeH="0" baseline="0" noProof="0">
              <a:ln>
                <a:noFill/>
              </a:ln>
              <a:solidFill>
                <a:prstClr val="black"/>
              </a:solidFill>
              <a:effectLst/>
              <a:uLnTx/>
              <a:uFillTx/>
              <a:latin typeface="Lato" charset="0"/>
              <a:ea typeface="Lato" charset="0"/>
              <a:cs typeface="Lato" charset="0"/>
            </a:endParaRPr>
          </a:p>
        </p:txBody>
      </p:sp>
      <p:sp>
        <p:nvSpPr>
          <p:cNvPr id="58" name="Rounded Rectangle 46">
            <a:extLst>
              <a:ext uri="{FF2B5EF4-FFF2-40B4-BE49-F238E27FC236}">
                <a16:creationId xmlns:a16="http://schemas.microsoft.com/office/drawing/2014/main" id="{D729EAB1-1447-5EFA-AE05-D0646A81E38F}"/>
              </a:ext>
            </a:extLst>
          </p:cNvPr>
          <p:cNvSpPr/>
          <p:nvPr/>
        </p:nvSpPr>
        <p:spPr>
          <a:xfrm>
            <a:off x="7000927" y="4844568"/>
            <a:ext cx="1551418" cy="38372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1100" kern="0">
                <a:solidFill>
                  <a:prstClr val="black"/>
                </a:solidFill>
                <a:latin typeface="Lato" charset="0"/>
                <a:ea typeface="Lato" charset="0"/>
                <a:cs typeface="Lato" charset="0"/>
              </a:rPr>
              <a:t>Scrum Master</a:t>
            </a:r>
            <a:endParaRPr kumimoji="0" lang="en-US" sz="1100" b="0" i="0" u="none" strike="noStrike" kern="1200" cap="none" spc="0" normalizeH="0" baseline="0" noProof="0">
              <a:ln>
                <a:noFill/>
              </a:ln>
              <a:solidFill>
                <a:prstClr val="black"/>
              </a:solidFill>
              <a:effectLst/>
              <a:uLnTx/>
              <a:uFillTx/>
              <a:latin typeface="Lato" charset="0"/>
              <a:ea typeface="Lato" charset="0"/>
              <a:cs typeface="Lato" charset="0"/>
            </a:endParaRPr>
          </a:p>
        </p:txBody>
      </p:sp>
      <p:sp>
        <p:nvSpPr>
          <p:cNvPr id="59" name="Rounded Rectangle 46">
            <a:extLst>
              <a:ext uri="{FF2B5EF4-FFF2-40B4-BE49-F238E27FC236}">
                <a16:creationId xmlns:a16="http://schemas.microsoft.com/office/drawing/2014/main" id="{6423CDD4-0D24-9D1B-8F80-984387D944B0}"/>
              </a:ext>
            </a:extLst>
          </p:cNvPr>
          <p:cNvSpPr/>
          <p:nvPr/>
        </p:nvSpPr>
        <p:spPr>
          <a:xfrm>
            <a:off x="5376558" y="4420525"/>
            <a:ext cx="1551418" cy="38372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1100" kern="0">
                <a:solidFill>
                  <a:prstClr val="black"/>
                </a:solidFill>
                <a:latin typeface="Lato" charset="0"/>
                <a:ea typeface="Lato" charset="0"/>
                <a:cs typeface="Lato" charset="0"/>
              </a:rPr>
              <a:t>Platform Architect</a:t>
            </a:r>
            <a:endParaRPr kumimoji="0" lang="en-US" sz="1100" b="0" i="0" u="none" strike="noStrike" kern="1200" cap="none" spc="0" normalizeH="0" baseline="0" noProof="0">
              <a:ln>
                <a:noFill/>
              </a:ln>
              <a:solidFill>
                <a:prstClr val="black"/>
              </a:solidFill>
              <a:effectLst/>
              <a:uLnTx/>
              <a:uFillTx/>
              <a:latin typeface="Lato" charset="0"/>
              <a:ea typeface="Lato" charset="0"/>
              <a:cs typeface="Lato" charset="0"/>
            </a:endParaRPr>
          </a:p>
        </p:txBody>
      </p:sp>
      <p:sp>
        <p:nvSpPr>
          <p:cNvPr id="60" name="Rounded Rectangle 46">
            <a:extLst>
              <a:ext uri="{FF2B5EF4-FFF2-40B4-BE49-F238E27FC236}">
                <a16:creationId xmlns:a16="http://schemas.microsoft.com/office/drawing/2014/main" id="{D1A7581B-6B49-980D-AC82-A33C5293852D}"/>
              </a:ext>
            </a:extLst>
          </p:cNvPr>
          <p:cNvSpPr/>
          <p:nvPr/>
        </p:nvSpPr>
        <p:spPr>
          <a:xfrm>
            <a:off x="6994697" y="4420525"/>
            <a:ext cx="1551418" cy="38372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1100" kern="0">
                <a:solidFill>
                  <a:prstClr val="black"/>
                </a:solidFill>
                <a:latin typeface="Lato" charset="0"/>
                <a:ea typeface="Lato" charset="0"/>
                <a:cs typeface="Lato" charset="0"/>
              </a:rPr>
              <a:t>Data Modeler</a:t>
            </a:r>
            <a:endParaRPr kumimoji="0" lang="en-US" sz="1100" b="0" i="0" u="none" strike="noStrike" kern="1200" cap="none" spc="0" normalizeH="0" baseline="0" noProof="0">
              <a:ln>
                <a:noFill/>
              </a:ln>
              <a:solidFill>
                <a:prstClr val="black"/>
              </a:solidFill>
              <a:effectLst/>
              <a:uLnTx/>
              <a:uFillTx/>
              <a:latin typeface="Lato" charset="0"/>
              <a:ea typeface="Lato" charset="0"/>
              <a:cs typeface="Lato" charset="0"/>
            </a:endParaRPr>
          </a:p>
        </p:txBody>
      </p:sp>
    </p:spTree>
    <p:extLst>
      <p:ext uri="{BB962C8B-B14F-4D97-AF65-F5344CB8AC3E}">
        <p14:creationId xmlns:p14="http://schemas.microsoft.com/office/powerpoint/2010/main" val="14151098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A8FF6-929D-AF7F-6FF9-5E23DB2B842F}"/>
            </a:ext>
          </a:extLst>
        </p:cNvPr>
        <p:cNvGrpSpPr/>
        <p:nvPr/>
      </p:nvGrpSpPr>
      <p:grpSpPr>
        <a:xfrm>
          <a:off x="0" y="0"/>
          <a:ext cx="0" cy="0"/>
          <a:chOff x="0" y="0"/>
          <a:chExt cx="0" cy="0"/>
        </a:xfrm>
      </p:grpSpPr>
      <p:sp>
        <p:nvSpPr>
          <p:cNvPr id="18" name="Rounded Rectangle 17">
            <a:extLst>
              <a:ext uri="{FF2B5EF4-FFF2-40B4-BE49-F238E27FC236}">
                <a16:creationId xmlns:a16="http://schemas.microsoft.com/office/drawing/2014/main" id="{327F2075-36AD-03F7-EEFB-860B6C4F62EB}"/>
              </a:ext>
            </a:extLst>
          </p:cNvPr>
          <p:cNvSpPr/>
          <p:nvPr/>
        </p:nvSpPr>
        <p:spPr>
          <a:xfrm>
            <a:off x="494968" y="2379008"/>
            <a:ext cx="2573909" cy="1049992"/>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D2EED9F-E685-97B9-5A45-ACB0D09AFDF9}"/>
              </a:ext>
            </a:extLst>
          </p:cNvPr>
          <p:cNvSpPr/>
          <p:nvPr/>
        </p:nvSpPr>
        <p:spPr>
          <a:xfrm>
            <a:off x="8973306" y="2292769"/>
            <a:ext cx="3120557" cy="4233761"/>
          </a:xfrm>
          <a:prstGeom prst="rect">
            <a:avLst/>
          </a:prstGeom>
          <a:solidFill>
            <a:srgbClr val="D6E4F7">
              <a:alpha val="3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589560-B263-4978-E026-784F75383B08}"/>
              </a:ext>
            </a:extLst>
          </p:cNvPr>
          <p:cNvSpPr>
            <a:spLocks noGrp="1"/>
          </p:cNvSpPr>
          <p:nvPr>
            <p:ph type="title"/>
          </p:nvPr>
        </p:nvSpPr>
        <p:spPr/>
        <p:txBody>
          <a:bodyPr>
            <a:normAutofit/>
          </a:bodyPr>
          <a:lstStyle/>
          <a:p>
            <a:r>
              <a:rPr lang="en-US" dirty="0"/>
              <a:t>Delivery Execution Coverage</a:t>
            </a:r>
            <a:endParaRPr lang="en-IN" dirty="0"/>
          </a:p>
        </p:txBody>
      </p:sp>
      <p:sp>
        <p:nvSpPr>
          <p:cNvPr id="4" name="Pentagon 131">
            <a:extLst>
              <a:ext uri="{FF2B5EF4-FFF2-40B4-BE49-F238E27FC236}">
                <a16:creationId xmlns:a16="http://schemas.microsoft.com/office/drawing/2014/main" id="{3CD67A51-E74A-86AA-C2E4-73E59979248F}"/>
              </a:ext>
            </a:extLst>
          </p:cNvPr>
          <p:cNvSpPr/>
          <p:nvPr/>
        </p:nvSpPr>
        <p:spPr>
          <a:xfrm flipV="1">
            <a:off x="1027134" y="849709"/>
            <a:ext cx="5068866" cy="400121"/>
          </a:xfrm>
          <a:prstGeom prst="round2SameRect">
            <a:avLst>
              <a:gd name="adj1" fmla="val 16667"/>
              <a:gd name="adj2" fmla="val 50000"/>
            </a:avLst>
          </a:prstGeom>
          <a:solidFill>
            <a:srgbClr val="63A84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able 4">
            <a:extLst>
              <a:ext uri="{FF2B5EF4-FFF2-40B4-BE49-F238E27FC236}">
                <a16:creationId xmlns:a16="http://schemas.microsoft.com/office/drawing/2014/main" id="{14BC05CD-9D70-6B80-A98A-233CFD9DC7EF}"/>
              </a:ext>
            </a:extLst>
          </p:cNvPr>
          <p:cNvGraphicFramePr>
            <a:graphicFrameLocks noGrp="1"/>
          </p:cNvGraphicFramePr>
          <p:nvPr>
            <p:extLst>
              <p:ext uri="{D42A27DB-BD31-4B8C-83A1-F6EECF244321}">
                <p14:modId xmlns:p14="http://schemas.microsoft.com/office/powerpoint/2010/main" val="3469176013"/>
              </p:ext>
            </p:extLst>
          </p:nvPr>
        </p:nvGraphicFramePr>
        <p:xfrm>
          <a:off x="53340" y="1271660"/>
          <a:ext cx="12084912" cy="441869"/>
        </p:xfrm>
        <a:graphic>
          <a:graphicData uri="http://schemas.openxmlformats.org/drawingml/2006/table">
            <a:tbl>
              <a:tblPr firstRow="1" bandRow="1">
                <a:tableStyleId>{5C22544A-7EE6-4342-B048-85BDC9FD1C3A}</a:tableStyleId>
              </a:tblPr>
              <a:tblGrid>
                <a:gridCol w="503538">
                  <a:extLst>
                    <a:ext uri="{9D8B030D-6E8A-4147-A177-3AD203B41FA5}">
                      <a16:colId xmlns:a16="http://schemas.microsoft.com/office/drawing/2014/main" val="584091382"/>
                    </a:ext>
                  </a:extLst>
                </a:gridCol>
                <a:gridCol w="503538">
                  <a:extLst>
                    <a:ext uri="{9D8B030D-6E8A-4147-A177-3AD203B41FA5}">
                      <a16:colId xmlns:a16="http://schemas.microsoft.com/office/drawing/2014/main" val="2748861829"/>
                    </a:ext>
                  </a:extLst>
                </a:gridCol>
                <a:gridCol w="503538">
                  <a:extLst>
                    <a:ext uri="{9D8B030D-6E8A-4147-A177-3AD203B41FA5}">
                      <a16:colId xmlns:a16="http://schemas.microsoft.com/office/drawing/2014/main" val="1743892914"/>
                    </a:ext>
                  </a:extLst>
                </a:gridCol>
                <a:gridCol w="503538">
                  <a:extLst>
                    <a:ext uri="{9D8B030D-6E8A-4147-A177-3AD203B41FA5}">
                      <a16:colId xmlns:a16="http://schemas.microsoft.com/office/drawing/2014/main" val="536278628"/>
                    </a:ext>
                  </a:extLst>
                </a:gridCol>
                <a:gridCol w="503538">
                  <a:extLst>
                    <a:ext uri="{9D8B030D-6E8A-4147-A177-3AD203B41FA5}">
                      <a16:colId xmlns:a16="http://schemas.microsoft.com/office/drawing/2014/main" val="1624692920"/>
                    </a:ext>
                  </a:extLst>
                </a:gridCol>
                <a:gridCol w="503538">
                  <a:extLst>
                    <a:ext uri="{9D8B030D-6E8A-4147-A177-3AD203B41FA5}">
                      <a16:colId xmlns:a16="http://schemas.microsoft.com/office/drawing/2014/main" val="544618977"/>
                    </a:ext>
                  </a:extLst>
                </a:gridCol>
                <a:gridCol w="503538">
                  <a:extLst>
                    <a:ext uri="{9D8B030D-6E8A-4147-A177-3AD203B41FA5}">
                      <a16:colId xmlns:a16="http://schemas.microsoft.com/office/drawing/2014/main" val="872509496"/>
                    </a:ext>
                  </a:extLst>
                </a:gridCol>
                <a:gridCol w="503538">
                  <a:extLst>
                    <a:ext uri="{9D8B030D-6E8A-4147-A177-3AD203B41FA5}">
                      <a16:colId xmlns:a16="http://schemas.microsoft.com/office/drawing/2014/main" val="2694064306"/>
                    </a:ext>
                  </a:extLst>
                </a:gridCol>
                <a:gridCol w="503538">
                  <a:extLst>
                    <a:ext uri="{9D8B030D-6E8A-4147-A177-3AD203B41FA5}">
                      <a16:colId xmlns:a16="http://schemas.microsoft.com/office/drawing/2014/main" val="3858525396"/>
                    </a:ext>
                  </a:extLst>
                </a:gridCol>
                <a:gridCol w="503538">
                  <a:extLst>
                    <a:ext uri="{9D8B030D-6E8A-4147-A177-3AD203B41FA5}">
                      <a16:colId xmlns:a16="http://schemas.microsoft.com/office/drawing/2014/main" val="71398400"/>
                    </a:ext>
                  </a:extLst>
                </a:gridCol>
                <a:gridCol w="503538">
                  <a:extLst>
                    <a:ext uri="{9D8B030D-6E8A-4147-A177-3AD203B41FA5}">
                      <a16:colId xmlns:a16="http://schemas.microsoft.com/office/drawing/2014/main" val="2104043521"/>
                    </a:ext>
                  </a:extLst>
                </a:gridCol>
                <a:gridCol w="538032">
                  <a:extLst>
                    <a:ext uri="{9D8B030D-6E8A-4147-A177-3AD203B41FA5}">
                      <a16:colId xmlns:a16="http://schemas.microsoft.com/office/drawing/2014/main" val="2294758517"/>
                    </a:ext>
                  </a:extLst>
                </a:gridCol>
                <a:gridCol w="469044">
                  <a:extLst>
                    <a:ext uri="{9D8B030D-6E8A-4147-A177-3AD203B41FA5}">
                      <a16:colId xmlns:a16="http://schemas.microsoft.com/office/drawing/2014/main" val="2306254467"/>
                    </a:ext>
                  </a:extLst>
                </a:gridCol>
                <a:gridCol w="503538">
                  <a:extLst>
                    <a:ext uri="{9D8B030D-6E8A-4147-A177-3AD203B41FA5}">
                      <a16:colId xmlns:a16="http://schemas.microsoft.com/office/drawing/2014/main" val="493241305"/>
                    </a:ext>
                  </a:extLst>
                </a:gridCol>
                <a:gridCol w="503538">
                  <a:extLst>
                    <a:ext uri="{9D8B030D-6E8A-4147-A177-3AD203B41FA5}">
                      <a16:colId xmlns:a16="http://schemas.microsoft.com/office/drawing/2014/main" val="2891023640"/>
                    </a:ext>
                  </a:extLst>
                </a:gridCol>
                <a:gridCol w="503538">
                  <a:extLst>
                    <a:ext uri="{9D8B030D-6E8A-4147-A177-3AD203B41FA5}">
                      <a16:colId xmlns:a16="http://schemas.microsoft.com/office/drawing/2014/main" val="334553637"/>
                    </a:ext>
                  </a:extLst>
                </a:gridCol>
                <a:gridCol w="503538">
                  <a:extLst>
                    <a:ext uri="{9D8B030D-6E8A-4147-A177-3AD203B41FA5}">
                      <a16:colId xmlns:a16="http://schemas.microsoft.com/office/drawing/2014/main" val="770451691"/>
                    </a:ext>
                  </a:extLst>
                </a:gridCol>
                <a:gridCol w="503538">
                  <a:extLst>
                    <a:ext uri="{9D8B030D-6E8A-4147-A177-3AD203B41FA5}">
                      <a16:colId xmlns:a16="http://schemas.microsoft.com/office/drawing/2014/main" val="143878793"/>
                    </a:ext>
                  </a:extLst>
                </a:gridCol>
                <a:gridCol w="503538">
                  <a:extLst>
                    <a:ext uri="{9D8B030D-6E8A-4147-A177-3AD203B41FA5}">
                      <a16:colId xmlns:a16="http://schemas.microsoft.com/office/drawing/2014/main" val="542723740"/>
                    </a:ext>
                  </a:extLst>
                </a:gridCol>
                <a:gridCol w="503538">
                  <a:extLst>
                    <a:ext uri="{9D8B030D-6E8A-4147-A177-3AD203B41FA5}">
                      <a16:colId xmlns:a16="http://schemas.microsoft.com/office/drawing/2014/main" val="2226908996"/>
                    </a:ext>
                  </a:extLst>
                </a:gridCol>
                <a:gridCol w="503538">
                  <a:extLst>
                    <a:ext uri="{9D8B030D-6E8A-4147-A177-3AD203B41FA5}">
                      <a16:colId xmlns:a16="http://schemas.microsoft.com/office/drawing/2014/main" val="4047525489"/>
                    </a:ext>
                  </a:extLst>
                </a:gridCol>
                <a:gridCol w="503538">
                  <a:extLst>
                    <a:ext uri="{9D8B030D-6E8A-4147-A177-3AD203B41FA5}">
                      <a16:colId xmlns:a16="http://schemas.microsoft.com/office/drawing/2014/main" val="1768104619"/>
                    </a:ext>
                  </a:extLst>
                </a:gridCol>
                <a:gridCol w="503538">
                  <a:extLst>
                    <a:ext uri="{9D8B030D-6E8A-4147-A177-3AD203B41FA5}">
                      <a16:colId xmlns:a16="http://schemas.microsoft.com/office/drawing/2014/main" val="3850099963"/>
                    </a:ext>
                  </a:extLst>
                </a:gridCol>
                <a:gridCol w="503538">
                  <a:extLst>
                    <a:ext uri="{9D8B030D-6E8A-4147-A177-3AD203B41FA5}">
                      <a16:colId xmlns:a16="http://schemas.microsoft.com/office/drawing/2014/main" val="798399982"/>
                    </a:ext>
                  </a:extLst>
                </a:gridCol>
              </a:tblGrid>
              <a:tr h="441869">
                <a:tc>
                  <a:txBody>
                    <a:bodyPr/>
                    <a:lstStyle/>
                    <a:p>
                      <a:pPr algn="ctr"/>
                      <a:r>
                        <a:rPr lang="en-US" sz="1050">
                          <a:latin typeface="Lato" panose="020F0502020204030203" pitchFamily="34" charset="0"/>
                          <a:ea typeface="Lato" panose="020F0502020204030203" pitchFamily="34" charset="0"/>
                          <a:cs typeface="Lato" panose="020F0502020204030203" pitchFamily="34" charset="0"/>
                        </a:rPr>
                        <a:t>1 AM</a:t>
                      </a:r>
                      <a:endParaRPr lang="en-IN" sz="1050">
                        <a:latin typeface="Lato" panose="020F0502020204030203" pitchFamily="34" charset="0"/>
                        <a:ea typeface="Lato" panose="020F0502020204030203" pitchFamily="34" charset="0"/>
                        <a:cs typeface="Lato" panose="020F0502020204030203" pitchFamily="34" charset="0"/>
                      </a:endParaRPr>
                    </a:p>
                  </a:txBody>
                  <a:tcPr marL="0" marR="0" anchor="ctr">
                    <a:lnL w="12700" cap="flat" cmpd="sng" algn="ctr">
                      <a:solidFill>
                        <a:schemeClr val="tx2">
                          <a:lumMod val="10000"/>
                          <a:lumOff val="90000"/>
                        </a:schemeClr>
                      </a:solidFill>
                      <a:prstDash val="solid"/>
                      <a:round/>
                      <a:headEnd type="none" w="med" len="med"/>
                      <a:tailEnd type="none" w="med" len="med"/>
                    </a:lnL>
                    <a:lnR w="12700" cap="flat" cmpd="sng" algn="ctr">
                      <a:solidFill>
                        <a:schemeClr val="tx2">
                          <a:lumMod val="10000"/>
                          <a:lumOff val="90000"/>
                        </a:schemeClr>
                      </a:solidFill>
                      <a:prstDash val="solid"/>
                      <a:round/>
                      <a:headEnd type="none" w="med" len="med"/>
                      <a:tailEnd type="none" w="med" len="med"/>
                    </a:lnR>
                    <a:lnT w="12700" cap="flat" cmpd="sng" algn="ctr">
                      <a:solidFill>
                        <a:schemeClr val="tx2">
                          <a:lumMod val="10000"/>
                          <a:lumOff val="90000"/>
                        </a:schemeClr>
                      </a:solidFill>
                      <a:prstDash val="solid"/>
                      <a:round/>
                      <a:headEnd type="none" w="med" len="med"/>
                      <a:tailEnd type="none" w="med" len="med"/>
                    </a:lnT>
                    <a:lnB w="12700" cap="flat" cmpd="sng" algn="ctr">
                      <a:solidFill>
                        <a:schemeClr val="tx2">
                          <a:lumMod val="10000"/>
                          <a:lumOff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US" sz="1050">
                          <a:latin typeface="Lato" panose="020F0502020204030203" pitchFamily="34" charset="0"/>
                          <a:ea typeface="Lato" panose="020F0502020204030203" pitchFamily="34" charset="0"/>
                          <a:cs typeface="Lato" panose="020F0502020204030203" pitchFamily="34" charset="0"/>
                        </a:rPr>
                        <a:t>2 AM</a:t>
                      </a:r>
                      <a:endParaRPr lang="en-IN" sz="1050">
                        <a:latin typeface="Lato" panose="020F0502020204030203" pitchFamily="34" charset="0"/>
                        <a:ea typeface="Lato" panose="020F0502020204030203" pitchFamily="34" charset="0"/>
                        <a:cs typeface="Lato" panose="020F0502020204030203" pitchFamily="34" charset="0"/>
                      </a:endParaRPr>
                    </a:p>
                  </a:txBody>
                  <a:tcPr marL="0" marR="0" anchor="ctr">
                    <a:lnL w="12700" cap="flat" cmpd="sng" algn="ctr">
                      <a:solidFill>
                        <a:schemeClr val="tx2">
                          <a:lumMod val="10000"/>
                          <a:lumOff val="90000"/>
                        </a:schemeClr>
                      </a:solidFill>
                      <a:prstDash val="solid"/>
                      <a:round/>
                      <a:headEnd type="none" w="med" len="med"/>
                      <a:tailEnd type="none" w="med" len="med"/>
                    </a:lnL>
                    <a:lnR w="12700" cap="flat" cmpd="sng" algn="ctr">
                      <a:solidFill>
                        <a:schemeClr val="tx2">
                          <a:lumMod val="10000"/>
                          <a:lumOff val="90000"/>
                        </a:schemeClr>
                      </a:solidFill>
                      <a:prstDash val="solid"/>
                      <a:round/>
                      <a:headEnd type="none" w="med" len="med"/>
                      <a:tailEnd type="none" w="med" len="med"/>
                    </a:lnR>
                    <a:lnT w="12700" cap="flat" cmpd="sng" algn="ctr">
                      <a:solidFill>
                        <a:schemeClr val="tx2">
                          <a:lumMod val="10000"/>
                          <a:lumOff val="90000"/>
                        </a:schemeClr>
                      </a:solidFill>
                      <a:prstDash val="solid"/>
                      <a:round/>
                      <a:headEnd type="none" w="med" len="med"/>
                      <a:tailEnd type="none" w="med" len="med"/>
                    </a:lnT>
                    <a:lnB w="12700" cap="flat" cmpd="sng" algn="ctr">
                      <a:solidFill>
                        <a:schemeClr val="tx2">
                          <a:lumMod val="10000"/>
                          <a:lumOff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US" sz="1050">
                          <a:latin typeface="Lato" panose="020F0502020204030203" pitchFamily="34" charset="0"/>
                          <a:ea typeface="Lato" panose="020F0502020204030203" pitchFamily="34" charset="0"/>
                          <a:cs typeface="Lato" panose="020F0502020204030203" pitchFamily="34" charset="0"/>
                        </a:rPr>
                        <a:t>3 AM</a:t>
                      </a:r>
                      <a:endParaRPr lang="en-IN" sz="1050">
                        <a:latin typeface="Lato" panose="020F0502020204030203" pitchFamily="34" charset="0"/>
                        <a:ea typeface="Lato" panose="020F0502020204030203" pitchFamily="34" charset="0"/>
                        <a:cs typeface="Lato" panose="020F0502020204030203" pitchFamily="34" charset="0"/>
                      </a:endParaRPr>
                    </a:p>
                  </a:txBody>
                  <a:tcPr marL="0" marR="0" anchor="ctr">
                    <a:lnL w="12700" cap="flat" cmpd="sng" algn="ctr">
                      <a:solidFill>
                        <a:schemeClr val="tx2">
                          <a:lumMod val="10000"/>
                          <a:lumOff val="90000"/>
                        </a:schemeClr>
                      </a:solidFill>
                      <a:prstDash val="solid"/>
                      <a:round/>
                      <a:headEnd type="none" w="med" len="med"/>
                      <a:tailEnd type="none" w="med" len="med"/>
                    </a:lnL>
                    <a:lnR w="12700" cap="flat" cmpd="sng" algn="ctr">
                      <a:solidFill>
                        <a:schemeClr val="tx2">
                          <a:lumMod val="10000"/>
                          <a:lumOff val="90000"/>
                        </a:schemeClr>
                      </a:solidFill>
                      <a:prstDash val="solid"/>
                      <a:round/>
                      <a:headEnd type="none" w="med" len="med"/>
                      <a:tailEnd type="none" w="med" len="med"/>
                    </a:lnR>
                    <a:lnT w="12700" cap="flat" cmpd="sng" algn="ctr">
                      <a:solidFill>
                        <a:schemeClr val="tx2">
                          <a:lumMod val="10000"/>
                          <a:lumOff val="90000"/>
                        </a:schemeClr>
                      </a:solidFill>
                      <a:prstDash val="solid"/>
                      <a:round/>
                      <a:headEnd type="none" w="med" len="med"/>
                      <a:tailEnd type="none" w="med" len="med"/>
                    </a:lnT>
                    <a:lnB w="12700" cap="flat" cmpd="sng" algn="ctr">
                      <a:solidFill>
                        <a:schemeClr val="tx2">
                          <a:lumMod val="10000"/>
                          <a:lumOff val="90000"/>
                        </a:schemeClr>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sz="1050">
                          <a:latin typeface="Lato" panose="020F0502020204030203" pitchFamily="34" charset="0"/>
                          <a:ea typeface="Lato" panose="020F0502020204030203" pitchFamily="34" charset="0"/>
                          <a:cs typeface="Lato" panose="020F0502020204030203" pitchFamily="34" charset="0"/>
                        </a:rPr>
                        <a:t>4 AM</a:t>
                      </a:r>
                      <a:endParaRPr lang="en-IN" sz="1050">
                        <a:latin typeface="Lato" panose="020F0502020204030203" pitchFamily="34" charset="0"/>
                        <a:ea typeface="Lato" panose="020F0502020204030203" pitchFamily="34" charset="0"/>
                        <a:cs typeface="Lato" panose="020F0502020204030203" pitchFamily="34" charset="0"/>
                      </a:endParaRPr>
                    </a:p>
                  </a:txBody>
                  <a:tcPr marL="0" marR="0" anchor="ctr">
                    <a:lnL w="12700" cap="flat" cmpd="sng" algn="ctr">
                      <a:solidFill>
                        <a:schemeClr val="tx2">
                          <a:lumMod val="10000"/>
                          <a:lumOff val="90000"/>
                        </a:schemeClr>
                      </a:solidFill>
                      <a:prstDash val="solid"/>
                      <a:round/>
                      <a:headEnd type="none" w="med" len="med"/>
                      <a:tailEnd type="none" w="med" len="med"/>
                    </a:lnL>
                    <a:lnR w="12700" cap="flat" cmpd="sng" algn="ctr">
                      <a:solidFill>
                        <a:schemeClr val="tx2">
                          <a:lumMod val="10000"/>
                          <a:lumOff val="90000"/>
                        </a:schemeClr>
                      </a:solidFill>
                      <a:prstDash val="solid"/>
                      <a:round/>
                      <a:headEnd type="none" w="med" len="med"/>
                      <a:tailEnd type="none" w="med" len="med"/>
                    </a:lnR>
                    <a:lnT w="12700" cap="flat" cmpd="sng" algn="ctr">
                      <a:solidFill>
                        <a:schemeClr val="tx2">
                          <a:lumMod val="10000"/>
                          <a:lumOff val="90000"/>
                        </a:schemeClr>
                      </a:solidFill>
                      <a:prstDash val="solid"/>
                      <a:round/>
                      <a:headEnd type="none" w="med" len="med"/>
                      <a:tailEnd type="none" w="med" len="med"/>
                    </a:lnT>
                    <a:lnB w="12700" cap="flat" cmpd="sng" algn="ctr">
                      <a:solidFill>
                        <a:schemeClr val="tx2">
                          <a:lumMod val="10000"/>
                          <a:lumOff val="90000"/>
                        </a:schemeClr>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sz="1050">
                          <a:latin typeface="Lato" panose="020F0502020204030203" pitchFamily="34" charset="0"/>
                          <a:ea typeface="Lato" panose="020F0502020204030203" pitchFamily="34" charset="0"/>
                          <a:cs typeface="Lato" panose="020F0502020204030203" pitchFamily="34" charset="0"/>
                        </a:rPr>
                        <a:t>5 AM</a:t>
                      </a:r>
                      <a:endParaRPr lang="en-IN" sz="1050">
                        <a:latin typeface="Lato" panose="020F0502020204030203" pitchFamily="34" charset="0"/>
                        <a:ea typeface="Lato" panose="020F0502020204030203" pitchFamily="34" charset="0"/>
                        <a:cs typeface="Lato" panose="020F0502020204030203" pitchFamily="34" charset="0"/>
                      </a:endParaRPr>
                    </a:p>
                  </a:txBody>
                  <a:tcPr marL="0" marR="0" anchor="ctr">
                    <a:lnL w="12700" cap="flat" cmpd="sng" algn="ctr">
                      <a:solidFill>
                        <a:schemeClr val="tx2">
                          <a:lumMod val="10000"/>
                          <a:lumOff val="90000"/>
                        </a:schemeClr>
                      </a:solidFill>
                      <a:prstDash val="solid"/>
                      <a:round/>
                      <a:headEnd type="none" w="med" len="med"/>
                      <a:tailEnd type="none" w="med" len="med"/>
                    </a:lnL>
                    <a:lnR w="12700" cap="flat" cmpd="sng" algn="ctr">
                      <a:solidFill>
                        <a:schemeClr val="tx2">
                          <a:lumMod val="10000"/>
                          <a:lumOff val="90000"/>
                        </a:schemeClr>
                      </a:solidFill>
                      <a:prstDash val="solid"/>
                      <a:round/>
                      <a:headEnd type="none" w="med" len="med"/>
                      <a:tailEnd type="none" w="med" len="med"/>
                    </a:lnR>
                    <a:lnT w="12700" cap="flat" cmpd="sng" algn="ctr">
                      <a:solidFill>
                        <a:schemeClr val="tx2">
                          <a:lumMod val="10000"/>
                          <a:lumOff val="90000"/>
                        </a:schemeClr>
                      </a:solidFill>
                      <a:prstDash val="solid"/>
                      <a:round/>
                      <a:headEnd type="none" w="med" len="med"/>
                      <a:tailEnd type="none" w="med" len="med"/>
                    </a:lnT>
                    <a:lnB w="12700" cap="flat" cmpd="sng" algn="ctr">
                      <a:solidFill>
                        <a:schemeClr val="tx2">
                          <a:lumMod val="10000"/>
                          <a:lumOff val="90000"/>
                        </a:schemeClr>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sz="1050">
                          <a:latin typeface="Lato" panose="020F0502020204030203" pitchFamily="34" charset="0"/>
                          <a:ea typeface="Lato" panose="020F0502020204030203" pitchFamily="34" charset="0"/>
                          <a:cs typeface="Lato" panose="020F0502020204030203" pitchFamily="34" charset="0"/>
                        </a:rPr>
                        <a:t>6 AM</a:t>
                      </a:r>
                      <a:endParaRPr lang="en-IN" sz="1050">
                        <a:latin typeface="Lato" panose="020F0502020204030203" pitchFamily="34" charset="0"/>
                        <a:ea typeface="Lato" panose="020F0502020204030203" pitchFamily="34" charset="0"/>
                        <a:cs typeface="Lato" panose="020F0502020204030203" pitchFamily="34" charset="0"/>
                      </a:endParaRPr>
                    </a:p>
                  </a:txBody>
                  <a:tcPr marL="0" marR="0" anchor="ctr">
                    <a:lnL w="12700" cap="flat" cmpd="sng" algn="ctr">
                      <a:solidFill>
                        <a:schemeClr val="tx2">
                          <a:lumMod val="10000"/>
                          <a:lumOff val="90000"/>
                        </a:schemeClr>
                      </a:solidFill>
                      <a:prstDash val="solid"/>
                      <a:round/>
                      <a:headEnd type="none" w="med" len="med"/>
                      <a:tailEnd type="none" w="med" len="med"/>
                    </a:lnL>
                    <a:lnR w="12700" cap="flat" cmpd="sng" algn="ctr">
                      <a:solidFill>
                        <a:schemeClr val="tx2">
                          <a:lumMod val="10000"/>
                          <a:lumOff val="90000"/>
                        </a:schemeClr>
                      </a:solidFill>
                      <a:prstDash val="solid"/>
                      <a:round/>
                      <a:headEnd type="none" w="med" len="med"/>
                      <a:tailEnd type="none" w="med" len="med"/>
                    </a:lnR>
                    <a:lnT w="12700" cap="flat" cmpd="sng" algn="ctr">
                      <a:solidFill>
                        <a:schemeClr val="tx2">
                          <a:lumMod val="10000"/>
                          <a:lumOff val="90000"/>
                        </a:schemeClr>
                      </a:solidFill>
                      <a:prstDash val="solid"/>
                      <a:round/>
                      <a:headEnd type="none" w="med" len="med"/>
                      <a:tailEnd type="none" w="med" len="med"/>
                    </a:lnT>
                    <a:lnB w="12700" cap="flat" cmpd="sng" algn="ctr">
                      <a:solidFill>
                        <a:schemeClr val="tx2">
                          <a:lumMod val="10000"/>
                          <a:lumOff val="90000"/>
                        </a:schemeClr>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sz="1050">
                          <a:latin typeface="Lato" panose="020F0502020204030203" pitchFamily="34" charset="0"/>
                          <a:ea typeface="Lato" panose="020F0502020204030203" pitchFamily="34" charset="0"/>
                          <a:cs typeface="Lato" panose="020F0502020204030203" pitchFamily="34" charset="0"/>
                        </a:rPr>
                        <a:t>7 AM</a:t>
                      </a:r>
                      <a:endParaRPr lang="en-IN" sz="1050">
                        <a:latin typeface="Lato" panose="020F0502020204030203" pitchFamily="34" charset="0"/>
                        <a:ea typeface="Lato" panose="020F0502020204030203" pitchFamily="34" charset="0"/>
                        <a:cs typeface="Lato" panose="020F0502020204030203" pitchFamily="34" charset="0"/>
                      </a:endParaRPr>
                    </a:p>
                  </a:txBody>
                  <a:tcPr marL="0" marR="0" anchor="ctr">
                    <a:lnL w="12700" cap="flat" cmpd="sng" algn="ctr">
                      <a:solidFill>
                        <a:schemeClr val="tx2">
                          <a:lumMod val="10000"/>
                          <a:lumOff val="90000"/>
                        </a:schemeClr>
                      </a:solidFill>
                      <a:prstDash val="solid"/>
                      <a:round/>
                      <a:headEnd type="none" w="med" len="med"/>
                      <a:tailEnd type="none" w="med" len="med"/>
                    </a:lnL>
                    <a:lnR w="12700" cap="flat" cmpd="sng" algn="ctr">
                      <a:solidFill>
                        <a:schemeClr val="tx2">
                          <a:lumMod val="10000"/>
                          <a:lumOff val="90000"/>
                        </a:schemeClr>
                      </a:solidFill>
                      <a:prstDash val="solid"/>
                      <a:round/>
                      <a:headEnd type="none" w="med" len="med"/>
                      <a:tailEnd type="none" w="med" len="med"/>
                    </a:lnR>
                    <a:lnT w="12700" cap="flat" cmpd="sng" algn="ctr">
                      <a:solidFill>
                        <a:schemeClr val="tx2">
                          <a:lumMod val="10000"/>
                          <a:lumOff val="90000"/>
                        </a:schemeClr>
                      </a:solidFill>
                      <a:prstDash val="solid"/>
                      <a:round/>
                      <a:headEnd type="none" w="med" len="med"/>
                      <a:tailEnd type="none" w="med" len="med"/>
                    </a:lnT>
                    <a:lnB w="12700" cap="flat" cmpd="sng" algn="ctr">
                      <a:solidFill>
                        <a:schemeClr val="tx2">
                          <a:lumMod val="10000"/>
                          <a:lumOff val="90000"/>
                        </a:schemeClr>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sz="1050">
                          <a:latin typeface="Lato" panose="020F0502020204030203" pitchFamily="34" charset="0"/>
                          <a:ea typeface="Lato" panose="020F0502020204030203" pitchFamily="34" charset="0"/>
                          <a:cs typeface="Lato" panose="020F0502020204030203" pitchFamily="34" charset="0"/>
                        </a:rPr>
                        <a:t>8 AM</a:t>
                      </a:r>
                      <a:endParaRPr lang="en-IN" sz="1050">
                        <a:latin typeface="Lato" panose="020F0502020204030203" pitchFamily="34" charset="0"/>
                        <a:ea typeface="Lato" panose="020F0502020204030203" pitchFamily="34" charset="0"/>
                        <a:cs typeface="Lato" panose="020F0502020204030203" pitchFamily="34" charset="0"/>
                      </a:endParaRPr>
                    </a:p>
                  </a:txBody>
                  <a:tcPr marL="0" marR="0" anchor="ctr">
                    <a:lnL w="12700" cap="flat" cmpd="sng" algn="ctr">
                      <a:solidFill>
                        <a:schemeClr val="tx2">
                          <a:lumMod val="10000"/>
                          <a:lumOff val="90000"/>
                        </a:schemeClr>
                      </a:solidFill>
                      <a:prstDash val="solid"/>
                      <a:round/>
                      <a:headEnd type="none" w="med" len="med"/>
                      <a:tailEnd type="none" w="med" len="med"/>
                    </a:lnL>
                    <a:lnR w="12700" cap="flat" cmpd="sng" algn="ctr">
                      <a:solidFill>
                        <a:schemeClr val="tx2">
                          <a:lumMod val="10000"/>
                          <a:lumOff val="90000"/>
                        </a:schemeClr>
                      </a:solidFill>
                      <a:prstDash val="solid"/>
                      <a:round/>
                      <a:headEnd type="none" w="med" len="med"/>
                      <a:tailEnd type="none" w="med" len="med"/>
                    </a:lnR>
                    <a:lnT w="12700" cap="flat" cmpd="sng" algn="ctr">
                      <a:solidFill>
                        <a:schemeClr val="tx2">
                          <a:lumMod val="10000"/>
                          <a:lumOff val="90000"/>
                        </a:schemeClr>
                      </a:solidFill>
                      <a:prstDash val="solid"/>
                      <a:round/>
                      <a:headEnd type="none" w="med" len="med"/>
                      <a:tailEnd type="none" w="med" len="med"/>
                    </a:lnT>
                    <a:lnB w="12700" cap="flat" cmpd="sng" algn="ctr">
                      <a:solidFill>
                        <a:schemeClr val="tx2">
                          <a:lumMod val="10000"/>
                          <a:lumOff val="90000"/>
                        </a:schemeClr>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sz="1050">
                          <a:latin typeface="Lato" panose="020F0502020204030203" pitchFamily="34" charset="0"/>
                          <a:ea typeface="Lato" panose="020F0502020204030203" pitchFamily="34" charset="0"/>
                          <a:cs typeface="Lato" panose="020F0502020204030203" pitchFamily="34" charset="0"/>
                        </a:rPr>
                        <a:t>9 AM</a:t>
                      </a:r>
                      <a:endParaRPr lang="en-IN" sz="1050">
                        <a:latin typeface="Lato" panose="020F0502020204030203" pitchFamily="34" charset="0"/>
                        <a:ea typeface="Lato" panose="020F0502020204030203" pitchFamily="34" charset="0"/>
                        <a:cs typeface="Lato" panose="020F0502020204030203" pitchFamily="34" charset="0"/>
                      </a:endParaRPr>
                    </a:p>
                  </a:txBody>
                  <a:tcPr marL="0" marR="0" anchor="ctr">
                    <a:lnL w="12700" cap="flat" cmpd="sng" algn="ctr">
                      <a:solidFill>
                        <a:schemeClr val="tx2">
                          <a:lumMod val="10000"/>
                          <a:lumOff val="90000"/>
                        </a:schemeClr>
                      </a:solidFill>
                      <a:prstDash val="solid"/>
                      <a:round/>
                      <a:headEnd type="none" w="med" len="med"/>
                      <a:tailEnd type="none" w="med" len="med"/>
                    </a:lnL>
                    <a:lnR w="12700" cap="flat" cmpd="sng" algn="ctr">
                      <a:solidFill>
                        <a:schemeClr val="tx2">
                          <a:lumMod val="10000"/>
                          <a:lumOff val="90000"/>
                        </a:schemeClr>
                      </a:solidFill>
                      <a:prstDash val="solid"/>
                      <a:round/>
                      <a:headEnd type="none" w="med" len="med"/>
                      <a:tailEnd type="none" w="med" len="med"/>
                    </a:lnR>
                    <a:lnT w="12700" cap="flat" cmpd="sng" algn="ctr">
                      <a:solidFill>
                        <a:schemeClr val="tx2">
                          <a:lumMod val="10000"/>
                          <a:lumOff val="90000"/>
                        </a:schemeClr>
                      </a:solidFill>
                      <a:prstDash val="solid"/>
                      <a:round/>
                      <a:headEnd type="none" w="med" len="med"/>
                      <a:tailEnd type="none" w="med" len="med"/>
                    </a:lnT>
                    <a:lnB w="12700" cap="flat" cmpd="sng" algn="ctr">
                      <a:solidFill>
                        <a:schemeClr val="tx2">
                          <a:lumMod val="10000"/>
                          <a:lumOff val="90000"/>
                        </a:schemeClr>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sz="1050">
                          <a:latin typeface="Lato" panose="020F0502020204030203" pitchFamily="34" charset="0"/>
                          <a:ea typeface="Lato" panose="020F0502020204030203" pitchFamily="34" charset="0"/>
                          <a:cs typeface="Lato" panose="020F0502020204030203" pitchFamily="34" charset="0"/>
                        </a:rPr>
                        <a:t>10 AM</a:t>
                      </a:r>
                      <a:endParaRPr lang="en-IN" sz="1050">
                        <a:latin typeface="Lato" panose="020F0502020204030203" pitchFamily="34" charset="0"/>
                        <a:ea typeface="Lato" panose="020F0502020204030203" pitchFamily="34" charset="0"/>
                        <a:cs typeface="Lato" panose="020F0502020204030203" pitchFamily="34" charset="0"/>
                      </a:endParaRPr>
                    </a:p>
                  </a:txBody>
                  <a:tcPr marL="0" marR="0" anchor="ctr">
                    <a:lnL w="12700" cap="flat" cmpd="sng" algn="ctr">
                      <a:solidFill>
                        <a:schemeClr val="tx2">
                          <a:lumMod val="10000"/>
                          <a:lumOff val="90000"/>
                        </a:schemeClr>
                      </a:solidFill>
                      <a:prstDash val="solid"/>
                      <a:round/>
                      <a:headEnd type="none" w="med" len="med"/>
                      <a:tailEnd type="none" w="med" len="med"/>
                    </a:lnL>
                    <a:lnR w="12700" cap="flat" cmpd="sng" algn="ctr">
                      <a:solidFill>
                        <a:schemeClr val="tx2">
                          <a:lumMod val="10000"/>
                          <a:lumOff val="90000"/>
                        </a:schemeClr>
                      </a:solidFill>
                      <a:prstDash val="solid"/>
                      <a:round/>
                      <a:headEnd type="none" w="med" len="med"/>
                      <a:tailEnd type="none" w="med" len="med"/>
                    </a:lnR>
                    <a:lnT w="12700" cap="flat" cmpd="sng" algn="ctr">
                      <a:solidFill>
                        <a:schemeClr val="tx2">
                          <a:lumMod val="10000"/>
                          <a:lumOff val="90000"/>
                        </a:schemeClr>
                      </a:solidFill>
                      <a:prstDash val="solid"/>
                      <a:round/>
                      <a:headEnd type="none" w="med" len="med"/>
                      <a:tailEnd type="none" w="med" len="med"/>
                    </a:lnT>
                    <a:lnB w="12700" cap="flat" cmpd="sng" algn="ctr">
                      <a:solidFill>
                        <a:schemeClr val="tx2">
                          <a:lumMod val="10000"/>
                          <a:lumOff val="90000"/>
                        </a:schemeClr>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sz="1050">
                          <a:latin typeface="Lato" panose="020F0502020204030203" pitchFamily="34" charset="0"/>
                          <a:ea typeface="Lato" panose="020F0502020204030203" pitchFamily="34" charset="0"/>
                          <a:cs typeface="Lato" panose="020F0502020204030203" pitchFamily="34" charset="0"/>
                        </a:rPr>
                        <a:t>11 AM</a:t>
                      </a:r>
                      <a:endParaRPr lang="en-IN" sz="1050">
                        <a:latin typeface="Lato" panose="020F0502020204030203" pitchFamily="34" charset="0"/>
                        <a:ea typeface="Lato" panose="020F0502020204030203" pitchFamily="34" charset="0"/>
                        <a:cs typeface="Lato" panose="020F0502020204030203" pitchFamily="34" charset="0"/>
                      </a:endParaRPr>
                    </a:p>
                  </a:txBody>
                  <a:tcPr marL="0" marR="0" anchor="ctr">
                    <a:lnL w="12700" cap="flat" cmpd="sng" algn="ctr">
                      <a:solidFill>
                        <a:schemeClr val="tx2">
                          <a:lumMod val="10000"/>
                          <a:lumOff val="90000"/>
                        </a:schemeClr>
                      </a:solidFill>
                      <a:prstDash val="solid"/>
                      <a:round/>
                      <a:headEnd type="none" w="med" len="med"/>
                      <a:tailEnd type="none" w="med" len="med"/>
                    </a:lnL>
                    <a:lnR w="12700" cap="flat" cmpd="sng" algn="ctr">
                      <a:solidFill>
                        <a:schemeClr val="tx2">
                          <a:lumMod val="10000"/>
                          <a:lumOff val="90000"/>
                        </a:schemeClr>
                      </a:solidFill>
                      <a:prstDash val="solid"/>
                      <a:round/>
                      <a:headEnd type="none" w="med" len="med"/>
                      <a:tailEnd type="none" w="med" len="med"/>
                    </a:lnR>
                    <a:lnT w="12700" cap="flat" cmpd="sng" algn="ctr">
                      <a:solidFill>
                        <a:schemeClr val="tx2">
                          <a:lumMod val="10000"/>
                          <a:lumOff val="90000"/>
                        </a:schemeClr>
                      </a:solidFill>
                      <a:prstDash val="solid"/>
                      <a:round/>
                      <a:headEnd type="none" w="med" len="med"/>
                      <a:tailEnd type="none" w="med" len="med"/>
                    </a:lnT>
                    <a:lnB w="12700" cap="flat" cmpd="sng" algn="ctr">
                      <a:solidFill>
                        <a:schemeClr val="tx2">
                          <a:lumMod val="10000"/>
                          <a:lumOff val="90000"/>
                        </a:schemeClr>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sz="1050">
                          <a:latin typeface="Lato" panose="020F0502020204030203" pitchFamily="34" charset="0"/>
                          <a:ea typeface="Lato" panose="020F0502020204030203" pitchFamily="34" charset="0"/>
                          <a:cs typeface="Lato" panose="020F0502020204030203" pitchFamily="34" charset="0"/>
                        </a:rPr>
                        <a:t>12 Noon</a:t>
                      </a:r>
                      <a:endParaRPr lang="en-IN" sz="1050">
                        <a:latin typeface="Lato" panose="020F0502020204030203" pitchFamily="34" charset="0"/>
                        <a:ea typeface="Lato" panose="020F0502020204030203" pitchFamily="34" charset="0"/>
                        <a:cs typeface="Lato" panose="020F0502020204030203" pitchFamily="34" charset="0"/>
                      </a:endParaRPr>
                    </a:p>
                  </a:txBody>
                  <a:tcPr marL="0" marR="0" anchor="ctr">
                    <a:lnL w="12700" cap="flat" cmpd="sng" algn="ctr">
                      <a:solidFill>
                        <a:schemeClr val="tx2">
                          <a:lumMod val="10000"/>
                          <a:lumOff val="90000"/>
                        </a:schemeClr>
                      </a:solidFill>
                      <a:prstDash val="solid"/>
                      <a:round/>
                      <a:headEnd type="none" w="med" len="med"/>
                      <a:tailEnd type="none" w="med" len="med"/>
                    </a:lnL>
                    <a:lnR w="12700" cap="flat" cmpd="sng" algn="ctr">
                      <a:solidFill>
                        <a:schemeClr val="tx2">
                          <a:lumMod val="10000"/>
                          <a:lumOff val="90000"/>
                        </a:schemeClr>
                      </a:solidFill>
                      <a:prstDash val="solid"/>
                      <a:round/>
                      <a:headEnd type="none" w="med" len="med"/>
                      <a:tailEnd type="none" w="med" len="med"/>
                    </a:lnR>
                    <a:lnT w="12700" cap="flat" cmpd="sng" algn="ctr">
                      <a:solidFill>
                        <a:schemeClr val="tx2">
                          <a:lumMod val="10000"/>
                          <a:lumOff val="90000"/>
                        </a:schemeClr>
                      </a:solidFill>
                      <a:prstDash val="solid"/>
                      <a:round/>
                      <a:headEnd type="none" w="med" len="med"/>
                      <a:tailEnd type="none" w="med" len="med"/>
                    </a:lnT>
                    <a:lnB w="12700" cap="flat" cmpd="sng" algn="ctr">
                      <a:solidFill>
                        <a:schemeClr val="tx2">
                          <a:lumMod val="10000"/>
                          <a:lumOff val="90000"/>
                        </a:schemeClr>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sz="1050">
                          <a:latin typeface="Lato" panose="020F0502020204030203" pitchFamily="34" charset="0"/>
                          <a:ea typeface="Lato" panose="020F0502020204030203" pitchFamily="34" charset="0"/>
                          <a:cs typeface="Lato" panose="020F0502020204030203" pitchFamily="34" charset="0"/>
                        </a:rPr>
                        <a:t>1 PM</a:t>
                      </a:r>
                      <a:endParaRPr lang="en-IN" sz="1050">
                        <a:latin typeface="Lato" panose="020F0502020204030203" pitchFamily="34" charset="0"/>
                        <a:ea typeface="Lato" panose="020F0502020204030203" pitchFamily="34" charset="0"/>
                        <a:cs typeface="Lato" panose="020F0502020204030203" pitchFamily="34" charset="0"/>
                      </a:endParaRPr>
                    </a:p>
                  </a:txBody>
                  <a:tcPr marL="0" marR="0" anchor="ctr">
                    <a:lnL w="12700" cap="flat" cmpd="sng" algn="ctr">
                      <a:solidFill>
                        <a:schemeClr val="tx2">
                          <a:lumMod val="10000"/>
                          <a:lumOff val="90000"/>
                        </a:schemeClr>
                      </a:solidFill>
                      <a:prstDash val="solid"/>
                      <a:round/>
                      <a:headEnd type="none" w="med" len="med"/>
                      <a:tailEnd type="none" w="med" len="med"/>
                    </a:lnL>
                    <a:lnR w="12700" cap="flat" cmpd="sng" algn="ctr">
                      <a:solidFill>
                        <a:schemeClr val="tx2">
                          <a:lumMod val="10000"/>
                          <a:lumOff val="90000"/>
                        </a:schemeClr>
                      </a:solidFill>
                      <a:prstDash val="solid"/>
                      <a:round/>
                      <a:headEnd type="none" w="med" len="med"/>
                      <a:tailEnd type="none" w="med" len="med"/>
                    </a:lnR>
                    <a:lnT w="12700" cap="flat" cmpd="sng" algn="ctr">
                      <a:solidFill>
                        <a:schemeClr val="tx2">
                          <a:lumMod val="10000"/>
                          <a:lumOff val="90000"/>
                        </a:schemeClr>
                      </a:solidFill>
                      <a:prstDash val="solid"/>
                      <a:round/>
                      <a:headEnd type="none" w="med" len="med"/>
                      <a:tailEnd type="none" w="med" len="med"/>
                    </a:lnT>
                    <a:lnB w="12700" cap="flat" cmpd="sng" algn="ctr">
                      <a:solidFill>
                        <a:schemeClr val="tx2">
                          <a:lumMod val="10000"/>
                          <a:lumOff val="90000"/>
                        </a:schemeClr>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sz="1050">
                          <a:latin typeface="Lato" panose="020F0502020204030203" pitchFamily="34" charset="0"/>
                          <a:ea typeface="Lato" panose="020F0502020204030203" pitchFamily="34" charset="0"/>
                          <a:cs typeface="Lato" panose="020F0502020204030203" pitchFamily="34" charset="0"/>
                        </a:rPr>
                        <a:t>2 PM</a:t>
                      </a:r>
                      <a:endParaRPr lang="en-IN" sz="1050">
                        <a:latin typeface="Lato" panose="020F0502020204030203" pitchFamily="34" charset="0"/>
                        <a:ea typeface="Lato" panose="020F0502020204030203" pitchFamily="34" charset="0"/>
                        <a:cs typeface="Lato" panose="020F0502020204030203" pitchFamily="34" charset="0"/>
                      </a:endParaRPr>
                    </a:p>
                  </a:txBody>
                  <a:tcPr marL="0" marR="0" anchor="ctr">
                    <a:lnL w="12700" cap="flat" cmpd="sng" algn="ctr">
                      <a:solidFill>
                        <a:schemeClr val="tx2">
                          <a:lumMod val="10000"/>
                          <a:lumOff val="90000"/>
                        </a:schemeClr>
                      </a:solidFill>
                      <a:prstDash val="solid"/>
                      <a:round/>
                      <a:headEnd type="none" w="med" len="med"/>
                      <a:tailEnd type="none" w="med" len="med"/>
                    </a:lnL>
                    <a:lnR w="12700" cap="flat" cmpd="sng" algn="ctr">
                      <a:solidFill>
                        <a:schemeClr val="tx2">
                          <a:lumMod val="10000"/>
                          <a:lumOff val="90000"/>
                        </a:schemeClr>
                      </a:solidFill>
                      <a:prstDash val="solid"/>
                      <a:round/>
                      <a:headEnd type="none" w="med" len="med"/>
                      <a:tailEnd type="none" w="med" len="med"/>
                    </a:lnR>
                    <a:lnT w="12700" cap="flat" cmpd="sng" algn="ctr">
                      <a:solidFill>
                        <a:schemeClr val="tx2">
                          <a:lumMod val="10000"/>
                          <a:lumOff val="90000"/>
                        </a:schemeClr>
                      </a:solidFill>
                      <a:prstDash val="solid"/>
                      <a:round/>
                      <a:headEnd type="none" w="med" len="med"/>
                      <a:tailEnd type="none" w="med" len="med"/>
                    </a:lnT>
                    <a:lnB w="12700" cap="flat" cmpd="sng" algn="ctr">
                      <a:solidFill>
                        <a:schemeClr val="tx2">
                          <a:lumMod val="10000"/>
                          <a:lumOff val="90000"/>
                        </a:schemeClr>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sz="1050">
                          <a:latin typeface="Lato" panose="020F0502020204030203" pitchFamily="34" charset="0"/>
                          <a:ea typeface="Lato" panose="020F0502020204030203" pitchFamily="34" charset="0"/>
                          <a:cs typeface="Lato" panose="020F0502020204030203" pitchFamily="34" charset="0"/>
                        </a:rPr>
                        <a:t>3 PM</a:t>
                      </a:r>
                      <a:endParaRPr lang="en-IN" sz="1050">
                        <a:latin typeface="Lato" panose="020F0502020204030203" pitchFamily="34" charset="0"/>
                        <a:ea typeface="Lato" panose="020F0502020204030203" pitchFamily="34" charset="0"/>
                        <a:cs typeface="Lato" panose="020F0502020204030203" pitchFamily="34" charset="0"/>
                      </a:endParaRPr>
                    </a:p>
                  </a:txBody>
                  <a:tcPr marL="0" marR="0" anchor="ctr">
                    <a:lnL w="12700" cap="flat" cmpd="sng" algn="ctr">
                      <a:solidFill>
                        <a:schemeClr val="tx2">
                          <a:lumMod val="10000"/>
                          <a:lumOff val="90000"/>
                        </a:schemeClr>
                      </a:solidFill>
                      <a:prstDash val="solid"/>
                      <a:round/>
                      <a:headEnd type="none" w="med" len="med"/>
                      <a:tailEnd type="none" w="med" len="med"/>
                    </a:lnL>
                    <a:lnR w="12700" cap="flat" cmpd="sng" algn="ctr">
                      <a:solidFill>
                        <a:schemeClr val="tx2">
                          <a:lumMod val="10000"/>
                          <a:lumOff val="90000"/>
                        </a:schemeClr>
                      </a:solidFill>
                      <a:prstDash val="solid"/>
                      <a:round/>
                      <a:headEnd type="none" w="med" len="med"/>
                      <a:tailEnd type="none" w="med" len="med"/>
                    </a:lnR>
                    <a:lnT w="12700" cap="flat" cmpd="sng" algn="ctr">
                      <a:solidFill>
                        <a:schemeClr val="tx2">
                          <a:lumMod val="10000"/>
                          <a:lumOff val="90000"/>
                        </a:schemeClr>
                      </a:solidFill>
                      <a:prstDash val="solid"/>
                      <a:round/>
                      <a:headEnd type="none" w="med" len="med"/>
                      <a:tailEnd type="none" w="med" len="med"/>
                    </a:lnT>
                    <a:lnB w="12700" cap="flat" cmpd="sng" algn="ctr">
                      <a:solidFill>
                        <a:schemeClr val="tx2">
                          <a:lumMod val="10000"/>
                          <a:lumOff val="90000"/>
                        </a:schemeClr>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sz="1050">
                          <a:latin typeface="Lato" panose="020F0502020204030203" pitchFamily="34" charset="0"/>
                          <a:ea typeface="Lato" panose="020F0502020204030203" pitchFamily="34" charset="0"/>
                          <a:cs typeface="Lato" panose="020F0502020204030203" pitchFamily="34" charset="0"/>
                        </a:rPr>
                        <a:t>4 PM</a:t>
                      </a:r>
                      <a:endParaRPr lang="en-IN" sz="1050">
                        <a:latin typeface="Lato" panose="020F0502020204030203" pitchFamily="34" charset="0"/>
                        <a:ea typeface="Lato" panose="020F0502020204030203" pitchFamily="34" charset="0"/>
                        <a:cs typeface="Lato" panose="020F0502020204030203" pitchFamily="34" charset="0"/>
                      </a:endParaRPr>
                    </a:p>
                  </a:txBody>
                  <a:tcPr marL="0" marR="0" anchor="ctr">
                    <a:lnL w="12700" cap="flat" cmpd="sng" algn="ctr">
                      <a:solidFill>
                        <a:schemeClr val="tx2">
                          <a:lumMod val="10000"/>
                          <a:lumOff val="90000"/>
                        </a:schemeClr>
                      </a:solidFill>
                      <a:prstDash val="solid"/>
                      <a:round/>
                      <a:headEnd type="none" w="med" len="med"/>
                      <a:tailEnd type="none" w="med" len="med"/>
                    </a:lnL>
                    <a:lnR w="12700" cap="flat" cmpd="sng" algn="ctr">
                      <a:solidFill>
                        <a:schemeClr val="tx2">
                          <a:lumMod val="10000"/>
                          <a:lumOff val="90000"/>
                        </a:schemeClr>
                      </a:solidFill>
                      <a:prstDash val="solid"/>
                      <a:round/>
                      <a:headEnd type="none" w="med" len="med"/>
                      <a:tailEnd type="none" w="med" len="med"/>
                    </a:lnR>
                    <a:lnT w="12700" cap="flat" cmpd="sng" algn="ctr">
                      <a:solidFill>
                        <a:schemeClr val="tx2">
                          <a:lumMod val="10000"/>
                          <a:lumOff val="90000"/>
                        </a:schemeClr>
                      </a:solidFill>
                      <a:prstDash val="solid"/>
                      <a:round/>
                      <a:headEnd type="none" w="med" len="med"/>
                      <a:tailEnd type="none" w="med" len="med"/>
                    </a:lnT>
                    <a:lnB w="12700" cap="flat" cmpd="sng" algn="ctr">
                      <a:solidFill>
                        <a:schemeClr val="tx2">
                          <a:lumMod val="10000"/>
                          <a:lumOff val="90000"/>
                        </a:schemeClr>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sz="1050">
                          <a:latin typeface="Lato" panose="020F0502020204030203" pitchFamily="34" charset="0"/>
                          <a:ea typeface="Lato" panose="020F0502020204030203" pitchFamily="34" charset="0"/>
                          <a:cs typeface="Lato" panose="020F0502020204030203" pitchFamily="34" charset="0"/>
                        </a:rPr>
                        <a:t>5 PM</a:t>
                      </a:r>
                      <a:endParaRPr lang="en-IN" sz="1050">
                        <a:latin typeface="Lato" panose="020F0502020204030203" pitchFamily="34" charset="0"/>
                        <a:ea typeface="Lato" panose="020F0502020204030203" pitchFamily="34" charset="0"/>
                        <a:cs typeface="Lato" panose="020F0502020204030203" pitchFamily="34" charset="0"/>
                      </a:endParaRPr>
                    </a:p>
                  </a:txBody>
                  <a:tcPr marL="0" marR="0" anchor="ctr">
                    <a:lnL w="12700" cap="flat" cmpd="sng" algn="ctr">
                      <a:solidFill>
                        <a:schemeClr val="tx2">
                          <a:lumMod val="10000"/>
                          <a:lumOff val="90000"/>
                        </a:schemeClr>
                      </a:solidFill>
                      <a:prstDash val="solid"/>
                      <a:round/>
                      <a:headEnd type="none" w="med" len="med"/>
                      <a:tailEnd type="none" w="med" len="med"/>
                    </a:lnL>
                    <a:lnR w="12700" cap="flat" cmpd="sng" algn="ctr">
                      <a:solidFill>
                        <a:schemeClr val="tx2">
                          <a:lumMod val="10000"/>
                          <a:lumOff val="90000"/>
                        </a:schemeClr>
                      </a:solidFill>
                      <a:prstDash val="solid"/>
                      <a:round/>
                      <a:headEnd type="none" w="med" len="med"/>
                      <a:tailEnd type="none" w="med" len="med"/>
                    </a:lnR>
                    <a:lnT w="12700" cap="flat" cmpd="sng" algn="ctr">
                      <a:solidFill>
                        <a:schemeClr val="tx2">
                          <a:lumMod val="10000"/>
                          <a:lumOff val="90000"/>
                        </a:schemeClr>
                      </a:solidFill>
                      <a:prstDash val="solid"/>
                      <a:round/>
                      <a:headEnd type="none" w="med" len="med"/>
                      <a:tailEnd type="none" w="med" len="med"/>
                    </a:lnT>
                    <a:lnB w="12700" cap="flat" cmpd="sng" algn="ctr">
                      <a:solidFill>
                        <a:schemeClr val="tx2">
                          <a:lumMod val="10000"/>
                          <a:lumOff val="90000"/>
                        </a:schemeClr>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sz="1050">
                          <a:latin typeface="Lato" panose="020F0502020204030203" pitchFamily="34" charset="0"/>
                          <a:ea typeface="Lato" panose="020F0502020204030203" pitchFamily="34" charset="0"/>
                          <a:cs typeface="Lato" panose="020F0502020204030203" pitchFamily="34" charset="0"/>
                        </a:rPr>
                        <a:t>6 PM</a:t>
                      </a:r>
                      <a:endParaRPr lang="en-IN" sz="1050">
                        <a:latin typeface="Lato" panose="020F0502020204030203" pitchFamily="34" charset="0"/>
                        <a:ea typeface="Lato" panose="020F0502020204030203" pitchFamily="34" charset="0"/>
                        <a:cs typeface="Lato" panose="020F0502020204030203" pitchFamily="34" charset="0"/>
                      </a:endParaRPr>
                    </a:p>
                  </a:txBody>
                  <a:tcPr marL="0" marR="0" anchor="ctr">
                    <a:lnL w="12700" cap="flat" cmpd="sng" algn="ctr">
                      <a:solidFill>
                        <a:schemeClr val="tx2">
                          <a:lumMod val="10000"/>
                          <a:lumOff val="90000"/>
                        </a:schemeClr>
                      </a:solidFill>
                      <a:prstDash val="solid"/>
                      <a:round/>
                      <a:headEnd type="none" w="med" len="med"/>
                      <a:tailEnd type="none" w="med" len="med"/>
                    </a:lnL>
                    <a:lnR w="12700" cap="flat" cmpd="sng" algn="ctr">
                      <a:solidFill>
                        <a:schemeClr val="tx2">
                          <a:lumMod val="10000"/>
                          <a:lumOff val="90000"/>
                        </a:schemeClr>
                      </a:solidFill>
                      <a:prstDash val="solid"/>
                      <a:round/>
                      <a:headEnd type="none" w="med" len="med"/>
                      <a:tailEnd type="none" w="med" len="med"/>
                    </a:lnR>
                    <a:lnT w="12700" cap="flat" cmpd="sng" algn="ctr">
                      <a:solidFill>
                        <a:schemeClr val="tx2">
                          <a:lumMod val="10000"/>
                          <a:lumOff val="90000"/>
                        </a:schemeClr>
                      </a:solidFill>
                      <a:prstDash val="solid"/>
                      <a:round/>
                      <a:headEnd type="none" w="med" len="med"/>
                      <a:tailEnd type="none" w="med" len="med"/>
                    </a:lnT>
                    <a:lnB w="12700" cap="flat" cmpd="sng" algn="ctr">
                      <a:solidFill>
                        <a:schemeClr val="tx2">
                          <a:lumMod val="10000"/>
                          <a:lumOff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US" sz="1050">
                          <a:latin typeface="Lato" panose="020F0502020204030203" pitchFamily="34" charset="0"/>
                          <a:ea typeface="Lato" panose="020F0502020204030203" pitchFamily="34" charset="0"/>
                          <a:cs typeface="Lato" panose="020F0502020204030203" pitchFamily="34" charset="0"/>
                        </a:rPr>
                        <a:t>7 PM</a:t>
                      </a:r>
                      <a:endParaRPr lang="en-IN" sz="1050">
                        <a:latin typeface="Lato" panose="020F0502020204030203" pitchFamily="34" charset="0"/>
                        <a:ea typeface="Lato" panose="020F0502020204030203" pitchFamily="34" charset="0"/>
                        <a:cs typeface="Lato" panose="020F0502020204030203" pitchFamily="34" charset="0"/>
                      </a:endParaRPr>
                    </a:p>
                  </a:txBody>
                  <a:tcPr marL="0" marR="0" anchor="ctr">
                    <a:lnL w="12700" cap="flat" cmpd="sng" algn="ctr">
                      <a:solidFill>
                        <a:schemeClr val="tx2">
                          <a:lumMod val="10000"/>
                          <a:lumOff val="90000"/>
                        </a:schemeClr>
                      </a:solidFill>
                      <a:prstDash val="solid"/>
                      <a:round/>
                      <a:headEnd type="none" w="med" len="med"/>
                      <a:tailEnd type="none" w="med" len="med"/>
                    </a:lnL>
                    <a:lnR w="12700" cap="flat" cmpd="sng" algn="ctr">
                      <a:solidFill>
                        <a:schemeClr val="tx2">
                          <a:lumMod val="10000"/>
                          <a:lumOff val="90000"/>
                        </a:schemeClr>
                      </a:solidFill>
                      <a:prstDash val="solid"/>
                      <a:round/>
                      <a:headEnd type="none" w="med" len="med"/>
                      <a:tailEnd type="none" w="med" len="med"/>
                    </a:lnR>
                    <a:lnT w="12700" cap="flat" cmpd="sng" algn="ctr">
                      <a:solidFill>
                        <a:schemeClr val="tx2">
                          <a:lumMod val="10000"/>
                          <a:lumOff val="90000"/>
                        </a:schemeClr>
                      </a:solidFill>
                      <a:prstDash val="solid"/>
                      <a:round/>
                      <a:headEnd type="none" w="med" len="med"/>
                      <a:tailEnd type="none" w="med" len="med"/>
                    </a:lnT>
                    <a:lnB w="12700" cap="flat" cmpd="sng" algn="ctr">
                      <a:solidFill>
                        <a:schemeClr val="tx2">
                          <a:lumMod val="10000"/>
                          <a:lumOff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US" sz="1050">
                          <a:latin typeface="Lato" panose="020F0502020204030203" pitchFamily="34" charset="0"/>
                          <a:ea typeface="Lato" panose="020F0502020204030203" pitchFamily="34" charset="0"/>
                          <a:cs typeface="Lato" panose="020F0502020204030203" pitchFamily="34" charset="0"/>
                        </a:rPr>
                        <a:t>8 PM</a:t>
                      </a:r>
                      <a:endParaRPr lang="en-IN" sz="1050">
                        <a:latin typeface="Lato" panose="020F0502020204030203" pitchFamily="34" charset="0"/>
                        <a:ea typeface="Lato" panose="020F0502020204030203" pitchFamily="34" charset="0"/>
                        <a:cs typeface="Lato" panose="020F0502020204030203" pitchFamily="34" charset="0"/>
                      </a:endParaRPr>
                    </a:p>
                  </a:txBody>
                  <a:tcPr marL="0" marR="0" anchor="ctr">
                    <a:lnL w="12700" cap="flat" cmpd="sng" algn="ctr">
                      <a:solidFill>
                        <a:schemeClr val="tx2">
                          <a:lumMod val="10000"/>
                          <a:lumOff val="90000"/>
                        </a:schemeClr>
                      </a:solidFill>
                      <a:prstDash val="solid"/>
                      <a:round/>
                      <a:headEnd type="none" w="med" len="med"/>
                      <a:tailEnd type="none" w="med" len="med"/>
                    </a:lnL>
                    <a:lnR w="12700" cap="flat" cmpd="sng" algn="ctr">
                      <a:solidFill>
                        <a:schemeClr val="tx2">
                          <a:lumMod val="10000"/>
                          <a:lumOff val="90000"/>
                        </a:schemeClr>
                      </a:solidFill>
                      <a:prstDash val="solid"/>
                      <a:round/>
                      <a:headEnd type="none" w="med" len="med"/>
                      <a:tailEnd type="none" w="med" len="med"/>
                    </a:lnR>
                    <a:lnT w="12700" cap="flat" cmpd="sng" algn="ctr">
                      <a:solidFill>
                        <a:schemeClr val="tx2">
                          <a:lumMod val="10000"/>
                          <a:lumOff val="90000"/>
                        </a:schemeClr>
                      </a:solidFill>
                      <a:prstDash val="solid"/>
                      <a:round/>
                      <a:headEnd type="none" w="med" len="med"/>
                      <a:tailEnd type="none" w="med" len="med"/>
                    </a:lnT>
                    <a:lnB w="12700" cap="flat" cmpd="sng" algn="ctr">
                      <a:solidFill>
                        <a:schemeClr val="tx2">
                          <a:lumMod val="10000"/>
                          <a:lumOff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US" sz="1050">
                          <a:latin typeface="Lato" panose="020F0502020204030203" pitchFamily="34" charset="0"/>
                          <a:ea typeface="Lato" panose="020F0502020204030203" pitchFamily="34" charset="0"/>
                          <a:cs typeface="Lato" panose="020F0502020204030203" pitchFamily="34" charset="0"/>
                        </a:rPr>
                        <a:t>9 PM</a:t>
                      </a:r>
                      <a:endParaRPr lang="en-IN" sz="1050">
                        <a:latin typeface="Lato" panose="020F0502020204030203" pitchFamily="34" charset="0"/>
                        <a:ea typeface="Lato" panose="020F0502020204030203" pitchFamily="34" charset="0"/>
                        <a:cs typeface="Lato" panose="020F0502020204030203" pitchFamily="34" charset="0"/>
                      </a:endParaRPr>
                    </a:p>
                  </a:txBody>
                  <a:tcPr marL="0" marR="0" anchor="ctr">
                    <a:lnL w="12700" cap="flat" cmpd="sng" algn="ctr">
                      <a:solidFill>
                        <a:schemeClr val="tx2">
                          <a:lumMod val="10000"/>
                          <a:lumOff val="90000"/>
                        </a:schemeClr>
                      </a:solidFill>
                      <a:prstDash val="solid"/>
                      <a:round/>
                      <a:headEnd type="none" w="med" len="med"/>
                      <a:tailEnd type="none" w="med" len="med"/>
                    </a:lnL>
                    <a:lnR w="12700" cap="flat" cmpd="sng" algn="ctr">
                      <a:solidFill>
                        <a:schemeClr val="tx2">
                          <a:lumMod val="10000"/>
                          <a:lumOff val="90000"/>
                        </a:schemeClr>
                      </a:solidFill>
                      <a:prstDash val="solid"/>
                      <a:round/>
                      <a:headEnd type="none" w="med" len="med"/>
                      <a:tailEnd type="none" w="med" len="med"/>
                    </a:lnR>
                    <a:lnT w="12700" cap="flat" cmpd="sng" algn="ctr">
                      <a:solidFill>
                        <a:schemeClr val="tx2">
                          <a:lumMod val="10000"/>
                          <a:lumOff val="90000"/>
                        </a:schemeClr>
                      </a:solidFill>
                      <a:prstDash val="solid"/>
                      <a:round/>
                      <a:headEnd type="none" w="med" len="med"/>
                      <a:tailEnd type="none" w="med" len="med"/>
                    </a:lnT>
                    <a:lnB w="12700" cap="flat" cmpd="sng" algn="ctr">
                      <a:solidFill>
                        <a:schemeClr val="tx2">
                          <a:lumMod val="10000"/>
                          <a:lumOff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US" sz="1050">
                          <a:latin typeface="Lato" panose="020F0502020204030203" pitchFamily="34" charset="0"/>
                          <a:ea typeface="Lato" panose="020F0502020204030203" pitchFamily="34" charset="0"/>
                          <a:cs typeface="Lato" panose="020F0502020204030203" pitchFamily="34" charset="0"/>
                        </a:rPr>
                        <a:t>10 PM</a:t>
                      </a:r>
                      <a:endParaRPr lang="en-IN" sz="1050">
                        <a:latin typeface="Lato" panose="020F0502020204030203" pitchFamily="34" charset="0"/>
                        <a:ea typeface="Lato" panose="020F0502020204030203" pitchFamily="34" charset="0"/>
                        <a:cs typeface="Lato" panose="020F0502020204030203" pitchFamily="34" charset="0"/>
                      </a:endParaRPr>
                    </a:p>
                  </a:txBody>
                  <a:tcPr marL="0" marR="0" anchor="ctr">
                    <a:lnL w="12700" cap="flat" cmpd="sng" algn="ctr">
                      <a:solidFill>
                        <a:schemeClr val="tx2">
                          <a:lumMod val="10000"/>
                          <a:lumOff val="90000"/>
                        </a:schemeClr>
                      </a:solidFill>
                      <a:prstDash val="solid"/>
                      <a:round/>
                      <a:headEnd type="none" w="med" len="med"/>
                      <a:tailEnd type="none" w="med" len="med"/>
                    </a:lnL>
                    <a:lnR w="12700" cap="flat" cmpd="sng" algn="ctr">
                      <a:solidFill>
                        <a:schemeClr val="tx2">
                          <a:lumMod val="10000"/>
                          <a:lumOff val="90000"/>
                        </a:schemeClr>
                      </a:solidFill>
                      <a:prstDash val="solid"/>
                      <a:round/>
                      <a:headEnd type="none" w="med" len="med"/>
                      <a:tailEnd type="none" w="med" len="med"/>
                    </a:lnR>
                    <a:lnT w="12700" cap="flat" cmpd="sng" algn="ctr">
                      <a:solidFill>
                        <a:schemeClr val="tx2">
                          <a:lumMod val="10000"/>
                          <a:lumOff val="90000"/>
                        </a:schemeClr>
                      </a:solidFill>
                      <a:prstDash val="solid"/>
                      <a:round/>
                      <a:headEnd type="none" w="med" len="med"/>
                      <a:tailEnd type="none" w="med" len="med"/>
                    </a:lnT>
                    <a:lnB w="12700" cap="flat" cmpd="sng" algn="ctr">
                      <a:solidFill>
                        <a:schemeClr val="tx2">
                          <a:lumMod val="10000"/>
                          <a:lumOff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US" sz="1050">
                          <a:latin typeface="Lato" panose="020F0502020204030203" pitchFamily="34" charset="0"/>
                          <a:ea typeface="Lato" panose="020F0502020204030203" pitchFamily="34" charset="0"/>
                          <a:cs typeface="Lato" panose="020F0502020204030203" pitchFamily="34" charset="0"/>
                        </a:rPr>
                        <a:t>11 PM</a:t>
                      </a:r>
                      <a:endParaRPr lang="en-IN" sz="1050">
                        <a:latin typeface="Lato" panose="020F0502020204030203" pitchFamily="34" charset="0"/>
                        <a:ea typeface="Lato" panose="020F0502020204030203" pitchFamily="34" charset="0"/>
                        <a:cs typeface="Lato" panose="020F0502020204030203" pitchFamily="34" charset="0"/>
                      </a:endParaRPr>
                    </a:p>
                  </a:txBody>
                  <a:tcPr marL="0" marR="0" anchor="ctr">
                    <a:lnL w="12700" cap="flat" cmpd="sng" algn="ctr">
                      <a:solidFill>
                        <a:schemeClr val="tx2">
                          <a:lumMod val="10000"/>
                          <a:lumOff val="90000"/>
                        </a:schemeClr>
                      </a:solidFill>
                      <a:prstDash val="solid"/>
                      <a:round/>
                      <a:headEnd type="none" w="med" len="med"/>
                      <a:tailEnd type="none" w="med" len="med"/>
                    </a:lnL>
                    <a:lnR w="12700" cap="flat" cmpd="sng" algn="ctr">
                      <a:solidFill>
                        <a:schemeClr val="tx2">
                          <a:lumMod val="10000"/>
                          <a:lumOff val="90000"/>
                        </a:schemeClr>
                      </a:solidFill>
                      <a:prstDash val="solid"/>
                      <a:round/>
                      <a:headEnd type="none" w="med" len="med"/>
                      <a:tailEnd type="none" w="med" len="med"/>
                    </a:lnR>
                    <a:lnT w="12700" cap="flat" cmpd="sng" algn="ctr">
                      <a:solidFill>
                        <a:schemeClr val="tx2">
                          <a:lumMod val="10000"/>
                          <a:lumOff val="90000"/>
                        </a:schemeClr>
                      </a:solidFill>
                      <a:prstDash val="solid"/>
                      <a:round/>
                      <a:headEnd type="none" w="med" len="med"/>
                      <a:tailEnd type="none" w="med" len="med"/>
                    </a:lnT>
                    <a:lnB w="12700" cap="flat" cmpd="sng" algn="ctr">
                      <a:solidFill>
                        <a:schemeClr val="tx2">
                          <a:lumMod val="10000"/>
                          <a:lumOff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US" sz="1050">
                          <a:latin typeface="Lato" panose="020F0502020204030203" pitchFamily="34" charset="0"/>
                          <a:ea typeface="Lato" panose="020F0502020204030203" pitchFamily="34" charset="0"/>
                          <a:cs typeface="Lato" panose="020F0502020204030203" pitchFamily="34" charset="0"/>
                        </a:rPr>
                        <a:t>12 AM</a:t>
                      </a:r>
                      <a:endParaRPr lang="en-IN" sz="1050">
                        <a:latin typeface="Lato" panose="020F0502020204030203" pitchFamily="34" charset="0"/>
                        <a:ea typeface="Lato" panose="020F0502020204030203" pitchFamily="34" charset="0"/>
                        <a:cs typeface="Lato" panose="020F0502020204030203" pitchFamily="34" charset="0"/>
                      </a:endParaRPr>
                    </a:p>
                  </a:txBody>
                  <a:tcPr marL="0" marR="0" anchor="ctr">
                    <a:lnL w="12700" cap="flat" cmpd="sng" algn="ctr">
                      <a:solidFill>
                        <a:schemeClr val="tx2">
                          <a:lumMod val="10000"/>
                          <a:lumOff val="90000"/>
                        </a:schemeClr>
                      </a:solidFill>
                      <a:prstDash val="solid"/>
                      <a:round/>
                      <a:headEnd type="none" w="med" len="med"/>
                      <a:tailEnd type="none" w="med" len="med"/>
                    </a:lnL>
                    <a:lnR w="12700" cap="flat" cmpd="sng" algn="ctr">
                      <a:solidFill>
                        <a:schemeClr val="tx2">
                          <a:lumMod val="10000"/>
                          <a:lumOff val="90000"/>
                        </a:schemeClr>
                      </a:solidFill>
                      <a:prstDash val="solid"/>
                      <a:round/>
                      <a:headEnd type="none" w="med" len="med"/>
                      <a:tailEnd type="none" w="med" len="med"/>
                    </a:lnR>
                    <a:lnT w="12700" cap="flat" cmpd="sng" algn="ctr">
                      <a:solidFill>
                        <a:schemeClr val="tx2">
                          <a:lumMod val="10000"/>
                          <a:lumOff val="90000"/>
                        </a:schemeClr>
                      </a:solidFill>
                      <a:prstDash val="solid"/>
                      <a:round/>
                      <a:headEnd type="none" w="med" len="med"/>
                      <a:tailEnd type="none" w="med" len="med"/>
                    </a:lnT>
                    <a:lnB w="12700" cap="flat" cmpd="sng" algn="ctr">
                      <a:solidFill>
                        <a:schemeClr val="tx2">
                          <a:lumMod val="10000"/>
                          <a:lumOff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3546083890"/>
                  </a:ext>
                </a:extLst>
              </a:tr>
            </a:tbl>
          </a:graphicData>
        </a:graphic>
      </p:graphicFrame>
      <p:sp>
        <p:nvSpPr>
          <p:cNvPr id="6" name="TextBox 5">
            <a:extLst>
              <a:ext uri="{FF2B5EF4-FFF2-40B4-BE49-F238E27FC236}">
                <a16:creationId xmlns:a16="http://schemas.microsoft.com/office/drawing/2014/main" id="{9A985E81-71D9-FA76-1E0F-4508A2650250}"/>
              </a:ext>
            </a:extLst>
          </p:cNvPr>
          <p:cNvSpPr txBox="1"/>
          <p:nvPr/>
        </p:nvSpPr>
        <p:spPr>
          <a:xfrm>
            <a:off x="1485268" y="888187"/>
            <a:ext cx="4152598" cy="323165"/>
          </a:xfrm>
          <a:prstGeom prst="rect">
            <a:avLst/>
          </a:prstGeom>
          <a:noFill/>
        </p:spPr>
        <p:txBody>
          <a:bodyPr wrap="square">
            <a:spAutoFit/>
          </a:bodyPr>
          <a:lstStyle/>
          <a:p>
            <a:pPr marL="0" lvl="0" indent="0" algn="ctr" defTabSz="488950">
              <a:lnSpc>
                <a:spcPts val="1840"/>
              </a:lnSpc>
              <a:spcBef>
                <a:spcPct val="0"/>
              </a:spcBef>
              <a:spcAft>
                <a:spcPct val="35000"/>
              </a:spcAft>
              <a:buNone/>
            </a:pPr>
            <a:r>
              <a:rPr lang="en-US" sz="1600" b="1" kern="1200">
                <a:solidFill>
                  <a:schemeClr val="bg1"/>
                </a:solidFill>
                <a:latin typeface="Lato" panose="020F0502020204030203" pitchFamily="34" charset="0"/>
                <a:ea typeface="Lato" panose="020F0502020204030203" pitchFamily="34" charset="0"/>
                <a:cs typeface="Lato" panose="020F0502020204030203" pitchFamily="34" charset="0"/>
              </a:rPr>
              <a:t>Offshore Team - 3 AM – 12 noon CST</a:t>
            </a:r>
          </a:p>
        </p:txBody>
      </p:sp>
      <p:sp>
        <p:nvSpPr>
          <p:cNvPr id="17" name="TextBox 16">
            <a:extLst>
              <a:ext uri="{FF2B5EF4-FFF2-40B4-BE49-F238E27FC236}">
                <a16:creationId xmlns:a16="http://schemas.microsoft.com/office/drawing/2014/main" id="{5B17CE1C-5268-7AA1-F6C8-751511676ED2}"/>
              </a:ext>
            </a:extLst>
          </p:cNvPr>
          <p:cNvSpPr txBox="1"/>
          <p:nvPr/>
        </p:nvSpPr>
        <p:spPr>
          <a:xfrm>
            <a:off x="652699" y="2521332"/>
            <a:ext cx="2370152" cy="769441"/>
          </a:xfrm>
          <a:prstGeom prst="rect">
            <a:avLst/>
          </a:prstGeom>
          <a:noFill/>
        </p:spPr>
        <p:txBody>
          <a:bodyPr wrap="square">
            <a:spAutoFit/>
          </a:bodyPr>
          <a:lstStyle/>
          <a:p>
            <a:pPr>
              <a:buNone/>
            </a:pPr>
            <a:r>
              <a:rPr lang="en-US" sz="1100" b="1">
                <a:solidFill>
                  <a:schemeClr val="bg1"/>
                </a:solidFill>
                <a:latin typeface="Lato" panose="020F0502020204030203" pitchFamily="34" charset="0"/>
                <a:ea typeface="Lato" panose="020F0502020204030203" pitchFamily="34" charset="0"/>
                <a:cs typeface="Lato" panose="020F0502020204030203" pitchFamily="34" charset="0"/>
              </a:rPr>
              <a:t>Optimized Nearshore delivery relies on architecture oversight during CST hours and POD team execution during offshore hours.</a:t>
            </a:r>
            <a:endParaRPr lang="en-US" sz="110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9" name="TextBox 18">
            <a:extLst>
              <a:ext uri="{FF2B5EF4-FFF2-40B4-BE49-F238E27FC236}">
                <a16:creationId xmlns:a16="http://schemas.microsoft.com/office/drawing/2014/main" id="{953C91DF-68AC-4A1D-5A0E-684E8011CC63}"/>
              </a:ext>
            </a:extLst>
          </p:cNvPr>
          <p:cNvSpPr txBox="1"/>
          <p:nvPr/>
        </p:nvSpPr>
        <p:spPr>
          <a:xfrm>
            <a:off x="448947" y="3790891"/>
            <a:ext cx="2573904" cy="938719"/>
          </a:xfrm>
          <a:prstGeom prst="rect">
            <a:avLst/>
          </a:prstGeom>
          <a:noFill/>
        </p:spPr>
        <p:txBody>
          <a:bodyPr wrap="square">
            <a:spAutoFit/>
          </a:bodyPr>
          <a:lstStyle/>
          <a:p>
            <a:pPr>
              <a:buNone/>
            </a:pPr>
            <a:r>
              <a:rPr lang="en-US" sz="1100">
                <a:latin typeface="Lato" panose="020F0502020204030203" pitchFamily="34" charset="0"/>
                <a:ea typeface="Lato" panose="020F0502020204030203" pitchFamily="34" charset="0"/>
                <a:cs typeface="Lato" panose="020F0502020204030203" pitchFamily="34" charset="0"/>
              </a:rPr>
              <a:t>Innominds deploys a nearshore </a:t>
            </a:r>
            <a:r>
              <a:rPr lang="en-US" sz="1100" b="1">
                <a:solidFill>
                  <a:srgbClr val="0070C0"/>
                </a:solidFill>
                <a:latin typeface="Lato" panose="020F0502020204030203" pitchFamily="34" charset="0"/>
                <a:ea typeface="Lato" panose="020F0502020204030203" pitchFamily="34" charset="0"/>
                <a:cs typeface="Lato" panose="020F0502020204030203" pitchFamily="34" charset="0"/>
              </a:rPr>
              <a:t>Data &amp; Power BI Engineers + Offshore POD</a:t>
            </a:r>
            <a:r>
              <a:rPr lang="en-US" sz="1100">
                <a:solidFill>
                  <a:srgbClr val="0070C0"/>
                </a:solidFill>
                <a:latin typeface="Lato" panose="020F0502020204030203" pitchFamily="34" charset="0"/>
                <a:ea typeface="Lato" panose="020F0502020204030203" pitchFamily="34" charset="0"/>
                <a:cs typeface="Lato" panose="020F0502020204030203" pitchFamily="34" charset="0"/>
              </a:rPr>
              <a:t> </a:t>
            </a:r>
            <a:r>
              <a:rPr lang="en-US" sz="1100">
                <a:latin typeface="Lato" panose="020F0502020204030203" pitchFamily="34" charset="0"/>
                <a:ea typeface="Lato" panose="020F0502020204030203" pitchFamily="34" charset="0"/>
                <a:cs typeface="Lato" panose="020F0502020204030203" pitchFamily="34" charset="0"/>
              </a:rPr>
              <a:t>engagement model, ensuring aligned and broadened delivery capacity covering critical business hours.</a:t>
            </a:r>
          </a:p>
        </p:txBody>
      </p:sp>
      <p:sp>
        <p:nvSpPr>
          <p:cNvPr id="21" name="TextBox 20">
            <a:extLst>
              <a:ext uri="{FF2B5EF4-FFF2-40B4-BE49-F238E27FC236}">
                <a16:creationId xmlns:a16="http://schemas.microsoft.com/office/drawing/2014/main" id="{119BA568-E2CE-C0D2-C548-778B6BD6AF40}"/>
              </a:ext>
            </a:extLst>
          </p:cNvPr>
          <p:cNvSpPr txBox="1"/>
          <p:nvPr/>
        </p:nvSpPr>
        <p:spPr>
          <a:xfrm>
            <a:off x="3734238" y="2581422"/>
            <a:ext cx="2315257" cy="2462213"/>
          </a:xfrm>
          <a:prstGeom prst="rect">
            <a:avLst/>
          </a:prstGeom>
          <a:noFill/>
        </p:spPr>
        <p:txBody>
          <a:bodyPr wrap="square">
            <a:spAutoFit/>
          </a:bodyPr>
          <a:lstStyle/>
          <a:p>
            <a:pPr lvl="1" algn="ctr"/>
            <a:r>
              <a:rPr lang="en-IN" sz="1100" b="1">
                <a:latin typeface="Lato" panose="020F0502020204030203" pitchFamily="34" charset="0"/>
                <a:ea typeface="Lato" panose="020F0502020204030203" pitchFamily="34" charset="0"/>
                <a:cs typeface="Lato" panose="020F0502020204030203" pitchFamily="34" charset="0"/>
              </a:rPr>
              <a:t>Nearshore Team</a:t>
            </a:r>
          </a:p>
          <a:p>
            <a:pPr lvl="1" algn="ctr"/>
            <a:r>
              <a:rPr lang="en-US" sz="1100" b="1">
                <a:latin typeface="Lato" panose="020F0502020204030203" pitchFamily="34" charset="0"/>
                <a:ea typeface="Lato" panose="020F0502020204030203" pitchFamily="34" charset="0"/>
                <a:cs typeface="Lato" panose="020F0502020204030203" pitchFamily="34" charset="0"/>
              </a:rPr>
              <a:t>Data | Power BI Engineer</a:t>
            </a:r>
            <a:endParaRPr lang="en-IN" sz="1100" b="1">
              <a:latin typeface="Lato" panose="020F0502020204030203" pitchFamily="34" charset="0"/>
              <a:ea typeface="Lato" panose="020F0502020204030203" pitchFamily="34" charset="0"/>
              <a:cs typeface="Lato" panose="020F0502020204030203" pitchFamily="34" charset="0"/>
            </a:endParaRPr>
          </a:p>
          <a:p>
            <a:pPr lvl="1" algn="ctr"/>
            <a:r>
              <a:rPr lang="en-IN" sz="1100" b="1">
                <a:latin typeface="Lato" panose="020F0502020204030203" pitchFamily="34" charset="0"/>
                <a:ea typeface="Lato" panose="020F0502020204030203" pitchFamily="34" charset="0"/>
                <a:cs typeface="Lato" panose="020F0502020204030203" pitchFamily="34" charset="0"/>
              </a:rPr>
              <a:t>8 AM – 5 PM CST</a:t>
            </a:r>
          </a:p>
          <a:p>
            <a:pPr>
              <a:buNone/>
            </a:pPr>
            <a:endParaRPr lang="en-IN" sz="1100">
              <a:latin typeface="Lato" panose="020F0502020204030203" pitchFamily="34" charset="0"/>
              <a:ea typeface="Lato" panose="020F0502020204030203" pitchFamily="34" charset="0"/>
              <a:cs typeface="Lato" panose="020F0502020204030203" pitchFamily="34" charset="0"/>
            </a:endParaRPr>
          </a:p>
          <a:p>
            <a:pPr marL="171450" indent="-171450">
              <a:buClr>
                <a:srgbClr val="C00000"/>
              </a:buClr>
              <a:buFont typeface="Wingdings" pitchFamily="2" charset="2"/>
              <a:buChar char="Ø"/>
            </a:pPr>
            <a:r>
              <a:rPr lang="en-US" sz="1100">
                <a:latin typeface="Lato" panose="020F0502020204030203" pitchFamily="34" charset="0"/>
                <a:ea typeface="Lato" panose="020F0502020204030203" pitchFamily="34" charset="0"/>
                <a:cs typeface="Lato" panose="020F0502020204030203" pitchFamily="34" charset="0"/>
              </a:rPr>
              <a:t>Direct collaboration with Daikin stakeholders during CST hours</a:t>
            </a:r>
          </a:p>
          <a:p>
            <a:pPr marL="171450" indent="-171450">
              <a:buClr>
                <a:srgbClr val="C00000"/>
              </a:buClr>
              <a:buFont typeface="Wingdings" pitchFamily="2" charset="2"/>
              <a:buChar char="Ø"/>
            </a:pPr>
            <a:r>
              <a:rPr lang="en-US" sz="1100">
                <a:latin typeface="Lato" panose="020F0502020204030203" pitchFamily="34" charset="0"/>
                <a:ea typeface="Lato" panose="020F0502020204030203" pitchFamily="34" charset="0"/>
                <a:cs typeface="Lato" panose="020F0502020204030203" pitchFamily="34" charset="0"/>
              </a:rPr>
              <a:t>Support requirement clarification and sprint execution alignment</a:t>
            </a:r>
          </a:p>
          <a:p>
            <a:pPr marL="171450" indent="-171450">
              <a:buClr>
                <a:srgbClr val="C00000"/>
              </a:buClr>
              <a:buFont typeface="Wingdings" pitchFamily="2" charset="2"/>
              <a:buChar char="Ø"/>
            </a:pPr>
            <a:r>
              <a:rPr lang="en-US" sz="1100">
                <a:latin typeface="Lato" panose="020F0502020204030203" pitchFamily="34" charset="0"/>
                <a:ea typeface="Lato" panose="020F0502020204030203" pitchFamily="34" charset="0"/>
                <a:cs typeface="Lato" panose="020F0502020204030203" pitchFamily="34" charset="0"/>
              </a:rPr>
              <a:t>Enable faster feedback cycles and business interaction</a:t>
            </a:r>
          </a:p>
          <a:p>
            <a:pPr marL="171450" indent="-171450">
              <a:buClr>
                <a:srgbClr val="C00000"/>
              </a:buClr>
              <a:buFont typeface="Wingdings" pitchFamily="2" charset="2"/>
              <a:buChar char="Ø"/>
            </a:pPr>
            <a:r>
              <a:rPr lang="en-US" sz="1100">
                <a:latin typeface="Lato" panose="020F0502020204030203" pitchFamily="34" charset="0"/>
                <a:ea typeface="Lato" panose="020F0502020204030203" pitchFamily="34" charset="0"/>
                <a:cs typeface="Lato" panose="020F0502020204030203" pitchFamily="34" charset="0"/>
              </a:rPr>
              <a:t>Coordinate delivery priorities and day-to-day execution support</a:t>
            </a:r>
            <a:endParaRPr lang="en-IN" sz="1100">
              <a:latin typeface="Lato" panose="020F0502020204030203" pitchFamily="34" charset="0"/>
              <a:ea typeface="Lato" panose="020F0502020204030203" pitchFamily="34" charset="0"/>
              <a:cs typeface="Lato" panose="020F0502020204030203" pitchFamily="34" charset="0"/>
            </a:endParaRPr>
          </a:p>
        </p:txBody>
      </p:sp>
      <p:sp>
        <p:nvSpPr>
          <p:cNvPr id="23" name="TextBox 22">
            <a:extLst>
              <a:ext uri="{FF2B5EF4-FFF2-40B4-BE49-F238E27FC236}">
                <a16:creationId xmlns:a16="http://schemas.microsoft.com/office/drawing/2014/main" id="{71BABF17-2CF1-846A-421D-FF7BC5B018EF}"/>
              </a:ext>
            </a:extLst>
          </p:cNvPr>
          <p:cNvSpPr txBox="1"/>
          <p:nvPr/>
        </p:nvSpPr>
        <p:spPr>
          <a:xfrm>
            <a:off x="6049495" y="2651357"/>
            <a:ext cx="2548699" cy="1954381"/>
          </a:xfrm>
          <a:prstGeom prst="rect">
            <a:avLst/>
          </a:prstGeom>
          <a:noFill/>
        </p:spPr>
        <p:txBody>
          <a:bodyPr wrap="square">
            <a:spAutoFit/>
          </a:bodyPr>
          <a:lstStyle/>
          <a:p>
            <a:pPr lvl="1" algn="ctr"/>
            <a:r>
              <a:rPr lang="en-US" sz="1100" b="1">
                <a:latin typeface="Lato" panose="020F0502020204030203" pitchFamily="34" charset="0"/>
                <a:ea typeface="Lato" panose="020F0502020204030203" pitchFamily="34" charset="0"/>
                <a:cs typeface="Lato" panose="020F0502020204030203" pitchFamily="34" charset="0"/>
              </a:rPr>
              <a:t>Offshore POD Team</a:t>
            </a:r>
          </a:p>
          <a:p>
            <a:pPr lvl="1" algn="ctr"/>
            <a:r>
              <a:rPr lang="en-US" sz="1100" b="1">
                <a:latin typeface="Lato" panose="020F0502020204030203" pitchFamily="34" charset="0"/>
                <a:ea typeface="Lato" panose="020F0502020204030203" pitchFamily="34" charset="0"/>
                <a:cs typeface="Lato" panose="020F0502020204030203" pitchFamily="34" charset="0"/>
              </a:rPr>
              <a:t>3 AM – 12 Noon CST</a:t>
            </a:r>
          </a:p>
          <a:p>
            <a:pPr>
              <a:buNone/>
            </a:pPr>
            <a:endParaRPr lang="en-US" sz="1100">
              <a:latin typeface="Lato" panose="020F0502020204030203" pitchFamily="34" charset="0"/>
              <a:ea typeface="Lato" panose="020F0502020204030203" pitchFamily="34" charset="0"/>
              <a:cs typeface="Lato" panose="020F0502020204030203" pitchFamily="34" charset="0"/>
            </a:endParaRPr>
          </a:p>
          <a:p>
            <a:pPr marL="171450" indent="-171450">
              <a:buClr>
                <a:srgbClr val="00B0F0"/>
              </a:buClr>
              <a:buFont typeface="Wingdings" pitchFamily="2" charset="2"/>
              <a:buChar char="Ø"/>
            </a:pPr>
            <a:r>
              <a:rPr lang="en-US" sz="1100">
                <a:latin typeface="Lato" panose="020F0502020204030203" pitchFamily="34" charset="0"/>
                <a:ea typeface="Lato" panose="020F0502020204030203" pitchFamily="34" charset="0"/>
                <a:cs typeface="Lato" panose="020F0502020204030203" pitchFamily="34" charset="0"/>
              </a:rPr>
              <a:t>Scalable data engineering, BI, and platform delivery execution</a:t>
            </a:r>
          </a:p>
          <a:p>
            <a:pPr marL="171450" indent="-171450">
              <a:buClr>
                <a:srgbClr val="00B0F0"/>
              </a:buClr>
              <a:buFont typeface="Wingdings" pitchFamily="2" charset="2"/>
              <a:buChar char="Ø"/>
            </a:pPr>
            <a:r>
              <a:rPr lang="en-US" sz="1100">
                <a:latin typeface="Lato" panose="020F0502020204030203" pitchFamily="34" charset="0"/>
                <a:ea typeface="Lato" panose="020F0502020204030203" pitchFamily="34" charset="0"/>
                <a:cs typeface="Lato" panose="020F0502020204030203" pitchFamily="34" charset="0"/>
              </a:rPr>
              <a:t>Architecture governance and data modeling oversight</a:t>
            </a:r>
          </a:p>
          <a:p>
            <a:pPr marL="171450" indent="-171450">
              <a:buClr>
                <a:srgbClr val="00B0F0"/>
              </a:buClr>
              <a:buFont typeface="Wingdings" pitchFamily="2" charset="2"/>
              <a:buChar char="Ø"/>
            </a:pPr>
            <a:r>
              <a:rPr lang="en-US" sz="1100">
                <a:latin typeface="Lato" panose="020F0502020204030203" pitchFamily="34" charset="0"/>
                <a:ea typeface="Lato" panose="020F0502020204030203" pitchFamily="34" charset="0"/>
                <a:cs typeface="Lato" panose="020F0502020204030203" pitchFamily="34" charset="0"/>
              </a:rPr>
              <a:t>Testing, validation, and deployment support</a:t>
            </a:r>
          </a:p>
          <a:p>
            <a:pPr marL="171450" indent="-171450">
              <a:buClr>
                <a:srgbClr val="00B0F0"/>
              </a:buClr>
              <a:buFont typeface="Wingdings" pitchFamily="2" charset="2"/>
              <a:buChar char="Ø"/>
            </a:pPr>
            <a:r>
              <a:rPr lang="en-US" sz="1100">
                <a:latin typeface="Lato" panose="020F0502020204030203" pitchFamily="34" charset="0"/>
                <a:ea typeface="Lato" panose="020F0502020204030203" pitchFamily="34" charset="0"/>
                <a:cs typeface="Lato" panose="020F0502020204030203" pitchFamily="34" charset="0"/>
              </a:rPr>
              <a:t>Production support, defect resolution, and delivery tracking</a:t>
            </a:r>
          </a:p>
        </p:txBody>
      </p:sp>
      <p:sp>
        <p:nvSpPr>
          <p:cNvPr id="25" name="TextBox 24">
            <a:extLst>
              <a:ext uri="{FF2B5EF4-FFF2-40B4-BE49-F238E27FC236}">
                <a16:creationId xmlns:a16="http://schemas.microsoft.com/office/drawing/2014/main" id="{93AB731D-6907-8D7C-E7FF-DB9DC0D486C4}"/>
              </a:ext>
            </a:extLst>
          </p:cNvPr>
          <p:cNvSpPr txBox="1"/>
          <p:nvPr/>
        </p:nvSpPr>
        <p:spPr>
          <a:xfrm>
            <a:off x="9023410" y="2322351"/>
            <a:ext cx="3006090" cy="3077766"/>
          </a:xfrm>
          <a:prstGeom prst="rect">
            <a:avLst/>
          </a:prstGeom>
          <a:noFill/>
        </p:spPr>
        <p:txBody>
          <a:bodyPr wrap="square">
            <a:spAutoFit/>
          </a:bodyPr>
          <a:lstStyle/>
          <a:p>
            <a:pPr>
              <a:buNone/>
            </a:pPr>
            <a:r>
              <a:rPr lang="en-US" sz="1200" b="1">
                <a:solidFill>
                  <a:srgbClr val="0070C0"/>
                </a:solidFill>
                <a:latin typeface="Lato" panose="020F0502020204030203" pitchFamily="34" charset="0"/>
                <a:ea typeface="Lato" panose="020F0502020204030203" pitchFamily="34" charset="0"/>
                <a:cs typeface="Lato" panose="020F0502020204030203" pitchFamily="34" charset="0"/>
              </a:rPr>
              <a:t>Delivery Benefits</a:t>
            </a:r>
          </a:p>
          <a:p>
            <a:pPr>
              <a:buNone/>
            </a:pPr>
            <a:endParaRPr lang="en-US" sz="1100" b="1">
              <a:solidFill>
                <a:srgbClr val="0070C0"/>
              </a:solidFill>
              <a:latin typeface="Lato" panose="020F0502020204030203" pitchFamily="34" charset="0"/>
              <a:ea typeface="Lato" panose="020F0502020204030203" pitchFamily="34" charset="0"/>
              <a:cs typeface="Lato" panose="020F0502020204030203" pitchFamily="34" charset="0"/>
            </a:endParaRPr>
          </a:p>
          <a:p>
            <a:pPr marL="171450" indent="-171450">
              <a:spcBef>
                <a:spcPts val="600"/>
              </a:spcBef>
              <a:spcAft>
                <a:spcPts val="1200"/>
              </a:spcAft>
              <a:buFont typeface="Wingdings" pitchFamily="2" charset="2"/>
              <a:buChar char="Ø"/>
            </a:pPr>
            <a:r>
              <a:rPr lang="en-US" sz="1100">
                <a:latin typeface="Lato" panose="020F0502020204030203" pitchFamily="34" charset="0"/>
                <a:ea typeface="Lato" panose="020F0502020204030203" pitchFamily="34" charset="0"/>
                <a:cs typeface="Lato" panose="020F0502020204030203" pitchFamily="34" charset="0"/>
              </a:rPr>
              <a:t>Optimized Architecture Oversight: Critical design and risk management aligned to CST for faster decision-making</a:t>
            </a:r>
          </a:p>
          <a:p>
            <a:pPr marL="171450" indent="-171450">
              <a:spcBef>
                <a:spcPts val="600"/>
              </a:spcBef>
              <a:spcAft>
                <a:spcPts val="1200"/>
              </a:spcAft>
              <a:buFont typeface="Wingdings" pitchFamily="2" charset="2"/>
              <a:buChar char="Ø"/>
            </a:pPr>
            <a:r>
              <a:rPr lang="en-US" sz="1100">
                <a:latin typeface="Lato" panose="020F0502020204030203" pitchFamily="34" charset="0"/>
                <a:ea typeface="Lato" panose="020F0502020204030203" pitchFamily="34" charset="0"/>
                <a:cs typeface="Lato" panose="020F0502020204030203" pitchFamily="34" charset="0"/>
              </a:rPr>
              <a:t>Improved Business Resiliency: Extended coverage from early morning through core working hours</a:t>
            </a:r>
          </a:p>
          <a:p>
            <a:pPr marL="171450" indent="-171450">
              <a:spcBef>
                <a:spcPts val="600"/>
              </a:spcBef>
              <a:spcAft>
                <a:spcPts val="1200"/>
              </a:spcAft>
              <a:buFont typeface="Wingdings" pitchFamily="2" charset="2"/>
              <a:buChar char="Ø"/>
            </a:pPr>
            <a:r>
              <a:rPr lang="en-US" sz="1100">
                <a:latin typeface="Lato" panose="020F0502020204030203" pitchFamily="34" charset="0"/>
                <a:ea typeface="Lato" panose="020F0502020204030203" pitchFamily="34" charset="0"/>
                <a:cs typeface="Lato" panose="020F0502020204030203" pitchFamily="34" charset="0"/>
              </a:rPr>
              <a:t>Scalable POD Execution: Flexible capacity that scales with Daikin’s program demands</a:t>
            </a:r>
          </a:p>
          <a:p>
            <a:pPr marL="171450" indent="-171450">
              <a:spcBef>
                <a:spcPts val="600"/>
              </a:spcBef>
              <a:spcAft>
                <a:spcPts val="1200"/>
              </a:spcAft>
              <a:buFont typeface="Wingdings" pitchFamily="2" charset="2"/>
              <a:buChar char="Ø"/>
            </a:pPr>
            <a:r>
              <a:rPr lang="en-US" sz="1100">
                <a:latin typeface="Lato" panose="020F0502020204030203" pitchFamily="34" charset="0"/>
                <a:ea typeface="Lato" panose="020F0502020204030203" pitchFamily="34" charset="0"/>
                <a:cs typeface="Lato" panose="020F0502020204030203" pitchFamily="34" charset="0"/>
              </a:rPr>
              <a:t>Unified Governance Model: Coordinated architect-to-POD execution ensuring consistency and accountability</a:t>
            </a:r>
          </a:p>
        </p:txBody>
      </p:sp>
      <p:grpSp>
        <p:nvGrpSpPr>
          <p:cNvPr id="24" name="Group 23">
            <a:extLst>
              <a:ext uri="{FF2B5EF4-FFF2-40B4-BE49-F238E27FC236}">
                <a16:creationId xmlns:a16="http://schemas.microsoft.com/office/drawing/2014/main" id="{4BB7B8F3-0DED-7FCA-C7DC-D3F0B8EEBD23}"/>
              </a:ext>
            </a:extLst>
          </p:cNvPr>
          <p:cNvGrpSpPr/>
          <p:nvPr/>
        </p:nvGrpSpPr>
        <p:grpSpPr>
          <a:xfrm>
            <a:off x="3280410" y="5500363"/>
            <a:ext cx="4659307" cy="1102574"/>
            <a:chOff x="3280410" y="5500363"/>
            <a:chExt cx="4659307" cy="1102574"/>
          </a:xfrm>
        </p:grpSpPr>
        <p:sp>
          <p:nvSpPr>
            <p:cNvPr id="27" name="TextBox 26">
              <a:extLst>
                <a:ext uri="{FF2B5EF4-FFF2-40B4-BE49-F238E27FC236}">
                  <a16:creationId xmlns:a16="http://schemas.microsoft.com/office/drawing/2014/main" id="{52B95BAD-C81B-627F-B977-BDFE82D6ABF0}"/>
                </a:ext>
              </a:extLst>
            </p:cNvPr>
            <p:cNvSpPr txBox="1"/>
            <p:nvPr/>
          </p:nvSpPr>
          <p:spPr>
            <a:xfrm>
              <a:off x="3371850" y="5802718"/>
              <a:ext cx="4567867" cy="800219"/>
            </a:xfrm>
            <a:prstGeom prst="rect">
              <a:avLst/>
            </a:prstGeom>
            <a:noFill/>
          </p:spPr>
          <p:txBody>
            <a:bodyPr wrap="square">
              <a:spAutoFit/>
            </a:bodyPr>
            <a:lstStyle/>
            <a:p>
              <a:pPr marL="171450" indent="-171450">
                <a:spcBef>
                  <a:spcPts val="600"/>
                </a:spcBef>
                <a:buFont typeface="Wingdings" pitchFamily="2" charset="2"/>
                <a:buChar char="Ø"/>
              </a:pPr>
              <a:r>
                <a:rPr lang="en-US" sz="1200">
                  <a:latin typeface="Lato" panose="020F0502020204030203" pitchFamily="34" charset="0"/>
                  <a:ea typeface="Lato" panose="020F0502020204030203" pitchFamily="34" charset="0"/>
                  <a:cs typeface="Lato" panose="020F0502020204030203" pitchFamily="34" charset="0"/>
                </a:rPr>
                <a:t>Centralized sprint planning and issue resolution</a:t>
              </a:r>
            </a:p>
            <a:p>
              <a:pPr marL="171450" indent="-171450">
                <a:spcBef>
                  <a:spcPts val="600"/>
                </a:spcBef>
                <a:buFont typeface="Wingdings" pitchFamily="2" charset="2"/>
                <a:buChar char="Ø"/>
              </a:pPr>
              <a:r>
                <a:rPr lang="en-US" sz="1200">
                  <a:latin typeface="Lato" panose="020F0502020204030203" pitchFamily="34" charset="0"/>
                  <a:ea typeface="Lato" panose="020F0502020204030203" pitchFamily="34" charset="0"/>
                  <a:cs typeface="Lato" panose="020F0502020204030203" pitchFamily="34" charset="0"/>
                </a:rPr>
                <a:t>Aligned CST delivery covering early morning &amp; business hours</a:t>
              </a:r>
            </a:p>
            <a:p>
              <a:pPr marL="171450" indent="-171450">
                <a:spcBef>
                  <a:spcPts val="600"/>
                </a:spcBef>
                <a:buFont typeface="Wingdings" pitchFamily="2" charset="2"/>
                <a:buChar char="Ø"/>
              </a:pPr>
              <a:r>
                <a:rPr lang="en-US" sz="1200">
                  <a:latin typeface="Lato" panose="020F0502020204030203" pitchFamily="34" charset="0"/>
                  <a:ea typeface="Lato" panose="020F0502020204030203" pitchFamily="34" charset="0"/>
                  <a:cs typeface="Lato" panose="020F0502020204030203" pitchFamily="34" charset="0"/>
                </a:rPr>
                <a:t>Seamless end-to-end execution governance</a:t>
              </a:r>
              <a:endParaRPr lang="en-IN" sz="1200">
                <a:latin typeface="Lato" panose="020F0502020204030203" pitchFamily="34" charset="0"/>
                <a:ea typeface="Lato" panose="020F0502020204030203" pitchFamily="34" charset="0"/>
                <a:cs typeface="Lato" panose="020F0502020204030203" pitchFamily="34" charset="0"/>
              </a:endParaRPr>
            </a:p>
          </p:txBody>
        </p:sp>
        <p:sp>
          <p:nvSpPr>
            <p:cNvPr id="29" name="TextBox 28">
              <a:extLst>
                <a:ext uri="{FF2B5EF4-FFF2-40B4-BE49-F238E27FC236}">
                  <a16:creationId xmlns:a16="http://schemas.microsoft.com/office/drawing/2014/main" id="{6EF148A5-4F8C-E407-873F-F0AE67B7237E}"/>
                </a:ext>
              </a:extLst>
            </p:cNvPr>
            <p:cNvSpPr txBox="1"/>
            <p:nvPr/>
          </p:nvSpPr>
          <p:spPr>
            <a:xfrm>
              <a:off x="3280410" y="5500363"/>
              <a:ext cx="4365479" cy="276999"/>
            </a:xfrm>
            <a:prstGeom prst="rect">
              <a:avLst/>
            </a:prstGeom>
            <a:noFill/>
          </p:spPr>
          <p:txBody>
            <a:bodyPr wrap="square">
              <a:spAutoFit/>
            </a:bodyPr>
            <a:lstStyle/>
            <a:p>
              <a:r>
                <a:rPr lang="en-US" sz="1200" b="1">
                  <a:solidFill>
                    <a:srgbClr val="0070C0"/>
                  </a:solidFill>
                  <a:latin typeface="Lato" panose="020F0502020204030203" pitchFamily="34" charset="0"/>
                  <a:ea typeface="Lato" panose="020F0502020204030203" pitchFamily="34" charset="0"/>
                  <a:cs typeface="Lato" panose="020F0502020204030203" pitchFamily="34" charset="0"/>
                </a:rPr>
                <a:t>Nearshore+ Offshore POD Execution Model</a:t>
              </a:r>
              <a:endParaRPr lang="en-IN" sz="1200" b="1">
                <a:solidFill>
                  <a:srgbClr val="0070C0"/>
                </a:solidFill>
                <a:latin typeface="Lato" panose="020F0502020204030203" pitchFamily="34" charset="0"/>
                <a:ea typeface="Lato" panose="020F0502020204030203" pitchFamily="34" charset="0"/>
                <a:cs typeface="Lato" panose="020F0502020204030203" pitchFamily="34" charset="0"/>
              </a:endParaRPr>
            </a:p>
          </p:txBody>
        </p:sp>
      </p:grpSp>
      <p:cxnSp>
        <p:nvCxnSpPr>
          <p:cNvPr id="36" name="Straight Connector 35">
            <a:extLst>
              <a:ext uri="{FF2B5EF4-FFF2-40B4-BE49-F238E27FC236}">
                <a16:creationId xmlns:a16="http://schemas.microsoft.com/office/drawing/2014/main" id="{149070E0-4256-CCE9-4A80-6241C63C44A6}"/>
              </a:ext>
            </a:extLst>
          </p:cNvPr>
          <p:cNvCxnSpPr>
            <a:cxnSpLocks/>
          </p:cNvCxnSpPr>
          <p:nvPr/>
        </p:nvCxnSpPr>
        <p:spPr>
          <a:xfrm>
            <a:off x="3593805" y="2385594"/>
            <a:ext cx="0" cy="2877713"/>
          </a:xfrm>
          <a:prstGeom prst="line">
            <a:avLst/>
          </a:prstGeom>
          <a:ln w="12700" cap="flat" cmpd="sng" algn="ctr">
            <a:solidFill>
              <a:srgbClr val="00B0F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0" name="Straight Connector 39">
            <a:extLst>
              <a:ext uri="{FF2B5EF4-FFF2-40B4-BE49-F238E27FC236}">
                <a16:creationId xmlns:a16="http://schemas.microsoft.com/office/drawing/2014/main" id="{C86AEEA4-54FC-0230-FB19-C43B838717E2}"/>
              </a:ext>
            </a:extLst>
          </p:cNvPr>
          <p:cNvCxnSpPr>
            <a:cxnSpLocks/>
          </p:cNvCxnSpPr>
          <p:nvPr/>
        </p:nvCxnSpPr>
        <p:spPr>
          <a:xfrm>
            <a:off x="8760165" y="2385594"/>
            <a:ext cx="0" cy="2877713"/>
          </a:xfrm>
          <a:prstGeom prst="line">
            <a:avLst/>
          </a:prstGeom>
          <a:ln w="12700" cap="flat" cmpd="sng" algn="ctr">
            <a:solidFill>
              <a:srgbClr val="00B0F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1" name="Straight Connector 40">
            <a:extLst>
              <a:ext uri="{FF2B5EF4-FFF2-40B4-BE49-F238E27FC236}">
                <a16:creationId xmlns:a16="http://schemas.microsoft.com/office/drawing/2014/main" id="{AB1CB649-DF50-F965-3A4B-E992715298C4}"/>
              </a:ext>
            </a:extLst>
          </p:cNvPr>
          <p:cNvCxnSpPr>
            <a:cxnSpLocks/>
          </p:cNvCxnSpPr>
          <p:nvPr/>
        </p:nvCxnSpPr>
        <p:spPr>
          <a:xfrm flipH="1">
            <a:off x="167640" y="5366448"/>
            <a:ext cx="8679180" cy="0"/>
          </a:xfrm>
          <a:prstGeom prst="line">
            <a:avLst/>
          </a:prstGeom>
          <a:ln w="12700" cap="flat" cmpd="sng" algn="ctr">
            <a:solidFill>
              <a:srgbClr val="00B0F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26" name="Group 25">
            <a:extLst>
              <a:ext uri="{FF2B5EF4-FFF2-40B4-BE49-F238E27FC236}">
                <a16:creationId xmlns:a16="http://schemas.microsoft.com/office/drawing/2014/main" id="{2EDD3B12-E2EC-9D7C-E544-1A4CA358DF16}"/>
              </a:ext>
            </a:extLst>
          </p:cNvPr>
          <p:cNvGrpSpPr/>
          <p:nvPr/>
        </p:nvGrpSpPr>
        <p:grpSpPr>
          <a:xfrm>
            <a:off x="494968" y="5689761"/>
            <a:ext cx="2383225" cy="723778"/>
            <a:chOff x="494968" y="5723745"/>
            <a:chExt cx="2383225" cy="723778"/>
          </a:xfrm>
        </p:grpSpPr>
        <p:sp>
          <p:nvSpPr>
            <p:cNvPr id="34" name="TextBox 33">
              <a:extLst>
                <a:ext uri="{FF2B5EF4-FFF2-40B4-BE49-F238E27FC236}">
                  <a16:creationId xmlns:a16="http://schemas.microsoft.com/office/drawing/2014/main" id="{A2B77BB0-CA9D-8E76-1F09-DA5D5FB51A29}"/>
                </a:ext>
              </a:extLst>
            </p:cNvPr>
            <p:cNvSpPr txBox="1"/>
            <p:nvPr/>
          </p:nvSpPr>
          <p:spPr>
            <a:xfrm>
              <a:off x="1118633" y="5931746"/>
              <a:ext cx="1759560" cy="307777"/>
            </a:xfrm>
            <a:prstGeom prst="rect">
              <a:avLst/>
            </a:prstGeom>
            <a:noFill/>
          </p:spPr>
          <p:txBody>
            <a:bodyPr wrap="square" anchor="ctr">
              <a:spAutoFit/>
            </a:bodyPr>
            <a:lstStyle/>
            <a:p>
              <a:pPr>
                <a:buNone/>
              </a:pPr>
              <a:r>
                <a:rPr lang="en-IN" sz="1400" b="1">
                  <a:solidFill>
                    <a:srgbClr val="0070C0"/>
                  </a:solidFill>
                  <a:latin typeface="Lato" panose="020F0502020204030203" pitchFamily="34" charset="0"/>
                  <a:ea typeface="Lato" panose="020F0502020204030203" pitchFamily="34" charset="0"/>
                  <a:cs typeface="Lato" panose="020F0502020204030203" pitchFamily="34" charset="0"/>
                </a:rPr>
                <a:t>Location Strategy</a:t>
              </a:r>
            </a:p>
          </p:txBody>
        </p:sp>
        <p:pic>
          <p:nvPicPr>
            <p:cNvPr id="22" name="Graphic 21" descr="Marker with solid fill">
              <a:extLst>
                <a:ext uri="{FF2B5EF4-FFF2-40B4-BE49-F238E27FC236}">
                  <a16:creationId xmlns:a16="http://schemas.microsoft.com/office/drawing/2014/main" id="{C2108A7B-0FAD-E13D-139A-FEF24366D79A}"/>
                </a:ext>
              </a:extLst>
            </p:cNvPr>
            <p:cNvPicPr>
              <a:picLocks noChangeAspect="1"/>
            </p:cNvPicPr>
            <p:nvPr/>
          </p:nvPicPr>
          <p:blipFill>
            <a:blip r:embed="rId2">
              <a:duotone>
                <a:schemeClr val="accent4">
                  <a:shade val="45000"/>
                  <a:satMod val="135000"/>
                </a:schemeClr>
                <a:prstClr val="white"/>
              </a:duotone>
              <a:extLst>
                <a:ext uri="{96DAC541-7B7A-43D3-8B79-37D633B846F1}">
                  <asvg:svgBlip xmlns:asvg="http://schemas.microsoft.com/office/drawing/2016/SVG/main" r:embed="rId3"/>
                </a:ext>
              </a:extLst>
            </a:blip>
            <a:stretch>
              <a:fillRect/>
            </a:stretch>
          </p:blipFill>
          <p:spPr>
            <a:xfrm>
              <a:off x="494968" y="5723745"/>
              <a:ext cx="723778" cy="723778"/>
            </a:xfrm>
            <a:prstGeom prst="rect">
              <a:avLst/>
            </a:prstGeom>
          </p:spPr>
        </p:pic>
      </p:grpSp>
      <p:sp>
        <p:nvSpPr>
          <p:cNvPr id="11" name="Pentagon 131">
            <a:extLst>
              <a:ext uri="{FF2B5EF4-FFF2-40B4-BE49-F238E27FC236}">
                <a16:creationId xmlns:a16="http://schemas.microsoft.com/office/drawing/2014/main" id="{AE35CFB9-FAEA-DB55-5D1F-1FC4FFADE6A0}"/>
              </a:ext>
            </a:extLst>
          </p:cNvPr>
          <p:cNvSpPr/>
          <p:nvPr/>
        </p:nvSpPr>
        <p:spPr>
          <a:xfrm>
            <a:off x="3561363" y="1728252"/>
            <a:ext cx="5068866" cy="400121"/>
          </a:xfrm>
          <a:prstGeom prst="round2SameRect">
            <a:avLst>
              <a:gd name="adj1" fmla="val 16667"/>
              <a:gd name="adj2" fmla="val 50000"/>
            </a:avLst>
          </a:prstGeom>
          <a:solidFill>
            <a:srgbClr val="63A84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980A672-789D-23C3-6392-58FB73A727B4}"/>
              </a:ext>
            </a:extLst>
          </p:cNvPr>
          <p:cNvSpPr txBox="1"/>
          <p:nvPr/>
        </p:nvSpPr>
        <p:spPr>
          <a:xfrm>
            <a:off x="4019497" y="1766730"/>
            <a:ext cx="4152598" cy="323165"/>
          </a:xfrm>
          <a:prstGeom prst="rect">
            <a:avLst/>
          </a:prstGeom>
          <a:noFill/>
        </p:spPr>
        <p:txBody>
          <a:bodyPr wrap="square">
            <a:spAutoFit/>
          </a:bodyPr>
          <a:lstStyle/>
          <a:p>
            <a:pPr marL="0" lvl="0" indent="0" algn="ctr" defTabSz="488950">
              <a:lnSpc>
                <a:spcPts val="1840"/>
              </a:lnSpc>
              <a:spcBef>
                <a:spcPct val="0"/>
              </a:spcBef>
              <a:spcAft>
                <a:spcPct val="35000"/>
              </a:spcAft>
              <a:buNone/>
            </a:pPr>
            <a:r>
              <a:rPr lang="en-US" sz="1600" b="1" kern="1200">
                <a:solidFill>
                  <a:schemeClr val="bg1"/>
                </a:solidFill>
                <a:latin typeface="Lato" panose="020F0502020204030203" pitchFamily="34" charset="0"/>
                <a:ea typeface="Lato" panose="020F0502020204030203" pitchFamily="34" charset="0"/>
                <a:cs typeface="Lato" panose="020F0502020204030203" pitchFamily="34" charset="0"/>
              </a:rPr>
              <a:t>Nearshore Team – 8 AM – 5 PM CST</a:t>
            </a:r>
          </a:p>
        </p:txBody>
      </p:sp>
      <p:pic>
        <p:nvPicPr>
          <p:cNvPr id="7" name="Picture 6">
            <a:extLst>
              <a:ext uri="{FF2B5EF4-FFF2-40B4-BE49-F238E27FC236}">
                <a16:creationId xmlns:a16="http://schemas.microsoft.com/office/drawing/2014/main" id="{F5D5A0D4-4ADB-7131-AF55-816F294CB5ED}"/>
              </a:ext>
            </a:extLst>
          </p:cNvPr>
          <p:cNvPicPr>
            <a:picLocks noChangeAspect="1"/>
          </p:cNvPicPr>
          <p:nvPr/>
        </p:nvPicPr>
        <p:blipFill>
          <a:blip r:embed="rId4"/>
          <a:stretch>
            <a:fillRect/>
          </a:stretch>
        </p:blipFill>
        <p:spPr>
          <a:xfrm>
            <a:off x="3839178" y="2607573"/>
            <a:ext cx="504048" cy="430238"/>
          </a:xfrm>
          <a:prstGeom prst="rect">
            <a:avLst/>
          </a:prstGeom>
        </p:spPr>
      </p:pic>
      <p:pic>
        <p:nvPicPr>
          <p:cNvPr id="8" name="Picture 7">
            <a:extLst>
              <a:ext uri="{FF2B5EF4-FFF2-40B4-BE49-F238E27FC236}">
                <a16:creationId xmlns:a16="http://schemas.microsoft.com/office/drawing/2014/main" id="{2308DCB2-EC43-3757-E158-CA6E4A92B275}"/>
              </a:ext>
            </a:extLst>
          </p:cNvPr>
          <p:cNvPicPr>
            <a:picLocks noChangeAspect="1"/>
          </p:cNvPicPr>
          <p:nvPr/>
        </p:nvPicPr>
        <p:blipFill>
          <a:blip r:embed="rId5"/>
          <a:srcRect/>
          <a:stretch/>
        </p:blipFill>
        <p:spPr>
          <a:xfrm>
            <a:off x="6304476" y="2629378"/>
            <a:ext cx="504048" cy="400751"/>
          </a:xfrm>
          <a:prstGeom prst="rect">
            <a:avLst/>
          </a:prstGeom>
        </p:spPr>
      </p:pic>
    </p:spTree>
    <p:extLst>
      <p:ext uri="{BB962C8B-B14F-4D97-AF65-F5344CB8AC3E}">
        <p14:creationId xmlns:p14="http://schemas.microsoft.com/office/powerpoint/2010/main" val="1058802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61631-B4A2-7529-6D3B-5F56F6CC5684}"/>
            </a:ext>
          </a:extLst>
        </p:cNvPr>
        <p:cNvGrpSpPr/>
        <p:nvPr/>
      </p:nvGrpSpPr>
      <p:grpSpPr>
        <a:xfrm>
          <a:off x="0" y="0"/>
          <a:ext cx="0" cy="0"/>
          <a:chOff x="0" y="0"/>
          <a:chExt cx="0" cy="0"/>
        </a:xfrm>
      </p:grpSpPr>
      <p:sp>
        <p:nvSpPr>
          <p:cNvPr id="35" name="Rounded Rectangle 34">
            <a:extLst>
              <a:ext uri="{FF2B5EF4-FFF2-40B4-BE49-F238E27FC236}">
                <a16:creationId xmlns:a16="http://schemas.microsoft.com/office/drawing/2014/main" id="{88F1AC85-E399-0544-C3D4-DF39DD524E22}"/>
              </a:ext>
            </a:extLst>
          </p:cNvPr>
          <p:cNvSpPr/>
          <p:nvPr/>
        </p:nvSpPr>
        <p:spPr>
          <a:xfrm>
            <a:off x="8834494" y="1105118"/>
            <a:ext cx="2904564" cy="5277847"/>
          </a:xfrm>
          <a:prstGeom prst="roundRect">
            <a:avLst>
              <a:gd name="adj" fmla="val 0"/>
            </a:avLst>
          </a:prstGeom>
          <a:solidFill>
            <a:schemeClr val="tx2">
              <a:lumMod val="10000"/>
              <a:lumOff val="90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AF39B3A3-CD8D-7D8C-2CE6-FC157F2F90F4}"/>
              </a:ext>
            </a:extLst>
          </p:cNvPr>
          <p:cNvPicPr>
            <a:picLocks noChangeAspect="1"/>
          </p:cNvPicPr>
          <p:nvPr/>
        </p:nvPicPr>
        <p:blipFill>
          <a:blip r:embed="rId3"/>
          <a:stretch>
            <a:fillRect/>
          </a:stretch>
        </p:blipFill>
        <p:spPr>
          <a:xfrm>
            <a:off x="6096000" y="4429135"/>
            <a:ext cx="5951668" cy="1953830"/>
          </a:xfrm>
          <a:prstGeom prst="rect">
            <a:avLst/>
          </a:prstGeom>
        </p:spPr>
      </p:pic>
      <p:sp>
        <p:nvSpPr>
          <p:cNvPr id="2" name="Text 4">
            <a:extLst>
              <a:ext uri="{FF2B5EF4-FFF2-40B4-BE49-F238E27FC236}">
                <a16:creationId xmlns:a16="http://schemas.microsoft.com/office/drawing/2014/main" id="{975486AE-1755-8280-786C-A99B37708774}"/>
              </a:ext>
            </a:extLst>
          </p:cNvPr>
          <p:cNvSpPr/>
          <p:nvPr/>
        </p:nvSpPr>
        <p:spPr>
          <a:xfrm>
            <a:off x="487680" y="1599303"/>
            <a:ext cx="5482814" cy="1171866"/>
          </a:xfrm>
          <a:prstGeom prst="rect">
            <a:avLst/>
          </a:prstGeom>
          <a:noFill/>
          <a:ln/>
        </p:spPr>
        <p:txBody>
          <a:bodyPr wrap="square" rtlCol="0" anchor="ctr"/>
          <a:lstStyle/>
          <a:p>
            <a:r>
              <a:rPr lang="en-US" sz="4000" b="1">
                <a:solidFill>
                  <a:srgbClr val="0070C0"/>
                </a:solidFill>
                <a:latin typeface="Roboto" panose="02000000000000000000" pitchFamily="2" charset="0"/>
                <a:ea typeface="Roboto" panose="02000000000000000000" pitchFamily="2" charset="0"/>
                <a:cs typeface="Roboto" panose="02000000000000000000" pitchFamily="2" charset="0"/>
              </a:rPr>
              <a:t>Thermal Management Module (TMM) ECU</a:t>
            </a:r>
            <a:endParaRPr lang="en-US" sz="4000">
              <a:solidFill>
                <a:srgbClr val="0070C0"/>
              </a:solidFill>
              <a:latin typeface="Roboto" panose="02000000000000000000" pitchFamily="2" charset="0"/>
              <a:ea typeface="Roboto" panose="02000000000000000000" pitchFamily="2" charset="0"/>
              <a:cs typeface="Roboto" panose="02000000000000000000" pitchFamily="2" charset="0"/>
            </a:endParaRPr>
          </a:p>
        </p:txBody>
      </p:sp>
      <p:sp>
        <p:nvSpPr>
          <p:cNvPr id="4" name="Text 5">
            <a:extLst>
              <a:ext uri="{FF2B5EF4-FFF2-40B4-BE49-F238E27FC236}">
                <a16:creationId xmlns:a16="http://schemas.microsoft.com/office/drawing/2014/main" id="{72EC782D-404A-3CE3-7C00-084B666FC423}"/>
              </a:ext>
            </a:extLst>
          </p:cNvPr>
          <p:cNvSpPr/>
          <p:nvPr/>
        </p:nvSpPr>
        <p:spPr>
          <a:xfrm>
            <a:off x="487680" y="2983456"/>
            <a:ext cx="5767977" cy="487680"/>
          </a:xfrm>
          <a:prstGeom prst="rect">
            <a:avLst/>
          </a:prstGeom>
          <a:noFill/>
          <a:ln/>
        </p:spPr>
        <p:txBody>
          <a:bodyPr wrap="square" rtlCol="0" anchor="ctr"/>
          <a:lstStyle/>
          <a:p>
            <a:r>
              <a:rPr lang="en-US" sz="2000">
                <a:solidFill>
                  <a:srgbClr val="00B0F0"/>
                </a:solidFill>
                <a:latin typeface="Roboto" panose="02000000000000000000" pitchFamily="2" charset="0"/>
                <a:ea typeface="Roboto" panose="02000000000000000000" pitchFamily="2" charset="0"/>
                <a:cs typeface="Roboto" panose="02000000000000000000" pitchFamily="2" charset="0"/>
              </a:rPr>
              <a:t>For Battery Electric Vehicles</a:t>
            </a:r>
          </a:p>
        </p:txBody>
      </p:sp>
      <p:sp>
        <p:nvSpPr>
          <p:cNvPr id="5" name="Shape 6">
            <a:extLst>
              <a:ext uri="{FF2B5EF4-FFF2-40B4-BE49-F238E27FC236}">
                <a16:creationId xmlns:a16="http://schemas.microsoft.com/office/drawing/2014/main" id="{37E81998-46F7-B668-2492-464A6A1BCCF4}"/>
              </a:ext>
            </a:extLst>
          </p:cNvPr>
          <p:cNvSpPr/>
          <p:nvPr/>
        </p:nvSpPr>
        <p:spPr>
          <a:xfrm>
            <a:off x="463555" y="3629632"/>
            <a:ext cx="5541818" cy="36576"/>
          </a:xfrm>
          <a:prstGeom prst="rect">
            <a:avLst/>
          </a:prstGeom>
          <a:solidFill>
            <a:srgbClr val="00B0F0"/>
          </a:solidFill>
          <a:ln/>
        </p:spPr>
        <p:txBody>
          <a:bodyPr/>
          <a:lstStyle/>
          <a:p>
            <a:endParaRPr lang="en-IN" sz="2400"/>
          </a:p>
        </p:txBody>
      </p:sp>
      <p:sp>
        <p:nvSpPr>
          <p:cNvPr id="6" name="Text 7">
            <a:extLst>
              <a:ext uri="{FF2B5EF4-FFF2-40B4-BE49-F238E27FC236}">
                <a16:creationId xmlns:a16="http://schemas.microsoft.com/office/drawing/2014/main" id="{27525063-B422-79AF-C008-8E3C756263F0}"/>
              </a:ext>
            </a:extLst>
          </p:cNvPr>
          <p:cNvSpPr/>
          <p:nvPr/>
        </p:nvSpPr>
        <p:spPr>
          <a:xfrm>
            <a:off x="393633" y="3674816"/>
            <a:ext cx="6830128" cy="795503"/>
          </a:xfrm>
          <a:prstGeom prst="rect">
            <a:avLst/>
          </a:prstGeom>
          <a:noFill/>
          <a:ln/>
        </p:spPr>
        <p:txBody>
          <a:bodyPr wrap="square" rtlCol="0" anchor="ctr"/>
          <a:lstStyle/>
          <a:p>
            <a:r>
              <a:rPr lang="en-IN" sz="1600">
                <a:latin typeface="Roboto" panose="02000000000000000000" pitchFamily="2" charset="0"/>
                <a:ea typeface="Roboto" panose="02000000000000000000" pitchFamily="2" charset="0"/>
                <a:cs typeface="Roboto" panose="02000000000000000000" pitchFamily="2" charset="0"/>
              </a:rPr>
              <a:t>Complete SW/HW TMM ECU solution from Innominds, using </a:t>
            </a:r>
            <a:r>
              <a:rPr lang="en-IN" sz="1600" err="1">
                <a:latin typeface="Roboto" panose="02000000000000000000" pitchFamily="2" charset="0"/>
                <a:ea typeface="Roboto" panose="02000000000000000000" pitchFamily="2" charset="0"/>
                <a:cs typeface="Roboto" panose="02000000000000000000" pitchFamily="2" charset="0"/>
              </a:rPr>
              <a:t>Elektrobit</a:t>
            </a:r>
            <a:endParaRPr lang="en-IN" sz="1600">
              <a:latin typeface="Roboto" panose="02000000000000000000" pitchFamily="2" charset="0"/>
              <a:ea typeface="Roboto" panose="02000000000000000000" pitchFamily="2" charset="0"/>
              <a:cs typeface="Roboto" panose="02000000000000000000" pitchFamily="2" charset="0"/>
            </a:endParaRPr>
          </a:p>
          <a:p>
            <a:r>
              <a:rPr lang="en-IN" sz="1600">
                <a:latin typeface="Roboto" panose="02000000000000000000" pitchFamily="2" charset="0"/>
                <a:ea typeface="Roboto" panose="02000000000000000000" pitchFamily="2" charset="0"/>
                <a:cs typeface="Roboto" panose="02000000000000000000" pitchFamily="2" charset="0"/>
              </a:rPr>
              <a:t>EB </a:t>
            </a:r>
            <a:r>
              <a:rPr lang="en-IN" sz="1600" err="1">
                <a:latin typeface="Roboto" panose="02000000000000000000" pitchFamily="2" charset="0"/>
                <a:ea typeface="Roboto" panose="02000000000000000000" pitchFamily="2" charset="0"/>
                <a:cs typeface="Roboto" panose="02000000000000000000" pitchFamily="2" charset="0"/>
              </a:rPr>
              <a:t>tresos</a:t>
            </a:r>
            <a:r>
              <a:rPr lang="en-IN" sz="1600">
                <a:latin typeface="Roboto" panose="02000000000000000000" pitchFamily="2" charset="0"/>
                <a:ea typeface="Roboto" panose="02000000000000000000" pitchFamily="2" charset="0"/>
                <a:cs typeface="Roboto" panose="02000000000000000000" pitchFamily="2" charset="0"/>
              </a:rPr>
              <a:t> </a:t>
            </a:r>
            <a:r>
              <a:rPr lang="en-IN" sz="1600" err="1">
                <a:latin typeface="Roboto" panose="02000000000000000000" pitchFamily="2" charset="0"/>
                <a:ea typeface="Roboto" panose="02000000000000000000" pitchFamily="2" charset="0"/>
                <a:cs typeface="Roboto" panose="02000000000000000000" pitchFamily="2" charset="0"/>
              </a:rPr>
              <a:t>Autocore</a:t>
            </a:r>
            <a:r>
              <a:rPr lang="en-IN" sz="1600">
                <a:latin typeface="Roboto" panose="02000000000000000000" pitchFamily="2" charset="0"/>
                <a:ea typeface="Roboto" panose="02000000000000000000" pitchFamily="2" charset="0"/>
                <a:cs typeface="Roboto" panose="02000000000000000000" pitchFamily="2" charset="0"/>
              </a:rPr>
              <a:t> OS (ISO 26262 ASIL B)</a:t>
            </a:r>
            <a:endParaRPr lang="en-US" sz="1600">
              <a:latin typeface="Roboto" panose="02000000000000000000" pitchFamily="2" charset="0"/>
              <a:ea typeface="Roboto" panose="02000000000000000000" pitchFamily="2" charset="0"/>
              <a:cs typeface="Roboto" panose="02000000000000000000" pitchFamily="2" charset="0"/>
            </a:endParaRPr>
          </a:p>
        </p:txBody>
      </p:sp>
      <p:sp>
        <p:nvSpPr>
          <p:cNvPr id="7" name="Text 7">
            <a:extLst>
              <a:ext uri="{FF2B5EF4-FFF2-40B4-BE49-F238E27FC236}">
                <a16:creationId xmlns:a16="http://schemas.microsoft.com/office/drawing/2014/main" id="{5924C136-6CFE-1FA4-408D-D013187A3CC2}"/>
              </a:ext>
            </a:extLst>
          </p:cNvPr>
          <p:cNvSpPr/>
          <p:nvPr/>
        </p:nvSpPr>
        <p:spPr>
          <a:xfrm>
            <a:off x="487680" y="5574087"/>
            <a:ext cx="4443549" cy="409578"/>
          </a:xfrm>
          <a:prstGeom prst="rect">
            <a:avLst/>
          </a:prstGeom>
          <a:noFill/>
          <a:ln/>
        </p:spPr>
        <p:txBody>
          <a:bodyPr wrap="square" rtlCol="0" anchor="ctr"/>
          <a:lstStyle/>
          <a:p>
            <a:r>
              <a:rPr lang="en-US" sz="2000">
                <a:latin typeface="Roboto" panose="02000000000000000000" pitchFamily="2" charset="0"/>
                <a:ea typeface="Roboto" panose="02000000000000000000" pitchFamily="2" charset="0"/>
                <a:cs typeface="Roboto" panose="02000000000000000000" pitchFamily="2" charset="0"/>
              </a:rPr>
              <a:t>Technical Proposal — March 2026</a:t>
            </a:r>
          </a:p>
        </p:txBody>
      </p:sp>
      <p:grpSp>
        <p:nvGrpSpPr>
          <p:cNvPr id="15" name="Group 14">
            <a:extLst>
              <a:ext uri="{FF2B5EF4-FFF2-40B4-BE49-F238E27FC236}">
                <a16:creationId xmlns:a16="http://schemas.microsoft.com/office/drawing/2014/main" id="{D3091EF6-4512-7BE2-3081-5562115742CD}"/>
              </a:ext>
            </a:extLst>
          </p:cNvPr>
          <p:cNvGrpSpPr/>
          <p:nvPr/>
        </p:nvGrpSpPr>
        <p:grpSpPr>
          <a:xfrm>
            <a:off x="9219751" y="3488275"/>
            <a:ext cx="2194560" cy="886357"/>
            <a:chOff x="10001028" y="641304"/>
            <a:chExt cx="2194560" cy="886357"/>
          </a:xfrm>
        </p:grpSpPr>
        <p:sp>
          <p:nvSpPr>
            <p:cNvPr id="13" name="Text 18">
              <a:extLst>
                <a:ext uri="{FF2B5EF4-FFF2-40B4-BE49-F238E27FC236}">
                  <a16:creationId xmlns:a16="http://schemas.microsoft.com/office/drawing/2014/main" id="{27510BAA-FF4C-3D13-7782-26CBBFA6F17F}"/>
                </a:ext>
              </a:extLst>
            </p:cNvPr>
            <p:cNvSpPr/>
            <p:nvPr/>
          </p:nvSpPr>
          <p:spPr>
            <a:xfrm>
              <a:off x="10001028" y="641304"/>
              <a:ext cx="2194560" cy="487680"/>
            </a:xfrm>
            <a:prstGeom prst="rect">
              <a:avLst/>
            </a:prstGeom>
            <a:noFill/>
            <a:ln/>
          </p:spPr>
          <p:txBody>
            <a:bodyPr wrap="square" rtlCol="0" anchor="ctr"/>
            <a:lstStyle/>
            <a:p>
              <a:pPr algn="ctr"/>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End-to-End</a:t>
              </a:r>
              <a:r>
                <a:rPr lang="en-US" sz="1400">
                  <a:solidFill>
                    <a:srgbClr val="0070C0"/>
                  </a:solidFill>
                  <a:latin typeface="Lato" panose="020F0502020204030203" pitchFamily="34" charset="0"/>
                  <a:ea typeface="Lato" panose="020F0502020204030203" pitchFamily="34" charset="0"/>
                  <a:cs typeface="Lato" panose="020F0502020204030203" pitchFamily="34" charset="0"/>
                </a:rPr>
                <a:t> </a:t>
              </a:r>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Delivery</a:t>
              </a:r>
              <a:endParaRPr lang="en-US" sz="1400">
                <a:solidFill>
                  <a:srgbClr val="0070C0"/>
                </a:solidFill>
                <a:latin typeface="Lato" panose="020F0502020204030203" pitchFamily="34" charset="0"/>
                <a:ea typeface="Lato" panose="020F0502020204030203" pitchFamily="34" charset="0"/>
                <a:cs typeface="Lato" panose="020F0502020204030203" pitchFamily="34" charset="0"/>
              </a:endParaRPr>
            </a:p>
          </p:txBody>
        </p:sp>
        <p:sp>
          <p:nvSpPr>
            <p:cNvPr id="14" name="Text 19">
              <a:extLst>
                <a:ext uri="{FF2B5EF4-FFF2-40B4-BE49-F238E27FC236}">
                  <a16:creationId xmlns:a16="http://schemas.microsoft.com/office/drawing/2014/main" id="{06846B92-0736-C341-99CB-C849E25B9B87}"/>
                </a:ext>
              </a:extLst>
            </p:cNvPr>
            <p:cNvSpPr/>
            <p:nvPr/>
          </p:nvSpPr>
          <p:spPr>
            <a:xfrm>
              <a:off x="10001028" y="942445"/>
              <a:ext cx="2194560" cy="585216"/>
            </a:xfrm>
            <a:prstGeom prst="rect">
              <a:avLst/>
            </a:prstGeom>
            <a:noFill/>
            <a:ln/>
          </p:spPr>
          <p:txBody>
            <a:bodyPr wrap="square" rtlCol="0" anchor="ctr"/>
            <a:lstStyle/>
            <a:p>
              <a:pPr algn="ctr"/>
              <a:r>
                <a:rPr lang="en-US" sz="1133">
                  <a:latin typeface="Lato" panose="020F0502020204030203" pitchFamily="34" charset="0"/>
                  <a:ea typeface="Lato" panose="020F0502020204030203" pitchFamily="34" charset="0"/>
                  <a:cs typeface="Lato" panose="020F0502020204030203" pitchFamily="34" charset="0"/>
                </a:rPr>
                <a:t>HW + SW + Test</a:t>
              </a:r>
            </a:p>
          </p:txBody>
        </p:sp>
      </p:grpSp>
      <p:grpSp>
        <p:nvGrpSpPr>
          <p:cNvPr id="18" name="Group 17">
            <a:extLst>
              <a:ext uri="{FF2B5EF4-FFF2-40B4-BE49-F238E27FC236}">
                <a16:creationId xmlns:a16="http://schemas.microsoft.com/office/drawing/2014/main" id="{531AF896-E295-A0ED-8842-9FEEEE94AB30}"/>
              </a:ext>
            </a:extLst>
          </p:cNvPr>
          <p:cNvGrpSpPr/>
          <p:nvPr/>
        </p:nvGrpSpPr>
        <p:grpSpPr>
          <a:xfrm>
            <a:off x="9189496" y="2878747"/>
            <a:ext cx="2194560" cy="886357"/>
            <a:chOff x="10001028" y="641304"/>
            <a:chExt cx="2194560" cy="886357"/>
          </a:xfrm>
        </p:grpSpPr>
        <p:sp>
          <p:nvSpPr>
            <p:cNvPr id="19" name="Text 18">
              <a:extLst>
                <a:ext uri="{FF2B5EF4-FFF2-40B4-BE49-F238E27FC236}">
                  <a16:creationId xmlns:a16="http://schemas.microsoft.com/office/drawing/2014/main" id="{33E83408-1D17-A5AB-1515-C68AA3B2BD76}"/>
                </a:ext>
              </a:extLst>
            </p:cNvPr>
            <p:cNvSpPr/>
            <p:nvPr/>
          </p:nvSpPr>
          <p:spPr>
            <a:xfrm>
              <a:off x="10001028" y="641304"/>
              <a:ext cx="2194560" cy="487680"/>
            </a:xfrm>
            <a:prstGeom prst="rect">
              <a:avLst/>
            </a:prstGeom>
            <a:noFill/>
            <a:ln/>
          </p:spPr>
          <p:txBody>
            <a:bodyPr wrap="square" rtlCol="0" anchor="ctr"/>
            <a:lstStyle/>
            <a:p>
              <a:pPr algn="ctr"/>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Full V&amp;V Coverage</a:t>
              </a:r>
            </a:p>
          </p:txBody>
        </p:sp>
        <p:sp>
          <p:nvSpPr>
            <p:cNvPr id="20" name="Text 19">
              <a:extLst>
                <a:ext uri="{FF2B5EF4-FFF2-40B4-BE49-F238E27FC236}">
                  <a16:creationId xmlns:a16="http://schemas.microsoft.com/office/drawing/2014/main" id="{C72D7005-2F1A-49F5-B800-2730F795F39F}"/>
                </a:ext>
              </a:extLst>
            </p:cNvPr>
            <p:cNvSpPr/>
            <p:nvPr/>
          </p:nvSpPr>
          <p:spPr>
            <a:xfrm>
              <a:off x="10001028" y="942445"/>
              <a:ext cx="2194560" cy="585216"/>
            </a:xfrm>
            <a:prstGeom prst="rect">
              <a:avLst/>
            </a:prstGeom>
            <a:noFill/>
            <a:ln/>
          </p:spPr>
          <p:txBody>
            <a:bodyPr wrap="square" rtlCol="0" anchor="ctr"/>
            <a:lstStyle/>
            <a:p>
              <a:pPr algn="ctr"/>
              <a:endParaRPr lang="en-US" sz="1133">
                <a:latin typeface="Lato" panose="020F0502020204030203" pitchFamily="34" charset="0"/>
                <a:ea typeface="Lato" panose="020F0502020204030203" pitchFamily="34" charset="0"/>
                <a:cs typeface="Lato" panose="020F0502020204030203" pitchFamily="34" charset="0"/>
              </a:endParaRPr>
            </a:p>
          </p:txBody>
        </p:sp>
      </p:grpSp>
      <p:grpSp>
        <p:nvGrpSpPr>
          <p:cNvPr id="21" name="Group 20">
            <a:extLst>
              <a:ext uri="{FF2B5EF4-FFF2-40B4-BE49-F238E27FC236}">
                <a16:creationId xmlns:a16="http://schemas.microsoft.com/office/drawing/2014/main" id="{9920AFAD-1172-5220-0C07-301AA61EDDA7}"/>
              </a:ext>
            </a:extLst>
          </p:cNvPr>
          <p:cNvGrpSpPr/>
          <p:nvPr/>
        </p:nvGrpSpPr>
        <p:grpSpPr>
          <a:xfrm>
            <a:off x="9189496" y="1966493"/>
            <a:ext cx="2194560" cy="886357"/>
            <a:chOff x="10001028" y="641304"/>
            <a:chExt cx="2194560" cy="886357"/>
          </a:xfrm>
        </p:grpSpPr>
        <p:sp>
          <p:nvSpPr>
            <p:cNvPr id="22" name="Text 18">
              <a:extLst>
                <a:ext uri="{FF2B5EF4-FFF2-40B4-BE49-F238E27FC236}">
                  <a16:creationId xmlns:a16="http://schemas.microsoft.com/office/drawing/2014/main" id="{2A87AB37-A4D8-479D-6519-60579855DCFF}"/>
                </a:ext>
              </a:extLst>
            </p:cNvPr>
            <p:cNvSpPr/>
            <p:nvPr/>
          </p:nvSpPr>
          <p:spPr>
            <a:xfrm>
              <a:off x="10001028" y="641304"/>
              <a:ext cx="2194560" cy="487680"/>
            </a:xfrm>
            <a:prstGeom prst="rect">
              <a:avLst/>
            </a:prstGeom>
            <a:noFill/>
            <a:ln/>
          </p:spPr>
          <p:txBody>
            <a:bodyPr wrap="square" rtlCol="0" anchor="ctr"/>
            <a:lstStyle/>
            <a:p>
              <a:pPr algn="ctr"/>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ISO 26262 ASIL B</a:t>
              </a:r>
            </a:p>
          </p:txBody>
        </p:sp>
        <p:sp>
          <p:nvSpPr>
            <p:cNvPr id="23" name="Text 19">
              <a:extLst>
                <a:ext uri="{FF2B5EF4-FFF2-40B4-BE49-F238E27FC236}">
                  <a16:creationId xmlns:a16="http://schemas.microsoft.com/office/drawing/2014/main" id="{5C4E3B21-8DAD-96EC-5B6E-D209DB4634DE}"/>
                </a:ext>
              </a:extLst>
            </p:cNvPr>
            <p:cNvSpPr/>
            <p:nvPr/>
          </p:nvSpPr>
          <p:spPr>
            <a:xfrm>
              <a:off x="10001028" y="942445"/>
              <a:ext cx="2194560" cy="585216"/>
            </a:xfrm>
            <a:prstGeom prst="rect">
              <a:avLst/>
            </a:prstGeom>
            <a:noFill/>
            <a:ln/>
          </p:spPr>
          <p:txBody>
            <a:bodyPr wrap="square" rtlCol="0" anchor="ctr"/>
            <a:lstStyle/>
            <a:p>
              <a:pPr algn="ctr"/>
              <a:r>
                <a:rPr lang="en-US" sz="1133">
                  <a:latin typeface="Lato" panose="020F0502020204030203" pitchFamily="34" charset="0"/>
                  <a:ea typeface="Lato" panose="020F0502020204030203" pitchFamily="34" charset="0"/>
                  <a:cs typeface="Lato" panose="020F0502020204030203" pitchFamily="34" charset="0"/>
                </a:rPr>
                <a:t>Functional Safety</a:t>
              </a:r>
            </a:p>
          </p:txBody>
        </p:sp>
      </p:grpSp>
      <p:grpSp>
        <p:nvGrpSpPr>
          <p:cNvPr id="24" name="Group 23">
            <a:extLst>
              <a:ext uri="{FF2B5EF4-FFF2-40B4-BE49-F238E27FC236}">
                <a16:creationId xmlns:a16="http://schemas.microsoft.com/office/drawing/2014/main" id="{F58BADF4-BDDB-A988-A162-8BCA5371CEFF}"/>
              </a:ext>
            </a:extLst>
          </p:cNvPr>
          <p:cNvGrpSpPr/>
          <p:nvPr/>
        </p:nvGrpSpPr>
        <p:grpSpPr>
          <a:xfrm>
            <a:off x="9189496" y="1339150"/>
            <a:ext cx="2194560" cy="601446"/>
            <a:chOff x="10001028" y="926215"/>
            <a:chExt cx="2194560" cy="601446"/>
          </a:xfrm>
        </p:grpSpPr>
        <p:sp>
          <p:nvSpPr>
            <p:cNvPr id="25" name="Text 18">
              <a:extLst>
                <a:ext uri="{FF2B5EF4-FFF2-40B4-BE49-F238E27FC236}">
                  <a16:creationId xmlns:a16="http://schemas.microsoft.com/office/drawing/2014/main" id="{EBE53D2C-06C1-96B8-DA9B-C2FF8DB90CEB}"/>
                </a:ext>
              </a:extLst>
            </p:cNvPr>
            <p:cNvSpPr/>
            <p:nvPr/>
          </p:nvSpPr>
          <p:spPr>
            <a:xfrm>
              <a:off x="10001028" y="926215"/>
              <a:ext cx="2194560" cy="487680"/>
            </a:xfrm>
            <a:prstGeom prst="rect">
              <a:avLst/>
            </a:prstGeom>
            <a:noFill/>
            <a:ln/>
          </p:spPr>
          <p:txBody>
            <a:bodyPr wrap="square" rtlCol="0" anchor="ctr"/>
            <a:lstStyle/>
            <a:p>
              <a:pPr algn="ctr"/>
              <a:r>
                <a:rPr lang="en-IN" sz="1400" b="1">
                  <a:solidFill>
                    <a:srgbClr val="0070C0"/>
                  </a:solidFill>
                  <a:latin typeface="Lato" panose="020F0502020204030203" pitchFamily="34" charset="0"/>
                  <a:ea typeface="Lato" panose="020F0502020204030203" pitchFamily="34" charset="0"/>
                  <a:cs typeface="Lato" panose="020F0502020204030203" pitchFamily="34" charset="0"/>
                </a:rPr>
                <a:t>EB </a:t>
              </a:r>
              <a:r>
                <a:rPr lang="en-IN" sz="1400" b="1" err="1">
                  <a:solidFill>
                    <a:srgbClr val="0070C0"/>
                  </a:solidFill>
                  <a:latin typeface="Lato" panose="020F0502020204030203" pitchFamily="34" charset="0"/>
                  <a:ea typeface="Lato" panose="020F0502020204030203" pitchFamily="34" charset="0"/>
                  <a:cs typeface="Lato" panose="020F0502020204030203" pitchFamily="34" charset="0"/>
                </a:rPr>
                <a:t>Tresos</a:t>
              </a:r>
              <a:r>
                <a:rPr lang="en-IN" sz="1400" b="1">
                  <a:solidFill>
                    <a:srgbClr val="0070C0"/>
                  </a:solidFill>
                  <a:latin typeface="Lato" panose="020F0502020204030203" pitchFamily="34" charset="0"/>
                  <a:ea typeface="Lato" panose="020F0502020204030203" pitchFamily="34" charset="0"/>
                  <a:cs typeface="Lato" panose="020F0502020204030203" pitchFamily="34" charset="0"/>
                </a:rPr>
                <a:t> </a:t>
              </a:r>
              <a:r>
                <a:rPr lang="en-IN" sz="1400" b="1" err="1">
                  <a:solidFill>
                    <a:srgbClr val="0070C0"/>
                  </a:solidFill>
                  <a:latin typeface="Lato" panose="020F0502020204030203" pitchFamily="34" charset="0"/>
                  <a:ea typeface="Lato" panose="020F0502020204030203" pitchFamily="34" charset="0"/>
                  <a:cs typeface="Lato" panose="020F0502020204030203" pitchFamily="34" charset="0"/>
                </a:rPr>
                <a:t>Autocore</a:t>
              </a:r>
              <a:r>
                <a:rPr lang="en-IN" sz="1400" b="1">
                  <a:solidFill>
                    <a:srgbClr val="0070C0"/>
                  </a:solidFill>
                  <a:latin typeface="Lato" panose="020F0502020204030203" pitchFamily="34" charset="0"/>
                  <a:ea typeface="Lato" panose="020F0502020204030203" pitchFamily="34" charset="0"/>
                  <a:cs typeface="Lato" panose="020F0502020204030203" pitchFamily="34" charset="0"/>
                </a:rPr>
                <a:t> OS</a:t>
              </a:r>
              <a:endParaRPr lang="en-US" sz="1400" b="1">
                <a:solidFill>
                  <a:srgbClr val="0070C0"/>
                </a:solidFill>
                <a:latin typeface="Lato" panose="020F0502020204030203" pitchFamily="34" charset="0"/>
                <a:ea typeface="Lato" panose="020F0502020204030203" pitchFamily="34" charset="0"/>
                <a:cs typeface="Lato" panose="020F0502020204030203" pitchFamily="34" charset="0"/>
              </a:endParaRPr>
            </a:p>
          </p:txBody>
        </p:sp>
        <p:sp>
          <p:nvSpPr>
            <p:cNvPr id="26" name="Text 19">
              <a:extLst>
                <a:ext uri="{FF2B5EF4-FFF2-40B4-BE49-F238E27FC236}">
                  <a16:creationId xmlns:a16="http://schemas.microsoft.com/office/drawing/2014/main" id="{7CCADC7F-F1C9-958C-BACE-61FDD5C83194}"/>
                </a:ext>
              </a:extLst>
            </p:cNvPr>
            <p:cNvSpPr/>
            <p:nvPr/>
          </p:nvSpPr>
          <p:spPr>
            <a:xfrm>
              <a:off x="10001028" y="942445"/>
              <a:ext cx="2194560" cy="585216"/>
            </a:xfrm>
            <a:prstGeom prst="rect">
              <a:avLst/>
            </a:prstGeom>
            <a:noFill/>
            <a:ln/>
          </p:spPr>
          <p:txBody>
            <a:bodyPr wrap="square" rtlCol="0" anchor="ctr"/>
            <a:lstStyle/>
            <a:p>
              <a:pPr algn="ctr"/>
              <a:r>
                <a:rPr lang="en-US" sz="1133">
                  <a:latin typeface="Lato" panose="020F0502020204030203" pitchFamily="34" charset="0"/>
                  <a:ea typeface="Lato" panose="020F0502020204030203" pitchFamily="34" charset="0"/>
                  <a:cs typeface="Lato" panose="020F0502020204030203" pitchFamily="34" charset="0"/>
                </a:rPr>
                <a:t>-</a:t>
              </a:r>
            </a:p>
          </p:txBody>
        </p:sp>
      </p:grpSp>
      <p:cxnSp>
        <p:nvCxnSpPr>
          <p:cNvPr id="28" name="Straight Connector 27">
            <a:extLst>
              <a:ext uri="{FF2B5EF4-FFF2-40B4-BE49-F238E27FC236}">
                <a16:creationId xmlns:a16="http://schemas.microsoft.com/office/drawing/2014/main" id="{6897180C-EFBC-E258-73CA-637061B40E9D}"/>
              </a:ext>
            </a:extLst>
          </p:cNvPr>
          <p:cNvCxnSpPr>
            <a:cxnSpLocks/>
          </p:cNvCxnSpPr>
          <p:nvPr/>
        </p:nvCxnSpPr>
        <p:spPr>
          <a:xfrm>
            <a:off x="9179411" y="1886806"/>
            <a:ext cx="2214730" cy="0"/>
          </a:xfrm>
          <a:prstGeom prst="line">
            <a:avLst/>
          </a:prstGeom>
          <a:ln w="6350">
            <a:solidFill>
              <a:srgbClr val="00B0F0"/>
            </a:solidFill>
            <a:prstDash val="dash"/>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6913D1C3-D539-9B21-1387-06C0392C07F9}"/>
              </a:ext>
            </a:extLst>
          </p:cNvPr>
          <p:cNvCxnSpPr>
            <a:cxnSpLocks/>
          </p:cNvCxnSpPr>
          <p:nvPr/>
        </p:nvCxnSpPr>
        <p:spPr>
          <a:xfrm>
            <a:off x="9179411" y="2848102"/>
            <a:ext cx="2214730" cy="0"/>
          </a:xfrm>
          <a:prstGeom prst="line">
            <a:avLst/>
          </a:prstGeom>
          <a:ln w="6350">
            <a:solidFill>
              <a:srgbClr val="00B0F0"/>
            </a:solidFill>
            <a:prstDash val="dash"/>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399AAA84-F8BA-8B00-C3DF-3A960520E188}"/>
              </a:ext>
            </a:extLst>
          </p:cNvPr>
          <p:cNvCxnSpPr>
            <a:cxnSpLocks/>
          </p:cNvCxnSpPr>
          <p:nvPr/>
        </p:nvCxnSpPr>
        <p:spPr>
          <a:xfrm>
            <a:off x="9189496" y="3482058"/>
            <a:ext cx="2214730" cy="0"/>
          </a:xfrm>
          <a:prstGeom prst="line">
            <a:avLst/>
          </a:prstGeom>
          <a:ln w="6350">
            <a:solidFill>
              <a:srgbClr val="00B0F0"/>
            </a:solidFill>
            <a:prstDash val="dash"/>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66731AAD-80DC-9D3C-9174-92EDFBD6CB85}"/>
              </a:ext>
            </a:extLst>
          </p:cNvPr>
          <p:cNvPicPr>
            <a:picLocks noChangeAspect="1"/>
          </p:cNvPicPr>
          <p:nvPr/>
        </p:nvPicPr>
        <p:blipFill>
          <a:blip r:embed="rId4"/>
          <a:stretch>
            <a:fillRect/>
          </a:stretch>
        </p:blipFill>
        <p:spPr>
          <a:xfrm>
            <a:off x="351817" y="264704"/>
            <a:ext cx="2717954" cy="925260"/>
          </a:xfrm>
          <a:prstGeom prst="rect">
            <a:avLst/>
          </a:prstGeom>
        </p:spPr>
      </p:pic>
      <p:sp>
        <p:nvSpPr>
          <p:cNvPr id="9" name="Rectangle 8">
            <a:extLst>
              <a:ext uri="{FF2B5EF4-FFF2-40B4-BE49-F238E27FC236}">
                <a16:creationId xmlns:a16="http://schemas.microsoft.com/office/drawing/2014/main" id="{AC7FA400-8489-E994-793A-B425B3295FB4}"/>
              </a:ext>
            </a:extLst>
          </p:cNvPr>
          <p:cNvSpPr>
            <a:spLocks noGrp="1" noRot="1" noMove="1" noResize="1" noEditPoints="1" noAdjustHandles="1" noChangeArrowheads="1" noChangeShapeType="1"/>
          </p:cNvSpPr>
          <p:nvPr/>
        </p:nvSpPr>
        <p:spPr>
          <a:xfrm>
            <a:off x="9219751" y="0"/>
            <a:ext cx="2972249" cy="7445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355364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596A6-8A83-EAF4-D507-F91C29795E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D2955D-FFCC-3613-CAD0-5A660A13D195}"/>
              </a:ext>
            </a:extLst>
          </p:cNvPr>
          <p:cNvSpPr>
            <a:spLocks noGrp="1"/>
          </p:cNvSpPr>
          <p:nvPr>
            <p:ph type="title"/>
          </p:nvPr>
        </p:nvSpPr>
        <p:spPr>
          <a:xfrm>
            <a:off x="285205" y="145617"/>
            <a:ext cx="10926134" cy="576000"/>
          </a:xfrm>
        </p:spPr>
        <p:txBody>
          <a:bodyPr/>
          <a:lstStyle/>
          <a:p>
            <a:r>
              <a:rPr lang="en-US"/>
              <a:t>Agenda </a:t>
            </a:r>
            <a:endParaRPr lang="en-IN"/>
          </a:p>
        </p:txBody>
      </p:sp>
      <p:grpSp>
        <p:nvGrpSpPr>
          <p:cNvPr id="3" name="Group 2">
            <a:extLst>
              <a:ext uri="{FF2B5EF4-FFF2-40B4-BE49-F238E27FC236}">
                <a16:creationId xmlns:a16="http://schemas.microsoft.com/office/drawing/2014/main" id="{34458652-856E-B1EE-D0E8-2BB23B7F7BCA}"/>
              </a:ext>
            </a:extLst>
          </p:cNvPr>
          <p:cNvGrpSpPr/>
          <p:nvPr/>
        </p:nvGrpSpPr>
        <p:grpSpPr>
          <a:xfrm>
            <a:off x="250986" y="1449334"/>
            <a:ext cx="5692613" cy="441264"/>
            <a:chOff x="381000" y="923474"/>
            <a:chExt cx="4822371" cy="576000"/>
          </a:xfrm>
        </p:grpSpPr>
        <p:sp>
          <p:nvSpPr>
            <p:cNvPr id="21" name="Rectangle: Rounded Corners 36">
              <a:extLst>
                <a:ext uri="{FF2B5EF4-FFF2-40B4-BE49-F238E27FC236}">
                  <a16:creationId xmlns:a16="http://schemas.microsoft.com/office/drawing/2014/main" id="{8531873D-4BF6-9330-45B4-C5CC7284F385}"/>
                </a:ext>
              </a:extLst>
            </p:cNvPr>
            <p:cNvSpPr/>
            <p:nvPr/>
          </p:nvSpPr>
          <p:spPr>
            <a:xfrm>
              <a:off x="381000" y="923474"/>
              <a:ext cx="4212769" cy="576000"/>
            </a:xfrm>
            <a:prstGeom prst="roundRect">
              <a:avLst>
                <a:gd name="adj" fmla="val 50000"/>
              </a:avLst>
            </a:prstGeom>
            <a:solidFill>
              <a:schemeClr val="bg1"/>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01</a:t>
              </a:r>
            </a:p>
          </p:txBody>
        </p:sp>
        <p:sp>
          <p:nvSpPr>
            <p:cNvPr id="22" name="Rectangle: Rounded Corners 37">
              <a:extLst>
                <a:ext uri="{FF2B5EF4-FFF2-40B4-BE49-F238E27FC236}">
                  <a16:creationId xmlns:a16="http://schemas.microsoft.com/office/drawing/2014/main" id="{F5AC2760-B1ED-1F43-3B93-1182D4C878B7}"/>
                </a:ext>
              </a:extLst>
            </p:cNvPr>
            <p:cNvSpPr/>
            <p:nvPr/>
          </p:nvSpPr>
          <p:spPr>
            <a:xfrm>
              <a:off x="990602" y="923474"/>
              <a:ext cx="4212769" cy="576000"/>
            </a:xfrm>
            <a:prstGeom prst="roundRect">
              <a:avLst>
                <a:gd name="adj" fmla="val 50000"/>
              </a:avLst>
            </a:prstGeom>
            <a:solidFill>
              <a:srgbClr val="E3EFF9"/>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defTabSz="914217">
                <a:defRPr/>
              </a:pPr>
              <a:r>
                <a:rPr lang="en-US" sz="1400" b="1">
                  <a:solidFill>
                    <a:srgbClr val="272829"/>
                  </a:solidFill>
                  <a:latin typeface="Lato" panose="020F0502020204030203" pitchFamily="34" charset="77"/>
                  <a:ea typeface="League Spartan" charset="0"/>
                  <a:cs typeface="Poppins" pitchFamily="2" charset="77"/>
                </a:rPr>
                <a:t>Executive Summary</a:t>
              </a:r>
            </a:p>
          </p:txBody>
        </p:sp>
      </p:grpSp>
      <p:grpSp>
        <p:nvGrpSpPr>
          <p:cNvPr id="23" name="Group 22">
            <a:extLst>
              <a:ext uri="{FF2B5EF4-FFF2-40B4-BE49-F238E27FC236}">
                <a16:creationId xmlns:a16="http://schemas.microsoft.com/office/drawing/2014/main" id="{6326933F-B0EE-63FA-0E74-1B559B919CB4}"/>
              </a:ext>
            </a:extLst>
          </p:cNvPr>
          <p:cNvGrpSpPr/>
          <p:nvPr/>
        </p:nvGrpSpPr>
        <p:grpSpPr>
          <a:xfrm>
            <a:off x="250986" y="2302335"/>
            <a:ext cx="5692613" cy="441264"/>
            <a:chOff x="381000" y="923474"/>
            <a:chExt cx="4822371" cy="576000"/>
          </a:xfrm>
        </p:grpSpPr>
        <p:sp>
          <p:nvSpPr>
            <p:cNvPr id="24" name="Rectangle: Rounded Corners 39">
              <a:extLst>
                <a:ext uri="{FF2B5EF4-FFF2-40B4-BE49-F238E27FC236}">
                  <a16:creationId xmlns:a16="http://schemas.microsoft.com/office/drawing/2014/main" id="{BD28EAE2-5200-ECB5-EA48-41FBD42C8164}"/>
                </a:ext>
              </a:extLst>
            </p:cNvPr>
            <p:cNvSpPr/>
            <p:nvPr/>
          </p:nvSpPr>
          <p:spPr>
            <a:xfrm>
              <a:off x="381000" y="923474"/>
              <a:ext cx="4212769" cy="576000"/>
            </a:xfrm>
            <a:prstGeom prst="roundRect">
              <a:avLst>
                <a:gd name="adj" fmla="val 50000"/>
              </a:avLst>
            </a:prstGeom>
            <a:solidFill>
              <a:schemeClr val="bg1"/>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02</a:t>
              </a:r>
            </a:p>
          </p:txBody>
        </p:sp>
        <p:sp>
          <p:nvSpPr>
            <p:cNvPr id="25" name="Rectangle: Rounded Corners 40">
              <a:extLst>
                <a:ext uri="{FF2B5EF4-FFF2-40B4-BE49-F238E27FC236}">
                  <a16:creationId xmlns:a16="http://schemas.microsoft.com/office/drawing/2014/main" id="{42CC66DB-6405-FDA4-5C27-11B80A31C169}"/>
                </a:ext>
              </a:extLst>
            </p:cNvPr>
            <p:cNvSpPr/>
            <p:nvPr/>
          </p:nvSpPr>
          <p:spPr>
            <a:xfrm>
              <a:off x="990602" y="923474"/>
              <a:ext cx="4212769" cy="576000"/>
            </a:xfrm>
            <a:prstGeom prst="roundRect">
              <a:avLst>
                <a:gd name="adj" fmla="val 50000"/>
              </a:avLst>
            </a:prstGeom>
            <a:solidFill>
              <a:srgbClr val="E3EFF9"/>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914217">
                <a:defRPr/>
              </a:pPr>
              <a:r>
                <a:rPr lang="en-US" sz="1400" b="1">
                  <a:solidFill>
                    <a:srgbClr val="272829"/>
                  </a:solidFill>
                  <a:latin typeface="Lato" panose="020F0502020204030203" pitchFamily="34" charset="77"/>
                  <a:ea typeface="League Spartan" charset="0"/>
                  <a:cs typeface="Poppins" pitchFamily="2" charset="77"/>
                </a:rPr>
                <a:t>System Overview</a:t>
              </a:r>
            </a:p>
          </p:txBody>
        </p:sp>
      </p:grpSp>
      <p:grpSp>
        <p:nvGrpSpPr>
          <p:cNvPr id="26" name="Group 25">
            <a:extLst>
              <a:ext uri="{FF2B5EF4-FFF2-40B4-BE49-F238E27FC236}">
                <a16:creationId xmlns:a16="http://schemas.microsoft.com/office/drawing/2014/main" id="{6E6C38F1-3066-F5F0-CCD4-6A072683AA10}"/>
              </a:ext>
            </a:extLst>
          </p:cNvPr>
          <p:cNvGrpSpPr/>
          <p:nvPr/>
        </p:nvGrpSpPr>
        <p:grpSpPr>
          <a:xfrm>
            <a:off x="250986" y="4008337"/>
            <a:ext cx="5692613" cy="441264"/>
            <a:chOff x="381000" y="923474"/>
            <a:chExt cx="4822371" cy="576000"/>
          </a:xfrm>
        </p:grpSpPr>
        <p:sp>
          <p:nvSpPr>
            <p:cNvPr id="27" name="Rectangle: Rounded Corners 42">
              <a:extLst>
                <a:ext uri="{FF2B5EF4-FFF2-40B4-BE49-F238E27FC236}">
                  <a16:creationId xmlns:a16="http://schemas.microsoft.com/office/drawing/2014/main" id="{90561E7C-7DA1-763B-5A99-5A089C2DCBA4}"/>
                </a:ext>
              </a:extLst>
            </p:cNvPr>
            <p:cNvSpPr/>
            <p:nvPr/>
          </p:nvSpPr>
          <p:spPr>
            <a:xfrm>
              <a:off x="381000" y="923474"/>
              <a:ext cx="4212769" cy="576000"/>
            </a:xfrm>
            <a:prstGeom prst="roundRect">
              <a:avLst>
                <a:gd name="adj" fmla="val 50000"/>
              </a:avLst>
            </a:prstGeom>
            <a:solidFill>
              <a:schemeClr val="bg1"/>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04</a:t>
              </a:r>
            </a:p>
          </p:txBody>
        </p:sp>
        <p:sp>
          <p:nvSpPr>
            <p:cNvPr id="28" name="Rectangle: Rounded Corners 43">
              <a:extLst>
                <a:ext uri="{FF2B5EF4-FFF2-40B4-BE49-F238E27FC236}">
                  <a16:creationId xmlns:a16="http://schemas.microsoft.com/office/drawing/2014/main" id="{EF812716-4E87-7695-895A-3BB64CCF7D7D}"/>
                </a:ext>
              </a:extLst>
            </p:cNvPr>
            <p:cNvSpPr/>
            <p:nvPr/>
          </p:nvSpPr>
          <p:spPr>
            <a:xfrm>
              <a:off x="990602" y="923474"/>
              <a:ext cx="4212769" cy="576000"/>
            </a:xfrm>
            <a:prstGeom prst="roundRect">
              <a:avLst>
                <a:gd name="adj" fmla="val 50000"/>
              </a:avLst>
            </a:prstGeom>
            <a:solidFill>
              <a:srgbClr val="E3EFF9"/>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914217">
                <a:defRPr/>
              </a:pPr>
              <a:r>
                <a:rPr lang="en-IN" sz="1400" b="1">
                  <a:solidFill>
                    <a:schemeClr val="tx1"/>
                  </a:solidFill>
                  <a:latin typeface="Lato" panose="020F0502020204030203" pitchFamily="34" charset="0"/>
                  <a:ea typeface="Lato" panose="020F0502020204030203" pitchFamily="34" charset="0"/>
                  <a:cs typeface="Lato" panose="020F0502020204030203" pitchFamily="34" charset="0"/>
                </a:rPr>
                <a:t>TMM ECU Software Architecture</a:t>
              </a:r>
              <a:endParaRPr lang="en-US" sz="1400" b="1">
                <a:solidFill>
                  <a:schemeClr val="tx1"/>
                </a:solidFill>
                <a:latin typeface="Lato" panose="020F0502020204030203" pitchFamily="34" charset="0"/>
                <a:ea typeface="Lato" panose="020F0502020204030203" pitchFamily="34" charset="0"/>
                <a:cs typeface="Lato" panose="020F0502020204030203" pitchFamily="34" charset="0"/>
              </a:endParaRPr>
            </a:p>
          </p:txBody>
        </p:sp>
      </p:grpSp>
      <p:grpSp>
        <p:nvGrpSpPr>
          <p:cNvPr id="29" name="Group 28">
            <a:extLst>
              <a:ext uri="{FF2B5EF4-FFF2-40B4-BE49-F238E27FC236}">
                <a16:creationId xmlns:a16="http://schemas.microsoft.com/office/drawing/2014/main" id="{9882C830-F02A-D764-392A-61F55DC4288C}"/>
              </a:ext>
            </a:extLst>
          </p:cNvPr>
          <p:cNvGrpSpPr/>
          <p:nvPr/>
        </p:nvGrpSpPr>
        <p:grpSpPr>
          <a:xfrm>
            <a:off x="250986" y="4817749"/>
            <a:ext cx="5692613" cy="441264"/>
            <a:chOff x="381000" y="923474"/>
            <a:chExt cx="4822371" cy="576000"/>
          </a:xfrm>
        </p:grpSpPr>
        <p:sp>
          <p:nvSpPr>
            <p:cNvPr id="30" name="Rectangle: Rounded Corners 45">
              <a:extLst>
                <a:ext uri="{FF2B5EF4-FFF2-40B4-BE49-F238E27FC236}">
                  <a16:creationId xmlns:a16="http://schemas.microsoft.com/office/drawing/2014/main" id="{F05595E3-BD76-8214-CCDE-584C4429A198}"/>
                </a:ext>
              </a:extLst>
            </p:cNvPr>
            <p:cNvSpPr/>
            <p:nvPr/>
          </p:nvSpPr>
          <p:spPr>
            <a:xfrm>
              <a:off x="381000" y="923474"/>
              <a:ext cx="4212769" cy="576000"/>
            </a:xfrm>
            <a:prstGeom prst="roundRect">
              <a:avLst>
                <a:gd name="adj" fmla="val 50000"/>
              </a:avLst>
            </a:prstGeom>
            <a:solidFill>
              <a:schemeClr val="bg1"/>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05</a:t>
              </a:r>
            </a:p>
          </p:txBody>
        </p:sp>
        <p:sp>
          <p:nvSpPr>
            <p:cNvPr id="31" name="Rectangle: Rounded Corners 46">
              <a:extLst>
                <a:ext uri="{FF2B5EF4-FFF2-40B4-BE49-F238E27FC236}">
                  <a16:creationId xmlns:a16="http://schemas.microsoft.com/office/drawing/2014/main" id="{BB200B93-CFDC-7AE0-587D-B4F9B64F5F79}"/>
                </a:ext>
              </a:extLst>
            </p:cNvPr>
            <p:cNvSpPr/>
            <p:nvPr/>
          </p:nvSpPr>
          <p:spPr>
            <a:xfrm>
              <a:off x="990602" y="923474"/>
              <a:ext cx="4212769" cy="576000"/>
            </a:xfrm>
            <a:prstGeom prst="roundRect">
              <a:avLst>
                <a:gd name="adj" fmla="val 50000"/>
              </a:avLst>
            </a:prstGeom>
            <a:solidFill>
              <a:srgbClr val="E3EFF9"/>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914217">
                <a:defRPr/>
              </a:pPr>
              <a:r>
                <a:rPr lang="en-US" sz="1400" b="1">
                  <a:solidFill>
                    <a:schemeClr val="tx1"/>
                  </a:solidFill>
                  <a:latin typeface="Lato" panose="020F0502020204030203" pitchFamily="34" charset="0"/>
                  <a:ea typeface="Lato" panose="020F0502020204030203" pitchFamily="34" charset="0"/>
                  <a:cs typeface="Lato" panose="020F0502020204030203" pitchFamily="34" charset="0"/>
                </a:rPr>
                <a:t>TMM ECU V&amp;V &amp; DFMEA Overview</a:t>
              </a:r>
              <a:endParaRPr lang="en-US" sz="1400" b="1">
                <a:solidFill>
                  <a:schemeClr val="tx1"/>
                </a:solidFill>
                <a:latin typeface="Lato" panose="020F0502020204030203" pitchFamily="34" charset="77"/>
                <a:ea typeface="League Spartan" charset="0"/>
                <a:cs typeface="Poppins" pitchFamily="2" charset="77"/>
              </a:endParaRPr>
            </a:p>
          </p:txBody>
        </p:sp>
      </p:grpSp>
      <p:grpSp>
        <p:nvGrpSpPr>
          <p:cNvPr id="32" name="Group 31">
            <a:extLst>
              <a:ext uri="{FF2B5EF4-FFF2-40B4-BE49-F238E27FC236}">
                <a16:creationId xmlns:a16="http://schemas.microsoft.com/office/drawing/2014/main" id="{40045ACE-61EC-6B8F-1DA0-3B76F92BA3EE}"/>
              </a:ext>
            </a:extLst>
          </p:cNvPr>
          <p:cNvGrpSpPr/>
          <p:nvPr/>
        </p:nvGrpSpPr>
        <p:grpSpPr>
          <a:xfrm>
            <a:off x="6206302" y="1449334"/>
            <a:ext cx="5692613" cy="441264"/>
            <a:chOff x="381000" y="923474"/>
            <a:chExt cx="4822371" cy="576000"/>
          </a:xfrm>
        </p:grpSpPr>
        <p:sp>
          <p:nvSpPr>
            <p:cNvPr id="33" name="Rectangle: Rounded Corners 48">
              <a:extLst>
                <a:ext uri="{FF2B5EF4-FFF2-40B4-BE49-F238E27FC236}">
                  <a16:creationId xmlns:a16="http://schemas.microsoft.com/office/drawing/2014/main" id="{DFB9EFC7-B4E8-C004-8AF9-6FE5C5F76EC0}"/>
                </a:ext>
              </a:extLst>
            </p:cNvPr>
            <p:cNvSpPr/>
            <p:nvPr/>
          </p:nvSpPr>
          <p:spPr>
            <a:xfrm>
              <a:off x="381000" y="923474"/>
              <a:ext cx="4212769" cy="576000"/>
            </a:xfrm>
            <a:prstGeom prst="roundRect">
              <a:avLst>
                <a:gd name="adj" fmla="val 50000"/>
              </a:avLst>
            </a:prstGeom>
            <a:solidFill>
              <a:schemeClr val="bg1"/>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06</a:t>
              </a:r>
            </a:p>
          </p:txBody>
        </p:sp>
        <p:sp>
          <p:nvSpPr>
            <p:cNvPr id="34" name="Rectangle: Rounded Corners 49">
              <a:extLst>
                <a:ext uri="{FF2B5EF4-FFF2-40B4-BE49-F238E27FC236}">
                  <a16:creationId xmlns:a16="http://schemas.microsoft.com/office/drawing/2014/main" id="{C7DF85DE-9BB6-24D2-8C50-5AAA695568D0}"/>
                </a:ext>
              </a:extLst>
            </p:cNvPr>
            <p:cNvSpPr/>
            <p:nvPr/>
          </p:nvSpPr>
          <p:spPr>
            <a:xfrm>
              <a:off x="990602" y="923474"/>
              <a:ext cx="4212769" cy="576000"/>
            </a:xfrm>
            <a:prstGeom prst="roundRect">
              <a:avLst>
                <a:gd name="adj" fmla="val 50000"/>
              </a:avLst>
            </a:prstGeom>
            <a:solidFill>
              <a:srgbClr val="E3EFF9"/>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914217">
                <a:defRPr/>
              </a:pPr>
              <a:r>
                <a:rPr lang="en-IN" sz="1400" b="1">
                  <a:solidFill>
                    <a:schemeClr val="tx1"/>
                  </a:solidFill>
                  <a:latin typeface="Lato" panose="020F0502020204030203" pitchFamily="34" charset="0"/>
                  <a:ea typeface="Lato" panose="020F0502020204030203" pitchFamily="34" charset="0"/>
                  <a:cs typeface="Lato" panose="020F0502020204030203" pitchFamily="34" charset="0"/>
                </a:rPr>
                <a:t>V&amp;V Strategy: Product Design → EVT → DVT </a:t>
              </a:r>
              <a:endParaRPr lang="en-US" sz="1400" b="1">
                <a:solidFill>
                  <a:schemeClr val="tx1"/>
                </a:solidFill>
                <a:latin typeface="Lato" panose="020F0502020204030203" pitchFamily="34" charset="0"/>
                <a:ea typeface="Lato" panose="020F0502020204030203" pitchFamily="34" charset="0"/>
                <a:cs typeface="Lato" panose="020F0502020204030203" pitchFamily="34" charset="0"/>
              </a:endParaRPr>
            </a:p>
          </p:txBody>
        </p:sp>
      </p:grpSp>
      <p:grpSp>
        <p:nvGrpSpPr>
          <p:cNvPr id="35" name="Group 34">
            <a:extLst>
              <a:ext uri="{FF2B5EF4-FFF2-40B4-BE49-F238E27FC236}">
                <a16:creationId xmlns:a16="http://schemas.microsoft.com/office/drawing/2014/main" id="{E24B4D12-2626-A603-7726-F6BA9E9EE0B0}"/>
              </a:ext>
            </a:extLst>
          </p:cNvPr>
          <p:cNvGrpSpPr/>
          <p:nvPr/>
        </p:nvGrpSpPr>
        <p:grpSpPr>
          <a:xfrm>
            <a:off x="6206302" y="4008337"/>
            <a:ext cx="5692613" cy="441264"/>
            <a:chOff x="381000" y="923474"/>
            <a:chExt cx="4822371" cy="576000"/>
          </a:xfrm>
        </p:grpSpPr>
        <p:sp>
          <p:nvSpPr>
            <p:cNvPr id="36" name="Rectangle: Rounded Corners 51">
              <a:extLst>
                <a:ext uri="{FF2B5EF4-FFF2-40B4-BE49-F238E27FC236}">
                  <a16:creationId xmlns:a16="http://schemas.microsoft.com/office/drawing/2014/main" id="{A09ADFE3-26B3-5585-E938-C2331FF94F01}"/>
                </a:ext>
              </a:extLst>
            </p:cNvPr>
            <p:cNvSpPr/>
            <p:nvPr/>
          </p:nvSpPr>
          <p:spPr>
            <a:xfrm>
              <a:off x="381000" y="923474"/>
              <a:ext cx="4212769" cy="576000"/>
            </a:xfrm>
            <a:prstGeom prst="roundRect">
              <a:avLst>
                <a:gd name="adj" fmla="val 50000"/>
              </a:avLst>
            </a:prstGeom>
            <a:solidFill>
              <a:schemeClr val="bg1"/>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09</a:t>
              </a:r>
            </a:p>
          </p:txBody>
        </p:sp>
        <p:sp>
          <p:nvSpPr>
            <p:cNvPr id="37" name="Rectangle: Rounded Corners 52">
              <a:extLst>
                <a:ext uri="{FF2B5EF4-FFF2-40B4-BE49-F238E27FC236}">
                  <a16:creationId xmlns:a16="http://schemas.microsoft.com/office/drawing/2014/main" id="{9CCDCB4F-72F2-EC29-68AB-9889896E025A}"/>
                </a:ext>
              </a:extLst>
            </p:cNvPr>
            <p:cNvSpPr/>
            <p:nvPr/>
          </p:nvSpPr>
          <p:spPr>
            <a:xfrm>
              <a:off x="990602" y="923474"/>
              <a:ext cx="4212769" cy="576000"/>
            </a:xfrm>
            <a:prstGeom prst="roundRect">
              <a:avLst>
                <a:gd name="adj" fmla="val 50000"/>
              </a:avLst>
            </a:prstGeom>
            <a:solidFill>
              <a:srgbClr val="E3EFF9"/>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914217">
                <a:defRPr/>
              </a:pPr>
              <a:r>
                <a:rPr lang="en-US" sz="1400" b="1">
                  <a:solidFill>
                    <a:schemeClr val="tx1"/>
                  </a:solidFill>
                  <a:latin typeface="Lato" panose="020F0502020204030203" pitchFamily="34" charset="0"/>
                  <a:ea typeface="Lato" panose="020F0502020204030203" pitchFamily="34" charset="0"/>
                  <a:cs typeface="Lato" panose="020F0502020204030203" pitchFamily="34" charset="0"/>
                </a:rPr>
                <a:t>Quote Details</a:t>
              </a:r>
            </a:p>
          </p:txBody>
        </p:sp>
      </p:grpSp>
      <p:grpSp>
        <p:nvGrpSpPr>
          <p:cNvPr id="47" name="Group 46">
            <a:extLst>
              <a:ext uri="{FF2B5EF4-FFF2-40B4-BE49-F238E27FC236}">
                <a16:creationId xmlns:a16="http://schemas.microsoft.com/office/drawing/2014/main" id="{0695697F-101C-8855-CD94-3E6ABC170FC7}"/>
              </a:ext>
            </a:extLst>
          </p:cNvPr>
          <p:cNvGrpSpPr/>
          <p:nvPr/>
        </p:nvGrpSpPr>
        <p:grpSpPr>
          <a:xfrm>
            <a:off x="6206302" y="3155336"/>
            <a:ext cx="5692613" cy="364681"/>
            <a:chOff x="381000" y="923474"/>
            <a:chExt cx="4822371" cy="576000"/>
          </a:xfrm>
        </p:grpSpPr>
        <p:sp>
          <p:nvSpPr>
            <p:cNvPr id="48" name="Rectangle: Rounded Corners 63">
              <a:extLst>
                <a:ext uri="{FF2B5EF4-FFF2-40B4-BE49-F238E27FC236}">
                  <a16:creationId xmlns:a16="http://schemas.microsoft.com/office/drawing/2014/main" id="{28AF048B-568F-4137-2149-715BDFB97B64}"/>
                </a:ext>
              </a:extLst>
            </p:cNvPr>
            <p:cNvSpPr/>
            <p:nvPr/>
          </p:nvSpPr>
          <p:spPr>
            <a:xfrm>
              <a:off x="381000" y="923474"/>
              <a:ext cx="4212769" cy="576000"/>
            </a:xfrm>
            <a:prstGeom prst="roundRect">
              <a:avLst>
                <a:gd name="adj" fmla="val 50000"/>
              </a:avLst>
            </a:prstGeom>
            <a:solidFill>
              <a:schemeClr val="bg1"/>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08</a:t>
              </a:r>
            </a:p>
          </p:txBody>
        </p:sp>
        <p:sp>
          <p:nvSpPr>
            <p:cNvPr id="49" name="Rectangle: Rounded Corners 64">
              <a:extLst>
                <a:ext uri="{FF2B5EF4-FFF2-40B4-BE49-F238E27FC236}">
                  <a16:creationId xmlns:a16="http://schemas.microsoft.com/office/drawing/2014/main" id="{C72B5241-DCA1-CEFA-FFB8-CAEA8F8B6920}"/>
                </a:ext>
              </a:extLst>
            </p:cNvPr>
            <p:cNvSpPr/>
            <p:nvPr/>
          </p:nvSpPr>
          <p:spPr>
            <a:xfrm>
              <a:off x="990602" y="923474"/>
              <a:ext cx="4212769" cy="576000"/>
            </a:xfrm>
            <a:prstGeom prst="roundRect">
              <a:avLst>
                <a:gd name="adj" fmla="val 50000"/>
              </a:avLst>
            </a:prstGeom>
            <a:solidFill>
              <a:srgbClr val="E3EFF9"/>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914217">
                <a:defRPr/>
              </a:pPr>
              <a:r>
                <a:rPr lang="en-US" sz="1400" b="1">
                  <a:solidFill>
                    <a:schemeClr val="tx1"/>
                  </a:solidFill>
                  <a:latin typeface="Lato" panose="020F0502020204030203" pitchFamily="34" charset="0"/>
                  <a:ea typeface="Lato" panose="020F0502020204030203" pitchFamily="34" charset="0"/>
                  <a:cs typeface="Lato" panose="020F0502020204030203" pitchFamily="34" charset="0"/>
                </a:rPr>
                <a:t>Schedule Summary</a:t>
              </a:r>
            </a:p>
          </p:txBody>
        </p:sp>
      </p:grpSp>
      <p:grpSp>
        <p:nvGrpSpPr>
          <p:cNvPr id="50" name="Group 49">
            <a:extLst>
              <a:ext uri="{FF2B5EF4-FFF2-40B4-BE49-F238E27FC236}">
                <a16:creationId xmlns:a16="http://schemas.microsoft.com/office/drawing/2014/main" id="{DE10BE41-524C-9C7F-BF73-3DF3C9F168CF}"/>
              </a:ext>
            </a:extLst>
          </p:cNvPr>
          <p:cNvGrpSpPr/>
          <p:nvPr/>
        </p:nvGrpSpPr>
        <p:grpSpPr>
          <a:xfrm>
            <a:off x="250986" y="3155336"/>
            <a:ext cx="5692613" cy="441264"/>
            <a:chOff x="381000" y="923474"/>
            <a:chExt cx="4822371" cy="576000"/>
          </a:xfrm>
        </p:grpSpPr>
        <p:sp>
          <p:nvSpPr>
            <p:cNvPr id="51" name="Rectangle: Rounded Corners 66">
              <a:extLst>
                <a:ext uri="{FF2B5EF4-FFF2-40B4-BE49-F238E27FC236}">
                  <a16:creationId xmlns:a16="http://schemas.microsoft.com/office/drawing/2014/main" id="{AC55BA9D-4F4F-07CB-13EA-69540ECBF44D}"/>
                </a:ext>
              </a:extLst>
            </p:cNvPr>
            <p:cNvSpPr/>
            <p:nvPr/>
          </p:nvSpPr>
          <p:spPr>
            <a:xfrm>
              <a:off x="381000" y="923474"/>
              <a:ext cx="4212769" cy="576000"/>
            </a:xfrm>
            <a:prstGeom prst="roundRect">
              <a:avLst>
                <a:gd name="adj" fmla="val 50000"/>
              </a:avLst>
            </a:prstGeom>
            <a:solidFill>
              <a:schemeClr val="bg1"/>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03</a:t>
              </a:r>
            </a:p>
          </p:txBody>
        </p:sp>
        <p:sp>
          <p:nvSpPr>
            <p:cNvPr id="52" name="Rectangle: Rounded Corners 67">
              <a:extLst>
                <a:ext uri="{FF2B5EF4-FFF2-40B4-BE49-F238E27FC236}">
                  <a16:creationId xmlns:a16="http://schemas.microsoft.com/office/drawing/2014/main" id="{DB56FD53-EDB6-0749-9CA2-89D40A8C6729}"/>
                </a:ext>
              </a:extLst>
            </p:cNvPr>
            <p:cNvSpPr/>
            <p:nvPr/>
          </p:nvSpPr>
          <p:spPr>
            <a:xfrm>
              <a:off x="990602" y="923474"/>
              <a:ext cx="4212769" cy="576000"/>
            </a:xfrm>
            <a:prstGeom prst="roundRect">
              <a:avLst>
                <a:gd name="adj" fmla="val 50000"/>
              </a:avLst>
            </a:prstGeom>
            <a:solidFill>
              <a:srgbClr val="E3EFF9"/>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914217">
                <a:defRPr/>
              </a:pPr>
              <a:r>
                <a:rPr lang="en-US" sz="1400" b="1">
                  <a:solidFill>
                    <a:srgbClr val="272829"/>
                  </a:solidFill>
                  <a:latin typeface="Lato" panose="020F0502020204030203" pitchFamily="34" charset="77"/>
                  <a:ea typeface="League Spartan" charset="0"/>
                  <a:cs typeface="Poppins" pitchFamily="2" charset="77"/>
                </a:rPr>
                <a:t>TMM ECU Functional Block Diagram</a:t>
              </a:r>
            </a:p>
          </p:txBody>
        </p:sp>
      </p:grpSp>
      <p:grpSp>
        <p:nvGrpSpPr>
          <p:cNvPr id="56" name="Group 55">
            <a:extLst>
              <a:ext uri="{FF2B5EF4-FFF2-40B4-BE49-F238E27FC236}">
                <a16:creationId xmlns:a16="http://schemas.microsoft.com/office/drawing/2014/main" id="{D2F3C6BD-AB33-F087-8855-FEFF40D1D396}"/>
              </a:ext>
            </a:extLst>
          </p:cNvPr>
          <p:cNvGrpSpPr/>
          <p:nvPr/>
        </p:nvGrpSpPr>
        <p:grpSpPr>
          <a:xfrm>
            <a:off x="6206302" y="2302335"/>
            <a:ext cx="5692613" cy="441264"/>
            <a:chOff x="381000" y="923474"/>
            <a:chExt cx="4822371" cy="576000"/>
          </a:xfrm>
        </p:grpSpPr>
        <p:sp>
          <p:nvSpPr>
            <p:cNvPr id="57" name="Rectangle: Rounded Corners 9">
              <a:extLst>
                <a:ext uri="{FF2B5EF4-FFF2-40B4-BE49-F238E27FC236}">
                  <a16:creationId xmlns:a16="http://schemas.microsoft.com/office/drawing/2014/main" id="{80107094-86A2-4F3B-721A-969936E48E92}"/>
                </a:ext>
              </a:extLst>
            </p:cNvPr>
            <p:cNvSpPr/>
            <p:nvPr/>
          </p:nvSpPr>
          <p:spPr>
            <a:xfrm>
              <a:off x="381000" y="923474"/>
              <a:ext cx="4212769" cy="576000"/>
            </a:xfrm>
            <a:prstGeom prst="roundRect">
              <a:avLst>
                <a:gd name="adj" fmla="val 50000"/>
              </a:avLst>
            </a:prstGeom>
            <a:solidFill>
              <a:schemeClr val="bg1"/>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07</a:t>
              </a:r>
            </a:p>
          </p:txBody>
        </p:sp>
        <p:sp>
          <p:nvSpPr>
            <p:cNvPr id="58" name="Rectangle: Rounded Corners 10">
              <a:extLst>
                <a:ext uri="{FF2B5EF4-FFF2-40B4-BE49-F238E27FC236}">
                  <a16:creationId xmlns:a16="http://schemas.microsoft.com/office/drawing/2014/main" id="{0690F90C-3967-F791-03EA-9AD5D41D655D}"/>
                </a:ext>
              </a:extLst>
            </p:cNvPr>
            <p:cNvSpPr/>
            <p:nvPr/>
          </p:nvSpPr>
          <p:spPr>
            <a:xfrm>
              <a:off x="990602" y="923474"/>
              <a:ext cx="4212769" cy="576000"/>
            </a:xfrm>
            <a:prstGeom prst="roundRect">
              <a:avLst>
                <a:gd name="adj" fmla="val 50000"/>
              </a:avLst>
            </a:prstGeom>
            <a:solidFill>
              <a:srgbClr val="E3EFF9"/>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914217">
                <a:defRPr/>
              </a:pPr>
              <a:r>
                <a:rPr lang="en-IN" sz="1400" b="1">
                  <a:solidFill>
                    <a:schemeClr val="tx1"/>
                  </a:solidFill>
                  <a:latin typeface="Lato" panose="020F0502020204030203" pitchFamily="34" charset="0"/>
                  <a:ea typeface="Lato" panose="020F0502020204030203" pitchFamily="34" charset="0"/>
                  <a:cs typeface="Lato" panose="020F0502020204030203" pitchFamily="34" charset="0"/>
                </a:rPr>
                <a:t>TMM ECU Validation – Test Suite Footprint</a:t>
              </a:r>
              <a:endParaRPr lang="en-US" sz="1400" b="1">
                <a:solidFill>
                  <a:schemeClr val="tx1"/>
                </a:solidFill>
                <a:latin typeface="Lato" panose="020F0502020204030203" pitchFamily="34" charset="0"/>
                <a:ea typeface="Lato" panose="020F0502020204030203" pitchFamily="34" charset="0"/>
                <a:cs typeface="Lato" panose="020F0502020204030203" pitchFamily="34" charset="0"/>
              </a:endParaRPr>
            </a:p>
          </p:txBody>
        </p:sp>
      </p:grpSp>
      <p:grpSp>
        <p:nvGrpSpPr>
          <p:cNvPr id="4" name="Group 3">
            <a:extLst>
              <a:ext uri="{FF2B5EF4-FFF2-40B4-BE49-F238E27FC236}">
                <a16:creationId xmlns:a16="http://schemas.microsoft.com/office/drawing/2014/main" id="{A70D5FFB-11D1-6F10-6866-FEB7BF82565E}"/>
              </a:ext>
            </a:extLst>
          </p:cNvPr>
          <p:cNvGrpSpPr/>
          <p:nvPr/>
        </p:nvGrpSpPr>
        <p:grpSpPr>
          <a:xfrm>
            <a:off x="6206302" y="4815304"/>
            <a:ext cx="5692613" cy="441264"/>
            <a:chOff x="381000" y="923474"/>
            <a:chExt cx="4822371" cy="576000"/>
          </a:xfrm>
        </p:grpSpPr>
        <p:sp>
          <p:nvSpPr>
            <p:cNvPr id="5" name="Rectangle: Rounded Corners 51">
              <a:extLst>
                <a:ext uri="{FF2B5EF4-FFF2-40B4-BE49-F238E27FC236}">
                  <a16:creationId xmlns:a16="http://schemas.microsoft.com/office/drawing/2014/main" id="{DF16133B-7F2E-85A4-F2C7-47BECDACDEB9}"/>
                </a:ext>
              </a:extLst>
            </p:cNvPr>
            <p:cNvSpPr/>
            <p:nvPr/>
          </p:nvSpPr>
          <p:spPr>
            <a:xfrm>
              <a:off x="381000" y="923474"/>
              <a:ext cx="4212769" cy="576000"/>
            </a:xfrm>
            <a:prstGeom prst="roundRect">
              <a:avLst>
                <a:gd name="adj" fmla="val 50000"/>
              </a:avLst>
            </a:prstGeom>
            <a:solidFill>
              <a:schemeClr val="bg1"/>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10</a:t>
              </a:r>
            </a:p>
          </p:txBody>
        </p:sp>
        <p:sp>
          <p:nvSpPr>
            <p:cNvPr id="6" name="Rectangle: Rounded Corners 52">
              <a:extLst>
                <a:ext uri="{FF2B5EF4-FFF2-40B4-BE49-F238E27FC236}">
                  <a16:creationId xmlns:a16="http://schemas.microsoft.com/office/drawing/2014/main" id="{4FD05E84-086F-F313-CAE7-1AB6AF6E83FF}"/>
                </a:ext>
              </a:extLst>
            </p:cNvPr>
            <p:cNvSpPr/>
            <p:nvPr/>
          </p:nvSpPr>
          <p:spPr>
            <a:xfrm>
              <a:off x="990602" y="923474"/>
              <a:ext cx="4212769" cy="576000"/>
            </a:xfrm>
            <a:prstGeom prst="roundRect">
              <a:avLst>
                <a:gd name="adj" fmla="val 50000"/>
              </a:avLst>
            </a:prstGeom>
            <a:solidFill>
              <a:srgbClr val="E3EFF9"/>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914217">
                <a:defRPr/>
              </a:pPr>
              <a:r>
                <a:rPr lang="en-US" sz="1400" b="1">
                  <a:solidFill>
                    <a:schemeClr val="tx1"/>
                  </a:solidFill>
                  <a:latin typeface="Lato" panose="020F0502020204030203" pitchFamily="34" charset="0"/>
                  <a:ea typeface="Lato" panose="020F0502020204030203" pitchFamily="34" charset="0"/>
                  <a:cs typeface="Lato" panose="020F0502020204030203" pitchFamily="34" charset="0"/>
                </a:rPr>
                <a:t>Quote Detailed Summary</a:t>
              </a:r>
            </a:p>
          </p:txBody>
        </p:sp>
      </p:grpSp>
    </p:spTree>
    <p:extLst>
      <p:ext uri="{BB962C8B-B14F-4D97-AF65-F5344CB8AC3E}">
        <p14:creationId xmlns:p14="http://schemas.microsoft.com/office/powerpoint/2010/main" val="19941973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75A25-0182-E1DE-31F7-D17E994AF2F2}"/>
            </a:ext>
          </a:extLst>
        </p:cNvPr>
        <p:cNvGrpSpPr/>
        <p:nvPr/>
      </p:nvGrpSpPr>
      <p:grpSpPr>
        <a:xfrm>
          <a:off x="0" y="0"/>
          <a:ext cx="0" cy="0"/>
          <a:chOff x="0" y="0"/>
          <a:chExt cx="0" cy="0"/>
        </a:xfrm>
      </p:grpSpPr>
      <p:sp>
        <p:nvSpPr>
          <p:cNvPr id="11" name="Rectangle: Rounded Corners 19">
            <a:extLst>
              <a:ext uri="{FF2B5EF4-FFF2-40B4-BE49-F238E27FC236}">
                <a16:creationId xmlns:a16="http://schemas.microsoft.com/office/drawing/2014/main" id="{C0FF61E4-E0FA-9E06-6493-C43C508F75C0}"/>
              </a:ext>
            </a:extLst>
          </p:cNvPr>
          <p:cNvSpPr/>
          <p:nvPr/>
        </p:nvSpPr>
        <p:spPr>
          <a:xfrm>
            <a:off x="1960325" y="4127062"/>
            <a:ext cx="6932008" cy="522515"/>
          </a:xfrm>
          <a:prstGeom prst="roundRect">
            <a:avLst>
              <a:gd name="adj" fmla="val 8757"/>
            </a:avLst>
          </a:prstGeom>
          <a:solidFill>
            <a:srgbClr val="00B0F0"/>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27E68C8-1465-692F-6A72-78DA57901577}"/>
              </a:ext>
            </a:extLst>
          </p:cNvPr>
          <p:cNvSpPr/>
          <p:nvPr/>
        </p:nvSpPr>
        <p:spPr>
          <a:xfrm>
            <a:off x="627829" y="1298601"/>
            <a:ext cx="10776686" cy="522515"/>
          </a:xfrm>
          <a:prstGeom prst="rect">
            <a:avLst/>
          </a:prstGeom>
          <a:solidFill>
            <a:schemeClr val="tx2">
              <a:lumMod val="10000"/>
              <a:lumOff val="90000"/>
              <a:alpha val="5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 Same-side Corner of Rectangle 4">
            <a:extLst>
              <a:ext uri="{FF2B5EF4-FFF2-40B4-BE49-F238E27FC236}">
                <a16:creationId xmlns:a16="http://schemas.microsoft.com/office/drawing/2014/main" id="{8A26CEA3-08CF-47F1-8410-4A7C99D3F12F}"/>
              </a:ext>
            </a:extLst>
          </p:cNvPr>
          <p:cNvSpPr/>
          <p:nvPr/>
        </p:nvSpPr>
        <p:spPr>
          <a:xfrm>
            <a:off x="1960325" y="839096"/>
            <a:ext cx="8271350" cy="1441525"/>
          </a:xfrm>
          <a:prstGeom prst="round2SameRect">
            <a:avLst/>
          </a:prstGeom>
          <a:solidFill>
            <a:schemeClr val="bg1"/>
          </a:solidFill>
          <a:ln w="6350">
            <a:solidFill>
              <a:srgbClr val="00B0F0"/>
            </a:solidFill>
          </a:ln>
          <a:effectLst>
            <a:outerShdw dist="38100" dir="5400000" algn="t" rotWithShape="0">
              <a:srgbClr val="00B0F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4500CC-2891-6786-2AA7-1B2E8FEDF6ED}"/>
              </a:ext>
            </a:extLst>
          </p:cNvPr>
          <p:cNvSpPr>
            <a:spLocks noGrp="1"/>
          </p:cNvSpPr>
          <p:nvPr>
            <p:ph type="title"/>
          </p:nvPr>
        </p:nvSpPr>
        <p:spPr>
          <a:xfrm>
            <a:off x="285205" y="145617"/>
            <a:ext cx="10926134" cy="576000"/>
          </a:xfrm>
        </p:spPr>
        <p:txBody>
          <a:bodyPr>
            <a:normAutofit/>
          </a:bodyPr>
          <a:lstStyle/>
          <a:p>
            <a:r>
              <a:rPr lang="en-US"/>
              <a:t> Executive Summary</a:t>
            </a:r>
            <a:endParaRPr lang="en-IN"/>
          </a:p>
        </p:txBody>
      </p:sp>
      <p:sp>
        <p:nvSpPr>
          <p:cNvPr id="4" name="TextBox 3">
            <a:extLst>
              <a:ext uri="{FF2B5EF4-FFF2-40B4-BE49-F238E27FC236}">
                <a16:creationId xmlns:a16="http://schemas.microsoft.com/office/drawing/2014/main" id="{697859FE-65FA-22C3-813E-8206F6790868}"/>
              </a:ext>
            </a:extLst>
          </p:cNvPr>
          <p:cNvSpPr txBox="1"/>
          <p:nvPr/>
        </p:nvSpPr>
        <p:spPr>
          <a:xfrm>
            <a:off x="2091210" y="1012074"/>
            <a:ext cx="8009581" cy="1169551"/>
          </a:xfrm>
          <a:prstGeom prst="rect">
            <a:avLst/>
          </a:prstGeom>
          <a:noFill/>
        </p:spPr>
        <p:txBody>
          <a:bodyPr wrap="square" lIns="91440" tIns="45720" rIns="91440" bIns="45720" rtlCol="0" anchor="t">
            <a:spAutoFit/>
          </a:bodyPr>
          <a:lstStyle/>
          <a:p>
            <a:r>
              <a:rPr lang="en-IN" sz="1400">
                <a:latin typeface="Lato"/>
                <a:ea typeface="Lato"/>
                <a:cs typeface="Lato"/>
              </a:rPr>
              <a:t>The TMM ECU is an automotive Electronic control unit for battery‑electric vehicles that manages thermal behaviour across the battery, power electronics, drive train, charging and cabin domains.</a:t>
            </a:r>
          </a:p>
          <a:p>
            <a:endParaRPr lang="en-IN" sz="1400">
              <a:latin typeface="Lato"/>
              <a:ea typeface="Lato"/>
              <a:cs typeface="Lato"/>
            </a:endParaRPr>
          </a:p>
          <a:p>
            <a:r>
              <a:rPr lang="en-IN" sz="1400">
                <a:latin typeface="Lato"/>
                <a:ea typeface="Lato"/>
                <a:cs typeface="Lato"/>
              </a:rPr>
              <a:t>The ECU must reliably </a:t>
            </a:r>
            <a:r>
              <a:rPr lang="en-IN" sz="1400" b="1">
                <a:latin typeface="Lato"/>
                <a:ea typeface="Lato"/>
                <a:cs typeface="Lato"/>
              </a:rPr>
              <a:t>sense PT and gas sensor inputs, control LIN‑based actuators, and communicate over CAN‑FD</a:t>
            </a:r>
            <a:r>
              <a:rPr lang="en-IN" sz="1400">
                <a:latin typeface="Lato"/>
                <a:ea typeface="Lato"/>
                <a:cs typeface="Lato"/>
              </a:rPr>
              <a:t>, while complying with </a:t>
            </a:r>
            <a:r>
              <a:rPr lang="en-IN" sz="1400" b="1">
                <a:latin typeface="Lato"/>
                <a:ea typeface="Lato"/>
                <a:cs typeface="Lato"/>
              </a:rPr>
              <a:t>ASIL‑B (ISO 26262)</a:t>
            </a:r>
            <a:endParaRPr lang="en-IN" sz="1400">
              <a:latin typeface="Lato"/>
              <a:ea typeface="Lato"/>
              <a:cs typeface="Lato"/>
            </a:endParaRPr>
          </a:p>
        </p:txBody>
      </p:sp>
      <p:sp>
        <p:nvSpPr>
          <p:cNvPr id="8" name="Rectangle: Diagonal Corners Rounded 18">
            <a:extLst>
              <a:ext uri="{FF2B5EF4-FFF2-40B4-BE49-F238E27FC236}">
                <a16:creationId xmlns:a16="http://schemas.microsoft.com/office/drawing/2014/main" id="{5C195A3B-F8AB-E616-77D3-4C1A201A0E01}"/>
              </a:ext>
            </a:extLst>
          </p:cNvPr>
          <p:cNvSpPr/>
          <p:nvPr/>
        </p:nvSpPr>
        <p:spPr>
          <a:xfrm>
            <a:off x="627828" y="3884938"/>
            <a:ext cx="2259105" cy="1363018"/>
          </a:xfrm>
          <a:prstGeom prst="round2DiagRect">
            <a:avLst>
              <a:gd name="adj1" fmla="val 50000"/>
              <a:gd name="adj2" fmla="val 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b="1" dirty="0">
                <a:latin typeface="Lato" panose="020F0502020204030203" pitchFamily="34" charset="0"/>
                <a:ea typeface="Lato" panose="020F0502020204030203" pitchFamily="34" charset="0"/>
                <a:cs typeface="Lato" panose="020F0502020204030203" pitchFamily="34" charset="0"/>
              </a:rPr>
              <a:t>Our solution </a:t>
            </a:r>
          </a:p>
        </p:txBody>
      </p:sp>
      <p:sp>
        <p:nvSpPr>
          <p:cNvPr id="9" name="Rectangle: Rounded Corners 19">
            <a:extLst>
              <a:ext uri="{FF2B5EF4-FFF2-40B4-BE49-F238E27FC236}">
                <a16:creationId xmlns:a16="http://schemas.microsoft.com/office/drawing/2014/main" id="{35F7B120-503B-EFC2-4462-10B0D7B2D284}"/>
              </a:ext>
            </a:extLst>
          </p:cNvPr>
          <p:cNvSpPr/>
          <p:nvPr/>
        </p:nvSpPr>
        <p:spPr>
          <a:xfrm>
            <a:off x="3299666" y="2857603"/>
            <a:ext cx="6932008" cy="3417688"/>
          </a:xfrm>
          <a:prstGeom prst="roundRect">
            <a:avLst>
              <a:gd name="adj" fmla="val 8757"/>
            </a:avLst>
          </a:prstGeom>
          <a:solidFill>
            <a:schemeClr val="bg1"/>
          </a:solidFill>
          <a:ln w="6350">
            <a:solidFill>
              <a:srgbClr val="00B0F0"/>
            </a:solidFill>
          </a:ln>
          <a:effectLst>
            <a:outerShdw dist="38100" dir="5400000" algn="t" rotWithShape="0">
              <a:srgbClr val="00B0F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7A68C5E-5DB6-5AA7-63D4-47F6463D16EB}"/>
              </a:ext>
            </a:extLst>
          </p:cNvPr>
          <p:cNvSpPr txBox="1"/>
          <p:nvPr/>
        </p:nvSpPr>
        <p:spPr>
          <a:xfrm>
            <a:off x="3693046" y="3375607"/>
            <a:ext cx="6145248" cy="2462213"/>
          </a:xfrm>
          <a:prstGeom prst="rect">
            <a:avLst/>
          </a:prstGeom>
          <a:noFill/>
        </p:spPr>
        <p:txBody>
          <a:bodyPr wrap="square" lIns="91440" tIns="45720" rIns="91440" bIns="45720" rtlCol="0" anchor="t">
            <a:spAutoFit/>
          </a:bodyPr>
          <a:lstStyle/>
          <a:p>
            <a:pPr marL="342900" indent="-342900">
              <a:buFont typeface="+mj-lt"/>
              <a:buAutoNum type="arabicPeriod"/>
            </a:pPr>
            <a:r>
              <a:rPr lang="en-IN" sz="1400">
                <a:latin typeface="Lato"/>
                <a:ea typeface="Lato"/>
                <a:cs typeface="Lato"/>
              </a:rPr>
              <a:t>We propose a production‑ready TMM ECU platform on NXP S32K312(SoC) + FS2321B(SBC).</a:t>
            </a:r>
          </a:p>
          <a:p>
            <a:pPr marL="342900" indent="-342900">
              <a:buFont typeface="+mj-lt"/>
              <a:buAutoNum type="arabicPeriod"/>
            </a:pPr>
            <a:endParaRPr lang="en-IN" sz="1400">
              <a:latin typeface="Lato" panose="020F0502020204030203" pitchFamily="34" charset="0"/>
              <a:ea typeface="Lato" panose="020F0502020204030203" pitchFamily="34" charset="0"/>
              <a:cs typeface="Lato" panose="020F0502020204030203" pitchFamily="34" charset="0"/>
            </a:endParaRPr>
          </a:p>
          <a:p>
            <a:pPr marL="342900" indent="-342900">
              <a:buFont typeface="+mj-lt"/>
              <a:buAutoNum type="arabicPeriod"/>
            </a:pPr>
            <a:r>
              <a:rPr lang="en-US" sz="1400" b="1">
                <a:latin typeface="Lato"/>
                <a:ea typeface="Lato"/>
                <a:cs typeface="Lato"/>
              </a:rPr>
              <a:t>ASIL‑B–compliant AUTOSAR software stack</a:t>
            </a:r>
            <a:r>
              <a:rPr lang="en-US" sz="1400">
                <a:latin typeface="Lato"/>
                <a:ea typeface="Lato"/>
                <a:cs typeface="Lato"/>
              </a:rPr>
              <a:t> (RTOS + BSW + MCAL) that is already proven in production ECUs, which significantly reduces safety and integration risk. So, we can configure, customize and validate it quickly for the TMM ECU use case.</a:t>
            </a:r>
          </a:p>
          <a:p>
            <a:pPr marL="342900" indent="-342900">
              <a:buFont typeface="+mj-lt"/>
              <a:buAutoNum type="arabicPeriod"/>
            </a:pPr>
            <a:endParaRPr lang="en-IN" sz="1400">
              <a:latin typeface="Lato" panose="020F0502020204030203" pitchFamily="34" charset="0"/>
              <a:ea typeface="Lato" panose="020F0502020204030203" pitchFamily="34" charset="0"/>
              <a:cs typeface="Lato" panose="020F0502020204030203" pitchFamily="34" charset="0"/>
            </a:endParaRPr>
          </a:p>
          <a:p>
            <a:pPr marL="342900" indent="-342900">
              <a:buFont typeface="+mj-lt"/>
              <a:buAutoNum type="arabicPeriod"/>
            </a:pPr>
            <a:r>
              <a:rPr lang="en-IN" sz="1400">
                <a:latin typeface="Lato" panose="020F0502020204030203" pitchFamily="34" charset="0"/>
                <a:ea typeface="Lato" panose="020F0502020204030203" pitchFamily="34" charset="0"/>
                <a:cs typeface="Lato" panose="020F0502020204030203" pitchFamily="34" charset="0"/>
              </a:rPr>
              <a:t> We deliver a Preliminary BOM, NRE breakdown and V&amp;V strategy clearly mapped to the customer’s phase model (Design → Process → Prototyping → Validation) to de‑risk planning and budgeting.</a:t>
            </a:r>
          </a:p>
        </p:txBody>
      </p:sp>
    </p:spTree>
    <p:extLst>
      <p:ext uri="{BB962C8B-B14F-4D97-AF65-F5344CB8AC3E}">
        <p14:creationId xmlns:p14="http://schemas.microsoft.com/office/powerpoint/2010/main" val="16785788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A6BC3-82C1-C7FE-21A1-A07544CC68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A0EBC1-6BA7-14D6-3989-29E1D01838EB}"/>
              </a:ext>
            </a:extLst>
          </p:cNvPr>
          <p:cNvSpPr>
            <a:spLocks noGrp="1"/>
          </p:cNvSpPr>
          <p:nvPr>
            <p:ph type="title"/>
          </p:nvPr>
        </p:nvSpPr>
        <p:spPr>
          <a:xfrm>
            <a:off x="285205" y="145617"/>
            <a:ext cx="10926134" cy="576000"/>
          </a:xfrm>
        </p:spPr>
        <p:txBody>
          <a:bodyPr>
            <a:normAutofit fontScale="90000"/>
          </a:bodyPr>
          <a:lstStyle/>
          <a:p>
            <a:r>
              <a:rPr lang="en-US"/>
              <a:t>System Overview: TMM ECU in the BEV Platform</a:t>
            </a:r>
            <a:br>
              <a:rPr lang="en-US"/>
            </a:br>
            <a:endParaRPr lang="en-IN"/>
          </a:p>
        </p:txBody>
      </p:sp>
      <p:sp>
        <p:nvSpPr>
          <p:cNvPr id="4" name="Text 6">
            <a:extLst>
              <a:ext uri="{FF2B5EF4-FFF2-40B4-BE49-F238E27FC236}">
                <a16:creationId xmlns:a16="http://schemas.microsoft.com/office/drawing/2014/main" id="{4F002CAC-8F5F-E1BC-AC04-38C04614CCDF}"/>
              </a:ext>
            </a:extLst>
          </p:cNvPr>
          <p:cNvSpPr/>
          <p:nvPr/>
        </p:nvSpPr>
        <p:spPr>
          <a:xfrm>
            <a:off x="274320" y="629306"/>
            <a:ext cx="9753600" cy="304800"/>
          </a:xfrm>
          <a:prstGeom prst="rect">
            <a:avLst/>
          </a:prstGeom>
          <a:noFill/>
          <a:ln/>
        </p:spPr>
        <p:txBody>
          <a:bodyPr wrap="square" rtlCol="0" anchor="ctr"/>
          <a:lstStyle/>
          <a:p>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Hardware Platform &amp; 6-Domain Thermal Coverage</a:t>
            </a:r>
          </a:p>
        </p:txBody>
      </p:sp>
      <p:sp>
        <p:nvSpPr>
          <p:cNvPr id="3" name="Shape 7">
            <a:extLst>
              <a:ext uri="{FF2B5EF4-FFF2-40B4-BE49-F238E27FC236}">
                <a16:creationId xmlns:a16="http://schemas.microsoft.com/office/drawing/2014/main" id="{99C161AA-7D0F-D9B9-B51C-1696C4B29ECA}"/>
              </a:ext>
            </a:extLst>
          </p:cNvPr>
          <p:cNvSpPr/>
          <p:nvPr/>
        </p:nvSpPr>
        <p:spPr>
          <a:xfrm>
            <a:off x="365760" y="1287922"/>
            <a:ext cx="5486400" cy="365760"/>
          </a:xfrm>
          <a:prstGeom prst="rect">
            <a:avLst/>
          </a:prstGeom>
          <a:solidFill>
            <a:srgbClr val="0070C0"/>
          </a:solidFill>
          <a:ln/>
        </p:spPr>
        <p:txBody>
          <a:bodyPr/>
          <a:lstStyle/>
          <a:p>
            <a:endParaRPr lang="en-IN" sz="2400">
              <a:latin typeface="Lato" panose="020F0502020204030203" pitchFamily="34" charset="0"/>
              <a:ea typeface="Lato" panose="020F0502020204030203" pitchFamily="34" charset="0"/>
              <a:cs typeface="Lato" panose="020F0502020204030203" pitchFamily="34" charset="0"/>
            </a:endParaRPr>
          </a:p>
        </p:txBody>
      </p:sp>
      <p:sp>
        <p:nvSpPr>
          <p:cNvPr id="14" name="Text 8">
            <a:extLst>
              <a:ext uri="{FF2B5EF4-FFF2-40B4-BE49-F238E27FC236}">
                <a16:creationId xmlns:a16="http://schemas.microsoft.com/office/drawing/2014/main" id="{D809C4C5-1C03-ACC9-BC4E-080FE6F1C7B3}"/>
              </a:ext>
            </a:extLst>
          </p:cNvPr>
          <p:cNvSpPr/>
          <p:nvPr/>
        </p:nvSpPr>
        <p:spPr>
          <a:xfrm>
            <a:off x="365760" y="1287922"/>
            <a:ext cx="5486400" cy="365760"/>
          </a:xfrm>
          <a:prstGeom prst="rect">
            <a:avLst/>
          </a:prstGeom>
          <a:noFill/>
          <a:ln/>
        </p:spPr>
        <p:txBody>
          <a:bodyPr wrap="square" rtlCol="0" anchor="ctr"/>
          <a:lstStyle/>
          <a:p>
            <a:pPr algn="ctr"/>
            <a:r>
              <a:rPr lang="en-US" sz="1400" b="1">
                <a:solidFill>
                  <a:srgbClr val="FFFFFF"/>
                </a:solidFill>
                <a:latin typeface="Lato" panose="020F0502020204030203" pitchFamily="34" charset="0"/>
                <a:ea typeface="Lato" panose="020F0502020204030203" pitchFamily="34" charset="0"/>
                <a:cs typeface="Lato" panose="020F0502020204030203" pitchFamily="34" charset="0"/>
              </a:rPr>
              <a:t>HARDWARE PLATFORM</a:t>
            </a:r>
            <a:endParaRPr lang="en-US" sz="1400">
              <a:latin typeface="Lato" panose="020F0502020204030203" pitchFamily="34" charset="0"/>
              <a:ea typeface="Lato" panose="020F0502020204030203" pitchFamily="34" charset="0"/>
              <a:cs typeface="Lato" panose="020F0502020204030203" pitchFamily="34" charset="0"/>
            </a:endParaRPr>
          </a:p>
        </p:txBody>
      </p:sp>
      <p:sp>
        <p:nvSpPr>
          <p:cNvPr id="16" name="Shape 9">
            <a:extLst>
              <a:ext uri="{FF2B5EF4-FFF2-40B4-BE49-F238E27FC236}">
                <a16:creationId xmlns:a16="http://schemas.microsoft.com/office/drawing/2014/main" id="{7984E24C-E352-5797-26B0-298ADC295276}"/>
              </a:ext>
            </a:extLst>
          </p:cNvPr>
          <p:cNvSpPr/>
          <p:nvPr/>
        </p:nvSpPr>
        <p:spPr>
          <a:xfrm>
            <a:off x="365760" y="1726834"/>
            <a:ext cx="5486400" cy="755904"/>
          </a:xfrm>
          <a:prstGeom prst="rect">
            <a:avLst/>
          </a:prstGeom>
          <a:solidFill>
            <a:srgbClr val="FFFFFF"/>
          </a:solidFill>
          <a:ln w="16510">
            <a:solidFill>
              <a:srgbClr val="00B0F0"/>
            </a:solidFill>
            <a:prstDash val="solid"/>
          </a:ln>
          <a:effectLst/>
        </p:spPr>
        <p:txBody>
          <a:bodyPr/>
          <a:lstStyle/>
          <a:p>
            <a:endParaRPr lang="en-IN" sz="2400">
              <a:latin typeface="Lato" panose="020F0502020204030203" pitchFamily="34" charset="0"/>
              <a:ea typeface="Lato" panose="020F0502020204030203" pitchFamily="34" charset="0"/>
              <a:cs typeface="Lato" panose="020F0502020204030203" pitchFamily="34" charset="0"/>
            </a:endParaRPr>
          </a:p>
        </p:txBody>
      </p:sp>
      <p:sp>
        <p:nvSpPr>
          <p:cNvPr id="18" name="Shape 10">
            <a:extLst>
              <a:ext uri="{FF2B5EF4-FFF2-40B4-BE49-F238E27FC236}">
                <a16:creationId xmlns:a16="http://schemas.microsoft.com/office/drawing/2014/main" id="{82B88441-A918-BB2A-19E3-7067AD825A22}"/>
              </a:ext>
            </a:extLst>
          </p:cNvPr>
          <p:cNvSpPr/>
          <p:nvPr/>
        </p:nvSpPr>
        <p:spPr>
          <a:xfrm>
            <a:off x="365760" y="1726834"/>
            <a:ext cx="73152" cy="755904"/>
          </a:xfrm>
          <a:prstGeom prst="rect">
            <a:avLst/>
          </a:prstGeom>
          <a:solidFill>
            <a:srgbClr val="00B0F0"/>
          </a:solidFill>
          <a:ln/>
        </p:spPr>
        <p:txBody>
          <a:bodyPr/>
          <a:lstStyle/>
          <a:p>
            <a:endParaRPr lang="en-IN" sz="2400">
              <a:latin typeface="Lato" panose="020F0502020204030203" pitchFamily="34" charset="0"/>
              <a:ea typeface="Lato" panose="020F0502020204030203" pitchFamily="34" charset="0"/>
              <a:cs typeface="Lato" panose="020F0502020204030203" pitchFamily="34" charset="0"/>
            </a:endParaRPr>
          </a:p>
        </p:txBody>
      </p:sp>
      <p:sp>
        <p:nvSpPr>
          <p:cNvPr id="23" name="Text 11">
            <a:extLst>
              <a:ext uri="{FF2B5EF4-FFF2-40B4-BE49-F238E27FC236}">
                <a16:creationId xmlns:a16="http://schemas.microsoft.com/office/drawing/2014/main" id="{A752E79A-1535-8F37-62F8-928B985AE1FD}"/>
              </a:ext>
            </a:extLst>
          </p:cNvPr>
          <p:cNvSpPr/>
          <p:nvPr/>
        </p:nvSpPr>
        <p:spPr>
          <a:xfrm>
            <a:off x="512064" y="1787794"/>
            <a:ext cx="975360" cy="633984"/>
          </a:xfrm>
          <a:prstGeom prst="rect">
            <a:avLst/>
          </a:prstGeom>
          <a:noFill/>
          <a:ln/>
        </p:spPr>
        <p:txBody>
          <a:bodyPr wrap="square" rtlCol="0" anchor="ctr"/>
          <a:lstStyle/>
          <a:p>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MCU</a:t>
            </a:r>
            <a:endParaRPr lang="en-US" sz="1400">
              <a:solidFill>
                <a:srgbClr val="0070C0"/>
              </a:solidFill>
              <a:latin typeface="Lato" panose="020F0502020204030203" pitchFamily="34" charset="0"/>
              <a:ea typeface="Lato" panose="020F0502020204030203" pitchFamily="34" charset="0"/>
              <a:cs typeface="Lato" panose="020F0502020204030203" pitchFamily="34" charset="0"/>
            </a:endParaRPr>
          </a:p>
        </p:txBody>
      </p:sp>
      <p:sp>
        <p:nvSpPr>
          <p:cNvPr id="25" name="Text 12">
            <a:extLst>
              <a:ext uri="{FF2B5EF4-FFF2-40B4-BE49-F238E27FC236}">
                <a16:creationId xmlns:a16="http://schemas.microsoft.com/office/drawing/2014/main" id="{64BFD27C-6B58-DE24-AE2F-E0AE671849A9}"/>
              </a:ext>
            </a:extLst>
          </p:cNvPr>
          <p:cNvSpPr/>
          <p:nvPr/>
        </p:nvSpPr>
        <p:spPr>
          <a:xfrm>
            <a:off x="1584960" y="1760084"/>
            <a:ext cx="4145280" cy="292608"/>
          </a:xfrm>
          <a:prstGeom prst="rect">
            <a:avLst/>
          </a:prstGeom>
          <a:noFill/>
          <a:ln/>
        </p:spPr>
        <p:txBody>
          <a:bodyPr wrap="square" rtlCol="0" anchor="ctr"/>
          <a:lstStyle/>
          <a:p>
            <a:r>
              <a:rPr lang="en-US" sz="1400" b="1">
                <a:latin typeface="Lato" panose="020F0502020204030203" pitchFamily="34" charset="0"/>
                <a:ea typeface="Lato" panose="020F0502020204030203" pitchFamily="34" charset="0"/>
                <a:cs typeface="Lato" panose="020F0502020204030203" pitchFamily="34" charset="0"/>
              </a:rPr>
              <a:t>NXP S32K312 (ASIL B)</a:t>
            </a:r>
            <a:endParaRPr lang="en-US" sz="1400">
              <a:latin typeface="Lato" panose="020F0502020204030203" pitchFamily="34" charset="0"/>
              <a:ea typeface="Lato" panose="020F0502020204030203" pitchFamily="34" charset="0"/>
              <a:cs typeface="Lato" panose="020F0502020204030203" pitchFamily="34" charset="0"/>
            </a:endParaRPr>
          </a:p>
        </p:txBody>
      </p:sp>
      <p:sp>
        <p:nvSpPr>
          <p:cNvPr id="27" name="Text 13">
            <a:extLst>
              <a:ext uri="{FF2B5EF4-FFF2-40B4-BE49-F238E27FC236}">
                <a16:creationId xmlns:a16="http://schemas.microsoft.com/office/drawing/2014/main" id="{D1E95CD2-6F28-1305-45CF-B417054F78AA}"/>
              </a:ext>
            </a:extLst>
          </p:cNvPr>
          <p:cNvSpPr/>
          <p:nvPr/>
        </p:nvSpPr>
        <p:spPr>
          <a:xfrm>
            <a:off x="1584960" y="2077076"/>
            <a:ext cx="4145280" cy="341376"/>
          </a:xfrm>
          <a:prstGeom prst="rect">
            <a:avLst/>
          </a:prstGeom>
          <a:noFill/>
          <a:ln/>
        </p:spPr>
        <p:txBody>
          <a:bodyPr wrap="square" rtlCol="0" anchor="ctr"/>
          <a:lstStyle/>
          <a:p>
            <a:r>
              <a:rPr lang="en-US" sz="1100">
                <a:solidFill>
                  <a:srgbClr val="6B7280"/>
                </a:solidFill>
                <a:latin typeface="Lato" panose="020F0502020204030203" pitchFamily="34" charset="0"/>
                <a:ea typeface="Lato" panose="020F0502020204030203" pitchFamily="34" charset="0"/>
                <a:cs typeface="Lato" panose="020F0502020204030203" pitchFamily="34" charset="0"/>
              </a:rPr>
              <a:t>ARM Cortex-M4F, 80MHz, 2MB Flash, 256KB RAM, ECC, MPU</a:t>
            </a:r>
            <a:endParaRPr lang="en-US" sz="1100">
              <a:latin typeface="Lato" panose="020F0502020204030203" pitchFamily="34" charset="0"/>
              <a:ea typeface="Lato" panose="020F0502020204030203" pitchFamily="34" charset="0"/>
              <a:cs typeface="Lato" panose="020F0502020204030203" pitchFamily="34" charset="0"/>
            </a:endParaRPr>
          </a:p>
        </p:txBody>
      </p:sp>
      <p:sp>
        <p:nvSpPr>
          <p:cNvPr id="32" name="Shape 14">
            <a:extLst>
              <a:ext uri="{FF2B5EF4-FFF2-40B4-BE49-F238E27FC236}">
                <a16:creationId xmlns:a16="http://schemas.microsoft.com/office/drawing/2014/main" id="{7CCA9795-2CF3-9A5D-8D13-C4FBD15F0664}"/>
              </a:ext>
            </a:extLst>
          </p:cNvPr>
          <p:cNvSpPr/>
          <p:nvPr/>
        </p:nvSpPr>
        <p:spPr>
          <a:xfrm>
            <a:off x="365760" y="2580274"/>
            <a:ext cx="5486400" cy="755904"/>
          </a:xfrm>
          <a:prstGeom prst="rect">
            <a:avLst/>
          </a:prstGeom>
          <a:solidFill>
            <a:srgbClr val="FFFFFF"/>
          </a:solidFill>
          <a:ln w="16510">
            <a:solidFill>
              <a:srgbClr val="00B0F0"/>
            </a:solidFill>
            <a:prstDash val="solid"/>
          </a:ln>
          <a:effectLst/>
        </p:spPr>
        <p:txBody>
          <a:bodyPr/>
          <a:lstStyle/>
          <a:p>
            <a:endParaRPr lang="en-IN" sz="2400">
              <a:latin typeface="Lato" panose="020F0502020204030203" pitchFamily="34" charset="0"/>
              <a:ea typeface="Lato" panose="020F0502020204030203" pitchFamily="34" charset="0"/>
              <a:cs typeface="Lato" panose="020F0502020204030203" pitchFamily="34" charset="0"/>
            </a:endParaRPr>
          </a:p>
        </p:txBody>
      </p:sp>
      <p:sp>
        <p:nvSpPr>
          <p:cNvPr id="34" name="Shape 15">
            <a:extLst>
              <a:ext uri="{FF2B5EF4-FFF2-40B4-BE49-F238E27FC236}">
                <a16:creationId xmlns:a16="http://schemas.microsoft.com/office/drawing/2014/main" id="{91422B79-C456-DD00-1C5D-FD6C506F3CA1}"/>
              </a:ext>
            </a:extLst>
          </p:cNvPr>
          <p:cNvSpPr/>
          <p:nvPr/>
        </p:nvSpPr>
        <p:spPr>
          <a:xfrm>
            <a:off x="365760" y="2580274"/>
            <a:ext cx="73152" cy="755904"/>
          </a:xfrm>
          <a:prstGeom prst="rect">
            <a:avLst/>
          </a:prstGeom>
          <a:solidFill>
            <a:srgbClr val="00B0F0"/>
          </a:solidFill>
          <a:ln/>
        </p:spPr>
        <p:txBody>
          <a:bodyPr/>
          <a:lstStyle/>
          <a:p>
            <a:endParaRPr lang="en-IN" sz="2400">
              <a:latin typeface="Lato" panose="020F0502020204030203" pitchFamily="34" charset="0"/>
              <a:ea typeface="Lato" panose="020F0502020204030203" pitchFamily="34" charset="0"/>
              <a:cs typeface="Lato" panose="020F0502020204030203" pitchFamily="34" charset="0"/>
            </a:endParaRPr>
          </a:p>
        </p:txBody>
      </p:sp>
      <p:sp>
        <p:nvSpPr>
          <p:cNvPr id="36" name="Text 16">
            <a:extLst>
              <a:ext uri="{FF2B5EF4-FFF2-40B4-BE49-F238E27FC236}">
                <a16:creationId xmlns:a16="http://schemas.microsoft.com/office/drawing/2014/main" id="{C12C67E3-979B-1AF4-C5A5-57759DE6BA65}"/>
              </a:ext>
            </a:extLst>
          </p:cNvPr>
          <p:cNvSpPr/>
          <p:nvPr/>
        </p:nvSpPr>
        <p:spPr>
          <a:xfrm>
            <a:off x="512064" y="2641234"/>
            <a:ext cx="975360" cy="633984"/>
          </a:xfrm>
          <a:prstGeom prst="rect">
            <a:avLst/>
          </a:prstGeom>
          <a:noFill/>
          <a:ln/>
        </p:spPr>
        <p:txBody>
          <a:bodyPr wrap="square" rtlCol="0" anchor="ctr"/>
          <a:lstStyle/>
          <a:p>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SBC</a:t>
            </a:r>
            <a:endParaRPr lang="en-US" sz="1400">
              <a:solidFill>
                <a:srgbClr val="0070C0"/>
              </a:solidFill>
              <a:latin typeface="Lato" panose="020F0502020204030203" pitchFamily="34" charset="0"/>
              <a:ea typeface="Lato" panose="020F0502020204030203" pitchFamily="34" charset="0"/>
              <a:cs typeface="Lato" panose="020F0502020204030203" pitchFamily="34" charset="0"/>
            </a:endParaRPr>
          </a:p>
        </p:txBody>
      </p:sp>
      <p:sp>
        <p:nvSpPr>
          <p:cNvPr id="38" name="Text 17">
            <a:extLst>
              <a:ext uri="{FF2B5EF4-FFF2-40B4-BE49-F238E27FC236}">
                <a16:creationId xmlns:a16="http://schemas.microsoft.com/office/drawing/2014/main" id="{E0F625B7-6E94-9150-78B4-B5B53841CCBD}"/>
              </a:ext>
            </a:extLst>
          </p:cNvPr>
          <p:cNvSpPr/>
          <p:nvPr/>
        </p:nvSpPr>
        <p:spPr>
          <a:xfrm>
            <a:off x="1584960" y="2613524"/>
            <a:ext cx="4145280" cy="292608"/>
          </a:xfrm>
          <a:prstGeom prst="rect">
            <a:avLst/>
          </a:prstGeom>
          <a:noFill/>
          <a:ln/>
        </p:spPr>
        <p:txBody>
          <a:bodyPr wrap="square" rtlCol="0" anchor="ctr"/>
          <a:lstStyle/>
          <a:p>
            <a:r>
              <a:rPr lang="en-US" sz="1400" b="1">
                <a:latin typeface="Lato" panose="020F0502020204030203" pitchFamily="34" charset="0"/>
                <a:ea typeface="Lato" panose="020F0502020204030203" pitchFamily="34" charset="0"/>
                <a:cs typeface="Lato" panose="020F0502020204030203" pitchFamily="34" charset="0"/>
              </a:rPr>
              <a:t>NXP FS2301B</a:t>
            </a:r>
            <a:endParaRPr lang="en-US" sz="1400">
              <a:latin typeface="Lato" panose="020F0502020204030203" pitchFamily="34" charset="0"/>
              <a:ea typeface="Lato" panose="020F0502020204030203" pitchFamily="34" charset="0"/>
              <a:cs typeface="Lato" panose="020F0502020204030203" pitchFamily="34" charset="0"/>
            </a:endParaRPr>
          </a:p>
        </p:txBody>
      </p:sp>
      <p:sp>
        <p:nvSpPr>
          <p:cNvPr id="39" name="Text 18">
            <a:extLst>
              <a:ext uri="{FF2B5EF4-FFF2-40B4-BE49-F238E27FC236}">
                <a16:creationId xmlns:a16="http://schemas.microsoft.com/office/drawing/2014/main" id="{79B6210B-B859-B7A5-ED4A-ECB957100EDC}"/>
              </a:ext>
            </a:extLst>
          </p:cNvPr>
          <p:cNvSpPr/>
          <p:nvPr/>
        </p:nvSpPr>
        <p:spPr>
          <a:xfrm>
            <a:off x="1584960" y="2930516"/>
            <a:ext cx="4145280" cy="341376"/>
          </a:xfrm>
          <a:prstGeom prst="rect">
            <a:avLst/>
          </a:prstGeom>
          <a:noFill/>
          <a:ln/>
        </p:spPr>
        <p:txBody>
          <a:bodyPr wrap="square" rtlCol="0" anchor="ctr"/>
          <a:lstStyle/>
          <a:p>
            <a:r>
              <a:rPr lang="en-US" sz="1100">
                <a:solidFill>
                  <a:srgbClr val="6B7280"/>
                </a:solidFill>
                <a:latin typeface="Lato" panose="020F0502020204030203" pitchFamily="34" charset="0"/>
                <a:ea typeface="Lato" panose="020F0502020204030203" pitchFamily="34" charset="0"/>
                <a:cs typeface="Lato" panose="020F0502020204030203" pitchFamily="34" charset="0"/>
              </a:rPr>
              <a:t>CAN-FD transceiver, LIN master, 5V/3.3V LDO, Window WDG, ASIL B</a:t>
            </a:r>
            <a:endParaRPr lang="en-US" sz="1100">
              <a:latin typeface="Lato" panose="020F0502020204030203" pitchFamily="34" charset="0"/>
              <a:ea typeface="Lato" panose="020F0502020204030203" pitchFamily="34" charset="0"/>
              <a:cs typeface="Lato" panose="020F0502020204030203" pitchFamily="34" charset="0"/>
            </a:endParaRPr>
          </a:p>
        </p:txBody>
      </p:sp>
      <p:sp>
        <p:nvSpPr>
          <p:cNvPr id="40" name="Shape 19">
            <a:extLst>
              <a:ext uri="{FF2B5EF4-FFF2-40B4-BE49-F238E27FC236}">
                <a16:creationId xmlns:a16="http://schemas.microsoft.com/office/drawing/2014/main" id="{61D75DB6-6BC4-9F53-0CE9-8DF19B17B4E9}"/>
              </a:ext>
            </a:extLst>
          </p:cNvPr>
          <p:cNvSpPr/>
          <p:nvPr/>
        </p:nvSpPr>
        <p:spPr>
          <a:xfrm>
            <a:off x="397075" y="3433714"/>
            <a:ext cx="5455085" cy="787219"/>
          </a:xfrm>
          <a:prstGeom prst="rect">
            <a:avLst/>
          </a:prstGeom>
          <a:solidFill>
            <a:srgbClr val="FFFFFF"/>
          </a:solidFill>
          <a:ln w="16510">
            <a:solidFill>
              <a:srgbClr val="00B0F0"/>
            </a:solidFill>
            <a:prstDash val="solid"/>
          </a:ln>
          <a:effectLst/>
        </p:spPr>
        <p:txBody>
          <a:bodyPr/>
          <a:lstStyle/>
          <a:p>
            <a:endParaRPr lang="en-IN" sz="2400">
              <a:latin typeface="Lato" panose="020F0502020204030203" pitchFamily="34" charset="0"/>
              <a:ea typeface="Lato" panose="020F0502020204030203" pitchFamily="34" charset="0"/>
              <a:cs typeface="Lato" panose="020F0502020204030203" pitchFamily="34" charset="0"/>
            </a:endParaRPr>
          </a:p>
        </p:txBody>
      </p:sp>
      <p:sp>
        <p:nvSpPr>
          <p:cNvPr id="41" name="Shape 20">
            <a:extLst>
              <a:ext uri="{FF2B5EF4-FFF2-40B4-BE49-F238E27FC236}">
                <a16:creationId xmlns:a16="http://schemas.microsoft.com/office/drawing/2014/main" id="{BFCCBF4E-16A2-D476-6A34-55F867E718CD}"/>
              </a:ext>
            </a:extLst>
          </p:cNvPr>
          <p:cNvSpPr/>
          <p:nvPr/>
        </p:nvSpPr>
        <p:spPr>
          <a:xfrm>
            <a:off x="365760" y="3433714"/>
            <a:ext cx="73152" cy="755904"/>
          </a:xfrm>
          <a:prstGeom prst="rect">
            <a:avLst/>
          </a:prstGeom>
          <a:solidFill>
            <a:srgbClr val="00B0F0"/>
          </a:solidFill>
          <a:ln/>
        </p:spPr>
        <p:txBody>
          <a:bodyPr/>
          <a:lstStyle/>
          <a:p>
            <a:endParaRPr lang="en-IN" sz="2400">
              <a:latin typeface="Lato" panose="020F0502020204030203" pitchFamily="34" charset="0"/>
              <a:ea typeface="Lato" panose="020F0502020204030203" pitchFamily="34" charset="0"/>
              <a:cs typeface="Lato" panose="020F0502020204030203" pitchFamily="34" charset="0"/>
            </a:endParaRPr>
          </a:p>
        </p:txBody>
      </p:sp>
      <p:sp>
        <p:nvSpPr>
          <p:cNvPr id="42" name="Text 21">
            <a:extLst>
              <a:ext uri="{FF2B5EF4-FFF2-40B4-BE49-F238E27FC236}">
                <a16:creationId xmlns:a16="http://schemas.microsoft.com/office/drawing/2014/main" id="{C0BACEEC-E919-4AAC-586B-9AF47258136E}"/>
              </a:ext>
            </a:extLst>
          </p:cNvPr>
          <p:cNvSpPr/>
          <p:nvPr/>
        </p:nvSpPr>
        <p:spPr>
          <a:xfrm>
            <a:off x="512064" y="3494674"/>
            <a:ext cx="975360" cy="633984"/>
          </a:xfrm>
          <a:prstGeom prst="rect">
            <a:avLst/>
          </a:prstGeom>
          <a:noFill/>
          <a:ln/>
        </p:spPr>
        <p:txBody>
          <a:bodyPr wrap="square" rtlCol="0" anchor="ctr"/>
          <a:lstStyle/>
          <a:p>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I/O</a:t>
            </a:r>
            <a:endParaRPr lang="en-US" sz="1400">
              <a:solidFill>
                <a:srgbClr val="0070C0"/>
              </a:solidFill>
              <a:latin typeface="Lato" panose="020F0502020204030203" pitchFamily="34" charset="0"/>
              <a:ea typeface="Lato" panose="020F0502020204030203" pitchFamily="34" charset="0"/>
              <a:cs typeface="Lato" panose="020F0502020204030203" pitchFamily="34" charset="0"/>
            </a:endParaRPr>
          </a:p>
        </p:txBody>
      </p:sp>
      <p:sp>
        <p:nvSpPr>
          <p:cNvPr id="43" name="Text 22">
            <a:extLst>
              <a:ext uri="{FF2B5EF4-FFF2-40B4-BE49-F238E27FC236}">
                <a16:creationId xmlns:a16="http://schemas.microsoft.com/office/drawing/2014/main" id="{F55CCA11-6DDA-0CEB-6887-287F36F3CE72}"/>
              </a:ext>
            </a:extLst>
          </p:cNvPr>
          <p:cNvSpPr/>
          <p:nvPr/>
        </p:nvSpPr>
        <p:spPr>
          <a:xfrm>
            <a:off x="1584960" y="3466964"/>
            <a:ext cx="4145280" cy="292608"/>
          </a:xfrm>
          <a:prstGeom prst="rect">
            <a:avLst/>
          </a:prstGeom>
          <a:noFill/>
          <a:ln/>
        </p:spPr>
        <p:txBody>
          <a:bodyPr wrap="square" lIns="91440" tIns="45720" rIns="91440" bIns="45720" rtlCol="0" anchor="ctr"/>
          <a:lstStyle/>
          <a:p>
            <a:r>
              <a:rPr lang="en-US" sz="1400" b="1">
                <a:latin typeface="Lato"/>
                <a:ea typeface="Lato"/>
                <a:cs typeface="Lato"/>
              </a:rPr>
              <a:t>Connector LV</a:t>
            </a:r>
            <a:endParaRPr lang="en-US"/>
          </a:p>
        </p:txBody>
      </p:sp>
      <p:sp>
        <p:nvSpPr>
          <p:cNvPr id="44" name="Text 23">
            <a:extLst>
              <a:ext uri="{FF2B5EF4-FFF2-40B4-BE49-F238E27FC236}">
                <a16:creationId xmlns:a16="http://schemas.microsoft.com/office/drawing/2014/main" id="{E3DCBF6E-0CAC-515A-77CE-09A8E39FC718}"/>
              </a:ext>
            </a:extLst>
          </p:cNvPr>
          <p:cNvSpPr/>
          <p:nvPr/>
        </p:nvSpPr>
        <p:spPr>
          <a:xfrm>
            <a:off x="1584960" y="3783956"/>
            <a:ext cx="4145280" cy="341376"/>
          </a:xfrm>
          <a:prstGeom prst="rect">
            <a:avLst/>
          </a:prstGeom>
          <a:noFill/>
          <a:ln/>
        </p:spPr>
        <p:txBody>
          <a:bodyPr wrap="square" lIns="91440" tIns="45720" rIns="91440" bIns="45720" rtlCol="0" anchor="ctr"/>
          <a:lstStyle/>
          <a:p>
            <a:r>
              <a:rPr lang="en-US" sz="1100">
                <a:solidFill>
                  <a:srgbClr val="6B7280"/>
                </a:solidFill>
                <a:latin typeface="Lato"/>
                <a:ea typeface="Lato"/>
                <a:cs typeface="Lato"/>
              </a:rPr>
              <a:t>HS drive: SO-Valve (0-12V, 850mA)</a:t>
            </a:r>
          </a:p>
          <a:p>
            <a:r>
              <a:rPr lang="en-US" sz="1100">
                <a:solidFill>
                  <a:srgbClr val="6B7280"/>
                </a:solidFill>
                <a:latin typeface="Lato"/>
                <a:ea typeface="Lato"/>
                <a:cs typeface="Lato"/>
              </a:rPr>
              <a:t>LIN: 3 Actuators, Gas Sensor</a:t>
            </a:r>
          </a:p>
          <a:p>
            <a:r>
              <a:rPr lang="en-US" sz="1100">
                <a:solidFill>
                  <a:srgbClr val="6B7280"/>
                </a:solidFill>
                <a:latin typeface="Lato"/>
                <a:ea typeface="Lato"/>
                <a:cs typeface="Lato"/>
              </a:rPr>
              <a:t>Analog: 3 PT Sensors</a:t>
            </a:r>
          </a:p>
        </p:txBody>
      </p:sp>
      <p:sp>
        <p:nvSpPr>
          <p:cNvPr id="45" name="Shape 24">
            <a:extLst>
              <a:ext uri="{FF2B5EF4-FFF2-40B4-BE49-F238E27FC236}">
                <a16:creationId xmlns:a16="http://schemas.microsoft.com/office/drawing/2014/main" id="{184417E0-487A-E38C-AFD3-6642A7670025}"/>
              </a:ext>
            </a:extLst>
          </p:cNvPr>
          <p:cNvSpPr/>
          <p:nvPr/>
        </p:nvSpPr>
        <p:spPr>
          <a:xfrm>
            <a:off x="365760" y="4328907"/>
            <a:ext cx="5486400" cy="755904"/>
          </a:xfrm>
          <a:prstGeom prst="rect">
            <a:avLst/>
          </a:prstGeom>
          <a:solidFill>
            <a:srgbClr val="FFFFFF"/>
          </a:solidFill>
          <a:ln w="16510">
            <a:solidFill>
              <a:srgbClr val="00B0F0"/>
            </a:solidFill>
            <a:prstDash val="solid"/>
          </a:ln>
          <a:effectLst/>
        </p:spPr>
        <p:txBody>
          <a:bodyPr/>
          <a:lstStyle/>
          <a:p>
            <a:endParaRPr lang="en-IN" sz="2400">
              <a:latin typeface="Lato" panose="020F0502020204030203" pitchFamily="34" charset="0"/>
              <a:ea typeface="Lato" panose="020F0502020204030203" pitchFamily="34" charset="0"/>
              <a:cs typeface="Lato" panose="020F0502020204030203" pitchFamily="34" charset="0"/>
            </a:endParaRPr>
          </a:p>
        </p:txBody>
      </p:sp>
      <p:sp>
        <p:nvSpPr>
          <p:cNvPr id="46" name="Shape 25">
            <a:extLst>
              <a:ext uri="{FF2B5EF4-FFF2-40B4-BE49-F238E27FC236}">
                <a16:creationId xmlns:a16="http://schemas.microsoft.com/office/drawing/2014/main" id="{7FFD3047-63FE-67F5-0837-BF793C4D9E1A}"/>
              </a:ext>
            </a:extLst>
          </p:cNvPr>
          <p:cNvSpPr/>
          <p:nvPr/>
        </p:nvSpPr>
        <p:spPr>
          <a:xfrm>
            <a:off x="365760" y="4287154"/>
            <a:ext cx="73152" cy="755904"/>
          </a:xfrm>
          <a:prstGeom prst="rect">
            <a:avLst/>
          </a:prstGeom>
          <a:solidFill>
            <a:srgbClr val="00B0F0"/>
          </a:solidFill>
          <a:ln/>
        </p:spPr>
        <p:txBody>
          <a:bodyPr/>
          <a:lstStyle/>
          <a:p>
            <a:endParaRPr lang="en-IN" sz="2400">
              <a:latin typeface="Lato" panose="020F0502020204030203" pitchFamily="34" charset="0"/>
              <a:ea typeface="Lato" panose="020F0502020204030203" pitchFamily="34" charset="0"/>
              <a:cs typeface="Lato" panose="020F0502020204030203" pitchFamily="34" charset="0"/>
            </a:endParaRPr>
          </a:p>
        </p:txBody>
      </p:sp>
      <p:sp>
        <p:nvSpPr>
          <p:cNvPr id="47" name="Text 26">
            <a:extLst>
              <a:ext uri="{FF2B5EF4-FFF2-40B4-BE49-F238E27FC236}">
                <a16:creationId xmlns:a16="http://schemas.microsoft.com/office/drawing/2014/main" id="{DBCE289E-7526-8503-2F6B-DDA28CD4F098}"/>
              </a:ext>
            </a:extLst>
          </p:cNvPr>
          <p:cNvSpPr/>
          <p:nvPr/>
        </p:nvSpPr>
        <p:spPr>
          <a:xfrm>
            <a:off x="512064" y="4348114"/>
            <a:ext cx="975360" cy="633984"/>
          </a:xfrm>
          <a:prstGeom prst="rect">
            <a:avLst/>
          </a:prstGeom>
          <a:noFill/>
          <a:ln/>
        </p:spPr>
        <p:txBody>
          <a:bodyPr wrap="square" rtlCol="0" anchor="ctr"/>
          <a:lstStyle/>
          <a:p>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Comm</a:t>
            </a:r>
            <a:endParaRPr lang="en-US" sz="1400">
              <a:solidFill>
                <a:srgbClr val="0070C0"/>
              </a:solidFill>
              <a:latin typeface="Lato" panose="020F0502020204030203" pitchFamily="34" charset="0"/>
              <a:ea typeface="Lato" panose="020F0502020204030203" pitchFamily="34" charset="0"/>
              <a:cs typeface="Lato" panose="020F0502020204030203" pitchFamily="34" charset="0"/>
            </a:endParaRPr>
          </a:p>
        </p:txBody>
      </p:sp>
      <p:sp>
        <p:nvSpPr>
          <p:cNvPr id="48" name="Text 27">
            <a:extLst>
              <a:ext uri="{FF2B5EF4-FFF2-40B4-BE49-F238E27FC236}">
                <a16:creationId xmlns:a16="http://schemas.microsoft.com/office/drawing/2014/main" id="{2A77CC07-89EE-E297-2A5F-F3C3F918D00F}"/>
              </a:ext>
            </a:extLst>
          </p:cNvPr>
          <p:cNvSpPr/>
          <p:nvPr/>
        </p:nvSpPr>
        <p:spPr>
          <a:xfrm>
            <a:off x="1584960" y="4320404"/>
            <a:ext cx="4145280" cy="292608"/>
          </a:xfrm>
          <a:prstGeom prst="rect">
            <a:avLst/>
          </a:prstGeom>
          <a:noFill/>
          <a:ln/>
        </p:spPr>
        <p:txBody>
          <a:bodyPr wrap="square" rtlCol="0" anchor="ctr"/>
          <a:lstStyle/>
          <a:p>
            <a:r>
              <a:rPr lang="en-US" sz="1400" b="1">
                <a:latin typeface="Lato" panose="020F0502020204030203" pitchFamily="34" charset="0"/>
                <a:ea typeface="Lato" panose="020F0502020204030203" pitchFamily="34" charset="0"/>
                <a:cs typeface="Lato" panose="020F0502020204030203" pitchFamily="34" charset="0"/>
              </a:rPr>
              <a:t>CAN-FD (5Mbps) + LIN (19.2kbps)</a:t>
            </a:r>
            <a:endParaRPr lang="en-US" sz="1400">
              <a:latin typeface="Lato" panose="020F0502020204030203" pitchFamily="34" charset="0"/>
              <a:ea typeface="Lato" panose="020F0502020204030203" pitchFamily="34" charset="0"/>
              <a:cs typeface="Lato" panose="020F0502020204030203" pitchFamily="34" charset="0"/>
            </a:endParaRPr>
          </a:p>
        </p:txBody>
      </p:sp>
      <p:sp>
        <p:nvSpPr>
          <p:cNvPr id="49" name="Text 28">
            <a:extLst>
              <a:ext uri="{FF2B5EF4-FFF2-40B4-BE49-F238E27FC236}">
                <a16:creationId xmlns:a16="http://schemas.microsoft.com/office/drawing/2014/main" id="{DE4B7651-869D-74FA-E25D-B78153274BDD}"/>
              </a:ext>
            </a:extLst>
          </p:cNvPr>
          <p:cNvSpPr/>
          <p:nvPr/>
        </p:nvSpPr>
        <p:spPr>
          <a:xfrm>
            <a:off x="1584960" y="4637396"/>
            <a:ext cx="4145280" cy="341376"/>
          </a:xfrm>
          <a:prstGeom prst="rect">
            <a:avLst/>
          </a:prstGeom>
          <a:noFill/>
          <a:ln/>
        </p:spPr>
        <p:txBody>
          <a:bodyPr wrap="square" rtlCol="0" anchor="ctr"/>
          <a:lstStyle/>
          <a:p>
            <a:r>
              <a:rPr lang="en-US" sz="1100">
                <a:solidFill>
                  <a:srgbClr val="6B7280"/>
                </a:solidFill>
                <a:latin typeface="Lato" panose="020F0502020204030203" pitchFamily="34" charset="0"/>
                <a:ea typeface="Lato" panose="020F0502020204030203" pitchFamily="34" charset="0"/>
                <a:cs typeface="Lato" panose="020F0502020204030203" pitchFamily="34" charset="0"/>
              </a:rPr>
              <a:t>Wake-up capable; Ignition trigger from vehicle ECU</a:t>
            </a:r>
            <a:endParaRPr lang="en-US" sz="1100">
              <a:latin typeface="Lato" panose="020F0502020204030203" pitchFamily="34" charset="0"/>
              <a:ea typeface="Lato" panose="020F0502020204030203" pitchFamily="34" charset="0"/>
              <a:cs typeface="Lato" panose="020F0502020204030203" pitchFamily="34" charset="0"/>
            </a:endParaRPr>
          </a:p>
        </p:txBody>
      </p:sp>
      <p:sp>
        <p:nvSpPr>
          <p:cNvPr id="50" name="Shape 29">
            <a:extLst>
              <a:ext uri="{FF2B5EF4-FFF2-40B4-BE49-F238E27FC236}">
                <a16:creationId xmlns:a16="http://schemas.microsoft.com/office/drawing/2014/main" id="{EF4580E1-37A7-9B46-CDB2-AF0385E848F9}"/>
              </a:ext>
            </a:extLst>
          </p:cNvPr>
          <p:cNvSpPr/>
          <p:nvPr/>
        </p:nvSpPr>
        <p:spPr>
          <a:xfrm>
            <a:off x="6096000" y="1287922"/>
            <a:ext cx="5730240" cy="365760"/>
          </a:xfrm>
          <a:prstGeom prst="rect">
            <a:avLst/>
          </a:prstGeom>
          <a:solidFill>
            <a:srgbClr val="0070C0"/>
          </a:solidFill>
          <a:ln/>
        </p:spPr>
        <p:txBody>
          <a:bodyPr/>
          <a:lstStyle/>
          <a:p>
            <a:endParaRPr lang="en-IN" sz="2400">
              <a:latin typeface="Lato" panose="020F0502020204030203" pitchFamily="34" charset="0"/>
              <a:ea typeface="Lato" panose="020F0502020204030203" pitchFamily="34" charset="0"/>
              <a:cs typeface="Lato" panose="020F0502020204030203" pitchFamily="34" charset="0"/>
            </a:endParaRPr>
          </a:p>
        </p:txBody>
      </p:sp>
      <p:sp>
        <p:nvSpPr>
          <p:cNvPr id="51" name="Text 30">
            <a:extLst>
              <a:ext uri="{FF2B5EF4-FFF2-40B4-BE49-F238E27FC236}">
                <a16:creationId xmlns:a16="http://schemas.microsoft.com/office/drawing/2014/main" id="{49C99349-FED4-9F13-6E4D-39EEFEE5B934}"/>
              </a:ext>
            </a:extLst>
          </p:cNvPr>
          <p:cNvSpPr/>
          <p:nvPr/>
        </p:nvSpPr>
        <p:spPr>
          <a:xfrm>
            <a:off x="6096000" y="1287922"/>
            <a:ext cx="5730240" cy="365760"/>
          </a:xfrm>
          <a:prstGeom prst="rect">
            <a:avLst/>
          </a:prstGeom>
          <a:noFill/>
          <a:ln/>
        </p:spPr>
        <p:txBody>
          <a:bodyPr wrap="square" rtlCol="0" anchor="ctr"/>
          <a:lstStyle/>
          <a:p>
            <a:pPr algn="ctr"/>
            <a:r>
              <a:rPr lang="en-US" sz="1400" b="1">
                <a:solidFill>
                  <a:srgbClr val="FFFFFF"/>
                </a:solidFill>
                <a:latin typeface="Lato" panose="020F0502020204030203" pitchFamily="34" charset="0"/>
                <a:ea typeface="Lato" panose="020F0502020204030203" pitchFamily="34" charset="0"/>
                <a:cs typeface="Lato" panose="020F0502020204030203" pitchFamily="34" charset="0"/>
              </a:rPr>
              <a:t>6 THERMAL DOMAINS</a:t>
            </a:r>
            <a:endParaRPr lang="en-US" sz="1400">
              <a:latin typeface="Lato" panose="020F0502020204030203" pitchFamily="34" charset="0"/>
              <a:ea typeface="Lato" panose="020F0502020204030203" pitchFamily="34" charset="0"/>
              <a:cs typeface="Lato" panose="020F0502020204030203" pitchFamily="34" charset="0"/>
            </a:endParaRPr>
          </a:p>
        </p:txBody>
      </p:sp>
      <p:sp>
        <p:nvSpPr>
          <p:cNvPr id="52" name="Shape 31">
            <a:extLst>
              <a:ext uri="{FF2B5EF4-FFF2-40B4-BE49-F238E27FC236}">
                <a16:creationId xmlns:a16="http://schemas.microsoft.com/office/drawing/2014/main" id="{78ED5064-2E51-5586-DAD0-DCD0FA42DAF1}"/>
              </a:ext>
            </a:extLst>
          </p:cNvPr>
          <p:cNvSpPr/>
          <p:nvPr/>
        </p:nvSpPr>
        <p:spPr>
          <a:xfrm>
            <a:off x="6096000" y="1726834"/>
            <a:ext cx="2804160" cy="1024128"/>
          </a:xfrm>
          <a:prstGeom prst="rect">
            <a:avLst/>
          </a:prstGeom>
          <a:solidFill>
            <a:srgbClr val="FFFFFF"/>
          </a:solidFill>
          <a:ln w="6350">
            <a:solidFill>
              <a:schemeClr val="tx2">
                <a:lumMod val="25000"/>
                <a:lumOff val="75000"/>
              </a:schemeClr>
            </a:solidFill>
            <a:prstDash val="solid"/>
          </a:ln>
          <a:effectLst/>
        </p:spPr>
        <p:txBody>
          <a:bodyPr/>
          <a:lstStyle/>
          <a:p>
            <a:endParaRPr lang="en-IN" sz="2400">
              <a:latin typeface="Lato" panose="020F0502020204030203" pitchFamily="34" charset="0"/>
              <a:ea typeface="Lato" panose="020F0502020204030203" pitchFamily="34" charset="0"/>
              <a:cs typeface="Lato" panose="020F0502020204030203" pitchFamily="34" charset="0"/>
            </a:endParaRPr>
          </a:p>
        </p:txBody>
      </p:sp>
      <p:sp>
        <p:nvSpPr>
          <p:cNvPr id="53" name="Text 32">
            <a:extLst>
              <a:ext uri="{FF2B5EF4-FFF2-40B4-BE49-F238E27FC236}">
                <a16:creationId xmlns:a16="http://schemas.microsoft.com/office/drawing/2014/main" id="{ACCBD1F8-3B20-F3BE-6557-0C5632BADD6D}"/>
              </a:ext>
            </a:extLst>
          </p:cNvPr>
          <p:cNvSpPr/>
          <p:nvPr/>
        </p:nvSpPr>
        <p:spPr>
          <a:xfrm>
            <a:off x="6096000" y="1726834"/>
            <a:ext cx="2804160" cy="341376"/>
          </a:xfrm>
          <a:prstGeom prst="rect">
            <a:avLst/>
          </a:prstGeom>
          <a:solidFill>
            <a:schemeClr val="accent1">
              <a:lumMod val="60000"/>
              <a:lumOff val="40000"/>
            </a:schemeClr>
          </a:solidFill>
          <a:ln/>
        </p:spPr>
        <p:txBody>
          <a:bodyPr wrap="square" rtlCol="0" anchor="ctr"/>
          <a:lstStyle/>
          <a:p>
            <a:pPr algn="ctr"/>
            <a:r>
              <a:rPr lang="en-US" sz="1067" b="1">
                <a:solidFill>
                  <a:srgbClr val="FFFFFF"/>
                </a:solidFill>
                <a:latin typeface="Lato" panose="020F0502020204030203" pitchFamily="34" charset="0"/>
                <a:ea typeface="Lato" panose="020F0502020204030203" pitchFamily="34" charset="0"/>
                <a:cs typeface="Lato" panose="020F0502020204030203" pitchFamily="34" charset="0"/>
              </a:rPr>
              <a:t>Battery Thermal</a:t>
            </a:r>
            <a:r>
              <a:rPr lang="en-US" sz="1067">
                <a:latin typeface="Lato" panose="020F0502020204030203" pitchFamily="34" charset="0"/>
                <a:ea typeface="Lato" panose="020F0502020204030203" pitchFamily="34" charset="0"/>
                <a:cs typeface="Lato" panose="020F0502020204030203" pitchFamily="34" charset="0"/>
              </a:rPr>
              <a:t> </a:t>
            </a:r>
            <a:r>
              <a:rPr lang="en-US" sz="1067" b="1">
                <a:solidFill>
                  <a:srgbClr val="FFFFFF"/>
                </a:solidFill>
                <a:latin typeface="Lato" panose="020F0502020204030203" pitchFamily="34" charset="0"/>
                <a:ea typeface="Lato" panose="020F0502020204030203" pitchFamily="34" charset="0"/>
                <a:cs typeface="Lato" panose="020F0502020204030203" pitchFamily="34" charset="0"/>
              </a:rPr>
              <a:t>Management</a:t>
            </a:r>
            <a:endParaRPr lang="en-US" sz="1067">
              <a:latin typeface="Lato" panose="020F0502020204030203" pitchFamily="34" charset="0"/>
              <a:ea typeface="Lato" panose="020F0502020204030203" pitchFamily="34" charset="0"/>
              <a:cs typeface="Lato" panose="020F0502020204030203" pitchFamily="34" charset="0"/>
            </a:endParaRPr>
          </a:p>
        </p:txBody>
      </p:sp>
      <p:sp>
        <p:nvSpPr>
          <p:cNvPr id="54" name="Text 33">
            <a:extLst>
              <a:ext uri="{FF2B5EF4-FFF2-40B4-BE49-F238E27FC236}">
                <a16:creationId xmlns:a16="http://schemas.microsoft.com/office/drawing/2014/main" id="{361A7804-0E6E-C439-9536-2577B4B67D4E}"/>
              </a:ext>
            </a:extLst>
          </p:cNvPr>
          <p:cNvSpPr/>
          <p:nvPr/>
        </p:nvSpPr>
        <p:spPr>
          <a:xfrm>
            <a:off x="6193536" y="2116978"/>
            <a:ext cx="2609088" cy="585216"/>
          </a:xfrm>
          <a:prstGeom prst="rect">
            <a:avLst/>
          </a:prstGeom>
          <a:noFill/>
          <a:ln/>
        </p:spPr>
        <p:txBody>
          <a:bodyPr wrap="square" rtlCol="0" anchor="ctr"/>
          <a:lstStyle/>
          <a:p>
            <a:pPr algn="ctr"/>
            <a:r>
              <a:rPr lang="en-US" sz="1100">
                <a:solidFill>
                  <a:srgbClr val="1F2937"/>
                </a:solidFill>
                <a:latin typeface="Lato" panose="020F0502020204030203" pitchFamily="34" charset="0"/>
                <a:ea typeface="Lato" panose="020F0502020204030203" pitchFamily="34" charset="0"/>
                <a:cs typeface="Lato" panose="020F0502020204030203" pitchFamily="34" charset="0"/>
              </a:rPr>
              <a:t>Setpoint ±2°C,</a:t>
            </a:r>
            <a:endParaRPr lang="en-US" sz="1100">
              <a:latin typeface="Lato" panose="020F0502020204030203" pitchFamily="34" charset="0"/>
              <a:ea typeface="Lato" panose="020F0502020204030203" pitchFamily="34" charset="0"/>
              <a:cs typeface="Lato" panose="020F0502020204030203" pitchFamily="34" charset="0"/>
            </a:endParaRPr>
          </a:p>
          <a:p>
            <a:pPr algn="ctr"/>
            <a:r>
              <a:rPr lang="en-US" sz="1100">
                <a:solidFill>
                  <a:srgbClr val="1F2937"/>
                </a:solidFill>
                <a:latin typeface="Lato" panose="020F0502020204030203" pitchFamily="34" charset="0"/>
                <a:ea typeface="Lato" panose="020F0502020204030203" pitchFamily="34" charset="0"/>
                <a:cs typeface="Lato" panose="020F0502020204030203" pitchFamily="34" charset="0"/>
              </a:rPr>
              <a:t>Pre-conditioning</a:t>
            </a:r>
            <a:endParaRPr lang="en-US" sz="1100">
              <a:latin typeface="Lato" panose="020F0502020204030203" pitchFamily="34" charset="0"/>
              <a:ea typeface="Lato" panose="020F0502020204030203" pitchFamily="34" charset="0"/>
              <a:cs typeface="Lato" panose="020F0502020204030203" pitchFamily="34" charset="0"/>
            </a:endParaRPr>
          </a:p>
        </p:txBody>
      </p:sp>
      <p:sp>
        <p:nvSpPr>
          <p:cNvPr id="55" name="Shape 34">
            <a:extLst>
              <a:ext uri="{FF2B5EF4-FFF2-40B4-BE49-F238E27FC236}">
                <a16:creationId xmlns:a16="http://schemas.microsoft.com/office/drawing/2014/main" id="{15B60948-C216-D7B0-05C7-A65B7CE7BB3C}"/>
              </a:ext>
            </a:extLst>
          </p:cNvPr>
          <p:cNvSpPr/>
          <p:nvPr/>
        </p:nvSpPr>
        <p:spPr>
          <a:xfrm>
            <a:off x="8961120" y="1726834"/>
            <a:ext cx="2804160" cy="1024128"/>
          </a:xfrm>
          <a:prstGeom prst="rect">
            <a:avLst/>
          </a:prstGeom>
          <a:solidFill>
            <a:srgbClr val="FFFFFF"/>
          </a:solidFill>
          <a:ln w="6350">
            <a:solidFill>
              <a:schemeClr val="tx2">
                <a:lumMod val="25000"/>
                <a:lumOff val="75000"/>
              </a:schemeClr>
            </a:solidFill>
            <a:prstDash val="solid"/>
          </a:ln>
          <a:effectLst/>
        </p:spPr>
        <p:txBody>
          <a:bodyPr/>
          <a:lstStyle/>
          <a:p>
            <a:endParaRPr lang="en-IN" sz="2400">
              <a:latin typeface="Lato" panose="020F0502020204030203" pitchFamily="34" charset="0"/>
              <a:ea typeface="Lato" panose="020F0502020204030203" pitchFamily="34" charset="0"/>
              <a:cs typeface="Lato" panose="020F0502020204030203" pitchFamily="34" charset="0"/>
            </a:endParaRPr>
          </a:p>
        </p:txBody>
      </p:sp>
      <p:sp>
        <p:nvSpPr>
          <p:cNvPr id="56" name="Text 35">
            <a:extLst>
              <a:ext uri="{FF2B5EF4-FFF2-40B4-BE49-F238E27FC236}">
                <a16:creationId xmlns:a16="http://schemas.microsoft.com/office/drawing/2014/main" id="{8AC91BAC-B651-4CA0-D60C-F70FA8A92CB0}"/>
              </a:ext>
            </a:extLst>
          </p:cNvPr>
          <p:cNvSpPr/>
          <p:nvPr/>
        </p:nvSpPr>
        <p:spPr>
          <a:xfrm>
            <a:off x="8961120" y="1726834"/>
            <a:ext cx="2804160" cy="341376"/>
          </a:xfrm>
          <a:prstGeom prst="rect">
            <a:avLst/>
          </a:prstGeom>
          <a:solidFill>
            <a:srgbClr val="00B0F0"/>
          </a:solidFill>
          <a:ln/>
        </p:spPr>
        <p:txBody>
          <a:bodyPr wrap="square" rtlCol="0" anchor="ctr"/>
          <a:lstStyle/>
          <a:p>
            <a:pPr algn="ctr"/>
            <a:r>
              <a:rPr lang="en-US" sz="1067" b="1">
                <a:solidFill>
                  <a:srgbClr val="FFFFFF"/>
                </a:solidFill>
                <a:latin typeface="Lato" panose="020F0502020204030203" pitchFamily="34" charset="0"/>
                <a:ea typeface="Lato" panose="020F0502020204030203" pitchFamily="34" charset="0"/>
                <a:cs typeface="Lato" panose="020F0502020204030203" pitchFamily="34" charset="0"/>
              </a:rPr>
              <a:t>Power Electronics</a:t>
            </a:r>
            <a:r>
              <a:rPr lang="en-US" sz="1067">
                <a:latin typeface="Lato" panose="020F0502020204030203" pitchFamily="34" charset="0"/>
                <a:ea typeface="Lato" panose="020F0502020204030203" pitchFamily="34" charset="0"/>
                <a:cs typeface="Lato" panose="020F0502020204030203" pitchFamily="34" charset="0"/>
              </a:rPr>
              <a:t> </a:t>
            </a:r>
            <a:r>
              <a:rPr lang="en-US" sz="1067" b="1">
                <a:solidFill>
                  <a:srgbClr val="FFFFFF"/>
                </a:solidFill>
                <a:latin typeface="Lato" panose="020F0502020204030203" pitchFamily="34" charset="0"/>
                <a:ea typeface="Lato" panose="020F0502020204030203" pitchFamily="34" charset="0"/>
                <a:cs typeface="Lato" panose="020F0502020204030203" pitchFamily="34" charset="0"/>
              </a:rPr>
              <a:t>Cooling</a:t>
            </a:r>
            <a:endParaRPr lang="en-US" sz="1067">
              <a:latin typeface="Lato" panose="020F0502020204030203" pitchFamily="34" charset="0"/>
              <a:ea typeface="Lato" panose="020F0502020204030203" pitchFamily="34" charset="0"/>
              <a:cs typeface="Lato" panose="020F0502020204030203" pitchFamily="34" charset="0"/>
            </a:endParaRPr>
          </a:p>
        </p:txBody>
      </p:sp>
      <p:sp>
        <p:nvSpPr>
          <p:cNvPr id="57" name="Text 36">
            <a:extLst>
              <a:ext uri="{FF2B5EF4-FFF2-40B4-BE49-F238E27FC236}">
                <a16:creationId xmlns:a16="http://schemas.microsoft.com/office/drawing/2014/main" id="{F71237F1-183F-7DE3-7034-949B1F0CB003}"/>
              </a:ext>
            </a:extLst>
          </p:cNvPr>
          <p:cNvSpPr/>
          <p:nvPr/>
        </p:nvSpPr>
        <p:spPr>
          <a:xfrm>
            <a:off x="9058656" y="2116978"/>
            <a:ext cx="2609088" cy="585216"/>
          </a:xfrm>
          <a:prstGeom prst="rect">
            <a:avLst/>
          </a:prstGeom>
          <a:noFill/>
          <a:ln/>
        </p:spPr>
        <p:txBody>
          <a:bodyPr wrap="square" rtlCol="0" anchor="ctr"/>
          <a:lstStyle/>
          <a:p>
            <a:pPr algn="ctr"/>
            <a:r>
              <a:rPr lang="en-US" sz="1100">
                <a:solidFill>
                  <a:srgbClr val="1F2937"/>
                </a:solidFill>
                <a:latin typeface="Lato" panose="020F0502020204030203" pitchFamily="34" charset="0"/>
                <a:ea typeface="Lato" panose="020F0502020204030203" pitchFamily="34" charset="0"/>
                <a:cs typeface="Lato" panose="020F0502020204030203" pitchFamily="34" charset="0"/>
              </a:rPr>
              <a:t>Inverter/DC-DC</a:t>
            </a:r>
            <a:endParaRPr lang="en-US" sz="1100">
              <a:latin typeface="Lato" panose="020F0502020204030203" pitchFamily="34" charset="0"/>
              <a:ea typeface="Lato" panose="020F0502020204030203" pitchFamily="34" charset="0"/>
              <a:cs typeface="Lato" panose="020F0502020204030203" pitchFamily="34" charset="0"/>
            </a:endParaRPr>
          </a:p>
          <a:p>
            <a:pPr algn="ctr"/>
            <a:r>
              <a:rPr lang="en-US" sz="1100">
                <a:solidFill>
                  <a:srgbClr val="1F2937"/>
                </a:solidFill>
                <a:latin typeface="Lato" panose="020F0502020204030203" pitchFamily="34" charset="0"/>
                <a:ea typeface="Lato" panose="020F0502020204030203" pitchFamily="34" charset="0"/>
                <a:cs typeface="Lato" panose="020F0502020204030203" pitchFamily="34" charset="0"/>
              </a:rPr>
              <a:t>&lt;80°C</a:t>
            </a:r>
            <a:endParaRPr lang="en-US" sz="1100">
              <a:latin typeface="Lato" panose="020F0502020204030203" pitchFamily="34" charset="0"/>
              <a:ea typeface="Lato" panose="020F0502020204030203" pitchFamily="34" charset="0"/>
              <a:cs typeface="Lato" panose="020F0502020204030203" pitchFamily="34" charset="0"/>
            </a:endParaRPr>
          </a:p>
        </p:txBody>
      </p:sp>
      <p:sp>
        <p:nvSpPr>
          <p:cNvPr id="58" name="Shape 37">
            <a:extLst>
              <a:ext uri="{FF2B5EF4-FFF2-40B4-BE49-F238E27FC236}">
                <a16:creationId xmlns:a16="http://schemas.microsoft.com/office/drawing/2014/main" id="{0D162588-9278-3A3D-C393-EDD42F063790}"/>
              </a:ext>
            </a:extLst>
          </p:cNvPr>
          <p:cNvSpPr/>
          <p:nvPr/>
        </p:nvSpPr>
        <p:spPr>
          <a:xfrm>
            <a:off x="6096000" y="2848498"/>
            <a:ext cx="2804160" cy="1024128"/>
          </a:xfrm>
          <a:prstGeom prst="rect">
            <a:avLst/>
          </a:prstGeom>
          <a:solidFill>
            <a:srgbClr val="FFFFFF"/>
          </a:solidFill>
          <a:ln w="6350">
            <a:solidFill>
              <a:schemeClr val="tx2">
                <a:lumMod val="25000"/>
                <a:lumOff val="75000"/>
              </a:schemeClr>
            </a:solidFill>
            <a:prstDash val="solid"/>
          </a:ln>
          <a:effectLst/>
        </p:spPr>
        <p:txBody>
          <a:bodyPr/>
          <a:lstStyle/>
          <a:p>
            <a:endParaRPr lang="en-IN" sz="2400">
              <a:latin typeface="Lato" panose="020F0502020204030203" pitchFamily="34" charset="0"/>
              <a:ea typeface="Lato" panose="020F0502020204030203" pitchFamily="34" charset="0"/>
              <a:cs typeface="Lato" panose="020F0502020204030203" pitchFamily="34" charset="0"/>
            </a:endParaRPr>
          </a:p>
        </p:txBody>
      </p:sp>
      <p:sp>
        <p:nvSpPr>
          <p:cNvPr id="59" name="Text 38">
            <a:extLst>
              <a:ext uri="{FF2B5EF4-FFF2-40B4-BE49-F238E27FC236}">
                <a16:creationId xmlns:a16="http://schemas.microsoft.com/office/drawing/2014/main" id="{3C155200-FF1C-DB9A-4C85-76471EACA704}"/>
              </a:ext>
            </a:extLst>
          </p:cNvPr>
          <p:cNvSpPr/>
          <p:nvPr/>
        </p:nvSpPr>
        <p:spPr>
          <a:xfrm>
            <a:off x="6096000" y="2848498"/>
            <a:ext cx="2804160" cy="341376"/>
          </a:xfrm>
          <a:prstGeom prst="rect">
            <a:avLst/>
          </a:prstGeom>
          <a:solidFill>
            <a:schemeClr val="tx2">
              <a:lumMod val="50000"/>
              <a:lumOff val="50000"/>
            </a:schemeClr>
          </a:solidFill>
          <a:ln/>
        </p:spPr>
        <p:txBody>
          <a:bodyPr wrap="square" rtlCol="0" anchor="ctr"/>
          <a:lstStyle/>
          <a:p>
            <a:pPr algn="ctr"/>
            <a:r>
              <a:rPr lang="en-US" sz="1067" b="1">
                <a:solidFill>
                  <a:srgbClr val="FFFFFF"/>
                </a:solidFill>
                <a:latin typeface="Lato" panose="020F0502020204030203" pitchFamily="34" charset="0"/>
                <a:ea typeface="Lato" panose="020F0502020204030203" pitchFamily="34" charset="0"/>
                <a:cs typeface="Lato" panose="020F0502020204030203" pitchFamily="34" charset="0"/>
              </a:rPr>
              <a:t>Motor &amp; Drivetrain</a:t>
            </a:r>
            <a:endParaRPr lang="en-US" sz="1067">
              <a:latin typeface="Lato" panose="020F0502020204030203" pitchFamily="34" charset="0"/>
              <a:ea typeface="Lato" panose="020F0502020204030203" pitchFamily="34" charset="0"/>
              <a:cs typeface="Lato" panose="020F0502020204030203" pitchFamily="34" charset="0"/>
            </a:endParaRPr>
          </a:p>
          <a:p>
            <a:pPr algn="ctr"/>
            <a:r>
              <a:rPr lang="en-US" sz="1067" b="1">
                <a:solidFill>
                  <a:srgbClr val="FFFFFF"/>
                </a:solidFill>
                <a:latin typeface="Lato" panose="020F0502020204030203" pitchFamily="34" charset="0"/>
                <a:ea typeface="Lato" panose="020F0502020204030203" pitchFamily="34" charset="0"/>
                <a:cs typeface="Lato" panose="020F0502020204030203" pitchFamily="34" charset="0"/>
              </a:rPr>
              <a:t>Thermal</a:t>
            </a:r>
            <a:endParaRPr lang="en-US" sz="1067">
              <a:latin typeface="Lato" panose="020F0502020204030203" pitchFamily="34" charset="0"/>
              <a:ea typeface="Lato" panose="020F0502020204030203" pitchFamily="34" charset="0"/>
              <a:cs typeface="Lato" panose="020F0502020204030203" pitchFamily="34" charset="0"/>
            </a:endParaRPr>
          </a:p>
        </p:txBody>
      </p:sp>
      <p:sp>
        <p:nvSpPr>
          <p:cNvPr id="60" name="Text 39">
            <a:extLst>
              <a:ext uri="{FF2B5EF4-FFF2-40B4-BE49-F238E27FC236}">
                <a16:creationId xmlns:a16="http://schemas.microsoft.com/office/drawing/2014/main" id="{6F94A2AE-8A5F-4497-E7B4-3C7B1AFE58BD}"/>
              </a:ext>
            </a:extLst>
          </p:cNvPr>
          <p:cNvSpPr/>
          <p:nvPr/>
        </p:nvSpPr>
        <p:spPr>
          <a:xfrm>
            <a:off x="6193536" y="3238642"/>
            <a:ext cx="2609088" cy="585216"/>
          </a:xfrm>
          <a:prstGeom prst="rect">
            <a:avLst/>
          </a:prstGeom>
          <a:noFill/>
          <a:ln/>
        </p:spPr>
        <p:txBody>
          <a:bodyPr wrap="square" rtlCol="0" anchor="ctr"/>
          <a:lstStyle/>
          <a:p>
            <a:pPr algn="ctr"/>
            <a:r>
              <a:rPr lang="en-US" sz="1100">
                <a:solidFill>
                  <a:srgbClr val="1F2937"/>
                </a:solidFill>
                <a:latin typeface="Lato" panose="020F0502020204030203" pitchFamily="34" charset="0"/>
                <a:ea typeface="Lato" panose="020F0502020204030203" pitchFamily="34" charset="0"/>
                <a:cs typeface="Lato" panose="020F0502020204030203" pitchFamily="34" charset="0"/>
              </a:rPr>
              <a:t>E-motor coolant</a:t>
            </a:r>
            <a:endParaRPr lang="en-US" sz="1100">
              <a:latin typeface="Lato" panose="020F0502020204030203" pitchFamily="34" charset="0"/>
              <a:ea typeface="Lato" panose="020F0502020204030203" pitchFamily="34" charset="0"/>
              <a:cs typeface="Lato" panose="020F0502020204030203" pitchFamily="34" charset="0"/>
            </a:endParaRPr>
          </a:p>
          <a:p>
            <a:pPr algn="ctr"/>
            <a:r>
              <a:rPr lang="en-US" sz="1100">
                <a:solidFill>
                  <a:srgbClr val="1F2937"/>
                </a:solidFill>
                <a:latin typeface="Lato" panose="020F0502020204030203" pitchFamily="34" charset="0"/>
                <a:ea typeface="Lato" panose="020F0502020204030203" pitchFamily="34" charset="0"/>
                <a:cs typeface="Lato" panose="020F0502020204030203" pitchFamily="34" charset="0"/>
              </a:rPr>
              <a:t>regulation</a:t>
            </a:r>
            <a:endParaRPr lang="en-US" sz="1100">
              <a:latin typeface="Lato" panose="020F0502020204030203" pitchFamily="34" charset="0"/>
              <a:ea typeface="Lato" panose="020F0502020204030203" pitchFamily="34" charset="0"/>
              <a:cs typeface="Lato" panose="020F0502020204030203" pitchFamily="34" charset="0"/>
            </a:endParaRPr>
          </a:p>
        </p:txBody>
      </p:sp>
      <p:sp>
        <p:nvSpPr>
          <p:cNvPr id="61" name="Shape 40">
            <a:extLst>
              <a:ext uri="{FF2B5EF4-FFF2-40B4-BE49-F238E27FC236}">
                <a16:creationId xmlns:a16="http://schemas.microsoft.com/office/drawing/2014/main" id="{32792617-18F8-489D-915D-6FF0BD1E20DC}"/>
              </a:ext>
            </a:extLst>
          </p:cNvPr>
          <p:cNvSpPr/>
          <p:nvPr/>
        </p:nvSpPr>
        <p:spPr>
          <a:xfrm>
            <a:off x="8961120" y="2848498"/>
            <a:ext cx="2804160" cy="1024128"/>
          </a:xfrm>
          <a:prstGeom prst="rect">
            <a:avLst/>
          </a:prstGeom>
          <a:solidFill>
            <a:srgbClr val="FFFFFF"/>
          </a:solidFill>
          <a:ln w="6350">
            <a:solidFill>
              <a:schemeClr val="tx2">
                <a:lumMod val="25000"/>
                <a:lumOff val="75000"/>
              </a:schemeClr>
            </a:solidFill>
            <a:prstDash val="solid"/>
          </a:ln>
          <a:effectLst/>
        </p:spPr>
        <p:txBody>
          <a:bodyPr/>
          <a:lstStyle/>
          <a:p>
            <a:endParaRPr lang="en-IN" sz="2400">
              <a:latin typeface="Lato" panose="020F0502020204030203" pitchFamily="34" charset="0"/>
              <a:ea typeface="Lato" panose="020F0502020204030203" pitchFamily="34" charset="0"/>
              <a:cs typeface="Lato" panose="020F0502020204030203" pitchFamily="34" charset="0"/>
            </a:endParaRPr>
          </a:p>
        </p:txBody>
      </p:sp>
      <p:sp>
        <p:nvSpPr>
          <p:cNvPr id="62" name="Text 41">
            <a:extLst>
              <a:ext uri="{FF2B5EF4-FFF2-40B4-BE49-F238E27FC236}">
                <a16:creationId xmlns:a16="http://schemas.microsoft.com/office/drawing/2014/main" id="{F0A59D6B-7787-70AD-095F-87A1130CC85A}"/>
              </a:ext>
            </a:extLst>
          </p:cNvPr>
          <p:cNvSpPr/>
          <p:nvPr/>
        </p:nvSpPr>
        <p:spPr>
          <a:xfrm>
            <a:off x="8961120" y="2848498"/>
            <a:ext cx="2804160" cy="341376"/>
          </a:xfrm>
          <a:prstGeom prst="rect">
            <a:avLst/>
          </a:prstGeom>
          <a:solidFill>
            <a:srgbClr val="0070C0"/>
          </a:solidFill>
          <a:ln/>
        </p:spPr>
        <p:txBody>
          <a:bodyPr wrap="square" rtlCol="0" anchor="ctr"/>
          <a:lstStyle/>
          <a:p>
            <a:pPr algn="ctr"/>
            <a:r>
              <a:rPr lang="en-US" sz="1067" b="1">
                <a:solidFill>
                  <a:srgbClr val="FFFFFF"/>
                </a:solidFill>
                <a:latin typeface="Lato" panose="020F0502020204030203" pitchFamily="34" charset="0"/>
                <a:ea typeface="Lato" panose="020F0502020204030203" pitchFamily="34" charset="0"/>
                <a:cs typeface="Lato" panose="020F0502020204030203" pitchFamily="34" charset="0"/>
              </a:rPr>
              <a:t>HV Charging</a:t>
            </a:r>
            <a:r>
              <a:rPr lang="en-US" sz="1067">
                <a:latin typeface="Lato" panose="020F0502020204030203" pitchFamily="34" charset="0"/>
                <a:ea typeface="Lato" panose="020F0502020204030203" pitchFamily="34" charset="0"/>
                <a:cs typeface="Lato" panose="020F0502020204030203" pitchFamily="34" charset="0"/>
              </a:rPr>
              <a:t> </a:t>
            </a:r>
            <a:r>
              <a:rPr lang="en-US" sz="1067" b="1">
                <a:solidFill>
                  <a:srgbClr val="FFFFFF"/>
                </a:solidFill>
                <a:latin typeface="Lato" panose="020F0502020204030203" pitchFamily="34" charset="0"/>
                <a:ea typeface="Lato" panose="020F0502020204030203" pitchFamily="34" charset="0"/>
                <a:cs typeface="Lato" panose="020F0502020204030203" pitchFamily="34" charset="0"/>
              </a:rPr>
              <a:t>Thermal</a:t>
            </a:r>
            <a:endParaRPr lang="en-US" sz="1067">
              <a:latin typeface="Lato" panose="020F0502020204030203" pitchFamily="34" charset="0"/>
              <a:ea typeface="Lato" panose="020F0502020204030203" pitchFamily="34" charset="0"/>
              <a:cs typeface="Lato" panose="020F0502020204030203" pitchFamily="34" charset="0"/>
            </a:endParaRPr>
          </a:p>
        </p:txBody>
      </p:sp>
      <p:sp>
        <p:nvSpPr>
          <p:cNvPr id="63" name="Text 42">
            <a:extLst>
              <a:ext uri="{FF2B5EF4-FFF2-40B4-BE49-F238E27FC236}">
                <a16:creationId xmlns:a16="http://schemas.microsoft.com/office/drawing/2014/main" id="{87F6EC86-A213-B455-242B-178587207D2F}"/>
              </a:ext>
            </a:extLst>
          </p:cNvPr>
          <p:cNvSpPr/>
          <p:nvPr/>
        </p:nvSpPr>
        <p:spPr>
          <a:xfrm>
            <a:off x="9058656" y="3238642"/>
            <a:ext cx="2609088" cy="585216"/>
          </a:xfrm>
          <a:prstGeom prst="rect">
            <a:avLst/>
          </a:prstGeom>
          <a:noFill/>
          <a:ln/>
        </p:spPr>
        <p:txBody>
          <a:bodyPr wrap="square" rtlCol="0" anchor="ctr"/>
          <a:lstStyle/>
          <a:p>
            <a:pPr algn="ctr"/>
            <a:r>
              <a:rPr lang="en-US" sz="1100">
                <a:solidFill>
                  <a:srgbClr val="1F2937"/>
                </a:solidFill>
                <a:latin typeface="Lato" panose="020F0502020204030203" pitchFamily="34" charset="0"/>
                <a:ea typeface="Lato" panose="020F0502020204030203" pitchFamily="34" charset="0"/>
                <a:cs typeface="Lato" panose="020F0502020204030203" pitchFamily="34" charset="0"/>
              </a:rPr>
              <a:t>Fast-charge</a:t>
            </a:r>
            <a:endParaRPr lang="en-US" sz="1100">
              <a:latin typeface="Lato" panose="020F0502020204030203" pitchFamily="34" charset="0"/>
              <a:ea typeface="Lato" panose="020F0502020204030203" pitchFamily="34" charset="0"/>
              <a:cs typeface="Lato" panose="020F0502020204030203" pitchFamily="34" charset="0"/>
            </a:endParaRPr>
          </a:p>
          <a:p>
            <a:pPr algn="ctr"/>
            <a:r>
              <a:rPr lang="en-US" sz="1100">
                <a:solidFill>
                  <a:srgbClr val="1F2937"/>
                </a:solidFill>
                <a:latin typeface="Lato" panose="020F0502020204030203" pitchFamily="34" charset="0"/>
                <a:ea typeface="Lato" panose="020F0502020204030203" pitchFamily="34" charset="0"/>
                <a:cs typeface="Lato" panose="020F0502020204030203" pitchFamily="34" charset="0"/>
              </a:rPr>
              <a:t>cooling strategy</a:t>
            </a:r>
            <a:endParaRPr lang="en-US" sz="1100">
              <a:latin typeface="Lato" panose="020F0502020204030203" pitchFamily="34" charset="0"/>
              <a:ea typeface="Lato" panose="020F0502020204030203" pitchFamily="34" charset="0"/>
              <a:cs typeface="Lato" panose="020F0502020204030203" pitchFamily="34" charset="0"/>
            </a:endParaRPr>
          </a:p>
        </p:txBody>
      </p:sp>
      <p:sp>
        <p:nvSpPr>
          <p:cNvPr id="64" name="Shape 43">
            <a:extLst>
              <a:ext uri="{FF2B5EF4-FFF2-40B4-BE49-F238E27FC236}">
                <a16:creationId xmlns:a16="http://schemas.microsoft.com/office/drawing/2014/main" id="{C1FB64B6-B436-6597-B22B-A25D8F43FA3C}"/>
              </a:ext>
            </a:extLst>
          </p:cNvPr>
          <p:cNvSpPr/>
          <p:nvPr/>
        </p:nvSpPr>
        <p:spPr>
          <a:xfrm>
            <a:off x="6096000" y="3970162"/>
            <a:ext cx="2804160" cy="1024128"/>
          </a:xfrm>
          <a:prstGeom prst="rect">
            <a:avLst/>
          </a:prstGeom>
          <a:solidFill>
            <a:srgbClr val="FFFFFF"/>
          </a:solidFill>
          <a:ln w="6350">
            <a:solidFill>
              <a:schemeClr val="tx2">
                <a:lumMod val="25000"/>
                <a:lumOff val="75000"/>
              </a:schemeClr>
            </a:solidFill>
            <a:prstDash val="solid"/>
          </a:ln>
          <a:effectLst/>
        </p:spPr>
        <p:txBody>
          <a:bodyPr/>
          <a:lstStyle/>
          <a:p>
            <a:endParaRPr lang="en-IN" sz="2400">
              <a:latin typeface="Lato" panose="020F0502020204030203" pitchFamily="34" charset="0"/>
              <a:ea typeface="Lato" panose="020F0502020204030203" pitchFamily="34" charset="0"/>
              <a:cs typeface="Lato" panose="020F0502020204030203" pitchFamily="34" charset="0"/>
            </a:endParaRPr>
          </a:p>
        </p:txBody>
      </p:sp>
      <p:sp>
        <p:nvSpPr>
          <p:cNvPr id="65" name="Text 44">
            <a:extLst>
              <a:ext uri="{FF2B5EF4-FFF2-40B4-BE49-F238E27FC236}">
                <a16:creationId xmlns:a16="http://schemas.microsoft.com/office/drawing/2014/main" id="{DF54AF40-C739-583D-331D-4B08A3F9C7B1}"/>
              </a:ext>
            </a:extLst>
          </p:cNvPr>
          <p:cNvSpPr/>
          <p:nvPr/>
        </p:nvSpPr>
        <p:spPr>
          <a:xfrm>
            <a:off x="6096000" y="3970162"/>
            <a:ext cx="2804160" cy="341376"/>
          </a:xfrm>
          <a:prstGeom prst="rect">
            <a:avLst/>
          </a:prstGeom>
          <a:solidFill>
            <a:schemeClr val="tx2">
              <a:lumMod val="75000"/>
              <a:lumOff val="25000"/>
            </a:schemeClr>
          </a:solidFill>
          <a:ln/>
        </p:spPr>
        <p:txBody>
          <a:bodyPr wrap="square" rtlCol="0" anchor="ctr"/>
          <a:lstStyle/>
          <a:p>
            <a:pPr algn="ctr"/>
            <a:r>
              <a:rPr lang="en-US" sz="1067" b="1">
                <a:solidFill>
                  <a:srgbClr val="FFFFFF"/>
                </a:solidFill>
                <a:latin typeface="Lato" panose="020F0502020204030203" pitchFamily="34" charset="0"/>
                <a:ea typeface="Lato" panose="020F0502020204030203" pitchFamily="34" charset="0"/>
                <a:cs typeface="Lato" panose="020F0502020204030203" pitchFamily="34" charset="0"/>
              </a:rPr>
              <a:t>Cabin HVAC</a:t>
            </a:r>
            <a:r>
              <a:rPr lang="en-US" sz="1067">
                <a:latin typeface="Lato" panose="020F0502020204030203" pitchFamily="34" charset="0"/>
                <a:ea typeface="Lato" panose="020F0502020204030203" pitchFamily="34" charset="0"/>
                <a:cs typeface="Lato" panose="020F0502020204030203" pitchFamily="34" charset="0"/>
              </a:rPr>
              <a:t> </a:t>
            </a:r>
            <a:r>
              <a:rPr lang="en-US" sz="1067" b="1">
                <a:solidFill>
                  <a:srgbClr val="FFFFFF"/>
                </a:solidFill>
                <a:latin typeface="Lato" panose="020F0502020204030203" pitchFamily="34" charset="0"/>
                <a:ea typeface="Lato" panose="020F0502020204030203" pitchFamily="34" charset="0"/>
                <a:cs typeface="Lato" panose="020F0502020204030203" pitchFamily="34" charset="0"/>
              </a:rPr>
              <a:t>Integration</a:t>
            </a:r>
            <a:endParaRPr lang="en-US" sz="1067">
              <a:latin typeface="Lato" panose="020F0502020204030203" pitchFamily="34" charset="0"/>
              <a:ea typeface="Lato" panose="020F0502020204030203" pitchFamily="34" charset="0"/>
              <a:cs typeface="Lato" panose="020F0502020204030203" pitchFamily="34" charset="0"/>
            </a:endParaRPr>
          </a:p>
        </p:txBody>
      </p:sp>
      <p:sp>
        <p:nvSpPr>
          <p:cNvPr id="66" name="Text 45">
            <a:extLst>
              <a:ext uri="{FF2B5EF4-FFF2-40B4-BE49-F238E27FC236}">
                <a16:creationId xmlns:a16="http://schemas.microsoft.com/office/drawing/2014/main" id="{E246FC1C-9164-AA17-5EFE-74FE40ECFB69}"/>
              </a:ext>
            </a:extLst>
          </p:cNvPr>
          <p:cNvSpPr/>
          <p:nvPr/>
        </p:nvSpPr>
        <p:spPr>
          <a:xfrm>
            <a:off x="6193536" y="4360306"/>
            <a:ext cx="2609088" cy="585216"/>
          </a:xfrm>
          <a:prstGeom prst="rect">
            <a:avLst/>
          </a:prstGeom>
          <a:noFill/>
          <a:ln/>
        </p:spPr>
        <p:txBody>
          <a:bodyPr wrap="square" rtlCol="0" anchor="ctr"/>
          <a:lstStyle/>
          <a:p>
            <a:pPr algn="ctr"/>
            <a:r>
              <a:rPr lang="en-US" sz="1100">
                <a:solidFill>
                  <a:srgbClr val="1F2937"/>
                </a:solidFill>
                <a:latin typeface="Lato" panose="020F0502020204030203" pitchFamily="34" charset="0"/>
                <a:ea typeface="Lato" panose="020F0502020204030203" pitchFamily="34" charset="0"/>
                <a:cs typeface="Lato" panose="020F0502020204030203" pitchFamily="34" charset="0"/>
              </a:rPr>
              <a:t>Passenger comfort</a:t>
            </a:r>
            <a:endParaRPr lang="en-US" sz="1100">
              <a:latin typeface="Lato" panose="020F0502020204030203" pitchFamily="34" charset="0"/>
              <a:ea typeface="Lato" panose="020F0502020204030203" pitchFamily="34" charset="0"/>
              <a:cs typeface="Lato" panose="020F0502020204030203" pitchFamily="34" charset="0"/>
            </a:endParaRPr>
          </a:p>
          <a:p>
            <a:pPr algn="ctr"/>
            <a:r>
              <a:rPr lang="en-US" sz="1100">
                <a:solidFill>
                  <a:srgbClr val="1F2937"/>
                </a:solidFill>
                <a:latin typeface="Lato" panose="020F0502020204030203" pitchFamily="34" charset="0"/>
                <a:ea typeface="Lato" panose="020F0502020204030203" pitchFamily="34" charset="0"/>
                <a:cs typeface="Lato" panose="020F0502020204030203" pitchFamily="34" charset="0"/>
              </a:rPr>
              <a:t>coordination</a:t>
            </a:r>
            <a:endParaRPr lang="en-US" sz="1100">
              <a:latin typeface="Lato" panose="020F0502020204030203" pitchFamily="34" charset="0"/>
              <a:ea typeface="Lato" panose="020F0502020204030203" pitchFamily="34" charset="0"/>
              <a:cs typeface="Lato" panose="020F0502020204030203" pitchFamily="34" charset="0"/>
            </a:endParaRPr>
          </a:p>
        </p:txBody>
      </p:sp>
      <p:sp>
        <p:nvSpPr>
          <p:cNvPr id="67" name="Shape 46">
            <a:extLst>
              <a:ext uri="{FF2B5EF4-FFF2-40B4-BE49-F238E27FC236}">
                <a16:creationId xmlns:a16="http://schemas.microsoft.com/office/drawing/2014/main" id="{08D34AA6-2487-D665-7F9E-D10439300C6C}"/>
              </a:ext>
            </a:extLst>
          </p:cNvPr>
          <p:cNvSpPr/>
          <p:nvPr/>
        </p:nvSpPr>
        <p:spPr>
          <a:xfrm>
            <a:off x="8961120" y="3970162"/>
            <a:ext cx="2804160" cy="1024128"/>
          </a:xfrm>
          <a:prstGeom prst="rect">
            <a:avLst/>
          </a:prstGeom>
          <a:solidFill>
            <a:srgbClr val="FFFFFF"/>
          </a:solidFill>
          <a:ln w="6350">
            <a:solidFill>
              <a:schemeClr val="tx2">
                <a:lumMod val="25000"/>
                <a:lumOff val="75000"/>
              </a:schemeClr>
            </a:solidFill>
            <a:prstDash val="solid"/>
          </a:ln>
          <a:effectLst/>
        </p:spPr>
        <p:txBody>
          <a:bodyPr/>
          <a:lstStyle/>
          <a:p>
            <a:endParaRPr lang="en-IN" sz="2400">
              <a:latin typeface="Lato" panose="020F0502020204030203" pitchFamily="34" charset="0"/>
              <a:ea typeface="Lato" panose="020F0502020204030203" pitchFamily="34" charset="0"/>
              <a:cs typeface="Lato" panose="020F0502020204030203" pitchFamily="34" charset="0"/>
            </a:endParaRPr>
          </a:p>
        </p:txBody>
      </p:sp>
      <p:sp>
        <p:nvSpPr>
          <p:cNvPr id="68" name="Text 47">
            <a:extLst>
              <a:ext uri="{FF2B5EF4-FFF2-40B4-BE49-F238E27FC236}">
                <a16:creationId xmlns:a16="http://schemas.microsoft.com/office/drawing/2014/main" id="{BE23F659-7C22-45A8-E800-42AA4D0E2DAB}"/>
              </a:ext>
            </a:extLst>
          </p:cNvPr>
          <p:cNvSpPr/>
          <p:nvPr/>
        </p:nvSpPr>
        <p:spPr>
          <a:xfrm>
            <a:off x="8961120" y="3970162"/>
            <a:ext cx="2804160" cy="341376"/>
          </a:xfrm>
          <a:prstGeom prst="rect">
            <a:avLst/>
          </a:prstGeom>
          <a:solidFill>
            <a:schemeClr val="tx2">
              <a:lumMod val="90000"/>
              <a:lumOff val="10000"/>
            </a:schemeClr>
          </a:solidFill>
          <a:ln/>
        </p:spPr>
        <p:txBody>
          <a:bodyPr wrap="square" rtlCol="0" anchor="ctr"/>
          <a:lstStyle/>
          <a:p>
            <a:pPr algn="ctr"/>
            <a:r>
              <a:rPr lang="en-US" sz="1067" b="1">
                <a:solidFill>
                  <a:srgbClr val="FFFFFF"/>
                </a:solidFill>
                <a:latin typeface="Lato" panose="020F0502020204030203" pitchFamily="34" charset="0"/>
                <a:ea typeface="Lato" panose="020F0502020204030203" pitchFamily="34" charset="0"/>
                <a:cs typeface="Lato" panose="020F0502020204030203" pitchFamily="34" charset="0"/>
              </a:rPr>
              <a:t>Safety &amp;</a:t>
            </a:r>
            <a:r>
              <a:rPr lang="en-US" sz="1067">
                <a:latin typeface="Lato" panose="020F0502020204030203" pitchFamily="34" charset="0"/>
                <a:ea typeface="Lato" panose="020F0502020204030203" pitchFamily="34" charset="0"/>
                <a:cs typeface="Lato" panose="020F0502020204030203" pitchFamily="34" charset="0"/>
              </a:rPr>
              <a:t> </a:t>
            </a:r>
            <a:r>
              <a:rPr lang="en-US" sz="1067" b="1">
                <a:solidFill>
                  <a:srgbClr val="FFFFFF"/>
                </a:solidFill>
                <a:latin typeface="Lato" panose="020F0502020204030203" pitchFamily="34" charset="0"/>
                <a:ea typeface="Lato" panose="020F0502020204030203" pitchFamily="34" charset="0"/>
                <a:cs typeface="Lato" panose="020F0502020204030203" pitchFamily="34" charset="0"/>
              </a:rPr>
              <a:t>Diagnostics</a:t>
            </a:r>
            <a:endParaRPr lang="en-US" sz="1067">
              <a:latin typeface="Lato" panose="020F0502020204030203" pitchFamily="34" charset="0"/>
              <a:ea typeface="Lato" panose="020F0502020204030203" pitchFamily="34" charset="0"/>
              <a:cs typeface="Lato" panose="020F0502020204030203" pitchFamily="34" charset="0"/>
            </a:endParaRPr>
          </a:p>
        </p:txBody>
      </p:sp>
      <p:sp>
        <p:nvSpPr>
          <p:cNvPr id="69" name="Text 48">
            <a:extLst>
              <a:ext uri="{FF2B5EF4-FFF2-40B4-BE49-F238E27FC236}">
                <a16:creationId xmlns:a16="http://schemas.microsoft.com/office/drawing/2014/main" id="{7F0F2D87-CA4D-1A1D-0E2D-5F42D3BFD892}"/>
              </a:ext>
            </a:extLst>
          </p:cNvPr>
          <p:cNvSpPr/>
          <p:nvPr/>
        </p:nvSpPr>
        <p:spPr>
          <a:xfrm>
            <a:off x="9058656" y="4360306"/>
            <a:ext cx="2609088" cy="585216"/>
          </a:xfrm>
          <a:prstGeom prst="rect">
            <a:avLst/>
          </a:prstGeom>
          <a:noFill/>
          <a:ln/>
        </p:spPr>
        <p:txBody>
          <a:bodyPr wrap="square" rtlCol="0" anchor="ctr"/>
          <a:lstStyle/>
          <a:p>
            <a:pPr algn="ctr"/>
            <a:r>
              <a:rPr lang="en-US" sz="1100">
                <a:solidFill>
                  <a:srgbClr val="1F2937"/>
                </a:solidFill>
                <a:latin typeface="Lato" panose="020F0502020204030203" pitchFamily="34" charset="0"/>
                <a:ea typeface="Lato" panose="020F0502020204030203" pitchFamily="34" charset="0"/>
                <a:cs typeface="Lato" panose="020F0502020204030203" pitchFamily="34" charset="0"/>
              </a:rPr>
              <a:t>Overtemp protection</a:t>
            </a:r>
            <a:endParaRPr lang="en-US" sz="1100">
              <a:latin typeface="Lato" panose="020F0502020204030203" pitchFamily="34" charset="0"/>
              <a:ea typeface="Lato" panose="020F0502020204030203" pitchFamily="34" charset="0"/>
              <a:cs typeface="Lato" panose="020F0502020204030203" pitchFamily="34" charset="0"/>
            </a:endParaRPr>
          </a:p>
          <a:p>
            <a:pPr algn="ctr"/>
            <a:r>
              <a:rPr lang="en-US" sz="1100">
                <a:solidFill>
                  <a:srgbClr val="1F2937"/>
                </a:solidFill>
                <a:latin typeface="Lato" panose="020F0502020204030203" pitchFamily="34" charset="0"/>
                <a:ea typeface="Lato" panose="020F0502020204030203" pitchFamily="34" charset="0"/>
                <a:cs typeface="Lato" panose="020F0502020204030203" pitchFamily="34" charset="0"/>
              </a:rPr>
              <a:t>&lt;500ms</a:t>
            </a:r>
            <a:endParaRPr lang="en-US" sz="1100">
              <a:latin typeface="Lato" panose="020F0502020204030203" pitchFamily="34" charset="0"/>
              <a:ea typeface="Lato" panose="020F0502020204030203" pitchFamily="34" charset="0"/>
              <a:cs typeface="Lato" panose="020F0502020204030203" pitchFamily="34" charset="0"/>
            </a:endParaRPr>
          </a:p>
        </p:txBody>
      </p:sp>
      <p:sp>
        <p:nvSpPr>
          <p:cNvPr id="70" name="Text 49">
            <a:extLst>
              <a:ext uri="{FF2B5EF4-FFF2-40B4-BE49-F238E27FC236}">
                <a16:creationId xmlns:a16="http://schemas.microsoft.com/office/drawing/2014/main" id="{3D11BF87-FC1A-0365-7B6F-86FD38EA42D6}"/>
              </a:ext>
            </a:extLst>
          </p:cNvPr>
          <p:cNvSpPr/>
          <p:nvPr/>
        </p:nvSpPr>
        <p:spPr>
          <a:xfrm>
            <a:off x="365760" y="5236824"/>
            <a:ext cx="11460480" cy="390144"/>
          </a:xfrm>
          <a:prstGeom prst="rect">
            <a:avLst/>
          </a:prstGeom>
          <a:noFill/>
          <a:ln/>
        </p:spPr>
        <p:txBody>
          <a:bodyPr wrap="square" rtlCol="0" anchor="ctr"/>
          <a:lstStyle/>
          <a:p>
            <a:pPr algn="ctr"/>
            <a:r>
              <a:rPr lang="en-US" sz="1200" i="1">
                <a:latin typeface="Lato" panose="020F0502020204030203" pitchFamily="34" charset="0"/>
                <a:ea typeface="Lato" panose="020F0502020204030203" pitchFamily="34" charset="0"/>
                <a:cs typeface="Lato" panose="020F0502020204030203" pitchFamily="34" charset="0"/>
              </a:rPr>
              <a:t>Complete thermal management across all BEV subsystems with real-time control and safety monitoring</a:t>
            </a:r>
            <a:endParaRPr lang="en-US" sz="120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9960592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FB1CD-94B5-43F0-586F-829BA39EE0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2849EB-3414-ADB9-CA52-83D9B4860E8E}"/>
              </a:ext>
            </a:extLst>
          </p:cNvPr>
          <p:cNvSpPr>
            <a:spLocks noGrp="1"/>
          </p:cNvSpPr>
          <p:nvPr>
            <p:ph type="title"/>
          </p:nvPr>
        </p:nvSpPr>
        <p:spPr>
          <a:xfrm>
            <a:off x="285205" y="145616"/>
            <a:ext cx="12616408" cy="701330"/>
          </a:xfrm>
        </p:spPr>
        <p:txBody>
          <a:bodyPr>
            <a:normAutofit/>
          </a:bodyPr>
          <a:lstStyle/>
          <a:p>
            <a:r>
              <a:rPr lang="en-US">
                <a:cs typeface="Roboto" panose="02000000000000000000" pitchFamily="2" charset="0"/>
              </a:rPr>
              <a:t>TMM ECU V&amp;V &amp; DFMEA Overview</a:t>
            </a:r>
            <a:endParaRPr lang="en-IN">
              <a:cs typeface="Roboto" panose="02000000000000000000" pitchFamily="2" charset="0"/>
            </a:endParaRPr>
          </a:p>
        </p:txBody>
      </p:sp>
      <p:pic>
        <p:nvPicPr>
          <p:cNvPr id="3" name="Picture 2">
            <a:extLst>
              <a:ext uri="{FF2B5EF4-FFF2-40B4-BE49-F238E27FC236}">
                <a16:creationId xmlns:a16="http://schemas.microsoft.com/office/drawing/2014/main" id="{62EF97A9-BD17-7F2C-81B9-900F0AE0A35C}"/>
              </a:ext>
            </a:extLst>
          </p:cNvPr>
          <p:cNvPicPr>
            <a:picLocks noChangeAspect="1"/>
          </p:cNvPicPr>
          <p:nvPr/>
        </p:nvPicPr>
        <p:blipFill>
          <a:blip r:embed="rId2"/>
          <a:stretch>
            <a:fillRect/>
          </a:stretch>
        </p:blipFill>
        <p:spPr>
          <a:xfrm>
            <a:off x="427769" y="1176726"/>
            <a:ext cx="11336462" cy="4834328"/>
          </a:xfrm>
          <a:prstGeom prst="rect">
            <a:avLst/>
          </a:prstGeom>
        </p:spPr>
      </p:pic>
      <p:sp>
        <p:nvSpPr>
          <p:cNvPr id="5" name="TextBox 4">
            <a:extLst>
              <a:ext uri="{FF2B5EF4-FFF2-40B4-BE49-F238E27FC236}">
                <a16:creationId xmlns:a16="http://schemas.microsoft.com/office/drawing/2014/main" id="{E68FF452-8FBE-F8DB-F4E5-09BE18241113}"/>
              </a:ext>
            </a:extLst>
          </p:cNvPr>
          <p:cNvSpPr txBox="1"/>
          <p:nvPr/>
        </p:nvSpPr>
        <p:spPr>
          <a:xfrm>
            <a:off x="1428535" y="1368400"/>
            <a:ext cx="2180492" cy="338554"/>
          </a:xfrm>
          <a:prstGeom prst="rect">
            <a:avLst/>
          </a:prstGeom>
          <a:noFill/>
        </p:spPr>
        <p:txBody>
          <a:bodyPr wrap="square" rtlCol="0">
            <a:spAutoFit/>
          </a:bodyPr>
          <a:lstStyle/>
          <a:p>
            <a:r>
              <a:rPr lang="en-US" sz="1600" b="1">
                <a:solidFill>
                  <a:schemeClr val="bg1"/>
                </a:solidFill>
                <a:latin typeface="Lato" panose="020F0502020204030203" pitchFamily="34" charset="0"/>
                <a:ea typeface="Lato" panose="020F0502020204030203" pitchFamily="34" charset="0"/>
                <a:cs typeface="Lato" panose="020F0502020204030203" pitchFamily="34" charset="0"/>
              </a:rPr>
              <a:t>Purpose</a:t>
            </a:r>
            <a:endParaRPr lang="en-US" sz="160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6" name="TextBox 5">
            <a:extLst>
              <a:ext uri="{FF2B5EF4-FFF2-40B4-BE49-F238E27FC236}">
                <a16:creationId xmlns:a16="http://schemas.microsoft.com/office/drawing/2014/main" id="{61696132-A799-EB96-C27F-1AE7D62B7A61}"/>
              </a:ext>
            </a:extLst>
          </p:cNvPr>
          <p:cNvSpPr txBox="1"/>
          <p:nvPr/>
        </p:nvSpPr>
        <p:spPr>
          <a:xfrm>
            <a:off x="1428535" y="5559295"/>
            <a:ext cx="2180492" cy="338554"/>
          </a:xfrm>
          <a:prstGeom prst="rect">
            <a:avLst/>
          </a:prstGeom>
          <a:noFill/>
        </p:spPr>
        <p:txBody>
          <a:bodyPr wrap="square" rtlCol="0">
            <a:spAutoFit/>
          </a:bodyPr>
          <a:lstStyle/>
          <a:p>
            <a:r>
              <a:rPr lang="en-US" sz="1600" b="1">
                <a:solidFill>
                  <a:schemeClr val="bg1"/>
                </a:solidFill>
                <a:latin typeface="Lato" panose="020F0502020204030203" pitchFamily="34" charset="0"/>
                <a:ea typeface="Lato" panose="020F0502020204030203" pitchFamily="34" charset="0"/>
                <a:cs typeface="Lato" panose="020F0502020204030203" pitchFamily="34" charset="0"/>
              </a:rPr>
              <a:t>Scope</a:t>
            </a:r>
            <a:endParaRPr lang="en-US" sz="160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7" name="TextBox 6">
            <a:extLst>
              <a:ext uri="{FF2B5EF4-FFF2-40B4-BE49-F238E27FC236}">
                <a16:creationId xmlns:a16="http://schemas.microsoft.com/office/drawing/2014/main" id="{B3666633-D296-DCDB-47F5-B87CD8CB5868}"/>
              </a:ext>
            </a:extLst>
          </p:cNvPr>
          <p:cNvSpPr txBox="1"/>
          <p:nvPr/>
        </p:nvSpPr>
        <p:spPr>
          <a:xfrm>
            <a:off x="8582975" y="1368400"/>
            <a:ext cx="2180492" cy="338554"/>
          </a:xfrm>
          <a:prstGeom prst="rect">
            <a:avLst/>
          </a:prstGeom>
          <a:noFill/>
        </p:spPr>
        <p:txBody>
          <a:bodyPr wrap="square" rtlCol="0">
            <a:spAutoFit/>
          </a:bodyPr>
          <a:lstStyle/>
          <a:p>
            <a:r>
              <a:rPr lang="en-US" sz="1600" b="1">
                <a:solidFill>
                  <a:schemeClr val="bg1"/>
                </a:solidFill>
                <a:latin typeface="Lato" panose="020F0502020204030203" pitchFamily="34" charset="0"/>
                <a:ea typeface="Lato" panose="020F0502020204030203" pitchFamily="34" charset="0"/>
                <a:cs typeface="Lato" panose="020F0502020204030203" pitchFamily="34" charset="0"/>
              </a:rPr>
              <a:t>Method</a:t>
            </a:r>
          </a:p>
        </p:txBody>
      </p:sp>
      <p:sp>
        <p:nvSpPr>
          <p:cNvPr id="8" name="TextBox 7">
            <a:extLst>
              <a:ext uri="{FF2B5EF4-FFF2-40B4-BE49-F238E27FC236}">
                <a16:creationId xmlns:a16="http://schemas.microsoft.com/office/drawing/2014/main" id="{9D5A7A5C-A58C-4F4C-F460-8A5EC834A6F1}"/>
              </a:ext>
            </a:extLst>
          </p:cNvPr>
          <p:cNvSpPr txBox="1"/>
          <p:nvPr/>
        </p:nvSpPr>
        <p:spPr>
          <a:xfrm>
            <a:off x="8582975" y="5562356"/>
            <a:ext cx="2180492" cy="338554"/>
          </a:xfrm>
          <a:prstGeom prst="rect">
            <a:avLst/>
          </a:prstGeom>
          <a:noFill/>
        </p:spPr>
        <p:txBody>
          <a:bodyPr wrap="square" rtlCol="0">
            <a:spAutoFit/>
          </a:bodyPr>
          <a:lstStyle/>
          <a:p>
            <a:r>
              <a:rPr lang="en-US" sz="1600" b="1">
                <a:solidFill>
                  <a:schemeClr val="bg1"/>
                </a:solidFill>
                <a:latin typeface="Lato" panose="020F0502020204030203" pitchFamily="34" charset="0"/>
                <a:ea typeface="Lato" panose="020F0502020204030203" pitchFamily="34" charset="0"/>
                <a:cs typeface="Lato" panose="020F0502020204030203" pitchFamily="34" charset="0"/>
              </a:rPr>
              <a:t>Focus</a:t>
            </a:r>
            <a:endParaRPr lang="en-US" sz="160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9" name="TextBox 8">
            <a:extLst>
              <a:ext uri="{FF2B5EF4-FFF2-40B4-BE49-F238E27FC236}">
                <a16:creationId xmlns:a16="http://schemas.microsoft.com/office/drawing/2014/main" id="{B82E86B6-D2F7-2D2D-E84B-63467BBEE15C}"/>
              </a:ext>
            </a:extLst>
          </p:cNvPr>
          <p:cNvSpPr txBox="1"/>
          <p:nvPr/>
        </p:nvSpPr>
        <p:spPr>
          <a:xfrm>
            <a:off x="1268758" y="1900322"/>
            <a:ext cx="2180492" cy="830997"/>
          </a:xfrm>
          <a:prstGeom prst="rect">
            <a:avLst/>
          </a:prstGeom>
          <a:noFill/>
        </p:spPr>
        <p:txBody>
          <a:bodyPr wrap="square" rtlCol="0">
            <a:spAutoFit/>
          </a:bodyPr>
          <a:lstStyle/>
          <a:p>
            <a:r>
              <a:rPr lang="en-US" sz="1200">
                <a:latin typeface="Lato" panose="020F0502020204030203" pitchFamily="34" charset="0"/>
                <a:ea typeface="Lato" panose="020F0502020204030203" pitchFamily="34" charset="0"/>
                <a:cs typeface="Lato" panose="020F0502020204030203" pitchFamily="34" charset="0"/>
              </a:rPr>
              <a:t>Prove the TMM ECU is functionally correct, safe, reliable and ready across all thermal domains.</a:t>
            </a:r>
          </a:p>
        </p:txBody>
      </p:sp>
      <p:sp>
        <p:nvSpPr>
          <p:cNvPr id="10" name="TextBox 9">
            <a:extLst>
              <a:ext uri="{FF2B5EF4-FFF2-40B4-BE49-F238E27FC236}">
                <a16:creationId xmlns:a16="http://schemas.microsoft.com/office/drawing/2014/main" id="{EBDF6215-4BD4-41EE-010B-D236C5E9A5CD}"/>
              </a:ext>
            </a:extLst>
          </p:cNvPr>
          <p:cNvSpPr txBox="1"/>
          <p:nvPr/>
        </p:nvSpPr>
        <p:spPr>
          <a:xfrm>
            <a:off x="1268758" y="3966105"/>
            <a:ext cx="2485524" cy="1384995"/>
          </a:xfrm>
          <a:prstGeom prst="rect">
            <a:avLst/>
          </a:prstGeom>
          <a:noFill/>
        </p:spPr>
        <p:txBody>
          <a:bodyPr wrap="square" rtlCol="0">
            <a:spAutoFit/>
          </a:bodyPr>
          <a:lstStyle/>
          <a:p>
            <a:r>
              <a:rPr lang="en-US" sz="1200">
                <a:latin typeface="Lato" panose="020F0502020204030203" pitchFamily="34" charset="0"/>
                <a:ea typeface="Lato" panose="020F0502020204030203" pitchFamily="34" charset="0"/>
                <a:cs typeface="Lato" panose="020F0502020204030203" pitchFamily="34" charset="0"/>
              </a:rPr>
              <a:t>ECU boot &amp; startup, power &amp; SBC, MCU core, CAN FD &amp; LIN, sensor interfaces, AUTOSAR BSW &amp; state management, flash &amp; memory, diagnostics &amp; cybersecurity — each linked to targeted tests.</a:t>
            </a:r>
          </a:p>
        </p:txBody>
      </p:sp>
      <p:sp>
        <p:nvSpPr>
          <p:cNvPr id="11" name="TextBox 10">
            <a:extLst>
              <a:ext uri="{FF2B5EF4-FFF2-40B4-BE49-F238E27FC236}">
                <a16:creationId xmlns:a16="http://schemas.microsoft.com/office/drawing/2014/main" id="{ED231BAB-A293-D4C9-7A32-7469E625891C}"/>
              </a:ext>
            </a:extLst>
          </p:cNvPr>
          <p:cNvSpPr txBox="1"/>
          <p:nvPr/>
        </p:nvSpPr>
        <p:spPr>
          <a:xfrm>
            <a:off x="8238745" y="1819656"/>
            <a:ext cx="3374136" cy="1200329"/>
          </a:xfrm>
          <a:prstGeom prst="rect">
            <a:avLst/>
          </a:prstGeom>
          <a:noFill/>
        </p:spPr>
        <p:txBody>
          <a:bodyPr wrap="square" rtlCol="0">
            <a:spAutoFit/>
          </a:bodyPr>
          <a:lstStyle/>
          <a:p>
            <a:r>
              <a:rPr lang="en-US" sz="1200">
                <a:latin typeface="Lato" panose="020F0502020204030203" pitchFamily="34" charset="0"/>
                <a:ea typeface="Lato" panose="020F0502020204030203" pitchFamily="34" charset="0"/>
                <a:cs typeface="Lato" panose="020F0502020204030203" pitchFamily="34" charset="0"/>
              </a:rPr>
              <a:t>DFMEA‑driven V&amp;V — identify failure modes, rate Severity/Occurrence/Detection, compute RPN, define safety mechanisms, and derive varied test suites with Extensive test cases traced to DFMEA and requirements, executed across EVT → DVT.</a:t>
            </a:r>
          </a:p>
        </p:txBody>
      </p:sp>
      <p:sp>
        <p:nvSpPr>
          <p:cNvPr id="12" name="TextBox 11">
            <a:extLst>
              <a:ext uri="{FF2B5EF4-FFF2-40B4-BE49-F238E27FC236}">
                <a16:creationId xmlns:a16="http://schemas.microsoft.com/office/drawing/2014/main" id="{41ECDF10-E405-39C1-3A2E-31AFA9ED3A89}"/>
              </a:ext>
            </a:extLst>
          </p:cNvPr>
          <p:cNvSpPr txBox="1"/>
          <p:nvPr/>
        </p:nvSpPr>
        <p:spPr>
          <a:xfrm>
            <a:off x="8479556" y="3966105"/>
            <a:ext cx="3133324" cy="1384995"/>
          </a:xfrm>
          <a:prstGeom prst="rect">
            <a:avLst/>
          </a:prstGeom>
          <a:noFill/>
        </p:spPr>
        <p:txBody>
          <a:bodyPr wrap="square" rtlCol="0">
            <a:spAutoFit/>
          </a:bodyPr>
          <a:lstStyle/>
          <a:p>
            <a:r>
              <a:rPr lang="en-US" sz="1200">
                <a:latin typeface="Lato" panose="020F0502020204030203" pitchFamily="34" charset="0"/>
                <a:ea typeface="Lato" panose="020F0502020204030203" pitchFamily="34" charset="0"/>
                <a:cs typeface="Lato" panose="020F0502020204030203" pitchFamily="34" charset="0"/>
              </a:rPr>
              <a:t>High‑RPN areas — sensor chain integrity, memory/calibration, power &amp; communication robustness, cybersecurity — are either designed out via safety mechanisms or verified out through dedicated tests; full DFMEA/RPN Excel is part of the evidence pack.</a:t>
            </a:r>
          </a:p>
        </p:txBody>
      </p:sp>
      <p:pic>
        <p:nvPicPr>
          <p:cNvPr id="13" name="Picture 12">
            <a:extLst>
              <a:ext uri="{FF2B5EF4-FFF2-40B4-BE49-F238E27FC236}">
                <a16:creationId xmlns:a16="http://schemas.microsoft.com/office/drawing/2014/main" id="{E1B3A178-28D0-F64A-EA93-A174EEC395A6}"/>
              </a:ext>
            </a:extLst>
          </p:cNvPr>
          <p:cNvPicPr>
            <a:picLocks noChangeAspect="1"/>
          </p:cNvPicPr>
          <p:nvPr/>
        </p:nvPicPr>
        <p:blipFill>
          <a:blip r:embed="rId3"/>
          <a:stretch>
            <a:fillRect/>
          </a:stretch>
        </p:blipFill>
        <p:spPr>
          <a:xfrm>
            <a:off x="4853238" y="2282738"/>
            <a:ext cx="2485524" cy="2591464"/>
          </a:xfrm>
          <a:prstGeom prst="rect">
            <a:avLst/>
          </a:prstGeom>
        </p:spPr>
      </p:pic>
    </p:spTree>
    <p:extLst>
      <p:ext uri="{BB962C8B-B14F-4D97-AF65-F5344CB8AC3E}">
        <p14:creationId xmlns:p14="http://schemas.microsoft.com/office/powerpoint/2010/main" val="5322247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BBD29-EC1D-95A1-4F3D-B9989C7C9E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F74062-1432-9A24-C5D9-D0819BFDAC30}"/>
              </a:ext>
            </a:extLst>
          </p:cNvPr>
          <p:cNvSpPr>
            <a:spLocks noGrp="1"/>
          </p:cNvSpPr>
          <p:nvPr>
            <p:ph type="title"/>
          </p:nvPr>
        </p:nvSpPr>
        <p:spPr>
          <a:xfrm>
            <a:off x="285205" y="145617"/>
            <a:ext cx="10926134" cy="576000"/>
          </a:xfrm>
        </p:spPr>
        <p:txBody>
          <a:bodyPr>
            <a:normAutofit/>
          </a:bodyPr>
          <a:lstStyle/>
          <a:p>
            <a:r>
              <a:rPr lang="en-US">
                <a:cs typeface="Roboto" panose="02000000000000000000" pitchFamily="2" charset="0"/>
              </a:rPr>
              <a:t>V&amp;V Strategy: Product Design → EVT → DVT </a:t>
            </a:r>
            <a:endParaRPr lang="en-IN">
              <a:cs typeface="Roboto" panose="02000000000000000000" pitchFamily="2" charset="0"/>
            </a:endParaRPr>
          </a:p>
        </p:txBody>
      </p:sp>
      <p:sp>
        <p:nvSpPr>
          <p:cNvPr id="4" name="Rectangle 3">
            <a:extLst>
              <a:ext uri="{FF2B5EF4-FFF2-40B4-BE49-F238E27FC236}">
                <a16:creationId xmlns:a16="http://schemas.microsoft.com/office/drawing/2014/main" id="{D2B82A8A-B3B9-9D7F-64F0-21229A91AEE1}"/>
              </a:ext>
            </a:extLst>
          </p:cNvPr>
          <p:cNvSpPr/>
          <p:nvPr/>
        </p:nvSpPr>
        <p:spPr>
          <a:xfrm>
            <a:off x="429850" y="4841985"/>
            <a:ext cx="11332300" cy="408245"/>
          </a:xfrm>
          <a:prstGeom prst="rect">
            <a:avLst/>
          </a:prstGeom>
          <a:solidFill>
            <a:schemeClr val="bg1"/>
          </a:solidFill>
          <a:ln>
            <a:noFill/>
          </a:ln>
          <a:effectLst>
            <a:outerShdw dist="25400" dir="5400000" algn="t" rotWithShape="0">
              <a:srgbClr val="00B0F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23B51E51-12A3-82C3-615D-2C9419DE802E}"/>
              </a:ext>
            </a:extLst>
          </p:cNvPr>
          <p:cNvGrpSpPr/>
          <p:nvPr/>
        </p:nvGrpSpPr>
        <p:grpSpPr>
          <a:xfrm>
            <a:off x="335672" y="1160313"/>
            <a:ext cx="11520657" cy="4471443"/>
            <a:chOff x="285205" y="2019299"/>
            <a:chExt cx="11520657" cy="4471443"/>
          </a:xfrm>
        </p:grpSpPr>
        <p:grpSp>
          <p:nvGrpSpPr>
            <p:cNvPr id="15" name="Group 14">
              <a:extLst>
                <a:ext uri="{FF2B5EF4-FFF2-40B4-BE49-F238E27FC236}">
                  <a16:creationId xmlns:a16="http://schemas.microsoft.com/office/drawing/2014/main" id="{EA467313-10A5-6AF0-9565-F6536A309F47}"/>
                </a:ext>
              </a:extLst>
            </p:cNvPr>
            <p:cNvGrpSpPr/>
            <p:nvPr/>
          </p:nvGrpSpPr>
          <p:grpSpPr>
            <a:xfrm>
              <a:off x="285205" y="2019299"/>
              <a:ext cx="3829595" cy="4471443"/>
              <a:chOff x="482600" y="832074"/>
              <a:chExt cx="5424161" cy="5760269"/>
            </a:xfrm>
          </p:grpSpPr>
          <p:sp>
            <p:nvSpPr>
              <p:cNvPr id="32" name="Freeform: Shape 2">
                <a:extLst>
                  <a:ext uri="{FF2B5EF4-FFF2-40B4-BE49-F238E27FC236}">
                    <a16:creationId xmlns:a16="http://schemas.microsoft.com/office/drawing/2014/main" id="{BF2FED1B-7479-31AF-178D-EB8FC608DA8A}"/>
                  </a:ext>
                </a:extLst>
              </p:cNvPr>
              <p:cNvSpPr/>
              <p:nvPr/>
            </p:nvSpPr>
            <p:spPr>
              <a:xfrm>
                <a:off x="1578716" y="832074"/>
                <a:ext cx="3231928" cy="952262"/>
              </a:xfrm>
              <a:custGeom>
                <a:avLst/>
                <a:gdLst>
                  <a:gd name="connsiteX0" fmla="*/ 3819702 w 4479650"/>
                  <a:gd name="connsiteY0" fmla="*/ 0 h 1319895"/>
                  <a:gd name="connsiteX1" fmla="*/ 659948 w 4479650"/>
                  <a:gd name="connsiteY1" fmla="*/ 0 h 1319895"/>
                  <a:gd name="connsiteX2" fmla="*/ 0 w 4479650"/>
                  <a:gd name="connsiteY2" fmla="*/ 659948 h 1319895"/>
                  <a:gd name="connsiteX3" fmla="*/ 659948 w 4479650"/>
                  <a:gd name="connsiteY3" fmla="*/ 1319896 h 1319895"/>
                  <a:gd name="connsiteX4" fmla="*/ 3819702 w 4479650"/>
                  <a:gd name="connsiteY4" fmla="*/ 1319896 h 1319895"/>
                  <a:gd name="connsiteX5" fmla="*/ 4479650 w 4479650"/>
                  <a:gd name="connsiteY5" fmla="*/ 659948 h 1319895"/>
                  <a:gd name="connsiteX6" fmla="*/ 3819702 w 4479650"/>
                  <a:gd name="connsiteY6" fmla="*/ 0 h 1319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79650" h="1319895">
                    <a:moveTo>
                      <a:pt x="3819702" y="0"/>
                    </a:moveTo>
                    <a:lnTo>
                      <a:pt x="659948" y="0"/>
                    </a:lnTo>
                    <a:cubicBezTo>
                      <a:pt x="295477" y="0"/>
                      <a:pt x="0" y="295477"/>
                      <a:pt x="0" y="659948"/>
                    </a:cubicBezTo>
                    <a:cubicBezTo>
                      <a:pt x="0" y="1024419"/>
                      <a:pt x="295477" y="1319896"/>
                      <a:pt x="659948" y="1319896"/>
                    </a:cubicBezTo>
                    <a:lnTo>
                      <a:pt x="3819702" y="1319896"/>
                    </a:lnTo>
                    <a:cubicBezTo>
                      <a:pt x="4184173" y="1319896"/>
                      <a:pt x="4479650" y="1024419"/>
                      <a:pt x="4479650" y="659948"/>
                    </a:cubicBezTo>
                    <a:cubicBezTo>
                      <a:pt x="4479650" y="295477"/>
                      <a:pt x="4184173" y="0"/>
                      <a:pt x="3819702" y="0"/>
                    </a:cubicBezTo>
                    <a:close/>
                  </a:path>
                </a:pathLst>
              </a:custGeom>
              <a:solidFill>
                <a:srgbClr val="0070C0"/>
              </a:solidFill>
              <a:ln w="5398" cap="flat">
                <a:noFill/>
                <a:prstDash val="solid"/>
                <a:miter/>
              </a:ln>
            </p:spPr>
            <p:txBody>
              <a:bodyPr rtlCol="0" anchor="ctr"/>
              <a:lstStyle/>
              <a:p>
                <a:endParaRPr lang="en-US"/>
              </a:p>
            </p:txBody>
          </p:sp>
          <p:sp>
            <p:nvSpPr>
              <p:cNvPr id="33" name="Freeform: Shape 3">
                <a:extLst>
                  <a:ext uri="{FF2B5EF4-FFF2-40B4-BE49-F238E27FC236}">
                    <a16:creationId xmlns:a16="http://schemas.microsoft.com/office/drawing/2014/main" id="{38FB867E-0BDD-1393-4D77-52232EE144C0}"/>
                  </a:ext>
                </a:extLst>
              </p:cNvPr>
              <p:cNvSpPr/>
              <p:nvPr/>
            </p:nvSpPr>
            <p:spPr>
              <a:xfrm>
                <a:off x="482600" y="1287026"/>
                <a:ext cx="2124908" cy="5217883"/>
              </a:xfrm>
              <a:custGeom>
                <a:avLst/>
                <a:gdLst>
                  <a:gd name="connsiteX0" fmla="*/ 2103784 w 2124908"/>
                  <a:gd name="connsiteY0" fmla="*/ 5217830 h 5217883"/>
                  <a:gd name="connsiteX1" fmla="*/ 471554 w 2124908"/>
                  <a:gd name="connsiteY1" fmla="*/ 5217830 h 5217883"/>
                  <a:gd name="connsiteX2" fmla="*/ 0 w 2124908"/>
                  <a:gd name="connsiteY2" fmla="*/ 4746276 h 5217883"/>
                  <a:gd name="connsiteX3" fmla="*/ 0 w 2124908"/>
                  <a:gd name="connsiteY3" fmla="*/ 471553 h 5217883"/>
                  <a:gd name="connsiteX4" fmla="*/ 471554 w 2124908"/>
                  <a:gd name="connsiteY4" fmla="*/ 0 h 5217883"/>
                  <a:gd name="connsiteX5" fmla="*/ 1254847 w 2124908"/>
                  <a:gd name="connsiteY5" fmla="*/ 0 h 5217883"/>
                  <a:gd name="connsiteX6" fmla="*/ 1276026 w 2124908"/>
                  <a:gd name="connsiteY6" fmla="*/ 21179 h 5217883"/>
                  <a:gd name="connsiteX7" fmla="*/ 1254847 w 2124908"/>
                  <a:gd name="connsiteY7" fmla="*/ 42358 h 5217883"/>
                  <a:gd name="connsiteX8" fmla="*/ 471554 w 2124908"/>
                  <a:gd name="connsiteY8" fmla="*/ 42358 h 5217883"/>
                  <a:gd name="connsiteX9" fmla="*/ 42304 w 2124908"/>
                  <a:gd name="connsiteY9" fmla="*/ 471607 h 5217883"/>
                  <a:gd name="connsiteX10" fmla="*/ 42304 w 2124908"/>
                  <a:gd name="connsiteY10" fmla="*/ 4746276 h 5217883"/>
                  <a:gd name="connsiteX11" fmla="*/ 471554 w 2124908"/>
                  <a:gd name="connsiteY11" fmla="*/ 5175526 h 5217883"/>
                  <a:gd name="connsiteX12" fmla="*/ 2103730 w 2124908"/>
                  <a:gd name="connsiteY12" fmla="*/ 5175526 h 5217883"/>
                  <a:gd name="connsiteX13" fmla="*/ 2124908 w 2124908"/>
                  <a:gd name="connsiteY13" fmla="*/ 5196705 h 5217883"/>
                  <a:gd name="connsiteX14" fmla="*/ 2103730 w 2124908"/>
                  <a:gd name="connsiteY14" fmla="*/ 5217884 h 5217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4908" h="5217883">
                    <a:moveTo>
                      <a:pt x="2103784" y="5217830"/>
                    </a:moveTo>
                    <a:lnTo>
                      <a:pt x="471554" y="5217830"/>
                    </a:lnTo>
                    <a:cubicBezTo>
                      <a:pt x="211518" y="5217830"/>
                      <a:pt x="0" y="5006311"/>
                      <a:pt x="0" y="4746276"/>
                    </a:cubicBezTo>
                    <a:lnTo>
                      <a:pt x="0" y="471553"/>
                    </a:lnTo>
                    <a:cubicBezTo>
                      <a:pt x="0" y="211518"/>
                      <a:pt x="211518" y="0"/>
                      <a:pt x="471554" y="0"/>
                    </a:cubicBezTo>
                    <a:lnTo>
                      <a:pt x="1254847" y="0"/>
                    </a:lnTo>
                    <a:cubicBezTo>
                      <a:pt x="1266517" y="0"/>
                      <a:pt x="1276026" y="9455"/>
                      <a:pt x="1276026" y="21179"/>
                    </a:cubicBezTo>
                    <a:cubicBezTo>
                      <a:pt x="1276026" y="32903"/>
                      <a:pt x="1266571" y="42358"/>
                      <a:pt x="1254847" y="42358"/>
                    </a:cubicBezTo>
                    <a:lnTo>
                      <a:pt x="471554" y="42358"/>
                    </a:lnTo>
                    <a:cubicBezTo>
                      <a:pt x="234858" y="42358"/>
                      <a:pt x="42304" y="234912"/>
                      <a:pt x="42304" y="471607"/>
                    </a:cubicBezTo>
                    <a:lnTo>
                      <a:pt x="42304" y="4746276"/>
                    </a:lnTo>
                    <a:cubicBezTo>
                      <a:pt x="42304" y="4982972"/>
                      <a:pt x="234858" y="5175526"/>
                      <a:pt x="471554" y="5175526"/>
                    </a:cubicBezTo>
                    <a:lnTo>
                      <a:pt x="2103730" y="5175526"/>
                    </a:lnTo>
                    <a:cubicBezTo>
                      <a:pt x="2115400" y="5175526"/>
                      <a:pt x="2124908" y="5184981"/>
                      <a:pt x="2124908" y="5196705"/>
                    </a:cubicBezTo>
                    <a:cubicBezTo>
                      <a:pt x="2124908" y="5208429"/>
                      <a:pt x="2115453" y="5217884"/>
                      <a:pt x="2103730" y="5217884"/>
                    </a:cubicBezTo>
                    <a:close/>
                  </a:path>
                </a:pathLst>
              </a:custGeom>
              <a:solidFill>
                <a:srgbClr val="40403F"/>
              </a:solidFill>
              <a:ln w="25400" cap="flat">
                <a:solidFill>
                  <a:schemeClr val="bg1"/>
                </a:solidFill>
                <a:prstDash val="solid"/>
                <a:miter/>
              </a:ln>
            </p:spPr>
            <p:txBody>
              <a:bodyPr rtlCol="0" anchor="ctr"/>
              <a:lstStyle/>
              <a:p>
                <a:endParaRPr lang="en-US"/>
              </a:p>
            </p:txBody>
          </p:sp>
          <p:sp>
            <p:nvSpPr>
              <p:cNvPr id="34" name="Freeform: Shape 8">
                <a:extLst>
                  <a:ext uri="{FF2B5EF4-FFF2-40B4-BE49-F238E27FC236}">
                    <a16:creationId xmlns:a16="http://schemas.microsoft.com/office/drawing/2014/main" id="{73A456AE-66AC-1F8D-57CF-15729F037043}"/>
                  </a:ext>
                </a:extLst>
              </p:cNvPr>
              <p:cNvSpPr/>
              <p:nvPr/>
            </p:nvSpPr>
            <p:spPr>
              <a:xfrm>
                <a:off x="3781853" y="1286972"/>
                <a:ext cx="2124908" cy="5217883"/>
              </a:xfrm>
              <a:custGeom>
                <a:avLst/>
                <a:gdLst>
                  <a:gd name="connsiteX0" fmla="*/ 1653355 w 2124908"/>
                  <a:gd name="connsiteY0" fmla="*/ 5217884 h 5217883"/>
                  <a:gd name="connsiteX1" fmla="*/ 21179 w 2124908"/>
                  <a:gd name="connsiteY1" fmla="*/ 5217884 h 5217883"/>
                  <a:gd name="connsiteX2" fmla="*/ 0 w 2124908"/>
                  <a:gd name="connsiteY2" fmla="*/ 5196705 h 5217883"/>
                  <a:gd name="connsiteX3" fmla="*/ 21179 w 2124908"/>
                  <a:gd name="connsiteY3" fmla="*/ 5175526 h 5217883"/>
                  <a:gd name="connsiteX4" fmla="*/ 1653355 w 2124908"/>
                  <a:gd name="connsiteY4" fmla="*/ 5175526 h 5217883"/>
                  <a:gd name="connsiteX5" fmla="*/ 2082605 w 2124908"/>
                  <a:gd name="connsiteY5" fmla="*/ 4746277 h 5217883"/>
                  <a:gd name="connsiteX6" fmla="*/ 2082605 w 2124908"/>
                  <a:gd name="connsiteY6" fmla="*/ 471607 h 5217883"/>
                  <a:gd name="connsiteX7" fmla="*/ 1653355 w 2124908"/>
                  <a:gd name="connsiteY7" fmla="*/ 42358 h 5217883"/>
                  <a:gd name="connsiteX8" fmla="*/ 870062 w 2124908"/>
                  <a:gd name="connsiteY8" fmla="*/ 42358 h 5217883"/>
                  <a:gd name="connsiteX9" fmla="*/ 848883 w 2124908"/>
                  <a:gd name="connsiteY9" fmla="*/ 21179 h 5217883"/>
                  <a:gd name="connsiteX10" fmla="*/ 870062 w 2124908"/>
                  <a:gd name="connsiteY10" fmla="*/ 0 h 5217883"/>
                  <a:gd name="connsiteX11" fmla="*/ 1653355 w 2124908"/>
                  <a:gd name="connsiteY11" fmla="*/ 0 h 5217883"/>
                  <a:gd name="connsiteX12" fmla="*/ 2124909 w 2124908"/>
                  <a:gd name="connsiteY12" fmla="*/ 471553 h 5217883"/>
                  <a:gd name="connsiteX13" fmla="*/ 2124909 w 2124908"/>
                  <a:gd name="connsiteY13" fmla="*/ 4746223 h 5217883"/>
                  <a:gd name="connsiteX14" fmla="*/ 1653355 w 2124908"/>
                  <a:gd name="connsiteY14" fmla="*/ 5217776 h 5217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4908" h="5217883">
                    <a:moveTo>
                      <a:pt x="1653355" y="5217884"/>
                    </a:moveTo>
                    <a:lnTo>
                      <a:pt x="21179" y="5217884"/>
                    </a:lnTo>
                    <a:cubicBezTo>
                      <a:pt x="9509" y="5217884"/>
                      <a:pt x="0" y="5208429"/>
                      <a:pt x="0" y="5196705"/>
                    </a:cubicBezTo>
                    <a:cubicBezTo>
                      <a:pt x="0" y="5184981"/>
                      <a:pt x="9455" y="5175526"/>
                      <a:pt x="21179" y="5175526"/>
                    </a:cubicBezTo>
                    <a:lnTo>
                      <a:pt x="1653355" y="5175526"/>
                    </a:lnTo>
                    <a:cubicBezTo>
                      <a:pt x="1890050" y="5175526"/>
                      <a:pt x="2082605" y="4982972"/>
                      <a:pt x="2082605" y="4746277"/>
                    </a:cubicBezTo>
                    <a:lnTo>
                      <a:pt x="2082605" y="471607"/>
                    </a:lnTo>
                    <a:cubicBezTo>
                      <a:pt x="2082605" y="234912"/>
                      <a:pt x="1890050" y="42358"/>
                      <a:pt x="1653355" y="42358"/>
                    </a:cubicBezTo>
                    <a:lnTo>
                      <a:pt x="870062" y="42358"/>
                    </a:lnTo>
                    <a:cubicBezTo>
                      <a:pt x="858392" y="42358"/>
                      <a:pt x="848883" y="32903"/>
                      <a:pt x="848883" y="21179"/>
                    </a:cubicBezTo>
                    <a:cubicBezTo>
                      <a:pt x="848883" y="9455"/>
                      <a:pt x="858338" y="0"/>
                      <a:pt x="870062" y="0"/>
                    </a:cubicBezTo>
                    <a:lnTo>
                      <a:pt x="1653355" y="0"/>
                    </a:lnTo>
                    <a:cubicBezTo>
                      <a:pt x="1913390" y="0"/>
                      <a:pt x="2124909" y="211572"/>
                      <a:pt x="2124909" y="471553"/>
                    </a:cubicBezTo>
                    <a:lnTo>
                      <a:pt x="2124909" y="4746223"/>
                    </a:lnTo>
                    <a:cubicBezTo>
                      <a:pt x="2124909" y="5006257"/>
                      <a:pt x="1913390" y="5217776"/>
                      <a:pt x="1653355" y="5217776"/>
                    </a:cubicBezTo>
                    <a:close/>
                  </a:path>
                </a:pathLst>
              </a:custGeom>
              <a:solidFill>
                <a:srgbClr val="0070C0"/>
              </a:solidFill>
              <a:ln w="15875" cap="flat">
                <a:solidFill>
                  <a:schemeClr val="bg1"/>
                </a:solidFill>
                <a:prstDash val="solid"/>
                <a:miter/>
              </a:ln>
            </p:spPr>
            <p:txBody>
              <a:bodyPr rtlCol="0" anchor="ctr"/>
              <a:lstStyle/>
              <a:p>
                <a:endParaRPr lang="en-US"/>
              </a:p>
            </p:txBody>
          </p:sp>
          <p:sp>
            <p:nvSpPr>
              <p:cNvPr id="35" name="Freeform: Shape 9">
                <a:extLst>
                  <a:ext uri="{FF2B5EF4-FFF2-40B4-BE49-F238E27FC236}">
                    <a16:creationId xmlns:a16="http://schemas.microsoft.com/office/drawing/2014/main" id="{F5B1E7FC-47BE-D054-9D7E-1B6F5270A22E}"/>
                  </a:ext>
                </a:extLst>
              </p:cNvPr>
              <p:cNvSpPr/>
              <p:nvPr/>
            </p:nvSpPr>
            <p:spPr>
              <a:xfrm rot="16390200">
                <a:off x="2477735" y="6375042"/>
                <a:ext cx="217191" cy="217191"/>
              </a:xfrm>
              <a:custGeom>
                <a:avLst/>
                <a:gdLst>
                  <a:gd name="connsiteX0" fmla="*/ 217191 w 217191"/>
                  <a:gd name="connsiteY0" fmla="*/ 108595 h 217191"/>
                  <a:gd name="connsiteX1" fmla="*/ 108596 w 217191"/>
                  <a:gd name="connsiteY1" fmla="*/ 217191 h 217191"/>
                  <a:gd name="connsiteX2" fmla="*/ 0 w 217191"/>
                  <a:gd name="connsiteY2" fmla="*/ 108595 h 217191"/>
                  <a:gd name="connsiteX3" fmla="*/ 108596 w 217191"/>
                  <a:gd name="connsiteY3" fmla="*/ 0 h 217191"/>
                  <a:gd name="connsiteX4" fmla="*/ 217191 w 217191"/>
                  <a:gd name="connsiteY4" fmla="*/ 108595 h 2171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191" h="217191">
                    <a:moveTo>
                      <a:pt x="217191" y="108595"/>
                    </a:moveTo>
                    <a:cubicBezTo>
                      <a:pt x="217191" y="168571"/>
                      <a:pt x="168571" y="217191"/>
                      <a:pt x="108596" y="217191"/>
                    </a:cubicBezTo>
                    <a:cubicBezTo>
                      <a:pt x="48620" y="217191"/>
                      <a:pt x="0" y="168571"/>
                      <a:pt x="0" y="108595"/>
                    </a:cubicBezTo>
                    <a:cubicBezTo>
                      <a:pt x="0" y="48620"/>
                      <a:pt x="48620" y="0"/>
                      <a:pt x="108596" y="0"/>
                    </a:cubicBezTo>
                    <a:cubicBezTo>
                      <a:pt x="168571" y="0"/>
                      <a:pt x="217191" y="48620"/>
                      <a:pt x="217191" y="108595"/>
                    </a:cubicBezTo>
                    <a:close/>
                  </a:path>
                </a:pathLst>
              </a:custGeom>
              <a:solidFill>
                <a:srgbClr val="40403F"/>
              </a:solidFill>
              <a:ln w="5398" cap="flat">
                <a:noFill/>
                <a:prstDash val="solid"/>
                <a:miter/>
              </a:ln>
            </p:spPr>
            <p:txBody>
              <a:bodyPr rtlCol="0" anchor="ctr"/>
              <a:lstStyle/>
              <a:p>
                <a:endParaRPr lang="en-US"/>
              </a:p>
            </p:txBody>
          </p:sp>
          <p:sp>
            <p:nvSpPr>
              <p:cNvPr id="36" name="Freeform: Shape 10">
                <a:extLst>
                  <a:ext uri="{FF2B5EF4-FFF2-40B4-BE49-F238E27FC236}">
                    <a16:creationId xmlns:a16="http://schemas.microsoft.com/office/drawing/2014/main" id="{0C202285-81A7-1519-4009-C5510CC14DC5}"/>
                  </a:ext>
                </a:extLst>
              </p:cNvPr>
              <p:cNvSpPr/>
              <p:nvPr/>
            </p:nvSpPr>
            <p:spPr>
              <a:xfrm rot="16896000">
                <a:off x="3694479" y="6375152"/>
                <a:ext cx="217191" cy="217191"/>
              </a:xfrm>
              <a:custGeom>
                <a:avLst/>
                <a:gdLst>
                  <a:gd name="connsiteX0" fmla="*/ 217191 w 217191"/>
                  <a:gd name="connsiteY0" fmla="*/ 108595 h 217191"/>
                  <a:gd name="connsiteX1" fmla="*/ 108596 w 217191"/>
                  <a:gd name="connsiteY1" fmla="*/ 217191 h 217191"/>
                  <a:gd name="connsiteX2" fmla="*/ 0 w 217191"/>
                  <a:gd name="connsiteY2" fmla="*/ 108595 h 217191"/>
                  <a:gd name="connsiteX3" fmla="*/ 108596 w 217191"/>
                  <a:gd name="connsiteY3" fmla="*/ 0 h 217191"/>
                  <a:gd name="connsiteX4" fmla="*/ 217191 w 217191"/>
                  <a:gd name="connsiteY4" fmla="*/ 108595 h 2171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191" h="217191">
                    <a:moveTo>
                      <a:pt x="217191" y="108595"/>
                    </a:moveTo>
                    <a:cubicBezTo>
                      <a:pt x="217191" y="168571"/>
                      <a:pt x="168571" y="217191"/>
                      <a:pt x="108596" y="217191"/>
                    </a:cubicBezTo>
                    <a:cubicBezTo>
                      <a:pt x="48620" y="217191"/>
                      <a:pt x="0" y="168571"/>
                      <a:pt x="0" y="108595"/>
                    </a:cubicBezTo>
                    <a:cubicBezTo>
                      <a:pt x="0" y="48620"/>
                      <a:pt x="48620" y="0"/>
                      <a:pt x="108596" y="0"/>
                    </a:cubicBezTo>
                    <a:cubicBezTo>
                      <a:pt x="168572" y="0"/>
                      <a:pt x="217191" y="48620"/>
                      <a:pt x="217191" y="108595"/>
                    </a:cubicBezTo>
                    <a:close/>
                  </a:path>
                </a:pathLst>
              </a:custGeom>
              <a:solidFill>
                <a:srgbClr val="0070C0"/>
              </a:solidFill>
              <a:ln w="5398" cap="flat">
                <a:noFill/>
                <a:prstDash val="solid"/>
                <a:miter/>
              </a:ln>
            </p:spPr>
            <p:txBody>
              <a:bodyPr rtlCol="0" anchor="ctr"/>
              <a:lstStyle/>
              <a:p>
                <a:endParaRPr lang="en-US"/>
              </a:p>
            </p:txBody>
          </p:sp>
          <p:sp>
            <p:nvSpPr>
              <p:cNvPr id="37" name="Freeform: Shape 11">
                <a:extLst>
                  <a:ext uri="{FF2B5EF4-FFF2-40B4-BE49-F238E27FC236}">
                    <a16:creationId xmlns:a16="http://schemas.microsoft.com/office/drawing/2014/main" id="{BDC6A7B8-CCA8-0C9C-3648-AD7A471AE807}"/>
                  </a:ext>
                </a:extLst>
              </p:cNvPr>
              <p:cNvSpPr/>
              <p:nvPr/>
            </p:nvSpPr>
            <p:spPr>
              <a:xfrm>
                <a:off x="1246605" y="940006"/>
                <a:ext cx="3896151" cy="736397"/>
              </a:xfrm>
              <a:custGeom>
                <a:avLst/>
                <a:gdLst>
                  <a:gd name="connsiteX0" fmla="*/ 368199 w 3896151"/>
                  <a:gd name="connsiteY0" fmla="*/ 736397 h 736397"/>
                  <a:gd name="connsiteX1" fmla="*/ 0 w 3896151"/>
                  <a:gd name="connsiteY1" fmla="*/ 368199 h 736397"/>
                  <a:gd name="connsiteX2" fmla="*/ 368199 w 3896151"/>
                  <a:gd name="connsiteY2" fmla="*/ 0 h 736397"/>
                  <a:gd name="connsiteX3" fmla="*/ 3527953 w 3896151"/>
                  <a:gd name="connsiteY3" fmla="*/ 0 h 736397"/>
                  <a:gd name="connsiteX4" fmla="*/ 3896151 w 3896151"/>
                  <a:gd name="connsiteY4" fmla="*/ 368199 h 736397"/>
                  <a:gd name="connsiteX5" fmla="*/ 3527953 w 3896151"/>
                  <a:gd name="connsiteY5" fmla="*/ 736397 h 736397"/>
                  <a:gd name="connsiteX6" fmla="*/ 368199 w 3896151"/>
                  <a:gd name="connsiteY6" fmla="*/ 736397 h 736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6151" h="736397">
                    <a:moveTo>
                      <a:pt x="368199" y="736397"/>
                    </a:moveTo>
                    <a:cubicBezTo>
                      <a:pt x="165163" y="736397"/>
                      <a:pt x="0" y="571234"/>
                      <a:pt x="0" y="368199"/>
                    </a:cubicBezTo>
                    <a:cubicBezTo>
                      <a:pt x="0" y="165163"/>
                      <a:pt x="165163" y="0"/>
                      <a:pt x="368199" y="0"/>
                    </a:cubicBezTo>
                    <a:lnTo>
                      <a:pt x="3527953" y="0"/>
                    </a:lnTo>
                    <a:cubicBezTo>
                      <a:pt x="3730935" y="0"/>
                      <a:pt x="3896151" y="165163"/>
                      <a:pt x="3896151" y="368199"/>
                    </a:cubicBezTo>
                    <a:cubicBezTo>
                      <a:pt x="3896151" y="571234"/>
                      <a:pt x="3730989" y="736397"/>
                      <a:pt x="3527953" y="736397"/>
                    </a:cubicBezTo>
                    <a:lnTo>
                      <a:pt x="368199" y="736397"/>
                    </a:lnTo>
                    <a:close/>
                  </a:path>
                </a:pathLst>
              </a:custGeom>
              <a:solidFill>
                <a:srgbClr val="FFFFFF"/>
              </a:solidFill>
              <a:ln w="6350" cap="flat">
                <a:solidFill>
                  <a:srgbClr val="0070C0"/>
                </a:solidFill>
                <a:prstDash val="solid"/>
                <a:miter/>
              </a:ln>
            </p:spPr>
            <p:txBody>
              <a:bodyPr rtlCol="0" anchor="ctr"/>
              <a:lstStyle/>
              <a:p>
                <a:pPr algn="ctr"/>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Product Design</a:t>
                </a:r>
              </a:p>
            </p:txBody>
          </p:sp>
          <p:sp>
            <p:nvSpPr>
              <p:cNvPr id="38" name="TextBox 37">
                <a:extLst>
                  <a:ext uri="{FF2B5EF4-FFF2-40B4-BE49-F238E27FC236}">
                    <a16:creationId xmlns:a16="http://schemas.microsoft.com/office/drawing/2014/main" id="{0B93D861-ADB7-EF87-DF52-E9B62ECE3F95}"/>
                  </a:ext>
                </a:extLst>
              </p:cNvPr>
              <p:cNvSpPr txBox="1"/>
              <p:nvPr/>
            </p:nvSpPr>
            <p:spPr>
              <a:xfrm>
                <a:off x="771958" y="2147667"/>
                <a:ext cx="4868017" cy="1959398"/>
              </a:xfrm>
              <a:prstGeom prst="rect">
                <a:avLst/>
              </a:prstGeom>
              <a:noFill/>
            </p:spPr>
            <p:txBody>
              <a:bodyPr wrap="square" rtlCol="0">
                <a:spAutoFit/>
              </a:bodyPr>
              <a:lstStyle/>
              <a:p>
                <a:pPr lvl="0">
                  <a:lnSpc>
                    <a:spcPct val="150000"/>
                  </a:lnSpc>
                  <a:defRPr/>
                </a:pPr>
                <a:r>
                  <a:rPr lang="en-US" sz="1600">
                    <a:latin typeface="Lato" panose="020F0502020204030203" pitchFamily="34" charset="0"/>
                    <a:ea typeface="Lato" panose="020F0502020204030203" pitchFamily="34" charset="0"/>
                    <a:cs typeface="Lato" panose="020F0502020204030203" pitchFamily="34" charset="0"/>
                  </a:rPr>
                  <a:t>HW/SW Architecture, Power Budget, Industrial Design approach, DFMEA considerations, Test &amp; Compliance strategy.</a:t>
                </a:r>
              </a:p>
            </p:txBody>
          </p:sp>
        </p:grpSp>
        <p:grpSp>
          <p:nvGrpSpPr>
            <p:cNvPr id="16" name="Group 15">
              <a:extLst>
                <a:ext uri="{FF2B5EF4-FFF2-40B4-BE49-F238E27FC236}">
                  <a16:creationId xmlns:a16="http://schemas.microsoft.com/office/drawing/2014/main" id="{9E300A74-64C0-003C-F62E-039AF8054FA4}"/>
                </a:ext>
              </a:extLst>
            </p:cNvPr>
            <p:cNvGrpSpPr/>
            <p:nvPr/>
          </p:nvGrpSpPr>
          <p:grpSpPr>
            <a:xfrm>
              <a:off x="4130736" y="2019299"/>
              <a:ext cx="3829595" cy="4471443"/>
              <a:chOff x="482600" y="832074"/>
              <a:chExt cx="5424161" cy="5760269"/>
            </a:xfrm>
          </p:grpSpPr>
          <p:sp>
            <p:nvSpPr>
              <p:cNvPr id="25" name="Freeform: Shape 38">
                <a:extLst>
                  <a:ext uri="{FF2B5EF4-FFF2-40B4-BE49-F238E27FC236}">
                    <a16:creationId xmlns:a16="http://schemas.microsoft.com/office/drawing/2014/main" id="{78C9FDF6-FAFD-A5A0-81EB-800B646D6204}"/>
                  </a:ext>
                </a:extLst>
              </p:cNvPr>
              <p:cNvSpPr/>
              <p:nvPr/>
            </p:nvSpPr>
            <p:spPr>
              <a:xfrm>
                <a:off x="1578716" y="832074"/>
                <a:ext cx="3231928" cy="952262"/>
              </a:xfrm>
              <a:custGeom>
                <a:avLst/>
                <a:gdLst>
                  <a:gd name="connsiteX0" fmla="*/ 3819702 w 4479650"/>
                  <a:gd name="connsiteY0" fmla="*/ 0 h 1319895"/>
                  <a:gd name="connsiteX1" fmla="*/ 659948 w 4479650"/>
                  <a:gd name="connsiteY1" fmla="*/ 0 h 1319895"/>
                  <a:gd name="connsiteX2" fmla="*/ 0 w 4479650"/>
                  <a:gd name="connsiteY2" fmla="*/ 659948 h 1319895"/>
                  <a:gd name="connsiteX3" fmla="*/ 659948 w 4479650"/>
                  <a:gd name="connsiteY3" fmla="*/ 1319896 h 1319895"/>
                  <a:gd name="connsiteX4" fmla="*/ 3819702 w 4479650"/>
                  <a:gd name="connsiteY4" fmla="*/ 1319896 h 1319895"/>
                  <a:gd name="connsiteX5" fmla="*/ 4479650 w 4479650"/>
                  <a:gd name="connsiteY5" fmla="*/ 659948 h 1319895"/>
                  <a:gd name="connsiteX6" fmla="*/ 3819702 w 4479650"/>
                  <a:gd name="connsiteY6" fmla="*/ 0 h 1319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79650" h="1319895">
                    <a:moveTo>
                      <a:pt x="3819702" y="0"/>
                    </a:moveTo>
                    <a:lnTo>
                      <a:pt x="659948" y="0"/>
                    </a:lnTo>
                    <a:cubicBezTo>
                      <a:pt x="295477" y="0"/>
                      <a:pt x="0" y="295477"/>
                      <a:pt x="0" y="659948"/>
                    </a:cubicBezTo>
                    <a:cubicBezTo>
                      <a:pt x="0" y="1024419"/>
                      <a:pt x="295477" y="1319896"/>
                      <a:pt x="659948" y="1319896"/>
                    </a:cubicBezTo>
                    <a:lnTo>
                      <a:pt x="3819702" y="1319896"/>
                    </a:lnTo>
                    <a:cubicBezTo>
                      <a:pt x="4184173" y="1319896"/>
                      <a:pt x="4479650" y="1024419"/>
                      <a:pt x="4479650" y="659948"/>
                    </a:cubicBezTo>
                    <a:cubicBezTo>
                      <a:pt x="4479650" y="295477"/>
                      <a:pt x="4184173" y="0"/>
                      <a:pt x="3819702" y="0"/>
                    </a:cubicBezTo>
                    <a:close/>
                  </a:path>
                </a:pathLst>
              </a:custGeom>
              <a:solidFill>
                <a:srgbClr val="0070C0"/>
              </a:solidFill>
              <a:ln w="5398" cap="flat">
                <a:noFill/>
                <a:prstDash val="solid"/>
                <a:miter/>
              </a:ln>
            </p:spPr>
            <p:txBody>
              <a:bodyPr rtlCol="0" anchor="ctr"/>
              <a:lstStyle/>
              <a:p>
                <a:endParaRPr lang="en-US"/>
              </a:p>
            </p:txBody>
          </p:sp>
          <p:sp>
            <p:nvSpPr>
              <p:cNvPr id="26" name="Freeform: Shape 39">
                <a:extLst>
                  <a:ext uri="{FF2B5EF4-FFF2-40B4-BE49-F238E27FC236}">
                    <a16:creationId xmlns:a16="http://schemas.microsoft.com/office/drawing/2014/main" id="{C1313423-D2F0-14A0-9B3D-21A4B3458F87}"/>
                  </a:ext>
                </a:extLst>
              </p:cNvPr>
              <p:cNvSpPr/>
              <p:nvPr/>
            </p:nvSpPr>
            <p:spPr>
              <a:xfrm>
                <a:off x="482600" y="1287026"/>
                <a:ext cx="2124908" cy="5217883"/>
              </a:xfrm>
              <a:custGeom>
                <a:avLst/>
                <a:gdLst>
                  <a:gd name="connsiteX0" fmla="*/ 2103784 w 2124908"/>
                  <a:gd name="connsiteY0" fmla="*/ 5217830 h 5217883"/>
                  <a:gd name="connsiteX1" fmla="*/ 471554 w 2124908"/>
                  <a:gd name="connsiteY1" fmla="*/ 5217830 h 5217883"/>
                  <a:gd name="connsiteX2" fmla="*/ 0 w 2124908"/>
                  <a:gd name="connsiteY2" fmla="*/ 4746276 h 5217883"/>
                  <a:gd name="connsiteX3" fmla="*/ 0 w 2124908"/>
                  <a:gd name="connsiteY3" fmla="*/ 471553 h 5217883"/>
                  <a:gd name="connsiteX4" fmla="*/ 471554 w 2124908"/>
                  <a:gd name="connsiteY4" fmla="*/ 0 h 5217883"/>
                  <a:gd name="connsiteX5" fmla="*/ 1254847 w 2124908"/>
                  <a:gd name="connsiteY5" fmla="*/ 0 h 5217883"/>
                  <a:gd name="connsiteX6" fmla="*/ 1276026 w 2124908"/>
                  <a:gd name="connsiteY6" fmla="*/ 21179 h 5217883"/>
                  <a:gd name="connsiteX7" fmla="*/ 1254847 w 2124908"/>
                  <a:gd name="connsiteY7" fmla="*/ 42358 h 5217883"/>
                  <a:gd name="connsiteX8" fmla="*/ 471554 w 2124908"/>
                  <a:gd name="connsiteY8" fmla="*/ 42358 h 5217883"/>
                  <a:gd name="connsiteX9" fmla="*/ 42304 w 2124908"/>
                  <a:gd name="connsiteY9" fmla="*/ 471607 h 5217883"/>
                  <a:gd name="connsiteX10" fmla="*/ 42304 w 2124908"/>
                  <a:gd name="connsiteY10" fmla="*/ 4746276 h 5217883"/>
                  <a:gd name="connsiteX11" fmla="*/ 471554 w 2124908"/>
                  <a:gd name="connsiteY11" fmla="*/ 5175526 h 5217883"/>
                  <a:gd name="connsiteX12" fmla="*/ 2103730 w 2124908"/>
                  <a:gd name="connsiteY12" fmla="*/ 5175526 h 5217883"/>
                  <a:gd name="connsiteX13" fmla="*/ 2124908 w 2124908"/>
                  <a:gd name="connsiteY13" fmla="*/ 5196705 h 5217883"/>
                  <a:gd name="connsiteX14" fmla="*/ 2103730 w 2124908"/>
                  <a:gd name="connsiteY14" fmla="*/ 5217884 h 5217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4908" h="5217883">
                    <a:moveTo>
                      <a:pt x="2103784" y="5217830"/>
                    </a:moveTo>
                    <a:lnTo>
                      <a:pt x="471554" y="5217830"/>
                    </a:lnTo>
                    <a:cubicBezTo>
                      <a:pt x="211518" y="5217830"/>
                      <a:pt x="0" y="5006311"/>
                      <a:pt x="0" y="4746276"/>
                    </a:cubicBezTo>
                    <a:lnTo>
                      <a:pt x="0" y="471553"/>
                    </a:lnTo>
                    <a:cubicBezTo>
                      <a:pt x="0" y="211518"/>
                      <a:pt x="211518" y="0"/>
                      <a:pt x="471554" y="0"/>
                    </a:cubicBezTo>
                    <a:lnTo>
                      <a:pt x="1254847" y="0"/>
                    </a:lnTo>
                    <a:cubicBezTo>
                      <a:pt x="1266517" y="0"/>
                      <a:pt x="1276026" y="9455"/>
                      <a:pt x="1276026" y="21179"/>
                    </a:cubicBezTo>
                    <a:cubicBezTo>
                      <a:pt x="1276026" y="32903"/>
                      <a:pt x="1266571" y="42358"/>
                      <a:pt x="1254847" y="42358"/>
                    </a:cubicBezTo>
                    <a:lnTo>
                      <a:pt x="471554" y="42358"/>
                    </a:lnTo>
                    <a:cubicBezTo>
                      <a:pt x="234858" y="42358"/>
                      <a:pt x="42304" y="234912"/>
                      <a:pt x="42304" y="471607"/>
                    </a:cubicBezTo>
                    <a:lnTo>
                      <a:pt x="42304" y="4746276"/>
                    </a:lnTo>
                    <a:cubicBezTo>
                      <a:pt x="42304" y="4982972"/>
                      <a:pt x="234858" y="5175526"/>
                      <a:pt x="471554" y="5175526"/>
                    </a:cubicBezTo>
                    <a:lnTo>
                      <a:pt x="2103730" y="5175526"/>
                    </a:lnTo>
                    <a:cubicBezTo>
                      <a:pt x="2115400" y="5175526"/>
                      <a:pt x="2124908" y="5184981"/>
                      <a:pt x="2124908" y="5196705"/>
                    </a:cubicBezTo>
                    <a:cubicBezTo>
                      <a:pt x="2124908" y="5208429"/>
                      <a:pt x="2115453" y="5217884"/>
                      <a:pt x="2103730" y="5217884"/>
                    </a:cubicBezTo>
                    <a:close/>
                  </a:path>
                </a:pathLst>
              </a:custGeom>
              <a:solidFill>
                <a:srgbClr val="40403F"/>
              </a:solidFill>
              <a:ln w="25400" cap="flat">
                <a:solidFill>
                  <a:schemeClr val="bg1"/>
                </a:solidFill>
                <a:prstDash val="solid"/>
                <a:miter/>
              </a:ln>
            </p:spPr>
            <p:txBody>
              <a:bodyPr rtlCol="0" anchor="ctr"/>
              <a:lstStyle/>
              <a:p>
                <a:endParaRPr lang="en-US"/>
              </a:p>
            </p:txBody>
          </p:sp>
          <p:sp>
            <p:nvSpPr>
              <p:cNvPr id="27" name="Freeform: Shape 40">
                <a:extLst>
                  <a:ext uri="{FF2B5EF4-FFF2-40B4-BE49-F238E27FC236}">
                    <a16:creationId xmlns:a16="http://schemas.microsoft.com/office/drawing/2014/main" id="{EDAECDD5-DAF5-4D4D-EA95-23B6090F4576}"/>
                  </a:ext>
                </a:extLst>
              </p:cNvPr>
              <p:cNvSpPr/>
              <p:nvPr/>
            </p:nvSpPr>
            <p:spPr>
              <a:xfrm>
                <a:off x="3781853" y="1286972"/>
                <a:ext cx="2124908" cy="5217883"/>
              </a:xfrm>
              <a:custGeom>
                <a:avLst/>
                <a:gdLst>
                  <a:gd name="connsiteX0" fmla="*/ 1653355 w 2124908"/>
                  <a:gd name="connsiteY0" fmla="*/ 5217884 h 5217883"/>
                  <a:gd name="connsiteX1" fmla="*/ 21179 w 2124908"/>
                  <a:gd name="connsiteY1" fmla="*/ 5217884 h 5217883"/>
                  <a:gd name="connsiteX2" fmla="*/ 0 w 2124908"/>
                  <a:gd name="connsiteY2" fmla="*/ 5196705 h 5217883"/>
                  <a:gd name="connsiteX3" fmla="*/ 21179 w 2124908"/>
                  <a:gd name="connsiteY3" fmla="*/ 5175526 h 5217883"/>
                  <a:gd name="connsiteX4" fmla="*/ 1653355 w 2124908"/>
                  <a:gd name="connsiteY4" fmla="*/ 5175526 h 5217883"/>
                  <a:gd name="connsiteX5" fmla="*/ 2082605 w 2124908"/>
                  <a:gd name="connsiteY5" fmla="*/ 4746277 h 5217883"/>
                  <a:gd name="connsiteX6" fmla="*/ 2082605 w 2124908"/>
                  <a:gd name="connsiteY6" fmla="*/ 471607 h 5217883"/>
                  <a:gd name="connsiteX7" fmla="*/ 1653355 w 2124908"/>
                  <a:gd name="connsiteY7" fmla="*/ 42358 h 5217883"/>
                  <a:gd name="connsiteX8" fmla="*/ 870062 w 2124908"/>
                  <a:gd name="connsiteY8" fmla="*/ 42358 h 5217883"/>
                  <a:gd name="connsiteX9" fmla="*/ 848883 w 2124908"/>
                  <a:gd name="connsiteY9" fmla="*/ 21179 h 5217883"/>
                  <a:gd name="connsiteX10" fmla="*/ 870062 w 2124908"/>
                  <a:gd name="connsiteY10" fmla="*/ 0 h 5217883"/>
                  <a:gd name="connsiteX11" fmla="*/ 1653355 w 2124908"/>
                  <a:gd name="connsiteY11" fmla="*/ 0 h 5217883"/>
                  <a:gd name="connsiteX12" fmla="*/ 2124909 w 2124908"/>
                  <a:gd name="connsiteY12" fmla="*/ 471553 h 5217883"/>
                  <a:gd name="connsiteX13" fmla="*/ 2124909 w 2124908"/>
                  <a:gd name="connsiteY13" fmla="*/ 4746223 h 5217883"/>
                  <a:gd name="connsiteX14" fmla="*/ 1653355 w 2124908"/>
                  <a:gd name="connsiteY14" fmla="*/ 5217776 h 5217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4908" h="5217883">
                    <a:moveTo>
                      <a:pt x="1653355" y="5217884"/>
                    </a:moveTo>
                    <a:lnTo>
                      <a:pt x="21179" y="5217884"/>
                    </a:lnTo>
                    <a:cubicBezTo>
                      <a:pt x="9509" y="5217884"/>
                      <a:pt x="0" y="5208429"/>
                      <a:pt x="0" y="5196705"/>
                    </a:cubicBezTo>
                    <a:cubicBezTo>
                      <a:pt x="0" y="5184981"/>
                      <a:pt x="9455" y="5175526"/>
                      <a:pt x="21179" y="5175526"/>
                    </a:cubicBezTo>
                    <a:lnTo>
                      <a:pt x="1653355" y="5175526"/>
                    </a:lnTo>
                    <a:cubicBezTo>
                      <a:pt x="1890050" y="5175526"/>
                      <a:pt x="2082605" y="4982972"/>
                      <a:pt x="2082605" y="4746277"/>
                    </a:cubicBezTo>
                    <a:lnTo>
                      <a:pt x="2082605" y="471607"/>
                    </a:lnTo>
                    <a:cubicBezTo>
                      <a:pt x="2082605" y="234912"/>
                      <a:pt x="1890050" y="42358"/>
                      <a:pt x="1653355" y="42358"/>
                    </a:cubicBezTo>
                    <a:lnTo>
                      <a:pt x="870062" y="42358"/>
                    </a:lnTo>
                    <a:cubicBezTo>
                      <a:pt x="858392" y="42358"/>
                      <a:pt x="848883" y="32903"/>
                      <a:pt x="848883" y="21179"/>
                    </a:cubicBezTo>
                    <a:cubicBezTo>
                      <a:pt x="848883" y="9455"/>
                      <a:pt x="858338" y="0"/>
                      <a:pt x="870062" y="0"/>
                    </a:cubicBezTo>
                    <a:lnTo>
                      <a:pt x="1653355" y="0"/>
                    </a:lnTo>
                    <a:cubicBezTo>
                      <a:pt x="1913390" y="0"/>
                      <a:pt x="2124909" y="211572"/>
                      <a:pt x="2124909" y="471553"/>
                    </a:cubicBezTo>
                    <a:lnTo>
                      <a:pt x="2124909" y="4746223"/>
                    </a:lnTo>
                    <a:cubicBezTo>
                      <a:pt x="2124909" y="5006257"/>
                      <a:pt x="1913390" y="5217776"/>
                      <a:pt x="1653355" y="5217776"/>
                    </a:cubicBezTo>
                    <a:close/>
                  </a:path>
                </a:pathLst>
              </a:custGeom>
              <a:solidFill>
                <a:srgbClr val="0070C0"/>
              </a:solidFill>
              <a:ln w="15875" cap="flat">
                <a:solidFill>
                  <a:schemeClr val="bg1"/>
                </a:solidFill>
                <a:prstDash val="solid"/>
                <a:miter/>
              </a:ln>
            </p:spPr>
            <p:txBody>
              <a:bodyPr rtlCol="0" anchor="ctr"/>
              <a:lstStyle/>
              <a:p>
                <a:endParaRPr lang="en-US"/>
              </a:p>
            </p:txBody>
          </p:sp>
          <p:sp>
            <p:nvSpPr>
              <p:cNvPr id="28" name="Freeform: Shape 41">
                <a:extLst>
                  <a:ext uri="{FF2B5EF4-FFF2-40B4-BE49-F238E27FC236}">
                    <a16:creationId xmlns:a16="http://schemas.microsoft.com/office/drawing/2014/main" id="{85D5FB70-B108-60AB-57CD-E7F385ADA87B}"/>
                  </a:ext>
                </a:extLst>
              </p:cNvPr>
              <p:cNvSpPr/>
              <p:nvPr/>
            </p:nvSpPr>
            <p:spPr>
              <a:xfrm rot="16390200">
                <a:off x="2477735" y="6375042"/>
                <a:ext cx="217191" cy="217191"/>
              </a:xfrm>
              <a:custGeom>
                <a:avLst/>
                <a:gdLst>
                  <a:gd name="connsiteX0" fmla="*/ 217191 w 217191"/>
                  <a:gd name="connsiteY0" fmla="*/ 108595 h 217191"/>
                  <a:gd name="connsiteX1" fmla="*/ 108596 w 217191"/>
                  <a:gd name="connsiteY1" fmla="*/ 217191 h 217191"/>
                  <a:gd name="connsiteX2" fmla="*/ 0 w 217191"/>
                  <a:gd name="connsiteY2" fmla="*/ 108595 h 217191"/>
                  <a:gd name="connsiteX3" fmla="*/ 108596 w 217191"/>
                  <a:gd name="connsiteY3" fmla="*/ 0 h 217191"/>
                  <a:gd name="connsiteX4" fmla="*/ 217191 w 217191"/>
                  <a:gd name="connsiteY4" fmla="*/ 108595 h 2171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191" h="217191">
                    <a:moveTo>
                      <a:pt x="217191" y="108595"/>
                    </a:moveTo>
                    <a:cubicBezTo>
                      <a:pt x="217191" y="168571"/>
                      <a:pt x="168571" y="217191"/>
                      <a:pt x="108596" y="217191"/>
                    </a:cubicBezTo>
                    <a:cubicBezTo>
                      <a:pt x="48620" y="217191"/>
                      <a:pt x="0" y="168571"/>
                      <a:pt x="0" y="108595"/>
                    </a:cubicBezTo>
                    <a:cubicBezTo>
                      <a:pt x="0" y="48620"/>
                      <a:pt x="48620" y="0"/>
                      <a:pt x="108596" y="0"/>
                    </a:cubicBezTo>
                    <a:cubicBezTo>
                      <a:pt x="168571" y="0"/>
                      <a:pt x="217191" y="48620"/>
                      <a:pt x="217191" y="108595"/>
                    </a:cubicBezTo>
                    <a:close/>
                  </a:path>
                </a:pathLst>
              </a:custGeom>
              <a:solidFill>
                <a:srgbClr val="40403F"/>
              </a:solidFill>
              <a:ln w="5398" cap="flat">
                <a:noFill/>
                <a:prstDash val="solid"/>
                <a:miter/>
              </a:ln>
            </p:spPr>
            <p:txBody>
              <a:bodyPr rtlCol="0" anchor="ctr"/>
              <a:lstStyle/>
              <a:p>
                <a:endParaRPr lang="en-US"/>
              </a:p>
            </p:txBody>
          </p:sp>
          <p:sp>
            <p:nvSpPr>
              <p:cNvPr id="29" name="Freeform: Shape 42">
                <a:extLst>
                  <a:ext uri="{FF2B5EF4-FFF2-40B4-BE49-F238E27FC236}">
                    <a16:creationId xmlns:a16="http://schemas.microsoft.com/office/drawing/2014/main" id="{3BEE89E7-EBD0-B840-3B30-AA4E7D93BAC1}"/>
                  </a:ext>
                </a:extLst>
              </p:cNvPr>
              <p:cNvSpPr/>
              <p:nvPr/>
            </p:nvSpPr>
            <p:spPr>
              <a:xfrm rot="16896000">
                <a:off x="3694479" y="6375152"/>
                <a:ext cx="217191" cy="217191"/>
              </a:xfrm>
              <a:custGeom>
                <a:avLst/>
                <a:gdLst>
                  <a:gd name="connsiteX0" fmla="*/ 217191 w 217191"/>
                  <a:gd name="connsiteY0" fmla="*/ 108595 h 217191"/>
                  <a:gd name="connsiteX1" fmla="*/ 108596 w 217191"/>
                  <a:gd name="connsiteY1" fmla="*/ 217191 h 217191"/>
                  <a:gd name="connsiteX2" fmla="*/ 0 w 217191"/>
                  <a:gd name="connsiteY2" fmla="*/ 108595 h 217191"/>
                  <a:gd name="connsiteX3" fmla="*/ 108596 w 217191"/>
                  <a:gd name="connsiteY3" fmla="*/ 0 h 217191"/>
                  <a:gd name="connsiteX4" fmla="*/ 217191 w 217191"/>
                  <a:gd name="connsiteY4" fmla="*/ 108595 h 2171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191" h="217191">
                    <a:moveTo>
                      <a:pt x="217191" y="108595"/>
                    </a:moveTo>
                    <a:cubicBezTo>
                      <a:pt x="217191" y="168571"/>
                      <a:pt x="168571" y="217191"/>
                      <a:pt x="108596" y="217191"/>
                    </a:cubicBezTo>
                    <a:cubicBezTo>
                      <a:pt x="48620" y="217191"/>
                      <a:pt x="0" y="168571"/>
                      <a:pt x="0" y="108595"/>
                    </a:cubicBezTo>
                    <a:cubicBezTo>
                      <a:pt x="0" y="48620"/>
                      <a:pt x="48620" y="0"/>
                      <a:pt x="108596" y="0"/>
                    </a:cubicBezTo>
                    <a:cubicBezTo>
                      <a:pt x="168572" y="0"/>
                      <a:pt x="217191" y="48620"/>
                      <a:pt x="217191" y="108595"/>
                    </a:cubicBezTo>
                    <a:close/>
                  </a:path>
                </a:pathLst>
              </a:custGeom>
              <a:solidFill>
                <a:srgbClr val="0070C0"/>
              </a:solidFill>
              <a:ln w="5398" cap="flat">
                <a:noFill/>
                <a:prstDash val="solid"/>
                <a:miter/>
              </a:ln>
            </p:spPr>
            <p:txBody>
              <a:bodyPr rtlCol="0" anchor="ctr"/>
              <a:lstStyle/>
              <a:p>
                <a:endParaRPr lang="en-US"/>
              </a:p>
            </p:txBody>
          </p:sp>
          <p:sp>
            <p:nvSpPr>
              <p:cNvPr id="30" name="Freeform: Shape 43">
                <a:extLst>
                  <a:ext uri="{FF2B5EF4-FFF2-40B4-BE49-F238E27FC236}">
                    <a16:creationId xmlns:a16="http://schemas.microsoft.com/office/drawing/2014/main" id="{F401145A-B2D5-EA8A-D668-4FA8D09BF1E7}"/>
                  </a:ext>
                </a:extLst>
              </p:cNvPr>
              <p:cNvSpPr/>
              <p:nvPr/>
            </p:nvSpPr>
            <p:spPr>
              <a:xfrm>
                <a:off x="1246605" y="940006"/>
                <a:ext cx="3896151" cy="736397"/>
              </a:xfrm>
              <a:custGeom>
                <a:avLst/>
                <a:gdLst>
                  <a:gd name="connsiteX0" fmla="*/ 368199 w 3896151"/>
                  <a:gd name="connsiteY0" fmla="*/ 736397 h 736397"/>
                  <a:gd name="connsiteX1" fmla="*/ 0 w 3896151"/>
                  <a:gd name="connsiteY1" fmla="*/ 368199 h 736397"/>
                  <a:gd name="connsiteX2" fmla="*/ 368199 w 3896151"/>
                  <a:gd name="connsiteY2" fmla="*/ 0 h 736397"/>
                  <a:gd name="connsiteX3" fmla="*/ 3527953 w 3896151"/>
                  <a:gd name="connsiteY3" fmla="*/ 0 h 736397"/>
                  <a:gd name="connsiteX4" fmla="*/ 3896151 w 3896151"/>
                  <a:gd name="connsiteY4" fmla="*/ 368199 h 736397"/>
                  <a:gd name="connsiteX5" fmla="*/ 3527953 w 3896151"/>
                  <a:gd name="connsiteY5" fmla="*/ 736397 h 736397"/>
                  <a:gd name="connsiteX6" fmla="*/ 368199 w 3896151"/>
                  <a:gd name="connsiteY6" fmla="*/ 736397 h 736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6151" h="736397">
                    <a:moveTo>
                      <a:pt x="368199" y="736397"/>
                    </a:moveTo>
                    <a:cubicBezTo>
                      <a:pt x="165163" y="736397"/>
                      <a:pt x="0" y="571234"/>
                      <a:pt x="0" y="368199"/>
                    </a:cubicBezTo>
                    <a:cubicBezTo>
                      <a:pt x="0" y="165163"/>
                      <a:pt x="165163" y="0"/>
                      <a:pt x="368199" y="0"/>
                    </a:cubicBezTo>
                    <a:lnTo>
                      <a:pt x="3527953" y="0"/>
                    </a:lnTo>
                    <a:cubicBezTo>
                      <a:pt x="3730935" y="0"/>
                      <a:pt x="3896151" y="165163"/>
                      <a:pt x="3896151" y="368199"/>
                    </a:cubicBezTo>
                    <a:cubicBezTo>
                      <a:pt x="3896151" y="571234"/>
                      <a:pt x="3730989" y="736397"/>
                      <a:pt x="3527953" y="736397"/>
                    </a:cubicBezTo>
                    <a:lnTo>
                      <a:pt x="368199" y="736397"/>
                    </a:lnTo>
                    <a:close/>
                  </a:path>
                </a:pathLst>
              </a:custGeom>
              <a:solidFill>
                <a:srgbClr val="FFFFFF"/>
              </a:solidFill>
              <a:ln w="6350" cap="flat">
                <a:solidFill>
                  <a:srgbClr val="0070C0"/>
                </a:solidFill>
                <a:prstDash val="solid"/>
                <a:miter/>
              </a:ln>
            </p:spPr>
            <p:txBody>
              <a:bodyPr rtlCol="0" anchor="ctr"/>
              <a:lstStyle/>
              <a:p>
                <a:pPr algn="ctr"/>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EVT – Engineering Validation</a:t>
                </a:r>
              </a:p>
            </p:txBody>
          </p:sp>
          <p:sp>
            <p:nvSpPr>
              <p:cNvPr id="31" name="TextBox 30">
                <a:extLst>
                  <a:ext uri="{FF2B5EF4-FFF2-40B4-BE49-F238E27FC236}">
                    <a16:creationId xmlns:a16="http://schemas.microsoft.com/office/drawing/2014/main" id="{04513845-860C-B8C7-F7CF-1D31759C2F36}"/>
                  </a:ext>
                </a:extLst>
              </p:cNvPr>
              <p:cNvSpPr txBox="1"/>
              <p:nvPr/>
            </p:nvSpPr>
            <p:spPr>
              <a:xfrm>
                <a:off x="771958" y="2147667"/>
                <a:ext cx="4868017" cy="1483611"/>
              </a:xfrm>
              <a:prstGeom prst="rect">
                <a:avLst/>
              </a:prstGeom>
              <a:noFill/>
            </p:spPr>
            <p:txBody>
              <a:bodyPr wrap="square" rtlCol="0">
                <a:spAutoFit/>
              </a:bodyPr>
              <a:lstStyle/>
              <a:p>
                <a:pPr lvl="0">
                  <a:lnSpc>
                    <a:spcPct val="150000"/>
                  </a:lnSpc>
                  <a:defRPr/>
                </a:pPr>
                <a:r>
                  <a:rPr lang="en-US" sz="1600">
                    <a:latin typeface="Lato" panose="020F0502020204030203" pitchFamily="34" charset="0"/>
                    <a:ea typeface="Lato" panose="020F0502020204030203" pitchFamily="34" charset="0"/>
                    <a:cs typeface="Lato" panose="020F0502020204030203" pitchFamily="34" charset="0"/>
                  </a:rPr>
                  <a:t>EVB bring‑up, Alpha Prototype, HW‑SW integration, functional testing, early fault injection </a:t>
                </a:r>
              </a:p>
            </p:txBody>
          </p:sp>
        </p:grpSp>
        <p:grpSp>
          <p:nvGrpSpPr>
            <p:cNvPr id="17" name="Group 16">
              <a:extLst>
                <a:ext uri="{FF2B5EF4-FFF2-40B4-BE49-F238E27FC236}">
                  <a16:creationId xmlns:a16="http://schemas.microsoft.com/office/drawing/2014/main" id="{256DF3A5-BAF9-6393-C014-854C153B3856}"/>
                </a:ext>
              </a:extLst>
            </p:cNvPr>
            <p:cNvGrpSpPr/>
            <p:nvPr/>
          </p:nvGrpSpPr>
          <p:grpSpPr>
            <a:xfrm>
              <a:off x="7976267" y="2019299"/>
              <a:ext cx="3829595" cy="4471443"/>
              <a:chOff x="482600" y="832074"/>
              <a:chExt cx="5424161" cy="5760269"/>
            </a:xfrm>
          </p:grpSpPr>
          <p:sp>
            <p:nvSpPr>
              <p:cNvPr id="18" name="Freeform: Shape 46">
                <a:extLst>
                  <a:ext uri="{FF2B5EF4-FFF2-40B4-BE49-F238E27FC236}">
                    <a16:creationId xmlns:a16="http://schemas.microsoft.com/office/drawing/2014/main" id="{31BAB659-DFA2-CBF6-A8DF-E651DC298A35}"/>
                  </a:ext>
                </a:extLst>
              </p:cNvPr>
              <p:cNvSpPr/>
              <p:nvPr/>
            </p:nvSpPr>
            <p:spPr>
              <a:xfrm>
                <a:off x="1578716" y="832074"/>
                <a:ext cx="3231928" cy="952262"/>
              </a:xfrm>
              <a:custGeom>
                <a:avLst/>
                <a:gdLst>
                  <a:gd name="connsiteX0" fmla="*/ 3819702 w 4479650"/>
                  <a:gd name="connsiteY0" fmla="*/ 0 h 1319895"/>
                  <a:gd name="connsiteX1" fmla="*/ 659948 w 4479650"/>
                  <a:gd name="connsiteY1" fmla="*/ 0 h 1319895"/>
                  <a:gd name="connsiteX2" fmla="*/ 0 w 4479650"/>
                  <a:gd name="connsiteY2" fmla="*/ 659948 h 1319895"/>
                  <a:gd name="connsiteX3" fmla="*/ 659948 w 4479650"/>
                  <a:gd name="connsiteY3" fmla="*/ 1319896 h 1319895"/>
                  <a:gd name="connsiteX4" fmla="*/ 3819702 w 4479650"/>
                  <a:gd name="connsiteY4" fmla="*/ 1319896 h 1319895"/>
                  <a:gd name="connsiteX5" fmla="*/ 4479650 w 4479650"/>
                  <a:gd name="connsiteY5" fmla="*/ 659948 h 1319895"/>
                  <a:gd name="connsiteX6" fmla="*/ 3819702 w 4479650"/>
                  <a:gd name="connsiteY6" fmla="*/ 0 h 1319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79650" h="1319895">
                    <a:moveTo>
                      <a:pt x="3819702" y="0"/>
                    </a:moveTo>
                    <a:lnTo>
                      <a:pt x="659948" y="0"/>
                    </a:lnTo>
                    <a:cubicBezTo>
                      <a:pt x="295477" y="0"/>
                      <a:pt x="0" y="295477"/>
                      <a:pt x="0" y="659948"/>
                    </a:cubicBezTo>
                    <a:cubicBezTo>
                      <a:pt x="0" y="1024419"/>
                      <a:pt x="295477" y="1319896"/>
                      <a:pt x="659948" y="1319896"/>
                    </a:cubicBezTo>
                    <a:lnTo>
                      <a:pt x="3819702" y="1319896"/>
                    </a:lnTo>
                    <a:cubicBezTo>
                      <a:pt x="4184173" y="1319896"/>
                      <a:pt x="4479650" y="1024419"/>
                      <a:pt x="4479650" y="659948"/>
                    </a:cubicBezTo>
                    <a:cubicBezTo>
                      <a:pt x="4479650" y="295477"/>
                      <a:pt x="4184173" y="0"/>
                      <a:pt x="3819702" y="0"/>
                    </a:cubicBezTo>
                    <a:close/>
                  </a:path>
                </a:pathLst>
              </a:custGeom>
              <a:solidFill>
                <a:srgbClr val="0070C0"/>
              </a:solidFill>
              <a:ln w="5398" cap="flat">
                <a:noFill/>
                <a:prstDash val="solid"/>
                <a:miter/>
              </a:ln>
            </p:spPr>
            <p:txBody>
              <a:bodyPr rtlCol="0" anchor="ctr"/>
              <a:lstStyle/>
              <a:p>
                <a:endParaRPr lang="en-US"/>
              </a:p>
            </p:txBody>
          </p:sp>
          <p:sp>
            <p:nvSpPr>
              <p:cNvPr id="19" name="Freeform: Shape 47">
                <a:extLst>
                  <a:ext uri="{FF2B5EF4-FFF2-40B4-BE49-F238E27FC236}">
                    <a16:creationId xmlns:a16="http://schemas.microsoft.com/office/drawing/2014/main" id="{E284D50B-8A29-659C-F697-9CBFF328C8DF}"/>
                  </a:ext>
                </a:extLst>
              </p:cNvPr>
              <p:cNvSpPr/>
              <p:nvPr/>
            </p:nvSpPr>
            <p:spPr>
              <a:xfrm>
                <a:off x="482600" y="1287026"/>
                <a:ext cx="2124908" cy="5217883"/>
              </a:xfrm>
              <a:custGeom>
                <a:avLst/>
                <a:gdLst>
                  <a:gd name="connsiteX0" fmla="*/ 2103784 w 2124908"/>
                  <a:gd name="connsiteY0" fmla="*/ 5217830 h 5217883"/>
                  <a:gd name="connsiteX1" fmla="*/ 471554 w 2124908"/>
                  <a:gd name="connsiteY1" fmla="*/ 5217830 h 5217883"/>
                  <a:gd name="connsiteX2" fmla="*/ 0 w 2124908"/>
                  <a:gd name="connsiteY2" fmla="*/ 4746276 h 5217883"/>
                  <a:gd name="connsiteX3" fmla="*/ 0 w 2124908"/>
                  <a:gd name="connsiteY3" fmla="*/ 471553 h 5217883"/>
                  <a:gd name="connsiteX4" fmla="*/ 471554 w 2124908"/>
                  <a:gd name="connsiteY4" fmla="*/ 0 h 5217883"/>
                  <a:gd name="connsiteX5" fmla="*/ 1254847 w 2124908"/>
                  <a:gd name="connsiteY5" fmla="*/ 0 h 5217883"/>
                  <a:gd name="connsiteX6" fmla="*/ 1276026 w 2124908"/>
                  <a:gd name="connsiteY6" fmla="*/ 21179 h 5217883"/>
                  <a:gd name="connsiteX7" fmla="*/ 1254847 w 2124908"/>
                  <a:gd name="connsiteY7" fmla="*/ 42358 h 5217883"/>
                  <a:gd name="connsiteX8" fmla="*/ 471554 w 2124908"/>
                  <a:gd name="connsiteY8" fmla="*/ 42358 h 5217883"/>
                  <a:gd name="connsiteX9" fmla="*/ 42304 w 2124908"/>
                  <a:gd name="connsiteY9" fmla="*/ 471607 h 5217883"/>
                  <a:gd name="connsiteX10" fmla="*/ 42304 w 2124908"/>
                  <a:gd name="connsiteY10" fmla="*/ 4746276 h 5217883"/>
                  <a:gd name="connsiteX11" fmla="*/ 471554 w 2124908"/>
                  <a:gd name="connsiteY11" fmla="*/ 5175526 h 5217883"/>
                  <a:gd name="connsiteX12" fmla="*/ 2103730 w 2124908"/>
                  <a:gd name="connsiteY12" fmla="*/ 5175526 h 5217883"/>
                  <a:gd name="connsiteX13" fmla="*/ 2124908 w 2124908"/>
                  <a:gd name="connsiteY13" fmla="*/ 5196705 h 5217883"/>
                  <a:gd name="connsiteX14" fmla="*/ 2103730 w 2124908"/>
                  <a:gd name="connsiteY14" fmla="*/ 5217884 h 5217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4908" h="5217883">
                    <a:moveTo>
                      <a:pt x="2103784" y="5217830"/>
                    </a:moveTo>
                    <a:lnTo>
                      <a:pt x="471554" y="5217830"/>
                    </a:lnTo>
                    <a:cubicBezTo>
                      <a:pt x="211518" y="5217830"/>
                      <a:pt x="0" y="5006311"/>
                      <a:pt x="0" y="4746276"/>
                    </a:cubicBezTo>
                    <a:lnTo>
                      <a:pt x="0" y="471553"/>
                    </a:lnTo>
                    <a:cubicBezTo>
                      <a:pt x="0" y="211518"/>
                      <a:pt x="211518" y="0"/>
                      <a:pt x="471554" y="0"/>
                    </a:cubicBezTo>
                    <a:lnTo>
                      <a:pt x="1254847" y="0"/>
                    </a:lnTo>
                    <a:cubicBezTo>
                      <a:pt x="1266517" y="0"/>
                      <a:pt x="1276026" y="9455"/>
                      <a:pt x="1276026" y="21179"/>
                    </a:cubicBezTo>
                    <a:cubicBezTo>
                      <a:pt x="1276026" y="32903"/>
                      <a:pt x="1266571" y="42358"/>
                      <a:pt x="1254847" y="42358"/>
                    </a:cubicBezTo>
                    <a:lnTo>
                      <a:pt x="471554" y="42358"/>
                    </a:lnTo>
                    <a:cubicBezTo>
                      <a:pt x="234858" y="42358"/>
                      <a:pt x="42304" y="234912"/>
                      <a:pt x="42304" y="471607"/>
                    </a:cubicBezTo>
                    <a:lnTo>
                      <a:pt x="42304" y="4746276"/>
                    </a:lnTo>
                    <a:cubicBezTo>
                      <a:pt x="42304" y="4982972"/>
                      <a:pt x="234858" y="5175526"/>
                      <a:pt x="471554" y="5175526"/>
                    </a:cubicBezTo>
                    <a:lnTo>
                      <a:pt x="2103730" y="5175526"/>
                    </a:lnTo>
                    <a:cubicBezTo>
                      <a:pt x="2115400" y="5175526"/>
                      <a:pt x="2124908" y="5184981"/>
                      <a:pt x="2124908" y="5196705"/>
                    </a:cubicBezTo>
                    <a:cubicBezTo>
                      <a:pt x="2124908" y="5208429"/>
                      <a:pt x="2115453" y="5217884"/>
                      <a:pt x="2103730" y="5217884"/>
                    </a:cubicBezTo>
                    <a:close/>
                  </a:path>
                </a:pathLst>
              </a:custGeom>
              <a:solidFill>
                <a:srgbClr val="40403F"/>
              </a:solidFill>
              <a:ln w="25400" cap="flat">
                <a:solidFill>
                  <a:schemeClr val="bg1"/>
                </a:solidFill>
                <a:prstDash val="solid"/>
                <a:miter/>
              </a:ln>
            </p:spPr>
            <p:txBody>
              <a:bodyPr rtlCol="0" anchor="ctr"/>
              <a:lstStyle/>
              <a:p>
                <a:endParaRPr lang="en-US"/>
              </a:p>
            </p:txBody>
          </p:sp>
          <p:sp>
            <p:nvSpPr>
              <p:cNvPr id="20" name="Freeform: Shape 48">
                <a:extLst>
                  <a:ext uri="{FF2B5EF4-FFF2-40B4-BE49-F238E27FC236}">
                    <a16:creationId xmlns:a16="http://schemas.microsoft.com/office/drawing/2014/main" id="{FA744A98-AC5B-F4F1-366D-C34759CB52A4}"/>
                  </a:ext>
                </a:extLst>
              </p:cNvPr>
              <p:cNvSpPr/>
              <p:nvPr/>
            </p:nvSpPr>
            <p:spPr>
              <a:xfrm>
                <a:off x="3781853" y="1286972"/>
                <a:ext cx="2124908" cy="5217883"/>
              </a:xfrm>
              <a:custGeom>
                <a:avLst/>
                <a:gdLst>
                  <a:gd name="connsiteX0" fmla="*/ 1653355 w 2124908"/>
                  <a:gd name="connsiteY0" fmla="*/ 5217884 h 5217883"/>
                  <a:gd name="connsiteX1" fmla="*/ 21179 w 2124908"/>
                  <a:gd name="connsiteY1" fmla="*/ 5217884 h 5217883"/>
                  <a:gd name="connsiteX2" fmla="*/ 0 w 2124908"/>
                  <a:gd name="connsiteY2" fmla="*/ 5196705 h 5217883"/>
                  <a:gd name="connsiteX3" fmla="*/ 21179 w 2124908"/>
                  <a:gd name="connsiteY3" fmla="*/ 5175526 h 5217883"/>
                  <a:gd name="connsiteX4" fmla="*/ 1653355 w 2124908"/>
                  <a:gd name="connsiteY4" fmla="*/ 5175526 h 5217883"/>
                  <a:gd name="connsiteX5" fmla="*/ 2082605 w 2124908"/>
                  <a:gd name="connsiteY5" fmla="*/ 4746277 h 5217883"/>
                  <a:gd name="connsiteX6" fmla="*/ 2082605 w 2124908"/>
                  <a:gd name="connsiteY6" fmla="*/ 471607 h 5217883"/>
                  <a:gd name="connsiteX7" fmla="*/ 1653355 w 2124908"/>
                  <a:gd name="connsiteY7" fmla="*/ 42358 h 5217883"/>
                  <a:gd name="connsiteX8" fmla="*/ 870062 w 2124908"/>
                  <a:gd name="connsiteY8" fmla="*/ 42358 h 5217883"/>
                  <a:gd name="connsiteX9" fmla="*/ 848883 w 2124908"/>
                  <a:gd name="connsiteY9" fmla="*/ 21179 h 5217883"/>
                  <a:gd name="connsiteX10" fmla="*/ 870062 w 2124908"/>
                  <a:gd name="connsiteY10" fmla="*/ 0 h 5217883"/>
                  <a:gd name="connsiteX11" fmla="*/ 1653355 w 2124908"/>
                  <a:gd name="connsiteY11" fmla="*/ 0 h 5217883"/>
                  <a:gd name="connsiteX12" fmla="*/ 2124909 w 2124908"/>
                  <a:gd name="connsiteY12" fmla="*/ 471553 h 5217883"/>
                  <a:gd name="connsiteX13" fmla="*/ 2124909 w 2124908"/>
                  <a:gd name="connsiteY13" fmla="*/ 4746223 h 5217883"/>
                  <a:gd name="connsiteX14" fmla="*/ 1653355 w 2124908"/>
                  <a:gd name="connsiteY14" fmla="*/ 5217776 h 5217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4908" h="5217883">
                    <a:moveTo>
                      <a:pt x="1653355" y="5217884"/>
                    </a:moveTo>
                    <a:lnTo>
                      <a:pt x="21179" y="5217884"/>
                    </a:lnTo>
                    <a:cubicBezTo>
                      <a:pt x="9509" y="5217884"/>
                      <a:pt x="0" y="5208429"/>
                      <a:pt x="0" y="5196705"/>
                    </a:cubicBezTo>
                    <a:cubicBezTo>
                      <a:pt x="0" y="5184981"/>
                      <a:pt x="9455" y="5175526"/>
                      <a:pt x="21179" y="5175526"/>
                    </a:cubicBezTo>
                    <a:lnTo>
                      <a:pt x="1653355" y="5175526"/>
                    </a:lnTo>
                    <a:cubicBezTo>
                      <a:pt x="1890050" y="5175526"/>
                      <a:pt x="2082605" y="4982972"/>
                      <a:pt x="2082605" y="4746277"/>
                    </a:cubicBezTo>
                    <a:lnTo>
                      <a:pt x="2082605" y="471607"/>
                    </a:lnTo>
                    <a:cubicBezTo>
                      <a:pt x="2082605" y="234912"/>
                      <a:pt x="1890050" y="42358"/>
                      <a:pt x="1653355" y="42358"/>
                    </a:cubicBezTo>
                    <a:lnTo>
                      <a:pt x="870062" y="42358"/>
                    </a:lnTo>
                    <a:cubicBezTo>
                      <a:pt x="858392" y="42358"/>
                      <a:pt x="848883" y="32903"/>
                      <a:pt x="848883" y="21179"/>
                    </a:cubicBezTo>
                    <a:cubicBezTo>
                      <a:pt x="848883" y="9455"/>
                      <a:pt x="858338" y="0"/>
                      <a:pt x="870062" y="0"/>
                    </a:cubicBezTo>
                    <a:lnTo>
                      <a:pt x="1653355" y="0"/>
                    </a:lnTo>
                    <a:cubicBezTo>
                      <a:pt x="1913390" y="0"/>
                      <a:pt x="2124909" y="211572"/>
                      <a:pt x="2124909" y="471553"/>
                    </a:cubicBezTo>
                    <a:lnTo>
                      <a:pt x="2124909" y="4746223"/>
                    </a:lnTo>
                    <a:cubicBezTo>
                      <a:pt x="2124909" y="5006257"/>
                      <a:pt x="1913390" y="5217776"/>
                      <a:pt x="1653355" y="5217776"/>
                    </a:cubicBezTo>
                    <a:close/>
                  </a:path>
                </a:pathLst>
              </a:custGeom>
              <a:solidFill>
                <a:srgbClr val="0070C0"/>
              </a:solidFill>
              <a:ln w="15875" cap="flat">
                <a:solidFill>
                  <a:schemeClr val="bg1"/>
                </a:solidFill>
                <a:prstDash val="solid"/>
                <a:miter/>
              </a:ln>
            </p:spPr>
            <p:txBody>
              <a:bodyPr rtlCol="0" anchor="ctr"/>
              <a:lstStyle/>
              <a:p>
                <a:endParaRPr lang="en-US"/>
              </a:p>
            </p:txBody>
          </p:sp>
          <p:sp>
            <p:nvSpPr>
              <p:cNvPr id="21" name="Freeform: Shape 49">
                <a:extLst>
                  <a:ext uri="{FF2B5EF4-FFF2-40B4-BE49-F238E27FC236}">
                    <a16:creationId xmlns:a16="http://schemas.microsoft.com/office/drawing/2014/main" id="{14789175-287F-CD57-C2A4-254B2B8FD0B4}"/>
                  </a:ext>
                </a:extLst>
              </p:cNvPr>
              <p:cNvSpPr/>
              <p:nvPr/>
            </p:nvSpPr>
            <p:spPr>
              <a:xfrm rot="16390200">
                <a:off x="2477735" y="6375042"/>
                <a:ext cx="217191" cy="217191"/>
              </a:xfrm>
              <a:custGeom>
                <a:avLst/>
                <a:gdLst>
                  <a:gd name="connsiteX0" fmla="*/ 217191 w 217191"/>
                  <a:gd name="connsiteY0" fmla="*/ 108595 h 217191"/>
                  <a:gd name="connsiteX1" fmla="*/ 108596 w 217191"/>
                  <a:gd name="connsiteY1" fmla="*/ 217191 h 217191"/>
                  <a:gd name="connsiteX2" fmla="*/ 0 w 217191"/>
                  <a:gd name="connsiteY2" fmla="*/ 108595 h 217191"/>
                  <a:gd name="connsiteX3" fmla="*/ 108596 w 217191"/>
                  <a:gd name="connsiteY3" fmla="*/ 0 h 217191"/>
                  <a:gd name="connsiteX4" fmla="*/ 217191 w 217191"/>
                  <a:gd name="connsiteY4" fmla="*/ 108595 h 2171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191" h="217191">
                    <a:moveTo>
                      <a:pt x="217191" y="108595"/>
                    </a:moveTo>
                    <a:cubicBezTo>
                      <a:pt x="217191" y="168571"/>
                      <a:pt x="168571" y="217191"/>
                      <a:pt x="108596" y="217191"/>
                    </a:cubicBezTo>
                    <a:cubicBezTo>
                      <a:pt x="48620" y="217191"/>
                      <a:pt x="0" y="168571"/>
                      <a:pt x="0" y="108595"/>
                    </a:cubicBezTo>
                    <a:cubicBezTo>
                      <a:pt x="0" y="48620"/>
                      <a:pt x="48620" y="0"/>
                      <a:pt x="108596" y="0"/>
                    </a:cubicBezTo>
                    <a:cubicBezTo>
                      <a:pt x="168571" y="0"/>
                      <a:pt x="217191" y="48620"/>
                      <a:pt x="217191" y="108595"/>
                    </a:cubicBezTo>
                    <a:close/>
                  </a:path>
                </a:pathLst>
              </a:custGeom>
              <a:solidFill>
                <a:srgbClr val="40403F"/>
              </a:solidFill>
              <a:ln w="5398" cap="flat">
                <a:noFill/>
                <a:prstDash val="solid"/>
                <a:miter/>
              </a:ln>
            </p:spPr>
            <p:txBody>
              <a:bodyPr rtlCol="0" anchor="ctr"/>
              <a:lstStyle/>
              <a:p>
                <a:endParaRPr lang="en-US"/>
              </a:p>
            </p:txBody>
          </p:sp>
          <p:sp>
            <p:nvSpPr>
              <p:cNvPr id="22" name="Freeform: Shape 50">
                <a:extLst>
                  <a:ext uri="{FF2B5EF4-FFF2-40B4-BE49-F238E27FC236}">
                    <a16:creationId xmlns:a16="http://schemas.microsoft.com/office/drawing/2014/main" id="{B1B56066-F7BE-3DFB-9ACC-C53E263176A5}"/>
                  </a:ext>
                </a:extLst>
              </p:cNvPr>
              <p:cNvSpPr/>
              <p:nvPr/>
            </p:nvSpPr>
            <p:spPr>
              <a:xfrm rot="16896000">
                <a:off x="3694479" y="6375152"/>
                <a:ext cx="217191" cy="217191"/>
              </a:xfrm>
              <a:custGeom>
                <a:avLst/>
                <a:gdLst>
                  <a:gd name="connsiteX0" fmla="*/ 217191 w 217191"/>
                  <a:gd name="connsiteY0" fmla="*/ 108595 h 217191"/>
                  <a:gd name="connsiteX1" fmla="*/ 108596 w 217191"/>
                  <a:gd name="connsiteY1" fmla="*/ 217191 h 217191"/>
                  <a:gd name="connsiteX2" fmla="*/ 0 w 217191"/>
                  <a:gd name="connsiteY2" fmla="*/ 108595 h 217191"/>
                  <a:gd name="connsiteX3" fmla="*/ 108596 w 217191"/>
                  <a:gd name="connsiteY3" fmla="*/ 0 h 217191"/>
                  <a:gd name="connsiteX4" fmla="*/ 217191 w 217191"/>
                  <a:gd name="connsiteY4" fmla="*/ 108595 h 2171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191" h="217191">
                    <a:moveTo>
                      <a:pt x="217191" y="108595"/>
                    </a:moveTo>
                    <a:cubicBezTo>
                      <a:pt x="217191" y="168571"/>
                      <a:pt x="168571" y="217191"/>
                      <a:pt x="108596" y="217191"/>
                    </a:cubicBezTo>
                    <a:cubicBezTo>
                      <a:pt x="48620" y="217191"/>
                      <a:pt x="0" y="168571"/>
                      <a:pt x="0" y="108595"/>
                    </a:cubicBezTo>
                    <a:cubicBezTo>
                      <a:pt x="0" y="48620"/>
                      <a:pt x="48620" y="0"/>
                      <a:pt x="108596" y="0"/>
                    </a:cubicBezTo>
                    <a:cubicBezTo>
                      <a:pt x="168572" y="0"/>
                      <a:pt x="217191" y="48620"/>
                      <a:pt x="217191" y="108595"/>
                    </a:cubicBezTo>
                    <a:close/>
                  </a:path>
                </a:pathLst>
              </a:custGeom>
              <a:solidFill>
                <a:srgbClr val="0070C0"/>
              </a:solidFill>
              <a:ln w="5398" cap="flat">
                <a:noFill/>
                <a:prstDash val="solid"/>
                <a:miter/>
              </a:ln>
            </p:spPr>
            <p:txBody>
              <a:bodyPr rtlCol="0" anchor="ctr"/>
              <a:lstStyle/>
              <a:p>
                <a:endParaRPr lang="en-US"/>
              </a:p>
            </p:txBody>
          </p:sp>
          <p:sp>
            <p:nvSpPr>
              <p:cNvPr id="23" name="Freeform: Shape 51">
                <a:extLst>
                  <a:ext uri="{FF2B5EF4-FFF2-40B4-BE49-F238E27FC236}">
                    <a16:creationId xmlns:a16="http://schemas.microsoft.com/office/drawing/2014/main" id="{164B7CEB-BDBF-1A2B-34C5-17A41E6382FD}"/>
                  </a:ext>
                </a:extLst>
              </p:cNvPr>
              <p:cNvSpPr/>
              <p:nvPr/>
            </p:nvSpPr>
            <p:spPr>
              <a:xfrm>
                <a:off x="1246605" y="940006"/>
                <a:ext cx="3896151" cy="736397"/>
              </a:xfrm>
              <a:custGeom>
                <a:avLst/>
                <a:gdLst>
                  <a:gd name="connsiteX0" fmla="*/ 368199 w 3896151"/>
                  <a:gd name="connsiteY0" fmla="*/ 736397 h 736397"/>
                  <a:gd name="connsiteX1" fmla="*/ 0 w 3896151"/>
                  <a:gd name="connsiteY1" fmla="*/ 368199 h 736397"/>
                  <a:gd name="connsiteX2" fmla="*/ 368199 w 3896151"/>
                  <a:gd name="connsiteY2" fmla="*/ 0 h 736397"/>
                  <a:gd name="connsiteX3" fmla="*/ 3527953 w 3896151"/>
                  <a:gd name="connsiteY3" fmla="*/ 0 h 736397"/>
                  <a:gd name="connsiteX4" fmla="*/ 3896151 w 3896151"/>
                  <a:gd name="connsiteY4" fmla="*/ 368199 h 736397"/>
                  <a:gd name="connsiteX5" fmla="*/ 3527953 w 3896151"/>
                  <a:gd name="connsiteY5" fmla="*/ 736397 h 736397"/>
                  <a:gd name="connsiteX6" fmla="*/ 368199 w 3896151"/>
                  <a:gd name="connsiteY6" fmla="*/ 736397 h 736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6151" h="736397">
                    <a:moveTo>
                      <a:pt x="368199" y="736397"/>
                    </a:moveTo>
                    <a:cubicBezTo>
                      <a:pt x="165163" y="736397"/>
                      <a:pt x="0" y="571234"/>
                      <a:pt x="0" y="368199"/>
                    </a:cubicBezTo>
                    <a:cubicBezTo>
                      <a:pt x="0" y="165163"/>
                      <a:pt x="165163" y="0"/>
                      <a:pt x="368199" y="0"/>
                    </a:cubicBezTo>
                    <a:lnTo>
                      <a:pt x="3527953" y="0"/>
                    </a:lnTo>
                    <a:cubicBezTo>
                      <a:pt x="3730935" y="0"/>
                      <a:pt x="3896151" y="165163"/>
                      <a:pt x="3896151" y="368199"/>
                    </a:cubicBezTo>
                    <a:cubicBezTo>
                      <a:pt x="3896151" y="571234"/>
                      <a:pt x="3730989" y="736397"/>
                      <a:pt x="3527953" y="736397"/>
                    </a:cubicBezTo>
                    <a:lnTo>
                      <a:pt x="368199" y="736397"/>
                    </a:lnTo>
                    <a:close/>
                  </a:path>
                </a:pathLst>
              </a:custGeom>
              <a:solidFill>
                <a:srgbClr val="FFFFFF"/>
              </a:solidFill>
              <a:ln w="6350" cap="flat">
                <a:solidFill>
                  <a:srgbClr val="0070C0"/>
                </a:solidFill>
                <a:prstDash val="solid"/>
                <a:miter/>
              </a:ln>
            </p:spPr>
            <p:txBody>
              <a:bodyPr rtlCol="0" anchor="ctr"/>
              <a:lstStyle/>
              <a:p>
                <a:pPr algn="ctr"/>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DVT – Design Verification</a:t>
                </a:r>
              </a:p>
            </p:txBody>
          </p:sp>
          <p:sp>
            <p:nvSpPr>
              <p:cNvPr id="24" name="TextBox 23">
                <a:extLst>
                  <a:ext uri="{FF2B5EF4-FFF2-40B4-BE49-F238E27FC236}">
                    <a16:creationId xmlns:a16="http://schemas.microsoft.com/office/drawing/2014/main" id="{DCDA1BE0-0FC4-11B4-8F9A-3C23789A9E7C}"/>
                  </a:ext>
                </a:extLst>
              </p:cNvPr>
              <p:cNvSpPr txBox="1"/>
              <p:nvPr/>
            </p:nvSpPr>
            <p:spPr>
              <a:xfrm>
                <a:off x="771958" y="2131307"/>
                <a:ext cx="4868017" cy="2911051"/>
              </a:xfrm>
              <a:prstGeom prst="rect">
                <a:avLst/>
              </a:prstGeom>
              <a:noFill/>
            </p:spPr>
            <p:txBody>
              <a:bodyPr wrap="square" rtlCol="0">
                <a:spAutoFit/>
              </a:bodyPr>
              <a:lstStyle/>
              <a:p>
                <a:pPr lvl="0">
                  <a:lnSpc>
                    <a:spcPct val="150000"/>
                  </a:lnSpc>
                  <a:defRPr/>
                </a:pPr>
                <a:r>
                  <a:rPr lang="en-US" sz="1600">
                    <a:latin typeface="Lato" panose="020F0502020204030203" pitchFamily="34" charset="0"/>
                    <a:ea typeface="Lato" panose="020F0502020204030203" pitchFamily="34" charset="0"/>
                    <a:cs typeface="Lato" panose="020F0502020204030203" pitchFamily="34" charset="0"/>
                  </a:rPr>
                  <a:t>Beta Prototype, Requirement‑based integration/system integration tests, diagnostics,environmental/electrical/EMC tests and design verification plan (DVP) execution, Engineering change implementation.</a:t>
                </a:r>
              </a:p>
            </p:txBody>
          </p:sp>
        </p:grpSp>
      </p:grpSp>
      <p:sp>
        <p:nvSpPr>
          <p:cNvPr id="39" name="Rectangle: Top Corners Rounded 54">
            <a:extLst>
              <a:ext uri="{FF2B5EF4-FFF2-40B4-BE49-F238E27FC236}">
                <a16:creationId xmlns:a16="http://schemas.microsoft.com/office/drawing/2014/main" id="{6F478133-D892-A660-1630-30EE8BFEE724}"/>
              </a:ext>
            </a:extLst>
          </p:cNvPr>
          <p:cNvSpPr/>
          <p:nvPr/>
        </p:nvSpPr>
        <p:spPr>
          <a:xfrm>
            <a:off x="524031" y="5796119"/>
            <a:ext cx="11143940" cy="614998"/>
          </a:xfrm>
          <a:prstGeom prst="round2SameRect">
            <a:avLst/>
          </a:prstGeom>
          <a:solidFill>
            <a:schemeClr val="bg1"/>
          </a:solidFill>
          <a:ln w="12700">
            <a:solidFill>
              <a:srgbClr val="00B0F0"/>
            </a:solidFill>
          </a:ln>
          <a:effectLst>
            <a:outerShdw dist="25400" dir="5400000" algn="t" rotWithShape="0">
              <a:srgbClr val="00B0F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rgbClr val="0070C0"/>
                </a:solidFill>
                <a:latin typeface="Lato" panose="020F0502020204030203" pitchFamily="34" charset="0"/>
                <a:ea typeface="Lato" panose="020F0502020204030203" pitchFamily="34" charset="0"/>
                <a:cs typeface="Lato" panose="020F0502020204030203" pitchFamily="34" charset="0"/>
              </a:rPr>
              <a:t>Each phase is linked to explicit test suites and acceptance criteria to support gate reviews.</a:t>
            </a:r>
          </a:p>
        </p:txBody>
      </p:sp>
    </p:spTree>
    <p:extLst>
      <p:ext uri="{BB962C8B-B14F-4D97-AF65-F5344CB8AC3E}">
        <p14:creationId xmlns:p14="http://schemas.microsoft.com/office/powerpoint/2010/main" val="28026624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D282A-49E9-9043-1418-570B4F15221F}"/>
              </a:ext>
            </a:extLst>
          </p:cNvPr>
          <p:cNvSpPr>
            <a:spLocks noGrp="1"/>
          </p:cNvSpPr>
          <p:nvPr>
            <p:ph type="title"/>
          </p:nvPr>
        </p:nvSpPr>
        <p:spPr>
          <a:xfrm>
            <a:off x="285205" y="145617"/>
            <a:ext cx="10926134" cy="576000"/>
          </a:xfrm>
        </p:spPr>
        <p:txBody>
          <a:bodyPr/>
          <a:lstStyle/>
          <a:p>
            <a:r>
              <a:rPr lang="en-US"/>
              <a:t>Quote Details</a:t>
            </a:r>
            <a:endParaRPr lang="en-IN"/>
          </a:p>
        </p:txBody>
      </p:sp>
      <p:graphicFrame>
        <p:nvGraphicFramePr>
          <p:cNvPr id="4" name="Table 3">
            <a:extLst>
              <a:ext uri="{FF2B5EF4-FFF2-40B4-BE49-F238E27FC236}">
                <a16:creationId xmlns:a16="http://schemas.microsoft.com/office/drawing/2014/main" id="{EE8B0DE9-FAA3-2B13-DB6E-FDA0D536D81E}"/>
              </a:ext>
            </a:extLst>
          </p:cNvPr>
          <p:cNvGraphicFramePr>
            <a:graphicFrameLocks noGrp="1"/>
          </p:cNvGraphicFramePr>
          <p:nvPr/>
        </p:nvGraphicFramePr>
        <p:xfrm>
          <a:off x="412621" y="721617"/>
          <a:ext cx="10109458" cy="4023092"/>
        </p:xfrm>
        <a:graphic>
          <a:graphicData uri="http://schemas.openxmlformats.org/drawingml/2006/table">
            <a:tbl>
              <a:tblPr/>
              <a:tblGrid>
                <a:gridCol w="4123350">
                  <a:extLst>
                    <a:ext uri="{9D8B030D-6E8A-4147-A177-3AD203B41FA5}">
                      <a16:colId xmlns:a16="http://schemas.microsoft.com/office/drawing/2014/main" val="1079711101"/>
                    </a:ext>
                  </a:extLst>
                </a:gridCol>
                <a:gridCol w="1423244">
                  <a:extLst>
                    <a:ext uri="{9D8B030D-6E8A-4147-A177-3AD203B41FA5}">
                      <a16:colId xmlns:a16="http://schemas.microsoft.com/office/drawing/2014/main" val="2680479405"/>
                    </a:ext>
                  </a:extLst>
                </a:gridCol>
                <a:gridCol w="4562864">
                  <a:extLst>
                    <a:ext uri="{9D8B030D-6E8A-4147-A177-3AD203B41FA5}">
                      <a16:colId xmlns:a16="http://schemas.microsoft.com/office/drawing/2014/main" val="1497148499"/>
                    </a:ext>
                  </a:extLst>
                </a:gridCol>
              </a:tblGrid>
              <a:tr h="389825">
                <a:tc>
                  <a:txBody>
                    <a:bodyPr/>
                    <a:lstStyle/>
                    <a:p>
                      <a:pPr algn="ctr" fontAlgn="ctr">
                        <a:buNone/>
                      </a:pPr>
                      <a:r>
                        <a:rPr lang="en-IN" sz="1200" b="1" i="0" u="none" strike="noStrike">
                          <a:solidFill>
                            <a:schemeClr val="bg1"/>
                          </a:solidFill>
                          <a:effectLst/>
                          <a:latin typeface="Lato" panose="020F0502020204030203" pitchFamily="34" charset="0"/>
                          <a:ea typeface="Lato" panose="020F0502020204030203" pitchFamily="34" charset="0"/>
                          <a:cs typeface="Lato" panose="020F0502020204030203" pitchFamily="34" charset="0"/>
                        </a:rPr>
                        <a:t>Cost of Development</a:t>
                      </a:r>
                    </a:p>
                  </a:txBody>
                  <a:tcPr marL="9507" marR="9507" marT="9507" marB="68283" anchor="ctr">
                    <a:lnL w="3175" cap="flat" cmpd="sng" algn="ctr">
                      <a:solidFill>
                        <a:srgbClr val="00B0F0"/>
                      </a:solidFill>
                      <a:prstDash val="solid"/>
                      <a:round/>
                      <a:headEnd type="none" w="med" len="med"/>
                      <a:tailEnd type="none" w="med" len="med"/>
                    </a:lnL>
                    <a:lnR w="3175" cap="flat" cmpd="sng" algn="ctr">
                      <a:solidFill>
                        <a:srgbClr val="00B0F0"/>
                      </a:solidFill>
                      <a:prstDash val="solid"/>
                      <a:round/>
                      <a:headEnd type="none" w="med" len="med"/>
                      <a:tailEnd type="none" w="med" len="med"/>
                    </a:lnR>
                    <a:lnT w="3175" cap="flat" cmpd="sng" algn="ctr">
                      <a:solidFill>
                        <a:srgbClr val="00B0F0"/>
                      </a:solidFill>
                      <a:prstDash val="solid"/>
                      <a:round/>
                      <a:headEnd type="none" w="med" len="med"/>
                      <a:tailEnd type="none" w="med" len="med"/>
                    </a:lnT>
                    <a:lnB w="3175" cap="flat" cmpd="sng" algn="ctr">
                      <a:solidFill>
                        <a:srgbClr val="00B0F0"/>
                      </a:solidFill>
                      <a:prstDash val="solid"/>
                      <a:round/>
                      <a:headEnd type="none" w="med" len="med"/>
                      <a:tailEnd type="none" w="med" len="med"/>
                    </a:lnB>
                    <a:solidFill>
                      <a:srgbClr val="0070C0"/>
                    </a:solidFill>
                  </a:tcPr>
                </a:tc>
                <a:tc>
                  <a:txBody>
                    <a:bodyPr/>
                    <a:lstStyle/>
                    <a:p>
                      <a:pPr algn="ctr" fontAlgn="ctr">
                        <a:buNone/>
                      </a:pPr>
                      <a:r>
                        <a:rPr lang="en-IN" sz="1200" b="1" i="0" u="none" strike="noStrike">
                          <a:solidFill>
                            <a:schemeClr val="bg1"/>
                          </a:solidFill>
                          <a:effectLst/>
                          <a:latin typeface="Lato" panose="020F0502020204030203" pitchFamily="34" charset="0"/>
                          <a:ea typeface="Lato" panose="020F0502020204030203" pitchFamily="34" charset="0"/>
                          <a:cs typeface="Lato" panose="020F0502020204030203" pitchFamily="34" charset="0"/>
                        </a:rPr>
                        <a:t>NRE (USD)</a:t>
                      </a:r>
                    </a:p>
                  </a:txBody>
                  <a:tcPr marL="9507" marR="9507" marT="9507" marB="68283" anchor="ctr">
                    <a:lnL w="3175" cap="flat" cmpd="sng" algn="ctr">
                      <a:solidFill>
                        <a:srgbClr val="00B0F0"/>
                      </a:solidFill>
                      <a:prstDash val="solid"/>
                      <a:round/>
                      <a:headEnd type="none" w="med" len="med"/>
                      <a:tailEnd type="none" w="med" len="med"/>
                    </a:lnL>
                    <a:lnR w="3175" cap="flat" cmpd="sng" algn="ctr">
                      <a:solidFill>
                        <a:srgbClr val="00B0F0"/>
                      </a:solidFill>
                      <a:prstDash val="solid"/>
                      <a:round/>
                      <a:headEnd type="none" w="med" len="med"/>
                      <a:tailEnd type="none" w="med" len="med"/>
                    </a:lnR>
                    <a:lnT w="3175" cap="flat" cmpd="sng" algn="ctr">
                      <a:solidFill>
                        <a:srgbClr val="00B0F0"/>
                      </a:solidFill>
                      <a:prstDash val="solid"/>
                      <a:round/>
                      <a:headEnd type="none" w="med" len="med"/>
                      <a:tailEnd type="none" w="med" len="med"/>
                    </a:lnT>
                    <a:lnB w="3175" cap="flat" cmpd="sng" algn="ctr">
                      <a:solidFill>
                        <a:srgbClr val="00B0F0"/>
                      </a:solidFill>
                      <a:prstDash val="solid"/>
                      <a:round/>
                      <a:headEnd type="none" w="med" len="med"/>
                      <a:tailEnd type="none" w="med" len="med"/>
                    </a:lnB>
                    <a:solidFill>
                      <a:srgbClr val="0070C0"/>
                    </a:solidFill>
                  </a:tcPr>
                </a:tc>
                <a:tc>
                  <a:txBody>
                    <a:bodyPr/>
                    <a:lstStyle/>
                    <a:p>
                      <a:pPr algn="ctr" fontAlgn="ctr">
                        <a:buNone/>
                      </a:pPr>
                      <a:r>
                        <a:rPr lang="en-IN" sz="1200" b="1" i="0" u="none" strike="noStrike">
                          <a:solidFill>
                            <a:schemeClr val="bg1"/>
                          </a:solidFill>
                          <a:effectLst/>
                          <a:latin typeface="Lato" panose="020F0502020204030203" pitchFamily="34" charset="0"/>
                          <a:ea typeface="Lato" panose="020F0502020204030203" pitchFamily="34" charset="0"/>
                          <a:cs typeface="Lato" panose="020F0502020204030203" pitchFamily="34" charset="0"/>
                        </a:rPr>
                        <a:t>Remarks</a:t>
                      </a:r>
                    </a:p>
                  </a:txBody>
                  <a:tcPr marL="9507" marR="9507" marT="9507" marB="68283" anchor="ctr">
                    <a:lnL w="3175" cap="flat" cmpd="sng" algn="ctr">
                      <a:solidFill>
                        <a:srgbClr val="00B0F0"/>
                      </a:solidFill>
                      <a:prstDash val="solid"/>
                      <a:round/>
                      <a:headEnd type="none" w="med" len="med"/>
                      <a:tailEnd type="none" w="med" len="med"/>
                    </a:lnL>
                    <a:lnR w="3175" cap="flat" cmpd="sng" algn="ctr">
                      <a:solidFill>
                        <a:srgbClr val="00B0F0"/>
                      </a:solidFill>
                      <a:prstDash val="solid"/>
                      <a:round/>
                      <a:headEnd type="none" w="med" len="med"/>
                      <a:tailEnd type="none" w="med" len="med"/>
                    </a:lnR>
                    <a:lnT w="3175" cap="flat" cmpd="sng" algn="ctr">
                      <a:solidFill>
                        <a:srgbClr val="00B0F0"/>
                      </a:solidFill>
                      <a:prstDash val="solid"/>
                      <a:round/>
                      <a:headEnd type="none" w="med" len="med"/>
                      <a:tailEnd type="none" w="med" len="med"/>
                    </a:lnT>
                    <a:lnB w="3175" cap="flat" cmpd="sng" algn="ctr">
                      <a:solidFill>
                        <a:srgbClr val="00B0F0"/>
                      </a:solidFill>
                      <a:prstDash val="solid"/>
                      <a:round/>
                      <a:headEnd type="none" w="med" len="med"/>
                      <a:tailEnd type="none" w="med" len="med"/>
                    </a:lnB>
                    <a:solidFill>
                      <a:srgbClr val="0070C0"/>
                    </a:solidFill>
                  </a:tcPr>
                </a:tc>
                <a:extLst>
                  <a:ext uri="{0D108BD9-81ED-4DB2-BD59-A6C34878D82A}">
                    <a16:rowId xmlns:a16="http://schemas.microsoft.com/office/drawing/2014/main" val="1287540067"/>
                  </a:ext>
                </a:extLst>
              </a:tr>
              <a:tr h="339251">
                <a:tc>
                  <a:txBody>
                    <a:bodyPr/>
                    <a:lstStyle/>
                    <a:p>
                      <a:pPr algn="l" fontAlgn="b">
                        <a:buNone/>
                      </a:pPr>
                      <a:r>
                        <a:rPr lang="en-IN" sz="10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Development NRE</a:t>
                      </a:r>
                    </a:p>
                  </a:txBody>
                  <a:tcPr marL="9507" marR="9507" marT="9507" marB="68283" anchor="ctr">
                    <a:lnL w="3175" cap="flat" cmpd="sng" algn="ctr">
                      <a:solidFill>
                        <a:srgbClr val="00B0F0"/>
                      </a:solidFill>
                      <a:prstDash val="solid"/>
                      <a:round/>
                      <a:headEnd type="none" w="med" len="med"/>
                      <a:tailEnd type="none" w="med" len="med"/>
                    </a:lnL>
                    <a:lnR w="3175" cap="flat" cmpd="sng" algn="ctr">
                      <a:solidFill>
                        <a:srgbClr val="00B0F0"/>
                      </a:solidFill>
                      <a:prstDash val="solid"/>
                      <a:round/>
                      <a:headEnd type="none" w="med" len="med"/>
                      <a:tailEnd type="none" w="med" len="med"/>
                    </a:lnR>
                    <a:lnT w="3175" cap="flat" cmpd="sng" algn="ctr">
                      <a:solidFill>
                        <a:srgbClr val="00B0F0"/>
                      </a:solidFill>
                      <a:prstDash val="solid"/>
                      <a:round/>
                      <a:headEnd type="none" w="med" len="med"/>
                      <a:tailEnd type="none" w="med" len="med"/>
                    </a:lnT>
                    <a:lnB w="3175" cap="flat" cmpd="sng" algn="ctr">
                      <a:solidFill>
                        <a:srgbClr val="00B0F0"/>
                      </a:solidFill>
                      <a:prstDash val="solid"/>
                      <a:round/>
                      <a:headEnd type="none" w="med" len="med"/>
                      <a:tailEnd type="none" w="med" len="med"/>
                    </a:lnB>
                    <a:solidFill>
                      <a:srgbClr val="F2F2F2"/>
                    </a:solidFill>
                  </a:tcPr>
                </a:tc>
                <a:tc>
                  <a:txBody>
                    <a:bodyPr/>
                    <a:lstStyle/>
                    <a:p>
                      <a:pPr algn="ctr" fontAlgn="b">
                        <a:buNone/>
                      </a:pPr>
                      <a:r>
                        <a:rPr lang="en-IN" sz="10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$763,000 </a:t>
                      </a:r>
                    </a:p>
                  </a:txBody>
                  <a:tcPr marL="9507" marR="9507" marT="9507" marB="68283" anchor="ctr">
                    <a:lnL w="3175" cap="flat" cmpd="sng" algn="ctr">
                      <a:solidFill>
                        <a:srgbClr val="00B0F0"/>
                      </a:solidFill>
                      <a:prstDash val="solid"/>
                      <a:round/>
                      <a:headEnd type="none" w="med" len="med"/>
                      <a:tailEnd type="none" w="med" len="med"/>
                    </a:lnL>
                    <a:lnR w="3175" cap="flat" cmpd="sng" algn="ctr">
                      <a:solidFill>
                        <a:srgbClr val="00B0F0"/>
                      </a:solidFill>
                      <a:prstDash val="solid"/>
                      <a:round/>
                      <a:headEnd type="none" w="med" len="med"/>
                      <a:tailEnd type="none" w="med" len="med"/>
                    </a:lnR>
                    <a:lnT w="3175" cap="flat" cmpd="sng" algn="ctr">
                      <a:solidFill>
                        <a:srgbClr val="00B0F0"/>
                      </a:solidFill>
                      <a:prstDash val="solid"/>
                      <a:round/>
                      <a:headEnd type="none" w="med" len="med"/>
                      <a:tailEnd type="none" w="med" len="med"/>
                    </a:lnT>
                    <a:lnB w="3175" cap="flat" cmpd="sng" algn="ctr">
                      <a:solidFill>
                        <a:srgbClr val="00B0F0"/>
                      </a:solidFill>
                      <a:prstDash val="solid"/>
                      <a:round/>
                      <a:headEnd type="none" w="med" len="med"/>
                      <a:tailEnd type="none" w="med" len="med"/>
                    </a:lnB>
                    <a:solidFill>
                      <a:srgbClr val="F2F2F2"/>
                    </a:solidFill>
                  </a:tcPr>
                </a:tc>
                <a:tc>
                  <a:txBody>
                    <a:bodyPr/>
                    <a:lstStyle/>
                    <a:p>
                      <a:pPr algn="l" fontAlgn="b">
                        <a:buNone/>
                      </a:pPr>
                      <a:endParaRPr lang="en-IN" sz="10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07" marR="9507" marT="9507" marB="68283" anchor="ctr">
                    <a:lnL w="3175" cap="flat" cmpd="sng" algn="ctr">
                      <a:solidFill>
                        <a:srgbClr val="00B0F0"/>
                      </a:solidFill>
                      <a:prstDash val="solid"/>
                      <a:round/>
                      <a:headEnd type="none" w="med" len="med"/>
                      <a:tailEnd type="none" w="med" len="med"/>
                    </a:lnL>
                    <a:lnR w="3175" cap="flat" cmpd="sng" algn="ctr">
                      <a:solidFill>
                        <a:srgbClr val="00B0F0"/>
                      </a:solidFill>
                      <a:prstDash val="solid"/>
                      <a:round/>
                      <a:headEnd type="none" w="med" len="med"/>
                      <a:tailEnd type="none" w="med" len="med"/>
                    </a:lnR>
                    <a:lnT w="3175" cap="flat" cmpd="sng" algn="ctr">
                      <a:solidFill>
                        <a:srgbClr val="00B0F0"/>
                      </a:solidFill>
                      <a:prstDash val="solid"/>
                      <a:round/>
                      <a:headEnd type="none" w="med" len="med"/>
                      <a:tailEnd type="none" w="med" len="med"/>
                    </a:lnT>
                    <a:lnB w="3175" cap="flat" cmpd="sng" algn="ctr">
                      <a:solidFill>
                        <a:srgbClr val="00B0F0"/>
                      </a:solidFill>
                      <a:prstDash val="solid"/>
                      <a:round/>
                      <a:headEnd type="none" w="med" len="med"/>
                      <a:tailEnd type="none" w="med" len="med"/>
                    </a:lnB>
                    <a:noFill/>
                  </a:tcPr>
                </a:tc>
                <a:extLst>
                  <a:ext uri="{0D108BD9-81ED-4DB2-BD59-A6C34878D82A}">
                    <a16:rowId xmlns:a16="http://schemas.microsoft.com/office/drawing/2014/main" val="955996179"/>
                  </a:ext>
                </a:extLst>
              </a:tr>
              <a:tr h="339251">
                <a:tc>
                  <a:txBody>
                    <a:bodyPr/>
                    <a:lstStyle/>
                    <a:p>
                      <a:pPr algn="l" fontAlgn="b">
                        <a:buNone/>
                      </a:pPr>
                      <a:r>
                        <a:rPr lang="en-US" sz="10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SW AUTOSAR Classic (Elektrobit) - One-time Fee</a:t>
                      </a:r>
                    </a:p>
                  </a:txBody>
                  <a:tcPr marL="9507" marR="9507" marT="9507" marB="68283" anchor="ctr">
                    <a:lnL w="3175" cap="flat" cmpd="sng" algn="ctr">
                      <a:solidFill>
                        <a:srgbClr val="00B0F0"/>
                      </a:solidFill>
                      <a:prstDash val="solid"/>
                      <a:round/>
                      <a:headEnd type="none" w="med" len="med"/>
                      <a:tailEnd type="none" w="med" len="med"/>
                    </a:lnL>
                    <a:lnR w="3175" cap="flat" cmpd="sng" algn="ctr">
                      <a:solidFill>
                        <a:srgbClr val="00B0F0"/>
                      </a:solidFill>
                      <a:prstDash val="solid"/>
                      <a:round/>
                      <a:headEnd type="none" w="med" len="med"/>
                      <a:tailEnd type="none" w="med" len="med"/>
                    </a:lnR>
                    <a:lnT w="3175" cap="flat" cmpd="sng" algn="ctr">
                      <a:solidFill>
                        <a:srgbClr val="00B0F0"/>
                      </a:solidFill>
                      <a:prstDash val="solid"/>
                      <a:round/>
                      <a:headEnd type="none" w="med" len="med"/>
                      <a:tailEnd type="none" w="med" len="med"/>
                    </a:lnT>
                    <a:lnB w="3175" cap="flat" cmpd="sng" algn="ctr">
                      <a:solidFill>
                        <a:srgbClr val="00B0F0"/>
                      </a:solidFill>
                      <a:prstDash val="solid"/>
                      <a:round/>
                      <a:headEnd type="none" w="med" len="med"/>
                      <a:tailEnd type="none" w="med" len="med"/>
                    </a:lnB>
                    <a:solidFill>
                      <a:srgbClr val="F2F2F2"/>
                    </a:solidFill>
                  </a:tcPr>
                </a:tc>
                <a:tc>
                  <a:txBody>
                    <a:bodyPr/>
                    <a:lstStyle/>
                    <a:p>
                      <a:pPr algn="ctr" fontAlgn="b">
                        <a:buNone/>
                      </a:pPr>
                      <a:r>
                        <a:rPr lang="en-IN" sz="10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$480,000 </a:t>
                      </a:r>
                    </a:p>
                  </a:txBody>
                  <a:tcPr marL="9507" marR="9507" marT="9507" marB="68283" anchor="ctr">
                    <a:lnL w="3175" cap="flat" cmpd="sng" algn="ctr">
                      <a:solidFill>
                        <a:srgbClr val="00B0F0"/>
                      </a:solidFill>
                      <a:prstDash val="solid"/>
                      <a:round/>
                      <a:headEnd type="none" w="med" len="med"/>
                      <a:tailEnd type="none" w="med" len="med"/>
                    </a:lnL>
                    <a:lnR w="3175" cap="flat" cmpd="sng" algn="ctr">
                      <a:solidFill>
                        <a:srgbClr val="00B0F0"/>
                      </a:solidFill>
                      <a:prstDash val="solid"/>
                      <a:round/>
                      <a:headEnd type="none" w="med" len="med"/>
                      <a:tailEnd type="none" w="med" len="med"/>
                    </a:lnR>
                    <a:lnT w="3175" cap="flat" cmpd="sng" algn="ctr">
                      <a:solidFill>
                        <a:srgbClr val="00B0F0"/>
                      </a:solidFill>
                      <a:prstDash val="solid"/>
                      <a:round/>
                      <a:headEnd type="none" w="med" len="med"/>
                      <a:tailEnd type="none" w="med" len="med"/>
                    </a:lnT>
                    <a:lnB w="3175" cap="flat" cmpd="sng" algn="ctr">
                      <a:solidFill>
                        <a:srgbClr val="00B0F0"/>
                      </a:solidFill>
                      <a:prstDash val="solid"/>
                      <a:round/>
                      <a:headEnd type="none" w="med" len="med"/>
                      <a:tailEnd type="none" w="med" len="med"/>
                    </a:lnB>
                    <a:solidFill>
                      <a:srgbClr val="F2F2F2"/>
                    </a:solidFill>
                  </a:tcPr>
                </a:tc>
                <a:tc>
                  <a:txBody>
                    <a:bodyPr/>
                    <a:lstStyle/>
                    <a:p>
                      <a:pPr algn="l" fontAlgn="b">
                        <a:buNone/>
                      </a:pPr>
                      <a:r>
                        <a:rPr lang="en-US" sz="10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Elecktrobit NRE + ECU Eval.kits and Test Bench</a:t>
                      </a:r>
                    </a:p>
                  </a:txBody>
                  <a:tcPr marL="9507" marR="9507" marT="9507" marB="68283" anchor="ctr">
                    <a:lnL w="3175" cap="flat" cmpd="sng" algn="ctr">
                      <a:solidFill>
                        <a:srgbClr val="00B0F0"/>
                      </a:solidFill>
                      <a:prstDash val="solid"/>
                      <a:round/>
                      <a:headEnd type="none" w="med" len="med"/>
                      <a:tailEnd type="none" w="med" len="med"/>
                    </a:lnL>
                    <a:lnR w="3175" cap="flat" cmpd="sng" algn="ctr">
                      <a:solidFill>
                        <a:srgbClr val="00B0F0"/>
                      </a:solidFill>
                      <a:prstDash val="solid"/>
                      <a:round/>
                      <a:headEnd type="none" w="med" len="med"/>
                      <a:tailEnd type="none" w="med" len="med"/>
                    </a:lnR>
                    <a:lnT w="3175" cap="flat" cmpd="sng" algn="ctr">
                      <a:solidFill>
                        <a:srgbClr val="00B0F0"/>
                      </a:solidFill>
                      <a:prstDash val="solid"/>
                      <a:round/>
                      <a:headEnd type="none" w="med" len="med"/>
                      <a:tailEnd type="none" w="med" len="med"/>
                    </a:lnT>
                    <a:lnB w="3175" cap="flat" cmpd="sng" algn="ctr">
                      <a:solidFill>
                        <a:srgbClr val="00B0F0"/>
                      </a:solidFill>
                      <a:prstDash val="solid"/>
                      <a:round/>
                      <a:headEnd type="none" w="med" len="med"/>
                      <a:tailEnd type="none" w="med" len="med"/>
                    </a:lnB>
                    <a:noFill/>
                  </a:tcPr>
                </a:tc>
                <a:extLst>
                  <a:ext uri="{0D108BD9-81ED-4DB2-BD59-A6C34878D82A}">
                    <a16:rowId xmlns:a16="http://schemas.microsoft.com/office/drawing/2014/main" val="3032635397"/>
                  </a:ext>
                </a:extLst>
              </a:tr>
              <a:tr h="339251">
                <a:tc>
                  <a:txBody>
                    <a:bodyPr/>
                    <a:lstStyle/>
                    <a:p>
                      <a:pPr algn="r" fontAlgn="b">
                        <a:buNone/>
                      </a:pPr>
                      <a:r>
                        <a:rPr lang="en-IN" sz="1000"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Total</a:t>
                      </a:r>
                    </a:p>
                  </a:txBody>
                  <a:tcPr marL="9507" marR="9507" marT="9507" marB="68283" anchor="ctr">
                    <a:lnL w="3175" cap="flat" cmpd="sng" algn="ctr">
                      <a:solidFill>
                        <a:srgbClr val="00B0F0"/>
                      </a:solidFill>
                      <a:prstDash val="solid"/>
                      <a:round/>
                      <a:headEnd type="none" w="med" len="med"/>
                      <a:tailEnd type="none" w="med" len="med"/>
                    </a:lnL>
                    <a:lnR w="3175" cap="flat" cmpd="sng" algn="ctr">
                      <a:solidFill>
                        <a:srgbClr val="00B0F0"/>
                      </a:solidFill>
                      <a:prstDash val="solid"/>
                      <a:round/>
                      <a:headEnd type="none" w="med" len="med"/>
                      <a:tailEnd type="none" w="med" len="med"/>
                    </a:lnR>
                    <a:lnT w="3175" cap="flat" cmpd="sng" algn="ctr">
                      <a:solidFill>
                        <a:srgbClr val="00B0F0"/>
                      </a:solidFill>
                      <a:prstDash val="solid"/>
                      <a:round/>
                      <a:headEnd type="none" w="med" len="med"/>
                      <a:tailEnd type="none" w="med" len="med"/>
                    </a:lnT>
                    <a:lnB w="3175" cap="flat" cmpd="sng" algn="ctr">
                      <a:solidFill>
                        <a:srgbClr val="00B0F0"/>
                      </a:solidFill>
                      <a:prstDash val="solid"/>
                      <a:round/>
                      <a:headEnd type="none" w="med" len="med"/>
                      <a:tailEnd type="none" w="med" len="med"/>
                    </a:lnB>
                    <a:solidFill>
                      <a:schemeClr val="tx2">
                        <a:lumMod val="10000"/>
                        <a:lumOff val="90000"/>
                        <a:alpha val="58000"/>
                      </a:schemeClr>
                    </a:solidFill>
                  </a:tcPr>
                </a:tc>
                <a:tc>
                  <a:txBody>
                    <a:bodyPr/>
                    <a:lstStyle/>
                    <a:p>
                      <a:pPr algn="ctr" fontAlgn="b">
                        <a:buNone/>
                      </a:pPr>
                      <a:r>
                        <a:rPr lang="en-IN" sz="1000"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$1,243,000 </a:t>
                      </a:r>
                    </a:p>
                  </a:txBody>
                  <a:tcPr marL="9507" marR="9507" marT="9507" marB="68283" anchor="ctr">
                    <a:lnL w="3175" cap="flat" cmpd="sng" algn="ctr">
                      <a:solidFill>
                        <a:srgbClr val="00B0F0"/>
                      </a:solidFill>
                      <a:prstDash val="solid"/>
                      <a:round/>
                      <a:headEnd type="none" w="med" len="med"/>
                      <a:tailEnd type="none" w="med" len="med"/>
                    </a:lnL>
                    <a:lnR w="3175" cap="flat" cmpd="sng" algn="ctr">
                      <a:solidFill>
                        <a:srgbClr val="00B0F0"/>
                      </a:solidFill>
                      <a:prstDash val="solid"/>
                      <a:round/>
                      <a:headEnd type="none" w="med" len="med"/>
                      <a:tailEnd type="none" w="med" len="med"/>
                    </a:lnR>
                    <a:lnT w="3175" cap="flat" cmpd="sng" algn="ctr">
                      <a:solidFill>
                        <a:srgbClr val="00B0F0"/>
                      </a:solidFill>
                      <a:prstDash val="solid"/>
                      <a:round/>
                      <a:headEnd type="none" w="med" len="med"/>
                      <a:tailEnd type="none" w="med" len="med"/>
                    </a:lnT>
                    <a:lnB w="3175" cap="flat" cmpd="sng" algn="ctr">
                      <a:solidFill>
                        <a:srgbClr val="00B0F0"/>
                      </a:solidFill>
                      <a:prstDash val="solid"/>
                      <a:round/>
                      <a:headEnd type="none" w="med" len="med"/>
                      <a:tailEnd type="none" w="med" len="med"/>
                    </a:lnB>
                    <a:solidFill>
                      <a:schemeClr val="tx2">
                        <a:lumMod val="10000"/>
                        <a:lumOff val="90000"/>
                        <a:alpha val="58000"/>
                      </a:schemeClr>
                    </a:solidFill>
                  </a:tcPr>
                </a:tc>
                <a:tc>
                  <a:txBody>
                    <a:bodyPr/>
                    <a:lstStyle/>
                    <a:p>
                      <a:pPr algn="l" fontAlgn="b">
                        <a:buNone/>
                      </a:pPr>
                      <a:endParaRPr lang="en-IN" sz="1000"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07" marR="9507" marT="9507" marB="68283" anchor="ctr">
                    <a:lnL w="3175" cap="flat" cmpd="sng" algn="ctr">
                      <a:solidFill>
                        <a:srgbClr val="00B0F0"/>
                      </a:solidFill>
                      <a:prstDash val="solid"/>
                      <a:round/>
                      <a:headEnd type="none" w="med" len="med"/>
                      <a:tailEnd type="none" w="med" len="med"/>
                    </a:lnL>
                    <a:lnR w="3175" cap="flat" cmpd="sng" algn="ctr">
                      <a:solidFill>
                        <a:srgbClr val="00B0F0"/>
                      </a:solidFill>
                      <a:prstDash val="solid"/>
                      <a:round/>
                      <a:headEnd type="none" w="med" len="med"/>
                      <a:tailEnd type="none" w="med" len="med"/>
                    </a:lnR>
                    <a:lnT w="3175" cap="flat" cmpd="sng" algn="ctr">
                      <a:solidFill>
                        <a:srgbClr val="00B0F0"/>
                      </a:solidFill>
                      <a:prstDash val="solid"/>
                      <a:round/>
                      <a:headEnd type="none" w="med" len="med"/>
                      <a:tailEnd type="none" w="med" len="med"/>
                    </a:lnT>
                    <a:lnB w="3175" cap="flat" cmpd="sng" algn="ctr">
                      <a:solidFill>
                        <a:srgbClr val="00B0F0"/>
                      </a:solidFill>
                      <a:prstDash val="solid"/>
                      <a:round/>
                      <a:headEnd type="none" w="med" len="med"/>
                      <a:tailEnd type="none" w="med" len="med"/>
                    </a:lnB>
                    <a:solidFill>
                      <a:schemeClr val="tx2">
                        <a:lumMod val="10000"/>
                        <a:lumOff val="90000"/>
                        <a:alpha val="58000"/>
                      </a:schemeClr>
                    </a:solidFill>
                  </a:tcPr>
                </a:tc>
                <a:extLst>
                  <a:ext uri="{0D108BD9-81ED-4DB2-BD59-A6C34878D82A}">
                    <a16:rowId xmlns:a16="http://schemas.microsoft.com/office/drawing/2014/main" val="3595134347"/>
                  </a:ext>
                </a:extLst>
              </a:tr>
              <a:tr h="364531">
                <a:tc>
                  <a:txBody>
                    <a:bodyPr/>
                    <a:lstStyle/>
                    <a:p>
                      <a:pPr algn="l" fontAlgn="b">
                        <a:buNone/>
                      </a:pPr>
                      <a:endParaRPr lang="en-IN" sz="11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07" marR="9507" marT="9507" marB="68283" anchor="ctr">
                    <a:lnL>
                      <a:noFill/>
                    </a:lnL>
                    <a:lnR>
                      <a:noFill/>
                    </a:lnR>
                    <a:lnT w="3175" cap="flat" cmpd="sng" algn="ctr">
                      <a:solidFill>
                        <a:srgbClr val="00B0F0"/>
                      </a:solidFill>
                      <a:prstDash val="solid"/>
                      <a:round/>
                      <a:headEnd type="none" w="med" len="med"/>
                      <a:tailEnd type="none" w="med" len="med"/>
                    </a:lnT>
                    <a:lnB>
                      <a:noFill/>
                    </a:lnB>
                    <a:noFill/>
                  </a:tcPr>
                </a:tc>
                <a:tc>
                  <a:txBody>
                    <a:bodyPr/>
                    <a:lstStyle/>
                    <a:p>
                      <a:pPr algn="ctr" fontAlgn="b">
                        <a:buNone/>
                      </a:pPr>
                      <a:endParaRPr lang="en-IN" sz="11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07" marR="9507" marT="9507" marB="68283" anchor="ctr">
                    <a:lnL>
                      <a:noFill/>
                    </a:lnL>
                    <a:lnR>
                      <a:noFill/>
                    </a:lnR>
                    <a:lnT w="3175" cap="flat" cmpd="sng" algn="ctr">
                      <a:solidFill>
                        <a:srgbClr val="00B0F0"/>
                      </a:solidFill>
                      <a:prstDash val="solid"/>
                      <a:round/>
                      <a:headEnd type="none" w="med" len="med"/>
                      <a:tailEnd type="none" w="med" len="med"/>
                    </a:lnT>
                    <a:lnB>
                      <a:noFill/>
                    </a:lnB>
                    <a:noFill/>
                  </a:tcPr>
                </a:tc>
                <a:tc>
                  <a:txBody>
                    <a:bodyPr/>
                    <a:lstStyle/>
                    <a:p>
                      <a:pPr algn="l" fontAlgn="b">
                        <a:buNone/>
                      </a:pPr>
                      <a:endParaRPr lang="en-IN" sz="11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07" marR="9507" marT="9507" marB="68283" anchor="ctr">
                    <a:lnL>
                      <a:noFill/>
                    </a:lnL>
                    <a:lnR>
                      <a:noFill/>
                    </a:lnR>
                    <a:lnT w="3175" cap="flat" cmpd="sng" algn="ctr">
                      <a:solidFill>
                        <a:srgbClr val="00B0F0"/>
                      </a:solidFill>
                      <a:prstDash val="solid"/>
                      <a:round/>
                      <a:headEnd type="none" w="med" len="med"/>
                      <a:tailEnd type="none" w="med" len="med"/>
                    </a:lnT>
                    <a:lnB>
                      <a:noFill/>
                    </a:lnB>
                    <a:noFill/>
                  </a:tcPr>
                </a:tc>
                <a:extLst>
                  <a:ext uri="{0D108BD9-81ED-4DB2-BD59-A6C34878D82A}">
                    <a16:rowId xmlns:a16="http://schemas.microsoft.com/office/drawing/2014/main" val="4176592722"/>
                  </a:ext>
                </a:extLst>
              </a:tr>
              <a:tr h="364531">
                <a:tc>
                  <a:txBody>
                    <a:bodyPr/>
                    <a:lstStyle/>
                    <a:p>
                      <a:pPr algn="l" fontAlgn="b">
                        <a:buNone/>
                      </a:pPr>
                      <a:r>
                        <a:rPr lang="en-IN" sz="1100" b="1" i="0" u="none" strike="noStrike">
                          <a:solidFill>
                            <a:schemeClr val="tx1"/>
                          </a:solidFill>
                          <a:effectLst/>
                          <a:latin typeface="Lato" panose="020F0502020204030203" pitchFamily="34" charset="0"/>
                          <a:ea typeface="Lato" panose="020F0502020204030203" pitchFamily="34" charset="0"/>
                          <a:cs typeface="Lato" panose="020F0502020204030203" pitchFamily="34" charset="0"/>
                        </a:rPr>
                        <a:t>NRE Breakup</a:t>
                      </a:r>
                    </a:p>
                  </a:txBody>
                  <a:tcPr marL="9507" marR="9507" marT="9507" marB="68283" anchor="ctr">
                    <a:lnL>
                      <a:noFill/>
                    </a:lnL>
                    <a:lnR>
                      <a:noFill/>
                    </a:lnR>
                    <a:lnT>
                      <a:noFill/>
                    </a:lnT>
                    <a:lnB w="3175" cap="flat" cmpd="sng" algn="ctr">
                      <a:solidFill>
                        <a:srgbClr val="00B0F0"/>
                      </a:solidFill>
                      <a:prstDash val="solid"/>
                      <a:round/>
                      <a:headEnd type="none" w="med" len="med"/>
                      <a:tailEnd type="none" w="med" len="med"/>
                    </a:lnB>
                    <a:solidFill>
                      <a:schemeClr val="accent1">
                        <a:lumMod val="20000"/>
                        <a:lumOff val="80000"/>
                      </a:schemeClr>
                    </a:solidFill>
                  </a:tcPr>
                </a:tc>
                <a:tc>
                  <a:txBody>
                    <a:bodyPr/>
                    <a:lstStyle/>
                    <a:p>
                      <a:pPr algn="ctr" fontAlgn="b">
                        <a:buNone/>
                      </a:pPr>
                      <a:endParaRPr lang="en-IN" sz="11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07" marR="9507" marT="9507" marB="68283" anchor="ctr">
                    <a:lnL>
                      <a:noFill/>
                    </a:lnL>
                    <a:lnR>
                      <a:noFill/>
                    </a:lnR>
                    <a:lnT>
                      <a:noFill/>
                    </a:lnT>
                    <a:lnB w="3175" cap="flat" cmpd="sng" algn="ctr">
                      <a:solidFill>
                        <a:srgbClr val="00B0F0"/>
                      </a:solidFill>
                      <a:prstDash val="solid"/>
                      <a:round/>
                      <a:headEnd type="none" w="med" len="med"/>
                      <a:tailEnd type="none" w="med" len="med"/>
                    </a:lnB>
                    <a:noFill/>
                  </a:tcPr>
                </a:tc>
                <a:tc>
                  <a:txBody>
                    <a:bodyPr/>
                    <a:lstStyle/>
                    <a:p>
                      <a:pPr algn="l" fontAlgn="b">
                        <a:buNone/>
                      </a:pPr>
                      <a:endParaRPr lang="en-IN" sz="11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07" marR="9507" marT="9507" marB="68283" anchor="ctr">
                    <a:lnL>
                      <a:noFill/>
                    </a:lnL>
                    <a:lnR>
                      <a:noFill/>
                    </a:lnR>
                    <a:lnT>
                      <a:noFill/>
                    </a:lnT>
                    <a:lnB w="3175" cap="flat" cmpd="sng" algn="ctr">
                      <a:solidFill>
                        <a:srgbClr val="00B0F0"/>
                      </a:solidFill>
                      <a:prstDash val="solid"/>
                      <a:round/>
                      <a:headEnd type="none" w="med" len="med"/>
                      <a:tailEnd type="none" w="med" len="med"/>
                    </a:lnB>
                    <a:noFill/>
                  </a:tcPr>
                </a:tc>
                <a:extLst>
                  <a:ext uri="{0D108BD9-81ED-4DB2-BD59-A6C34878D82A}">
                    <a16:rowId xmlns:a16="http://schemas.microsoft.com/office/drawing/2014/main" val="2514086807"/>
                  </a:ext>
                </a:extLst>
              </a:tr>
              <a:tr h="389825">
                <a:tc>
                  <a:txBody>
                    <a:bodyPr/>
                    <a:lstStyle/>
                    <a:p>
                      <a:pPr algn="ctr" fontAlgn="ctr">
                        <a:buNone/>
                      </a:pPr>
                      <a:r>
                        <a:rPr lang="en-IN" sz="1200" b="1" i="0" u="none" strike="noStrike">
                          <a:solidFill>
                            <a:schemeClr val="bg1"/>
                          </a:solidFill>
                          <a:effectLst/>
                          <a:latin typeface="Lato" panose="020F0502020204030203" pitchFamily="34" charset="0"/>
                          <a:ea typeface="Lato" panose="020F0502020204030203" pitchFamily="34" charset="0"/>
                          <a:cs typeface="Lato" panose="020F0502020204030203" pitchFamily="34" charset="0"/>
                        </a:rPr>
                        <a:t>Development NRE</a:t>
                      </a:r>
                    </a:p>
                  </a:txBody>
                  <a:tcPr marL="9507" marR="9507" marT="9507" marB="68283" anchor="ctr">
                    <a:lnL w="3175" cap="flat" cmpd="sng" algn="ctr">
                      <a:solidFill>
                        <a:srgbClr val="00B0F0"/>
                      </a:solidFill>
                      <a:prstDash val="solid"/>
                      <a:round/>
                      <a:headEnd type="none" w="med" len="med"/>
                      <a:tailEnd type="none" w="med" len="med"/>
                    </a:lnL>
                    <a:lnR w="3175" cap="flat" cmpd="sng" algn="ctr">
                      <a:solidFill>
                        <a:srgbClr val="00B0F0"/>
                      </a:solidFill>
                      <a:prstDash val="solid"/>
                      <a:round/>
                      <a:headEnd type="none" w="med" len="med"/>
                      <a:tailEnd type="none" w="med" len="med"/>
                    </a:lnR>
                    <a:lnT w="3175" cap="flat" cmpd="sng" algn="ctr">
                      <a:solidFill>
                        <a:srgbClr val="00B0F0"/>
                      </a:solidFill>
                      <a:prstDash val="solid"/>
                      <a:round/>
                      <a:headEnd type="none" w="med" len="med"/>
                      <a:tailEnd type="none" w="med" len="med"/>
                    </a:lnT>
                    <a:lnB w="3175" cap="flat" cmpd="sng" algn="ctr">
                      <a:solidFill>
                        <a:srgbClr val="00B0F0"/>
                      </a:solidFill>
                      <a:prstDash val="solid"/>
                      <a:round/>
                      <a:headEnd type="none" w="med" len="med"/>
                      <a:tailEnd type="none" w="med" len="med"/>
                    </a:lnB>
                    <a:solidFill>
                      <a:srgbClr val="0070C0"/>
                    </a:solidFill>
                  </a:tcPr>
                </a:tc>
                <a:tc>
                  <a:txBody>
                    <a:bodyPr/>
                    <a:lstStyle/>
                    <a:p>
                      <a:pPr algn="ctr" fontAlgn="ctr">
                        <a:buNone/>
                      </a:pPr>
                      <a:r>
                        <a:rPr lang="en-IN" sz="1200" b="1" i="0" u="none" strike="noStrike">
                          <a:solidFill>
                            <a:schemeClr val="bg1"/>
                          </a:solidFill>
                          <a:effectLst/>
                          <a:latin typeface="Lato" panose="020F0502020204030203" pitchFamily="34" charset="0"/>
                          <a:ea typeface="Lato" panose="020F0502020204030203" pitchFamily="34" charset="0"/>
                          <a:cs typeface="Lato" panose="020F0502020204030203" pitchFamily="34" charset="0"/>
                        </a:rPr>
                        <a:t>NRE (USD)</a:t>
                      </a:r>
                    </a:p>
                  </a:txBody>
                  <a:tcPr marL="9507" marR="9507" marT="9507" marB="68283" anchor="ctr">
                    <a:lnL w="3175" cap="flat" cmpd="sng" algn="ctr">
                      <a:solidFill>
                        <a:srgbClr val="00B0F0"/>
                      </a:solidFill>
                      <a:prstDash val="solid"/>
                      <a:round/>
                      <a:headEnd type="none" w="med" len="med"/>
                      <a:tailEnd type="none" w="med" len="med"/>
                    </a:lnL>
                    <a:lnR w="3175" cap="flat" cmpd="sng" algn="ctr">
                      <a:solidFill>
                        <a:srgbClr val="00B0F0"/>
                      </a:solidFill>
                      <a:prstDash val="solid"/>
                      <a:round/>
                      <a:headEnd type="none" w="med" len="med"/>
                      <a:tailEnd type="none" w="med" len="med"/>
                    </a:lnR>
                    <a:lnT w="3175" cap="flat" cmpd="sng" algn="ctr">
                      <a:solidFill>
                        <a:srgbClr val="00B0F0"/>
                      </a:solidFill>
                      <a:prstDash val="solid"/>
                      <a:round/>
                      <a:headEnd type="none" w="med" len="med"/>
                      <a:tailEnd type="none" w="med" len="med"/>
                    </a:lnT>
                    <a:lnB w="3175" cap="flat" cmpd="sng" algn="ctr">
                      <a:solidFill>
                        <a:srgbClr val="00B0F0"/>
                      </a:solidFill>
                      <a:prstDash val="solid"/>
                      <a:round/>
                      <a:headEnd type="none" w="med" len="med"/>
                      <a:tailEnd type="none" w="med" len="med"/>
                    </a:lnB>
                    <a:solidFill>
                      <a:srgbClr val="0070C0"/>
                    </a:solidFill>
                  </a:tcPr>
                </a:tc>
                <a:tc>
                  <a:txBody>
                    <a:bodyPr/>
                    <a:lstStyle/>
                    <a:p>
                      <a:pPr algn="ctr" fontAlgn="ctr">
                        <a:buNone/>
                      </a:pPr>
                      <a:r>
                        <a:rPr lang="en-IN" sz="1200" b="1" i="0" u="none" strike="noStrike">
                          <a:solidFill>
                            <a:schemeClr val="bg1"/>
                          </a:solidFill>
                          <a:effectLst/>
                          <a:latin typeface="Lato" panose="020F0502020204030203" pitchFamily="34" charset="0"/>
                          <a:ea typeface="Lato" panose="020F0502020204030203" pitchFamily="34" charset="0"/>
                          <a:cs typeface="Lato" panose="020F0502020204030203" pitchFamily="34" charset="0"/>
                        </a:rPr>
                        <a:t>Remarks</a:t>
                      </a:r>
                    </a:p>
                  </a:txBody>
                  <a:tcPr marL="9507" marR="9507" marT="9507" marB="68283" anchor="ctr">
                    <a:lnL w="3175" cap="flat" cmpd="sng" algn="ctr">
                      <a:solidFill>
                        <a:srgbClr val="00B0F0"/>
                      </a:solidFill>
                      <a:prstDash val="solid"/>
                      <a:round/>
                      <a:headEnd type="none" w="med" len="med"/>
                      <a:tailEnd type="none" w="med" len="med"/>
                    </a:lnL>
                    <a:lnR w="3175" cap="flat" cmpd="sng" algn="ctr">
                      <a:solidFill>
                        <a:srgbClr val="00B0F0"/>
                      </a:solidFill>
                      <a:prstDash val="solid"/>
                      <a:round/>
                      <a:headEnd type="none" w="med" len="med"/>
                      <a:tailEnd type="none" w="med" len="med"/>
                    </a:lnR>
                    <a:lnT w="3175" cap="flat" cmpd="sng" algn="ctr">
                      <a:solidFill>
                        <a:srgbClr val="00B0F0"/>
                      </a:solidFill>
                      <a:prstDash val="solid"/>
                      <a:round/>
                      <a:headEnd type="none" w="med" len="med"/>
                      <a:tailEnd type="none" w="med" len="med"/>
                    </a:lnT>
                    <a:lnB w="3175" cap="flat" cmpd="sng" algn="ctr">
                      <a:solidFill>
                        <a:srgbClr val="00B0F0"/>
                      </a:solidFill>
                      <a:prstDash val="solid"/>
                      <a:round/>
                      <a:headEnd type="none" w="med" len="med"/>
                      <a:tailEnd type="none" w="med" len="med"/>
                    </a:lnB>
                    <a:solidFill>
                      <a:srgbClr val="0070C0"/>
                    </a:solidFill>
                  </a:tcPr>
                </a:tc>
                <a:extLst>
                  <a:ext uri="{0D108BD9-81ED-4DB2-BD59-A6C34878D82A}">
                    <a16:rowId xmlns:a16="http://schemas.microsoft.com/office/drawing/2014/main" val="1601726583"/>
                  </a:ext>
                </a:extLst>
              </a:tr>
              <a:tr h="478874">
                <a:tc>
                  <a:txBody>
                    <a:bodyPr/>
                    <a:lstStyle/>
                    <a:p>
                      <a:pPr algn="l" fontAlgn="b">
                        <a:buNone/>
                      </a:pPr>
                      <a:r>
                        <a:rPr lang="en-IN" sz="10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Architecture Design</a:t>
                      </a:r>
                    </a:p>
                  </a:txBody>
                  <a:tcPr marL="9507" marR="9507" marT="9507" marB="68283" anchor="ctr">
                    <a:lnL w="3175" cap="flat" cmpd="sng" algn="ctr">
                      <a:solidFill>
                        <a:srgbClr val="00B0F0"/>
                      </a:solidFill>
                      <a:prstDash val="solid"/>
                      <a:round/>
                      <a:headEnd type="none" w="med" len="med"/>
                      <a:tailEnd type="none" w="med" len="med"/>
                    </a:lnL>
                    <a:lnR w="3175" cap="flat" cmpd="sng" algn="ctr">
                      <a:solidFill>
                        <a:srgbClr val="00B0F0"/>
                      </a:solidFill>
                      <a:prstDash val="solid"/>
                      <a:round/>
                      <a:headEnd type="none" w="med" len="med"/>
                      <a:tailEnd type="none" w="med" len="med"/>
                    </a:lnR>
                    <a:lnT w="3175" cap="flat" cmpd="sng" algn="ctr">
                      <a:solidFill>
                        <a:srgbClr val="00B0F0"/>
                      </a:solidFill>
                      <a:prstDash val="solid"/>
                      <a:round/>
                      <a:headEnd type="none" w="med" len="med"/>
                      <a:tailEnd type="none" w="med" len="med"/>
                    </a:lnT>
                    <a:lnB w="3175" cap="flat" cmpd="sng" algn="ctr">
                      <a:solidFill>
                        <a:srgbClr val="00B0F0"/>
                      </a:solidFill>
                      <a:prstDash val="solid"/>
                      <a:round/>
                      <a:headEnd type="none" w="med" len="med"/>
                      <a:tailEnd type="none" w="med" len="med"/>
                    </a:lnB>
                    <a:solidFill>
                      <a:srgbClr val="F2F2F2"/>
                    </a:solidFill>
                  </a:tcPr>
                </a:tc>
                <a:tc>
                  <a:txBody>
                    <a:bodyPr/>
                    <a:lstStyle/>
                    <a:p>
                      <a:pPr algn="ctr" fontAlgn="b">
                        <a:buNone/>
                      </a:pPr>
                      <a:r>
                        <a:rPr lang="en-IN" sz="10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$95,000 </a:t>
                      </a:r>
                    </a:p>
                  </a:txBody>
                  <a:tcPr marL="9507" marR="9507" marT="9507" marB="68283" anchor="ctr">
                    <a:lnL w="3175" cap="flat" cmpd="sng" algn="ctr">
                      <a:solidFill>
                        <a:srgbClr val="00B0F0"/>
                      </a:solidFill>
                      <a:prstDash val="solid"/>
                      <a:round/>
                      <a:headEnd type="none" w="med" len="med"/>
                      <a:tailEnd type="none" w="med" len="med"/>
                    </a:lnL>
                    <a:lnR w="3175" cap="flat" cmpd="sng" algn="ctr">
                      <a:solidFill>
                        <a:srgbClr val="00B0F0"/>
                      </a:solidFill>
                      <a:prstDash val="solid"/>
                      <a:round/>
                      <a:headEnd type="none" w="med" len="med"/>
                      <a:tailEnd type="none" w="med" len="med"/>
                    </a:lnR>
                    <a:lnT w="3175" cap="flat" cmpd="sng" algn="ctr">
                      <a:solidFill>
                        <a:srgbClr val="00B0F0"/>
                      </a:solidFill>
                      <a:prstDash val="solid"/>
                      <a:round/>
                      <a:headEnd type="none" w="med" len="med"/>
                      <a:tailEnd type="none" w="med" len="med"/>
                    </a:lnT>
                    <a:lnB w="3175" cap="flat" cmpd="sng" algn="ctr">
                      <a:solidFill>
                        <a:srgbClr val="00B0F0"/>
                      </a:solidFill>
                      <a:prstDash val="solid"/>
                      <a:round/>
                      <a:headEnd type="none" w="med" len="med"/>
                      <a:tailEnd type="none" w="med" len="med"/>
                    </a:lnB>
                    <a:solidFill>
                      <a:srgbClr val="F2F2F2"/>
                    </a:solidFill>
                  </a:tcPr>
                </a:tc>
                <a:tc>
                  <a:txBody>
                    <a:bodyPr/>
                    <a:lstStyle/>
                    <a:p>
                      <a:pPr algn="l" fontAlgn="b">
                        <a:buNone/>
                      </a:pPr>
                      <a:endParaRPr lang="en-IN" sz="10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07" marR="9507" marT="9507" marB="68283" anchor="ctr">
                    <a:lnL w="3175" cap="flat" cmpd="sng" algn="ctr">
                      <a:solidFill>
                        <a:srgbClr val="00B0F0"/>
                      </a:solidFill>
                      <a:prstDash val="solid"/>
                      <a:round/>
                      <a:headEnd type="none" w="med" len="med"/>
                      <a:tailEnd type="none" w="med" len="med"/>
                    </a:lnL>
                    <a:lnR w="3175" cap="flat" cmpd="sng" algn="ctr">
                      <a:solidFill>
                        <a:srgbClr val="00B0F0"/>
                      </a:solidFill>
                      <a:prstDash val="solid"/>
                      <a:round/>
                      <a:headEnd type="none" w="med" len="med"/>
                      <a:tailEnd type="none" w="med" len="med"/>
                    </a:lnR>
                    <a:lnT w="3175" cap="flat" cmpd="sng" algn="ctr">
                      <a:solidFill>
                        <a:srgbClr val="00B0F0"/>
                      </a:solidFill>
                      <a:prstDash val="solid"/>
                      <a:round/>
                      <a:headEnd type="none" w="med" len="med"/>
                      <a:tailEnd type="none" w="med" len="med"/>
                    </a:lnT>
                    <a:lnB w="3175" cap="flat" cmpd="sng" algn="ctr">
                      <a:solidFill>
                        <a:srgbClr val="00B0F0"/>
                      </a:solidFill>
                      <a:prstDash val="solid"/>
                      <a:round/>
                      <a:headEnd type="none" w="med" len="med"/>
                      <a:tailEnd type="none" w="med" len="med"/>
                    </a:lnB>
                    <a:noFill/>
                  </a:tcPr>
                </a:tc>
                <a:extLst>
                  <a:ext uri="{0D108BD9-81ED-4DB2-BD59-A6C34878D82A}">
                    <a16:rowId xmlns:a16="http://schemas.microsoft.com/office/drawing/2014/main" val="1788072362"/>
                  </a:ext>
                </a:extLst>
              </a:tr>
              <a:tr h="339251">
                <a:tc>
                  <a:txBody>
                    <a:bodyPr/>
                    <a:lstStyle/>
                    <a:p>
                      <a:pPr algn="l" fontAlgn="b">
                        <a:buNone/>
                      </a:pPr>
                      <a:r>
                        <a:rPr lang="en-IN" sz="10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Alpha Prototypes</a:t>
                      </a:r>
                    </a:p>
                  </a:txBody>
                  <a:tcPr marL="9507" marR="9507" marT="9507" marB="68283" anchor="ctr">
                    <a:lnL w="3175" cap="flat" cmpd="sng" algn="ctr">
                      <a:solidFill>
                        <a:srgbClr val="00B0F0"/>
                      </a:solidFill>
                      <a:prstDash val="solid"/>
                      <a:round/>
                      <a:headEnd type="none" w="med" len="med"/>
                      <a:tailEnd type="none" w="med" len="med"/>
                    </a:lnL>
                    <a:lnR w="3175" cap="flat" cmpd="sng" algn="ctr">
                      <a:solidFill>
                        <a:srgbClr val="00B0F0"/>
                      </a:solidFill>
                      <a:prstDash val="solid"/>
                      <a:round/>
                      <a:headEnd type="none" w="med" len="med"/>
                      <a:tailEnd type="none" w="med" len="med"/>
                    </a:lnR>
                    <a:lnT w="3175" cap="flat" cmpd="sng" algn="ctr">
                      <a:solidFill>
                        <a:srgbClr val="00B0F0"/>
                      </a:solidFill>
                      <a:prstDash val="solid"/>
                      <a:round/>
                      <a:headEnd type="none" w="med" len="med"/>
                      <a:tailEnd type="none" w="med" len="med"/>
                    </a:lnT>
                    <a:lnB w="3175" cap="flat" cmpd="sng" algn="ctr">
                      <a:solidFill>
                        <a:srgbClr val="00B0F0"/>
                      </a:solidFill>
                      <a:prstDash val="solid"/>
                      <a:round/>
                      <a:headEnd type="none" w="med" len="med"/>
                      <a:tailEnd type="none" w="med" len="med"/>
                    </a:lnB>
                    <a:solidFill>
                      <a:srgbClr val="F2F2F2"/>
                    </a:solidFill>
                  </a:tcPr>
                </a:tc>
                <a:tc>
                  <a:txBody>
                    <a:bodyPr/>
                    <a:lstStyle/>
                    <a:p>
                      <a:pPr algn="ctr" fontAlgn="b">
                        <a:buNone/>
                      </a:pPr>
                      <a:r>
                        <a:rPr lang="en-IN" sz="10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$216,000 </a:t>
                      </a:r>
                    </a:p>
                  </a:txBody>
                  <a:tcPr marL="9507" marR="9507" marT="9507" marB="68283" anchor="ctr">
                    <a:lnL w="3175" cap="flat" cmpd="sng" algn="ctr">
                      <a:solidFill>
                        <a:srgbClr val="00B0F0"/>
                      </a:solidFill>
                      <a:prstDash val="solid"/>
                      <a:round/>
                      <a:headEnd type="none" w="med" len="med"/>
                      <a:tailEnd type="none" w="med" len="med"/>
                    </a:lnL>
                    <a:lnR w="3175" cap="flat" cmpd="sng" algn="ctr">
                      <a:solidFill>
                        <a:srgbClr val="00B0F0"/>
                      </a:solidFill>
                      <a:prstDash val="solid"/>
                      <a:round/>
                      <a:headEnd type="none" w="med" len="med"/>
                      <a:tailEnd type="none" w="med" len="med"/>
                    </a:lnR>
                    <a:lnT w="3175" cap="flat" cmpd="sng" algn="ctr">
                      <a:solidFill>
                        <a:srgbClr val="00B0F0"/>
                      </a:solidFill>
                      <a:prstDash val="solid"/>
                      <a:round/>
                      <a:headEnd type="none" w="med" len="med"/>
                      <a:tailEnd type="none" w="med" len="med"/>
                    </a:lnT>
                    <a:lnB w="3175" cap="flat" cmpd="sng" algn="ctr">
                      <a:solidFill>
                        <a:srgbClr val="00B0F0"/>
                      </a:solidFill>
                      <a:prstDash val="solid"/>
                      <a:round/>
                      <a:headEnd type="none" w="med" len="med"/>
                      <a:tailEnd type="none" w="med" len="med"/>
                    </a:lnB>
                    <a:solidFill>
                      <a:srgbClr val="F2F2F2"/>
                    </a:solidFill>
                  </a:tcPr>
                </a:tc>
                <a:tc>
                  <a:txBody>
                    <a:bodyPr/>
                    <a:lstStyle/>
                    <a:p>
                      <a:pPr algn="l" fontAlgn="b">
                        <a:buNone/>
                      </a:pPr>
                      <a:endParaRPr lang="en-IN" sz="10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07" marR="9507" marT="9507" marB="68283" anchor="ctr">
                    <a:lnL w="3175" cap="flat" cmpd="sng" algn="ctr">
                      <a:solidFill>
                        <a:srgbClr val="00B0F0"/>
                      </a:solidFill>
                      <a:prstDash val="solid"/>
                      <a:round/>
                      <a:headEnd type="none" w="med" len="med"/>
                      <a:tailEnd type="none" w="med" len="med"/>
                    </a:lnL>
                    <a:lnR w="3175" cap="flat" cmpd="sng" algn="ctr">
                      <a:solidFill>
                        <a:srgbClr val="00B0F0"/>
                      </a:solidFill>
                      <a:prstDash val="solid"/>
                      <a:round/>
                      <a:headEnd type="none" w="med" len="med"/>
                      <a:tailEnd type="none" w="med" len="med"/>
                    </a:lnR>
                    <a:lnT w="3175" cap="flat" cmpd="sng" algn="ctr">
                      <a:solidFill>
                        <a:srgbClr val="00B0F0"/>
                      </a:solidFill>
                      <a:prstDash val="solid"/>
                      <a:round/>
                      <a:headEnd type="none" w="med" len="med"/>
                      <a:tailEnd type="none" w="med" len="med"/>
                    </a:lnT>
                    <a:lnB w="3175" cap="flat" cmpd="sng" algn="ctr">
                      <a:solidFill>
                        <a:srgbClr val="00B0F0"/>
                      </a:solidFill>
                      <a:prstDash val="solid"/>
                      <a:round/>
                      <a:headEnd type="none" w="med" len="med"/>
                      <a:tailEnd type="none" w="med" len="med"/>
                    </a:lnB>
                    <a:noFill/>
                  </a:tcPr>
                </a:tc>
                <a:extLst>
                  <a:ext uri="{0D108BD9-81ED-4DB2-BD59-A6C34878D82A}">
                    <a16:rowId xmlns:a16="http://schemas.microsoft.com/office/drawing/2014/main" val="3619090620"/>
                  </a:ext>
                </a:extLst>
              </a:tr>
              <a:tr h="339251">
                <a:tc>
                  <a:txBody>
                    <a:bodyPr/>
                    <a:lstStyle/>
                    <a:p>
                      <a:pPr algn="l" fontAlgn="b">
                        <a:buNone/>
                      </a:pPr>
                      <a:r>
                        <a:rPr lang="en-IN" sz="10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Beta Prototypes</a:t>
                      </a:r>
                    </a:p>
                  </a:txBody>
                  <a:tcPr marL="9507" marR="9507" marT="9507" marB="68283" anchor="ctr">
                    <a:lnL w="3175" cap="flat" cmpd="sng" algn="ctr">
                      <a:solidFill>
                        <a:srgbClr val="00B0F0"/>
                      </a:solidFill>
                      <a:prstDash val="solid"/>
                      <a:round/>
                      <a:headEnd type="none" w="med" len="med"/>
                      <a:tailEnd type="none" w="med" len="med"/>
                    </a:lnL>
                    <a:lnR w="3175" cap="flat" cmpd="sng" algn="ctr">
                      <a:solidFill>
                        <a:srgbClr val="00B0F0"/>
                      </a:solidFill>
                      <a:prstDash val="solid"/>
                      <a:round/>
                      <a:headEnd type="none" w="med" len="med"/>
                      <a:tailEnd type="none" w="med" len="med"/>
                    </a:lnR>
                    <a:lnT w="3175" cap="flat" cmpd="sng" algn="ctr">
                      <a:solidFill>
                        <a:srgbClr val="00B0F0"/>
                      </a:solidFill>
                      <a:prstDash val="solid"/>
                      <a:round/>
                      <a:headEnd type="none" w="med" len="med"/>
                      <a:tailEnd type="none" w="med" len="med"/>
                    </a:lnT>
                    <a:lnB w="3175" cap="flat" cmpd="sng" algn="ctr">
                      <a:solidFill>
                        <a:srgbClr val="00B0F0"/>
                      </a:solidFill>
                      <a:prstDash val="solid"/>
                      <a:round/>
                      <a:headEnd type="none" w="med" len="med"/>
                      <a:tailEnd type="none" w="med" len="med"/>
                    </a:lnB>
                    <a:solidFill>
                      <a:srgbClr val="F2F2F2"/>
                    </a:solidFill>
                  </a:tcPr>
                </a:tc>
                <a:tc>
                  <a:txBody>
                    <a:bodyPr/>
                    <a:lstStyle/>
                    <a:p>
                      <a:pPr algn="ctr" fontAlgn="b">
                        <a:buNone/>
                      </a:pPr>
                      <a:r>
                        <a:rPr lang="en-IN" sz="10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$452,000 </a:t>
                      </a:r>
                    </a:p>
                  </a:txBody>
                  <a:tcPr marL="9507" marR="9507" marT="9507" marB="68283" anchor="ctr">
                    <a:lnL w="3175" cap="flat" cmpd="sng" algn="ctr">
                      <a:solidFill>
                        <a:srgbClr val="00B0F0"/>
                      </a:solidFill>
                      <a:prstDash val="solid"/>
                      <a:round/>
                      <a:headEnd type="none" w="med" len="med"/>
                      <a:tailEnd type="none" w="med" len="med"/>
                    </a:lnL>
                    <a:lnR w="3175" cap="flat" cmpd="sng" algn="ctr">
                      <a:solidFill>
                        <a:srgbClr val="00B0F0"/>
                      </a:solidFill>
                      <a:prstDash val="solid"/>
                      <a:round/>
                      <a:headEnd type="none" w="med" len="med"/>
                      <a:tailEnd type="none" w="med" len="med"/>
                    </a:lnR>
                    <a:lnT w="3175" cap="flat" cmpd="sng" algn="ctr">
                      <a:solidFill>
                        <a:srgbClr val="00B0F0"/>
                      </a:solidFill>
                      <a:prstDash val="solid"/>
                      <a:round/>
                      <a:headEnd type="none" w="med" len="med"/>
                      <a:tailEnd type="none" w="med" len="med"/>
                    </a:lnT>
                    <a:lnB w="3175" cap="flat" cmpd="sng" algn="ctr">
                      <a:solidFill>
                        <a:srgbClr val="00B0F0"/>
                      </a:solidFill>
                      <a:prstDash val="solid"/>
                      <a:round/>
                      <a:headEnd type="none" w="med" len="med"/>
                      <a:tailEnd type="none" w="med" len="med"/>
                    </a:lnB>
                    <a:solidFill>
                      <a:srgbClr val="F2F2F2"/>
                    </a:solidFill>
                  </a:tcPr>
                </a:tc>
                <a:tc>
                  <a:txBody>
                    <a:bodyPr/>
                    <a:lstStyle/>
                    <a:p>
                      <a:pPr algn="l" fontAlgn="b">
                        <a:buNone/>
                      </a:pPr>
                      <a:endParaRPr lang="en-IN" sz="10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07" marR="9507" marT="9507" marB="68283" anchor="ctr">
                    <a:lnL w="3175" cap="flat" cmpd="sng" algn="ctr">
                      <a:solidFill>
                        <a:srgbClr val="00B0F0"/>
                      </a:solidFill>
                      <a:prstDash val="solid"/>
                      <a:round/>
                      <a:headEnd type="none" w="med" len="med"/>
                      <a:tailEnd type="none" w="med" len="med"/>
                    </a:lnL>
                    <a:lnR w="3175" cap="flat" cmpd="sng" algn="ctr">
                      <a:solidFill>
                        <a:srgbClr val="00B0F0"/>
                      </a:solidFill>
                      <a:prstDash val="solid"/>
                      <a:round/>
                      <a:headEnd type="none" w="med" len="med"/>
                      <a:tailEnd type="none" w="med" len="med"/>
                    </a:lnR>
                    <a:lnT w="3175" cap="flat" cmpd="sng" algn="ctr">
                      <a:solidFill>
                        <a:srgbClr val="00B0F0"/>
                      </a:solidFill>
                      <a:prstDash val="solid"/>
                      <a:round/>
                      <a:headEnd type="none" w="med" len="med"/>
                      <a:tailEnd type="none" w="med" len="med"/>
                    </a:lnT>
                    <a:lnB w="3175" cap="flat" cmpd="sng" algn="ctr">
                      <a:solidFill>
                        <a:srgbClr val="00B0F0"/>
                      </a:solidFill>
                      <a:prstDash val="solid"/>
                      <a:round/>
                      <a:headEnd type="none" w="med" len="med"/>
                      <a:tailEnd type="none" w="med" len="med"/>
                    </a:lnB>
                    <a:noFill/>
                  </a:tcPr>
                </a:tc>
                <a:extLst>
                  <a:ext uri="{0D108BD9-81ED-4DB2-BD59-A6C34878D82A}">
                    <a16:rowId xmlns:a16="http://schemas.microsoft.com/office/drawing/2014/main" val="3646162671"/>
                  </a:ext>
                </a:extLst>
              </a:tr>
              <a:tr h="339251">
                <a:tc>
                  <a:txBody>
                    <a:bodyPr/>
                    <a:lstStyle/>
                    <a:p>
                      <a:pPr algn="r" fontAlgn="b">
                        <a:buNone/>
                      </a:pPr>
                      <a:r>
                        <a:rPr lang="en-IN" sz="1000"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Total</a:t>
                      </a:r>
                    </a:p>
                  </a:txBody>
                  <a:tcPr marL="9507" marR="9507" marT="9507" marB="68283" anchor="ctr">
                    <a:lnL w="3175" cap="flat" cmpd="sng" algn="ctr">
                      <a:solidFill>
                        <a:srgbClr val="00B0F0"/>
                      </a:solidFill>
                      <a:prstDash val="solid"/>
                      <a:round/>
                      <a:headEnd type="none" w="med" len="med"/>
                      <a:tailEnd type="none" w="med" len="med"/>
                    </a:lnL>
                    <a:lnR w="3175" cap="flat" cmpd="sng" algn="ctr">
                      <a:solidFill>
                        <a:srgbClr val="00B0F0"/>
                      </a:solidFill>
                      <a:prstDash val="solid"/>
                      <a:round/>
                      <a:headEnd type="none" w="med" len="med"/>
                      <a:tailEnd type="none" w="med" len="med"/>
                    </a:lnR>
                    <a:lnT w="3175" cap="flat" cmpd="sng" algn="ctr">
                      <a:solidFill>
                        <a:srgbClr val="00B0F0"/>
                      </a:solidFill>
                      <a:prstDash val="solid"/>
                      <a:round/>
                      <a:headEnd type="none" w="med" len="med"/>
                      <a:tailEnd type="none" w="med" len="med"/>
                    </a:lnT>
                    <a:lnB w="3175" cap="flat" cmpd="sng" algn="ctr">
                      <a:solidFill>
                        <a:srgbClr val="00B0F0"/>
                      </a:solidFill>
                      <a:prstDash val="solid"/>
                      <a:round/>
                      <a:headEnd type="none" w="med" len="med"/>
                      <a:tailEnd type="none" w="med" len="med"/>
                    </a:lnB>
                    <a:solidFill>
                      <a:schemeClr val="tx2">
                        <a:lumMod val="10000"/>
                        <a:lumOff val="90000"/>
                        <a:alpha val="58000"/>
                      </a:schemeClr>
                    </a:solidFill>
                  </a:tcPr>
                </a:tc>
                <a:tc>
                  <a:txBody>
                    <a:bodyPr/>
                    <a:lstStyle/>
                    <a:p>
                      <a:pPr algn="ctr" fontAlgn="b">
                        <a:buNone/>
                      </a:pPr>
                      <a:r>
                        <a:rPr lang="en-IN" sz="1000"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rPr>
                        <a:t>$763,000 </a:t>
                      </a:r>
                    </a:p>
                  </a:txBody>
                  <a:tcPr marL="9507" marR="9507" marT="9507" marB="68283" anchor="ctr">
                    <a:lnL w="3175" cap="flat" cmpd="sng" algn="ctr">
                      <a:solidFill>
                        <a:srgbClr val="00B0F0"/>
                      </a:solidFill>
                      <a:prstDash val="solid"/>
                      <a:round/>
                      <a:headEnd type="none" w="med" len="med"/>
                      <a:tailEnd type="none" w="med" len="med"/>
                    </a:lnL>
                    <a:lnR w="3175" cap="flat" cmpd="sng" algn="ctr">
                      <a:solidFill>
                        <a:srgbClr val="00B0F0"/>
                      </a:solidFill>
                      <a:prstDash val="solid"/>
                      <a:round/>
                      <a:headEnd type="none" w="med" len="med"/>
                      <a:tailEnd type="none" w="med" len="med"/>
                    </a:lnR>
                    <a:lnT w="3175" cap="flat" cmpd="sng" algn="ctr">
                      <a:solidFill>
                        <a:srgbClr val="00B0F0"/>
                      </a:solidFill>
                      <a:prstDash val="solid"/>
                      <a:round/>
                      <a:headEnd type="none" w="med" len="med"/>
                      <a:tailEnd type="none" w="med" len="med"/>
                    </a:lnT>
                    <a:lnB w="3175" cap="flat" cmpd="sng" algn="ctr">
                      <a:solidFill>
                        <a:srgbClr val="00B0F0"/>
                      </a:solidFill>
                      <a:prstDash val="solid"/>
                      <a:round/>
                      <a:headEnd type="none" w="med" len="med"/>
                      <a:tailEnd type="none" w="med" len="med"/>
                    </a:lnB>
                    <a:solidFill>
                      <a:schemeClr val="tx2">
                        <a:lumMod val="10000"/>
                        <a:lumOff val="90000"/>
                        <a:alpha val="58000"/>
                      </a:schemeClr>
                    </a:solidFill>
                  </a:tcPr>
                </a:tc>
                <a:tc>
                  <a:txBody>
                    <a:bodyPr/>
                    <a:lstStyle/>
                    <a:p>
                      <a:pPr algn="l" fontAlgn="b">
                        <a:buNone/>
                      </a:pPr>
                      <a:endParaRPr lang="en-IN" sz="1000" b="1"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07" marR="9507" marT="9507" marB="68283" anchor="ctr">
                    <a:lnL w="3175" cap="flat" cmpd="sng" algn="ctr">
                      <a:solidFill>
                        <a:srgbClr val="00B0F0"/>
                      </a:solidFill>
                      <a:prstDash val="solid"/>
                      <a:round/>
                      <a:headEnd type="none" w="med" len="med"/>
                      <a:tailEnd type="none" w="med" len="med"/>
                    </a:lnL>
                    <a:lnR w="3175" cap="flat" cmpd="sng" algn="ctr">
                      <a:solidFill>
                        <a:srgbClr val="00B0F0"/>
                      </a:solidFill>
                      <a:prstDash val="solid"/>
                      <a:round/>
                      <a:headEnd type="none" w="med" len="med"/>
                      <a:tailEnd type="none" w="med" len="med"/>
                    </a:lnR>
                    <a:lnT w="3175" cap="flat" cmpd="sng" algn="ctr">
                      <a:solidFill>
                        <a:srgbClr val="00B0F0"/>
                      </a:solidFill>
                      <a:prstDash val="solid"/>
                      <a:round/>
                      <a:headEnd type="none" w="med" len="med"/>
                      <a:tailEnd type="none" w="med" len="med"/>
                    </a:lnT>
                    <a:lnB w="3175" cap="flat" cmpd="sng" algn="ctr">
                      <a:solidFill>
                        <a:srgbClr val="00B0F0"/>
                      </a:solidFill>
                      <a:prstDash val="solid"/>
                      <a:round/>
                      <a:headEnd type="none" w="med" len="med"/>
                      <a:tailEnd type="none" w="med" len="med"/>
                    </a:lnB>
                    <a:solidFill>
                      <a:schemeClr val="tx2">
                        <a:lumMod val="10000"/>
                        <a:lumOff val="90000"/>
                        <a:alpha val="58000"/>
                      </a:schemeClr>
                    </a:solidFill>
                  </a:tcPr>
                </a:tc>
                <a:extLst>
                  <a:ext uri="{0D108BD9-81ED-4DB2-BD59-A6C34878D82A}">
                    <a16:rowId xmlns:a16="http://schemas.microsoft.com/office/drawing/2014/main" val="1153271849"/>
                  </a:ext>
                </a:extLst>
              </a:tr>
            </a:tbl>
          </a:graphicData>
        </a:graphic>
      </p:graphicFrame>
      <p:graphicFrame>
        <p:nvGraphicFramePr>
          <p:cNvPr id="3" name="Table 2">
            <a:extLst>
              <a:ext uri="{FF2B5EF4-FFF2-40B4-BE49-F238E27FC236}">
                <a16:creationId xmlns:a16="http://schemas.microsoft.com/office/drawing/2014/main" id="{D04F340B-2823-04CD-102F-ED45A447AF53}"/>
              </a:ext>
            </a:extLst>
          </p:cNvPr>
          <p:cNvGraphicFramePr>
            <a:graphicFrameLocks noGrp="1"/>
          </p:cNvGraphicFramePr>
          <p:nvPr/>
        </p:nvGraphicFramePr>
        <p:xfrm>
          <a:off x="412621" y="5053741"/>
          <a:ext cx="11155561" cy="1257680"/>
        </p:xfrm>
        <a:graphic>
          <a:graphicData uri="http://schemas.openxmlformats.org/drawingml/2006/table">
            <a:tbl>
              <a:tblPr>
                <a:tableStyleId>{17292A2E-F333-43FB-9621-5CBBE7FDCDCB}</a:tableStyleId>
              </a:tblPr>
              <a:tblGrid>
                <a:gridCol w="1960050">
                  <a:extLst>
                    <a:ext uri="{9D8B030D-6E8A-4147-A177-3AD203B41FA5}">
                      <a16:colId xmlns:a16="http://schemas.microsoft.com/office/drawing/2014/main" val="20000"/>
                    </a:ext>
                  </a:extLst>
                </a:gridCol>
                <a:gridCol w="9195511">
                  <a:extLst>
                    <a:ext uri="{9D8B030D-6E8A-4147-A177-3AD203B41FA5}">
                      <a16:colId xmlns:a16="http://schemas.microsoft.com/office/drawing/2014/main" val="20001"/>
                    </a:ext>
                  </a:extLst>
                </a:gridCol>
              </a:tblGrid>
              <a:tr h="321964">
                <a:tc>
                  <a:txBody>
                    <a:bodyPr/>
                    <a:lstStyle>
                      <a:lvl1pPr marL="0" algn="l" defTabSz="914377" rtl="0" eaLnBrk="1" latinLnBrk="0" hangingPunct="1">
                        <a:defRPr sz="1800" kern="1200">
                          <a:solidFill>
                            <a:schemeClr val="dk1"/>
                          </a:solidFill>
                          <a:latin typeface="Calibri" panose="020F0502020204030204"/>
                        </a:defRPr>
                      </a:lvl1pPr>
                      <a:lvl2pPr marL="457189" algn="l" defTabSz="914377" rtl="0" eaLnBrk="1" latinLnBrk="0" hangingPunct="1">
                        <a:defRPr sz="1800" kern="1200">
                          <a:solidFill>
                            <a:schemeClr val="dk1"/>
                          </a:solidFill>
                          <a:latin typeface="Calibri" panose="020F0502020204030204"/>
                        </a:defRPr>
                      </a:lvl2pPr>
                      <a:lvl3pPr marL="914377" algn="l" defTabSz="914377" rtl="0" eaLnBrk="1" latinLnBrk="0" hangingPunct="1">
                        <a:defRPr sz="1800" kern="1200">
                          <a:solidFill>
                            <a:schemeClr val="dk1"/>
                          </a:solidFill>
                          <a:latin typeface="Calibri" panose="020F0502020204030204"/>
                        </a:defRPr>
                      </a:lvl3pPr>
                      <a:lvl4pPr marL="1371566" algn="l" defTabSz="914377" rtl="0" eaLnBrk="1" latinLnBrk="0" hangingPunct="1">
                        <a:defRPr sz="1800" kern="1200">
                          <a:solidFill>
                            <a:schemeClr val="dk1"/>
                          </a:solidFill>
                          <a:latin typeface="Calibri" panose="020F0502020204030204"/>
                        </a:defRPr>
                      </a:lvl4pPr>
                      <a:lvl5pPr marL="1828754" algn="l" defTabSz="914377" rtl="0" eaLnBrk="1" latinLnBrk="0" hangingPunct="1">
                        <a:defRPr sz="1800" kern="1200">
                          <a:solidFill>
                            <a:schemeClr val="dk1"/>
                          </a:solidFill>
                          <a:latin typeface="Calibri" panose="020F0502020204030204"/>
                        </a:defRPr>
                      </a:lvl5pPr>
                      <a:lvl6pPr marL="2285943" algn="l" defTabSz="914377" rtl="0" eaLnBrk="1" latinLnBrk="0" hangingPunct="1">
                        <a:defRPr sz="1800" kern="1200">
                          <a:solidFill>
                            <a:schemeClr val="dk1"/>
                          </a:solidFill>
                          <a:latin typeface="Calibri" panose="020F0502020204030204"/>
                        </a:defRPr>
                      </a:lvl6pPr>
                      <a:lvl7pPr marL="2743131" algn="l" defTabSz="914377" rtl="0" eaLnBrk="1" latinLnBrk="0" hangingPunct="1">
                        <a:defRPr sz="1800" kern="1200">
                          <a:solidFill>
                            <a:schemeClr val="dk1"/>
                          </a:solidFill>
                          <a:latin typeface="Calibri" panose="020F0502020204030204"/>
                        </a:defRPr>
                      </a:lvl7pPr>
                      <a:lvl8pPr marL="3200320" algn="l" defTabSz="914377" rtl="0" eaLnBrk="1" latinLnBrk="0" hangingPunct="1">
                        <a:defRPr sz="1800" kern="1200">
                          <a:solidFill>
                            <a:schemeClr val="dk1"/>
                          </a:solidFill>
                          <a:latin typeface="Calibri" panose="020F0502020204030204"/>
                        </a:defRPr>
                      </a:lvl8pPr>
                      <a:lvl9pPr marL="3657509" algn="l" defTabSz="914377" rtl="0" eaLnBrk="1" latinLnBrk="0" hangingPunct="1">
                        <a:defRPr sz="1800" kern="1200">
                          <a:solidFill>
                            <a:schemeClr val="dk1"/>
                          </a:solidFill>
                          <a:latin typeface="Calibri" panose="020F0502020204030204"/>
                        </a:defRPr>
                      </a:lvl9pPr>
                    </a:lstStyle>
                    <a:p>
                      <a:pPr marL="18288" indent="-18288" algn="l">
                        <a:spcAft>
                          <a:spcPts val="0"/>
                        </a:spcAft>
                      </a:pPr>
                      <a:r>
                        <a:rPr lang="en-US" sz="1050" b="1">
                          <a:solidFill>
                            <a:schemeClr val="bg1"/>
                          </a:solidFill>
                          <a:latin typeface="Lato" panose="020F0502020204030203" pitchFamily="34" charset="0"/>
                          <a:ea typeface="Lato" panose="020F0502020204030203" pitchFamily="34" charset="0"/>
                          <a:cs typeface="Lato" panose="020F0502020204030203" pitchFamily="34" charset="0"/>
                        </a:rPr>
                        <a:t>Location</a:t>
                      </a:r>
                      <a:endParaRPr lang="en-US" sz="1050" b="1" i="0">
                        <a:solidFill>
                          <a:schemeClr val="bg1"/>
                        </a:solidFill>
                        <a:latin typeface="Lato" panose="020F0502020204030203" pitchFamily="34" charset="0"/>
                        <a:ea typeface="Lato" panose="020F0502020204030203" pitchFamily="34" charset="0"/>
                        <a:cs typeface="Lato" panose="020F0502020204030203" pitchFamily="34" charset="0"/>
                      </a:endParaRPr>
                    </a:p>
                  </a:txBody>
                  <a:tcPr marL="91402" marR="91402" marT="45701" marB="45701" anchor="ctr">
                    <a:solidFill>
                      <a:srgbClr val="0070C0"/>
                    </a:solidFill>
                  </a:tcPr>
                </a:tc>
                <a:tc>
                  <a:txBody>
                    <a:bodyPr/>
                    <a:lstStyle>
                      <a:lvl1pPr marL="0" algn="l" defTabSz="914377" rtl="0" eaLnBrk="1" latinLnBrk="0" hangingPunct="1">
                        <a:defRPr sz="1800" kern="1200">
                          <a:solidFill>
                            <a:schemeClr val="dk1"/>
                          </a:solidFill>
                          <a:latin typeface="Calibri" panose="020F0502020204030204"/>
                        </a:defRPr>
                      </a:lvl1pPr>
                      <a:lvl2pPr marL="457189" algn="l" defTabSz="914377" rtl="0" eaLnBrk="1" latinLnBrk="0" hangingPunct="1">
                        <a:defRPr sz="1800" kern="1200">
                          <a:solidFill>
                            <a:schemeClr val="dk1"/>
                          </a:solidFill>
                          <a:latin typeface="Calibri" panose="020F0502020204030204"/>
                        </a:defRPr>
                      </a:lvl2pPr>
                      <a:lvl3pPr marL="914377" algn="l" defTabSz="914377" rtl="0" eaLnBrk="1" latinLnBrk="0" hangingPunct="1">
                        <a:defRPr sz="1800" kern="1200">
                          <a:solidFill>
                            <a:schemeClr val="dk1"/>
                          </a:solidFill>
                          <a:latin typeface="Calibri" panose="020F0502020204030204"/>
                        </a:defRPr>
                      </a:lvl3pPr>
                      <a:lvl4pPr marL="1371566" algn="l" defTabSz="914377" rtl="0" eaLnBrk="1" latinLnBrk="0" hangingPunct="1">
                        <a:defRPr sz="1800" kern="1200">
                          <a:solidFill>
                            <a:schemeClr val="dk1"/>
                          </a:solidFill>
                          <a:latin typeface="Calibri" panose="020F0502020204030204"/>
                        </a:defRPr>
                      </a:lvl4pPr>
                      <a:lvl5pPr marL="1828754" algn="l" defTabSz="914377" rtl="0" eaLnBrk="1" latinLnBrk="0" hangingPunct="1">
                        <a:defRPr sz="1800" kern="1200">
                          <a:solidFill>
                            <a:schemeClr val="dk1"/>
                          </a:solidFill>
                          <a:latin typeface="Calibri" panose="020F0502020204030204"/>
                        </a:defRPr>
                      </a:lvl5pPr>
                      <a:lvl6pPr marL="2285943" algn="l" defTabSz="914377" rtl="0" eaLnBrk="1" latinLnBrk="0" hangingPunct="1">
                        <a:defRPr sz="1800" kern="1200">
                          <a:solidFill>
                            <a:schemeClr val="dk1"/>
                          </a:solidFill>
                          <a:latin typeface="Calibri" panose="020F0502020204030204"/>
                        </a:defRPr>
                      </a:lvl6pPr>
                      <a:lvl7pPr marL="2743131" algn="l" defTabSz="914377" rtl="0" eaLnBrk="1" latinLnBrk="0" hangingPunct="1">
                        <a:defRPr sz="1800" kern="1200">
                          <a:solidFill>
                            <a:schemeClr val="dk1"/>
                          </a:solidFill>
                          <a:latin typeface="Calibri" panose="020F0502020204030204"/>
                        </a:defRPr>
                      </a:lvl7pPr>
                      <a:lvl8pPr marL="3200320" algn="l" defTabSz="914377" rtl="0" eaLnBrk="1" latinLnBrk="0" hangingPunct="1">
                        <a:defRPr sz="1800" kern="1200">
                          <a:solidFill>
                            <a:schemeClr val="dk1"/>
                          </a:solidFill>
                          <a:latin typeface="Calibri" panose="020F0502020204030204"/>
                        </a:defRPr>
                      </a:lvl8pPr>
                      <a:lvl9pPr marL="3657509" algn="l" defTabSz="914377" rtl="0" eaLnBrk="1" latinLnBrk="0" hangingPunct="1">
                        <a:defRPr sz="1800" kern="1200">
                          <a:solidFill>
                            <a:schemeClr val="dk1"/>
                          </a:solidFill>
                          <a:latin typeface="Calibri" panose="020F0502020204030204"/>
                        </a:defRPr>
                      </a:lvl9pPr>
                    </a:lstStyle>
                    <a:p>
                      <a:pPr marL="171450" indent="-171450" algn="l">
                        <a:spcAft>
                          <a:spcPts val="0"/>
                        </a:spcAft>
                        <a:buFontTx/>
                        <a:buBlip>
                          <a:blip r:embed="rId2"/>
                        </a:buBlip>
                      </a:pPr>
                      <a:r>
                        <a:rPr lang="en-US" sz="1050" b="0" baseline="0">
                          <a:solidFill>
                            <a:schemeClr val="tx2"/>
                          </a:solidFill>
                          <a:latin typeface="Lato" panose="020F0502020204030203" pitchFamily="34" charset="0"/>
                          <a:ea typeface="Lato" panose="020F0502020204030203" pitchFamily="34" charset="0"/>
                          <a:cs typeface="Lato" panose="020F0502020204030203" pitchFamily="34" charset="0"/>
                        </a:rPr>
                        <a:t>Team will be based out of the Innominds  development center(Bangalore / Hyderabad) in India</a:t>
                      </a:r>
                      <a:endParaRPr lang="en-US" sz="1050" b="0" i="0" baseline="0">
                        <a:solidFill>
                          <a:schemeClr val="tx2"/>
                        </a:solidFill>
                        <a:latin typeface="Lato" panose="020F0502020204030203" pitchFamily="34" charset="0"/>
                        <a:ea typeface="Lato" panose="020F0502020204030203" pitchFamily="34" charset="0"/>
                        <a:cs typeface="Lato" panose="020F0502020204030203" pitchFamily="34" charset="0"/>
                      </a:endParaRPr>
                    </a:p>
                  </a:txBody>
                  <a:tcPr marL="91402" marR="91402" marT="45701" marB="45701" anchor="ctr">
                    <a:solidFill>
                      <a:schemeClr val="bg1"/>
                    </a:solidFill>
                  </a:tcPr>
                </a:tc>
                <a:extLst>
                  <a:ext uri="{0D108BD9-81ED-4DB2-BD59-A6C34878D82A}">
                    <a16:rowId xmlns:a16="http://schemas.microsoft.com/office/drawing/2014/main" val="10000"/>
                  </a:ext>
                </a:extLst>
              </a:tr>
              <a:tr h="321964">
                <a:tc>
                  <a:txBody>
                    <a:bodyPr/>
                    <a:lstStyle>
                      <a:lvl1pPr marL="0" algn="l" defTabSz="914377" rtl="0" eaLnBrk="1" latinLnBrk="0" hangingPunct="1">
                        <a:defRPr sz="1800" kern="1200">
                          <a:solidFill>
                            <a:schemeClr val="dk1"/>
                          </a:solidFill>
                          <a:latin typeface="Calibri" panose="020F0502020204030204"/>
                        </a:defRPr>
                      </a:lvl1pPr>
                      <a:lvl2pPr marL="457189" algn="l" defTabSz="914377" rtl="0" eaLnBrk="1" latinLnBrk="0" hangingPunct="1">
                        <a:defRPr sz="1800" kern="1200">
                          <a:solidFill>
                            <a:schemeClr val="dk1"/>
                          </a:solidFill>
                          <a:latin typeface="Calibri" panose="020F0502020204030204"/>
                        </a:defRPr>
                      </a:lvl2pPr>
                      <a:lvl3pPr marL="914377" algn="l" defTabSz="914377" rtl="0" eaLnBrk="1" latinLnBrk="0" hangingPunct="1">
                        <a:defRPr sz="1800" kern="1200">
                          <a:solidFill>
                            <a:schemeClr val="dk1"/>
                          </a:solidFill>
                          <a:latin typeface="Calibri" panose="020F0502020204030204"/>
                        </a:defRPr>
                      </a:lvl3pPr>
                      <a:lvl4pPr marL="1371566" algn="l" defTabSz="914377" rtl="0" eaLnBrk="1" latinLnBrk="0" hangingPunct="1">
                        <a:defRPr sz="1800" kern="1200">
                          <a:solidFill>
                            <a:schemeClr val="dk1"/>
                          </a:solidFill>
                          <a:latin typeface="Calibri" panose="020F0502020204030204"/>
                        </a:defRPr>
                      </a:lvl4pPr>
                      <a:lvl5pPr marL="1828754" algn="l" defTabSz="914377" rtl="0" eaLnBrk="1" latinLnBrk="0" hangingPunct="1">
                        <a:defRPr sz="1800" kern="1200">
                          <a:solidFill>
                            <a:schemeClr val="dk1"/>
                          </a:solidFill>
                          <a:latin typeface="Calibri" panose="020F0502020204030204"/>
                        </a:defRPr>
                      </a:lvl5pPr>
                      <a:lvl6pPr marL="2285943" algn="l" defTabSz="914377" rtl="0" eaLnBrk="1" latinLnBrk="0" hangingPunct="1">
                        <a:defRPr sz="1800" kern="1200">
                          <a:solidFill>
                            <a:schemeClr val="dk1"/>
                          </a:solidFill>
                          <a:latin typeface="Calibri" panose="020F0502020204030204"/>
                        </a:defRPr>
                      </a:lvl6pPr>
                      <a:lvl7pPr marL="2743131" algn="l" defTabSz="914377" rtl="0" eaLnBrk="1" latinLnBrk="0" hangingPunct="1">
                        <a:defRPr sz="1800" kern="1200">
                          <a:solidFill>
                            <a:schemeClr val="dk1"/>
                          </a:solidFill>
                          <a:latin typeface="Calibri" panose="020F0502020204030204"/>
                        </a:defRPr>
                      </a:lvl7pPr>
                      <a:lvl8pPr marL="3200320" algn="l" defTabSz="914377" rtl="0" eaLnBrk="1" latinLnBrk="0" hangingPunct="1">
                        <a:defRPr sz="1800" kern="1200">
                          <a:solidFill>
                            <a:schemeClr val="dk1"/>
                          </a:solidFill>
                          <a:latin typeface="Calibri" panose="020F0502020204030204"/>
                        </a:defRPr>
                      </a:lvl8pPr>
                      <a:lvl9pPr marL="3657509" algn="l" defTabSz="914377" rtl="0" eaLnBrk="1" latinLnBrk="0" hangingPunct="1">
                        <a:defRPr sz="1800" kern="1200">
                          <a:solidFill>
                            <a:schemeClr val="dk1"/>
                          </a:solidFill>
                          <a:latin typeface="Calibri" panose="020F0502020204030204"/>
                        </a:defRPr>
                      </a:lvl9pPr>
                    </a:lstStyle>
                    <a:p>
                      <a:pPr marL="18288" indent="-18288" algn="l">
                        <a:spcAft>
                          <a:spcPts val="0"/>
                        </a:spcAft>
                      </a:pPr>
                      <a:r>
                        <a:rPr lang="en-US" sz="1050" b="1">
                          <a:solidFill>
                            <a:schemeClr val="bg1"/>
                          </a:solidFill>
                          <a:latin typeface="Lato" panose="020F0502020204030203" pitchFamily="34" charset="0"/>
                          <a:ea typeface="Lato" panose="020F0502020204030203" pitchFamily="34" charset="0"/>
                          <a:cs typeface="Lato" panose="020F0502020204030203" pitchFamily="34" charset="0"/>
                        </a:rPr>
                        <a:t>Payment Schedule</a:t>
                      </a:r>
                      <a:endParaRPr lang="en-US" sz="1050" b="1" i="0">
                        <a:solidFill>
                          <a:schemeClr val="bg1"/>
                        </a:solidFill>
                        <a:latin typeface="Lato" panose="020F0502020204030203" pitchFamily="34" charset="0"/>
                        <a:ea typeface="Lato" panose="020F0502020204030203" pitchFamily="34" charset="0"/>
                        <a:cs typeface="Lato" panose="020F0502020204030203" pitchFamily="34" charset="0"/>
                      </a:endParaRPr>
                    </a:p>
                  </a:txBody>
                  <a:tcPr marL="91402" marR="91402" marT="45701" marB="45701" anchor="ctr">
                    <a:solidFill>
                      <a:srgbClr val="0070C0"/>
                    </a:solidFill>
                  </a:tcPr>
                </a:tc>
                <a:tc>
                  <a:txBody>
                    <a:bodyPr/>
                    <a:lstStyle>
                      <a:lvl1pPr marL="0" algn="l" defTabSz="914377" rtl="0" eaLnBrk="1" latinLnBrk="0" hangingPunct="1">
                        <a:defRPr sz="1800" kern="1200">
                          <a:solidFill>
                            <a:schemeClr val="dk1"/>
                          </a:solidFill>
                          <a:latin typeface="Calibri" panose="020F0502020204030204"/>
                        </a:defRPr>
                      </a:lvl1pPr>
                      <a:lvl2pPr marL="457189" algn="l" defTabSz="914377" rtl="0" eaLnBrk="1" latinLnBrk="0" hangingPunct="1">
                        <a:defRPr sz="1800" kern="1200">
                          <a:solidFill>
                            <a:schemeClr val="dk1"/>
                          </a:solidFill>
                          <a:latin typeface="Calibri" panose="020F0502020204030204"/>
                        </a:defRPr>
                      </a:lvl2pPr>
                      <a:lvl3pPr marL="914377" algn="l" defTabSz="914377" rtl="0" eaLnBrk="1" latinLnBrk="0" hangingPunct="1">
                        <a:defRPr sz="1800" kern="1200">
                          <a:solidFill>
                            <a:schemeClr val="dk1"/>
                          </a:solidFill>
                          <a:latin typeface="Calibri" panose="020F0502020204030204"/>
                        </a:defRPr>
                      </a:lvl3pPr>
                      <a:lvl4pPr marL="1371566" algn="l" defTabSz="914377" rtl="0" eaLnBrk="1" latinLnBrk="0" hangingPunct="1">
                        <a:defRPr sz="1800" kern="1200">
                          <a:solidFill>
                            <a:schemeClr val="dk1"/>
                          </a:solidFill>
                          <a:latin typeface="Calibri" panose="020F0502020204030204"/>
                        </a:defRPr>
                      </a:lvl4pPr>
                      <a:lvl5pPr marL="1828754" algn="l" defTabSz="914377" rtl="0" eaLnBrk="1" latinLnBrk="0" hangingPunct="1">
                        <a:defRPr sz="1800" kern="1200">
                          <a:solidFill>
                            <a:schemeClr val="dk1"/>
                          </a:solidFill>
                          <a:latin typeface="Calibri" panose="020F0502020204030204"/>
                        </a:defRPr>
                      </a:lvl5pPr>
                      <a:lvl6pPr marL="2285943" algn="l" defTabSz="914377" rtl="0" eaLnBrk="1" latinLnBrk="0" hangingPunct="1">
                        <a:defRPr sz="1800" kern="1200">
                          <a:solidFill>
                            <a:schemeClr val="dk1"/>
                          </a:solidFill>
                          <a:latin typeface="Calibri" panose="020F0502020204030204"/>
                        </a:defRPr>
                      </a:lvl6pPr>
                      <a:lvl7pPr marL="2743131" algn="l" defTabSz="914377" rtl="0" eaLnBrk="1" latinLnBrk="0" hangingPunct="1">
                        <a:defRPr sz="1800" kern="1200">
                          <a:solidFill>
                            <a:schemeClr val="dk1"/>
                          </a:solidFill>
                          <a:latin typeface="Calibri" panose="020F0502020204030204"/>
                        </a:defRPr>
                      </a:lvl7pPr>
                      <a:lvl8pPr marL="3200320" algn="l" defTabSz="914377" rtl="0" eaLnBrk="1" latinLnBrk="0" hangingPunct="1">
                        <a:defRPr sz="1800" kern="1200">
                          <a:solidFill>
                            <a:schemeClr val="dk1"/>
                          </a:solidFill>
                          <a:latin typeface="Calibri" panose="020F0502020204030204"/>
                        </a:defRPr>
                      </a:lvl8pPr>
                      <a:lvl9pPr marL="3657509" algn="l" defTabSz="914377" rtl="0" eaLnBrk="1" latinLnBrk="0" hangingPunct="1">
                        <a:defRPr sz="1800" kern="1200">
                          <a:solidFill>
                            <a:schemeClr val="dk1"/>
                          </a:solidFill>
                          <a:latin typeface="Calibri" panose="020F0502020204030204"/>
                        </a:defRPr>
                      </a:lvl9pPr>
                    </a:lstStyle>
                    <a:p>
                      <a:pPr marL="171450" indent="-171450" algn="l">
                        <a:spcAft>
                          <a:spcPts val="0"/>
                        </a:spcAft>
                        <a:buFontTx/>
                        <a:buBlip>
                          <a:blip r:embed="rId2"/>
                        </a:buBlip>
                      </a:pPr>
                      <a:r>
                        <a:rPr lang="en-US" sz="1050" b="0" baseline="0">
                          <a:solidFill>
                            <a:schemeClr val="tx2"/>
                          </a:solidFill>
                          <a:latin typeface="Lato" panose="020F0502020204030203" pitchFamily="34" charset="0"/>
                          <a:ea typeface="Lato" panose="020F0502020204030203" pitchFamily="34" charset="0"/>
                          <a:cs typeface="Lato" panose="020F0502020204030203" pitchFamily="34" charset="0"/>
                        </a:rPr>
                        <a:t>As per the Milestones agreed between Innominds and Mahle in SOW.</a:t>
                      </a:r>
                      <a:endParaRPr lang="en-US" sz="1050" b="0" i="0" baseline="0">
                        <a:solidFill>
                          <a:schemeClr val="tx2"/>
                        </a:solidFill>
                        <a:latin typeface="Lato" panose="020F0502020204030203" pitchFamily="34" charset="0"/>
                        <a:ea typeface="Lato" panose="020F0502020204030203" pitchFamily="34" charset="0"/>
                        <a:cs typeface="Lato" panose="020F0502020204030203" pitchFamily="34" charset="0"/>
                      </a:endParaRPr>
                    </a:p>
                  </a:txBody>
                  <a:tcPr marL="91402" marR="91402" marT="45701" marB="45701" anchor="ctr">
                    <a:solidFill>
                      <a:schemeClr val="bg1"/>
                    </a:solidFill>
                  </a:tcPr>
                </a:tc>
                <a:extLst>
                  <a:ext uri="{0D108BD9-81ED-4DB2-BD59-A6C34878D82A}">
                    <a16:rowId xmlns:a16="http://schemas.microsoft.com/office/drawing/2014/main" val="10001"/>
                  </a:ext>
                </a:extLst>
              </a:tr>
              <a:tr h="321964">
                <a:tc>
                  <a:txBody>
                    <a:bodyPr/>
                    <a:lstStyle>
                      <a:lvl1pPr marL="0" algn="l" defTabSz="914377" rtl="0" eaLnBrk="1" latinLnBrk="0" hangingPunct="1">
                        <a:defRPr sz="1800" kern="1200">
                          <a:solidFill>
                            <a:schemeClr val="dk1"/>
                          </a:solidFill>
                          <a:latin typeface="Calibri" panose="020F0502020204030204"/>
                        </a:defRPr>
                      </a:lvl1pPr>
                      <a:lvl2pPr marL="457189" algn="l" defTabSz="914377" rtl="0" eaLnBrk="1" latinLnBrk="0" hangingPunct="1">
                        <a:defRPr sz="1800" kern="1200">
                          <a:solidFill>
                            <a:schemeClr val="dk1"/>
                          </a:solidFill>
                          <a:latin typeface="Calibri" panose="020F0502020204030204"/>
                        </a:defRPr>
                      </a:lvl2pPr>
                      <a:lvl3pPr marL="914377" algn="l" defTabSz="914377" rtl="0" eaLnBrk="1" latinLnBrk="0" hangingPunct="1">
                        <a:defRPr sz="1800" kern="1200">
                          <a:solidFill>
                            <a:schemeClr val="dk1"/>
                          </a:solidFill>
                          <a:latin typeface="Calibri" panose="020F0502020204030204"/>
                        </a:defRPr>
                      </a:lvl3pPr>
                      <a:lvl4pPr marL="1371566" algn="l" defTabSz="914377" rtl="0" eaLnBrk="1" latinLnBrk="0" hangingPunct="1">
                        <a:defRPr sz="1800" kern="1200">
                          <a:solidFill>
                            <a:schemeClr val="dk1"/>
                          </a:solidFill>
                          <a:latin typeface="Calibri" panose="020F0502020204030204"/>
                        </a:defRPr>
                      </a:lvl4pPr>
                      <a:lvl5pPr marL="1828754" algn="l" defTabSz="914377" rtl="0" eaLnBrk="1" latinLnBrk="0" hangingPunct="1">
                        <a:defRPr sz="1800" kern="1200">
                          <a:solidFill>
                            <a:schemeClr val="dk1"/>
                          </a:solidFill>
                          <a:latin typeface="Calibri" panose="020F0502020204030204"/>
                        </a:defRPr>
                      </a:lvl5pPr>
                      <a:lvl6pPr marL="2285943" algn="l" defTabSz="914377" rtl="0" eaLnBrk="1" latinLnBrk="0" hangingPunct="1">
                        <a:defRPr sz="1800" kern="1200">
                          <a:solidFill>
                            <a:schemeClr val="dk1"/>
                          </a:solidFill>
                          <a:latin typeface="Calibri" panose="020F0502020204030204"/>
                        </a:defRPr>
                      </a:lvl6pPr>
                      <a:lvl7pPr marL="2743131" algn="l" defTabSz="914377" rtl="0" eaLnBrk="1" latinLnBrk="0" hangingPunct="1">
                        <a:defRPr sz="1800" kern="1200">
                          <a:solidFill>
                            <a:schemeClr val="dk1"/>
                          </a:solidFill>
                          <a:latin typeface="Calibri" panose="020F0502020204030204"/>
                        </a:defRPr>
                      </a:lvl7pPr>
                      <a:lvl8pPr marL="3200320" algn="l" defTabSz="914377" rtl="0" eaLnBrk="1" latinLnBrk="0" hangingPunct="1">
                        <a:defRPr sz="1800" kern="1200">
                          <a:solidFill>
                            <a:schemeClr val="dk1"/>
                          </a:solidFill>
                          <a:latin typeface="Calibri" panose="020F0502020204030204"/>
                        </a:defRPr>
                      </a:lvl8pPr>
                      <a:lvl9pPr marL="3657509" algn="l" defTabSz="914377" rtl="0" eaLnBrk="1" latinLnBrk="0" hangingPunct="1">
                        <a:defRPr sz="1800" kern="1200">
                          <a:solidFill>
                            <a:schemeClr val="dk1"/>
                          </a:solidFill>
                          <a:latin typeface="Calibri" panose="020F0502020204030204"/>
                        </a:defRPr>
                      </a:lvl9pPr>
                    </a:lstStyle>
                    <a:p>
                      <a:pPr marL="18288" indent="-18288" algn="l">
                        <a:spcAft>
                          <a:spcPts val="0"/>
                        </a:spcAft>
                      </a:pPr>
                      <a:r>
                        <a:rPr lang="en-US" sz="1050" b="1">
                          <a:solidFill>
                            <a:schemeClr val="bg1"/>
                          </a:solidFill>
                          <a:latin typeface="Lato" panose="020F0502020204030203" pitchFamily="34" charset="0"/>
                          <a:ea typeface="Lato" panose="020F0502020204030203" pitchFamily="34" charset="0"/>
                          <a:cs typeface="Lato" panose="020F0502020204030203" pitchFamily="34" charset="0"/>
                        </a:rPr>
                        <a:t>Taxes</a:t>
                      </a:r>
                      <a:endParaRPr lang="en-US" sz="1050" b="1" i="0">
                        <a:solidFill>
                          <a:schemeClr val="bg1"/>
                        </a:solidFill>
                        <a:latin typeface="Lato" panose="020F0502020204030203" pitchFamily="34" charset="0"/>
                        <a:ea typeface="Lato" panose="020F0502020204030203" pitchFamily="34" charset="0"/>
                        <a:cs typeface="Lato" panose="020F0502020204030203" pitchFamily="34" charset="0"/>
                      </a:endParaRPr>
                    </a:p>
                  </a:txBody>
                  <a:tcPr marL="91402" marR="91402" marT="45701" marB="45701" anchor="ctr">
                    <a:solidFill>
                      <a:srgbClr val="0070C0"/>
                    </a:solidFill>
                  </a:tcPr>
                </a:tc>
                <a:tc>
                  <a:txBody>
                    <a:bodyPr/>
                    <a:lstStyle>
                      <a:lvl1pPr marL="0" algn="l" defTabSz="914377" rtl="0" eaLnBrk="1" latinLnBrk="0" hangingPunct="1">
                        <a:defRPr sz="1800" kern="1200">
                          <a:solidFill>
                            <a:schemeClr val="dk1"/>
                          </a:solidFill>
                          <a:latin typeface="Calibri" panose="020F0502020204030204"/>
                        </a:defRPr>
                      </a:lvl1pPr>
                      <a:lvl2pPr marL="457189" algn="l" defTabSz="914377" rtl="0" eaLnBrk="1" latinLnBrk="0" hangingPunct="1">
                        <a:defRPr sz="1800" kern="1200">
                          <a:solidFill>
                            <a:schemeClr val="dk1"/>
                          </a:solidFill>
                          <a:latin typeface="Calibri" panose="020F0502020204030204"/>
                        </a:defRPr>
                      </a:lvl2pPr>
                      <a:lvl3pPr marL="914377" algn="l" defTabSz="914377" rtl="0" eaLnBrk="1" latinLnBrk="0" hangingPunct="1">
                        <a:defRPr sz="1800" kern="1200">
                          <a:solidFill>
                            <a:schemeClr val="dk1"/>
                          </a:solidFill>
                          <a:latin typeface="Calibri" panose="020F0502020204030204"/>
                        </a:defRPr>
                      </a:lvl3pPr>
                      <a:lvl4pPr marL="1371566" algn="l" defTabSz="914377" rtl="0" eaLnBrk="1" latinLnBrk="0" hangingPunct="1">
                        <a:defRPr sz="1800" kern="1200">
                          <a:solidFill>
                            <a:schemeClr val="dk1"/>
                          </a:solidFill>
                          <a:latin typeface="Calibri" panose="020F0502020204030204"/>
                        </a:defRPr>
                      </a:lvl4pPr>
                      <a:lvl5pPr marL="1828754" algn="l" defTabSz="914377" rtl="0" eaLnBrk="1" latinLnBrk="0" hangingPunct="1">
                        <a:defRPr sz="1800" kern="1200">
                          <a:solidFill>
                            <a:schemeClr val="dk1"/>
                          </a:solidFill>
                          <a:latin typeface="Calibri" panose="020F0502020204030204"/>
                        </a:defRPr>
                      </a:lvl5pPr>
                      <a:lvl6pPr marL="2285943" algn="l" defTabSz="914377" rtl="0" eaLnBrk="1" latinLnBrk="0" hangingPunct="1">
                        <a:defRPr sz="1800" kern="1200">
                          <a:solidFill>
                            <a:schemeClr val="dk1"/>
                          </a:solidFill>
                          <a:latin typeface="Calibri" panose="020F0502020204030204"/>
                        </a:defRPr>
                      </a:lvl6pPr>
                      <a:lvl7pPr marL="2743131" algn="l" defTabSz="914377" rtl="0" eaLnBrk="1" latinLnBrk="0" hangingPunct="1">
                        <a:defRPr sz="1800" kern="1200">
                          <a:solidFill>
                            <a:schemeClr val="dk1"/>
                          </a:solidFill>
                          <a:latin typeface="Calibri" panose="020F0502020204030204"/>
                        </a:defRPr>
                      </a:lvl7pPr>
                      <a:lvl8pPr marL="3200320" algn="l" defTabSz="914377" rtl="0" eaLnBrk="1" latinLnBrk="0" hangingPunct="1">
                        <a:defRPr sz="1800" kern="1200">
                          <a:solidFill>
                            <a:schemeClr val="dk1"/>
                          </a:solidFill>
                          <a:latin typeface="Calibri" panose="020F0502020204030204"/>
                        </a:defRPr>
                      </a:lvl8pPr>
                      <a:lvl9pPr marL="3657509" algn="l" defTabSz="914377" rtl="0" eaLnBrk="1" latinLnBrk="0" hangingPunct="1">
                        <a:defRPr sz="1800" kern="1200">
                          <a:solidFill>
                            <a:schemeClr val="dk1"/>
                          </a:solidFill>
                          <a:latin typeface="Calibri" panose="020F0502020204030204"/>
                        </a:defRPr>
                      </a:lvl9pPr>
                    </a:lstStyle>
                    <a:p>
                      <a:pPr marL="171450" marR="0" indent="-171450" algn="l" defTabSz="914400" rtl="0" eaLnBrk="1" fontAlgn="auto" latinLnBrk="0" hangingPunct="1">
                        <a:lnSpc>
                          <a:spcPct val="100000"/>
                        </a:lnSpc>
                        <a:spcBef>
                          <a:spcPts val="0"/>
                        </a:spcBef>
                        <a:spcAft>
                          <a:spcPts val="0"/>
                        </a:spcAft>
                        <a:buClrTx/>
                        <a:buSzTx/>
                        <a:buFontTx/>
                        <a:buBlip>
                          <a:blip r:embed="rId2"/>
                        </a:buBlip>
                        <a:tabLst/>
                        <a:defRPr/>
                      </a:pPr>
                      <a:r>
                        <a:rPr lang="en-US" sz="1050" b="0">
                          <a:solidFill>
                            <a:schemeClr val="tx2"/>
                          </a:solidFill>
                          <a:latin typeface="Lato" panose="020F0502020204030203" pitchFamily="34" charset="0"/>
                          <a:ea typeface="Lato" panose="020F0502020204030203" pitchFamily="34" charset="0"/>
                          <a:cs typeface="Lato" panose="020F0502020204030203" pitchFamily="34" charset="0"/>
                        </a:rPr>
                        <a:t>Commercials are exclusive of applicable taxes and licensing costs, if any.</a:t>
                      </a:r>
                      <a:endParaRPr lang="en-US" sz="1050" b="0" i="0">
                        <a:solidFill>
                          <a:schemeClr val="tx2"/>
                        </a:solidFill>
                        <a:latin typeface="Lato" panose="020F0502020204030203" pitchFamily="34" charset="0"/>
                        <a:ea typeface="Lato" panose="020F0502020204030203" pitchFamily="34" charset="0"/>
                        <a:cs typeface="Lato" panose="020F0502020204030203" pitchFamily="34" charset="0"/>
                      </a:endParaRPr>
                    </a:p>
                  </a:txBody>
                  <a:tcPr marL="91402" marR="91402" marT="45701" marB="45701" anchor="ctr">
                    <a:solidFill>
                      <a:schemeClr val="bg1"/>
                    </a:solidFill>
                  </a:tcPr>
                </a:tc>
                <a:extLst>
                  <a:ext uri="{0D108BD9-81ED-4DB2-BD59-A6C34878D82A}">
                    <a16:rowId xmlns:a16="http://schemas.microsoft.com/office/drawing/2014/main" val="10002"/>
                  </a:ext>
                </a:extLst>
              </a:tr>
              <a:tr h="291788">
                <a:tc>
                  <a:txBody>
                    <a:bodyPr/>
                    <a:lstStyle>
                      <a:lvl1pPr marL="0" algn="l" defTabSz="914377" rtl="0" eaLnBrk="1" latinLnBrk="0" hangingPunct="1">
                        <a:defRPr sz="1800" kern="1200">
                          <a:solidFill>
                            <a:schemeClr val="dk1"/>
                          </a:solidFill>
                          <a:latin typeface="Calibri" panose="020F0502020204030204"/>
                        </a:defRPr>
                      </a:lvl1pPr>
                      <a:lvl2pPr marL="457189" algn="l" defTabSz="914377" rtl="0" eaLnBrk="1" latinLnBrk="0" hangingPunct="1">
                        <a:defRPr sz="1800" kern="1200">
                          <a:solidFill>
                            <a:schemeClr val="dk1"/>
                          </a:solidFill>
                          <a:latin typeface="Calibri" panose="020F0502020204030204"/>
                        </a:defRPr>
                      </a:lvl2pPr>
                      <a:lvl3pPr marL="914377" algn="l" defTabSz="914377" rtl="0" eaLnBrk="1" latinLnBrk="0" hangingPunct="1">
                        <a:defRPr sz="1800" kern="1200">
                          <a:solidFill>
                            <a:schemeClr val="dk1"/>
                          </a:solidFill>
                          <a:latin typeface="Calibri" panose="020F0502020204030204"/>
                        </a:defRPr>
                      </a:lvl3pPr>
                      <a:lvl4pPr marL="1371566" algn="l" defTabSz="914377" rtl="0" eaLnBrk="1" latinLnBrk="0" hangingPunct="1">
                        <a:defRPr sz="1800" kern="1200">
                          <a:solidFill>
                            <a:schemeClr val="dk1"/>
                          </a:solidFill>
                          <a:latin typeface="Calibri" panose="020F0502020204030204"/>
                        </a:defRPr>
                      </a:lvl4pPr>
                      <a:lvl5pPr marL="1828754" algn="l" defTabSz="914377" rtl="0" eaLnBrk="1" latinLnBrk="0" hangingPunct="1">
                        <a:defRPr sz="1800" kern="1200">
                          <a:solidFill>
                            <a:schemeClr val="dk1"/>
                          </a:solidFill>
                          <a:latin typeface="Calibri" panose="020F0502020204030204"/>
                        </a:defRPr>
                      </a:lvl5pPr>
                      <a:lvl6pPr marL="2285943" algn="l" defTabSz="914377" rtl="0" eaLnBrk="1" latinLnBrk="0" hangingPunct="1">
                        <a:defRPr sz="1800" kern="1200">
                          <a:solidFill>
                            <a:schemeClr val="dk1"/>
                          </a:solidFill>
                          <a:latin typeface="Calibri" panose="020F0502020204030204"/>
                        </a:defRPr>
                      </a:lvl6pPr>
                      <a:lvl7pPr marL="2743131" algn="l" defTabSz="914377" rtl="0" eaLnBrk="1" latinLnBrk="0" hangingPunct="1">
                        <a:defRPr sz="1800" kern="1200">
                          <a:solidFill>
                            <a:schemeClr val="dk1"/>
                          </a:solidFill>
                          <a:latin typeface="Calibri" panose="020F0502020204030204"/>
                        </a:defRPr>
                      </a:lvl7pPr>
                      <a:lvl8pPr marL="3200320" algn="l" defTabSz="914377" rtl="0" eaLnBrk="1" latinLnBrk="0" hangingPunct="1">
                        <a:defRPr sz="1800" kern="1200">
                          <a:solidFill>
                            <a:schemeClr val="dk1"/>
                          </a:solidFill>
                          <a:latin typeface="Calibri" panose="020F0502020204030204"/>
                        </a:defRPr>
                      </a:lvl8pPr>
                      <a:lvl9pPr marL="3657509" algn="l" defTabSz="914377" rtl="0" eaLnBrk="1" latinLnBrk="0" hangingPunct="1">
                        <a:defRPr sz="1800" kern="1200">
                          <a:solidFill>
                            <a:schemeClr val="dk1"/>
                          </a:solidFill>
                          <a:latin typeface="Calibri" panose="020F0502020204030204"/>
                        </a:defRPr>
                      </a:lvl9pPr>
                    </a:lstStyle>
                    <a:p>
                      <a:pPr marL="18288" marR="0" indent="-18288" algn="l" defTabSz="914400" rtl="0" eaLnBrk="1" fontAlgn="auto" latinLnBrk="0" hangingPunct="1">
                        <a:lnSpc>
                          <a:spcPct val="100000"/>
                        </a:lnSpc>
                        <a:spcBef>
                          <a:spcPts val="0"/>
                        </a:spcBef>
                        <a:spcAft>
                          <a:spcPts val="0"/>
                        </a:spcAft>
                        <a:buClrTx/>
                        <a:buSzTx/>
                        <a:buFontTx/>
                        <a:buNone/>
                        <a:tabLst/>
                        <a:defRPr/>
                      </a:pPr>
                      <a:r>
                        <a:rPr lang="en-US" sz="1050" b="1" kern="1200">
                          <a:solidFill>
                            <a:schemeClr val="bg1"/>
                          </a:solidFill>
                          <a:latin typeface="Lato" panose="020F0502020204030203" pitchFamily="34" charset="0"/>
                          <a:ea typeface="Lato" panose="020F0502020204030203" pitchFamily="34" charset="0"/>
                          <a:cs typeface="Lato" panose="020F0502020204030203" pitchFamily="34" charset="0"/>
                        </a:rPr>
                        <a:t>Travel</a:t>
                      </a:r>
                      <a:endParaRPr lang="en-US" sz="1050" b="1" i="0" kern="1200">
                        <a:solidFill>
                          <a:schemeClr val="bg1"/>
                        </a:solidFill>
                        <a:latin typeface="Lato" panose="020F0502020204030203" pitchFamily="34" charset="0"/>
                        <a:ea typeface="Lato" panose="020F0502020204030203" pitchFamily="34" charset="0"/>
                        <a:cs typeface="Lato" panose="020F0502020204030203" pitchFamily="34" charset="0"/>
                      </a:endParaRPr>
                    </a:p>
                  </a:txBody>
                  <a:tcPr marL="68552" marR="68552" marT="34276" marB="34276" anchor="ctr">
                    <a:solidFill>
                      <a:srgbClr val="0070C0"/>
                    </a:solidFill>
                  </a:tcPr>
                </a:tc>
                <a:tc>
                  <a:txBody>
                    <a:bodyPr/>
                    <a:lstStyle>
                      <a:lvl1pPr marL="0" algn="l" defTabSz="914377" rtl="0" eaLnBrk="1" latinLnBrk="0" hangingPunct="1">
                        <a:defRPr sz="1800" kern="1200">
                          <a:solidFill>
                            <a:schemeClr val="dk1"/>
                          </a:solidFill>
                          <a:latin typeface="Calibri" panose="020F0502020204030204"/>
                        </a:defRPr>
                      </a:lvl1pPr>
                      <a:lvl2pPr marL="457189" algn="l" defTabSz="914377" rtl="0" eaLnBrk="1" latinLnBrk="0" hangingPunct="1">
                        <a:defRPr sz="1800" kern="1200">
                          <a:solidFill>
                            <a:schemeClr val="dk1"/>
                          </a:solidFill>
                          <a:latin typeface="Calibri" panose="020F0502020204030204"/>
                        </a:defRPr>
                      </a:lvl2pPr>
                      <a:lvl3pPr marL="914377" algn="l" defTabSz="914377" rtl="0" eaLnBrk="1" latinLnBrk="0" hangingPunct="1">
                        <a:defRPr sz="1800" kern="1200">
                          <a:solidFill>
                            <a:schemeClr val="dk1"/>
                          </a:solidFill>
                          <a:latin typeface="Calibri" panose="020F0502020204030204"/>
                        </a:defRPr>
                      </a:lvl3pPr>
                      <a:lvl4pPr marL="1371566" algn="l" defTabSz="914377" rtl="0" eaLnBrk="1" latinLnBrk="0" hangingPunct="1">
                        <a:defRPr sz="1800" kern="1200">
                          <a:solidFill>
                            <a:schemeClr val="dk1"/>
                          </a:solidFill>
                          <a:latin typeface="Calibri" panose="020F0502020204030204"/>
                        </a:defRPr>
                      </a:lvl4pPr>
                      <a:lvl5pPr marL="1828754" algn="l" defTabSz="914377" rtl="0" eaLnBrk="1" latinLnBrk="0" hangingPunct="1">
                        <a:defRPr sz="1800" kern="1200">
                          <a:solidFill>
                            <a:schemeClr val="dk1"/>
                          </a:solidFill>
                          <a:latin typeface="Calibri" panose="020F0502020204030204"/>
                        </a:defRPr>
                      </a:lvl5pPr>
                      <a:lvl6pPr marL="2285943" algn="l" defTabSz="914377" rtl="0" eaLnBrk="1" latinLnBrk="0" hangingPunct="1">
                        <a:defRPr sz="1800" kern="1200">
                          <a:solidFill>
                            <a:schemeClr val="dk1"/>
                          </a:solidFill>
                          <a:latin typeface="Calibri" panose="020F0502020204030204"/>
                        </a:defRPr>
                      </a:lvl6pPr>
                      <a:lvl7pPr marL="2743131" algn="l" defTabSz="914377" rtl="0" eaLnBrk="1" latinLnBrk="0" hangingPunct="1">
                        <a:defRPr sz="1800" kern="1200">
                          <a:solidFill>
                            <a:schemeClr val="dk1"/>
                          </a:solidFill>
                          <a:latin typeface="Calibri" panose="020F0502020204030204"/>
                        </a:defRPr>
                      </a:lvl7pPr>
                      <a:lvl8pPr marL="3200320" algn="l" defTabSz="914377" rtl="0" eaLnBrk="1" latinLnBrk="0" hangingPunct="1">
                        <a:defRPr sz="1800" kern="1200">
                          <a:solidFill>
                            <a:schemeClr val="dk1"/>
                          </a:solidFill>
                          <a:latin typeface="Calibri" panose="020F0502020204030204"/>
                        </a:defRPr>
                      </a:lvl8pPr>
                      <a:lvl9pPr marL="3657509" algn="l" defTabSz="914377" rtl="0" eaLnBrk="1" latinLnBrk="0" hangingPunct="1">
                        <a:defRPr sz="1800" kern="1200">
                          <a:solidFill>
                            <a:schemeClr val="dk1"/>
                          </a:solidFill>
                          <a:latin typeface="Calibri" panose="020F0502020204030204"/>
                        </a:defRPr>
                      </a:lvl9pPr>
                    </a:lstStyle>
                    <a:p>
                      <a:pPr marL="171450" marR="0" indent="-171450" algn="just" defTabSz="914400" rtl="0" eaLnBrk="1" fontAlgn="auto" latinLnBrk="0" hangingPunct="1">
                        <a:lnSpc>
                          <a:spcPct val="100000"/>
                        </a:lnSpc>
                        <a:spcBef>
                          <a:spcPts val="0"/>
                        </a:spcBef>
                        <a:spcAft>
                          <a:spcPts val="0"/>
                        </a:spcAft>
                        <a:buClrTx/>
                        <a:buSzTx/>
                        <a:buFontTx/>
                        <a:buBlip>
                          <a:blip r:embed="rId2"/>
                        </a:buBlip>
                        <a:tabLst/>
                        <a:defRPr/>
                      </a:pPr>
                      <a:r>
                        <a:rPr lang="en-US" sz="1050" b="0" kern="1200">
                          <a:solidFill>
                            <a:schemeClr val="tx2"/>
                          </a:solidFill>
                          <a:latin typeface="Lato" panose="020F0502020204030203" pitchFamily="34" charset="0"/>
                          <a:ea typeface="Lato" panose="020F0502020204030203" pitchFamily="34" charset="0"/>
                          <a:cs typeface="Lato" panose="020F0502020204030203" pitchFamily="34" charset="0"/>
                        </a:rPr>
                        <a:t>No travel is considered in this engagement.</a:t>
                      </a:r>
                      <a:endParaRPr lang="en-US" sz="1050" b="0" i="0" kern="1200">
                        <a:solidFill>
                          <a:schemeClr val="tx2"/>
                        </a:solidFill>
                        <a:latin typeface="Lato" panose="020F0502020204030203" pitchFamily="34" charset="0"/>
                        <a:ea typeface="Lato" panose="020F0502020204030203" pitchFamily="34" charset="0"/>
                        <a:cs typeface="Lato" panose="020F0502020204030203" pitchFamily="34" charset="0"/>
                      </a:endParaRPr>
                    </a:p>
                  </a:txBody>
                  <a:tcPr marL="68552" marR="68552" marT="34276" marB="34276" anchor="ctr">
                    <a:solidFill>
                      <a:schemeClr val="bg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8863949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9BF2533C-41D5-8D90-DEC3-3D7F93F59621}"/>
              </a:ext>
            </a:extLst>
          </p:cNvPr>
          <p:cNvSpPr/>
          <p:nvPr/>
        </p:nvSpPr>
        <p:spPr>
          <a:xfrm>
            <a:off x="235073" y="1118550"/>
            <a:ext cx="11670518" cy="5505534"/>
          </a:xfrm>
          <a:prstGeom prst="roundRect">
            <a:avLst>
              <a:gd name="adj" fmla="val 2593"/>
            </a:avLst>
          </a:prstGeom>
          <a:solidFill>
            <a:schemeClr val="bg1"/>
          </a:solid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buClr>
                <a:srgbClr val="0070C0"/>
              </a:buClr>
            </a:pPr>
            <a:endParaRPr lang="en-US" sz="1200">
              <a:solidFill>
                <a:schemeClr val="tx1"/>
              </a:solidFill>
              <a:latin typeface="Lato" panose="020F0502020204030203" pitchFamily="34" charset="0"/>
              <a:ea typeface="Lato" panose="020F0502020204030203" pitchFamily="34" charset="0"/>
              <a:cs typeface="Lato" panose="020F0502020204030203" pitchFamily="34" charset="0"/>
            </a:endParaRPr>
          </a:p>
          <a:p>
            <a:pPr marL="285750" indent="-285750">
              <a:lnSpc>
                <a:spcPct val="150000"/>
              </a:lnSpc>
              <a:buClr>
                <a:srgbClr val="0070C0"/>
              </a:buClr>
              <a:buFont typeface="Wingdings" panose="05000000000000000000" pitchFamily="2" charset="2"/>
              <a:buChar char="v"/>
            </a:pPr>
            <a:r>
              <a:rPr lang="en-US" sz="1200">
                <a:solidFill>
                  <a:schemeClr val="tx1"/>
                </a:solidFill>
                <a:latin typeface="Lato" panose="020F0502020204030203" pitchFamily="34" charset="0"/>
                <a:ea typeface="Lato" panose="020F0502020204030203" pitchFamily="34" charset="0"/>
                <a:cs typeface="Lato" panose="020F0502020204030203" pitchFamily="34" charset="0"/>
              </a:rPr>
              <a:t>Access to existing code repositories, environments, monitoring tools, and operational runbooks.</a:t>
            </a:r>
          </a:p>
          <a:p>
            <a:pPr marL="285750" indent="-285750">
              <a:lnSpc>
                <a:spcPct val="150000"/>
              </a:lnSpc>
              <a:buClr>
                <a:srgbClr val="0070C0"/>
              </a:buClr>
              <a:buFont typeface="Wingdings" panose="05000000000000000000" pitchFamily="2" charset="2"/>
              <a:buChar char="v"/>
            </a:pPr>
            <a:r>
              <a:rPr lang="en-US" sz="1200">
                <a:solidFill>
                  <a:schemeClr val="tx1"/>
                </a:solidFill>
                <a:latin typeface="Lato" panose="020F0502020204030203" pitchFamily="34" charset="0"/>
                <a:ea typeface="Lato" panose="020F0502020204030203" pitchFamily="34" charset="0"/>
                <a:cs typeface="Lato" panose="020F0502020204030203" pitchFamily="34" charset="0"/>
              </a:rPr>
              <a:t>Availability of current documentation, data models, and pipeline configurations where applicable.</a:t>
            </a:r>
          </a:p>
          <a:p>
            <a:pPr marL="285750" indent="-285750">
              <a:lnSpc>
                <a:spcPct val="150000"/>
              </a:lnSpc>
              <a:buClr>
                <a:srgbClr val="0070C0"/>
              </a:buClr>
              <a:buFont typeface="Wingdings" panose="05000000000000000000" pitchFamily="2" charset="2"/>
              <a:buChar char="v"/>
            </a:pPr>
            <a:r>
              <a:rPr lang="en-US" sz="1200">
                <a:solidFill>
                  <a:schemeClr val="tx1"/>
                </a:solidFill>
                <a:latin typeface="Lato" panose="020F0502020204030203" pitchFamily="34" charset="0"/>
                <a:ea typeface="Lato" panose="020F0502020204030203" pitchFamily="34" charset="0"/>
                <a:cs typeface="Lato" panose="020F0502020204030203" pitchFamily="34" charset="0"/>
              </a:rPr>
              <a:t>Daikin to nominate Product Owners and SMEs for backlog alignment and acceptance support.</a:t>
            </a:r>
          </a:p>
          <a:p>
            <a:pPr marL="285750" indent="-285750">
              <a:lnSpc>
                <a:spcPct val="150000"/>
              </a:lnSpc>
              <a:buClr>
                <a:srgbClr val="0070C0"/>
              </a:buClr>
              <a:buFont typeface="Wingdings" panose="05000000000000000000" pitchFamily="2" charset="2"/>
              <a:buChar char="v"/>
            </a:pPr>
            <a:r>
              <a:rPr lang="en-US" sz="1200">
                <a:solidFill>
                  <a:schemeClr val="tx1"/>
                </a:solidFill>
                <a:latin typeface="Lato" panose="020F0502020204030203" pitchFamily="34" charset="0"/>
                <a:ea typeface="Lato" panose="020F0502020204030203" pitchFamily="34" charset="0"/>
                <a:cs typeface="Lato" panose="020F0502020204030203" pitchFamily="34" charset="0"/>
              </a:rPr>
              <a:t>Timely provisioning of system access, credentials, and required delivery environments.</a:t>
            </a:r>
          </a:p>
          <a:p>
            <a:pPr marL="285750" indent="-285750">
              <a:lnSpc>
                <a:spcPct val="150000"/>
              </a:lnSpc>
              <a:buClr>
                <a:srgbClr val="0070C0"/>
              </a:buClr>
              <a:buFont typeface="Wingdings" panose="05000000000000000000" pitchFamily="2" charset="2"/>
              <a:buChar char="v"/>
            </a:pPr>
            <a:r>
              <a:rPr lang="en-US" sz="1200">
                <a:solidFill>
                  <a:schemeClr val="tx1"/>
                </a:solidFill>
                <a:latin typeface="Lato" panose="020F0502020204030203" pitchFamily="34" charset="0"/>
                <a:ea typeface="Lato" panose="020F0502020204030203" pitchFamily="34" charset="0"/>
                <a:cs typeface="Lato" panose="020F0502020204030203" pitchFamily="34" charset="0"/>
              </a:rPr>
              <a:t>Knowledge and delivery practices from the initial PODs will be cascaded to subsequent PODs using a train-the-trainer model.</a:t>
            </a:r>
          </a:p>
          <a:p>
            <a:pPr marL="285750" indent="-285750">
              <a:lnSpc>
                <a:spcPct val="150000"/>
              </a:lnSpc>
              <a:buClr>
                <a:srgbClr val="0070C0"/>
              </a:buClr>
              <a:buFont typeface="Wingdings" panose="05000000000000000000" pitchFamily="2" charset="2"/>
              <a:buChar char="v"/>
            </a:pPr>
            <a:r>
              <a:rPr lang="en-US" sz="1200">
                <a:solidFill>
                  <a:schemeClr val="tx1"/>
                </a:solidFill>
                <a:latin typeface="Lato" panose="020F0502020204030203" pitchFamily="34" charset="0"/>
                <a:ea typeface="Lato" panose="020F0502020204030203" pitchFamily="34" charset="0"/>
                <a:cs typeface="Lato" panose="020F0502020204030203" pitchFamily="34" charset="0"/>
              </a:rPr>
              <a:t>Product backlogs, priorities, and acceptance criteria will be available in alignment with POD onboarding phases.</a:t>
            </a:r>
          </a:p>
          <a:p>
            <a:pPr marL="285750" indent="-285750">
              <a:lnSpc>
                <a:spcPct val="150000"/>
              </a:lnSpc>
              <a:buClr>
                <a:srgbClr val="0070C0"/>
              </a:buClr>
              <a:buFont typeface="Wingdings" panose="05000000000000000000" pitchFamily="2" charset="2"/>
              <a:buChar char="v"/>
            </a:pPr>
            <a:r>
              <a:rPr lang="en-US" sz="1200">
                <a:solidFill>
                  <a:schemeClr val="tx1"/>
                </a:solidFill>
                <a:latin typeface="Lato" panose="020F0502020204030203" pitchFamily="34" charset="0"/>
                <a:ea typeface="Lato" panose="020F0502020204030203" pitchFamily="34" charset="0"/>
                <a:cs typeface="Lato" panose="020F0502020204030203" pitchFamily="34" charset="0"/>
              </a:rPr>
              <a:t>Delivery cadence, reporting format, and KPIs will be jointly finalized during service commencement.</a:t>
            </a:r>
          </a:p>
          <a:p>
            <a:pPr marL="285750" indent="-285750">
              <a:lnSpc>
                <a:spcPct val="150000"/>
              </a:lnSpc>
              <a:buClr>
                <a:srgbClr val="0070C0"/>
              </a:buClr>
              <a:buFont typeface="Wingdings" panose="05000000000000000000" pitchFamily="2" charset="2"/>
              <a:buChar char="v"/>
            </a:pPr>
            <a:r>
              <a:rPr lang="en-US" sz="1200">
                <a:solidFill>
                  <a:schemeClr val="tx1"/>
                </a:solidFill>
                <a:latin typeface="Lato" panose="020F0502020204030203" pitchFamily="34" charset="0"/>
                <a:ea typeface="Lato" panose="020F0502020204030203" pitchFamily="34" charset="0"/>
                <a:cs typeface="Lato" panose="020F0502020204030203" pitchFamily="34" charset="0"/>
              </a:rPr>
              <a:t>Additional POD onboarding is subject to formal ramp-up requests and confirmation from Daikin.</a:t>
            </a:r>
          </a:p>
          <a:p>
            <a:pPr marL="285750" indent="-285750">
              <a:lnSpc>
                <a:spcPct val="150000"/>
              </a:lnSpc>
              <a:buClr>
                <a:srgbClr val="0070C0"/>
              </a:buClr>
              <a:buFont typeface="Wingdings" panose="05000000000000000000" pitchFamily="2" charset="2"/>
              <a:buChar char="v"/>
            </a:pPr>
            <a:r>
              <a:rPr lang="en-US" sz="1200">
                <a:solidFill>
                  <a:schemeClr val="tx1"/>
                </a:solidFill>
                <a:latin typeface="Lato" panose="020F0502020204030203" pitchFamily="34" charset="0"/>
                <a:ea typeface="Lato" panose="020F0502020204030203" pitchFamily="34" charset="0"/>
                <a:cs typeface="Lato" panose="020F0502020204030203" pitchFamily="34" charset="0"/>
              </a:rPr>
              <a:t>Any on-site requirement will be mutually agreed and may impact commercials.</a:t>
            </a:r>
          </a:p>
          <a:p>
            <a:pPr marL="285750" indent="-285750">
              <a:lnSpc>
                <a:spcPct val="150000"/>
              </a:lnSpc>
              <a:buClr>
                <a:srgbClr val="0070C0"/>
              </a:buClr>
              <a:buFont typeface="Wingdings" panose="05000000000000000000" pitchFamily="2" charset="2"/>
              <a:buChar char="v"/>
            </a:pPr>
            <a:r>
              <a:rPr lang="en-US" sz="1200">
                <a:solidFill>
                  <a:schemeClr val="tx1"/>
                </a:solidFill>
                <a:latin typeface="Lato" panose="020F0502020204030203" pitchFamily="34" charset="0"/>
                <a:ea typeface="Lato" panose="020F0502020204030203" pitchFamily="34" charset="0"/>
                <a:cs typeface="Lato" panose="020F0502020204030203" pitchFamily="34" charset="0"/>
              </a:rPr>
              <a:t>Transition activities aligned with agreed release cycles and code-freeze windows.</a:t>
            </a:r>
          </a:p>
          <a:p>
            <a:pPr marL="285750" indent="-285750">
              <a:lnSpc>
                <a:spcPct val="150000"/>
              </a:lnSpc>
              <a:buClr>
                <a:srgbClr val="0070C0"/>
              </a:buClr>
              <a:buFont typeface="Wingdings" panose="05000000000000000000" pitchFamily="2" charset="2"/>
              <a:buChar char="v"/>
            </a:pPr>
            <a:r>
              <a:rPr lang="en-US" sz="1200">
                <a:solidFill>
                  <a:schemeClr val="tx1"/>
                </a:solidFill>
                <a:latin typeface="Lato" panose="020F0502020204030203" pitchFamily="34" charset="0"/>
                <a:ea typeface="Lato" panose="020F0502020204030203" pitchFamily="34" charset="0"/>
                <a:cs typeface="Lato" panose="020F0502020204030203" pitchFamily="34" charset="0"/>
              </a:rPr>
              <a:t>POD structure, roles, and baseline capacity finalized during engagement initiation.</a:t>
            </a:r>
          </a:p>
          <a:p>
            <a:pPr marL="285750" indent="-285750">
              <a:lnSpc>
                <a:spcPct val="150000"/>
              </a:lnSpc>
              <a:buClr>
                <a:srgbClr val="0070C0"/>
              </a:buClr>
              <a:buFont typeface="Wingdings" panose="05000000000000000000" pitchFamily="2" charset="2"/>
              <a:buChar char="v"/>
            </a:pPr>
            <a:r>
              <a:rPr lang="en-US" sz="1200">
                <a:solidFill>
                  <a:schemeClr val="tx1"/>
                </a:solidFill>
                <a:latin typeface="Lato" panose="020F0502020204030203" pitchFamily="34" charset="0"/>
                <a:ea typeface="Lato" panose="020F0502020204030203" pitchFamily="34" charset="0"/>
                <a:cs typeface="Lato" panose="020F0502020204030203" pitchFamily="34" charset="0"/>
              </a:rPr>
              <a:t>4–6 weeks’ notice assumed for major POD ramp-up or ramp-down activities.</a:t>
            </a:r>
          </a:p>
          <a:p>
            <a:pPr marL="285750" indent="-285750">
              <a:lnSpc>
                <a:spcPct val="150000"/>
              </a:lnSpc>
              <a:buClr>
                <a:srgbClr val="0070C0"/>
              </a:buClr>
              <a:buFont typeface="Wingdings" panose="05000000000000000000" pitchFamily="2" charset="2"/>
              <a:buChar char="v"/>
            </a:pPr>
            <a:r>
              <a:rPr lang="en-US" sz="1200">
                <a:solidFill>
                  <a:schemeClr val="tx1"/>
                </a:solidFill>
                <a:latin typeface="Lato" panose="020F0502020204030203" pitchFamily="34" charset="0"/>
                <a:ea typeface="Lato" panose="020F0502020204030203" pitchFamily="34" charset="0"/>
                <a:cs typeface="Lato" panose="020F0502020204030203" pitchFamily="34" charset="0"/>
              </a:rPr>
              <a:t>Availability of incumbent vendor teams for structured knowledge transfer.</a:t>
            </a:r>
          </a:p>
          <a:p>
            <a:pPr marL="285750" indent="-285750">
              <a:lnSpc>
                <a:spcPct val="150000"/>
              </a:lnSpc>
              <a:buClr>
                <a:srgbClr val="0070C0"/>
              </a:buClr>
              <a:buFont typeface="Wingdings" panose="05000000000000000000" pitchFamily="2" charset="2"/>
              <a:buChar char="v"/>
            </a:pPr>
            <a:r>
              <a:rPr lang="en-US" sz="1200">
                <a:solidFill>
                  <a:schemeClr val="tx1"/>
                </a:solidFill>
                <a:latin typeface="Lato" panose="020F0502020204030203" pitchFamily="34" charset="0"/>
                <a:ea typeface="Lato" panose="020F0502020204030203" pitchFamily="34" charset="0"/>
                <a:cs typeface="Lato" panose="020F0502020204030203" pitchFamily="34" charset="0"/>
              </a:rPr>
              <a:t>Active participation from Daikin business and technical stakeholders.</a:t>
            </a:r>
          </a:p>
          <a:p>
            <a:pPr marL="285750" indent="-285750">
              <a:lnSpc>
                <a:spcPct val="150000"/>
              </a:lnSpc>
              <a:buClr>
                <a:srgbClr val="0070C0"/>
              </a:buClr>
              <a:buFont typeface="Wingdings" panose="05000000000000000000" pitchFamily="2" charset="2"/>
              <a:buChar char="v"/>
            </a:pPr>
            <a:r>
              <a:rPr lang="en-US" sz="1200">
                <a:solidFill>
                  <a:schemeClr val="tx1"/>
                </a:solidFill>
                <a:latin typeface="Lato" panose="020F0502020204030203" pitchFamily="34" charset="0"/>
                <a:ea typeface="Lato" panose="020F0502020204030203" pitchFamily="34" charset="0"/>
                <a:cs typeface="Lato" panose="020F0502020204030203" pitchFamily="34" charset="0"/>
              </a:rPr>
              <a:t>Early confirmation of security, compliance, and access prerequisites.</a:t>
            </a:r>
          </a:p>
          <a:p>
            <a:pPr marL="285750" indent="-285750">
              <a:lnSpc>
                <a:spcPct val="150000"/>
              </a:lnSpc>
              <a:buClr>
                <a:srgbClr val="0070C0"/>
              </a:buClr>
              <a:buFont typeface="Wingdings" panose="05000000000000000000" pitchFamily="2" charset="2"/>
              <a:buChar char="v"/>
            </a:pPr>
            <a:r>
              <a:rPr lang="en-US" sz="1200">
                <a:solidFill>
                  <a:schemeClr val="tx1"/>
                </a:solidFill>
                <a:latin typeface="Lato" panose="020F0502020204030203" pitchFamily="34" charset="0"/>
                <a:ea typeface="Lato" panose="020F0502020204030203" pitchFamily="34" charset="0"/>
                <a:cs typeface="Lato" panose="020F0502020204030203" pitchFamily="34" charset="0"/>
              </a:rPr>
              <a:t>Alignment on collaboration, tracking, and documentation toolsets.</a:t>
            </a:r>
          </a:p>
          <a:p>
            <a:pPr marL="285750" indent="-285750">
              <a:lnSpc>
                <a:spcPct val="150000"/>
              </a:lnSpc>
              <a:buClr>
                <a:srgbClr val="0070C0"/>
              </a:buClr>
              <a:buFont typeface="Wingdings" panose="05000000000000000000" pitchFamily="2" charset="2"/>
              <a:buChar char="v"/>
            </a:pPr>
            <a:r>
              <a:rPr lang="en-US" sz="1200">
                <a:solidFill>
                  <a:schemeClr val="tx1"/>
                </a:solidFill>
                <a:latin typeface="Lato" panose="020F0502020204030203" pitchFamily="34" charset="0"/>
                <a:ea typeface="Lato" panose="020F0502020204030203" pitchFamily="34" charset="0"/>
                <a:cs typeface="Lato" panose="020F0502020204030203" pitchFamily="34" charset="0"/>
              </a:rPr>
              <a:t>Any material changes to scope, delivery expectations, or POD structure will be managed through a mutually agreed change process.</a:t>
            </a:r>
            <a:endParaRPr lang="en-US" sz="1400">
              <a:solidFill>
                <a:schemeClr val="tx1"/>
              </a:solidFill>
              <a:latin typeface="Lato" panose="020F0502020204030203" pitchFamily="34" charset="0"/>
              <a:ea typeface="Lato" panose="020F0502020204030203" pitchFamily="34" charset="0"/>
              <a:cs typeface="Lato" panose="020F0502020204030203" pitchFamily="34" charset="0"/>
            </a:endParaRPr>
          </a:p>
        </p:txBody>
      </p:sp>
      <p:sp>
        <p:nvSpPr>
          <p:cNvPr id="4" name="Title 1">
            <a:extLst>
              <a:ext uri="{FF2B5EF4-FFF2-40B4-BE49-F238E27FC236}">
                <a16:creationId xmlns:a16="http://schemas.microsoft.com/office/drawing/2014/main" id="{BE97489C-D638-B5F2-486E-9AF092152C6F}"/>
              </a:ext>
            </a:extLst>
          </p:cNvPr>
          <p:cNvSpPr>
            <a:spLocks noGrp="1"/>
          </p:cNvSpPr>
          <p:nvPr>
            <p:ph type="title"/>
          </p:nvPr>
        </p:nvSpPr>
        <p:spPr>
          <a:xfrm>
            <a:off x="285205" y="145617"/>
            <a:ext cx="10926134" cy="576000"/>
          </a:xfrm>
        </p:spPr>
        <p:txBody>
          <a:bodyPr/>
          <a:lstStyle/>
          <a:p>
            <a:r>
              <a:rPr lang="en-US"/>
              <a:t>Assumptions and Dependencies </a:t>
            </a:r>
            <a:endParaRPr lang="en-IN"/>
          </a:p>
        </p:txBody>
      </p:sp>
      <p:sp>
        <p:nvSpPr>
          <p:cNvPr id="5" name="Any change in below dependencies will have an impact on effort estimates, delivery schedule and commercials — in such scenario we will follow mutually agreed upon change request process">
            <a:extLst>
              <a:ext uri="{FF2B5EF4-FFF2-40B4-BE49-F238E27FC236}">
                <a16:creationId xmlns:a16="http://schemas.microsoft.com/office/drawing/2014/main" id="{83FA8CE2-7A0E-8EE9-77CA-4757334C1F2F}"/>
              </a:ext>
            </a:extLst>
          </p:cNvPr>
          <p:cNvSpPr txBox="1"/>
          <p:nvPr/>
        </p:nvSpPr>
        <p:spPr>
          <a:xfrm>
            <a:off x="1604210" y="721617"/>
            <a:ext cx="8932244" cy="523216"/>
          </a:xfrm>
          <a:prstGeom prst="rect">
            <a:avLst/>
          </a:prstGeom>
          <a:solidFill>
            <a:srgbClr val="0070C0"/>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indent="279400">
              <a:lnSpc>
                <a:spcPct val="110000"/>
              </a:lnSpc>
              <a:spcBef>
                <a:spcPts val="900"/>
              </a:spcBef>
              <a:defRPr sz="1600">
                <a:solidFill>
                  <a:srgbClr val="FFFFFF"/>
                </a:solidFill>
                <a:latin typeface="Lato"/>
                <a:ea typeface="Lato"/>
                <a:cs typeface="Lato"/>
                <a:sym typeface="Lato"/>
              </a:defRPr>
            </a:lvl1pPr>
          </a:lstStyle>
          <a:p>
            <a:pPr marL="139700" marR="0" lvl="0" indent="12700" defTabSz="914400" eaLnBrk="1" fontAlgn="auto" latinLnBrk="0" hangingPunct="0">
              <a:lnSpc>
                <a:spcPct val="100000"/>
              </a:lnSpc>
              <a:spcBef>
                <a:spcPts val="900"/>
              </a:spcBef>
              <a:spcAft>
                <a:spcPts val="0"/>
              </a:spcAft>
              <a:buClrTx/>
              <a:buSzTx/>
              <a:buFontTx/>
              <a:buNone/>
              <a:tabLst/>
              <a:defRPr/>
            </a:pPr>
            <a:r>
              <a:rPr kumimoji="0" lang="en-US" sz="1400" b="0" i="0" u="none" strike="noStrike" kern="0" cap="none" spc="0" normalizeH="0" baseline="0" noProof="0">
                <a:ln>
                  <a:noFill/>
                </a:ln>
                <a:solidFill>
                  <a:srgbClr val="FFFFFF"/>
                </a:solidFill>
                <a:effectLst/>
                <a:uLnTx/>
                <a:uFillTx/>
                <a:latin typeface="Lato"/>
                <a:ea typeface="Lato"/>
                <a:cs typeface="Lato"/>
                <a:sym typeface="Lato"/>
              </a:rPr>
              <a:t>Any change in below assumptions and dependencies will have an impact on effort estimates, delivery schedule and commercials — in such scenario we will follow mutually agreed upon change request process​</a:t>
            </a:r>
            <a:endParaRPr kumimoji="0" sz="1400" b="0" i="0" u="none" strike="noStrike" kern="0" cap="none" spc="0" normalizeH="0" baseline="0" noProof="0">
              <a:ln>
                <a:noFill/>
              </a:ln>
              <a:solidFill>
                <a:srgbClr val="FFFFFF"/>
              </a:solidFill>
              <a:effectLst/>
              <a:uLnTx/>
              <a:uFillTx/>
              <a:latin typeface="Lato"/>
              <a:ea typeface="Lato"/>
              <a:cs typeface="Lato"/>
              <a:sym typeface="Lato"/>
            </a:endParaRPr>
          </a:p>
        </p:txBody>
      </p:sp>
    </p:spTree>
    <p:extLst>
      <p:ext uri="{BB962C8B-B14F-4D97-AF65-F5344CB8AC3E}">
        <p14:creationId xmlns:p14="http://schemas.microsoft.com/office/powerpoint/2010/main" val="7895339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27C56-5FA3-129B-D7C3-B38E8FDA13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DDA0CF-7A01-A033-96A1-3CDC7E3546A9}"/>
              </a:ext>
            </a:extLst>
          </p:cNvPr>
          <p:cNvSpPr>
            <a:spLocks noGrp="1"/>
          </p:cNvSpPr>
          <p:nvPr>
            <p:ph type="title"/>
          </p:nvPr>
        </p:nvSpPr>
        <p:spPr/>
        <p:txBody>
          <a:bodyPr/>
          <a:lstStyle/>
          <a:p>
            <a:r>
              <a:rPr lang="en-US"/>
              <a:t>Executive Summary</a:t>
            </a:r>
          </a:p>
        </p:txBody>
      </p:sp>
      <p:sp>
        <p:nvSpPr>
          <p:cNvPr id="3" name="Rectangle 2">
            <a:extLst>
              <a:ext uri="{FF2B5EF4-FFF2-40B4-BE49-F238E27FC236}">
                <a16:creationId xmlns:a16="http://schemas.microsoft.com/office/drawing/2014/main" id="{4FC75056-7937-21F9-03C8-51016FA6CCC3}"/>
              </a:ext>
            </a:extLst>
          </p:cNvPr>
          <p:cNvSpPr/>
          <p:nvPr/>
        </p:nvSpPr>
        <p:spPr>
          <a:xfrm rot="5400000">
            <a:off x="5260618" y="-3935512"/>
            <a:ext cx="1534992" cy="10885178"/>
          </a:xfrm>
          <a:prstGeom prst="rect">
            <a:avLst/>
          </a:prstGeom>
          <a:solidFill>
            <a:schemeClr val="bg1"/>
          </a:solidFill>
          <a:ln w="12700" cap="flat" cmpd="sng" algn="ctr">
            <a:solidFill>
              <a:srgbClr val="00B0F0"/>
            </a:solidFill>
            <a:prstDash val="solid"/>
          </a:ln>
          <a:effectLst/>
        </p:spPr>
        <p:txBody>
          <a:bodyPr rot="0" spcFirstLastPara="0" vertOverflow="overflow" horzOverflow="overflow" vert="horz" wrap="square" lIns="91392" tIns="45696" rIns="91392" bIns="45696" numCol="1" spcCol="0" rtlCol="0" fromWordArt="0" anchor="ctr" anchorCtr="0" forceAA="0" compatLnSpc="1">
            <a:prstTxWarp prst="textNoShape">
              <a:avLst/>
            </a:prstTxWarp>
            <a:noAutofit/>
          </a:bodyPr>
          <a:lstStyle/>
          <a:p>
            <a:pPr marL="0" marR="0" lvl="0" indent="0" algn="ctr" defTabSz="913852" rtl="0" eaLnBrk="1" fontAlgn="auto" latinLnBrk="0" hangingPunct="1">
              <a:lnSpc>
                <a:spcPct val="100000"/>
              </a:lnSpc>
              <a:spcBef>
                <a:spcPts val="0"/>
              </a:spcBef>
              <a:spcAft>
                <a:spcPts val="600"/>
              </a:spcAft>
              <a:buClrTx/>
              <a:buSzTx/>
              <a:buFontTx/>
              <a:buNone/>
              <a:tabLst/>
              <a:defRPr/>
            </a:pPr>
            <a:endParaRPr kumimoji="0" lang="en-US" sz="1100" b="0" i="0" u="none" strike="noStrike" kern="0" cap="none" spc="0" normalizeH="0" baseline="0" noProof="0">
              <a:ln>
                <a:noFill/>
              </a:ln>
              <a:solidFill>
                <a:prstClr val="white"/>
              </a:solidFill>
              <a:effectLst/>
              <a:uLnTx/>
              <a:uFillTx/>
              <a:latin typeface="Lato" panose="020F0502020204030203" pitchFamily="34" charset="77"/>
              <a:ea typeface="+mn-ea"/>
              <a:cs typeface="+mn-cs"/>
            </a:endParaRPr>
          </a:p>
        </p:txBody>
      </p:sp>
      <p:sp>
        <p:nvSpPr>
          <p:cNvPr id="4" name="TextBox 3">
            <a:extLst>
              <a:ext uri="{FF2B5EF4-FFF2-40B4-BE49-F238E27FC236}">
                <a16:creationId xmlns:a16="http://schemas.microsoft.com/office/drawing/2014/main" id="{4E235FC2-8455-DAEC-4E1E-515B678103F6}"/>
              </a:ext>
            </a:extLst>
          </p:cNvPr>
          <p:cNvSpPr txBox="1"/>
          <p:nvPr/>
        </p:nvSpPr>
        <p:spPr>
          <a:xfrm>
            <a:off x="889463" y="1064933"/>
            <a:ext cx="10413069" cy="1092607"/>
          </a:xfrm>
          <a:prstGeom prst="rect">
            <a:avLst/>
          </a:prstGeom>
          <a:noFill/>
          <a:ln>
            <a:noFill/>
          </a:ln>
        </p:spPr>
        <p:txBody>
          <a:bodyPr wrap="square" rtlCol="0">
            <a:spAutoFit/>
          </a:bodyPr>
          <a:lstStyle/>
          <a:p>
            <a:pPr marL="285750" marR="0" lvl="0" indent="-285750" algn="just" defTabSz="914400" rtl="0" eaLnBrk="1" fontAlgn="auto" latinLnBrk="0" hangingPunct="1">
              <a:spcBef>
                <a:spcPts val="0"/>
              </a:spcBef>
              <a:spcAft>
                <a:spcPts val="600"/>
              </a:spcAft>
              <a:buClr>
                <a:srgbClr val="061DC6"/>
              </a:buClr>
              <a:buSzTx/>
              <a:buFont typeface="Wingdings" panose="05000000000000000000" pitchFamily="2" charset="2"/>
              <a:buChar char="Ø"/>
              <a:tabLst/>
              <a:defRPr/>
            </a:pPr>
            <a:r>
              <a:rPr kumimoji="0" lang="en-US" sz="1200" b="0" i="0" u="none" strike="noStrike" kern="100" cap="none" spc="0" normalizeH="0" baseline="0" noProof="0">
                <a:ln>
                  <a:noFill/>
                </a:ln>
                <a:solidFill>
                  <a:prstClr val="black"/>
                </a:solidFill>
                <a:effectLst/>
                <a:uLnTx/>
                <a:uFillTx/>
                <a:latin typeface="Lato"/>
                <a:ea typeface="Roboto"/>
                <a:cs typeface="Roboto"/>
              </a:rPr>
              <a:t>Lantern care currently leverages a multi-vendor offshore delivery model with partners supporting Quality Engineering, Data Engineering, Digital Engineering, and Cloud Engineering. While this approach has enabled access to specialized skills, it has also resulted in fragmented ownership, increased coordination effort, and dependency on multiple vendors for critical programs.</a:t>
            </a:r>
          </a:p>
          <a:p>
            <a:pPr marL="285750" marR="0" lvl="0" indent="-285750" algn="just" defTabSz="914400" rtl="0" eaLnBrk="1" fontAlgn="auto" latinLnBrk="0" hangingPunct="1">
              <a:spcBef>
                <a:spcPts val="0"/>
              </a:spcBef>
              <a:spcAft>
                <a:spcPts val="600"/>
              </a:spcAft>
              <a:buClr>
                <a:srgbClr val="061DC6"/>
              </a:buClr>
              <a:buSzTx/>
              <a:buFont typeface="Wingdings" panose="05000000000000000000" pitchFamily="2" charset="2"/>
              <a:buChar char="Ø"/>
              <a:tabLst/>
              <a:defRPr/>
            </a:pPr>
            <a:r>
              <a:rPr kumimoji="0" lang="en-US" sz="1200" b="0" i="0" u="none" strike="noStrike" kern="100" cap="none" spc="0" normalizeH="0" baseline="0" noProof="0">
                <a:ln>
                  <a:noFill/>
                </a:ln>
                <a:solidFill>
                  <a:prstClr val="black"/>
                </a:solidFill>
                <a:effectLst/>
                <a:uLnTx/>
                <a:uFillTx/>
                <a:latin typeface="Lato"/>
                <a:ea typeface="Roboto"/>
                <a:cs typeface="Roboto"/>
              </a:rPr>
              <a:t>Innominds proposes a Resource Rebadging and Continuity Model that enables Lantern care to consolidate its offshore delivery under a single accountable partner, while retaining existing skilled resources, preserving domain knowledge, and ensuring uninterrupted business operations.</a:t>
            </a:r>
          </a:p>
        </p:txBody>
      </p:sp>
      <p:sp>
        <p:nvSpPr>
          <p:cNvPr id="5" name="Rectangle 4">
            <a:extLst>
              <a:ext uri="{FF2B5EF4-FFF2-40B4-BE49-F238E27FC236}">
                <a16:creationId xmlns:a16="http://schemas.microsoft.com/office/drawing/2014/main" id="{AE42AD3E-0D2B-BCFF-1E8A-3968F45C7911}"/>
              </a:ext>
            </a:extLst>
          </p:cNvPr>
          <p:cNvSpPr/>
          <p:nvPr/>
        </p:nvSpPr>
        <p:spPr>
          <a:xfrm>
            <a:off x="404434" y="665629"/>
            <a:ext cx="1728000" cy="312306"/>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latin typeface="Lato" panose="020F0502020204030203" pitchFamily="34" charset="0"/>
                <a:ea typeface="Lato" panose="020F0502020204030203" pitchFamily="34" charset="0"/>
                <a:cs typeface="Lato" panose="020F0502020204030203" pitchFamily="34" charset="0"/>
              </a:rPr>
              <a:t>Background</a:t>
            </a:r>
          </a:p>
        </p:txBody>
      </p:sp>
      <p:sp>
        <p:nvSpPr>
          <p:cNvPr id="7" name="Rectangle: Top Corners Rounded 6">
            <a:extLst>
              <a:ext uri="{FF2B5EF4-FFF2-40B4-BE49-F238E27FC236}">
                <a16:creationId xmlns:a16="http://schemas.microsoft.com/office/drawing/2014/main" id="{801BA0EC-19C9-2A1D-9992-0C67C08F6C47}"/>
              </a:ext>
            </a:extLst>
          </p:cNvPr>
          <p:cNvSpPr/>
          <p:nvPr/>
        </p:nvSpPr>
        <p:spPr>
          <a:xfrm rot="10800000">
            <a:off x="241478" y="3822910"/>
            <a:ext cx="3648304" cy="2577889"/>
          </a:xfrm>
          <a:prstGeom prst="round2SameRect">
            <a:avLst>
              <a:gd name="adj1" fmla="val 4665"/>
              <a:gd name="adj2" fmla="val 0"/>
            </a:avLst>
          </a:prstGeom>
          <a:solidFill>
            <a:schemeClr val="tx2">
              <a:lumMod val="10000"/>
              <a:lumOff val="90000"/>
              <a:alpha val="4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2BFD66B-F36A-951F-9492-560C6D6BBBFD}"/>
              </a:ext>
            </a:extLst>
          </p:cNvPr>
          <p:cNvSpPr/>
          <p:nvPr/>
        </p:nvSpPr>
        <p:spPr>
          <a:xfrm>
            <a:off x="417810" y="3953095"/>
            <a:ext cx="3295640" cy="4050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rgbClr val="0052AC"/>
                </a:solidFill>
                <a:latin typeface="Lato" panose="020F0502020204030203" pitchFamily="34" charset="77"/>
              </a:rPr>
              <a:t>Our Approach</a:t>
            </a:r>
            <a:endParaRPr kumimoji="0" lang="en-IN" sz="1600" b="1" i="0" u="none" strike="noStrike" kern="1200" cap="none" spc="0" normalizeH="0" baseline="0" noProof="0">
              <a:ln>
                <a:noFill/>
              </a:ln>
              <a:solidFill>
                <a:srgbClr val="0052AC"/>
              </a:solidFill>
              <a:effectLst/>
              <a:uLnTx/>
              <a:uFillTx/>
              <a:latin typeface="Lato" panose="020F0502020204030203" pitchFamily="34" charset="77"/>
              <a:ea typeface="+mn-ea"/>
              <a:cs typeface="+mn-cs"/>
            </a:endParaRPr>
          </a:p>
        </p:txBody>
      </p:sp>
      <p:sp>
        <p:nvSpPr>
          <p:cNvPr id="9" name="Rectangle: Top Corners Rounded 8">
            <a:extLst>
              <a:ext uri="{FF2B5EF4-FFF2-40B4-BE49-F238E27FC236}">
                <a16:creationId xmlns:a16="http://schemas.microsoft.com/office/drawing/2014/main" id="{EFA9BEEA-ABDE-A7EF-D418-996A6DB5A231}"/>
              </a:ext>
            </a:extLst>
          </p:cNvPr>
          <p:cNvSpPr/>
          <p:nvPr/>
        </p:nvSpPr>
        <p:spPr>
          <a:xfrm>
            <a:off x="241478" y="2553046"/>
            <a:ext cx="3648304" cy="1197763"/>
          </a:xfrm>
          <a:prstGeom prst="round2Same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3F284FB-8E1F-9254-C9EF-825EC3867710}"/>
              </a:ext>
            </a:extLst>
          </p:cNvPr>
          <p:cNvSpPr txBox="1"/>
          <p:nvPr/>
        </p:nvSpPr>
        <p:spPr>
          <a:xfrm>
            <a:off x="404435" y="4471761"/>
            <a:ext cx="3176966" cy="1975212"/>
          </a:xfrm>
          <a:prstGeom prst="rect">
            <a:avLst/>
          </a:prstGeom>
          <a:noFill/>
        </p:spPr>
        <p:txBody>
          <a:bodyPr wrap="square" lIns="72000" tIns="36000" rIns="72000" bIns="36000">
            <a:spAutoFit/>
          </a:bodyPr>
          <a:lstStyle/>
          <a:p>
            <a:pPr marL="171450" marR="0" lvl="0" indent="-171450" fontAlgn="auto">
              <a:lnSpc>
                <a:spcPct val="150000"/>
              </a:lnSpc>
              <a:spcBef>
                <a:spcPts val="0"/>
              </a:spcBef>
              <a:spcAft>
                <a:spcPts val="0"/>
              </a:spcAft>
              <a:buClr>
                <a:srgbClr val="398797"/>
              </a:buClr>
              <a:buSzTx/>
              <a:buFont typeface="Wingdings" panose="05000000000000000000" pitchFamily="2" charset="2"/>
              <a:buChar char="Ø"/>
              <a:tabLst/>
              <a:defRPr/>
            </a:pPr>
            <a:r>
              <a:rPr lang="en-US" sz="1200">
                <a:latin typeface="Lato" panose="020F0502020204030203" pitchFamily="34" charset="77"/>
              </a:rPr>
              <a:t>Seamless rebadging and retention of existing vendor resources where applicable</a:t>
            </a:r>
          </a:p>
          <a:p>
            <a:pPr marL="171450" marR="0" lvl="0" indent="-171450" fontAlgn="auto">
              <a:lnSpc>
                <a:spcPct val="150000"/>
              </a:lnSpc>
              <a:spcBef>
                <a:spcPts val="0"/>
              </a:spcBef>
              <a:spcAft>
                <a:spcPts val="0"/>
              </a:spcAft>
              <a:buClr>
                <a:srgbClr val="398797"/>
              </a:buClr>
              <a:buSzTx/>
              <a:buFont typeface="Wingdings" panose="05000000000000000000" pitchFamily="2" charset="2"/>
              <a:buChar char="Ø"/>
              <a:tabLst/>
              <a:defRPr/>
            </a:pPr>
            <a:r>
              <a:rPr lang="en-US" sz="1200">
                <a:latin typeface="Lato" panose="020F0502020204030203" pitchFamily="34" charset="77"/>
              </a:rPr>
              <a:t>Structured, low-risk transition with zero or minimal delivery disruption</a:t>
            </a:r>
          </a:p>
          <a:p>
            <a:pPr marL="171450" marR="0" lvl="0" indent="-171450" fontAlgn="auto">
              <a:lnSpc>
                <a:spcPct val="150000"/>
              </a:lnSpc>
              <a:spcBef>
                <a:spcPts val="0"/>
              </a:spcBef>
              <a:spcAft>
                <a:spcPts val="0"/>
              </a:spcAft>
              <a:buClr>
                <a:srgbClr val="398797"/>
              </a:buClr>
              <a:buSzTx/>
              <a:buFont typeface="Wingdings" panose="05000000000000000000" pitchFamily="2" charset="2"/>
              <a:buChar char="Ø"/>
              <a:tabLst/>
              <a:defRPr/>
            </a:pPr>
            <a:r>
              <a:rPr lang="en-US" sz="1200">
                <a:latin typeface="Lato" panose="020F0502020204030203" pitchFamily="34" charset="77"/>
              </a:rPr>
              <a:t>Flexible reallocation of resources aligned to program priorities</a:t>
            </a:r>
          </a:p>
        </p:txBody>
      </p:sp>
      <p:sp>
        <p:nvSpPr>
          <p:cNvPr id="12" name="Rectangle: Top Corners Rounded 11">
            <a:extLst>
              <a:ext uri="{FF2B5EF4-FFF2-40B4-BE49-F238E27FC236}">
                <a16:creationId xmlns:a16="http://schemas.microsoft.com/office/drawing/2014/main" id="{8E8E746B-E72F-4552-5BCD-29F40330E67A}"/>
              </a:ext>
            </a:extLst>
          </p:cNvPr>
          <p:cNvSpPr/>
          <p:nvPr/>
        </p:nvSpPr>
        <p:spPr>
          <a:xfrm rot="10800000">
            <a:off x="4271848" y="3822910"/>
            <a:ext cx="3648304" cy="2577889"/>
          </a:xfrm>
          <a:prstGeom prst="round2SameRect">
            <a:avLst>
              <a:gd name="adj1" fmla="val 4665"/>
              <a:gd name="adj2" fmla="val 0"/>
            </a:avLst>
          </a:prstGeom>
          <a:solidFill>
            <a:schemeClr val="tx2">
              <a:lumMod val="10000"/>
              <a:lumOff val="90000"/>
              <a:alpha val="4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D46CD07-6C08-37E4-2566-80B1806E78B4}"/>
              </a:ext>
            </a:extLst>
          </p:cNvPr>
          <p:cNvSpPr/>
          <p:nvPr/>
        </p:nvSpPr>
        <p:spPr>
          <a:xfrm>
            <a:off x="4448180" y="3953095"/>
            <a:ext cx="3295640" cy="4050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en-US" sz="1600" b="1" i="0" u="none" strike="noStrike" kern="1200" cap="none" spc="0" normalizeH="0" baseline="0" noProof="0">
                <a:ln>
                  <a:noFill/>
                </a:ln>
                <a:solidFill>
                  <a:srgbClr val="0052AC"/>
                </a:solidFill>
                <a:effectLst/>
                <a:uLnTx/>
                <a:uFillTx/>
                <a:latin typeface="Lato" panose="020F0502020204030203" pitchFamily="34" charset="77"/>
                <a:ea typeface="+mn-ea"/>
                <a:cs typeface="+mn-cs"/>
              </a:rPr>
              <a:t>Our Capabilities</a:t>
            </a:r>
            <a:endParaRPr kumimoji="0" lang="en-IN" sz="1600" b="1" i="0" u="none" strike="noStrike" kern="1200" cap="none" spc="0" normalizeH="0" baseline="0" noProof="0">
              <a:ln>
                <a:noFill/>
              </a:ln>
              <a:solidFill>
                <a:srgbClr val="0052AC"/>
              </a:solidFill>
              <a:effectLst/>
              <a:uLnTx/>
              <a:uFillTx/>
              <a:latin typeface="Lato" panose="020F0502020204030203" pitchFamily="34" charset="77"/>
              <a:ea typeface="+mn-ea"/>
              <a:cs typeface="+mn-cs"/>
            </a:endParaRPr>
          </a:p>
        </p:txBody>
      </p:sp>
      <p:sp>
        <p:nvSpPr>
          <p:cNvPr id="14" name="Rectangle: Top Corners Rounded 13">
            <a:extLst>
              <a:ext uri="{FF2B5EF4-FFF2-40B4-BE49-F238E27FC236}">
                <a16:creationId xmlns:a16="http://schemas.microsoft.com/office/drawing/2014/main" id="{7DEA9D3C-A25E-62E2-0873-04FC8823A66C}"/>
              </a:ext>
            </a:extLst>
          </p:cNvPr>
          <p:cNvSpPr/>
          <p:nvPr/>
        </p:nvSpPr>
        <p:spPr>
          <a:xfrm>
            <a:off x="4271848" y="2553046"/>
            <a:ext cx="3648304" cy="1197763"/>
          </a:xfrm>
          <a:prstGeom prst="round2Same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07FACD2-D2F6-E3B4-F0C6-3F0E2FC61C4B}"/>
              </a:ext>
            </a:extLst>
          </p:cNvPr>
          <p:cNvSpPr txBox="1"/>
          <p:nvPr/>
        </p:nvSpPr>
        <p:spPr>
          <a:xfrm>
            <a:off x="4310204" y="4449990"/>
            <a:ext cx="3571591" cy="1698213"/>
          </a:xfrm>
          <a:prstGeom prst="rect">
            <a:avLst/>
          </a:prstGeom>
          <a:noFill/>
        </p:spPr>
        <p:txBody>
          <a:bodyPr wrap="square" lIns="72000" tIns="36000" rIns="72000" bIns="36000">
            <a:spAutoFit/>
          </a:bodyPr>
          <a:lstStyle/>
          <a:p>
            <a:pPr marL="171450" indent="-171450">
              <a:lnSpc>
                <a:spcPct val="150000"/>
              </a:lnSpc>
              <a:buClr>
                <a:srgbClr val="398797"/>
              </a:buClr>
              <a:buFont typeface="Wingdings" panose="05000000000000000000" pitchFamily="2" charset="2"/>
              <a:buChar char="Ø"/>
              <a:defRPr/>
            </a:pPr>
            <a:r>
              <a:rPr lang="en-US" sz="1200">
                <a:latin typeface="Lato" panose="020F0502020204030203" pitchFamily="34" charset="77"/>
              </a:rPr>
              <a:t>Proven expertise across Quality, Data, Digital, and Cloud Engineering</a:t>
            </a:r>
          </a:p>
          <a:p>
            <a:pPr marL="171450" indent="-171450">
              <a:lnSpc>
                <a:spcPct val="150000"/>
              </a:lnSpc>
              <a:buClr>
                <a:srgbClr val="398797"/>
              </a:buClr>
              <a:buFont typeface="Wingdings" panose="05000000000000000000" pitchFamily="2" charset="2"/>
              <a:buChar char="Ø"/>
              <a:defRPr/>
            </a:pPr>
            <a:r>
              <a:rPr lang="en-US" sz="1200">
                <a:latin typeface="Lato" panose="020F0502020204030203" pitchFamily="34" charset="77"/>
              </a:rPr>
              <a:t>Strong experience in regulated and compliance-driven environments</a:t>
            </a:r>
          </a:p>
          <a:p>
            <a:pPr marL="171450" indent="-171450">
              <a:lnSpc>
                <a:spcPct val="150000"/>
              </a:lnSpc>
              <a:buClr>
                <a:srgbClr val="398797"/>
              </a:buClr>
              <a:buFont typeface="Wingdings" panose="05000000000000000000" pitchFamily="2" charset="2"/>
              <a:buChar char="Ø"/>
              <a:defRPr/>
            </a:pPr>
            <a:r>
              <a:rPr lang="en-US" sz="1200">
                <a:latin typeface="Lato" panose="020F0502020204030203" pitchFamily="34" charset="77"/>
              </a:rPr>
              <a:t>Scalable delivery model with robust governance and execution discipline</a:t>
            </a:r>
          </a:p>
        </p:txBody>
      </p:sp>
      <p:sp>
        <p:nvSpPr>
          <p:cNvPr id="17" name="Rectangle: Top Corners Rounded 16">
            <a:extLst>
              <a:ext uri="{FF2B5EF4-FFF2-40B4-BE49-F238E27FC236}">
                <a16:creationId xmlns:a16="http://schemas.microsoft.com/office/drawing/2014/main" id="{7D48C8E6-716C-3AC0-EE17-1518C252CBD1}"/>
              </a:ext>
            </a:extLst>
          </p:cNvPr>
          <p:cNvSpPr/>
          <p:nvPr/>
        </p:nvSpPr>
        <p:spPr>
          <a:xfrm rot="10800000">
            <a:off x="8302218" y="3822910"/>
            <a:ext cx="3648304" cy="2577889"/>
          </a:xfrm>
          <a:prstGeom prst="round2SameRect">
            <a:avLst>
              <a:gd name="adj1" fmla="val 4665"/>
              <a:gd name="adj2" fmla="val 0"/>
            </a:avLst>
          </a:prstGeom>
          <a:solidFill>
            <a:schemeClr val="tx2">
              <a:lumMod val="10000"/>
              <a:lumOff val="90000"/>
              <a:alpha val="4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0C0D42C-CD14-0633-7B32-F012BA44F7D3}"/>
              </a:ext>
            </a:extLst>
          </p:cNvPr>
          <p:cNvSpPr/>
          <p:nvPr/>
        </p:nvSpPr>
        <p:spPr>
          <a:xfrm>
            <a:off x="8478550" y="3953095"/>
            <a:ext cx="3295640" cy="4050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en-US" sz="1600" b="1" i="0" u="none" strike="noStrike" kern="1200" cap="none" spc="0" normalizeH="0" baseline="0" noProof="0">
                <a:ln>
                  <a:noFill/>
                </a:ln>
                <a:solidFill>
                  <a:srgbClr val="0052AC"/>
                </a:solidFill>
                <a:effectLst/>
                <a:uLnTx/>
                <a:uFillTx/>
                <a:latin typeface="Lato" panose="020F0502020204030203" pitchFamily="34" charset="77"/>
                <a:ea typeface="+mn-ea"/>
                <a:cs typeface="+mn-cs"/>
              </a:rPr>
              <a:t>Value to Lantern Care</a:t>
            </a:r>
          </a:p>
        </p:txBody>
      </p:sp>
      <p:sp>
        <p:nvSpPr>
          <p:cNvPr id="19" name="Rectangle: Top Corners Rounded 18">
            <a:extLst>
              <a:ext uri="{FF2B5EF4-FFF2-40B4-BE49-F238E27FC236}">
                <a16:creationId xmlns:a16="http://schemas.microsoft.com/office/drawing/2014/main" id="{05F6C866-596F-EE18-A137-352F973BD1E3}"/>
              </a:ext>
            </a:extLst>
          </p:cNvPr>
          <p:cNvSpPr/>
          <p:nvPr/>
        </p:nvSpPr>
        <p:spPr>
          <a:xfrm>
            <a:off x="8302218" y="2553046"/>
            <a:ext cx="3648304" cy="1197763"/>
          </a:xfrm>
          <a:prstGeom prst="round2Same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3F882C2C-D208-E8B7-5DF5-03E4E00F25B1}"/>
              </a:ext>
            </a:extLst>
          </p:cNvPr>
          <p:cNvSpPr txBox="1"/>
          <p:nvPr/>
        </p:nvSpPr>
        <p:spPr>
          <a:xfrm>
            <a:off x="8340574" y="4440917"/>
            <a:ext cx="3571591" cy="1888585"/>
          </a:xfrm>
          <a:prstGeom prst="rect">
            <a:avLst/>
          </a:prstGeom>
          <a:noFill/>
        </p:spPr>
        <p:txBody>
          <a:bodyPr wrap="square" lIns="72000" tIns="36000" rIns="72000" bIns="36000">
            <a:spAutoFit/>
          </a:bodyPr>
          <a:lstStyle/>
          <a:p>
            <a:pPr marL="171450" indent="-171450">
              <a:spcAft>
                <a:spcPts val="600"/>
              </a:spcAft>
              <a:buClr>
                <a:srgbClr val="398797"/>
              </a:buClr>
              <a:buFont typeface="Wingdings" panose="05000000000000000000" pitchFamily="2" charset="2"/>
              <a:buChar char="Ø"/>
              <a:defRPr/>
            </a:pPr>
            <a:r>
              <a:rPr lang="en-US" sz="1200" b="1">
                <a:latin typeface="Lato" panose="020F0502020204030203" pitchFamily="34" charset="77"/>
              </a:rPr>
              <a:t>Immediate Stability</a:t>
            </a:r>
            <a:r>
              <a:rPr lang="en-US" sz="1200">
                <a:latin typeface="Lato" panose="020F0502020204030203" pitchFamily="34" charset="77"/>
              </a:rPr>
              <a:t>: Consolidates fragmented vendors into a single accountable partner while retaining knowledge and delivery velocity</a:t>
            </a:r>
          </a:p>
          <a:p>
            <a:pPr marL="171450" indent="-171450">
              <a:spcAft>
                <a:spcPts val="600"/>
              </a:spcAft>
              <a:buClr>
                <a:srgbClr val="398797"/>
              </a:buClr>
              <a:buFont typeface="Wingdings" panose="05000000000000000000" pitchFamily="2" charset="2"/>
              <a:buChar char="Ø"/>
              <a:defRPr/>
            </a:pPr>
            <a:r>
              <a:rPr lang="en-US" sz="1200" b="1">
                <a:latin typeface="Lato" panose="020F0502020204030203" pitchFamily="34" charset="77"/>
              </a:rPr>
              <a:t>Focus on Core Teams</a:t>
            </a:r>
            <a:r>
              <a:rPr lang="en-US" sz="1200">
                <a:latin typeface="Lato" panose="020F0502020204030203" pitchFamily="34" charset="77"/>
              </a:rPr>
              <a:t>: Enables Lantern Care to prioritize building its Canada and US engineering organization</a:t>
            </a:r>
          </a:p>
          <a:p>
            <a:pPr marL="171450" indent="-171450">
              <a:spcAft>
                <a:spcPts val="600"/>
              </a:spcAft>
              <a:buClr>
                <a:srgbClr val="398797"/>
              </a:buClr>
              <a:buFont typeface="Wingdings" panose="05000000000000000000" pitchFamily="2" charset="2"/>
              <a:buChar char="Ø"/>
              <a:defRPr/>
            </a:pPr>
            <a:r>
              <a:rPr lang="en-US" sz="1200" b="1">
                <a:latin typeface="Lato" panose="020F0502020204030203" pitchFamily="34" charset="77"/>
              </a:rPr>
              <a:t>Future Path</a:t>
            </a:r>
            <a:r>
              <a:rPr lang="en-US" sz="1200">
                <a:latin typeface="Lato" panose="020F0502020204030203" pitchFamily="34" charset="77"/>
              </a:rPr>
              <a:t>: Establishes a path to build, operate, and optionally acquire resources from Innominds ODC</a:t>
            </a:r>
          </a:p>
        </p:txBody>
      </p:sp>
      <p:pic>
        <p:nvPicPr>
          <p:cNvPr id="21" name="Picture 20" descr="A person typing on a computer&#10;&#10;AI-generated content may be incorrect.">
            <a:extLst>
              <a:ext uri="{FF2B5EF4-FFF2-40B4-BE49-F238E27FC236}">
                <a16:creationId xmlns:a16="http://schemas.microsoft.com/office/drawing/2014/main" id="{53779EDF-3AEF-318A-7D4D-D268D62B5CBC}"/>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8466469" y="2571665"/>
            <a:ext cx="3324653" cy="1179144"/>
          </a:xfrm>
          <a:prstGeom prst="rect">
            <a:avLst/>
          </a:prstGeom>
        </p:spPr>
      </p:pic>
      <p:pic>
        <p:nvPicPr>
          <p:cNvPr id="22" name="Picture 21" descr="A group of people in a meeting&#10;&#10;AI-generated content may be incorrect.">
            <a:extLst>
              <a:ext uri="{FF2B5EF4-FFF2-40B4-BE49-F238E27FC236}">
                <a16:creationId xmlns:a16="http://schemas.microsoft.com/office/drawing/2014/main" id="{7DE6C7C4-BE9C-23C0-C61D-83D322EC6BCF}"/>
              </a:ext>
            </a:extLst>
          </p:cNvPr>
          <p:cNvPicPr>
            <a:picLocks noChangeAspect="1"/>
          </p:cNvPicPr>
          <p:nvPr/>
        </p:nvPicPr>
        <p:blipFill>
          <a:blip r:embed="rId3">
            <a:alphaModFix/>
            <a:extLst>
              <a:ext uri="{28A0092B-C50C-407E-A947-70E740481C1C}">
                <a14:useLocalDpi xmlns:a14="http://schemas.microsoft.com/office/drawing/2010/main"/>
              </a:ext>
            </a:extLst>
          </a:blip>
          <a:srcRect/>
          <a:stretch/>
        </p:blipFill>
        <p:spPr>
          <a:xfrm>
            <a:off x="4430791" y="2571664"/>
            <a:ext cx="3330415" cy="1179145"/>
          </a:xfrm>
          <a:prstGeom prst="rect">
            <a:avLst/>
          </a:prstGeom>
        </p:spPr>
      </p:pic>
      <p:pic>
        <p:nvPicPr>
          <p:cNvPr id="23" name="Picture 22" descr="A hand touching a digital screen&#10;&#10;AI-generated content may be incorrect.">
            <a:extLst>
              <a:ext uri="{FF2B5EF4-FFF2-40B4-BE49-F238E27FC236}">
                <a16:creationId xmlns:a16="http://schemas.microsoft.com/office/drawing/2014/main" id="{7BC7CFEB-F6D4-D09B-CD35-C7C81AD956B8}"/>
              </a:ext>
            </a:extLst>
          </p:cNvPr>
          <p:cNvPicPr>
            <a:picLocks noChangeAspect="1"/>
          </p:cNvPicPr>
          <p:nvPr/>
        </p:nvPicPr>
        <p:blipFill>
          <a:blip r:embed="rId4" cstate="hqprint">
            <a:alphaModFix/>
            <a:extLst>
              <a:ext uri="{28A0092B-C50C-407E-A947-70E740481C1C}">
                <a14:useLocalDpi xmlns:a14="http://schemas.microsoft.com/office/drawing/2010/main"/>
              </a:ext>
            </a:extLst>
          </a:blip>
          <a:srcRect/>
          <a:stretch/>
        </p:blipFill>
        <p:spPr>
          <a:xfrm>
            <a:off x="400878" y="2571664"/>
            <a:ext cx="3330416" cy="1179144"/>
          </a:xfrm>
          <a:prstGeom prst="rect">
            <a:avLst/>
          </a:prstGeom>
        </p:spPr>
      </p:pic>
    </p:spTree>
    <p:extLst>
      <p:ext uri="{BB962C8B-B14F-4D97-AF65-F5344CB8AC3E}">
        <p14:creationId xmlns:p14="http://schemas.microsoft.com/office/powerpoint/2010/main" val="36167227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0016A-AB0F-3083-B32E-376BAC83BF74}"/>
              </a:ext>
            </a:extLst>
          </p:cNvPr>
          <p:cNvSpPr>
            <a:spLocks noGrp="1"/>
          </p:cNvSpPr>
          <p:nvPr>
            <p:ph type="title"/>
          </p:nvPr>
        </p:nvSpPr>
        <p:spPr/>
        <p:txBody>
          <a:bodyPr/>
          <a:lstStyle/>
          <a:p>
            <a:r>
              <a:rPr lang="en-IN"/>
              <a:t>Business Rationale</a:t>
            </a:r>
          </a:p>
        </p:txBody>
      </p:sp>
      <p:grpSp>
        <p:nvGrpSpPr>
          <p:cNvPr id="3" name="Group 2">
            <a:extLst>
              <a:ext uri="{FF2B5EF4-FFF2-40B4-BE49-F238E27FC236}">
                <a16:creationId xmlns:a16="http://schemas.microsoft.com/office/drawing/2014/main" id="{F7663A28-2C41-0C5E-A05F-1779778C0B04}"/>
              </a:ext>
            </a:extLst>
          </p:cNvPr>
          <p:cNvGrpSpPr/>
          <p:nvPr/>
        </p:nvGrpSpPr>
        <p:grpSpPr>
          <a:xfrm>
            <a:off x="409121" y="1116210"/>
            <a:ext cx="11373757" cy="4849161"/>
            <a:chOff x="382814" y="756982"/>
            <a:chExt cx="11373757" cy="3760589"/>
          </a:xfrm>
        </p:grpSpPr>
        <p:grpSp>
          <p:nvGrpSpPr>
            <p:cNvPr id="4" name="Group 3">
              <a:extLst>
                <a:ext uri="{FF2B5EF4-FFF2-40B4-BE49-F238E27FC236}">
                  <a16:creationId xmlns:a16="http://schemas.microsoft.com/office/drawing/2014/main" id="{43D5DE5D-6A2D-A380-7ABA-3ADE57E88FC1}"/>
                </a:ext>
              </a:extLst>
            </p:cNvPr>
            <p:cNvGrpSpPr/>
            <p:nvPr/>
          </p:nvGrpSpPr>
          <p:grpSpPr>
            <a:xfrm>
              <a:off x="382814" y="756982"/>
              <a:ext cx="11373757" cy="3760589"/>
              <a:chOff x="382814" y="680782"/>
              <a:chExt cx="5299091" cy="2743838"/>
            </a:xfrm>
          </p:grpSpPr>
          <p:sp>
            <p:nvSpPr>
              <p:cNvPr id="6" name="Rectangle: Rounded Corners 5">
                <a:extLst>
                  <a:ext uri="{FF2B5EF4-FFF2-40B4-BE49-F238E27FC236}">
                    <a16:creationId xmlns:a16="http://schemas.microsoft.com/office/drawing/2014/main" id="{3B32D592-1026-639B-D1D6-93DCCC539CD1}"/>
                  </a:ext>
                </a:extLst>
              </p:cNvPr>
              <p:cNvSpPr/>
              <p:nvPr/>
            </p:nvSpPr>
            <p:spPr>
              <a:xfrm>
                <a:off x="382814" y="680782"/>
                <a:ext cx="5299091" cy="2743838"/>
              </a:xfrm>
              <a:prstGeom prst="roundRect">
                <a:avLst>
                  <a:gd name="adj" fmla="val 6411"/>
                </a:avLst>
              </a:prstGeom>
              <a:solidFill>
                <a:schemeClr val="bg1"/>
              </a:solidFill>
              <a:ln w="952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latin typeface="Lato" panose="020F0502020204030203" pitchFamily="34" charset="0"/>
                  <a:ea typeface="Lato" panose="020F0502020204030203" pitchFamily="34" charset="0"/>
                  <a:cs typeface="Lato" panose="020F0502020204030203" pitchFamily="34" charset="0"/>
                </a:endParaRPr>
              </a:p>
            </p:txBody>
          </p:sp>
          <p:sp>
            <p:nvSpPr>
              <p:cNvPr id="7" name="Rectangle 6">
                <a:extLst>
                  <a:ext uri="{FF2B5EF4-FFF2-40B4-BE49-F238E27FC236}">
                    <a16:creationId xmlns:a16="http://schemas.microsoft.com/office/drawing/2014/main" id="{EC563678-5568-7A2A-9B62-24741483802F}"/>
                  </a:ext>
                </a:extLst>
              </p:cNvPr>
              <p:cNvSpPr/>
              <p:nvPr/>
            </p:nvSpPr>
            <p:spPr>
              <a:xfrm>
                <a:off x="382814" y="3232696"/>
                <a:ext cx="5299090" cy="61907"/>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latin typeface="Lato" panose="020F0502020204030203" pitchFamily="34" charset="0"/>
                  <a:ea typeface="Lato" panose="020F0502020204030203" pitchFamily="34" charset="0"/>
                  <a:cs typeface="Lato" panose="020F0502020204030203" pitchFamily="34" charset="0"/>
                </a:endParaRPr>
              </a:p>
            </p:txBody>
          </p:sp>
        </p:grpSp>
        <p:sp>
          <p:nvSpPr>
            <p:cNvPr id="5" name="Content Placeholder 1">
              <a:extLst>
                <a:ext uri="{FF2B5EF4-FFF2-40B4-BE49-F238E27FC236}">
                  <a16:creationId xmlns:a16="http://schemas.microsoft.com/office/drawing/2014/main" id="{09EE3D43-1DBE-EA99-FC32-437431A9255B}"/>
                </a:ext>
              </a:extLst>
            </p:cNvPr>
            <p:cNvSpPr txBox="1">
              <a:spLocks/>
            </p:cNvSpPr>
            <p:nvPr/>
          </p:nvSpPr>
          <p:spPr>
            <a:xfrm>
              <a:off x="638229" y="1004646"/>
              <a:ext cx="5888519" cy="3017520"/>
            </a:xfrm>
            <a:prstGeom prst="rect">
              <a:avLst/>
            </a:prstGeo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Clr>
                  <a:srgbClr val="0070C0"/>
                </a:buClr>
                <a:buNone/>
              </a:pPr>
              <a:r>
                <a:rPr lang="en-US" sz="1400">
                  <a:latin typeface="Lato" panose="020F0502020204030203" pitchFamily="34" charset="0"/>
                  <a:ea typeface="Lato" panose="020F0502020204030203" pitchFamily="34" charset="0"/>
                  <a:cs typeface="Lato" panose="020F0502020204030203" pitchFamily="34" charset="0"/>
                </a:rPr>
                <a:t>As Lantern care continues to scale its R&amp;D and technology platforms, the current multi-vendor model introduces operational complexity, fragmented ownership, and increased management overhead. A unified engagement model with Innominds will:</a:t>
              </a:r>
            </a:p>
            <a:p>
              <a:pPr>
                <a:lnSpc>
                  <a:spcPct val="150000"/>
                </a:lnSpc>
                <a:buClr>
                  <a:srgbClr val="0070C0"/>
                </a:buClr>
                <a:buFont typeface="Wingdings" panose="05000000000000000000" pitchFamily="2" charset="2"/>
                <a:buChar char="Ø"/>
              </a:pPr>
              <a:r>
                <a:rPr lang="en-US" sz="1400">
                  <a:latin typeface="Lato" panose="020F0502020204030203" pitchFamily="34" charset="0"/>
                  <a:ea typeface="Lato" panose="020F0502020204030203" pitchFamily="34" charset="0"/>
                  <a:cs typeface="Lato" panose="020F0502020204030203" pitchFamily="34" charset="0"/>
                </a:rPr>
                <a:t>Preserve existing delivery momentum by rebadging proven resources</a:t>
              </a:r>
            </a:p>
            <a:p>
              <a:pPr>
                <a:lnSpc>
                  <a:spcPct val="150000"/>
                </a:lnSpc>
                <a:buClr>
                  <a:srgbClr val="0070C0"/>
                </a:buClr>
                <a:buFont typeface="Wingdings" panose="05000000000000000000" pitchFamily="2" charset="2"/>
                <a:buChar char="Ø"/>
              </a:pPr>
              <a:r>
                <a:rPr lang="en-US" sz="1400">
                  <a:latin typeface="Lato" panose="020F0502020204030203" pitchFamily="34" charset="0"/>
                  <a:ea typeface="Lato" panose="020F0502020204030203" pitchFamily="34" charset="0"/>
                  <a:cs typeface="Lato" panose="020F0502020204030203" pitchFamily="34" charset="0"/>
                </a:rPr>
                <a:t>Reduce vendor sprawl and associated governance overhead</a:t>
              </a:r>
            </a:p>
            <a:p>
              <a:pPr>
                <a:lnSpc>
                  <a:spcPct val="150000"/>
                </a:lnSpc>
                <a:buClr>
                  <a:srgbClr val="0070C0"/>
                </a:buClr>
                <a:buFont typeface="Wingdings" panose="05000000000000000000" pitchFamily="2" charset="2"/>
                <a:buChar char="Ø"/>
              </a:pPr>
              <a:r>
                <a:rPr lang="en-US" sz="1400">
                  <a:latin typeface="Lato" panose="020F0502020204030203" pitchFamily="34" charset="0"/>
                  <a:ea typeface="Lato" panose="020F0502020204030203" pitchFamily="34" charset="0"/>
                  <a:cs typeface="Lato" panose="020F0502020204030203" pitchFamily="34" charset="0"/>
                </a:rPr>
                <a:t>Improve speed, predictability, and accountability of delivery</a:t>
              </a:r>
            </a:p>
            <a:p>
              <a:pPr>
                <a:lnSpc>
                  <a:spcPct val="150000"/>
                </a:lnSpc>
                <a:buClr>
                  <a:srgbClr val="0070C0"/>
                </a:buClr>
                <a:buFont typeface="Wingdings" panose="05000000000000000000" pitchFamily="2" charset="2"/>
                <a:buChar char="Ø"/>
              </a:pPr>
              <a:r>
                <a:rPr lang="en-US" sz="1400">
                  <a:latin typeface="Lato" panose="020F0502020204030203" pitchFamily="34" charset="0"/>
                  <a:ea typeface="Lato" panose="020F0502020204030203" pitchFamily="34" charset="0"/>
                  <a:cs typeface="Lato" panose="020F0502020204030203" pitchFamily="34" charset="0"/>
                </a:rPr>
                <a:t>Enable flexible reallocation of talent aligned to evolving priorities</a:t>
              </a:r>
            </a:p>
            <a:p>
              <a:pPr>
                <a:lnSpc>
                  <a:spcPct val="150000"/>
                </a:lnSpc>
                <a:buClr>
                  <a:srgbClr val="0070C0"/>
                </a:buClr>
                <a:buFont typeface="Wingdings" panose="05000000000000000000" pitchFamily="2" charset="2"/>
                <a:buChar char="Ø"/>
              </a:pPr>
              <a:r>
                <a:rPr lang="en-US" sz="1400">
                  <a:latin typeface="Lato" panose="020F0502020204030203" pitchFamily="34" charset="0"/>
                  <a:ea typeface="Lato" panose="020F0502020204030203" pitchFamily="34" charset="0"/>
                  <a:cs typeface="Lato" panose="020F0502020204030203" pitchFamily="34" charset="0"/>
                </a:rPr>
                <a:t>Establish a future-ready platform for scale, innovation, and compliance</a:t>
              </a:r>
              <a:endParaRPr lang="en-GB" sz="1400">
                <a:latin typeface="Lato" panose="020F0502020204030203" pitchFamily="34" charset="0"/>
                <a:ea typeface="Lato" panose="020F0502020204030203" pitchFamily="34" charset="0"/>
                <a:cs typeface="Lato" panose="020F0502020204030203" pitchFamily="34" charset="0"/>
              </a:endParaRPr>
            </a:p>
          </p:txBody>
        </p:sp>
      </p:grpSp>
      <p:pic>
        <p:nvPicPr>
          <p:cNvPr id="8" name="Graphic 7">
            <a:extLst>
              <a:ext uri="{FF2B5EF4-FFF2-40B4-BE49-F238E27FC236}">
                <a16:creationId xmlns:a16="http://schemas.microsoft.com/office/drawing/2014/main" id="{296CE4B4-40C8-5CFC-C4D2-9B0C77D75DE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62750" y="1680196"/>
            <a:ext cx="4787574" cy="3781527"/>
          </a:xfrm>
          <a:prstGeom prst="rect">
            <a:avLst/>
          </a:prstGeom>
        </p:spPr>
      </p:pic>
    </p:spTree>
    <p:extLst>
      <p:ext uri="{BB962C8B-B14F-4D97-AF65-F5344CB8AC3E}">
        <p14:creationId xmlns:p14="http://schemas.microsoft.com/office/powerpoint/2010/main" val="17077004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1095F-8C9A-8DA1-DF25-90BF8DC821EE}"/>
              </a:ext>
            </a:extLst>
          </p:cNvPr>
          <p:cNvSpPr>
            <a:spLocks noGrp="1"/>
          </p:cNvSpPr>
          <p:nvPr>
            <p:ph type="title"/>
          </p:nvPr>
        </p:nvSpPr>
        <p:spPr/>
        <p:txBody>
          <a:bodyPr/>
          <a:lstStyle/>
          <a:p>
            <a:r>
              <a:rPr lang="en-US"/>
              <a:t>Integrated Talent Transition &amp; Continuity Model</a:t>
            </a:r>
            <a:endParaRPr lang="en-IN"/>
          </a:p>
        </p:txBody>
      </p:sp>
      <p:grpSp>
        <p:nvGrpSpPr>
          <p:cNvPr id="4" name="Group 3">
            <a:extLst>
              <a:ext uri="{FF2B5EF4-FFF2-40B4-BE49-F238E27FC236}">
                <a16:creationId xmlns:a16="http://schemas.microsoft.com/office/drawing/2014/main" id="{B8449796-E776-9F2F-2BA8-298521F1F052}"/>
              </a:ext>
            </a:extLst>
          </p:cNvPr>
          <p:cNvGrpSpPr/>
          <p:nvPr/>
        </p:nvGrpSpPr>
        <p:grpSpPr>
          <a:xfrm>
            <a:off x="152400" y="3363685"/>
            <a:ext cx="11887200" cy="457200"/>
            <a:chOff x="152400" y="3363685"/>
            <a:chExt cx="11887200" cy="457200"/>
          </a:xfrm>
        </p:grpSpPr>
        <p:sp>
          <p:nvSpPr>
            <p:cNvPr id="15" name="Rectangle: Rounded Corners 14">
              <a:extLst>
                <a:ext uri="{FF2B5EF4-FFF2-40B4-BE49-F238E27FC236}">
                  <a16:creationId xmlns:a16="http://schemas.microsoft.com/office/drawing/2014/main" id="{34C530CC-30C5-591B-3200-E676B37024D7}"/>
                </a:ext>
              </a:extLst>
            </p:cNvPr>
            <p:cNvSpPr/>
            <p:nvPr/>
          </p:nvSpPr>
          <p:spPr>
            <a:xfrm>
              <a:off x="152400" y="3363685"/>
              <a:ext cx="11887200" cy="457200"/>
            </a:xfrm>
            <a:prstGeom prst="roundRect">
              <a:avLst>
                <a:gd name="adj" fmla="val 0"/>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9BDF5252-E719-C75B-AE9B-E4D92C3672B8}"/>
                </a:ext>
              </a:extLst>
            </p:cNvPr>
            <p:cNvSpPr/>
            <p:nvPr/>
          </p:nvSpPr>
          <p:spPr>
            <a:xfrm>
              <a:off x="152400" y="3544509"/>
              <a:ext cx="11887200" cy="95553"/>
            </a:xfrm>
            <a:prstGeom prst="roundRect">
              <a:avLst>
                <a:gd name="adj" fmla="val 0"/>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 name="Group 5">
            <a:extLst>
              <a:ext uri="{FF2B5EF4-FFF2-40B4-BE49-F238E27FC236}">
                <a16:creationId xmlns:a16="http://schemas.microsoft.com/office/drawing/2014/main" id="{CB176297-46B4-BBC8-0EA3-130803F1CDAD}"/>
              </a:ext>
            </a:extLst>
          </p:cNvPr>
          <p:cNvGrpSpPr/>
          <p:nvPr/>
        </p:nvGrpSpPr>
        <p:grpSpPr>
          <a:xfrm>
            <a:off x="786851" y="895154"/>
            <a:ext cx="3283793" cy="5067692"/>
            <a:chOff x="656836" y="1039194"/>
            <a:chExt cx="3283793" cy="5067692"/>
          </a:xfrm>
        </p:grpSpPr>
        <p:sp>
          <p:nvSpPr>
            <p:cNvPr id="13" name="Rectangle: Rounded Corners 12">
              <a:extLst>
                <a:ext uri="{FF2B5EF4-FFF2-40B4-BE49-F238E27FC236}">
                  <a16:creationId xmlns:a16="http://schemas.microsoft.com/office/drawing/2014/main" id="{6729384F-0FFC-A126-1CD8-7ECE016265DB}"/>
                </a:ext>
              </a:extLst>
            </p:cNvPr>
            <p:cNvSpPr/>
            <p:nvPr/>
          </p:nvSpPr>
          <p:spPr>
            <a:xfrm>
              <a:off x="656836" y="1039194"/>
              <a:ext cx="3283793" cy="5067692"/>
            </a:xfrm>
            <a:prstGeom prst="roundRect">
              <a:avLst>
                <a:gd name="adj" fmla="val 5552"/>
              </a:avLst>
            </a:prstGeom>
            <a:solidFill>
              <a:schemeClr val="bg1"/>
            </a:solidFill>
            <a:ln w="12700">
              <a:solidFill>
                <a:srgbClr val="00B0F0"/>
              </a:solidFill>
            </a:ln>
            <a:effectLst>
              <a:outerShdw dist="38100" dir="5400000" algn="t" rotWithShape="0">
                <a:srgbClr val="00B0F0"/>
              </a:outerShdw>
            </a:effectLst>
          </p:spPr>
          <p:style>
            <a:lnRef idx="2">
              <a:schemeClr val="accent1">
                <a:shade val="15000"/>
              </a:schemeClr>
            </a:lnRef>
            <a:fillRef idx="1">
              <a:schemeClr val="accent1"/>
            </a:fillRef>
            <a:effectRef idx="0">
              <a:schemeClr val="accent1"/>
            </a:effectRef>
            <a:fontRef idx="minor">
              <a:schemeClr val="lt1"/>
            </a:fontRef>
          </p:style>
          <p:txBody>
            <a:bodyPr bIns="91440" rtlCol="0" anchor="b"/>
            <a:lstStyle/>
            <a:p>
              <a:pPr marL="171450" indent="-171450">
                <a:spcBef>
                  <a:spcPts val="1200"/>
                </a:spcBef>
                <a:buClr>
                  <a:srgbClr val="00B0F0"/>
                </a:buClr>
                <a:buFont typeface="Wingdings" panose="05000000000000000000" pitchFamily="2" charset="2"/>
                <a:buChar char="Ø"/>
              </a:pPr>
              <a:endParaRPr lang="en-US" sz="1200">
                <a:solidFill>
                  <a:schemeClr val="tx1"/>
                </a:solidFill>
                <a:latin typeface="Lato" panose="020F0502020204030203" pitchFamily="34" charset="0"/>
                <a:ea typeface="Lato" panose="020F0502020204030203" pitchFamily="34" charset="0"/>
                <a:cs typeface="Lato" panose="020F0502020204030203" pitchFamily="34" charset="0"/>
              </a:endParaRPr>
            </a:p>
          </p:txBody>
        </p:sp>
        <p:sp>
          <p:nvSpPr>
            <p:cNvPr id="14" name="Rectangle 13">
              <a:extLst>
                <a:ext uri="{FF2B5EF4-FFF2-40B4-BE49-F238E27FC236}">
                  <a16:creationId xmlns:a16="http://schemas.microsoft.com/office/drawing/2014/main" id="{D7C4220E-281F-EEA4-B1E0-BAFFE1FD5717}"/>
                </a:ext>
              </a:extLst>
            </p:cNvPr>
            <p:cNvSpPr/>
            <p:nvPr/>
          </p:nvSpPr>
          <p:spPr>
            <a:xfrm>
              <a:off x="656836" y="1205640"/>
              <a:ext cx="3283793" cy="736853"/>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600" b="1">
                  <a:latin typeface="Lato" panose="020F0502020204030203" pitchFamily="34" charset="0"/>
                  <a:ea typeface="Lato" panose="020F0502020204030203" pitchFamily="34" charset="0"/>
                  <a:cs typeface="Lato" panose="020F0502020204030203" pitchFamily="34" charset="0"/>
                </a:rPr>
                <a:t>Rebadging Process / Approach</a:t>
              </a:r>
              <a:endParaRPr lang="en-US" sz="1600">
                <a:latin typeface="Lato" panose="020F0502020204030203" pitchFamily="34" charset="0"/>
                <a:ea typeface="Lato" panose="020F0502020204030203" pitchFamily="34" charset="0"/>
                <a:cs typeface="Lato" panose="020F0502020204030203" pitchFamily="34" charset="0"/>
              </a:endParaRPr>
            </a:p>
          </p:txBody>
        </p:sp>
      </p:grpSp>
      <p:grpSp>
        <p:nvGrpSpPr>
          <p:cNvPr id="8" name="Group 7">
            <a:extLst>
              <a:ext uri="{FF2B5EF4-FFF2-40B4-BE49-F238E27FC236}">
                <a16:creationId xmlns:a16="http://schemas.microsoft.com/office/drawing/2014/main" id="{59496ED4-8882-B1E3-F81A-369E8D9442C9}"/>
              </a:ext>
            </a:extLst>
          </p:cNvPr>
          <p:cNvGrpSpPr/>
          <p:nvPr/>
        </p:nvGrpSpPr>
        <p:grpSpPr>
          <a:xfrm>
            <a:off x="4386412" y="899774"/>
            <a:ext cx="3283793" cy="5067692"/>
            <a:chOff x="656836" y="1039194"/>
            <a:chExt cx="3283793" cy="5067692"/>
          </a:xfrm>
        </p:grpSpPr>
        <p:sp>
          <p:nvSpPr>
            <p:cNvPr id="9" name="Rectangle: Rounded Corners 8">
              <a:extLst>
                <a:ext uri="{FF2B5EF4-FFF2-40B4-BE49-F238E27FC236}">
                  <a16:creationId xmlns:a16="http://schemas.microsoft.com/office/drawing/2014/main" id="{ED983B38-F20B-A76E-BD1A-1538270A55C1}"/>
                </a:ext>
              </a:extLst>
            </p:cNvPr>
            <p:cNvSpPr/>
            <p:nvPr/>
          </p:nvSpPr>
          <p:spPr>
            <a:xfrm>
              <a:off x="656836" y="1039194"/>
              <a:ext cx="3283793" cy="5067692"/>
            </a:xfrm>
            <a:prstGeom prst="roundRect">
              <a:avLst>
                <a:gd name="adj" fmla="val 5552"/>
              </a:avLst>
            </a:prstGeom>
            <a:solidFill>
              <a:schemeClr val="bg1"/>
            </a:solidFill>
            <a:ln w="12700">
              <a:solidFill>
                <a:srgbClr val="00B0F0"/>
              </a:solidFill>
            </a:ln>
            <a:effectLst>
              <a:outerShdw dist="38100" dir="5400000" algn="t" rotWithShape="0">
                <a:srgbClr val="00B0F0"/>
              </a:outerShdw>
            </a:effectLst>
          </p:spPr>
          <p:style>
            <a:lnRef idx="2">
              <a:schemeClr val="accent1">
                <a:shade val="15000"/>
              </a:schemeClr>
            </a:lnRef>
            <a:fillRef idx="1">
              <a:schemeClr val="accent1"/>
            </a:fillRef>
            <a:effectRef idx="0">
              <a:schemeClr val="accent1"/>
            </a:effectRef>
            <a:fontRef idx="minor">
              <a:schemeClr val="lt1"/>
            </a:fontRef>
          </p:style>
          <p:txBody>
            <a:bodyPr bIns="91440" rtlCol="0" anchor="b"/>
            <a:lstStyle/>
            <a:p>
              <a:pPr marL="171450" indent="-171450">
                <a:spcBef>
                  <a:spcPts val="1200"/>
                </a:spcBef>
                <a:buClr>
                  <a:srgbClr val="00B0F0"/>
                </a:buClr>
                <a:buFont typeface="Wingdings" panose="05000000000000000000" pitchFamily="2" charset="2"/>
                <a:buChar char="Ø"/>
              </a:pPr>
              <a:endParaRPr lang="en-US" sz="1200">
                <a:solidFill>
                  <a:schemeClr val="tx1"/>
                </a:solidFill>
                <a:latin typeface="Lato" panose="020F0502020204030203" pitchFamily="34" charset="0"/>
                <a:ea typeface="Lato" panose="020F0502020204030203" pitchFamily="34" charset="0"/>
                <a:cs typeface="Lato" panose="020F0502020204030203" pitchFamily="34" charset="0"/>
              </a:endParaRPr>
            </a:p>
          </p:txBody>
        </p:sp>
        <p:sp>
          <p:nvSpPr>
            <p:cNvPr id="10" name="Rectangle 9">
              <a:extLst>
                <a:ext uri="{FF2B5EF4-FFF2-40B4-BE49-F238E27FC236}">
                  <a16:creationId xmlns:a16="http://schemas.microsoft.com/office/drawing/2014/main" id="{2EC66362-95D5-4440-22DC-BC7A65667EFF}"/>
                </a:ext>
              </a:extLst>
            </p:cNvPr>
            <p:cNvSpPr/>
            <p:nvPr/>
          </p:nvSpPr>
          <p:spPr>
            <a:xfrm>
              <a:off x="656836" y="1205640"/>
              <a:ext cx="3283793" cy="736853"/>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600" b="1">
                  <a:latin typeface="Lato" panose="020F0502020204030203" pitchFamily="34" charset="0"/>
                  <a:ea typeface="Lato" panose="020F0502020204030203" pitchFamily="34" charset="0"/>
                  <a:cs typeface="Lato" panose="020F0502020204030203" pitchFamily="34" charset="0"/>
                </a:rPr>
                <a:t>Innominds Talent Pool Leverage</a:t>
              </a:r>
              <a:endParaRPr lang="en-US" sz="1600">
                <a:latin typeface="Lato" panose="020F0502020204030203" pitchFamily="34" charset="0"/>
                <a:ea typeface="Lato" panose="020F0502020204030203" pitchFamily="34" charset="0"/>
                <a:cs typeface="Lato" panose="020F0502020204030203" pitchFamily="34" charset="0"/>
              </a:endParaRPr>
            </a:p>
          </p:txBody>
        </p:sp>
      </p:grpSp>
      <p:sp>
        <p:nvSpPr>
          <p:cNvPr id="17" name="TextBox 16">
            <a:extLst>
              <a:ext uri="{FF2B5EF4-FFF2-40B4-BE49-F238E27FC236}">
                <a16:creationId xmlns:a16="http://schemas.microsoft.com/office/drawing/2014/main" id="{CBBE819B-DB5C-D6B2-AAAC-DBD0C5D0499E}"/>
              </a:ext>
            </a:extLst>
          </p:cNvPr>
          <p:cNvSpPr txBox="1"/>
          <p:nvPr/>
        </p:nvSpPr>
        <p:spPr>
          <a:xfrm>
            <a:off x="940690" y="1905939"/>
            <a:ext cx="2968370" cy="3600986"/>
          </a:xfrm>
          <a:prstGeom prst="rect">
            <a:avLst/>
          </a:prstGeom>
          <a:noFill/>
        </p:spPr>
        <p:txBody>
          <a:bodyPr wrap="square" rtlCol="0">
            <a:spAutoFit/>
          </a:bodyPr>
          <a:lstStyle/>
          <a:p>
            <a:pPr marL="171450" marR="0" lvl="0" indent="-171450" fontAlgn="auto">
              <a:spcBef>
                <a:spcPts val="1200"/>
              </a:spcBef>
              <a:spcAft>
                <a:spcPts val="600"/>
              </a:spcAft>
              <a:buClr>
                <a:srgbClr val="00B0F0"/>
              </a:buClr>
              <a:buSzTx/>
              <a:buFont typeface="Wingdings" panose="05000000000000000000" pitchFamily="2" charset="2"/>
              <a:buChar char="Ø"/>
              <a:tabLst/>
              <a:defRPr/>
            </a:pPr>
            <a:r>
              <a:rPr lang="en-US" sz="1200">
                <a:latin typeface="Lato" panose="020F0502020204030203" pitchFamily="34" charset="0"/>
                <a:ea typeface="Lato" panose="020F0502020204030203" pitchFamily="34" charset="0"/>
                <a:cs typeface="Lato" panose="020F0502020204030203" pitchFamily="34" charset="0"/>
              </a:rPr>
              <a:t>Identify critical incumbent vendor resources based on skill fit, performance, and program dependency</a:t>
            </a:r>
          </a:p>
          <a:p>
            <a:pPr marL="171450" marR="0" lvl="0" indent="-171450" fontAlgn="auto">
              <a:spcBef>
                <a:spcPts val="1200"/>
              </a:spcBef>
              <a:spcAft>
                <a:spcPts val="600"/>
              </a:spcAft>
              <a:buClr>
                <a:srgbClr val="00B0F0"/>
              </a:buClr>
              <a:buSzTx/>
              <a:buFont typeface="Wingdings" panose="05000000000000000000" pitchFamily="2" charset="2"/>
              <a:buChar char="Ø"/>
              <a:tabLst/>
              <a:defRPr/>
            </a:pPr>
            <a:r>
              <a:rPr lang="en-US" sz="1200">
                <a:latin typeface="Lato" panose="020F0502020204030203" pitchFamily="34" charset="0"/>
                <a:ea typeface="Lato" panose="020F0502020204030203" pitchFamily="34" charset="0"/>
                <a:cs typeface="Lato" panose="020F0502020204030203" pitchFamily="34" charset="0"/>
              </a:rPr>
              <a:t>Conduct joint technical and domain assessments with Lantern care</a:t>
            </a:r>
          </a:p>
          <a:p>
            <a:pPr marL="171450" marR="0" lvl="0" indent="-171450" fontAlgn="auto">
              <a:spcBef>
                <a:spcPts val="1200"/>
              </a:spcBef>
              <a:spcAft>
                <a:spcPts val="600"/>
              </a:spcAft>
              <a:buClr>
                <a:srgbClr val="00B0F0"/>
              </a:buClr>
              <a:buSzTx/>
              <a:buFont typeface="Wingdings" panose="05000000000000000000" pitchFamily="2" charset="2"/>
              <a:buChar char="Ø"/>
              <a:tabLst/>
              <a:defRPr/>
            </a:pPr>
            <a:r>
              <a:rPr lang="en-US" sz="1200">
                <a:latin typeface="Lato" panose="020F0502020204030203" pitchFamily="34" charset="0"/>
                <a:ea typeface="Lato" panose="020F0502020204030203" pitchFamily="34" charset="0"/>
                <a:cs typeface="Lato" panose="020F0502020204030203" pitchFamily="34" charset="0"/>
              </a:rPr>
              <a:t>Seamless rebadging into Innominds with role continuity and minimal disruption</a:t>
            </a:r>
          </a:p>
          <a:p>
            <a:pPr marL="171450" marR="0" lvl="0" indent="-171450" fontAlgn="auto">
              <a:spcBef>
                <a:spcPts val="1200"/>
              </a:spcBef>
              <a:spcAft>
                <a:spcPts val="600"/>
              </a:spcAft>
              <a:buClr>
                <a:srgbClr val="00B0F0"/>
              </a:buClr>
              <a:buSzTx/>
              <a:buFont typeface="Wingdings" panose="05000000000000000000" pitchFamily="2" charset="2"/>
              <a:buChar char="Ø"/>
              <a:tabLst/>
              <a:defRPr/>
            </a:pPr>
            <a:r>
              <a:rPr lang="en-US" sz="1200">
                <a:latin typeface="Lato" panose="020F0502020204030203" pitchFamily="34" charset="0"/>
                <a:ea typeface="Lato" panose="020F0502020204030203" pitchFamily="34" charset="0"/>
                <a:cs typeface="Lato" panose="020F0502020204030203" pitchFamily="34" charset="0"/>
              </a:rPr>
              <a:t>Accelerated onboarding aligned to existing delivery workflows</a:t>
            </a:r>
          </a:p>
          <a:p>
            <a:pPr marL="171450" marR="0" lvl="0" indent="-171450" fontAlgn="auto">
              <a:spcBef>
                <a:spcPts val="1200"/>
              </a:spcBef>
              <a:spcAft>
                <a:spcPts val="600"/>
              </a:spcAft>
              <a:buClr>
                <a:srgbClr val="00B0F0"/>
              </a:buClr>
              <a:buSzTx/>
              <a:buFont typeface="Wingdings" panose="05000000000000000000" pitchFamily="2" charset="2"/>
              <a:buChar char="Ø"/>
              <a:tabLst/>
              <a:defRPr/>
            </a:pPr>
            <a:r>
              <a:rPr lang="en-US" sz="1200">
                <a:latin typeface="Lato" panose="020F0502020204030203" pitchFamily="34" charset="0"/>
                <a:ea typeface="Lato" panose="020F0502020204030203" pitchFamily="34" charset="0"/>
                <a:cs typeface="Lato" panose="020F0502020204030203" pitchFamily="34" charset="0"/>
              </a:rPr>
              <a:t>Retention-first strategy to preserve domain knowledge and delivery velocity</a:t>
            </a:r>
          </a:p>
        </p:txBody>
      </p:sp>
      <p:sp>
        <p:nvSpPr>
          <p:cNvPr id="19" name="TextBox 18">
            <a:extLst>
              <a:ext uri="{FF2B5EF4-FFF2-40B4-BE49-F238E27FC236}">
                <a16:creationId xmlns:a16="http://schemas.microsoft.com/office/drawing/2014/main" id="{BAF25C86-4ACB-A29E-D14D-6EC7DAC2EA53}"/>
              </a:ext>
            </a:extLst>
          </p:cNvPr>
          <p:cNvSpPr txBox="1"/>
          <p:nvPr/>
        </p:nvSpPr>
        <p:spPr>
          <a:xfrm>
            <a:off x="4498047" y="1905939"/>
            <a:ext cx="2968370" cy="2816156"/>
          </a:xfrm>
          <a:prstGeom prst="rect">
            <a:avLst/>
          </a:prstGeom>
          <a:noFill/>
        </p:spPr>
        <p:txBody>
          <a:bodyPr wrap="square" rtlCol="0">
            <a:spAutoFit/>
          </a:bodyPr>
          <a:lstStyle/>
          <a:p>
            <a:pPr marL="171450" marR="0" lvl="0" indent="-171450" fontAlgn="auto">
              <a:spcBef>
                <a:spcPts val="1200"/>
              </a:spcBef>
              <a:spcAft>
                <a:spcPts val="600"/>
              </a:spcAft>
              <a:buClr>
                <a:srgbClr val="00B0F0"/>
              </a:buClr>
              <a:buSzTx/>
              <a:buFont typeface="Wingdings" panose="05000000000000000000" pitchFamily="2" charset="2"/>
              <a:buChar char="Ø"/>
              <a:tabLst/>
              <a:defRPr/>
            </a:pPr>
            <a:r>
              <a:rPr lang="en-US" sz="1200">
                <a:latin typeface="Lato" panose="020F0502020204030203" pitchFamily="34" charset="0"/>
                <a:ea typeface="Lato" panose="020F0502020204030203" pitchFamily="34" charset="0"/>
                <a:cs typeface="Lato" panose="020F0502020204030203" pitchFamily="34" charset="0"/>
              </a:rPr>
              <a:t>Leverage pre-vetted Innominds resources from existing delivery pools and </a:t>
            </a:r>
            <a:r>
              <a:rPr lang="en-US" sz="1200" err="1">
                <a:latin typeface="Lato" panose="020F0502020204030203" pitchFamily="34" charset="0"/>
                <a:ea typeface="Lato" panose="020F0502020204030203" pitchFamily="34" charset="0"/>
                <a:cs typeface="Lato" panose="020F0502020204030203" pitchFamily="34" charset="0"/>
              </a:rPr>
              <a:t>CoEs</a:t>
            </a:r>
            <a:endParaRPr lang="en-US" sz="1200">
              <a:latin typeface="Lato" panose="020F0502020204030203" pitchFamily="34" charset="0"/>
              <a:ea typeface="Lato" panose="020F0502020204030203" pitchFamily="34" charset="0"/>
              <a:cs typeface="Lato" panose="020F0502020204030203" pitchFamily="34" charset="0"/>
            </a:endParaRPr>
          </a:p>
          <a:p>
            <a:pPr marL="171450" marR="0" lvl="0" indent="-171450" fontAlgn="auto">
              <a:spcBef>
                <a:spcPts val="1200"/>
              </a:spcBef>
              <a:spcAft>
                <a:spcPts val="600"/>
              </a:spcAft>
              <a:buClr>
                <a:srgbClr val="00B0F0"/>
              </a:buClr>
              <a:buSzTx/>
              <a:buFont typeface="Wingdings" panose="05000000000000000000" pitchFamily="2" charset="2"/>
              <a:buChar char="Ø"/>
              <a:tabLst/>
              <a:defRPr/>
            </a:pPr>
            <a:r>
              <a:rPr lang="en-US" sz="1200">
                <a:latin typeface="Lato" panose="020F0502020204030203" pitchFamily="34" charset="0"/>
                <a:ea typeface="Lato" panose="020F0502020204030203" pitchFamily="34" charset="0"/>
                <a:cs typeface="Lato" panose="020F0502020204030203" pitchFamily="34" charset="0"/>
              </a:rPr>
              <a:t>Rapid deployment for short-term needs, scale-up scenarios, or niche skills</a:t>
            </a:r>
          </a:p>
          <a:p>
            <a:pPr marL="171450" marR="0" lvl="0" indent="-171450" fontAlgn="auto">
              <a:spcBef>
                <a:spcPts val="1200"/>
              </a:spcBef>
              <a:spcAft>
                <a:spcPts val="600"/>
              </a:spcAft>
              <a:buClr>
                <a:srgbClr val="00B0F0"/>
              </a:buClr>
              <a:buSzTx/>
              <a:buFont typeface="Wingdings" panose="05000000000000000000" pitchFamily="2" charset="2"/>
              <a:buChar char="Ø"/>
              <a:tabLst/>
              <a:defRPr/>
            </a:pPr>
            <a:r>
              <a:rPr lang="en-US" sz="1200">
                <a:latin typeface="Lato" panose="020F0502020204030203" pitchFamily="34" charset="0"/>
                <a:ea typeface="Lato" panose="020F0502020204030203" pitchFamily="34" charset="0"/>
                <a:cs typeface="Lato" panose="020F0502020204030203" pitchFamily="34" charset="0"/>
              </a:rPr>
              <a:t>Plug-and-play integration into Lantern care programs</a:t>
            </a:r>
          </a:p>
          <a:p>
            <a:pPr marL="171450" marR="0" lvl="0" indent="-171450" fontAlgn="auto">
              <a:spcBef>
                <a:spcPts val="1200"/>
              </a:spcBef>
              <a:spcAft>
                <a:spcPts val="600"/>
              </a:spcAft>
              <a:buClr>
                <a:srgbClr val="00B0F0"/>
              </a:buClr>
              <a:buSzTx/>
              <a:buFont typeface="Wingdings" panose="05000000000000000000" pitchFamily="2" charset="2"/>
              <a:buChar char="Ø"/>
              <a:tabLst/>
              <a:defRPr/>
            </a:pPr>
            <a:r>
              <a:rPr lang="en-US" sz="1200">
                <a:latin typeface="Lato" panose="020F0502020204030203" pitchFamily="34" charset="0"/>
                <a:ea typeface="Lato" panose="020F0502020204030203" pitchFamily="34" charset="0"/>
                <a:cs typeface="Lato" panose="020F0502020204030203" pitchFamily="34" charset="0"/>
              </a:rPr>
              <a:t>Ensures speed, flexibility, and risk mitigation during transition and steady state</a:t>
            </a:r>
          </a:p>
        </p:txBody>
      </p:sp>
      <p:pic>
        <p:nvPicPr>
          <p:cNvPr id="21" name="Picture 20">
            <a:extLst>
              <a:ext uri="{FF2B5EF4-FFF2-40B4-BE49-F238E27FC236}">
                <a16:creationId xmlns:a16="http://schemas.microsoft.com/office/drawing/2014/main" id="{FE6F425A-CF2B-FBDC-41CE-EB2DBD57A6C2}"/>
              </a:ext>
            </a:extLst>
          </p:cNvPr>
          <p:cNvPicPr>
            <a:picLocks noChangeAspect="1"/>
          </p:cNvPicPr>
          <p:nvPr/>
        </p:nvPicPr>
        <p:blipFill>
          <a:blip r:embed="rId2">
            <a:duotone>
              <a:schemeClr val="accent4">
                <a:shade val="45000"/>
                <a:satMod val="135000"/>
              </a:schemeClr>
              <a:prstClr val="white"/>
            </a:duotone>
          </a:blip>
          <a:stretch>
            <a:fillRect/>
          </a:stretch>
        </p:blipFill>
        <p:spPr>
          <a:xfrm>
            <a:off x="3310242" y="5355100"/>
            <a:ext cx="576000" cy="576000"/>
          </a:xfrm>
          <a:prstGeom prst="rect">
            <a:avLst/>
          </a:prstGeom>
        </p:spPr>
      </p:pic>
      <p:pic>
        <p:nvPicPr>
          <p:cNvPr id="25" name="Picture 24">
            <a:extLst>
              <a:ext uri="{FF2B5EF4-FFF2-40B4-BE49-F238E27FC236}">
                <a16:creationId xmlns:a16="http://schemas.microsoft.com/office/drawing/2014/main" id="{781AAD9A-9AE5-1D79-469D-21B7AA069036}"/>
              </a:ext>
            </a:extLst>
          </p:cNvPr>
          <p:cNvPicPr>
            <a:picLocks noChangeAspect="1"/>
          </p:cNvPicPr>
          <p:nvPr/>
        </p:nvPicPr>
        <p:blipFill>
          <a:blip r:embed="rId3">
            <a:duotone>
              <a:schemeClr val="accent4">
                <a:shade val="45000"/>
                <a:satMod val="135000"/>
              </a:schemeClr>
              <a:prstClr val="white"/>
            </a:duotone>
          </a:blip>
          <a:stretch>
            <a:fillRect/>
          </a:stretch>
        </p:blipFill>
        <p:spPr>
          <a:xfrm>
            <a:off x="6835140" y="5299823"/>
            <a:ext cx="631277" cy="631277"/>
          </a:xfrm>
          <a:prstGeom prst="rect">
            <a:avLst/>
          </a:prstGeom>
        </p:spPr>
      </p:pic>
      <p:grpSp>
        <p:nvGrpSpPr>
          <p:cNvPr id="28" name="Group 27">
            <a:extLst>
              <a:ext uri="{FF2B5EF4-FFF2-40B4-BE49-F238E27FC236}">
                <a16:creationId xmlns:a16="http://schemas.microsoft.com/office/drawing/2014/main" id="{5AAA4F51-24CC-1ED8-A34B-CC57DEF0FDBD}"/>
              </a:ext>
            </a:extLst>
          </p:cNvPr>
          <p:cNvGrpSpPr/>
          <p:nvPr/>
        </p:nvGrpSpPr>
        <p:grpSpPr>
          <a:xfrm>
            <a:off x="7985974" y="886034"/>
            <a:ext cx="3283793" cy="5067692"/>
            <a:chOff x="7985974" y="886034"/>
            <a:chExt cx="3283793" cy="5067692"/>
          </a:xfrm>
        </p:grpSpPr>
        <p:grpSp>
          <p:nvGrpSpPr>
            <p:cNvPr id="20" name="Group 19">
              <a:extLst>
                <a:ext uri="{FF2B5EF4-FFF2-40B4-BE49-F238E27FC236}">
                  <a16:creationId xmlns:a16="http://schemas.microsoft.com/office/drawing/2014/main" id="{53AD4BC1-C0AE-DD8F-D51D-5BD02F21FE02}"/>
                </a:ext>
              </a:extLst>
            </p:cNvPr>
            <p:cNvGrpSpPr/>
            <p:nvPr/>
          </p:nvGrpSpPr>
          <p:grpSpPr>
            <a:xfrm>
              <a:off x="7985974" y="886034"/>
              <a:ext cx="3283793" cy="5067692"/>
              <a:chOff x="656836" y="1039194"/>
              <a:chExt cx="3283793" cy="5067692"/>
            </a:xfrm>
          </p:grpSpPr>
          <p:sp>
            <p:nvSpPr>
              <p:cNvPr id="22" name="Rectangle: Rounded Corners 21">
                <a:extLst>
                  <a:ext uri="{FF2B5EF4-FFF2-40B4-BE49-F238E27FC236}">
                    <a16:creationId xmlns:a16="http://schemas.microsoft.com/office/drawing/2014/main" id="{9D9E3AC1-CB01-3730-ACB5-8859A8092F9C}"/>
                  </a:ext>
                </a:extLst>
              </p:cNvPr>
              <p:cNvSpPr/>
              <p:nvPr/>
            </p:nvSpPr>
            <p:spPr>
              <a:xfrm>
                <a:off x="656836" y="1039194"/>
                <a:ext cx="3283793" cy="5067692"/>
              </a:xfrm>
              <a:prstGeom prst="roundRect">
                <a:avLst>
                  <a:gd name="adj" fmla="val 5552"/>
                </a:avLst>
              </a:prstGeom>
              <a:solidFill>
                <a:schemeClr val="bg1"/>
              </a:solidFill>
              <a:ln w="12700">
                <a:solidFill>
                  <a:srgbClr val="00B0F0"/>
                </a:solidFill>
              </a:ln>
              <a:effectLst>
                <a:outerShdw dist="38100" dir="5400000" algn="t" rotWithShape="0">
                  <a:srgbClr val="00B0F0"/>
                </a:outerShdw>
              </a:effectLst>
            </p:spPr>
            <p:style>
              <a:lnRef idx="2">
                <a:schemeClr val="accent1">
                  <a:shade val="15000"/>
                </a:schemeClr>
              </a:lnRef>
              <a:fillRef idx="1">
                <a:schemeClr val="accent1"/>
              </a:fillRef>
              <a:effectRef idx="0">
                <a:schemeClr val="accent1"/>
              </a:effectRef>
              <a:fontRef idx="minor">
                <a:schemeClr val="lt1"/>
              </a:fontRef>
            </p:style>
            <p:txBody>
              <a:bodyPr bIns="91440" rtlCol="0" anchor="b"/>
              <a:lstStyle/>
              <a:p>
                <a:pPr marL="171450" indent="-171450">
                  <a:spcBef>
                    <a:spcPts val="1200"/>
                  </a:spcBef>
                  <a:buClr>
                    <a:srgbClr val="00B0F0"/>
                  </a:buClr>
                  <a:buFont typeface="Wingdings" panose="05000000000000000000" pitchFamily="2" charset="2"/>
                  <a:buChar char="Ø"/>
                </a:pPr>
                <a:endParaRPr lang="en-US" sz="1200">
                  <a:solidFill>
                    <a:schemeClr val="tx1"/>
                  </a:solidFill>
                  <a:latin typeface="Lato" panose="020F0502020204030203" pitchFamily="34" charset="0"/>
                  <a:ea typeface="Lato" panose="020F0502020204030203" pitchFamily="34" charset="0"/>
                  <a:cs typeface="Lato" panose="020F0502020204030203" pitchFamily="34" charset="0"/>
                </a:endParaRPr>
              </a:p>
            </p:txBody>
          </p:sp>
          <p:sp>
            <p:nvSpPr>
              <p:cNvPr id="24" name="Rectangle 23">
                <a:extLst>
                  <a:ext uri="{FF2B5EF4-FFF2-40B4-BE49-F238E27FC236}">
                    <a16:creationId xmlns:a16="http://schemas.microsoft.com/office/drawing/2014/main" id="{B6CA8699-CC08-4F45-FDD9-063F2B6B2EDD}"/>
                  </a:ext>
                </a:extLst>
              </p:cNvPr>
              <p:cNvSpPr/>
              <p:nvPr/>
            </p:nvSpPr>
            <p:spPr>
              <a:xfrm>
                <a:off x="656836" y="1205640"/>
                <a:ext cx="3283793" cy="736853"/>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600" b="1">
                    <a:latin typeface="Lato" panose="020F0502020204030203" pitchFamily="34" charset="0"/>
                    <a:ea typeface="Lato" panose="020F0502020204030203" pitchFamily="34" charset="0"/>
                    <a:cs typeface="Lato" panose="020F0502020204030203" pitchFamily="34" charset="0"/>
                  </a:rPr>
                  <a:t>New Hiring Process / Approach</a:t>
                </a:r>
                <a:endParaRPr lang="en-US" sz="1600">
                  <a:latin typeface="Lato" panose="020F0502020204030203" pitchFamily="34" charset="0"/>
                  <a:ea typeface="Lato" panose="020F0502020204030203" pitchFamily="34" charset="0"/>
                  <a:cs typeface="Lato" panose="020F0502020204030203" pitchFamily="34" charset="0"/>
                </a:endParaRPr>
              </a:p>
            </p:txBody>
          </p:sp>
        </p:grpSp>
        <p:sp>
          <p:nvSpPr>
            <p:cNvPr id="26" name="TextBox 25">
              <a:extLst>
                <a:ext uri="{FF2B5EF4-FFF2-40B4-BE49-F238E27FC236}">
                  <a16:creationId xmlns:a16="http://schemas.microsoft.com/office/drawing/2014/main" id="{5CAFEC18-7121-E51F-C9E1-2D039A21A2B4}"/>
                </a:ext>
              </a:extLst>
            </p:cNvPr>
            <p:cNvSpPr txBox="1"/>
            <p:nvPr/>
          </p:nvSpPr>
          <p:spPr>
            <a:xfrm>
              <a:off x="8077414" y="1894509"/>
              <a:ext cx="2968370" cy="3600986"/>
            </a:xfrm>
            <a:prstGeom prst="rect">
              <a:avLst/>
            </a:prstGeom>
            <a:noFill/>
          </p:spPr>
          <p:txBody>
            <a:bodyPr wrap="square" rtlCol="0">
              <a:spAutoFit/>
            </a:bodyPr>
            <a:lstStyle/>
            <a:p>
              <a:pPr marL="171450" marR="0" lvl="0" indent="-171450" fontAlgn="auto">
                <a:spcBef>
                  <a:spcPts val="1200"/>
                </a:spcBef>
                <a:spcAft>
                  <a:spcPts val="600"/>
                </a:spcAft>
                <a:buClr>
                  <a:srgbClr val="00B0F0"/>
                </a:buClr>
                <a:buSzTx/>
                <a:buFont typeface="Wingdings" panose="05000000000000000000" pitchFamily="2" charset="2"/>
                <a:buChar char="Ø"/>
                <a:tabLst/>
                <a:defRPr/>
              </a:pPr>
              <a:r>
                <a:rPr lang="en-US" sz="1200">
                  <a:latin typeface="Lato" panose="020F0502020204030203" pitchFamily="34" charset="0"/>
                  <a:ea typeface="Lato" panose="020F0502020204030203" pitchFamily="34" charset="0"/>
                  <a:cs typeface="Lato" panose="020F0502020204030203" pitchFamily="34" charset="0"/>
                </a:rPr>
                <a:t>Targeted hiring for skill gaps across Quality, Data, Digital, and Cloud Engineering</a:t>
              </a:r>
            </a:p>
            <a:p>
              <a:pPr marL="171450" marR="0" lvl="0" indent="-171450" fontAlgn="auto">
                <a:spcBef>
                  <a:spcPts val="1200"/>
                </a:spcBef>
                <a:spcAft>
                  <a:spcPts val="600"/>
                </a:spcAft>
                <a:buClr>
                  <a:srgbClr val="00B0F0"/>
                </a:buClr>
                <a:buSzTx/>
                <a:buFont typeface="Wingdings" panose="05000000000000000000" pitchFamily="2" charset="2"/>
                <a:buChar char="Ø"/>
                <a:tabLst/>
                <a:defRPr/>
              </a:pPr>
              <a:r>
                <a:rPr lang="en-US" sz="1200">
                  <a:latin typeface="Lato" panose="020F0502020204030203" pitchFamily="34" charset="0"/>
                  <a:ea typeface="Lato" panose="020F0502020204030203" pitchFamily="34" charset="0"/>
                  <a:cs typeface="Lato" panose="020F0502020204030203" pitchFamily="34" charset="0"/>
                </a:rPr>
                <a:t>Priority sourcing aligned to Lantern Care’s technology stack and compliance needs</a:t>
              </a:r>
            </a:p>
            <a:p>
              <a:pPr marL="171450" marR="0" lvl="0" indent="-171450" fontAlgn="auto">
                <a:spcBef>
                  <a:spcPts val="1200"/>
                </a:spcBef>
                <a:spcAft>
                  <a:spcPts val="600"/>
                </a:spcAft>
                <a:buClr>
                  <a:srgbClr val="00B0F0"/>
                </a:buClr>
                <a:buSzTx/>
                <a:buFont typeface="Wingdings" panose="05000000000000000000" pitchFamily="2" charset="2"/>
                <a:buChar char="Ø"/>
                <a:tabLst/>
                <a:defRPr/>
              </a:pPr>
              <a:r>
                <a:rPr lang="en-US" sz="1200">
                  <a:latin typeface="Lato" panose="020F0502020204030203" pitchFamily="34" charset="0"/>
                  <a:ea typeface="Lato" panose="020F0502020204030203" pitchFamily="34" charset="0"/>
                  <a:cs typeface="Lato" panose="020F0502020204030203" pitchFamily="34" charset="0"/>
                </a:rPr>
                <a:t>Parallel hiring and onboarding to avoid delivery impact</a:t>
              </a:r>
            </a:p>
            <a:p>
              <a:pPr marL="171450" marR="0" lvl="0" indent="-171450" fontAlgn="auto">
                <a:spcBef>
                  <a:spcPts val="1200"/>
                </a:spcBef>
                <a:spcAft>
                  <a:spcPts val="600"/>
                </a:spcAft>
                <a:buClr>
                  <a:srgbClr val="00B0F0"/>
                </a:buClr>
                <a:buSzTx/>
                <a:buFont typeface="Wingdings" panose="05000000000000000000" pitchFamily="2" charset="2"/>
                <a:buChar char="Ø"/>
                <a:tabLst/>
                <a:defRPr/>
              </a:pPr>
              <a:r>
                <a:rPr lang="en-US" sz="1200">
                  <a:latin typeface="Lato" panose="020F0502020204030203" pitchFamily="34" charset="0"/>
                  <a:ea typeface="Lato" panose="020F0502020204030203" pitchFamily="34" charset="0"/>
                  <a:cs typeface="Lato" panose="020F0502020204030203" pitchFamily="34" charset="0"/>
                </a:rPr>
                <a:t>Structured knowledge transfer and shadowing with rebadged/tenured resources</a:t>
              </a:r>
            </a:p>
            <a:p>
              <a:pPr marL="171450" marR="0" lvl="0" indent="-171450" fontAlgn="auto">
                <a:spcBef>
                  <a:spcPts val="1200"/>
                </a:spcBef>
                <a:spcAft>
                  <a:spcPts val="600"/>
                </a:spcAft>
                <a:buClr>
                  <a:srgbClr val="00B0F0"/>
                </a:buClr>
                <a:buSzTx/>
                <a:buFont typeface="Wingdings" panose="05000000000000000000" pitchFamily="2" charset="2"/>
                <a:buChar char="Ø"/>
                <a:tabLst/>
                <a:defRPr/>
              </a:pPr>
              <a:r>
                <a:rPr lang="en-US" sz="1200">
                  <a:latin typeface="Lato" panose="020F0502020204030203" pitchFamily="34" charset="0"/>
                  <a:ea typeface="Lato" panose="020F0502020204030203" pitchFamily="34" charset="0"/>
                  <a:cs typeface="Lato" panose="020F0502020204030203" pitchFamily="34" charset="0"/>
                </a:rPr>
                <a:t>Rapid productivity enablement through standardized onboarding playbooks</a:t>
              </a:r>
            </a:p>
          </p:txBody>
        </p:sp>
        <p:pic>
          <p:nvPicPr>
            <p:cNvPr id="27" name="Picture 26">
              <a:extLst>
                <a:ext uri="{FF2B5EF4-FFF2-40B4-BE49-F238E27FC236}">
                  <a16:creationId xmlns:a16="http://schemas.microsoft.com/office/drawing/2014/main" id="{1E103677-D550-B407-80BA-1B2B8F45C9D5}"/>
                </a:ext>
              </a:extLst>
            </p:cNvPr>
            <p:cNvPicPr>
              <a:picLocks noChangeAspect="1"/>
            </p:cNvPicPr>
            <p:nvPr/>
          </p:nvPicPr>
          <p:blipFill>
            <a:blip r:embed="rId4">
              <a:duotone>
                <a:schemeClr val="accent4">
                  <a:shade val="45000"/>
                  <a:satMod val="135000"/>
                </a:schemeClr>
                <a:prstClr val="white"/>
              </a:duotone>
            </a:blip>
            <a:stretch>
              <a:fillRect/>
            </a:stretch>
          </p:blipFill>
          <p:spPr>
            <a:xfrm>
              <a:off x="10561224" y="5343670"/>
              <a:ext cx="576000" cy="576000"/>
            </a:xfrm>
            <a:prstGeom prst="rect">
              <a:avLst/>
            </a:prstGeom>
          </p:spPr>
        </p:pic>
      </p:grpSp>
    </p:spTree>
    <p:extLst>
      <p:ext uri="{BB962C8B-B14F-4D97-AF65-F5344CB8AC3E}">
        <p14:creationId xmlns:p14="http://schemas.microsoft.com/office/powerpoint/2010/main" val="40229720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69979-530F-55B4-B486-6B798FE38867}"/>
              </a:ext>
            </a:extLst>
          </p:cNvPr>
          <p:cNvSpPr>
            <a:spLocks noGrp="1"/>
          </p:cNvSpPr>
          <p:nvPr>
            <p:ph type="title"/>
          </p:nvPr>
        </p:nvSpPr>
        <p:spPr/>
        <p:txBody>
          <a:bodyPr/>
          <a:lstStyle/>
          <a:p>
            <a:r>
              <a:rPr lang="en-US"/>
              <a:t>Transition Approach for New &amp; Replaced Resources</a:t>
            </a:r>
            <a:endParaRPr lang="en-IN"/>
          </a:p>
        </p:txBody>
      </p:sp>
      <p:sp>
        <p:nvSpPr>
          <p:cNvPr id="3" name="Rectangle: Diagonal Corners Snipped 2">
            <a:extLst>
              <a:ext uri="{FF2B5EF4-FFF2-40B4-BE49-F238E27FC236}">
                <a16:creationId xmlns:a16="http://schemas.microsoft.com/office/drawing/2014/main" id="{10D5FE02-6460-017E-BDED-F72384832793}"/>
              </a:ext>
            </a:extLst>
          </p:cNvPr>
          <p:cNvSpPr/>
          <p:nvPr/>
        </p:nvSpPr>
        <p:spPr>
          <a:xfrm>
            <a:off x="241299" y="736600"/>
            <a:ext cx="11545540" cy="1234906"/>
          </a:xfrm>
          <a:prstGeom prst="snip2DiagRect">
            <a:avLst>
              <a:gd name="adj1" fmla="val 0"/>
              <a:gd name="adj2" fmla="val 14980"/>
            </a:avLst>
          </a:prstGeom>
          <a:solidFill>
            <a:schemeClr val="bg1"/>
          </a:solidFill>
          <a:ln w="63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a typeface="Lato" panose="020F0502020204030203" pitchFamily="34" charset="0"/>
              <a:cs typeface="Lato" panose="020F0502020204030203" pitchFamily="34" charset="0"/>
            </a:endParaRPr>
          </a:p>
        </p:txBody>
      </p:sp>
      <p:sp>
        <p:nvSpPr>
          <p:cNvPr id="4" name="TextBox 3">
            <a:extLst>
              <a:ext uri="{FF2B5EF4-FFF2-40B4-BE49-F238E27FC236}">
                <a16:creationId xmlns:a16="http://schemas.microsoft.com/office/drawing/2014/main" id="{85646922-6F3D-A501-D950-12F427B817A2}"/>
              </a:ext>
            </a:extLst>
          </p:cNvPr>
          <p:cNvSpPr txBox="1"/>
          <p:nvPr/>
        </p:nvSpPr>
        <p:spPr>
          <a:xfrm>
            <a:off x="515523" y="823161"/>
            <a:ext cx="10997092" cy="1092607"/>
          </a:xfrm>
          <a:prstGeom prst="rect">
            <a:avLst/>
          </a:prstGeom>
          <a:noFill/>
          <a:ln>
            <a:noFill/>
          </a:ln>
        </p:spPr>
        <p:txBody>
          <a:bodyPr wrap="square" rtlCol="0">
            <a:spAutoFit/>
          </a:bodyPr>
          <a:lstStyle/>
          <a:p>
            <a:pPr marL="285750" marR="0" lvl="0" indent="-285750" algn="just" defTabSz="914400" rtl="0" eaLnBrk="1" fontAlgn="auto" latinLnBrk="0" hangingPunct="1">
              <a:spcAft>
                <a:spcPts val="200"/>
              </a:spcAft>
              <a:buClrTx/>
              <a:buSzTx/>
              <a:buBlip>
                <a:blip r:embed="rId2"/>
              </a:buBlip>
              <a:tabLst/>
              <a:defRPr/>
            </a:pPr>
            <a:r>
              <a:rPr lang="en-US" sz="1200" kern="100">
                <a:solidFill>
                  <a:schemeClr val="tx1"/>
                </a:solidFill>
                <a:effectLst/>
                <a:latin typeface="Lato"/>
                <a:ea typeface="Roboto"/>
                <a:cs typeface="Roboto"/>
              </a:rPr>
              <a:t>Innominds proposes a structured and low-risk Transition Approach designed to ensure business continuity, knowledge preservation, and delivery stability throughout the transition period.</a:t>
            </a:r>
          </a:p>
          <a:p>
            <a:pPr marL="285750" marR="0" lvl="0" indent="-285750" algn="just" defTabSz="914400" rtl="0" eaLnBrk="1" fontAlgn="auto" latinLnBrk="0" hangingPunct="1">
              <a:spcAft>
                <a:spcPts val="200"/>
              </a:spcAft>
              <a:buClrTx/>
              <a:buSzTx/>
              <a:buBlip>
                <a:blip r:embed="rId2"/>
              </a:buBlip>
              <a:tabLst/>
              <a:defRPr/>
            </a:pPr>
            <a:r>
              <a:rPr lang="en-US" sz="1200" kern="100">
                <a:solidFill>
                  <a:schemeClr val="tx1"/>
                </a:solidFill>
                <a:effectLst/>
                <a:latin typeface="Lato"/>
                <a:ea typeface="Roboto"/>
                <a:cs typeface="Roboto"/>
              </a:rPr>
              <a:t>This transition approach applies only to:</a:t>
            </a:r>
          </a:p>
          <a:p>
            <a:pPr marL="742950" lvl="1" indent="-285750" algn="just">
              <a:spcAft>
                <a:spcPts val="200"/>
              </a:spcAft>
              <a:buBlip>
                <a:blip r:embed="rId2"/>
              </a:buBlip>
              <a:defRPr/>
            </a:pPr>
            <a:r>
              <a:rPr lang="en-US" sz="1200" kern="100">
                <a:solidFill>
                  <a:schemeClr val="tx1"/>
                </a:solidFill>
                <a:effectLst/>
                <a:latin typeface="Lato"/>
                <a:ea typeface="Roboto"/>
                <a:cs typeface="Roboto"/>
              </a:rPr>
              <a:t>Resources hired from the market by Innominds</a:t>
            </a:r>
          </a:p>
          <a:p>
            <a:pPr marL="742950" lvl="1" indent="-285750" algn="just">
              <a:spcAft>
                <a:spcPts val="200"/>
              </a:spcAft>
              <a:buBlip>
                <a:blip r:embed="rId2"/>
              </a:buBlip>
              <a:defRPr/>
            </a:pPr>
            <a:r>
              <a:rPr lang="en-US" sz="1200" kern="100">
                <a:solidFill>
                  <a:schemeClr val="tx1"/>
                </a:solidFill>
                <a:effectLst/>
                <a:latin typeface="Lato"/>
                <a:ea typeface="Roboto"/>
                <a:cs typeface="Roboto"/>
              </a:rPr>
              <a:t>Roles where existing vendor resources are being replaced with Innominds resources</a:t>
            </a:r>
          </a:p>
        </p:txBody>
      </p:sp>
      <p:grpSp>
        <p:nvGrpSpPr>
          <p:cNvPr id="47" name="Group 46">
            <a:extLst>
              <a:ext uri="{FF2B5EF4-FFF2-40B4-BE49-F238E27FC236}">
                <a16:creationId xmlns:a16="http://schemas.microsoft.com/office/drawing/2014/main" id="{2D8CD024-D40B-9436-F174-6EA3A947FFE9}"/>
              </a:ext>
            </a:extLst>
          </p:cNvPr>
          <p:cNvGrpSpPr/>
          <p:nvPr/>
        </p:nvGrpSpPr>
        <p:grpSpPr>
          <a:xfrm>
            <a:off x="338343" y="2371461"/>
            <a:ext cx="2570401" cy="4167317"/>
            <a:chOff x="338343" y="1731381"/>
            <a:chExt cx="2720375" cy="3954007"/>
          </a:xfrm>
        </p:grpSpPr>
        <p:grpSp>
          <p:nvGrpSpPr>
            <p:cNvPr id="7" name="Group 6">
              <a:extLst>
                <a:ext uri="{FF2B5EF4-FFF2-40B4-BE49-F238E27FC236}">
                  <a16:creationId xmlns:a16="http://schemas.microsoft.com/office/drawing/2014/main" id="{AE4F8054-AB58-A058-E675-C560AFF2DF1C}"/>
                </a:ext>
              </a:extLst>
            </p:cNvPr>
            <p:cNvGrpSpPr/>
            <p:nvPr/>
          </p:nvGrpSpPr>
          <p:grpSpPr>
            <a:xfrm>
              <a:off x="338343" y="1731381"/>
              <a:ext cx="2720375" cy="3954007"/>
              <a:chOff x="4369387" y="1687516"/>
              <a:chExt cx="3324027" cy="3954007"/>
            </a:xfrm>
          </p:grpSpPr>
          <p:cxnSp>
            <p:nvCxnSpPr>
              <p:cNvPr id="10" name="Connector: Elbow 31">
                <a:extLst>
                  <a:ext uri="{FF2B5EF4-FFF2-40B4-BE49-F238E27FC236}">
                    <a16:creationId xmlns:a16="http://schemas.microsoft.com/office/drawing/2014/main" id="{E3D37CA6-2979-738B-DCFD-EBAFCA710CB9}"/>
                  </a:ext>
                </a:extLst>
              </p:cNvPr>
              <p:cNvCxnSpPr>
                <a:cxnSpLocks/>
              </p:cNvCxnSpPr>
              <p:nvPr/>
            </p:nvCxnSpPr>
            <p:spPr>
              <a:xfrm rot="5400000">
                <a:off x="3944098" y="2213269"/>
                <a:ext cx="3853543" cy="3002965"/>
              </a:xfrm>
              <a:prstGeom prst="bentConnector3">
                <a:avLst>
                  <a:gd name="adj1" fmla="val 282"/>
                </a:avLst>
              </a:prstGeom>
              <a:ln>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11" name="Connector: Elbow 32">
                <a:extLst>
                  <a:ext uri="{FF2B5EF4-FFF2-40B4-BE49-F238E27FC236}">
                    <a16:creationId xmlns:a16="http://schemas.microsoft.com/office/drawing/2014/main" id="{ED4F1D02-FE5F-89D3-FCA6-CFC07249A5D6}"/>
                  </a:ext>
                </a:extLst>
              </p:cNvPr>
              <p:cNvCxnSpPr>
                <a:cxnSpLocks/>
              </p:cNvCxnSpPr>
              <p:nvPr/>
            </p:nvCxnSpPr>
            <p:spPr>
              <a:xfrm rot="5400000" flipH="1" flipV="1">
                <a:off x="4146410" y="2188174"/>
                <a:ext cx="3626133" cy="2825747"/>
              </a:xfrm>
              <a:prstGeom prst="bentConnector3">
                <a:avLst>
                  <a:gd name="adj1" fmla="val -168"/>
                </a:avLst>
              </a:prstGeom>
              <a:ln>
                <a:solidFill>
                  <a:srgbClr val="00B0F0"/>
                </a:solidFill>
                <a:prstDash val="sysDash"/>
                <a:round/>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29D82161-02B1-C39C-7C9A-314749C843C8}"/>
                  </a:ext>
                </a:extLst>
              </p:cNvPr>
              <p:cNvCxnSpPr/>
              <p:nvPr/>
            </p:nvCxnSpPr>
            <p:spPr>
              <a:xfrm>
                <a:off x="4369387" y="5641523"/>
                <a:ext cx="3119068" cy="0"/>
              </a:xfrm>
              <a:prstGeom prst="straightConnector1">
                <a:avLst/>
              </a:prstGeom>
              <a:ln w="38100">
                <a:solidFill>
                  <a:srgbClr val="00B0F0"/>
                </a:solidFill>
                <a:tailEnd type="triangle"/>
              </a:ln>
            </p:spPr>
            <p:style>
              <a:lnRef idx="2">
                <a:schemeClr val="accent1"/>
              </a:lnRef>
              <a:fillRef idx="0">
                <a:schemeClr val="accent1"/>
              </a:fillRef>
              <a:effectRef idx="1">
                <a:schemeClr val="accent1"/>
              </a:effectRef>
              <a:fontRef idx="minor">
                <a:schemeClr val="tx1"/>
              </a:fontRef>
            </p:style>
          </p:cxnSp>
          <p:grpSp>
            <p:nvGrpSpPr>
              <p:cNvPr id="13" name="Group 12">
                <a:extLst>
                  <a:ext uri="{FF2B5EF4-FFF2-40B4-BE49-F238E27FC236}">
                    <a16:creationId xmlns:a16="http://schemas.microsoft.com/office/drawing/2014/main" id="{79B40168-4817-0C16-A412-02BDAFC492DB}"/>
                  </a:ext>
                </a:extLst>
              </p:cNvPr>
              <p:cNvGrpSpPr/>
              <p:nvPr/>
            </p:nvGrpSpPr>
            <p:grpSpPr>
              <a:xfrm>
                <a:off x="7076323" y="1687516"/>
                <a:ext cx="617091" cy="225410"/>
                <a:chOff x="7076323" y="1687516"/>
                <a:chExt cx="617091" cy="225410"/>
              </a:xfrm>
            </p:grpSpPr>
            <p:cxnSp>
              <p:nvCxnSpPr>
                <p:cNvPr id="14" name="Straight Arrow Connector 13">
                  <a:extLst>
                    <a:ext uri="{FF2B5EF4-FFF2-40B4-BE49-F238E27FC236}">
                      <a16:creationId xmlns:a16="http://schemas.microsoft.com/office/drawing/2014/main" id="{4B2A5E6A-6938-32AB-D089-66879D572677}"/>
                    </a:ext>
                  </a:extLst>
                </p:cNvPr>
                <p:cNvCxnSpPr>
                  <a:cxnSpLocks/>
                </p:cNvCxnSpPr>
                <p:nvPr/>
              </p:nvCxnSpPr>
              <p:spPr>
                <a:xfrm>
                  <a:off x="7076323" y="1800220"/>
                  <a:ext cx="617091" cy="0"/>
                </a:xfrm>
                <a:prstGeom prst="straightConnector1">
                  <a:avLst/>
                </a:prstGeom>
                <a:ln w="8255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15" name="Isosceles Triangle 36">
                  <a:extLst>
                    <a:ext uri="{FF2B5EF4-FFF2-40B4-BE49-F238E27FC236}">
                      <a16:creationId xmlns:a16="http://schemas.microsoft.com/office/drawing/2014/main" id="{85CDAC3D-5DD1-8FFF-7F74-3A9E80147014}"/>
                    </a:ext>
                  </a:extLst>
                </p:cNvPr>
                <p:cNvSpPr/>
                <p:nvPr/>
              </p:nvSpPr>
              <p:spPr>
                <a:xfrm rot="5400000">
                  <a:off x="7305425" y="1703062"/>
                  <a:ext cx="225410" cy="194318"/>
                </a:xfrm>
                <a:prstGeom prst="triangl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8" name="TextBox 7">
              <a:extLst>
                <a:ext uri="{FF2B5EF4-FFF2-40B4-BE49-F238E27FC236}">
                  <a16:creationId xmlns:a16="http://schemas.microsoft.com/office/drawing/2014/main" id="{BBD55444-6B60-E9AA-3DAD-15B0D87497DF}"/>
                </a:ext>
              </a:extLst>
            </p:cNvPr>
            <p:cNvSpPr txBox="1"/>
            <p:nvPr/>
          </p:nvSpPr>
          <p:spPr>
            <a:xfrm>
              <a:off x="483376" y="1965958"/>
              <a:ext cx="2141964" cy="523220"/>
            </a:xfrm>
            <a:prstGeom prst="rect">
              <a:avLst/>
            </a:prstGeom>
            <a:noFill/>
          </p:spPr>
          <p:txBody>
            <a:bodyPr wrap="square" rtlCol="0">
              <a:spAutoFit/>
            </a:bodyPr>
            <a:lstStyle/>
            <a:p>
              <a:pPr algn="ctr"/>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Team Onboarding &amp; Knowledge Transfer</a:t>
              </a:r>
            </a:p>
          </p:txBody>
        </p:sp>
        <p:sp>
          <p:nvSpPr>
            <p:cNvPr id="9" name="TextBox 8">
              <a:extLst>
                <a:ext uri="{FF2B5EF4-FFF2-40B4-BE49-F238E27FC236}">
                  <a16:creationId xmlns:a16="http://schemas.microsoft.com/office/drawing/2014/main" id="{F9DB9481-F368-E409-52B4-07B831131A21}"/>
                </a:ext>
              </a:extLst>
            </p:cNvPr>
            <p:cNvSpPr txBox="1"/>
            <p:nvPr/>
          </p:nvSpPr>
          <p:spPr>
            <a:xfrm>
              <a:off x="483374" y="2508071"/>
              <a:ext cx="2141964" cy="2657406"/>
            </a:xfrm>
            <a:prstGeom prst="rect">
              <a:avLst/>
            </a:prstGeom>
            <a:noFill/>
          </p:spPr>
          <p:txBody>
            <a:bodyPr wrap="square" rtlCol="0">
              <a:spAutoFit/>
            </a:bodyPr>
            <a:lstStyle/>
            <a:p>
              <a:pPr marL="171450" indent="-171450">
                <a:spcBef>
                  <a:spcPts val="1200"/>
                </a:spcBef>
                <a:buBlip>
                  <a:blip r:embed="rId3"/>
                </a:buBlip>
              </a:pPr>
              <a:r>
                <a:rPr lang="en-US" sz="1200">
                  <a:latin typeface="Lato" panose="020F0502020204030203" pitchFamily="34" charset="0"/>
                  <a:ea typeface="Lato" panose="020F0502020204030203" pitchFamily="34" charset="0"/>
                  <a:cs typeface="Lato" panose="020F0502020204030203" pitchFamily="34" charset="0"/>
                </a:rPr>
                <a:t>Accelerated onboarding of new / replacement resources into Lantern care programs</a:t>
              </a:r>
            </a:p>
            <a:p>
              <a:pPr marL="171450" indent="-171450">
                <a:spcBef>
                  <a:spcPts val="1200"/>
                </a:spcBef>
                <a:buBlip>
                  <a:blip r:embed="rId3"/>
                </a:buBlip>
              </a:pPr>
              <a:r>
                <a:rPr lang="en-US" sz="1200">
                  <a:latin typeface="Lato" panose="020F0502020204030203" pitchFamily="34" charset="0"/>
                  <a:ea typeface="Lato" panose="020F0502020204030203" pitchFamily="34" charset="0"/>
                  <a:cs typeface="Lato" panose="020F0502020204030203" pitchFamily="34" charset="0"/>
                </a:rPr>
                <a:t>Structured knowledge transfer covering domain context, applications, data, and cloud environments</a:t>
              </a:r>
            </a:p>
            <a:p>
              <a:pPr marL="171450" indent="-171450">
                <a:spcBef>
                  <a:spcPts val="1200"/>
                </a:spcBef>
                <a:buBlip>
                  <a:blip r:embed="rId3"/>
                </a:buBlip>
              </a:pPr>
              <a:r>
                <a:rPr lang="en-US" sz="1200">
                  <a:latin typeface="Lato" panose="020F0502020204030203" pitchFamily="34" charset="0"/>
                  <a:ea typeface="Lato" panose="020F0502020204030203" pitchFamily="34" charset="0"/>
                  <a:cs typeface="Lato" panose="020F0502020204030203" pitchFamily="34" charset="0"/>
                </a:rPr>
                <a:t>Standardized documentation captured in a centralized knowledge repository</a:t>
              </a:r>
            </a:p>
          </p:txBody>
        </p:sp>
      </p:grpSp>
      <p:grpSp>
        <p:nvGrpSpPr>
          <p:cNvPr id="46" name="Group 45">
            <a:extLst>
              <a:ext uri="{FF2B5EF4-FFF2-40B4-BE49-F238E27FC236}">
                <a16:creationId xmlns:a16="http://schemas.microsoft.com/office/drawing/2014/main" id="{F9167FD7-B64A-C402-8F47-EA56607D0CD1}"/>
              </a:ext>
            </a:extLst>
          </p:cNvPr>
          <p:cNvGrpSpPr/>
          <p:nvPr/>
        </p:nvGrpSpPr>
        <p:grpSpPr>
          <a:xfrm>
            <a:off x="2945206" y="2371461"/>
            <a:ext cx="2570401" cy="4167317"/>
            <a:chOff x="3105226" y="1731381"/>
            <a:chExt cx="2720375" cy="3954007"/>
          </a:xfrm>
        </p:grpSpPr>
        <p:grpSp>
          <p:nvGrpSpPr>
            <p:cNvPr id="17" name="Group 16">
              <a:extLst>
                <a:ext uri="{FF2B5EF4-FFF2-40B4-BE49-F238E27FC236}">
                  <a16:creationId xmlns:a16="http://schemas.microsoft.com/office/drawing/2014/main" id="{28C474F7-E188-9BCE-F5AE-CA8C028975F0}"/>
                </a:ext>
              </a:extLst>
            </p:cNvPr>
            <p:cNvGrpSpPr/>
            <p:nvPr/>
          </p:nvGrpSpPr>
          <p:grpSpPr>
            <a:xfrm>
              <a:off x="3105226" y="1731381"/>
              <a:ext cx="2720375" cy="3954007"/>
              <a:chOff x="4369387" y="1687516"/>
              <a:chExt cx="3324027" cy="3954007"/>
            </a:xfrm>
          </p:grpSpPr>
          <p:cxnSp>
            <p:nvCxnSpPr>
              <p:cNvPr id="20" name="Connector: Elbow 23">
                <a:extLst>
                  <a:ext uri="{FF2B5EF4-FFF2-40B4-BE49-F238E27FC236}">
                    <a16:creationId xmlns:a16="http://schemas.microsoft.com/office/drawing/2014/main" id="{3CECD16A-264E-6C13-C8A8-29B4A222AC50}"/>
                  </a:ext>
                </a:extLst>
              </p:cNvPr>
              <p:cNvCxnSpPr>
                <a:cxnSpLocks/>
              </p:cNvCxnSpPr>
              <p:nvPr/>
            </p:nvCxnSpPr>
            <p:spPr>
              <a:xfrm rot="5400000">
                <a:off x="3944098" y="2213269"/>
                <a:ext cx="3853543" cy="3002965"/>
              </a:xfrm>
              <a:prstGeom prst="bentConnector3">
                <a:avLst>
                  <a:gd name="adj1" fmla="val 282"/>
                </a:avLst>
              </a:prstGeom>
              <a:ln>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21" name="Connector: Elbow 24">
                <a:extLst>
                  <a:ext uri="{FF2B5EF4-FFF2-40B4-BE49-F238E27FC236}">
                    <a16:creationId xmlns:a16="http://schemas.microsoft.com/office/drawing/2014/main" id="{C325EE69-E70A-A017-5B0A-E89C5BE7BA15}"/>
                  </a:ext>
                </a:extLst>
              </p:cNvPr>
              <p:cNvCxnSpPr>
                <a:cxnSpLocks/>
              </p:cNvCxnSpPr>
              <p:nvPr/>
            </p:nvCxnSpPr>
            <p:spPr>
              <a:xfrm rot="5400000" flipH="1" flipV="1">
                <a:off x="4146410" y="2188174"/>
                <a:ext cx="3626133" cy="2825747"/>
              </a:xfrm>
              <a:prstGeom prst="bentConnector3">
                <a:avLst>
                  <a:gd name="adj1" fmla="val -168"/>
                </a:avLst>
              </a:prstGeom>
              <a:ln>
                <a:solidFill>
                  <a:srgbClr val="00B0F0"/>
                </a:solidFill>
                <a:prstDash val="sysDash"/>
                <a:round/>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7C5E8296-923E-9956-5539-EEBC44025EF3}"/>
                  </a:ext>
                </a:extLst>
              </p:cNvPr>
              <p:cNvCxnSpPr/>
              <p:nvPr/>
            </p:nvCxnSpPr>
            <p:spPr>
              <a:xfrm>
                <a:off x="4369387" y="5641523"/>
                <a:ext cx="3119068" cy="0"/>
              </a:xfrm>
              <a:prstGeom prst="straightConnector1">
                <a:avLst/>
              </a:prstGeom>
              <a:ln w="38100">
                <a:solidFill>
                  <a:srgbClr val="00B0F0"/>
                </a:solidFill>
                <a:tailEnd type="triangle"/>
              </a:ln>
            </p:spPr>
            <p:style>
              <a:lnRef idx="2">
                <a:schemeClr val="accent1"/>
              </a:lnRef>
              <a:fillRef idx="0">
                <a:schemeClr val="accent1"/>
              </a:fillRef>
              <a:effectRef idx="1">
                <a:schemeClr val="accent1"/>
              </a:effectRef>
              <a:fontRef idx="minor">
                <a:schemeClr val="tx1"/>
              </a:fontRef>
            </p:style>
          </p:cxnSp>
          <p:grpSp>
            <p:nvGrpSpPr>
              <p:cNvPr id="23" name="Group 22">
                <a:extLst>
                  <a:ext uri="{FF2B5EF4-FFF2-40B4-BE49-F238E27FC236}">
                    <a16:creationId xmlns:a16="http://schemas.microsoft.com/office/drawing/2014/main" id="{F5754E7B-140C-C2D9-4812-E6450BCB26E2}"/>
                  </a:ext>
                </a:extLst>
              </p:cNvPr>
              <p:cNvGrpSpPr/>
              <p:nvPr/>
            </p:nvGrpSpPr>
            <p:grpSpPr>
              <a:xfrm>
                <a:off x="7076323" y="1687516"/>
                <a:ext cx="617091" cy="225410"/>
                <a:chOff x="7076323" y="1687516"/>
                <a:chExt cx="617091" cy="225410"/>
              </a:xfrm>
            </p:grpSpPr>
            <p:cxnSp>
              <p:nvCxnSpPr>
                <p:cNvPr id="24" name="Straight Arrow Connector 23">
                  <a:extLst>
                    <a:ext uri="{FF2B5EF4-FFF2-40B4-BE49-F238E27FC236}">
                      <a16:creationId xmlns:a16="http://schemas.microsoft.com/office/drawing/2014/main" id="{8E93529A-B74F-35CA-D43C-19FA65EF9C57}"/>
                    </a:ext>
                  </a:extLst>
                </p:cNvPr>
                <p:cNvCxnSpPr>
                  <a:cxnSpLocks/>
                </p:cNvCxnSpPr>
                <p:nvPr/>
              </p:nvCxnSpPr>
              <p:spPr>
                <a:xfrm>
                  <a:off x="7076323" y="1800220"/>
                  <a:ext cx="617091" cy="0"/>
                </a:xfrm>
                <a:prstGeom prst="straightConnector1">
                  <a:avLst/>
                </a:prstGeom>
                <a:ln w="8255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25" name="Isosceles Triangle 28">
                  <a:extLst>
                    <a:ext uri="{FF2B5EF4-FFF2-40B4-BE49-F238E27FC236}">
                      <a16:creationId xmlns:a16="http://schemas.microsoft.com/office/drawing/2014/main" id="{2DDA415A-275A-C58D-5478-8995C65BE662}"/>
                    </a:ext>
                  </a:extLst>
                </p:cNvPr>
                <p:cNvSpPr/>
                <p:nvPr/>
              </p:nvSpPr>
              <p:spPr>
                <a:xfrm rot="5400000">
                  <a:off x="7305425" y="1703062"/>
                  <a:ext cx="225410" cy="194318"/>
                </a:xfrm>
                <a:prstGeom prst="triangl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8" name="TextBox 17">
              <a:extLst>
                <a:ext uri="{FF2B5EF4-FFF2-40B4-BE49-F238E27FC236}">
                  <a16:creationId xmlns:a16="http://schemas.microsoft.com/office/drawing/2014/main" id="{ABB35C9B-BB09-FCA1-BEB3-82CB70A5FE09}"/>
                </a:ext>
              </a:extLst>
            </p:cNvPr>
            <p:cNvSpPr txBox="1"/>
            <p:nvPr/>
          </p:nvSpPr>
          <p:spPr>
            <a:xfrm>
              <a:off x="3250259" y="1965958"/>
              <a:ext cx="2141964" cy="523220"/>
            </a:xfrm>
            <a:prstGeom prst="rect">
              <a:avLst/>
            </a:prstGeom>
            <a:noFill/>
          </p:spPr>
          <p:txBody>
            <a:bodyPr wrap="square" rtlCol="0">
              <a:spAutoFit/>
            </a:bodyPr>
            <a:lstStyle/>
            <a:p>
              <a:pPr algn="ctr"/>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Shadowing &amp; Assisted Ownership</a:t>
              </a:r>
            </a:p>
          </p:txBody>
        </p:sp>
        <p:sp>
          <p:nvSpPr>
            <p:cNvPr id="19" name="TextBox 18">
              <a:extLst>
                <a:ext uri="{FF2B5EF4-FFF2-40B4-BE49-F238E27FC236}">
                  <a16:creationId xmlns:a16="http://schemas.microsoft.com/office/drawing/2014/main" id="{672D6824-AC80-A40A-28B4-09313E38ACF6}"/>
                </a:ext>
              </a:extLst>
            </p:cNvPr>
            <p:cNvSpPr txBox="1"/>
            <p:nvPr/>
          </p:nvSpPr>
          <p:spPr>
            <a:xfrm>
              <a:off x="3263052" y="2485844"/>
              <a:ext cx="2141964" cy="2306979"/>
            </a:xfrm>
            <a:prstGeom prst="rect">
              <a:avLst/>
            </a:prstGeom>
            <a:noFill/>
          </p:spPr>
          <p:txBody>
            <a:bodyPr wrap="square" rtlCol="0">
              <a:spAutoFit/>
            </a:bodyPr>
            <a:lstStyle/>
            <a:p>
              <a:pPr marL="171450" indent="-171450">
                <a:spcBef>
                  <a:spcPts val="1200"/>
                </a:spcBef>
                <a:buBlip>
                  <a:blip r:embed="rId3"/>
                </a:buBlip>
              </a:pPr>
              <a:r>
                <a:rPr lang="en-US" sz="1200">
                  <a:latin typeface="Lato" panose="020F0502020204030203" pitchFamily="34" charset="0"/>
                  <a:ea typeface="Lato" panose="020F0502020204030203" pitchFamily="34" charset="0"/>
                  <a:cs typeface="Lato" panose="020F0502020204030203" pitchFamily="34" charset="0"/>
                </a:rPr>
                <a:t>Defined shadowing model with incumbent teams or rebadged resources</a:t>
              </a:r>
            </a:p>
            <a:p>
              <a:pPr marL="171450" indent="-171450">
                <a:spcBef>
                  <a:spcPts val="1200"/>
                </a:spcBef>
                <a:buBlip>
                  <a:blip r:embed="rId3"/>
                </a:buBlip>
              </a:pPr>
              <a:r>
                <a:rPr lang="en-US" sz="1200">
                  <a:latin typeface="Lato" panose="020F0502020204030203" pitchFamily="34" charset="0"/>
                  <a:ea typeface="Lato" panose="020F0502020204030203" pitchFamily="34" charset="0"/>
                  <a:cs typeface="Lato" panose="020F0502020204030203" pitchFamily="34" charset="0"/>
                </a:rPr>
                <a:t>Parallel execution to ensure confidence, continuity, and risk mitigation</a:t>
              </a:r>
            </a:p>
            <a:p>
              <a:pPr marL="171450" indent="-171450">
                <a:spcBef>
                  <a:spcPts val="1200"/>
                </a:spcBef>
                <a:buBlip>
                  <a:blip r:embed="rId3"/>
                </a:buBlip>
              </a:pPr>
              <a:r>
                <a:rPr lang="en-US" sz="1200">
                  <a:latin typeface="Lato" panose="020F0502020204030203" pitchFamily="34" charset="0"/>
                  <a:ea typeface="Lato" panose="020F0502020204030203" pitchFamily="34" charset="0"/>
                  <a:cs typeface="Lato" panose="020F0502020204030203" pitchFamily="34" charset="0"/>
                </a:rPr>
                <a:t>Gradual transition from assisted execution to primary ownership</a:t>
              </a:r>
            </a:p>
          </p:txBody>
        </p:sp>
      </p:grpSp>
      <p:grpSp>
        <p:nvGrpSpPr>
          <p:cNvPr id="45" name="Group 44">
            <a:extLst>
              <a:ext uri="{FF2B5EF4-FFF2-40B4-BE49-F238E27FC236}">
                <a16:creationId xmlns:a16="http://schemas.microsoft.com/office/drawing/2014/main" id="{DF3DD30C-1356-D787-0140-BEFAFE57C785}"/>
              </a:ext>
            </a:extLst>
          </p:cNvPr>
          <p:cNvGrpSpPr/>
          <p:nvPr/>
        </p:nvGrpSpPr>
        <p:grpSpPr>
          <a:xfrm>
            <a:off x="5574928" y="2387006"/>
            <a:ext cx="2421921" cy="4253823"/>
            <a:chOff x="5963548" y="1746926"/>
            <a:chExt cx="2563232" cy="4036085"/>
          </a:xfrm>
        </p:grpSpPr>
        <p:cxnSp>
          <p:nvCxnSpPr>
            <p:cNvPr id="27" name="Connector: Elbow 15">
              <a:extLst>
                <a:ext uri="{FF2B5EF4-FFF2-40B4-BE49-F238E27FC236}">
                  <a16:creationId xmlns:a16="http://schemas.microsoft.com/office/drawing/2014/main" id="{BA5436B9-9AFD-3A4C-AD6A-DAB40EE0A521}"/>
                </a:ext>
              </a:extLst>
            </p:cNvPr>
            <p:cNvCxnSpPr>
              <a:cxnSpLocks/>
            </p:cNvCxnSpPr>
            <p:nvPr/>
          </p:nvCxnSpPr>
          <p:spPr>
            <a:xfrm rot="5400000">
              <a:off x="5265586" y="2529807"/>
              <a:ext cx="3853543" cy="2457619"/>
            </a:xfrm>
            <a:prstGeom prst="bentConnector3">
              <a:avLst>
                <a:gd name="adj1" fmla="val 282"/>
              </a:avLst>
            </a:prstGeom>
            <a:ln>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28" name="Connector: Elbow 16">
              <a:extLst>
                <a:ext uri="{FF2B5EF4-FFF2-40B4-BE49-F238E27FC236}">
                  <a16:creationId xmlns:a16="http://schemas.microsoft.com/office/drawing/2014/main" id="{0A81CDC5-13F4-EC5C-D5ED-6252EC042C12}"/>
                </a:ext>
              </a:extLst>
            </p:cNvPr>
            <p:cNvCxnSpPr>
              <a:cxnSpLocks/>
            </p:cNvCxnSpPr>
            <p:nvPr/>
          </p:nvCxnSpPr>
          <p:spPr>
            <a:xfrm rot="5400000" flipH="1" flipV="1">
              <a:off x="5451807" y="2488621"/>
              <a:ext cx="3626133" cy="2312584"/>
            </a:xfrm>
            <a:prstGeom prst="bentConnector3">
              <a:avLst>
                <a:gd name="adj1" fmla="val -168"/>
              </a:avLst>
            </a:prstGeom>
            <a:ln>
              <a:solidFill>
                <a:srgbClr val="00B0F0"/>
              </a:solidFill>
              <a:prstDash val="sysDash"/>
              <a:round/>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2966D771-E9A1-F056-44A5-29F5D1E3B55F}"/>
                </a:ext>
              </a:extLst>
            </p:cNvPr>
            <p:cNvCxnSpPr/>
            <p:nvPr/>
          </p:nvCxnSpPr>
          <p:spPr>
            <a:xfrm>
              <a:off x="5963548" y="5685388"/>
              <a:ext cx="2552637" cy="0"/>
            </a:xfrm>
            <a:prstGeom prst="straightConnector1">
              <a:avLst/>
            </a:prstGeom>
            <a:ln w="38100">
              <a:solidFill>
                <a:srgbClr val="00B0F0"/>
              </a:solidFill>
              <a:tailEnd type="non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62D42B19-9390-EBD7-4FB1-EBB80357FEE8}"/>
                </a:ext>
              </a:extLst>
            </p:cNvPr>
            <p:cNvSpPr txBox="1"/>
            <p:nvPr/>
          </p:nvSpPr>
          <p:spPr>
            <a:xfrm>
              <a:off x="6108581" y="1965958"/>
              <a:ext cx="2141964" cy="307777"/>
            </a:xfrm>
            <a:prstGeom prst="rect">
              <a:avLst/>
            </a:prstGeom>
            <a:noFill/>
          </p:spPr>
          <p:txBody>
            <a:bodyPr wrap="square" rtlCol="0">
              <a:spAutoFit/>
            </a:bodyPr>
            <a:lstStyle/>
            <a:p>
              <a:pPr algn="ctr"/>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Steady-State Delivery</a:t>
              </a:r>
            </a:p>
          </p:txBody>
        </p:sp>
        <p:sp>
          <p:nvSpPr>
            <p:cNvPr id="31" name="Rectangle 30">
              <a:extLst>
                <a:ext uri="{FF2B5EF4-FFF2-40B4-BE49-F238E27FC236}">
                  <a16:creationId xmlns:a16="http://schemas.microsoft.com/office/drawing/2014/main" id="{E68E96CB-47EF-34D4-E40F-2F9EC1DEC112}"/>
                </a:ext>
              </a:extLst>
            </p:cNvPr>
            <p:cNvSpPr/>
            <p:nvPr/>
          </p:nvSpPr>
          <p:spPr>
            <a:xfrm>
              <a:off x="8341650" y="1746926"/>
              <a:ext cx="159029" cy="194318"/>
            </a:xfrm>
            <a:prstGeom prst="rect">
              <a:avLst/>
            </a:prstGeom>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BF9D1E96-F288-867E-A6F3-D81A747320E4}"/>
                </a:ext>
              </a:extLst>
            </p:cNvPr>
            <p:cNvSpPr/>
            <p:nvPr/>
          </p:nvSpPr>
          <p:spPr>
            <a:xfrm>
              <a:off x="8367751" y="5588693"/>
              <a:ext cx="159029" cy="19431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F0684695-992B-6F03-F1F3-E03DB4AF088C}"/>
                </a:ext>
              </a:extLst>
            </p:cNvPr>
            <p:cNvSpPr txBox="1"/>
            <p:nvPr/>
          </p:nvSpPr>
          <p:spPr>
            <a:xfrm>
              <a:off x="6127383" y="2485844"/>
              <a:ext cx="2141965" cy="2131765"/>
            </a:xfrm>
            <a:prstGeom prst="rect">
              <a:avLst/>
            </a:prstGeom>
            <a:noFill/>
          </p:spPr>
          <p:txBody>
            <a:bodyPr wrap="square" rtlCol="0">
              <a:spAutoFit/>
            </a:bodyPr>
            <a:lstStyle/>
            <a:p>
              <a:pPr marL="171450" indent="-171450">
                <a:spcBef>
                  <a:spcPts val="1200"/>
                </a:spcBef>
                <a:buBlip>
                  <a:blip r:embed="rId3"/>
                </a:buBlip>
              </a:pPr>
              <a:r>
                <a:rPr lang="en-US" sz="1200">
                  <a:latin typeface="Lato" panose="020F0502020204030203" pitchFamily="34" charset="0"/>
                  <a:ea typeface="Lato" panose="020F0502020204030203" pitchFamily="34" charset="0"/>
                  <a:cs typeface="Lato" panose="020F0502020204030203" pitchFamily="34" charset="0"/>
                </a:rPr>
                <a:t>Full ownership under Innominds’ governance and operating model</a:t>
              </a:r>
            </a:p>
            <a:p>
              <a:pPr marL="171450" indent="-171450">
                <a:spcBef>
                  <a:spcPts val="1200"/>
                </a:spcBef>
                <a:buBlip>
                  <a:blip r:embed="rId3"/>
                </a:buBlip>
              </a:pPr>
              <a:r>
                <a:rPr lang="en-US" sz="1200">
                  <a:latin typeface="Lato" panose="020F0502020204030203" pitchFamily="34" charset="0"/>
                  <a:ea typeface="Lato" panose="020F0502020204030203" pitchFamily="34" charset="0"/>
                  <a:cs typeface="Lato" panose="020F0502020204030203" pitchFamily="34" charset="0"/>
                </a:rPr>
                <a:t>Teams aligned across Quality, Data, Digital, and Cloud capabilities</a:t>
              </a:r>
            </a:p>
            <a:p>
              <a:pPr marL="171450" indent="-171450">
                <a:spcBef>
                  <a:spcPts val="1200"/>
                </a:spcBef>
                <a:buBlip>
                  <a:blip r:embed="rId3"/>
                </a:buBlip>
              </a:pPr>
              <a:r>
                <a:rPr lang="en-US" sz="1200">
                  <a:latin typeface="Lato" panose="020F0502020204030203" pitchFamily="34" charset="0"/>
                  <a:ea typeface="Lato" panose="020F0502020204030203" pitchFamily="34" charset="0"/>
                  <a:cs typeface="Lato" panose="020F0502020204030203" pitchFamily="34" charset="0"/>
                </a:rPr>
                <a:t>Continuous improvement through metrics-driven delivery and optimization</a:t>
              </a:r>
            </a:p>
          </p:txBody>
        </p:sp>
      </p:grpSp>
      <p:sp>
        <p:nvSpPr>
          <p:cNvPr id="35" name="TextBox 34">
            <a:extLst>
              <a:ext uri="{FF2B5EF4-FFF2-40B4-BE49-F238E27FC236}">
                <a16:creationId xmlns:a16="http://schemas.microsoft.com/office/drawing/2014/main" id="{60656E2C-9938-2E60-8B90-7785F7DFC853}"/>
              </a:ext>
            </a:extLst>
          </p:cNvPr>
          <p:cNvSpPr txBox="1"/>
          <p:nvPr/>
        </p:nvSpPr>
        <p:spPr>
          <a:xfrm>
            <a:off x="453685" y="1994977"/>
            <a:ext cx="2421921" cy="377896"/>
          </a:xfrm>
          <a:prstGeom prst="rect">
            <a:avLst/>
          </a:prstGeom>
          <a:noFill/>
        </p:spPr>
        <p:txBody>
          <a:bodyPr wrap="square">
            <a:spAutoFit/>
          </a:bodyPr>
          <a:lstStyle/>
          <a:p>
            <a:r>
              <a:rPr lang="en-IN" b="1">
                <a:solidFill>
                  <a:srgbClr val="0070C0"/>
                </a:solidFill>
                <a:latin typeface="Lato" panose="020F0502020204030203" pitchFamily="34" charset="0"/>
                <a:ea typeface="Lato" panose="020F0502020204030203" pitchFamily="34" charset="0"/>
                <a:cs typeface="Lato" panose="020F0502020204030203" pitchFamily="34" charset="0"/>
              </a:rPr>
              <a:t>Transition Approach:</a:t>
            </a:r>
          </a:p>
        </p:txBody>
      </p:sp>
      <p:grpSp>
        <p:nvGrpSpPr>
          <p:cNvPr id="5" name="Group 4">
            <a:extLst>
              <a:ext uri="{FF2B5EF4-FFF2-40B4-BE49-F238E27FC236}">
                <a16:creationId xmlns:a16="http://schemas.microsoft.com/office/drawing/2014/main" id="{4222117E-7029-2088-CB30-FFA32818D669}"/>
              </a:ext>
            </a:extLst>
          </p:cNvPr>
          <p:cNvGrpSpPr/>
          <p:nvPr/>
        </p:nvGrpSpPr>
        <p:grpSpPr>
          <a:xfrm>
            <a:off x="8058370" y="2387007"/>
            <a:ext cx="3811503" cy="2184993"/>
            <a:chOff x="8058370" y="1964097"/>
            <a:chExt cx="3811503" cy="1876383"/>
          </a:xfrm>
        </p:grpSpPr>
        <p:sp>
          <p:nvSpPr>
            <p:cNvPr id="48" name="Rectangle: Top Corners One Rounded and One Snipped 47">
              <a:extLst>
                <a:ext uri="{FF2B5EF4-FFF2-40B4-BE49-F238E27FC236}">
                  <a16:creationId xmlns:a16="http://schemas.microsoft.com/office/drawing/2014/main" id="{944682DC-7283-C785-8ACF-33620D5A1EB5}"/>
                </a:ext>
              </a:extLst>
            </p:cNvPr>
            <p:cNvSpPr/>
            <p:nvPr/>
          </p:nvSpPr>
          <p:spPr>
            <a:xfrm>
              <a:off x="8058370" y="1964097"/>
              <a:ext cx="3811503" cy="1876383"/>
            </a:xfrm>
            <a:prstGeom prst="snipRoundRect">
              <a:avLst>
                <a:gd name="adj1" fmla="val 6315"/>
                <a:gd name="adj2" fmla="val 16667"/>
              </a:avLst>
            </a:prstGeom>
            <a:solidFill>
              <a:schemeClr val="bg1"/>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9" name="TextBox 48">
              <a:extLst>
                <a:ext uri="{FF2B5EF4-FFF2-40B4-BE49-F238E27FC236}">
                  <a16:creationId xmlns:a16="http://schemas.microsoft.com/office/drawing/2014/main" id="{93CBD4FC-3AFF-35FA-C335-E7407985C64D}"/>
                </a:ext>
              </a:extLst>
            </p:cNvPr>
            <p:cNvSpPr txBox="1"/>
            <p:nvPr/>
          </p:nvSpPr>
          <p:spPr>
            <a:xfrm>
              <a:off x="8419048" y="1994765"/>
              <a:ext cx="2977421" cy="307777"/>
            </a:xfrm>
            <a:prstGeom prst="rect">
              <a:avLst/>
            </a:prstGeom>
            <a:noFill/>
          </p:spPr>
          <p:txBody>
            <a:bodyPr wrap="square">
              <a:spAutoFit/>
            </a:bodyPr>
            <a:lstStyle/>
            <a:p>
              <a:pPr marR="0" lvl="0" indent="0" algn="ctr" fontAlgn="auto">
                <a:lnSpc>
                  <a:spcPct val="100000"/>
                </a:lnSpc>
                <a:spcBef>
                  <a:spcPts val="0"/>
                </a:spcBef>
                <a:spcAft>
                  <a:spcPts val="0"/>
                </a:spcAft>
                <a:buClrTx/>
                <a:buSzTx/>
                <a:buFontTx/>
                <a:buNone/>
                <a:tabLst/>
                <a:defRPr/>
              </a:pPr>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Key Principles</a:t>
              </a:r>
            </a:p>
          </p:txBody>
        </p:sp>
        <p:sp>
          <p:nvSpPr>
            <p:cNvPr id="50" name="TextBox 49">
              <a:extLst>
                <a:ext uri="{FF2B5EF4-FFF2-40B4-BE49-F238E27FC236}">
                  <a16:creationId xmlns:a16="http://schemas.microsoft.com/office/drawing/2014/main" id="{5722F1F2-617E-02CA-E690-5FF3E266711F}"/>
                </a:ext>
              </a:extLst>
            </p:cNvPr>
            <p:cNvSpPr txBox="1"/>
            <p:nvPr/>
          </p:nvSpPr>
          <p:spPr>
            <a:xfrm>
              <a:off x="8419048" y="2246174"/>
              <a:ext cx="3362038" cy="1569660"/>
            </a:xfrm>
            <a:prstGeom prst="rect">
              <a:avLst/>
            </a:prstGeom>
            <a:noFill/>
          </p:spPr>
          <p:txBody>
            <a:bodyPr wrap="square">
              <a:spAutoFit/>
            </a:bodyPr>
            <a:lstStyle/>
            <a:p>
              <a:pPr marL="171450" marR="0" lvl="0" indent="-171450" algn="l" defTabSz="914400" rtl="0" eaLnBrk="1" fontAlgn="auto" latinLnBrk="0" hangingPunct="1">
                <a:spcBef>
                  <a:spcPts val="0"/>
                </a:spcBef>
                <a:spcAft>
                  <a:spcPts val="0"/>
                </a:spcAft>
                <a:buClrTx/>
                <a:buSzTx/>
                <a:buFontTx/>
                <a:buBlip>
                  <a:blip r:embed="rId2"/>
                </a:buBlip>
                <a:tabLst/>
                <a:defRPr/>
              </a:pPr>
              <a:r>
                <a:rPr kumimoji="0" lang="en-US" sz="1200" b="0" i="0" u="none" strike="noStrike" kern="1200" cap="none" spc="0" normalizeH="0" baseline="0" noProof="0">
                  <a:ln>
                    <a:noFill/>
                  </a:ln>
                  <a:solidFill>
                    <a:prstClr val="black"/>
                  </a:solidFill>
                  <a:effectLst/>
                  <a:uLnTx/>
                  <a:uFillTx/>
                  <a:latin typeface="Lato" panose="020F0502020204030203" pitchFamily="34" charset="77"/>
                  <a:ea typeface="+mn-ea"/>
                  <a:cs typeface="+mn-cs"/>
                </a:rPr>
                <a:t>Zero or minimal disruption to ongoing programs</a:t>
              </a:r>
            </a:p>
            <a:p>
              <a:pPr marL="171450" marR="0" lvl="0" indent="-171450" algn="l" defTabSz="914400" rtl="0" eaLnBrk="1" fontAlgn="auto" latinLnBrk="0" hangingPunct="1">
                <a:spcBef>
                  <a:spcPts val="0"/>
                </a:spcBef>
                <a:spcAft>
                  <a:spcPts val="0"/>
                </a:spcAft>
                <a:buClrTx/>
                <a:buSzTx/>
                <a:buFontTx/>
                <a:buBlip>
                  <a:blip r:embed="rId2"/>
                </a:buBlip>
                <a:tabLst/>
                <a:defRPr/>
              </a:pPr>
              <a:r>
                <a:rPr kumimoji="0" lang="en-US" sz="1200" b="0" i="0" u="none" strike="noStrike" kern="1200" cap="none" spc="0" normalizeH="0" baseline="0" noProof="0">
                  <a:ln>
                    <a:noFill/>
                  </a:ln>
                  <a:solidFill>
                    <a:prstClr val="black"/>
                  </a:solidFill>
                  <a:effectLst/>
                  <a:uLnTx/>
                  <a:uFillTx/>
                  <a:latin typeface="Lato" panose="020F0502020204030203" pitchFamily="34" charset="77"/>
                  <a:ea typeface="+mn-ea"/>
                  <a:cs typeface="+mn-cs"/>
                </a:rPr>
                <a:t>Retention-first approach for existing skilled resources</a:t>
              </a:r>
            </a:p>
            <a:p>
              <a:pPr marL="171450" marR="0" lvl="0" indent="-171450" algn="l" defTabSz="914400" rtl="0" eaLnBrk="1" fontAlgn="auto" latinLnBrk="0" hangingPunct="1">
                <a:spcBef>
                  <a:spcPts val="0"/>
                </a:spcBef>
                <a:spcAft>
                  <a:spcPts val="0"/>
                </a:spcAft>
                <a:buClrTx/>
                <a:buSzTx/>
                <a:buFontTx/>
                <a:buBlip>
                  <a:blip r:embed="rId2"/>
                </a:buBlip>
                <a:tabLst/>
                <a:defRPr/>
              </a:pPr>
              <a:r>
                <a:rPr kumimoji="0" lang="en-US" sz="1200" b="0" i="0" u="none" strike="noStrike" kern="1200" cap="none" spc="0" normalizeH="0" baseline="0" noProof="0">
                  <a:ln>
                    <a:noFill/>
                  </a:ln>
                  <a:solidFill>
                    <a:prstClr val="black"/>
                  </a:solidFill>
                  <a:effectLst/>
                  <a:uLnTx/>
                  <a:uFillTx/>
                  <a:latin typeface="Lato" panose="020F0502020204030203" pitchFamily="34" charset="77"/>
                  <a:ea typeface="+mn-ea"/>
                  <a:cs typeface="+mn-cs"/>
                </a:rPr>
                <a:t>Clear ownership and accountability during transition</a:t>
              </a:r>
            </a:p>
            <a:p>
              <a:pPr marL="171450" marR="0" lvl="0" indent="-171450" algn="l" defTabSz="914400" rtl="0" eaLnBrk="1" fontAlgn="auto" latinLnBrk="0" hangingPunct="1">
                <a:spcBef>
                  <a:spcPts val="0"/>
                </a:spcBef>
                <a:spcAft>
                  <a:spcPts val="0"/>
                </a:spcAft>
                <a:buClrTx/>
                <a:buSzTx/>
                <a:buFontTx/>
                <a:buBlip>
                  <a:blip r:embed="rId2"/>
                </a:buBlip>
                <a:tabLst/>
                <a:defRPr/>
              </a:pPr>
              <a:r>
                <a:rPr kumimoji="0" lang="en-US" sz="1200" b="0" i="0" u="none" strike="noStrike" kern="1200" cap="none" spc="0" normalizeH="0" baseline="0" noProof="0">
                  <a:ln>
                    <a:noFill/>
                  </a:ln>
                  <a:solidFill>
                    <a:prstClr val="black"/>
                  </a:solidFill>
                  <a:effectLst/>
                  <a:uLnTx/>
                  <a:uFillTx/>
                  <a:latin typeface="Lato" panose="020F0502020204030203" pitchFamily="34" charset="77"/>
                  <a:ea typeface="+mn-ea"/>
                  <a:cs typeface="+mn-cs"/>
                </a:rPr>
                <a:t>Strong focus on delivery stability, quality, and compliance</a:t>
              </a:r>
            </a:p>
          </p:txBody>
        </p:sp>
        <p:sp>
          <p:nvSpPr>
            <p:cNvPr id="51" name="Rectangle 50">
              <a:extLst>
                <a:ext uri="{FF2B5EF4-FFF2-40B4-BE49-F238E27FC236}">
                  <a16:creationId xmlns:a16="http://schemas.microsoft.com/office/drawing/2014/main" id="{5C110949-C1AE-2C03-FA64-64E0E05402B1}"/>
                </a:ext>
              </a:extLst>
            </p:cNvPr>
            <p:cNvSpPr/>
            <p:nvPr/>
          </p:nvSpPr>
          <p:spPr>
            <a:xfrm>
              <a:off x="8297856" y="1964097"/>
              <a:ext cx="72571" cy="1876383"/>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6" name="Group 5">
            <a:extLst>
              <a:ext uri="{FF2B5EF4-FFF2-40B4-BE49-F238E27FC236}">
                <a16:creationId xmlns:a16="http://schemas.microsoft.com/office/drawing/2014/main" id="{F12A0024-6055-3BAA-AFA6-85F9F07594B3}"/>
              </a:ext>
            </a:extLst>
          </p:cNvPr>
          <p:cNvGrpSpPr/>
          <p:nvPr/>
        </p:nvGrpSpPr>
        <p:grpSpPr>
          <a:xfrm>
            <a:off x="8058370" y="4754880"/>
            <a:ext cx="3811503" cy="1794510"/>
            <a:chOff x="8058370" y="3999182"/>
            <a:chExt cx="3811503" cy="2127298"/>
          </a:xfrm>
        </p:grpSpPr>
        <p:sp>
          <p:nvSpPr>
            <p:cNvPr id="52" name="Rectangle: Top Corners One Rounded and One Snipped 51">
              <a:extLst>
                <a:ext uri="{FF2B5EF4-FFF2-40B4-BE49-F238E27FC236}">
                  <a16:creationId xmlns:a16="http://schemas.microsoft.com/office/drawing/2014/main" id="{6A2309A6-FEBB-8CA6-0066-FF7AE7E20FAE}"/>
                </a:ext>
              </a:extLst>
            </p:cNvPr>
            <p:cNvSpPr/>
            <p:nvPr/>
          </p:nvSpPr>
          <p:spPr>
            <a:xfrm>
              <a:off x="8058370" y="3999182"/>
              <a:ext cx="3811503" cy="2127298"/>
            </a:xfrm>
            <a:prstGeom prst="snipRoundRect">
              <a:avLst>
                <a:gd name="adj1" fmla="val 6315"/>
                <a:gd name="adj2" fmla="val 16667"/>
              </a:avLst>
            </a:prstGeom>
            <a:solidFill>
              <a:schemeClr val="bg1"/>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3" name="TextBox 52">
              <a:extLst>
                <a:ext uri="{FF2B5EF4-FFF2-40B4-BE49-F238E27FC236}">
                  <a16:creationId xmlns:a16="http://schemas.microsoft.com/office/drawing/2014/main" id="{A653AC97-1938-212C-DDE5-C8E963BB8E5D}"/>
                </a:ext>
              </a:extLst>
            </p:cNvPr>
            <p:cNvSpPr txBox="1"/>
            <p:nvPr/>
          </p:nvSpPr>
          <p:spPr>
            <a:xfrm>
              <a:off x="8419048" y="4029850"/>
              <a:ext cx="2977421" cy="307777"/>
            </a:xfrm>
            <a:prstGeom prst="rect">
              <a:avLst/>
            </a:prstGeom>
            <a:noFill/>
          </p:spPr>
          <p:txBody>
            <a:bodyPr wrap="square">
              <a:spAutoFit/>
            </a:bodyPr>
            <a:lstStyle/>
            <a:p>
              <a:pPr marR="0" lvl="0" indent="0" algn="ctr" fontAlgn="auto">
                <a:lnSpc>
                  <a:spcPct val="100000"/>
                </a:lnSpc>
                <a:spcBef>
                  <a:spcPts val="0"/>
                </a:spcBef>
                <a:spcAft>
                  <a:spcPts val="0"/>
                </a:spcAft>
                <a:buClrTx/>
                <a:buSzTx/>
                <a:buFontTx/>
                <a:buNone/>
                <a:tabLst/>
                <a:defRPr/>
              </a:pPr>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Benefits</a:t>
              </a:r>
            </a:p>
          </p:txBody>
        </p:sp>
        <p:sp>
          <p:nvSpPr>
            <p:cNvPr id="54" name="TextBox 53">
              <a:extLst>
                <a:ext uri="{FF2B5EF4-FFF2-40B4-BE49-F238E27FC236}">
                  <a16:creationId xmlns:a16="http://schemas.microsoft.com/office/drawing/2014/main" id="{89D065B0-9ABF-F52B-DC37-9E70ED88B2A4}"/>
                </a:ext>
              </a:extLst>
            </p:cNvPr>
            <p:cNvSpPr txBox="1"/>
            <p:nvPr/>
          </p:nvSpPr>
          <p:spPr>
            <a:xfrm>
              <a:off x="8419048" y="4281259"/>
              <a:ext cx="3362038" cy="1163845"/>
            </a:xfrm>
            <a:prstGeom prst="rect">
              <a:avLst/>
            </a:prstGeom>
            <a:noFill/>
          </p:spPr>
          <p:txBody>
            <a:bodyPr wrap="square">
              <a:spAutoFit/>
            </a:bodyPr>
            <a:lstStyle/>
            <a:p>
              <a:pPr marL="171450" marR="0" lvl="0" indent="-171450" algn="l" defTabSz="914400" rtl="0" eaLnBrk="1" fontAlgn="auto" latinLnBrk="0" hangingPunct="1">
                <a:lnSpc>
                  <a:spcPct val="150000"/>
                </a:lnSpc>
                <a:spcBef>
                  <a:spcPts val="0"/>
                </a:spcBef>
                <a:spcAft>
                  <a:spcPts val="0"/>
                </a:spcAft>
                <a:buClrTx/>
                <a:buSzTx/>
                <a:buFontTx/>
                <a:buBlip>
                  <a:blip r:embed="rId2"/>
                </a:buBlip>
                <a:tabLst/>
                <a:defRPr/>
              </a:pPr>
              <a:r>
                <a:rPr kumimoji="0" lang="en-US" sz="1200" b="0" i="0" u="none" strike="noStrike" kern="1200" cap="none" spc="0" normalizeH="0" baseline="0" noProof="0">
                  <a:ln>
                    <a:noFill/>
                  </a:ln>
                  <a:solidFill>
                    <a:prstClr val="black"/>
                  </a:solidFill>
                  <a:effectLst/>
                  <a:uLnTx/>
                  <a:uFillTx/>
                  <a:latin typeface="Lato" panose="020F0502020204030203" pitchFamily="34" charset="77"/>
                  <a:ea typeface="+mn-ea"/>
                  <a:cs typeface="+mn-cs"/>
                </a:rPr>
                <a:t>Smooth ramp-up for new and replacement roles</a:t>
              </a:r>
            </a:p>
            <a:p>
              <a:pPr marL="171450" marR="0" lvl="0" indent="-171450" algn="l" defTabSz="914400" rtl="0" eaLnBrk="1" fontAlgn="auto" latinLnBrk="0" hangingPunct="1">
                <a:lnSpc>
                  <a:spcPct val="150000"/>
                </a:lnSpc>
                <a:spcBef>
                  <a:spcPts val="0"/>
                </a:spcBef>
                <a:spcAft>
                  <a:spcPts val="0"/>
                </a:spcAft>
                <a:buClrTx/>
                <a:buSzTx/>
                <a:buFontTx/>
                <a:buBlip>
                  <a:blip r:embed="rId2"/>
                </a:buBlip>
                <a:tabLst/>
                <a:defRPr/>
              </a:pPr>
              <a:r>
                <a:rPr kumimoji="0" lang="en-US" sz="1200" b="0" i="0" u="none" strike="noStrike" kern="1200" cap="none" spc="0" normalizeH="0" baseline="0" noProof="0">
                  <a:ln>
                    <a:noFill/>
                  </a:ln>
                  <a:solidFill>
                    <a:prstClr val="black"/>
                  </a:solidFill>
                  <a:effectLst/>
                  <a:uLnTx/>
                  <a:uFillTx/>
                  <a:latin typeface="Lato" panose="020F0502020204030203" pitchFamily="34" charset="77"/>
                  <a:ea typeface="+mn-ea"/>
                  <a:cs typeface="+mn-cs"/>
                </a:rPr>
                <a:t>Controlled risk during vendor consolidation</a:t>
              </a:r>
            </a:p>
            <a:p>
              <a:pPr marL="171450" marR="0" lvl="0" indent="-171450" algn="l" defTabSz="914400" rtl="0" eaLnBrk="1" fontAlgn="auto" latinLnBrk="0" hangingPunct="1">
                <a:lnSpc>
                  <a:spcPct val="150000"/>
                </a:lnSpc>
                <a:spcBef>
                  <a:spcPts val="0"/>
                </a:spcBef>
                <a:spcAft>
                  <a:spcPts val="0"/>
                </a:spcAft>
                <a:buClrTx/>
                <a:buSzTx/>
                <a:buFontTx/>
                <a:buBlip>
                  <a:blip r:embed="rId2"/>
                </a:buBlip>
                <a:tabLst/>
                <a:defRPr/>
              </a:pPr>
              <a:r>
                <a:rPr kumimoji="0" lang="en-US" sz="1200" b="0" i="0" u="none" strike="noStrike" kern="1200" cap="none" spc="0" normalizeH="0" baseline="0" noProof="0">
                  <a:ln>
                    <a:noFill/>
                  </a:ln>
                  <a:solidFill>
                    <a:prstClr val="black"/>
                  </a:solidFill>
                  <a:effectLst/>
                  <a:uLnTx/>
                  <a:uFillTx/>
                  <a:latin typeface="Lato" panose="020F0502020204030203" pitchFamily="34" charset="77"/>
                  <a:ea typeface="+mn-ea"/>
                  <a:cs typeface="+mn-cs"/>
                </a:rPr>
                <a:t>Predictable and stable steady-state delivery</a:t>
              </a:r>
            </a:p>
          </p:txBody>
        </p:sp>
        <p:sp>
          <p:nvSpPr>
            <p:cNvPr id="55" name="Rectangle 54">
              <a:extLst>
                <a:ext uri="{FF2B5EF4-FFF2-40B4-BE49-F238E27FC236}">
                  <a16:creationId xmlns:a16="http://schemas.microsoft.com/office/drawing/2014/main" id="{2F5D92DC-DD77-FD07-9AB5-C329305EF146}"/>
                </a:ext>
              </a:extLst>
            </p:cNvPr>
            <p:cNvSpPr/>
            <p:nvPr/>
          </p:nvSpPr>
          <p:spPr>
            <a:xfrm>
              <a:off x="8297856" y="3999182"/>
              <a:ext cx="72571" cy="2127298"/>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Tree>
    <p:extLst>
      <p:ext uri="{BB962C8B-B14F-4D97-AF65-F5344CB8AC3E}">
        <p14:creationId xmlns:p14="http://schemas.microsoft.com/office/powerpoint/2010/main" val="15398574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CBD7F-4F02-461F-F119-E7605A0A6E5A}"/>
              </a:ext>
            </a:extLst>
          </p:cNvPr>
          <p:cNvSpPr>
            <a:spLocks noGrp="1"/>
          </p:cNvSpPr>
          <p:nvPr>
            <p:ph type="title"/>
          </p:nvPr>
        </p:nvSpPr>
        <p:spPr/>
        <p:txBody>
          <a:bodyPr/>
          <a:lstStyle/>
          <a:p>
            <a:r>
              <a:rPr lang="en-US"/>
              <a:t>Strategic Roadmap – India Build-Operate-Transfer (BOT) Model</a:t>
            </a:r>
            <a:endParaRPr lang="en-IN"/>
          </a:p>
        </p:txBody>
      </p:sp>
      <p:sp>
        <p:nvSpPr>
          <p:cNvPr id="3" name="Rectangle: Top Corners Rounded 54">
            <a:extLst>
              <a:ext uri="{FF2B5EF4-FFF2-40B4-BE49-F238E27FC236}">
                <a16:creationId xmlns:a16="http://schemas.microsoft.com/office/drawing/2014/main" id="{2284F2DC-CE43-3A28-E44D-27DAACEFE601}"/>
              </a:ext>
            </a:extLst>
          </p:cNvPr>
          <p:cNvSpPr/>
          <p:nvPr/>
        </p:nvSpPr>
        <p:spPr>
          <a:xfrm>
            <a:off x="834390" y="835917"/>
            <a:ext cx="10538460" cy="954783"/>
          </a:xfrm>
          <a:prstGeom prst="round2SameRect">
            <a:avLst/>
          </a:prstGeom>
          <a:solidFill>
            <a:schemeClr val="bg1"/>
          </a:solidFill>
          <a:ln w="12700">
            <a:solidFill>
              <a:srgbClr val="00B0F0"/>
            </a:solidFill>
          </a:ln>
          <a:effectLst>
            <a:outerShdw dist="25400" dir="5400000" algn="t" rotWithShape="0">
              <a:srgbClr val="00B0F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Lato" panose="020F0502020204030203" pitchFamily="34" charset="0"/>
                <a:ea typeface="Lato" panose="020F0502020204030203" pitchFamily="34" charset="0"/>
                <a:cs typeface="Lato" panose="020F0502020204030203" pitchFamily="34" charset="0"/>
              </a:rPr>
              <a:t>Innominds acts as the architect and operator of Lantern care’s future India Center of Excellence (</a:t>
            </a:r>
            <a:r>
              <a:rPr lang="en-US" sz="1400" err="1">
                <a:solidFill>
                  <a:schemeClr val="tx1"/>
                </a:solidFill>
                <a:latin typeface="Lato" panose="020F0502020204030203" pitchFamily="34" charset="0"/>
                <a:ea typeface="Lato" panose="020F0502020204030203" pitchFamily="34" charset="0"/>
                <a:cs typeface="Lato" panose="020F0502020204030203" pitchFamily="34" charset="0"/>
              </a:rPr>
              <a:t>CoE</a:t>
            </a:r>
            <a:r>
              <a:rPr lang="en-US" sz="1400">
                <a:solidFill>
                  <a:schemeClr val="tx1"/>
                </a:solidFill>
                <a:latin typeface="Lato" panose="020F0502020204030203" pitchFamily="34" charset="0"/>
                <a:ea typeface="Lato" panose="020F0502020204030203" pitchFamily="34" charset="0"/>
                <a:cs typeface="Lato" panose="020F0502020204030203" pitchFamily="34" charset="0"/>
              </a:rPr>
              <a:t>)—stabilizing today’s fragmented vendor landscape while building a scalable, culture-aligned captive capability that Lantern can choose to own in the future.</a:t>
            </a:r>
          </a:p>
        </p:txBody>
      </p:sp>
      <p:sp>
        <p:nvSpPr>
          <p:cNvPr id="5" name="TextBox 4">
            <a:extLst>
              <a:ext uri="{FF2B5EF4-FFF2-40B4-BE49-F238E27FC236}">
                <a16:creationId xmlns:a16="http://schemas.microsoft.com/office/drawing/2014/main" id="{02C30FC7-400C-1DF8-59C6-F0B3055AC4F7}"/>
              </a:ext>
            </a:extLst>
          </p:cNvPr>
          <p:cNvSpPr txBox="1"/>
          <p:nvPr/>
        </p:nvSpPr>
        <p:spPr>
          <a:xfrm>
            <a:off x="447130" y="6199649"/>
            <a:ext cx="11312980" cy="307777"/>
          </a:xfrm>
          <a:prstGeom prst="rect">
            <a:avLst/>
          </a:prstGeom>
          <a:noFill/>
        </p:spPr>
        <p:txBody>
          <a:bodyPr wrap="square" rtlCol="0">
            <a:spAutoFit/>
          </a:bodyPr>
          <a:lstStyle/>
          <a:p>
            <a:pPr algn="ctr"/>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Innominds is not just an outsourcing partner—we enable Lantern Care to build, mature, and optionally own its global delivery capability.</a:t>
            </a:r>
            <a:endParaRPr lang="en-IN" sz="1400" b="1">
              <a:solidFill>
                <a:srgbClr val="0070C0"/>
              </a:solidFill>
              <a:latin typeface="Lato" panose="020F0502020204030203" pitchFamily="34" charset="0"/>
              <a:ea typeface="Lato" panose="020F0502020204030203" pitchFamily="34" charset="0"/>
              <a:cs typeface="Lato" panose="020F0502020204030203" pitchFamily="34" charset="0"/>
            </a:endParaRPr>
          </a:p>
        </p:txBody>
      </p:sp>
      <p:sp>
        <p:nvSpPr>
          <p:cNvPr id="28" name="TextBox 27">
            <a:extLst>
              <a:ext uri="{FF2B5EF4-FFF2-40B4-BE49-F238E27FC236}">
                <a16:creationId xmlns:a16="http://schemas.microsoft.com/office/drawing/2014/main" id="{E6D0C0CA-82F1-144C-A836-5B67043F3F10}"/>
              </a:ext>
            </a:extLst>
          </p:cNvPr>
          <p:cNvSpPr txBox="1"/>
          <p:nvPr/>
        </p:nvSpPr>
        <p:spPr>
          <a:xfrm>
            <a:off x="834390" y="1972333"/>
            <a:ext cx="2459475" cy="307777"/>
          </a:xfrm>
          <a:prstGeom prst="rect">
            <a:avLst/>
          </a:prstGeom>
          <a:noFill/>
        </p:spPr>
        <p:txBody>
          <a:bodyPr wrap="square">
            <a:spAutoFit/>
          </a:bodyPr>
          <a:lstStyle/>
          <a:p>
            <a:r>
              <a:rPr lang="en-IN" sz="1400" b="1">
                <a:solidFill>
                  <a:srgbClr val="0070C0"/>
                </a:solidFill>
                <a:latin typeface="Lato" panose="020F0502020204030203" pitchFamily="34" charset="0"/>
                <a:ea typeface="Lato" panose="020F0502020204030203" pitchFamily="34" charset="0"/>
                <a:cs typeface="Lato" panose="020F0502020204030203" pitchFamily="34" charset="0"/>
              </a:rPr>
              <a:t>3-Year Strategic Roadmap:</a:t>
            </a:r>
          </a:p>
        </p:txBody>
      </p:sp>
      <p:grpSp>
        <p:nvGrpSpPr>
          <p:cNvPr id="39" name="Group 38">
            <a:extLst>
              <a:ext uri="{FF2B5EF4-FFF2-40B4-BE49-F238E27FC236}">
                <a16:creationId xmlns:a16="http://schemas.microsoft.com/office/drawing/2014/main" id="{E2E048FA-B5B3-85BB-A705-B77FED582363}"/>
              </a:ext>
            </a:extLst>
          </p:cNvPr>
          <p:cNvGrpSpPr/>
          <p:nvPr/>
        </p:nvGrpSpPr>
        <p:grpSpPr>
          <a:xfrm>
            <a:off x="1713681" y="2456415"/>
            <a:ext cx="8696059" cy="3389052"/>
            <a:chOff x="1590303" y="2536425"/>
            <a:chExt cx="8696059" cy="3389052"/>
          </a:xfrm>
        </p:grpSpPr>
        <p:grpSp>
          <p:nvGrpSpPr>
            <p:cNvPr id="36" name="Group 35">
              <a:extLst>
                <a:ext uri="{FF2B5EF4-FFF2-40B4-BE49-F238E27FC236}">
                  <a16:creationId xmlns:a16="http://schemas.microsoft.com/office/drawing/2014/main" id="{FD35741F-DD8D-F734-542D-4D6C62DC704A}"/>
                </a:ext>
              </a:extLst>
            </p:cNvPr>
            <p:cNvGrpSpPr/>
            <p:nvPr/>
          </p:nvGrpSpPr>
          <p:grpSpPr>
            <a:xfrm>
              <a:off x="1590303" y="2536425"/>
              <a:ext cx="2792317" cy="3389052"/>
              <a:chOff x="1235973" y="2552593"/>
              <a:chExt cx="2792317" cy="3389052"/>
            </a:xfrm>
          </p:grpSpPr>
          <p:sp>
            <p:nvSpPr>
              <p:cNvPr id="6" name="Freeform: Shape 22">
                <a:extLst>
                  <a:ext uri="{FF2B5EF4-FFF2-40B4-BE49-F238E27FC236}">
                    <a16:creationId xmlns:a16="http://schemas.microsoft.com/office/drawing/2014/main" id="{4A0FB56A-9D55-4834-F77D-2E48C5BAA7F5}"/>
                  </a:ext>
                </a:extLst>
              </p:cNvPr>
              <p:cNvSpPr/>
              <p:nvPr/>
            </p:nvSpPr>
            <p:spPr>
              <a:xfrm>
                <a:off x="1379897" y="2552593"/>
                <a:ext cx="2594407" cy="3389052"/>
              </a:xfrm>
              <a:custGeom>
                <a:avLst/>
                <a:gdLst>
                  <a:gd name="connsiteX0" fmla="*/ 1685401 w 1794101"/>
                  <a:gd name="connsiteY0" fmla="*/ 0 h 1794100"/>
                  <a:gd name="connsiteX1" fmla="*/ 1794102 w 1794101"/>
                  <a:gd name="connsiteY1" fmla="*/ 108701 h 1794100"/>
                  <a:gd name="connsiteX2" fmla="*/ 1794102 w 1794101"/>
                  <a:gd name="connsiteY2" fmla="*/ 1685400 h 1794100"/>
                  <a:gd name="connsiteX3" fmla="*/ 1685401 w 1794101"/>
                  <a:gd name="connsiteY3" fmla="*/ 1794101 h 1794100"/>
                  <a:gd name="connsiteX4" fmla="*/ 108702 w 1794101"/>
                  <a:gd name="connsiteY4" fmla="*/ 1794101 h 1794100"/>
                  <a:gd name="connsiteX5" fmla="*/ 0 w 1794101"/>
                  <a:gd name="connsiteY5" fmla="*/ 1685400 h 1794100"/>
                  <a:gd name="connsiteX6" fmla="*/ 0 w 1794101"/>
                  <a:gd name="connsiteY6" fmla="*/ 108702 h 1794100"/>
                  <a:gd name="connsiteX7" fmla="*/ 108702 w 1794101"/>
                  <a:gd name="connsiteY7" fmla="*/ 0 h 1794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4101" h="1794100">
                    <a:moveTo>
                      <a:pt x="1685401" y="0"/>
                    </a:moveTo>
                    <a:cubicBezTo>
                      <a:pt x="1745435" y="0"/>
                      <a:pt x="1794102" y="48667"/>
                      <a:pt x="1794102" y="108701"/>
                    </a:cubicBezTo>
                    <a:lnTo>
                      <a:pt x="1794102" y="1685400"/>
                    </a:lnTo>
                    <a:cubicBezTo>
                      <a:pt x="1794102" y="1745434"/>
                      <a:pt x="1745435" y="1794101"/>
                      <a:pt x="1685401" y="1794101"/>
                    </a:cubicBezTo>
                    <a:lnTo>
                      <a:pt x="108702" y="1794101"/>
                    </a:lnTo>
                    <a:cubicBezTo>
                      <a:pt x="48667" y="1794101"/>
                      <a:pt x="0" y="1745434"/>
                      <a:pt x="0" y="1685400"/>
                    </a:cubicBezTo>
                    <a:lnTo>
                      <a:pt x="0" y="108702"/>
                    </a:lnTo>
                    <a:cubicBezTo>
                      <a:pt x="0" y="48667"/>
                      <a:pt x="48667" y="0"/>
                      <a:pt x="108702" y="0"/>
                    </a:cubicBezTo>
                    <a:close/>
                  </a:path>
                </a:pathLst>
              </a:custGeom>
              <a:solidFill>
                <a:srgbClr val="FFFFFF"/>
              </a:solidFill>
              <a:ln w="3148" cap="flat">
                <a:solidFill>
                  <a:srgbClr val="00B0F0"/>
                </a:solidFill>
                <a:prstDash val="solid"/>
                <a:miter/>
              </a:ln>
            </p:spPr>
            <p:txBody>
              <a:bodyPr rtlCol="0" anchor="ctr"/>
              <a:lstStyle/>
              <a:p>
                <a:endParaRPr lang="en-US"/>
              </a:p>
            </p:txBody>
          </p:sp>
          <p:sp>
            <p:nvSpPr>
              <p:cNvPr id="7" name="Freeform: Shape 23">
                <a:extLst>
                  <a:ext uri="{FF2B5EF4-FFF2-40B4-BE49-F238E27FC236}">
                    <a16:creationId xmlns:a16="http://schemas.microsoft.com/office/drawing/2014/main" id="{D8F4CA8C-DDB2-BB6B-9F43-85732AF11D4C}"/>
                  </a:ext>
                </a:extLst>
              </p:cNvPr>
              <p:cNvSpPr/>
              <p:nvPr/>
            </p:nvSpPr>
            <p:spPr>
              <a:xfrm>
                <a:off x="1327243" y="2668524"/>
                <a:ext cx="672632" cy="459843"/>
              </a:xfrm>
              <a:custGeom>
                <a:avLst/>
                <a:gdLst>
                  <a:gd name="connsiteX0" fmla="*/ 442711 w 672632"/>
                  <a:gd name="connsiteY0" fmla="*/ 0 h 459843"/>
                  <a:gd name="connsiteX1" fmla="*/ 0 w 672632"/>
                  <a:gd name="connsiteY1" fmla="*/ 0 h 459843"/>
                  <a:gd name="connsiteX2" fmla="*/ 0 w 672632"/>
                  <a:gd name="connsiteY2" fmla="*/ 459843 h 459843"/>
                  <a:gd name="connsiteX3" fmla="*/ 442711 w 672632"/>
                  <a:gd name="connsiteY3" fmla="*/ 459843 h 459843"/>
                  <a:gd name="connsiteX4" fmla="*/ 672633 w 672632"/>
                  <a:gd name="connsiteY4" fmla="*/ 229922 h 459843"/>
                  <a:gd name="connsiteX5" fmla="*/ 442711 w 672632"/>
                  <a:gd name="connsiteY5" fmla="*/ 0 h 459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2632" h="459843">
                    <a:moveTo>
                      <a:pt x="442711" y="0"/>
                    </a:moveTo>
                    <a:lnTo>
                      <a:pt x="0" y="0"/>
                    </a:lnTo>
                    <a:lnTo>
                      <a:pt x="0" y="459843"/>
                    </a:lnTo>
                    <a:lnTo>
                      <a:pt x="442711" y="459843"/>
                    </a:lnTo>
                    <a:cubicBezTo>
                      <a:pt x="569694" y="459843"/>
                      <a:pt x="672633" y="356905"/>
                      <a:pt x="672633" y="229922"/>
                    </a:cubicBezTo>
                    <a:cubicBezTo>
                      <a:pt x="672633" y="102938"/>
                      <a:pt x="569694" y="0"/>
                      <a:pt x="442711" y="0"/>
                    </a:cubicBezTo>
                    <a:close/>
                  </a:path>
                </a:pathLst>
              </a:custGeom>
              <a:solidFill>
                <a:srgbClr val="4D4D4D"/>
              </a:solidFill>
              <a:ln w="1574" cap="flat">
                <a:noFill/>
                <a:prstDash val="solid"/>
                <a:miter/>
              </a:ln>
            </p:spPr>
            <p:txBody>
              <a:bodyPr rtlCol="0" anchor="ctr"/>
              <a:lstStyle/>
              <a:p>
                <a:endParaRPr lang="en-US"/>
              </a:p>
            </p:txBody>
          </p:sp>
          <p:sp>
            <p:nvSpPr>
              <p:cNvPr id="8" name="Freeform: Shape 24">
                <a:extLst>
                  <a:ext uri="{FF2B5EF4-FFF2-40B4-BE49-F238E27FC236}">
                    <a16:creationId xmlns:a16="http://schemas.microsoft.com/office/drawing/2014/main" id="{F6D208AA-5B68-04B8-F389-D3BDB17C9D73}"/>
                  </a:ext>
                </a:extLst>
              </p:cNvPr>
              <p:cNvSpPr/>
              <p:nvPr/>
            </p:nvSpPr>
            <p:spPr>
              <a:xfrm>
                <a:off x="1235973" y="3130902"/>
                <a:ext cx="149990" cy="107315"/>
              </a:xfrm>
              <a:custGeom>
                <a:avLst/>
                <a:gdLst>
                  <a:gd name="connsiteX0" fmla="*/ 0 w 149990"/>
                  <a:gd name="connsiteY0" fmla="*/ 189 h 107315"/>
                  <a:gd name="connsiteX1" fmla="*/ 149502 w 149990"/>
                  <a:gd name="connsiteY1" fmla="*/ 107316 h 107315"/>
                  <a:gd name="connsiteX2" fmla="*/ 149990 w 149990"/>
                  <a:gd name="connsiteY2" fmla="*/ 0 h 107315"/>
                  <a:gd name="connsiteX3" fmla="*/ 16 w 149990"/>
                  <a:gd name="connsiteY3" fmla="*/ 189 h 107315"/>
                </a:gdLst>
                <a:ahLst/>
                <a:cxnLst>
                  <a:cxn ang="0">
                    <a:pos x="connsiteX0" y="connsiteY0"/>
                  </a:cxn>
                  <a:cxn ang="0">
                    <a:pos x="connsiteX1" y="connsiteY1"/>
                  </a:cxn>
                  <a:cxn ang="0">
                    <a:pos x="connsiteX2" y="connsiteY2"/>
                  </a:cxn>
                  <a:cxn ang="0">
                    <a:pos x="connsiteX3" y="connsiteY3"/>
                  </a:cxn>
                </a:cxnLst>
                <a:rect l="l" t="t" r="r" b="b"/>
                <a:pathLst>
                  <a:path w="149990" h="107315">
                    <a:moveTo>
                      <a:pt x="0" y="189"/>
                    </a:moveTo>
                    <a:cubicBezTo>
                      <a:pt x="30801" y="97946"/>
                      <a:pt x="149502" y="107316"/>
                      <a:pt x="149502" y="107316"/>
                    </a:cubicBezTo>
                    <a:lnTo>
                      <a:pt x="149990" y="0"/>
                    </a:lnTo>
                    <a:lnTo>
                      <a:pt x="16" y="189"/>
                    </a:lnTo>
                    <a:close/>
                  </a:path>
                </a:pathLst>
              </a:custGeom>
              <a:solidFill>
                <a:srgbClr val="247BD1"/>
              </a:solidFill>
              <a:ln w="1574" cap="flat">
                <a:noFill/>
                <a:prstDash val="solid"/>
                <a:miter/>
              </a:ln>
            </p:spPr>
            <p:txBody>
              <a:bodyPr rtlCol="0" anchor="ctr"/>
              <a:lstStyle/>
              <a:p>
                <a:endParaRPr lang="en-US"/>
              </a:p>
            </p:txBody>
          </p:sp>
          <p:sp>
            <p:nvSpPr>
              <p:cNvPr id="9" name="Freeform: Shape 25">
                <a:extLst>
                  <a:ext uri="{FF2B5EF4-FFF2-40B4-BE49-F238E27FC236}">
                    <a16:creationId xmlns:a16="http://schemas.microsoft.com/office/drawing/2014/main" id="{576B9549-44A1-39A6-8ECA-CA8AB6FAE483}"/>
                  </a:ext>
                </a:extLst>
              </p:cNvPr>
              <p:cNvSpPr/>
              <p:nvPr/>
            </p:nvSpPr>
            <p:spPr>
              <a:xfrm>
                <a:off x="1235989" y="2665957"/>
                <a:ext cx="767587" cy="465118"/>
              </a:xfrm>
              <a:custGeom>
                <a:avLst/>
                <a:gdLst>
                  <a:gd name="connsiteX0" fmla="*/ 535146 w 767587"/>
                  <a:gd name="connsiteY0" fmla="*/ 16 h 465118"/>
                  <a:gd name="connsiteX1" fmla="*/ 103284 w 767587"/>
                  <a:gd name="connsiteY1" fmla="*/ 362 h 465118"/>
                  <a:gd name="connsiteX2" fmla="*/ 0 w 767587"/>
                  <a:gd name="connsiteY2" fmla="*/ 103725 h 465118"/>
                  <a:gd name="connsiteX3" fmla="*/ 0 w 767587"/>
                  <a:gd name="connsiteY3" fmla="*/ 465119 h 465118"/>
                  <a:gd name="connsiteX4" fmla="*/ 146431 w 767587"/>
                  <a:gd name="connsiteY4" fmla="*/ 464930 h 465118"/>
                  <a:gd name="connsiteX5" fmla="*/ 532909 w 767587"/>
                  <a:gd name="connsiteY5" fmla="*/ 464930 h 465118"/>
                  <a:gd name="connsiteX6" fmla="*/ 767587 w 767587"/>
                  <a:gd name="connsiteY6" fmla="*/ 232583 h 465118"/>
                  <a:gd name="connsiteX7" fmla="*/ 535130 w 767587"/>
                  <a:gd name="connsiteY7" fmla="*/ 0 h 46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7587" h="465118">
                    <a:moveTo>
                      <a:pt x="535146" y="16"/>
                    </a:moveTo>
                    <a:lnTo>
                      <a:pt x="103284" y="362"/>
                    </a:lnTo>
                    <a:cubicBezTo>
                      <a:pt x="46233" y="409"/>
                      <a:pt x="0" y="46674"/>
                      <a:pt x="0" y="103725"/>
                    </a:cubicBezTo>
                    <a:lnTo>
                      <a:pt x="0" y="465119"/>
                    </a:lnTo>
                    <a:lnTo>
                      <a:pt x="146431" y="464930"/>
                    </a:lnTo>
                    <a:lnTo>
                      <a:pt x="532909" y="464930"/>
                    </a:lnTo>
                    <a:cubicBezTo>
                      <a:pt x="661610" y="464930"/>
                      <a:pt x="767524" y="361283"/>
                      <a:pt x="767587" y="232583"/>
                    </a:cubicBezTo>
                    <a:cubicBezTo>
                      <a:pt x="767650" y="104151"/>
                      <a:pt x="663547" y="0"/>
                      <a:pt x="535130" y="0"/>
                    </a:cubicBezTo>
                    <a:close/>
                  </a:path>
                </a:pathLst>
              </a:custGeom>
              <a:solidFill>
                <a:srgbClr val="0070C0"/>
              </a:solidFill>
              <a:ln w="1574" cap="flat">
                <a:noFill/>
                <a:prstDash val="solid"/>
                <a:miter/>
              </a:ln>
            </p:spPr>
            <p:txBody>
              <a:bodyPr rtlCol="0" anchor="ctr"/>
              <a:lstStyle/>
              <a:p>
                <a:endParaRPr lang="en-US"/>
              </a:p>
            </p:txBody>
          </p:sp>
          <p:sp>
            <p:nvSpPr>
              <p:cNvPr id="18" name="TextBox 17">
                <a:extLst>
                  <a:ext uri="{FF2B5EF4-FFF2-40B4-BE49-F238E27FC236}">
                    <a16:creationId xmlns:a16="http://schemas.microsoft.com/office/drawing/2014/main" id="{465A299A-88B8-2B56-B8F8-BC013CDBAA73}"/>
                  </a:ext>
                </a:extLst>
              </p:cNvPr>
              <p:cNvSpPr txBox="1"/>
              <p:nvPr/>
            </p:nvSpPr>
            <p:spPr>
              <a:xfrm>
                <a:off x="1374698" y="3286543"/>
                <a:ext cx="2594838" cy="1569660"/>
              </a:xfrm>
              <a:prstGeom prst="rect">
                <a:avLst/>
              </a:prstGeom>
              <a:noFill/>
            </p:spPr>
            <p:txBody>
              <a:bodyPr wrap="square" rtlCol="0" anchor="t">
                <a:spAutoFit/>
              </a:bodyPr>
              <a:lstStyle/>
              <a:p>
                <a:pPr marL="171450" lvl="1" indent="-171450">
                  <a:buBlip>
                    <a:blip r:embed="rId2"/>
                  </a:buBlip>
                </a:pPr>
                <a:r>
                  <a:rPr lang="en-US" sz="1200">
                    <a:latin typeface="Lato" panose="020F0502020204030203" pitchFamily="34" charset="0"/>
                    <a:ea typeface="Lato" panose="020F0502020204030203" pitchFamily="34" charset="0"/>
                    <a:cs typeface="Lato" panose="020F0502020204030203" pitchFamily="34" charset="0"/>
                  </a:rPr>
                  <a:t>Consolidate multi-vendor delivery into a single, governed model</a:t>
                </a:r>
              </a:p>
              <a:p>
                <a:pPr marL="171450" lvl="1" indent="-171450">
                  <a:buBlip>
                    <a:blip r:embed="rId2"/>
                  </a:buBlip>
                </a:pPr>
                <a:r>
                  <a:rPr lang="en-US" sz="1200">
                    <a:latin typeface="Lato" panose="020F0502020204030203" pitchFamily="34" charset="0"/>
                    <a:ea typeface="Lato" panose="020F0502020204030203" pitchFamily="34" charset="0"/>
                    <a:cs typeface="Lato" panose="020F0502020204030203" pitchFamily="34" charset="0"/>
                  </a:rPr>
                  <a:t>Rebadge, replace, and onboard teams to ensure business continuity</a:t>
                </a:r>
              </a:p>
              <a:p>
                <a:pPr marL="171450" lvl="1" indent="-171450">
                  <a:buBlip>
                    <a:blip r:embed="rId2"/>
                  </a:buBlip>
                </a:pPr>
                <a:r>
                  <a:rPr lang="en-US" sz="1200">
                    <a:latin typeface="Lato" panose="020F0502020204030203" pitchFamily="34" charset="0"/>
                    <a:ea typeface="Lato" panose="020F0502020204030203" pitchFamily="34" charset="0"/>
                    <a:cs typeface="Lato" panose="020F0502020204030203" pitchFamily="34" charset="0"/>
                  </a:rPr>
                  <a:t>Eliminate delivery risk and stabilize ongoing programs</a:t>
                </a:r>
                <a:endParaRPr lang="en-GB" sz="1200">
                  <a:latin typeface="Lato" panose="020F0502020204030203" pitchFamily="34" charset="0"/>
                  <a:ea typeface="Lato" panose="020F0502020204030203" pitchFamily="34" charset="0"/>
                  <a:cs typeface="Lato" panose="020F0502020204030203" pitchFamily="34" charset="0"/>
                </a:endParaRPr>
              </a:p>
            </p:txBody>
          </p:sp>
          <p:sp>
            <p:nvSpPr>
              <p:cNvPr id="21" name="TextBox 20">
                <a:extLst>
                  <a:ext uri="{FF2B5EF4-FFF2-40B4-BE49-F238E27FC236}">
                    <a16:creationId xmlns:a16="http://schemas.microsoft.com/office/drawing/2014/main" id="{87DA8382-F2F1-1803-09C3-B47F9AF2844F}"/>
                  </a:ext>
                </a:extLst>
              </p:cNvPr>
              <p:cNvSpPr txBox="1"/>
              <p:nvPr/>
            </p:nvSpPr>
            <p:spPr>
              <a:xfrm>
                <a:off x="2035497" y="2709620"/>
                <a:ext cx="1785239" cy="461665"/>
              </a:xfrm>
              <a:prstGeom prst="rect">
                <a:avLst/>
              </a:prstGeom>
              <a:noFill/>
            </p:spPr>
            <p:txBody>
              <a:bodyPr wrap="square">
                <a:spAutoFit/>
              </a:bodyPr>
              <a:lstStyle>
                <a:defPPr>
                  <a:defRPr lang="en-US"/>
                </a:defPPr>
                <a:lvl1pPr lvl="0" algn="ctr">
                  <a:defRPr sz="1200" b="1">
                    <a:solidFill>
                      <a:srgbClr val="0070C0"/>
                    </a:solidFill>
                    <a:latin typeface="Lato" panose="020F0502020204030203" pitchFamily="34" charset="0"/>
                    <a:ea typeface="Lato" panose="020F0502020204030203" pitchFamily="34" charset="0"/>
                    <a:cs typeface="Lato" panose="020F0502020204030203" pitchFamily="34" charset="0"/>
                  </a:defRPr>
                </a:lvl1pPr>
              </a:lstStyle>
              <a:p>
                <a:r>
                  <a:rPr lang="en-IN"/>
                  <a:t>Phase 1: Stabilize &amp; Consolidate (Year 0–1)</a:t>
                </a:r>
              </a:p>
            </p:txBody>
          </p:sp>
          <p:pic>
            <p:nvPicPr>
              <p:cNvPr id="24" name="Picture 23">
                <a:extLst>
                  <a:ext uri="{FF2B5EF4-FFF2-40B4-BE49-F238E27FC236}">
                    <a16:creationId xmlns:a16="http://schemas.microsoft.com/office/drawing/2014/main" id="{AA40DF27-41C1-8F56-1C92-701E97DFE961}"/>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rcRect/>
              <a:stretch/>
            </p:blipFill>
            <p:spPr>
              <a:xfrm>
                <a:off x="1361488" y="2704831"/>
                <a:ext cx="384646" cy="384646"/>
              </a:xfrm>
              <a:prstGeom prst="rect">
                <a:avLst/>
              </a:prstGeom>
            </p:spPr>
          </p:pic>
          <p:sp>
            <p:nvSpPr>
              <p:cNvPr id="31" name="Rectangle: Rounded Corners 30">
                <a:extLst>
                  <a:ext uri="{FF2B5EF4-FFF2-40B4-BE49-F238E27FC236}">
                    <a16:creationId xmlns:a16="http://schemas.microsoft.com/office/drawing/2014/main" id="{532A907F-3CAD-C28C-69B3-A86F40D4CCA5}"/>
                  </a:ext>
                </a:extLst>
              </p:cNvPr>
              <p:cNvSpPr/>
              <p:nvPr/>
            </p:nvSpPr>
            <p:spPr>
              <a:xfrm>
                <a:off x="1394703" y="5090274"/>
                <a:ext cx="2584800" cy="849518"/>
              </a:xfrm>
              <a:prstGeom prst="roundRect">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538F0450-1C4F-C198-D866-0513BD07A445}"/>
                  </a:ext>
                </a:extLst>
              </p:cNvPr>
              <p:cNvSpPr txBox="1"/>
              <p:nvPr/>
            </p:nvSpPr>
            <p:spPr>
              <a:xfrm>
                <a:off x="1460209" y="5100428"/>
                <a:ext cx="2568081" cy="646331"/>
              </a:xfrm>
              <a:prstGeom prst="rect">
                <a:avLst/>
              </a:prstGeom>
              <a:noFill/>
            </p:spPr>
            <p:txBody>
              <a:bodyPr wrap="square">
                <a:spAutoFit/>
              </a:bodyPr>
              <a:lstStyle/>
              <a:p>
                <a:pPr>
                  <a:buNone/>
                </a:pPr>
                <a:r>
                  <a:rPr lang="en-US" sz="1200" b="1">
                    <a:latin typeface="Lato" panose="020F0502020204030203" pitchFamily="34" charset="0"/>
                    <a:ea typeface="Lato" panose="020F0502020204030203" pitchFamily="34" charset="0"/>
                    <a:cs typeface="Lato" panose="020F0502020204030203" pitchFamily="34" charset="0"/>
                  </a:rPr>
                  <a:t>Outcome:</a:t>
                </a:r>
                <a:r>
                  <a:rPr lang="en-US" sz="1200">
                    <a:latin typeface="Lato" panose="020F0502020204030203" pitchFamily="34" charset="0"/>
                    <a:ea typeface="Lato" panose="020F0502020204030203" pitchFamily="34" charset="0"/>
                    <a:cs typeface="Lato" panose="020F0502020204030203" pitchFamily="34" charset="0"/>
                  </a:rPr>
                  <a:t> </a:t>
                </a:r>
              </a:p>
              <a:p>
                <a:pPr>
                  <a:buNone/>
                </a:pPr>
                <a:r>
                  <a:rPr lang="en-US" sz="1200">
                    <a:latin typeface="Lato" panose="020F0502020204030203" pitchFamily="34" charset="0"/>
                    <a:ea typeface="Lato" panose="020F0502020204030203" pitchFamily="34" charset="0"/>
                    <a:cs typeface="Lato" panose="020F0502020204030203" pitchFamily="34" charset="0"/>
                  </a:rPr>
                  <a:t>Stable delivery foundation with minimal disruption</a:t>
                </a:r>
              </a:p>
            </p:txBody>
          </p:sp>
        </p:grpSp>
        <p:grpSp>
          <p:nvGrpSpPr>
            <p:cNvPr id="37" name="Group 36">
              <a:extLst>
                <a:ext uri="{FF2B5EF4-FFF2-40B4-BE49-F238E27FC236}">
                  <a16:creationId xmlns:a16="http://schemas.microsoft.com/office/drawing/2014/main" id="{C0FC0B71-2E36-EE35-F8C4-2C90B455B7B3}"/>
                </a:ext>
              </a:extLst>
            </p:cNvPr>
            <p:cNvGrpSpPr/>
            <p:nvPr/>
          </p:nvGrpSpPr>
          <p:grpSpPr>
            <a:xfrm>
              <a:off x="4530202" y="2536425"/>
              <a:ext cx="2807073" cy="3389052"/>
              <a:chOff x="4114678" y="2559286"/>
              <a:chExt cx="2807073" cy="3389052"/>
            </a:xfrm>
          </p:grpSpPr>
          <p:sp>
            <p:nvSpPr>
              <p:cNvPr id="10" name="Freeform: Shape 26">
                <a:extLst>
                  <a:ext uri="{FF2B5EF4-FFF2-40B4-BE49-F238E27FC236}">
                    <a16:creationId xmlns:a16="http://schemas.microsoft.com/office/drawing/2014/main" id="{CBB5C801-B5FB-792F-CA45-D3C964F8D31B}"/>
                  </a:ext>
                </a:extLst>
              </p:cNvPr>
              <p:cNvSpPr/>
              <p:nvPr/>
            </p:nvSpPr>
            <p:spPr>
              <a:xfrm>
                <a:off x="4264983" y="2559286"/>
                <a:ext cx="2594407" cy="3389052"/>
              </a:xfrm>
              <a:custGeom>
                <a:avLst/>
                <a:gdLst>
                  <a:gd name="connsiteX0" fmla="*/ 1685400 w 1794101"/>
                  <a:gd name="connsiteY0" fmla="*/ 0 h 1794100"/>
                  <a:gd name="connsiteX1" fmla="*/ 1794101 w 1794101"/>
                  <a:gd name="connsiteY1" fmla="*/ 108701 h 1794100"/>
                  <a:gd name="connsiteX2" fmla="*/ 1794101 w 1794101"/>
                  <a:gd name="connsiteY2" fmla="*/ 1685400 h 1794100"/>
                  <a:gd name="connsiteX3" fmla="*/ 1685400 w 1794101"/>
                  <a:gd name="connsiteY3" fmla="*/ 1794101 h 1794100"/>
                  <a:gd name="connsiteX4" fmla="*/ 108701 w 1794101"/>
                  <a:gd name="connsiteY4" fmla="*/ 1794101 h 1794100"/>
                  <a:gd name="connsiteX5" fmla="*/ 0 w 1794101"/>
                  <a:gd name="connsiteY5" fmla="*/ 1685400 h 1794100"/>
                  <a:gd name="connsiteX6" fmla="*/ 0 w 1794101"/>
                  <a:gd name="connsiteY6" fmla="*/ 108702 h 1794100"/>
                  <a:gd name="connsiteX7" fmla="*/ 108701 w 1794101"/>
                  <a:gd name="connsiteY7" fmla="*/ 0 h 1794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4101" h="1794100">
                    <a:moveTo>
                      <a:pt x="1685400" y="0"/>
                    </a:moveTo>
                    <a:cubicBezTo>
                      <a:pt x="1745434" y="0"/>
                      <a:pt x="1794101" y="48667"/>
                      <a:pt x="1794101" y="108701"/>
                    </a:cubicBezTo>
                    <a:lnTo>
                      <a:pt x="1794101" y="1685400"/>
                    </a:lnTo>
                    <a:cubicBezTo>
                      <a:pt x="1794101" y="1745434"/>
                      <a:pt x="1745434" y="1794101"/>
                      <a:pt x="1685400" y="1794101"/>
                    </a:cubicBezTo>
                    <a:lnTo>
                      <a:pt x="108701" y="1794101"/>
                    </a:lnTo>
                    <a:cubicBezTo>
                      <a:pt x="48667" y="1794101"/>
                      <a:pt x="0" y="1745434"/>
                      <a:pt x="0" y="1685400"/>
                    </a:cubicBezTo>
                    <a:lnTo>
                      <a:pt x="0" y="108702"/>
                    </a:lnTo>
                    <a:cubicBezTo>
                      <a:pt x="0" y="48667"/>
                      <a:pt x="48667" y="0"/>
                      <a:pt x="108701" y="0"/>
                    </a:cubicBezTo>
                    <a:close/>
                  </a:path>
                </a:pathLst>
              </a:custGeom>
              <a:solidFill>
                <a:srgbClr val="FFFFFF"/>
              </a:solidFill>
              <a:ln w="3148" cap="flat">
                <a:solidFill>
                  <a:srgbClr val="00B0F0"/>
                </a:solidFill>
                <a:prstDash val="solid"/>
                <a:miter/>
              </a:ln>
            </p:spPr>
            <p:txBody>
              <a:bodyPr rtlCol="0" anchor="ctr"/>
              <a:lstStyle/>
              <a:p>
                <a:endParaRPr lang="en-US"/>
              </a:p>
            </p:txBody>
          </p:sp>
          <p:sp>
            <p:nvSpPr>
              <p:cNvPr id="11" name="Freeform: Shape 27">
                <a:extLst>
                  <a:ext uri="{FF2B5EF4-FFF2-40B4-BE49-F238E27FC236}">
                    <a16:creationId xmlns:a16="http://schemas.microsoft.com/office/drawing/2014/main" id="{A242E24B-C675-6E42-30AF-418A80887F1E}"/>
                  </a:ext>
                </a:extLst>
              </p:cNvPr>
              <p:cNvSpPr/>
              <p:nvPr/>
            </p:nvSpPr>
            <p:spPr>
              <a:xfrm>
                <a:off x="4205932" y="2675216"/>
                <a:ext cx="672632" cy="459843"/>
              </a:xfrm>
              <a:custGeom>
                <a:avLst/>
                <a:gdLst>
                  <a:gd name="connsiteX0" fmla="*/ 442711 w 672632"/>
                  <a:gd name="connsiteY0" fmla="*/ 0 h 459843"/>
                  <a:gd name="connsiteX1" fmla="*/ 0 w 672632"/>
                  <a:gd name="connsiteY1" fmla="*/ 0 h 459843"/>
                  <a:gd name="connsiteX2" fmla="*/ 0 w 672632"/>
                  <a:gd name="connsiteY2" fmla="*/ 459843 h 459843"/>
                  <a:gd name="connsiteX3" fmla="*/ 442711 w 672632"/>
                  <a:gd name="connsiteY3" fmla="*/ 459843 h 459843"/>
                  <a:gd name="connsiteX4" fmla="*/ 672633 w 672632"/>
                  <a:gd name="connsiteY4" fmla="*/ 229922 h 459843"/>
                  <a:gd name="connsiteX5" fmla="*/ 442711 w 672632"/>
                  <a:gd name="connsiteY5" fmla="*/ 0 h 459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2632" h="459843">
                    <a:moveTo>
                      <a:pt x="442711" y="0"/>
                    </a:moveTo>
                    <a:lnTo>
                      <a:pt x="0" y="0"/>
                    </a:lnTo>
                    <a:lnTo>
                      <a:pt x="0" y="459843"/>
                    </a:lnTo>
                    <a:lnTo>
                      <a:pt x="442711" y="459843"/>
                    </a:lnTo>
                    <a:cubicBezTo>
                      <a:pt x="569694" y="459843"/>
                      <a:pt x="672633" y="356905"/>
                      <a:pt x="672633" y="229922"/>
                    </a:cubicBezTo>
                    <a:cubicBezTo>
                      <a:pt x="672633" y="102938"/>
                      <a:pt x="569694" y="0"/>
                      <a:pt x="442711" y="0"/>
                    </a:cubicBezTo>
                    <a:close/>
                  </a:path>
                </a:pathLst>
              </a:custGeom>
              <a:solidFill>
                <a:srgbClr val="4D4D4D"/>
              </a:solidFill>
              <a:ln w="1574" cap="flat">
                <a:noFill/>
                <a:prstDash val="solid"/>
                <a:miter/>
              </a:ln>
            </p:spPr>
            <p:txBody>
              <a:bodyPr rtlCol="0" anchor="ctr"/>
              <a:lstStyle/>
              <a:p>
                <a:endParaRPr lang="en-US"/>
              </a:p>
            </p:txBody>
          </p:sp>
          <p:sp>
            <p:nvSpPr>
              <p:cNvPr id="12" name="Freeform: Shape 28">
                <a:extLst>
                  <a:ext uri="{FF2B5EF4-FFF2-40B4-BE49-F238E27FC236}">
                    <a16:creationId xmlns:a16="http://schemas.microsoft.com/office/drawing/2014/main" id="{3205A495-05F3-C554-EFC0-6652ABFE9EB7}"/>
                  </a:ext>
                </a:extLst>
              </p:cNvPr>
              <p:cNvSpPr/>
              <p:nvPr/>
            </p:nvSpPr>
            <p:spPr>
              <a:xfrm>
                <a:off x="4114678" y="3137595"/>
                <a:ext cx="149990" cy="107315"/>
              </a:xfrm>
              <a:custGeom>
                <a:avLst/>
                <a:gdLst>
                  <a:gd name="connsiteX0" fmla="*/ 0 w 149990"/>
                  <a:gd name="connsiteY0" fmla="*/ 189 h 107315"/>
                  <a:gd name="connsiteX1" fmla="*/ 149503 w 149990"/>
                  <a:gd name="connsiteY1" fmla="*/ 107316 h 107315"/>
                  <a:gd name="connsiteX2" fmla="*/ 149990 w 149990"/>
                  <a:gd name="connsiteY2" fmla="*/ 0 h 107315"/>
                  <a:gd name="connsiteX3" fmla="*/ 16 w 149990"/>
                  <a:gd name="connsiteY3" fmla="*/ 189 h 107315"/>
                </a:gdLst>
                <a:ahLst/>
                <a:cxnLst>
                  <a:cxn ang="0">
                    <a:pos x="connsiteX0" y="connsiteY0"/>
                  </a:cxn>
                  <a:cxn ang="0">
                    <a:pos x="connsiteX1" y="connsiteY1"/>
                  </a:cxn>
                  <a:cxn ang="0">
                    <a:pos x="connsiteX2" y="connsiteY2"/>
                  </a:cxn>
                  <a:cxn ang="0">
                    <a:pos x="connsiteX3" y="connsiteY3"/>
                  </a:cxn>
                </a:cxnLst>
                <a:rect l="l" t="t" r="r" b="b"/>
                <a:pathLst>
                  <a:path w="149990" h="107315">
                    <a:moveTo>
                      <a:pt x="0" y="189"/>
                    </a:moveTo>
                    <a:cubicBezTo>
                      <a:pt x="30801" y="97946"/>
                      <a:pt x="149503" y="107316"/>
                      <a:pt x="149503" y="107316"/>
                    </a:cubicBezTo>
                    <a:lnTo>
                      <a:pt x="149990" y="0"/>
                    </a:lnTo>
                    <a:lnTo>
                      <a:pt x="16" y="189"/>
                    </a:lnTo>
                    <a:close/>
                  </a:path>
                </a:pathLst>
              </a:custGeom>
              <a:solidFill>
                <a:srgbClr val="247BD1"/>
              </a:solidFill>
              <a:ln w="1574" cap="flat">
                <a:noFill/>
                <a:prstDash val="solid"/>
                <a:miter/>
              </a:ln>
            </p:spPr>
            <p:txBody>
              <a:bodyPr rtlCol="0" anchor="ctr"/>
              <a:lstStyle/>
              <a:p>
                <a:endParaRPr lang="en-US"/>
              </a:p>
            </p:txBody>
          </p:sp>
          <p:sp>
            <p:nvSpPr>
              <p:cNvPr id="13" name="Freeform: Shape 29">
                <a:extLst>
                  <a:ext uri="{FF2B5EF4-FFF2-40B4-BE49-F238E27FC236}">
                    <a16:creationId xmlns:a16="http://schemas.microsoft.com/office/drawing/2014/main" id="{02E5137D-7269-0826-ABDA-A814825EE225}"/>
                  </a:ext>
                </a:extLst>
              </p:cNvPr>
              <p:cNvSpPr/>
              <p:nvPr/>
            </p:nvSpPr>
            <p:spPr>
              <a:xfrm>
                <a:off x="4114678" y="2672665"/>
                <a:ext cx="767587" cy="465118"/>
              </a:xfrm>
              <a:custGeom>
                <a:avLst/>
                <a:gdLst>
                  <a:gd name="connsiteX0" fmla="*/ 535146 w 767587"/>
                  <a:gd name="connsiteY0" fmla="*/ 16 h 465118"/>
                  <a:gd name="connsiteX1" fmla="*/ 103285 w 767587"/>
                  <a:gd name="connsiteY1" fmla="*/ 362 h 465118"/>
                  <a:gd name="connsiteX2" fmla="*/ 0 w 767587"/>
                  <a:gd name="connsiteY2" fmla="*/ 103725 h 465118"/>
                  <a:gd name="connsiteX3" fmla="*/ 0 w 767587"/>
                  <a:gd name="connsiteY3" fmla="*/ 465119 h 465118"/>
                  <a:gd name="connsiteX4" fmla="*/ 146432 w 767587"/>
                  <a:gd name="connsiteY4" fmla="*/ 464930 h 465118"/>
                  <a:gd name="connsiteX5" fmla="*/ 532910 w 767587"/>
                  <a:gd name="connsiteY5" fmla="*/ 464930 h 465118"/>
                  <a:gd name="connsiteX6" fmla="*/ 767587 w 767587"/>
                  <a:gd name="connsiteY6" fmla="*/ 232583 h 465118"/>
                  <a:gd name="connsiteX7" fmla="*/ 535130 w 767587"/>
                  <a:gd name="connsiteY7" fmla="*/ 0 h 46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7587" h="465118">
                    <a:moveTo>
                      <a:pt x="535146" y="16"/>
                    </a:moveTo>
                    <a:lnTo>
                      <a:pt x="103285" y="362"/>
                    </a:lnTo>
                    <a:cubicBezTo>
                      <a:pt x="46234" y="409"/>
                      <a:pt x="0" y="46674"/>
                      <a:pt x="0" y="103725"/>
                    </a:cubicBezTo>
                    <a:lnTo>
                      <a:pt x="0" y="465119"/>
                    </a:lnTo>
                    <a:lnTo>
                      <a:pt x="146432" y="464930"/>
                    </a:lnTo>
                    <a:lnTo>
                      <a:pt x="532910" y="464930"/>
                    </a:lnTo>
                    <a:cubicBezTo>
                      <a:pt x="661610" y="464930"/>
                      <a:pt x="767524" y="361283"/>
                      <a:pt x="767587" y="232583"/>
                    </a:cubicBezTo>
                    <a:cubicBezTo>
                      <a:pt x="767650" y="104151"/>
                      <a:pt x="663547" y="0"/>
                      <a:pt x="535130" y="0"/>
                    </a:cubicBezTo>
                    <a:close/>
                  </a:path>
                </a:pathLst>
              </a:custGeom>
              <a:solidFill>
                <a:srgbClr val="0070C0"/>
              </a:solidFill>
              <a:ln w="1574" cap="flat">
                <a:noFill/>
                <a:prstDash val="solid"/>
                <a:miter/>
              </a:ln>
            </p:spPr>
            <p:txBody>
              <a:bodyPr rtlCol="0" anchor="ctr"/>
              <a:lstStyle/>
              <a:p>
                <a:endParaRPr lang="en-US"/>
              </a:p>
            </p:txBody>
          </p:sp>
          <p:sp>
            <p:nvSpPr>
              <p:cNvPr id="19" name="TextBox 18">
                <a:extLst>
                  <a:ext uri="{FF2B5EF4-FFF2-40B4-BE49-F238E27FC236}">
                    <a16:creationId xmlns:a16="http://schemas.microsoft.com/office/drawing/2014/main" id="{C4851CCF-A2A1-748C-05D1-414B96E6711D}"/>
                  </a:ext>
                </a:extLst>
              </p:cNvPr>
              <p:cNvSpPr txBox="1"/>
              <p:nvPr/>
            </p:nvSpPr>
            <p:spPr>
              <a:xfrm>
                <a:off x="4264668" y="3286543"/>
                <a:ext cx="2594838" cy="1384995"/>
              </a:xfrm>
              <a:prstGeom prst="rect">
                <a:avLst/>
              </a:prstGeom>
              <a:noFill/>
            </p:spPr>
            <p:txBody>
              <a:bodyPr wrap="square" rtlCol="0" anchor="t">
                <a:spAutoFit/>
              </a:bodyPr>
              <a:lstStyle/>
              <a:p>
                <a:pPr marL="171450" lvl="1" indent="-171450">
                  <a:buBlip>
                    <a:blip r:embed="rId2"/>
                  </a:buBlip>
                </a:pPr>
                <a:r>
                  <a:rPr lang="en-US" sz="1200">
                    <a:latin typeface="Lato" panose="020F0502020204030203" pitchFamily="34" charset="0"/>
                    <a:ea typeface="Lato" panose="020F0502020204030203" pitchFamily="34" charset="0"/>
                    <a:cs typeface="Lato" panose="020F0502020204030203" pitchFamily="34" charset="0"/>
                  </a:rPr>
                  <a:t>Standardize processes, tools, and engineering practices aligned to Lantern’s Canada/US culture</a:t>
                </a:r>
              </a:p>
              <a:p>
                <a:pPr marL="171450" lvl="1" indent="-171450">
                  <a:buBlip>
                    <a:blip r:embed="rId2"/>
                  </a:buBlip>
                </a:pPr>
                <a:r>
                  <a:rPr lang="en-US" sz="1200">
                    <a:latin typeface="Lato" panose="020F0502020204030203" pitchFamily="34" charset="0"/>
                    <a:ea typeface="Lato" panose="020F0502020204030203" pitchFamily="34" charset="0"/>
                    <a:cs typeface="Lato" panose="020F0502020204030203" pitchFamily="34" charset="0"/>
                  </a:rPr>
                  <a:t>Build leadership, governance, and operating rigor in India</a:t>
                </a:r>
              </a:p>
              <a:p>
                <a:pPr marL="171450" lvl="1" indent="-171450">
                  <a:buBlip>
                    <a:blip r:embed="rId2"/>
                  </a:buBlip>
                </a:pPr>
                <a:r>
                  <a:rPr lang="en-US" sz="1200">
                    <a:latin typeface="Lato" panose="020F0502020204030203" pitchFamily="34" charset="0"/>
                    <a:ea typeface="Lato" panose="020F0502020204030203" pitchFamily="34" charset="0"/>
                    <a:cs typeface="Lato" panose="020F0502020204030203" pitchFamily="34" charset="0"/>
                  </a:rPr>
                  <a:t>Establish domain ownership and delivery excellence</a:t>
                </a:r>
                <a:endParaRPr lang="en-GB" sz="1200">
                  <a:latin typeface="Lato" panose="020F0502020204030203" pitchFamily="34" charset="0"/>
                  <a:ea typeface="Lato" panose="020F0502020204030203" pitchFamily="34" charset="0"/>
                  <a:cs typeface="Lato" panose="020F0502020204030203" pitchFamily="34" charset="0"/>
                </a:endParaRPr>
              </a:p>
            </p:txBody>
          </p:sp>
          <p:sp>
            <p:nvSpPr>
              <p:cNvPr id="22" name="TextBox 21">
                <a:extLst>
                  <a:ext uri="{FF2B5EF4-FFF2-40B4-BE49-F238E27FC236}">
                    <a16:creationId xmlns:a16="http://schemas.microsoft.com/office/drawing/2014/main" id="{952D7FB1-AAEF-0E35-F444-51DEC515A756}"/>
                  </a:ext>
                </a:extLst>
              </p:cNvPr>
              <p:cNvSpPr txBox="1"/>
              <p:nvPr/>
            </p:nvSpPr>
            <p:spPr>
              <a:xfrm>
                <a:off x="4788508" y="2709620"/>
                <a:ext cx="1955192" cy="461665"/>
              </a:xfrm>
              <a:prstGeom prst="rect">
                <a:avLst/>
              </a:prstGeom>
              <a:noFill/>
            </p:spPr>
            <p:txBody>
              <a:bodyPr wrap="square">
                <a:spAutoFit/>
              </a:bodyPr>
              <a:lstStyle>
                <a:defPPr>
                  <a:defRPr lang="en-US"/>
                </a:defPPr>
                <a:lvl1pPr lvl="0" algn="ctr">
                  <a:defRPr sz="1200" b="1">
                    <a:solidFill>
                      <a:srgbClr val="0070C0"/>
                    </a:solidFill>
                    <a:latin typeface="Lato" panose="020F0502020204030203" pitchFamily="34" charset="0"/>
                    <a:ea typeface="Lato" panose="020F0502020204030203" pitchFamily="34" charset="0"/>
                    <a:cs typeface="Lato" panose="020F0502020204030203" pitchFamily="34" charset="0"/>
                  </a:defRPr>
                </a:lvl1pPr>
              </a:lstStyle>
              <a:p>
                <a:r>
                  <a:rPr lang="en-US"/>
                  <a:t>Phase 2: Standardize &amp; Operate (Year 1–2)</a:t>
                </a:r>
                <a:endParaRPr lang="en-IN"/>
              </a:p>
            </p:txBody>
          </p:sp>
          <p:pic>
            <p:nvPicPr>
              <p:cNvPr id="25" name="Picture 24">
                <a:extLst>
                  <a:ext uri="{FF2B5EF4-FFF2-40B4-BE49-F238E27FC236}">
                    <a16:creationId xmlns:a16="http://schemas.microsoft.com/office/drawing/2014/main" id="{AEDBAF37-52D3-5E3D-A65F-C4F9B1FE5652}"/>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100000"/>
                        </a14:imgEffect>
                      </a14:imgLayer>
                    </a14:imgProps>
                  </a:ext>
                </a:extLst>
              </a:blip>
              <a:srcRect/>
              <a:stretch/>
            </p:blipFill>
            <p:spPr>
              <a:xfrm>
                <a:off x="4222352" y="2699688"/>
                <a:ext cx="431563" cy="431563"/>
              </a:xfrm>
              <a:prstGeom prst="rect">
                <a:avLst/>
              </a:prstGeom>
            </p:spPr>
          </p:pic>
          <p:sp>
            <p:nvSpPr>
              <p:cNvPr id="32" name="Rectangle: Rounded Corners 31">
                <a:extLst>
                  <a:ext uri="{FF2B5EF4-FFF2-40B4-BE49-F238E27FC236}">
                    <a16:creationId xmlns:a16="http://schemas.microsoft.com/office/drawing/2014/main" id="{7FE2C11D-FAA0-BE43-DB7F-04F375564053}"/>
                  </a:ext>
                </a:extLst>
              </p:cNvPr>
              <p:cNvSpPr/>
              <p:nvPr/>
            </p:nvSpPr>
            <p:spPr>
              <a:xfrm>
                <a:off x="4288164" y="5090274"/>
                <a:ext cx="2584800" cy="849518"/>
              </a:xfrm>
              <a:prstGeom prst="roundRect">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F50EBCF7-303A-B99A-0FA5-10A1CEB18E22}"/>
                  </a:ext>
                </a:extLst>
              </p:cNvPr>
              <p:cNvSpPr txBox="1"/>
              <p:nvPr/>
            </p:nvSpPr>
            <p:spPr>
              <a:xfrm>
                <a:off x="4353670" y="5100428"/>
                <a:ext cx="2568081" cy="830997"/>
              </a:xfrm>
              <a:prstGeom prst="rect">
                <a:avLst/>
              </a:prstGeom>
              <a:noFill/>
            </p:spPr>
            <p:txBody>
              <a:bodyPr wrap="square">
                <a:spAutoFit/>
              </a:bodyPr>
              <a:lstStyle/>
              <a:p>
                <a:pPr>
                  <a:buNone/>
                </a:pPr>
                <a:r>
                  <a:rPr lang="en-US" sz="1200" b="1">
                    <a:latin typeface="Lato" panose="020F0502020204030203" pitchFamily="34" charset="0"/>
                    <a:ea typeface="Lato" panose="020F0502020204030203" pitchFamily="34" charset="0"/>
                    <a:cs typeface="Lato" panose="020F0502020204030203" pitchFamily="34" charset="0"/>
                  </a:rPr>
                  <a:t>Outcome:</a:t>
                </a:r>
                <a:r>
                  <a:rPr lang="en-US" sz="1200">
                    <a:latin typeface="Lato" panose="020F0502020204030203" pitchFamily="34" charset="0"/>
                    <a:ea typeface="Lato" panose="020F0502020204030203" pitchFamily="34" charset="0"/>
                    <a:cs typeface="Lato" panose="020F0502020204030203" pitchFamily="34" charset="0"/>
                  </a:rPr>
                  <a:t> </a:t>
                </a:r>
              </a:p>
              <a:p>
                <a:pPr>
                  <a:buNone/>
                </a:pPr>
                <a:r>
                  <a:rPr lang="en-US" sz="1200">
                    <a:latin typeface="Lato" panose="020F0502020204030203" pitchFamily="34" charset="0"/>
                    <a:ea typeface="Lato" panose="020F0502020204030203" pitchFamily="34" charset="0"/>
                    <a:cs typeface="Lato" panose="020F0502020204030203" pitchFamily="34" charset="0"/>
                  </a:rPr>
                  <a:t>Mature India delivery organization operating as an extension of Lantern’s core teams</a:t>
                </a:r>
              </a:p>
            </p:txBody>
          </p:sp>
        </p:grpSp>
        <p:grpSp>
          <p:nvGrpSpPr>
            <p:cNvPr id="38" name="Group 37">
              <a:extLst>
                <a:ext uri="{FF2B5EF4-FFF2-40B4-BE49-F238E27FC236}">
                  <a16:creationId xmlns:a16="http://schemas.microsoft.com/office/drawing/2014/main" id="{DF821D2D-33B1-AA07-9E80-BC721E27F47A}"/>
                </a:ext>
              </a:extLst>
            </p:cNvPr>
            <p:cNvGrpSpPr/>
            <p:nvPr/>
          </p:nvGrpSpPr>
          <p:grpSpPr>
            <a:xfrm>
              <a:off x="7484857" y="2536425"/>
              <a:ext cx="2801505" cy="3389052"/>
              <a:chOff x="7130527" y="2565978"/>
              <a:chExt cx="2801505" cy="3389052"/>
            </a:xfrm>
          </p:grpSpPr>
          <p:sp>
            <p:nvSpPr>
              <p:cNvPr id="14" name="Freeform: Shape 30">
                <a:extLst>
                  <a:ext uri="{FF2B5EF4-FFF2-40B4-BE49-F238E27FC236}">
                    <a16:creationId xmlns:a16="http://schemas.microsoft.com/office/drawing/2014/main" id="{689BFA00-2AA3-4A22-AF29-91B40564F80C}"/>
                  </a:ext>
                </a:extLst>
              </p:cNvPr>
              <p:cNvSpPr/>
              <p:nvPr/>
            </p:nvSpPr>
            <p:spPr>
              <a:xfrm>
                <a:off x="7280832" y="2565978"/>
                <a:ext cx="2594407" cy="3389052"/>
              </a:xfrm>
              <a:custGeom>
                <a:avLst/>
                <a:gdLst>
                  <a:gd name="connsiteX0" fmla="*/ 1685401 w 1794101"/>
                  <a:gd name="connsiteY0" fmla="*/ 0 h 1794100"/>
                  <a:gd name="connsiteX1" fmla="*/ 1794102 w 1794101"/>
                  <a:gd name="connsiteY1" fmla="*/ 108701 h 1794100"/>
                  <a:gd name="connsiteX2" fmla="*/ 1794102 w 1794101"/>
                  <a:gd name="connsiteY2" fmla="*/ 1685400 h 1794100"/>
                  <a:gd name="connsiteX3" fmla="*/ 1685401 w 1794101"/>
                  <a:gd name="connsiteY3" fmla="*/ 1794101 h 1794100"/>
                  <a:gd name="connsiteX4" fmla="*/ 108702 w 1794101"/>
                  <a:gd name="connsiteY4" fmla="*/ 1794101 h 1794100"/>
                  <a:gd name="connsiteX5" fmla="*/ 1 w 1794101"/>
                  <a:gd name="connsiteY5" fmla="*/ 1685400 h 1794100"/>
                  <a:gd name="connsiteX6" fmla="*/ 1 w 1794101"/>
                  <a:gd name="connsiteY6" fmla="*/ 108702 h 1794100"/>
                  <a:gd name="connsiteX7" fmla="*/ 108702 w 1794101"/>
                  <a:gd name="connsiteY7" fmla="*/ 0 h 1794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4101" h="1794100">
                    <a:moveTo>
                      <a:pt x="1685401" y="0"/>
                    </a:moveTo>
                    <a:cubicBezTo>
                      <a:pt x="1745435" y="0"/>
                      <a:pt x="1794102" y="48667"/>
                      <a:pt x="1794102" y="108701"/>
                    </a:cubicBezTo>
                    <a:lnTo>
                      <a:pt x="1794102" y="1685400"/>
                    </a:lnTo>
                    <a:cubicBezTo>
                      <a:pt x="1794102" y="1745434"/>
                      <a:pt x="1745435" y="1794101"/>
                      <a:pt x="1685401" y="1794101"/>
                    </a:cubicBezTo>
                    <a:lnTo>
                      <a:pt x="108702" y="1794101"/>
                    </a:lnTo>
                    <a:cubicBezTo>
                      <a:pt x="48668" y="1794101"/>
                      <a:pt x="1" y="1745434"/>
                      <a:pt x="1" y="1685400"/>
                    </a:cubicBezTo>
                    <a:lnTo>
                      <a:pt x="1" y="108702"/>
                    </a:lnTo>
                    <a:cubicBezTo>
                      <a:pt x="1" y="48667"/>
                      <a:pt x="48668" y="0"/>
                      <a:pt x="108702" y="0"/>
                    </a:cubicBezTo>
                    <a:close/>
                  </a:path>
                </a:pathLst>
              </a:custGeom>
              <a:solidFill>
                <a:srgbClr val="FFFFFF"/>
              </a:solidFill>
              <a:ln w="3148" cap="flat">
                <a:solidFill>
                  <a:srgbClr val="00B0F0"/>
                </a:solidFill>
                <a:prstDash val="solid"/>
                <a:miter/>
              </a:ln>
            </p:spPr>
            <p:txBody>
              <a:bodyPr rtlCol="0" anchor="ctr"/>
              <a:lstStyle/>
              <a:p>
                <a:endParaRPr lang="en-US"/>
              </a:p>
            </p:txBody>
          </p:sp>
          <p:sp>
            <p:nvSpPr>
              <p:cNvPr id="15" name="Freeform: Shape 31">
                <a:extLst>
                  <a:ext uri="{FF2B5EF4-FFF2-40B4-BE49-F238E27FC236}">
                    <a16:creationId xmlns:a16="http://schemas.microsoft.com/office/drawing/2014/main" id="{4E6D2D9F-20C6-69DA-0852-9B29886B4C39}"/>
                  </a:ext>
                </a:extLst>
              </p:cNvPr>
              <p:cNvSpPr/>
              <p:nvPr/>
            </p:nvSpPr>
            <p:spPr>
              <a:xfrm>
                <a:off x="7221797" y="2681909"/>
                <a:ext cx="672632" cy="459843"/>
              </a:xfrm>
              <a:custGeom>
                <a:avLst/>
                <a:gdLst>
                  <a:gd name="connsiteX0" fmla="*/ 442710 w 672632"/>
                  <a:gd name="connsiteY0" fmla="*/ 0 h 459843"/>
                  <a:gd name="connsiteX1" fmla="*/ 0 w 672632"/>
                  <a:gd name="connsiteY1" fmla="*/ 0 h 459843"/>
                  <a:gd name="connsiteX2" fmla="*/ 0 w 672632"/>
                  <a:gd name="connsiteY2" fmla="*/ 459843 h 459843"/>
                  <a:gd name="connsiteX3" fmla="*/ 442710 w 672632"/>
                  <a:gd name="connsiteY3" fmla="*/ 459843 h 459843"/>
                  <a:gd name="connsiteX4" fmla="*/ 672633 w 672632"/>
                  <a:gd name="connsiteY4" fmla="*/ 229922 h 459843"/>
                  <a:gd name="connsiteX5" fmla="*/ 442710 w 672632"/>
                  <a:gd name="connsiteY5" fmla="*/ 0 h 459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2632" h="459843">
                    <a:moveTo>
                      <a:pt x="442710" y="0"/>
                    </a:moveTo>
                    <a:lnTo>
                      <a:pt x="0" y="0"/>
                    </a:lnTo>
                    <a:lnTo>
                      <a:pt x="0" y="459843"/>
                    </a:lnTo>
                    <a:lnTo>
                      <a:pt x="442710" y="459843"/>
                    </a:lnTo>
                    <a:cubicBezTo>
                      <a:pt x="569694" y="459843"/>
                      <a:pt x="672633" y="356905"/>
                      <a:pt x="672633" y="229922"/>
                    </a:cubicBezTo>
                    <a:cubicBezTo>
                      <a:pt x="672633" y="102938"/>
                      <a:pt x="569694" y="0"/>
                      <a:pt x="442710" y="0"/>
                    </a:cubicBezTo>
                    <a:close/>
                  </a:path>
                </a:pathLst>
              </a:custGeom>
              <a:solidFill>
                <a:srgbClr val="4D4D4D"/>
              </a:solidFill>
              <a:ln w="1574" cap="flat">
                <a:noFill/>
                <a:prstDash val="solid"/>
                <a:miter/>
              </a:ln>
            </p:spPr>
            <p:txBody>
              <a:bodyPr rtlCol="0" anchor="ctr"/>
              <a:lstStyle/>
              <a:p>
                <a:endParaRPr lang="en-US"/>
              </a:p>
            </p:txBody>
          </p:sp>
          <p:sp>
            <p:nvSpPr>
              <p:cNvPr id="16" name="Freeform: Shape 32">
                <a:extLst>
                  <a:ext uri="{FF2B5EF4-FFF2-40B4-BE49-F238E27FC236}">
                    <a16:creationId xmlns:a16="http://schemas.microsoft.com/office/drawing/2014/main" id="{F84FC57D-87AD-439D-8F12-E2CA7C1570D8}"/>
                  </a:ext>
                </a:extLst>
              </p:cNvPr>
              <p:cNvSpPr/>
              <p:nvPr/>
            </p:nvSpPr>
            <p:spPr>
              <a:xfrm>
                <a:off x="7130527" y="3144287"/>
                <a:ext cx="149990" cy="107315"/>
              </a:xfrm>
              <a:custGeom>
                <a:avLst/>
                <a:gdLst>
                  <a:gd name="connsiteX0" fmla="*/ 0 w 149990"/>
                  <a:gd name="connsiteY0" fmla="*/ 189 h 107315"/>
                  <a:gd name="connsiteX1" fmla="*/ 149502 w 149990"/>
                  <a:gd name="connsiteY1" fmla="*/ 107316 h 107315"/>
                  <a:gd name="connsiteX2" fmla="*/ 149990 w 149990"/>
                  <a:gd name="connsiteY2" fmla="*/ 0 h 107315"/>
                  <a:gd name="connsiteX3" fmla="*/ 15 w 149990"/>
                  <a:gd name="connsiteY3" fmla="*/ 189 h 107315"/>
                </a:gdLst>
                <a:ahLst/>
                <a:cxnLst>
                  <a:cxn ang="0">
                    <a:pos x="connsiteX0" y="connsiteY0"/>
                  </a:cxn>
                  <a:cxn ang="0">
                    <a:pos x="connsiteX1" y="connsiteY1"/>
                  </a:cxn>
                  <a:cxn ang="0">
                    <a:pos x="connsiteX2" y="connsiteY2"/>
                  </a:cxn>
                  <a:cxn ang="0">
                    <a:pos x="connsiteX3" y="connsiteY3"/>
                  </a:cxn>
                </a:cxnLst>
                <a:rect l="l" t="t" r="r" b="b"/>
                <a:pathLst>
                  <a:path w="149990" h="107315">
                    <a:moveTo>
                      <a:pt x="0" y="189"/>
                    </a:moveTo>
                    <a:cubicBezTo>
                      <a:pt x="30800" y="97946"/>
                      <a:pt x="149502" y="107316"/>
                      <a:pt x="149502" y="107316"/>
                    </a:cubicBezTo>
                    <a:lnTo>
                      <a:pt x="149990" y="0"/>
                    </a:lnTo>
                    <a:lnTo>
                      <a:pt x="15" y="189"/>
                    </a:lnTo>
                    <a:close/>
                  </a:path>
                </a:pathLst>
              </a:custGeom>
              <a:solidFill>
                <a:srgbClr val="247BD1"/>
              </a:solidFill>
              <a:ln w="1574" cap="flat">
                <a:noFill/>
                <a:prstDash val="solid"/>
                <a:miter/>
              </a:ln>
            </p:spPr>
            <p:txBody>
              <a:bodyPr rtlCol="0" anchor="ctr"/>
              <a:lstStyle/>
              <a:p>
                <a:endParaRPr lang="en-US"/>
              </a:p>
            </p:txBody>
          </p:sp>
          <p:sp>
            <p:nvSpPr>
              <p:cNvPr id="17" name="Freeform: Shape 33">
                <a:extLst>
                  <a:ext uri="{FF2B5EF4-FFF2-40B4-BE49-F238E27FC236}">
                    <a16:creationId xmlns:a16="http://schemas.microsoft.com/office/drawing/2014/main" id="{32C37CCE-54B7-A91C-392A-F355261DFADB}"/>
                  </a:ext>
                </a:extLst>
              </p:cNvPr>
              <p:cNvSpPr/>
              <p:nvPr/>
            </p:nvSpPr>
            <p:spPr>
              <a:xfrm>
                <a:off x="7130527" y="2679358"/>
                <a:ext cx="767586" cy="465118"/>
              </a:xfrm>
              <a:custGeom>
                <a:avLst/>
                <a:gdLst>
                  <a:gd name="connsiteX0" fmla="*/ 535146 w 767586"/>
                  <a:gd name="connsiteY0" fmla="*/ 16 h 465118"/>
                  <a:gd name="connsiteX1" fmla="*/ 103284 w 767586"/>
                  <a:gd name="connsiteY1" fmla="*/ 362 h 465118"/>
                  <a:gd name="connsiteX2" fmla="*/ 0 w 767586"/>
                  <a:gd name="connsiteY2" fmla="*/ 103725 h 465118"/>
                  <a:gd name="connsiteX3" fmla="*/ 0 w 767586"/>
                  <a:gd name="connsiteY3" fmla="*/ 465119 h 465118"/>
                  <a:gd name="connsiteX4" fmla="*/ 146431 w 767586"/>
                  <a:gd name="connsiteY4" fmla="*/ 464930 h 465118"/>
                  <a:gd name="connsiteX5" fmla="*/ 532910 w 767586"/>
                  <a:gd name="connsiteY5" fmla="*/ 464930 h 465118"/>
                  <a:gd name="connsiteX6" fmla="*/ 767587 w 767586"/>
                  <a:gd name="connsiteY6" fmla="*/ 232583 h 465118"/>
                  <a:gd name="connsiteX7" fmla="*/ 535129 w 767586"/>
                  <a:gd name="connsiteY7" fmla="*/ 0 h 46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7586" h="465118">
                    <a:moveTo>
                      <a:pt x="535146" y="16"/>
                    </a:moveTo>
                    <a:lnTo>
                      <a:pt x="103284" y="362"/>
                    </a:lnTo>
                    <a:cubicBezTo>
                      <a:pt x="46233" y="409"/>
                      <a:pt x="0" y="46674"/>
                      <a:pt x="0" y="103725"/>
                    </a:cubicBezTo>
                    <a:lnTo>
                      <a:pt x="0" y="465119"/>
                    </a:lnTo>
                    <a:lnTo>
                      <a:pt x="146431" y="464930"/>
                    </a:lnTo>
                    <a:lnTo>
                      <a:pt x="532910" y="464930"/>
                    </a:lnTo>
                    <a:cubicBezTo>
                      <a:pt x="661610" y="464930"/>
                      <a:pt x="767524" y="361283"/>
                      <a:pt x="767587" y="232583"/>
                    </a:cubicBezTo>
                    <a:cubicBezTo>
                      <a:pt x="767650" y="104151"/>
                      <a:pt x="663547" y="0"/>
                      <a:pt x="535129" y="0"/>
                    </a:cubicBezTo>
                    <a:close/>
                  </a:path>
                </a:pathLst>
              </a:custGeom>
              <a:solidFill>
                <a:srgbClr val="0070C0"/>
              </a:solidFill>
              <a:ln w="1574" cap="flat">
                <a:noFill/>
                <a:prstDash val="solid"/>
                <a:miter/>
              </a:ln>
            </p:spPr>
            <p:txBody>
              <a:bodyPr rtlCol="0" anchor="ctr"/>
              <a:lstStyle/>
              <a:p>
                <a:endParaRPr lang="en-US"/>
              </a:p>
            </p:txBody>
          </p:sp>
          <p:sp>
            <p:nvSpPr>
              <p:cNvPr id="20" name="TextBox 19">
                <a:extLst>
                  <a:ext uri="{FF2B5EF4-FFF2-40B4-BE49-F238E27FC236}">
                    <a16:creationId xmlns:a16="http://schemas.microsoft.com/office/drawing/2014/main" id="{056C13A6-D26B-1BD1-9E71-4114AF80B853}"/>
                  </a:ext>
                </a:extLst>
              </p:cNvPr>
              <p:cNvSpPr txBox="1"/>
              <p:nvPr/>
            </p:nvSpPr>
            <p:spPr>
              <a:xfrm>
                <a:off x="7280682" y="3286543"/>
                <a:ext cx="2594838" cy="1569660"/>
              </a:xfrm>
              <a:prstGeom prst="rect">
                <a:avLst/>
              </a:prstGeom>
              <a:noFill/>
            </p:spPr>
            <p:txBody>
              <a:bodyPr wrap="square" rtlCol="0" anchor="t">
                <a:spAutoFit/>
              </a:bodyPr>
              <a:lstStyle/>
              <a:p>
                <a:pPr marL="171450" lvl="1" indent="-171450">
                  <a:buBlip>
                    <a:blip r:embed="rId2"/>
                  </a:buBlip>
                </a:pPr>
                <a:r>
                  <a:rPr lang="en-US" sz="1200">
                    <a:latin typeface="Lato" panose="020F0502020204030203" pitchFamily="34" charset="0"/>
                    <a:ea typeface="Lato" panose="020F0502020204030203" pitchFamily="34" charset="0"/>
                    <a:cs typeface="Lato" panose="020F0502020204030203" pitchFamily="34" charset="0"/>
                  </a:rPr>
                  <a:t>Structured option to transition the India delivery unit to Lantern Pharma</a:t>
                </a:r>
              </a:p>
              <a:p>
                <a:pPr marL="171450" lvl="1" indent="-171450">
                  <a:buBlip>
                    <a:blip r:embed="rId2"/>
                  </a:buBlip>
                </a:pPr>
                <a:r>
                  <a:rPr lang="en-US" sz="1200">
                    <a:latin typeface="Lato" panose="020F0502020204030203" pitchFamily="34" charset="0"/>
                    <a:ea typeface="Lato" panose="020F0502020204030203" pitchFamily="34" charset="0"/>
                    <a:cs typeface="Lato" panose="020F0502020204030203" pitchFamily="34" charset="0"/>
                  </a:rPr>
                  <a:t>Knowledge, IP, and leadership transfer with minimal business impact</a:t>
                </a:r>
              </a:p>
              <a:p>
                <a:pPr marL="171450" lvl="1" indent="-171450">
                  <a:buBlip>
                    <a:blip r:embed="rId2"/>
                  </a:buBlip>
                </a:pPr>
                <a:r>
                  <a:rPr lang="en-US" sz="1200">
                    <a:latin typeface="Lato" panose="020F0502020204030203" pitchFamily="34" charset="0"/>
                    <a:ea typeface="Lato" panose="020F0502020204030203" pitchFamily="34" charset="0"/>
                    <a:cs typeface="Lato" panose="020F0502020204030203" pitchFamily="34" charset="0"/>
                  </a:rPr>
                  <a:t>Flexible BOT exit model based on Lantern’s strategic direction</a:t>
                </a:r>
                <a:endParaRPr lang="en-GB" sz="1200">
                  <a:latin typeface="Lato" panose="020F0502020204030203" pitchFamily="34" charset="0"/>
                  <a:ea typeface="Lato" panose="020F0502020204030203" pitchFamily="34" charset="0"/>
                  <a:cs typeface="Lato" panose="020F0502020204030203" pitchFamily="34" charset="0"/>
                </a:endParaRPr>
              </a:p>
            </p:txBody>
          </p:sp>
          <p:sp>
            <p:nvSpPr>
              <p:cNvPr id="23" name="TextBox 22">
                <a:extLst>
                  <a:ext uri="{FF2B5EF4-FFF2-40B4-BE49-F238E27FC236}">
                    <a16:creationId xmlns:a16="http://schemas.microsoft.com/office/drawing/2014/main" id="{C459152D-8310-191F-ECE4-20C29EFCE843}"/>
                  </a:ext>
                </a:extLst>
              </p:cNvPr>
              <p:cNvSpPr txBox="1"/>
              <p:nvPr/>
            </p:nvSpPr>
            <p:spPr>
              <a:xfrm>
                <a:off x="7814000" y="2709620"/>
                <a:ext cx="1947220" cy="461665"/>
              </a:xfrm>
              <a:prstGeom prst="rect">
                <a:avLst/>
              </a:prstGeom>
              <a:noFill/>
            </p:spPr>
            <p:txBody>
              <a:bodyPr wrap="square">
                <a:spAutoFit/>
              </a:bodyPr>
              <a:lstStyle>
                <a:defPPr>
                  <a:defRPr lang="en-US"/>
                </a:defPPr>
                <a:lvl1pPr lvl="0" algn="ctr">
                  <a:defRPr sz="1200" b="1">
                    <a:solidFill>
                      <a:srgbClr val="0070C0"/>
                    </a:solidFill>
                    <a:latin typeface="Lato" panose="020F0502020204030203" pitchFamily="34" charset="0"/>
                    <a:ea typeface="Lato" panose="020F0502020204030203" pitchFamily="34" charset="0"/>
                    <a:cs typeface="Lato" panose="020F0502020204030203" pitchFamily="34" charset="0"/>
                  </a:defRPr>
                </a:lvl1pPr>
              </a:lstStyle>
              <a:p>
                <a:r>
                  <a:rPr lang="en-US"/>
                  <a:t>Phase 3: Transfer Option – India </a:t>
                </a:r>
                <a:r>
                  <a:rPr lang="en-US" err="1"/>
                  <a:t>CoE</a:t>
                </a:r>
                <a:r>
                  <a:rPr lang="en-US"/>
                  <a:t> (Year 2–3)</a:t>
                </a:r>
                <a:endParaRPr lang="en-IN"/>
              </a:p>
            </p:txBody>
          </p:sp>
          <p:pic>
            <p:nvPicPr>
              <p:cNvPr id="26" name="Picture 25">
                <a:extLst>
                  <a:ext uri="{FF2B5EF4-FFF2-40B4-BE49-F238E27FC236}">
                    <a16:creationId xmlns:a16="http://schemas.microsoft.com/office/drawing/2014/main" id="{E1C126F1-F24D-75EB-A36A-6F607A862728}"/>
                  </a:ext>
                </a:extLst>
              </p:cNvPr>
              <p:cNvPicPr>
                <a:picLocks noChangeAspect="1"/>
              </p:cNvPicPr>
              <p:nvPr/>
            </p:nvPicPr>
            <p:blipFill>
              <a:blip r:embed="rId7">
                <a:extLst>
                  <a:ext uri="{BEBA8EAE-BF5A-486C-A8C5-ECC9F3942E4B}">
                    <a14:imgProps xmlns:a14="http://schemas.microsoft.com/office/drawing/2010/main">
                      <a14:imgLayer r:embed="rId8">
                        <a14:imgEffect>
                          <a14:brightnessContrast bright="100000"/>
                        </a14:imgEffect>
                      </a14:imgLayer>
                    </a14:imgProps>
                  </a:ext>
                </a:extLst>
              </a:blip>
              <a:srcRect/>
              <a:stretch/>
            </p:blipFill>
            <p:spPr>
              <a:xfrm>
                <a:off x="7259796" y="2717271"/>
                <a:ext cx="382870" cy="382870"/>
              </a:xfrm>
              <a:prstGeom prst="rect">
                <a:avLst/>
              </a:prstGeom>
            </p:spPr>
          </p:pic>
          <p:sp>
            <p:nvSpPr>
              <p:cNvPr id="34" name="Rectangle: Rounded Corners 33">
                <a:extLst>
                  <a:ext uri="{FF2B5EF4-FFF2-40B4-BE49-F238E27FC236}">
                    <a16:creationId xmlns:a16="http://schemas.microsoft.com/office/drawing/2014/main" id="{F3E2E968-02EE-99B6-0773-7B23DF29943D}"/>
                  </a:ext>
                </a:extLst>
              </p:cNvPr>
              <p:cNvSpPr/>
              <p:nvPr/>
            </p:nvSpPr>
            <p:spPr>
              <a:xfrm>
                <a:off x="7298445" y="5090274"/>
                <a:ext cx="2584800" cy="849518"/>
              </a:xfrm>
              <a:prstGeom prst="roundRect">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TextBox 34">
                <a:extLst>
                  <a:ext uri="{FF2B5EF4-FFF2-40B4-BE49-F238E27FC236}">
                    <a16:creationId xmlns:a16="http://schemas.microsoft.com/office/drawing/2014/main" id="{AC651EB9-11C7-FB65-007F-4E88C2ED5609}"/>
                  </a:ext>
                </a:extLst>
              </p:cNvPr>
              <p:cNvSpPr txBox="1"/>
              <p:nvPr/>
            </p:nvSpPr>
            <p:spPr>
              <a:xfrm>
                <a:off x="7363951" y="5123288"/>
                <a:ext cx="2568081" cy="830997"/>
              </a:xfrm>
              <a:prstGeom prst="rect">
                <a:avLst/>
              </a:prstGeom>
              <a:noFill/>
            </p:spPr>
            <p:txBody>
              <a:bodyPr wrap="square">
                <a:spAutoFit/>
              </a:bodyPr>
              <a:lstStyle/>
              <a:p>
                <a:pPr>
                  <a:buNone/>
                </a:pPr>
                <a:r>
                  <a:rPr lang="en-US" sz="1200" b="1">
                    <a:latin typeface="Lato" panose="020F0502020204030203" pitchFamily="34" charset="0"/>
                    <a:ea typeface="Lato" panose="020F0502020204030203" pitchFamily="34" charset="0"/>
                    <a:cs typeface="Lato" panose="020F0502020204030203" pitchFamily="34" charset="0"/>
                  </a:rPr>
                  <a:t>Outcome:</a:t>
                </a:r>
                <a:r>
                  <a:rPr lang="en-US" sz="1200">
                    <a:latin typeface="Lato" panose="020F0502020204030203" pitchFamily="34" charset="0"/>
                    <a:ea typeface="Lato" panose="020F0502020204030203" pitchFamily="34" charset="0"/>
                    <a:cs typeface="Lato" panose="020F0502020204030203" pitchFamily="34" charset="0"/>
                  </a:rPr>
                  <a:t> </a:t>
                </a:r>
              </a:p>
              <a:p>
                <a:pPr>
                  <a:buNone/>
                </a:pPr>
                <a:r>
                  <a:rPr lang="en-US" sz="1200">
                    <a:latin typeface="Lato" panose="020F0502020204030203" pitchFamily="34" charset="0"/>
                    <a:ea typeface="Lato" panose="020F0502020204030203" pitchFamily="34" charset="0"/>
                    <a:cs typeface="Lato" panose="020F0502020204030203" pitchFamily="34" charset="0"/>
                  </a:rPr>
                  <a:t>Lantern-owned India Center of Excellence (optional, not mandatory)</a:t>
                </a:r>
              </a:p>
            </p:txBody>
          </p:sp>
        </p:grpSp>
      </p:grpSp>
    </p:spTree>
    <p:extLst>
      <p:ext uri="{BB962C8B-B14F-4D97-AF65-F5344CB8AC3E}">
        <p14:creationId xmlns:p14="http://schemas.microsoft.com/office/powerpoint/2010/main" val="27750666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1CE22-1BB1-A739-FCC5-A5C986FAE885}"/>
              </a:ext>
            </a:extLst>
          </p:cNvPr>
          <p:cNvSpPr>
            <a:spLocks noGrp="1"/>
          </p:cNvSpPr>
          <p:nvPr>
            <p:ph type="title"/>
          </p:nvPr>
        </p:nvSpPr>
        <p:spPr/>
        <p:txBody>
          <a:bodyPr/>
          <a:lstStyle/>
          <a:p>
            <a:r>
              <a:rPr lang="en-IN"/>
              <a:t>Delivery Governance &amp; Operating Model</a:t>
            </a:r>
          </a:p>
        </p:txBody>
      </p:sp>
      <p:grpSp>
        <p:nvGrpSpPr>
          <p:cNvPr id="4" name="Group 3">
            <a:extLst>
              <a:ext uri="{FF2B5EF4-FFF2-40B4-BE49-F238E27FC236}">
                <a16:creationId xmlns:a16="http://schemas.microsoft.com/office/drawing/2014/main" id="{8535CF6B-5E48-F481-D74B-8A2F08C47586}"/>
              </a:ext>
            </a:extLst>
          </p:cNvPr>
          <p:cNvGrpSpPr/>
          <p:nvPr/>
        </p:nvGrpSpPr>
        <p:grpSpPr>
          <a:xfrm>
            <a:off x="335672" y="2019299"/>
            <a:ext cx="11520657" cy="4471443"/>
            <a:chOff x="285205" y="2019299"/>
            <a:chExt cx="11520657" cy="4471443"/>
          </a:xfrm>
        </p:grpSpPr>
        <p:grpSp>
          <p:nvGrpSpPr>
            <p:cNvPr id="5" name="Group 4">
              <a:extLst>
                <a:ext uri="{FF2B5EF4-FFF2-40B4-BE49-F238E27FC236}">
                  <a16:creationId xmlns:a16="http://schemas.microsoft.com/office/drawing/2014/main" id="{A3337446-2ECA-6DA0-D6D5-341615D5A271}"/>
                </a:ext>
              </a:extLst>
            </p:cNvPr>
            <p:cNvGrpSpPr/>
            <p:nvPr/>
          </p:nvGrpSpPr>
          <p:grpSpPr>
            <a:xfrm>
              <a:off x="285205" y="2019299"/>
              <a:ext cx="3829595" cy="4471443"/>
              <a:chOff x="482600" y="832074"/>
              <a:chExt cx="5424161" cy="5760269"/>
            </a:xfrm>
          </p:grpSpPr>
          <p:sp>
            <p:nvSpPr>
              <p:cNvPr id="22" name="Freeform: Shape 2">
                <a:extLst>
                  <a:ext uri="{FF2B5EF4-FFF2-40B4-BE49-F238E27FC236}">
                    <a16:creationId xmlns:a16="http://schemas.microsoft.com/office/drawing/2014/main" id="{F21EED77-3F32-6B1C-FB9B-027C9B7262BC}"/>
                  </a:ext>
                </a:extLst>
              </p:cNvPr>
              <p:cNvSpPr/>
              <p:nvPr/>
            </p:nvSpPr>
            <p:spPr>
              <a:xfrm>
                <a:off x="1578716" y="832074"/>
                <a:ext cx="3231928" cy="952262"/>
              </a:xfrm>
              <a:custGeom>
                <a:avLst/>
                <a:gdLst>
                  <a:gd name="connsiteX0" fmla="*/ 3819702 w 4479650"/>
                  <a:gd name="connsiteY0" fmla="*/ 0 h 1319895"/>
                  <a:gd name="connsiteX1" fmla="*/ 659948 w 4479650"/>
                  <a:gd name="connsiteY1" fmla="*/ 0 h 1319895"/>
                  <a:gd name="connsiteX2" fmla="*/ 0 w 4479650"/>
                  <a:gd name="connsiteY2" fmla="*/ 659948 h 1319895"/>
                  <a:gd name="connsiteX3" fmla="*/ 659948 w 4479650"/>
                  <a:gd name="connsiteY3" fmla="*/ 1319896 h 1319895"/>
                  <a:gd name="connsiteX4" fmla="*/ 3819702 w 4479650"/>
                  <a:gd name="connsiteY4" fmla="*/ 1319896 h 1319895"/>
                  <a:gd name="connsiteX5" fmla="*/ 4479650 w 4479650"/>
                  <a:gd name="connsiteY5" fmla="*/ 659948 h 1319895"/>
                  <a:gd name="connsiteX6" fmla="*/ 3819702 w 4479650"/>
                  <a:gd name="connsiteY6" fmla="*/ 0 h 1319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79650" h="1319895">
                    <a:moveTo>
                      <a:pt x="3819702" y="0"/>
                    </a:moveTo>
                    <a:lnTo>
                      <a:pt x="659948" y="0"/>
                    </a:lnTo>
                    <a:cubicBezTo>
                      <a:pt x="295477" y="0"/>
                      <a:pt x="0" y="295477"/>
                      <a:pt x="0" y="659948"/>
                    </a:cubicBezTo>
                    <a:cubicBezTo>
                      <a:pt x="0" y="1024419"/>
                      <a:pt x="295477" y="1319896"/>
                      <a:pt x="659948" y="1319896"/>
                    </a:cubicBezTo>
                    <a:lnTo>
                      <a:pt x="3819702" y="1319896"/>
                    </a:lnTo>
                    <a:cubicBezTo>
                      <a:pt x="4184173" y="1319896"/>
                      <a:pt x="4479650" y="1024419"/>
                      <a:pt x="4479650" y="659948"/>
                    </a:cubicBezTo>
                    <a:cubicBezTo>
                      <a:pt x="4479650" y="295477"/>
                      <a:pt x="4184173" y="0"/>
                      <a:pt x="3819702" y="0"/>
                    </a:cubicBezTo>
                    <a:close/>
                  </a:path>
                </a:pathLst>
              </a:custGeom>
              <a:solidFill>
                <a:srgbClr val="0070C0"/>
              </a:solidFill>
              <a:ln w="5398" cap="flat">
                <a:noFill/>
                <a:prstDash val="solid"/>
                <a:miter/>
              </a:ln>
            </p:spPr>
            <p:txBody>
              <a:bodyPr rtlCol="0" anchor="ctr"/>
              <a:lstStyle/>
              <a:p>
                <a:endParaRPr lang="en-US"/>
              </a:p>
            </p:txBody>
          </p:sp>
          <p:sp>
            <p:nvSpPr>
              <p:cNvPr id="23" name="Freeform: Shape 3">
                <a:extLst>
                  <a:ext uri="{FF2B5EF4-FFF2-40B4-BE49-F238E27FC236}">
                    <a16:creationId xmlns:a16="http://schemas.microsoft.com/office/drawing/2014/main" id="{489F0353-4852-EE13-0137-6018F1B77179}"/>
                  </a:ext>
                </a:extLst>
              </p:cNvPr>
              <p:cNvSpPr/>
              <p:nvPr/>
            </p:nvSpPr>
            <p:spPr>
              <a:xfrm>
                <a:off x="482600" y="1287026"/>
                <a:ext cx="2124908" cy="5217883"/>
              </a:xfrm>
              <a:custGeom>
                <a:avLst/>
                <a:gdLst>
                  <a:gd name="connsiteX0" fmla="*/ 2103784 w 2124908"/>
                  <a:gd name="connsiteY0" fmla="*/ 5217830 h 5217883"/>
                  <a:gd name="connsiteX1" fmla="*/ 471554 w 2124908"/>
                  <a:gd name="connsiteY1" fmla="*/ 5217830 h 5217883"/>
                  <a:gd name="connsiteX2" fmla="*/ 0 w 2124908"/>
                  <a:gd name="connsiteY2" fmla="*/ 4746276 h 5217883"/>
                  <a:gd name="connsiteX3" fmla="*/ 0 w 2124908"/>
                  <a:gd name="connsiteY3" fmla="*/ 471553 h 5217883"/>
                  <a:gd name="connsiteX4" fmla="*/ 471554 w 2124908"/>
                  <a:gd name="connsiteY4" fmla="*/ 0 h 5217883"/>
                  <a:gd name="connsiteX5" fmla="*/ 1254847 w 2124908"/>
                  <a:gd name="connsiteY5" fmla="*/ 0 h 5217883"/>
                  <a:gd name="connsiteX6" fmla="*/ 1276026 w 2124908"/>
                  <a:gd name="connsiteY6" fmla="*/ 21179 h 5217883"/>
                  <a:gd name="connsiteX7" fmla="*/ 1254847 w 2124908"/>
                  <a:gd name="connsiteY7" fmla="*/ 42358 h 5217883"/>
                  <a:gd name="connsiteX8" fmla="*/ 471554 w 2124908"/>
                  <a:gd name="connsiteY8" fmla="*/ 42358 h 5217883"/>
                  <a:gd name="connsiteX9" fmla="*/ 42304 w 2124908"/>
                  <a:gd name="connsiteY9" fmla="*/ 471607 h 5217883"/>
                  <a:gd name="connsiteX10" fmla="*/ 42304 w 2124908"/>
                  <a:gd name="connsiteY10" fmla="*/ 4746276 h 5217883"/>
                  <a:gd name="connsiteX11" fmla="*/ 471554 w 2124908"/>
                  <a:gd name="connsiteY11" fmla="*/ 5175526 h 5217883"/>
                  <a:gd name="connsiteX12" fmla="*/ 2103730 w 2124908"/>
                  <a:gd name="connsiteY12" fmla="*/ 5175526 h 5217883"/>
                  <a:gd name="connsiteX13" fmla="*/ 2124908 w 2124908"/>
                  <a:gd name="connsiteY13" fmla="*/ 5196705 h 5217883"/>
                  <a:gd name="connsiteX14" fmla="*/ 2103730 w 2124908"/>
                  <a:gd name="connsiteY14" fmla="*/ 5217884 h 5217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4908" h="5217883">
                    <a:moveTo>
                      <a:pt x="2103784" y="5217830"/>
                    </a:moveTo>
                    <a:lnTo>
                      <a:pt x="471554" y="5217830"/>
                    </a:lnTo>
                    <a:cubicBezTo>
                      <a:pt x="211518" y="5217830"/>
                      <a:pt x="0" y="5006311"/>
                      <a:pt x="0" y="4746276"/>
                    </a:cubicBezTo>
                    <a:lnTo>
                      <a:pt x="0" y="471553"/>
                    </a:lnTo>
                    <a:cubicBezTo>
                      <a:pt x="0" y="211518"/>
                      <a:pt x="211518" y="0"/>
                      <a:pt x="471554" y="0"/>
                    </a:cubicBezTo>
                    <a:lnTo>
                      <a:pt x="1254847" y="0"/>
                    </a:lnTo>
                    <a:cubicBezTo>
                      <a:pt x="1266517" y="0"/>
                      <a:pt x="1276026" y="9455"/>
                      <a:pt x="1276026" y="21179"/>
                    </a:cubicBezTo>
                    <a:cubicBezTo>
                      <a:pt x="1276026" y="32903"/>
                      <a:pt x="1266571" y="42358"/>
                      <a:pt x="1254847" y="42358"/>
                    </a:cubicBezTo>
                    <a:lnTo>
                      <a:pt x="471554" y="42358"/>
                    </a:lnTo>
                    <a:cubicBezTo>
                      <a:pt x="234858" y="42358"/>
                      <a:pt x="42304" y="234912"/>
                      <a:pt x="42304" y="471607"/>
                    </a:cubicBezTo>
                    <a:lnTo>
                      <a:pt x="42304" y="4746276"/>
                    </a:lnTo>
                    <a:cubicBezTo>
                      <a:pt x="42304" y="4982972"/>
                      <a:pt x="234858" y="5175526"/>
                      <a:pt x="471554" y="5175526"/>
                    </a:cubicBezTo>
                    <a:lnTo>
                      <a:pt x="2103730" y="5175526"/>
                    </a:lnTo>
                    <a:cubicBezTo>
                      <a:pt x="2115400" y="5175526"/>
                      <a:pt x="2124908" y="5184981"/>
                      <a:pt x="2124908" y="5196705"/>
                    </a:cubicBezTo>
                    <a:cubicBezTo>
                      <a:pt x="2124908" y="5208429"/>
                      <a:pt x="2115453" y="5217884"/>
                      <a:pt x="2103730" y="5217884"/>
                    </a:cubicBezTo>
                    <a:close/>
                  </a:path>
                </a:pathLst>
              </a:custGeom>
              <a:solidFill>
                <a:srgbClr val="40403F"/>
              </a:solidFill>
              <a:ln w="25400" cap="flat">
                <a:solidFill>
                  <a:schemeClr val="bg1"/>
                </a:solidFill>
                <a:prstDash val="solid"/>
                <a:miter/>
              </a:ln>
            </p:spPr>
            <p:txBody>
              <a:bodyPr rtlCol="0" anchor="ctr"/>
              <a:lstStyle/>
              <a:p>
                <a:endParaRPr lang="en-US"/>
              </a:p>
            </p:txBody>
          </p:sp>
          <p:sp>
            <p:nvSpPr>
              <p:cNvPr id="24" name="Freeform: Shape 8">
                <a:extLst>
                  <a:ext uri="{FF2B5EF4-FFF2-40B4-BE49-F238E27FC236}">
                    <a16:creationId xmlns:a16="http://schemas.microsoft.com/office/drawing/2014/main" id="{0BAF9D5F-F987-327C-9975-F1178E2E9A18}"/>
                  </a:ext>
                </a:extLst>
              </p:cNvPr>
              <p:cNvSpPr/>
              <p:nvPr/>
            </p:nvSpPr>
            <p:spPr>
              <a:xfrm>
                <a:off x="3781853" y="1286972"/>
                <a:ext cx="2124908" cy="5217883"/>
              </a:xfrm>
              <a:custGeom>
                <a:avLst/>
                <a:gdLst>
                  <a:gd name="connsiteX0" fmla="*/ 1653355 w 2124908"/>
                  <a:gd name="connsiteY0" fmla="*/ 5217884 h 5217883"/>
                  <a:gd name="connsiteX1" fmla="*/ 21179 w 2124908"/>
                  <a:gd name="connsiteY1" fmla="*/ 5217884 h 5217883"/>
                  <a:gd name="connsiteX2" fmla="*/ 0 w 2124908"/>
                  <a:gd name="connsiteY2" fmla="*/ 5196705 h 5217883"/>
                  <a:gd name="connsiteX3" fmla="*/ 21179 w 2124908"/>
                  <a:gd name="connsiteY3" fmla="*/ 5175526 h 5217883"/>
                  <a:gd name="connsiteX4" fmla="*/ 1653355 w 2124908"/>
                  <a:gd name="connsiteY4" fmla="*/ 5175526 h 5217883"/>
                  <a:gd name="connsiteX5" fmla="*/ 2082605 w 2124908"/>
                  <a:gd name="connsiteY5" fmla="*/ 4746277 h 5217883"/>
                  <a:gd name="connsiteX6" fmla="*/ 2082605 w 2124908"/>
                  <a:gd name="connsiteY6" fmla="*/ 471607 h 5217883"/>
                  <a:gd name="connsiteX7" fmla="*/ 1653355 w 2124908"/>
                  <a:gd name="connsiteY7" fmla="*/ 42358 h 5217883"/>
                  <a:gd name="connsiteX8" fmla="*/ 870062 w 2124908"/>
                  <a:gd name="connsiteY8" fmla="*/ 42358 h 5217883"/>
                  <a:gd name="connsiteX9" fmla="*/ 848883 w 2124908"/>
                  <a:gd name="connsiteY9" fmla="*/ 21179 h 5217883"/>
                  <a:gd name="connsiteX10" fmla="*/ 870062 w 2124908"/>
                  <a:gd name="connsiteY10" fmla="*/ 0 h 5217883"/>
                  <a:gd name="connsiteX11" fmla="*/ 1653355 w 2124908"/>
                  <a:gd name="connsiteY11" fmla="*/ 0 h 5217883"/>
                  <a:gd name="connsiteX12" fmla="*/ 2124909 w 2124908"/>
                  <a:gd name="connsiteY12" fmla="*/ 471553 h 5217883"/>
                  <a:gd name="connsiteX13" fmla="*/ 2124909 w 2124908"/>
                  <a:gd name="connsiteY13" fmla="*/ 4746223 h 5217883"/>
                  <a:gd name="connsiteX14" fmla="*/ 1653355 w 2124908"/>
                  <a:gd name="connsiteY14" fmla="*/ 5217776 h 5217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4908" h="5217883">
                    <a:moveTo>
                      <a:pt x="1653355" y="5217884"/>
                    </a:moveTo>
                    <a:lnTo>
                      <a:pt x="21179" y="5217884"/>
                    </a:lnTo>
                    <a:cubicBezTo>
                      <a:pt x="9509" y="5217884"/>
                      <a:pt x="0" y="5208429"/>
                      <a:pt x="0" y="5196705"/>
                    </a:cubicBezTo>
                    <a:cubicBezTo>
                      <a:pt x="0" y="5184981"/>
                      <a:pt x="9455" y="5175526"/>
                      <a:pt x="21179" y="5175526"/>
                    </a:cubicBezTo>
                    <a:lnTo>
                      <a:pt x="1653355" y="5175526"/>
                    </a:lnTo>
                    <a:cubicBezTo>
                      <a:pt x="1890050" y="5175526"/>
                      <a:pt x="2082605" y="4982972"/>
                      <a:pt x="2082605" y="4746277"/>
                    </a:cubicBezTo>
                    <a:lnTo>
                      <a:pt x="2082605" y="471607"/>
                    </a:lnTo>
                    <a:cubicBezTo>
                      <a:pt x="2082605" y="234912"/>
                      <a:pt x="1890050" y="42358"/>
                      <a:pt x="1653355" y="42358"/>
                    </a:cubicBezTo>
                    <a:lnTo>
                      <a:pt x="870062" y="42358"/>
                    </a:lnTo>
                    <a:cubicBezTo>
                      <a:pt x="858392" y="42358"/>
                      <a:pt x="848883" y="32903"/>
                      <a:pt x="848883" y="21179"/>
                    </a:cubicBezTo>
                    <a:cubicBezTo>
                      <a:pt x="848883" y="9455"/>
                      <a:pt x="858338" y="0"/>
                      <a:pt x="870062" y="0"/>
                    </a:cubicBezTo>
                    <a:lnTo>
                      <a:pt x="1653355" y="0"/>
                    </a:lnTo>
                    <a:cubicBezTo>
                      <a:pt x="1913390" y="0"/>
                      <a:pt x="2124909" y="211572"/>
                      <a:pt x="2124909" y="471553"/>
                    </a:cubicBezTo>
                    <a:lnTo>
                      <a:pt x="2124909" y="4746223"/>
                    </a:lnTo>
                    <a:cubicBezTo>
                      <a:pt x="2124909" y="5006257"/>
                      <a:pt x="1913390" y="5217776"/>
                      <a:pt x="1653355" y="5217776"/>
                    </a:cubicBezTo>
                    <a:close/>
                  </a:path>
                </a:pathLst>
              </a:custGeom>
              <a:solidFill>
                <a:srgbClr val="0070C0"/>
              </a:solidFill>
              <a:ln w="15875" cap="flat">
                <a:solidFill>
                  <a:schemeClr val="bg1"/>
                </a:solidFill>
                <a:prstDash val="solid"/>
                <a:miter/>
              </a:ln>
            </p:spPr>
            <p:txBody>
              <a:bodyPr rtlCol="0" anchor="ctr"/>
              <a:lstStyle/>
              <a:p>
                <a:endParaRPr lang="en-US"/>
              </a:p>
            </p:txBody>
          </p:sp>
          <p:sp>
            <p:nvSpPr>
              <p:cNvPr id="25" name="Freeform: Shape 9">
                <a:extLst>
                  <a:ext uri="{FF2B5EF4-FFF2-40B4-BE49-F238E27FC236}">
                    <a16:creationId xmlns:a16="http://schemas.microsoft.com/office/drawing/2014/main" id="{3327FFA1-DFF3-7FC1-C8D4-9252711C7D86}"/>
                  </a:ext>
                </a:extLst>
              </p:cNvPr>
              <p:cNvSpPr/>
              <p:nvPr/>
            </p:nvSpPr>
            <p:spPr>
              <a:xfrm rot="16390200">
                <a:off x="2477735" y="6375042"/>
                <a:ext cx="217191" cy="217191"/>
              </a:xfrm>
              <a:custGeom>
                <a:avLst/>
                <a:gdLst>
                  <a:gd name="connsiteX0" fmla="*/ 217191 w 217191"/>
                  <a:gd name="connsiteY0" fmla="*/ 108595 h 217191"/>
                  <a:gd name="connsiteX1" fmla="*/ 108596 w 217191"/>
                  <a:gd name="connsiteY1" fmla="*/ 217191 h 217191"/>
                  <a:gd name="connsiteX2" fmla="*/ 0 w 217191"/>
                  <a:gd name="connsiteY2" fmla="*/ 108595 h 217191"/>
                  <a:gd name="connsiteX3" fmla="*/ 108596 w 217191"/>
                  <a:gd name="connsiteY3" fmla="*/ 0 h 217191"/>
                  <a:gd name="connsiteX4" fmla="*/ 217191 w 217191"/>
                  <a:gd name="connsiteY4" fmla="*/ 108595 h 2171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191" h="217191">
                    <a:moveTo>
                      <a:pt x="217191" y="108595"/>
                    </a:moveTo>
                    <a:cubicBezTo>
                      <a:pt x="217191" y="168571"/>
                      <a:pt x="168571" y="217191"/>
                      <a:pt x="108596" y="217191"/>
                    </a:cubicBezTo>
                    <a:cubicBezTo>
                      <a:pt x="48620" y="217191"/>
                      <a:pt x="0" y="168571"/>
                      <a:pt x="0" y="108595"/>
                    </a:cubicBezTo>
                    <a:cubicBezTo>
                      <a:pt x="0" y="48620"/>
                      <a:pt x="48620" y="0"/>
                      <a:pt x="108596" y="0"/>
                    </a:cubicBezTo>
                    <a:cubicBezTo>
                      <a:pt x="168571" y="0"/>
                      <a:pt x="217191" y="48620"/>
                      <a:pt x="217191" y="108595"/>
                    </a:cubicBezTo>
                    <a:close/>
                  </a:path>
                </a:pathLst>
              </a:custGeom>
              <a:solidFill>
                <a:srgbClr val="40403F"/>
              </a:solidFill>
              <a:ln w="5398" cap="flat">
                <a:noFill/>
                <a:prstDash val="solid"/>
                <a:miter/>
              </a:ln>
            </p:spPr>
            <p:txBody>
              <a:bodyPr rtlCol="0" anchor="ctr"/>
              <a:lstStyle/>
              <a:p>
                <a:endParaRPr lang="en-US"/>
              </a:p>
            </p:txBody>
          </p:sp>
          <p:sp>
            <p:nvSpPr>
              <p:cNvPr id="26" name="Freeform: Shape 10">
                <a:extLst>
                  <a:ext uri="{FF2B5EF4-FFF2-40B4-BE49-F238E27FC236}">
                    <a16:creationId xmlns:a16="http://schemas.microsoft.com/office/drawing/2014/main" id="{49F3349E-A036-9229-0873-601290B5D62A}"/>
                  </a:ext>
                </a:extLst>
              </p:cNvPr>
              <p:cNvSpPr/>
              <p:nvPr/>
            </p:nvSpPr>
            <p:spPr>
              <a:xfrm rot="16896000">
                <a:off x="3694479" y="6375152"/>
                <a:ext cx="217191" cy="217191"/>
              </a:xfrm>
              <a:custGeom>
                <a:avLst/>
                <a:gdLst>
                  <a:gd name="connsiteX0" fmla="*/ 217191 w 217191"/>
                  <a:gd name="connsiteY0" fmla="*/ 108595 h 217191"/>
                  <a:gd name="connsiteX1" fmla="*/ 108596 w 217191"/>
                  <a:gd name="connsiteY1" fmla="*/ 217191 h 217191"/>
                  <a:gd name="connsiteX2" fmla="*/ 0 w 217191"/>
                  <a:gd name="connsiteY2" fmla="*/ 108595 h 217191"/>
                  <a:gd name="connsiteX3" fmla="*/ 108596 w 217191"/>
                  <a:gd name="connsiteY3" fmla="*/ 0 h 217191"/>
                  <a:gd name="connsiteX4" fmla="*/ 217191 w 217191"/>
                  <a:gd name="connsiteY4" fmla="*/ 108595 h 2171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191" h="217191">
                    <a:moveTo>
                      <a:pt x="217191" y="108595"/>
                    </a:moveTo>
                    <a:cubicBezTo>
                      <a:pt x="217191" y="168571"/>
                      <a:pt x="168571" y="217191"/>
                      <a:pt x="108596" y="217191"/>
                    </a:cubicBezTo>
                    <a:cubicBezTo>
                      <a:pt x="48620" y="217191"/>
                      <a:pt x="0" y="168571"/>
                      <a:pt x="0" y="108595"/>
                    </a:cubicBezTo>
                    <a:cubicBezTo>
                      <a:pt x="0" y="48620"/>
                      <a:pt x="48620" y="0"/>
                      <a:pt x="108596" y="0"/>
                    </a:cubicBezTo>
                    <a:cubicBezTo>
                      <a:pt x="168572" y="0"/>
                      <a:pt x="217191" y="48620"/>
                      <a:pt x="217191" y="108595"/>
                    </a:cubicBezTo>
                    <a:close/>
                  </a:path>
                </a:pathLst>
              </a:custGeom>
              <a:solidFill>
                <a:srgbClr val="0070C0"/>
              </a:solidFill>
              <a:ln w="5398" cap="flat">
                <a:noFill/>
                <a:prstDash val="solid"/>
                <a:miter/>
              </a:ln>
            </p:spPr>
            <p:txBody>
              <a:bodyPr rtlCol="0" anchor="ctr"/>
              <a:lstStyle/>
              <a:p>
                <a:endParaRPr lang="en-US"/>
              </a:p>
            </p:txBody>
          </p:sp>
          <p:sp>
            <p:nvSpPr>
              <p:cNvPr id="27" name="Freeform: Shape 11">
                <a:extLst>
                  <a:ext uri="{FF2B5EF4-FFF2-40B4-BE49-F238E27FC236}">
                    <a16:creationId xmlns:a16="http://schemas.microsoft.com/office/drawing/2014/main" id="{EF7B4180-57E9-18DC-0284-CCF2E7A21CC5}"/>
                  </a:ext>
                </a:extLst>
              </p:cNvPr>
              <p:cNvSpPr/>
              <p:nvPr/>
            </p:nvSpPr>
            <p:spPr>
              <a:xfrm>
                <a:off x="1246605" y="940006"/>
                <a:ext cx="3896151" cy="736397"/>
              </a:xfrm>
              <a:custGeom>
                <a:avLst/>
                <a:gdLst>
                  <a:gd name="connsiteX0" fmla="*/ 368199 w 3896151"/>
                  <a:gd name="connsiteY0" fmla="*/ 736397 h 736397"/>
                  <a:gd name="connsiteX1" fmla="*/ 0 w 3896151"/>
                  <a:gd name="connsiteY1" fmla="*/ 368199 h 736397"/>
                  <a:gd name="connsiteX2" fmla="*/ 368199 w 3896151"/>
                  <a:gd name="connsiteY2" fmla="*/ 0 h 736397"/>
                  <a:gd name="connsiteX3" fmla="*/ 3527953 w 3896151"/>
                  <a:gd name="connsiteY3" fmla="*/ 0 h 736397"/>
                  <a:gd name="connsiteX4" fmla="*/ 3896151 w 3896151"/>
                  <a:gd name="connsiteY4" fmla="*/ 368199 h 736397"/>
                  <a:gd name="connsiteX5" fmla="*/ 3527953 w 3896151"/>
                  <a:gd name="connsiteY5" fmla="*/ 736397 h 736397"/>
                  <a:gd name="connsiteX6" fmla="*/ 368199 w 3896151"/>
                  <a:gd name="connsiteY6" fmla="*/ 736397 h 736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6151" h="736397">
                    <a:moveTo>
                      <a:pt x="368199" y="736397"/>
                    </a:moveTo>
                    <a:cubicBezTo>
                      <a:pt x="165163" y="736397"/>
                      <a:pt x="0" y="571234"/>
                      <a:pt x="0" y="368199"/>
                    </a:cubicBezTo>
                    <a:cubicBezTo>
                      <a:pt x="0" y="165163"/>
                      <a:pt x="165163" y="0"/>
                      <a:pt x="368199" y="0"/>
                    </a:cubicBezTo>
                    <a:lnTo>
                      <a:pt x="3527953" y="0"/>
                    </a:lnTo>
                    <a:cubicBezTo>
                      <a:pt x="3730935" y="0"/>
                      <a:pt x="3896151" y="165163"/>
                      <a:pt x="3896151" y="368199"/>
                    </a:cubicBezTo>
                    <a:cubicBezTo>
                      <a:pt x="3896151" y="571234"/>
                      <a:pt x="3730989" y="736397"/>
                      <a:pt x="3527953" y="736397"/>
                    </a:cubicBezTo>
                    <a:lnTo>
                      <a:pt x="368199" y="736397"/>
                    </a:lnTo>
                    <a:close/>
                  </a:path>
                </a:pathLst>
              </a:custGeom>
              <a:solidFill>
                <a:srgbClr val="FFFFFF"/>
              </a:solidFill>
              <a:ln w="6350" cap="flat">
                <a:solidFill>
                  <a:srgbClr val="0070C0"/>
                </a:solidFill>
                <a:prstDash val="solid"/>
                <a:miter/>
              </a:ln>
            </p:spPr>
            <p:txBody>
              <a:bodyPr rtlCol="0" anchor="ctr"/>
              <a:lstStyle/>
              <a:p>
                <a:pPr algn="ctr"/>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Governance Structure</a:t>
                </a:r>
              </a:p>
            </p:txBody>
          </p:sp>
          <p:sp>
            <p:nvSpPr>
              <p:cNvPr id="28" name="TextBox 27">
                <a:extLst>
                  <a:ext uri="{FF2B5EF4-FFF2-40B4-BE49-F238E27FC236}">
                    <a16:creationId xmlns:a16="http://schemas.microsoft.com/office/drawing/2014/main" id="{4B6FC2A6-B753-1CBC-A9CA-CF50338A7480}"/>
                  </a:ext>
                </a:extLst>
              </p:cNvPr>
              <p:cNvSpPr txBox="1"/>
              <p:nvPr/>
            </p:nvSpPr>
            <p:spPr>
              <a:xfrm>
                <a:off x="771958" y="1951335"/>
                <a:ext cx="4868017" cy="1340710"/>
              </a:xfrm>
              <a:prstGeom prst="rect">
                <a:avLst/>
              </a:prstGeom>
              <a:noFill/>
            </p:spPr>
            <p:txBody>
              <a:bodyPr wrap="square" rtlCol="0">
                <a:spAutoFit/>
              </a:bodyPr>
              <a:lstStyle/>
              <a:p>
                <a:pPr marL="171450" lvl="0" indent="-171450">
                  <a:lnSpc>
                    <a:spcPct val="150000"/>
                  </a:lnSpc>
                  <a:spcBef>
                    <a:spcPts val="600"/>
                  </a:spcBef>
                  <a:buClr>
                    <a:srgbClr val="00B0F0"/>
                  </a:buClr>
                  <a:buFont typeface="Wingdings" panose="05000000000000000000" pitchFamily="2" charset="2"/>
                  <a:buChar char="Ø"/>
                  <a:defRPr/>
                </a:pPr>
                <a:r>
                  <a:rPr lang="en-US" sz="1200">
                    <a:solidFill>
                      <a:prstClr val="black"/>
                    </a:solidFill>
                    <a:latin typeface="Lato"/>
                  </a:rPr>
                  <a:t>Single executive sponsor and delivery owner</a:t>
                </a:r>
              </a:p>
              <a:p>
                <a:pPr marL="171450" lvl="0" indent="-171450">
                  <a:lnSpc>
                    <a:spcPct val="150000"/>
                  </a:lnSpc>
                  <a:spcBef>
                    <a:spcPts val="600"/>
                  </a:spcBef>
                  <a:buClr>
                    <a:srgbClr val="00B0F0"/>
                  </a:buClr>
                  <a:buFont typeface="Wingdings" panose="05000000000000000000" pitchFamily="2" charset="2"/>
                  <a:buChar char="Ø"/>
                  <a:defRPr/>
                </a:pPr>
                <a:r>
                  <a:rPr lang="en-US" sz="1200">
                    <a:solidFill>
                      <a:prstClr val="black"/>
                    </a:solidFill>
                    <a:latin typeface="Lato"/>
                  </a:rPr>
                  <a:t>Centralized PMO and delivery governance</a:t>
                </a:r>
              </a:p>
              <a:p>
                <a:pPr marL="171450" lvl="0" indent="-171450">
                  <a:lnSpc>
                    <a:spcPct val="150000"/>
                  </a:lnSpc>
                  <a:spcBef>
                    <a:spcPts val="600"/>
                  </a:spcBef>
                  <a:buClr>
                    <a:srgbClr val="00B0F0"/>
                  </a:buClr>
                  <a:buFont typeface="Wingdings" panose="05000000000000000000" pitchFamily="2" charset="2"/>
                  <a:buChar char="Ø"/>
                  <a:defRPr/>
                </a:pPr>
                <a:r>
                  <a:rPr lang="en-US" sz="1200">
                    <a:solidFill>
                      <a:prstClr val="black"/>
                    </a:solidFill>
                    <a:latin typeface="Lato"/>
                  </a:rPr>
                  <a:t>Unified SLA, KPI, and reporting framework</a:t>
                </a:r>
              </a:p>
            </p:txBody>
          </p:sp>
        </p:grpSp>
        <p:grpSp>
          <p:nvGrpSpPr>
            <p:cNvPr id="6" name="Group 5">
              <a:extLst>
                <a:ext uri="{FF2B5EF4-FFF2-40B4-BE49-F238E27FC236}">
                  <a16:creationId xmlns:a16="http://schemas.microsoft.com/office/drawing/2014/main" id="{F9DF4CE7-9DED-A167-ED5B-905B65957E23}"/>
                </a:ext>
              </a:extLst>
            </p:cNvPr>
            <p:cNvGrpSpPr/>
            <p:nvPr/>
          </p:nvGrpSpPr>
          <p:grpSpPr>
            <a:xfrm>
              <a:off x="4130736" y="2019299"/>
              <a:ext cx="3829595" cy="4471443"/>
              <a:chOff x="482600" y="832074"/>
              <a:chExt cx="5424161" cy="5760269"/>
            </a:xfrm>
          </p:grpSpPr>
          <p:sp>
            <p:nvSpPr>
              <p:cNvPr id="15" name="Freeform: Shape 38">
                <a:extLst>
                  <a:ext uri="{FF2B5EF4-FFF2-40B4-BE49-F238E27FC236}">
                    <a16:creationId xmlns:a16="http://schemas.microsoft.com/office/drawing/2014/main" id="{D168608B-867B-17E9-8CEB-40DC51260387}"/>
                  </a:ext>
                </a:extLst>
              </p:cNvPr>
              <p:cNvSpPr/>
              <p:nvPr/>
            </p:nvSpPr>
            <p:spPr>
              <a:xfrm>
                <a:off x="1578716" y="832074"/>
                <a:ext cx="3231928" cy="952262"/>
              </a:xfrm>
              <a:custGeom>
                <a:avLst/>
                <a:gdLst>
                  <a:gd name="connsiteX0" fmla="*/ 3819702 w 4479650"/>
                  <a:gd name="connsiteY0" fmla="*/ 0 h 1319895"/>
                  <a:gd name="connsiteX1" fmla="*/ 659948 w 4479650"/>
                  <a:gd name="connsiteY1" fmla="*/ 0 h 1319895"/>
                  <a:gd name="connsiteX2" fmla="*/ 0 w 4479650"/>
                  <a:gd name="connsiteY2" fmla="*/ 659948 h 1319895"/>
                  <a:gd name="connsiteX3" fmla="*/ 659948 w 4479650"/>
                  <a:gd name="connsiteY3" fmla="*/ 1319896 h 1319895"/>
                  <a:gd name="connsiteX4" fmla="*/ 3819702 w 4479650"/>
                  <a:gd name="connsiteY4" fmla="*/ 1319896 h 1319895"/>
                  <a:gd name="connsiteX5" fmla="*/ 4479650 w 4479650"/>
                  <a:gd name="connsiteY5" fmla="*/ 659948 h 1319895"/>
                  <a:gd name="connsiteX6" fmla="*/ 3819702 w 4479650"/>
                  <a:gd name="connsiteY6" fmla="*/ 0 h 1319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79650" h="1319895">
                    <a:moveTo>
                      <a:pt x="3819702" y="0"/>
                    </a:moveTo>
                    <a:lnTo>
                      <a:pt x="659948" y="0"/>
                    </a:lnTo>
                    <a:cubicBezTo>
                      <a:pt x="295477" y="0"/>
                      <a:pt x="0" y="295477"/>
                      <a:pt x="0" y="659948"/>
                    </a:cubicBezTo>
                    <a:cubicBezTo>
                      <a:pt x="0" y="1024419"/>
                      <a:pt x="295477" y="1319896"/>
                      <a:pt x="659948" y="1319896"/>
                    </a:cubicBezTo>
                    <a:lnTo>
                      <a:pt x="3819702" y="1319896"/>
                    </a:lnTo>
                    <a:cubicBezTo>
                      <a:pt x="4184173" y="1319896"/>
                      <a:pt x="4479650" y="1024419"/>
                      <a:pt x="4479650" y="659948"/>
                    </a:cubicBezTo>
                    <a:cubicBezTo>
                      <a:pt x="4479650" y="295477"/>
                      <a:pt x="4184173" y="0"/>
                      <a:pt x="3819702" y="0"/>
                    </a:cubicBezTo>
                    <a:close/>
                  </a:path>
                </a:pathLst>
              </a:custGeom>
              <a:solidFill>
                <a:srgbClr val="0070C0"/>
              </a:solidFill>
              <a:ln w="5398" cap="flat">
                <a:noFill/>
                <a:prstDash val="solid"/>
                <a:miter/>
              </a:ln>
            </p:spPr>
            <p:txBody>
              <a:bodyPr rtlCol="0" anchor="ctr"/>
              <a:lstStyle/>
              <a:p>
                <a:endParaRPr lang="en-US"/>
              </a:p>
            </p:txBody>
          </p:sp>
          <p:sp>
            <p:nvSpPr>
              <p:cNvPr id="16" name="Freeform: Shape 39">
                <a:extLst>
                  <a:ext uri="{FF2B5EF4-FFF2-40B4-BE49-F238E27FC236}">
                    <a16:creationId xmlns:a16="http://schemas.microsoft.com/office/drawing/2014/main" id="{568DD2C5-EEF2-E94A-BC10-BC0F59BEB70A}"/>
                  </a:ext>
                </a:extLst>
              </p:cNvPr>
              <p:cNvSpPr/>
              <p:nvPr/>
            </p:nvSpPr>
            <p:spPr>
              <a:xfrm>
                <a:off x="482600" y="1287026"/>
                <a:ext cx="2124908" cy="5217883"/>
              </a:xfrm>
              <a:custGeom>
                <a:avLst/>
                <a:gdLst>
                  <a:gd name="connsiteX0" fmla="*/ 2103784 w 2124908"/>
                  <a:gd name="connsiteY0" fmla="*/ 5217830 h 5217883"/>
                  <a:gd name="connsiteX1" fmla="*/ 471554 w 2124908"/>
                  <a:gd name="connsiteY1" fmla="*/ 5217830 h 5217883"/>
                  <a:gd name="connsiteX2" fmla="*/ 0 w 2124908"/>
                  <a:gd name="connsiteY2" fmla="*/ 4746276 h 5217883"/>
                  <a:gd name="connsiteX3" fmla="*/ 0 w 2124908"/>
                  <a:gd name="connsiteY3" fmla="*/ 471553 h 5217883"/>
                  <a:gd name="connsiteX4" fmla="*/ 471554 w 2124908"/>
                  <a:gd name="connsiteY4" fmla="*/ 0 h 5217883"/>
                  <a:gd name="connsiteX5" fmla="*/ 1254847 w 2124908"/>
                  <a:gd name="connsiteY5" fmla="*/ 0 h 5217883"/>
                  <a:gd name="connsiteX6" fmla="*/ 1276026 w 2124908"/>
                  <a:gd name="connsiteY6" fmla="*/ 21179 h 5217883"/>
                  <a:gd name="connsiteX7" fmla="*/ 1254847 w 2124908"/>
                  <a:gd name="connsiteY7" fmla="*/ 42358 h 5217883"/>
                  <a:gd name="connsiteX8" fmla="*/ 471554 w 2124908"/>
                  <a:gd name="connsiteY8" fmla="*/ 42358 h 5217883"/>
                  <a:gd name="connsiteX9" fmla="*/ 42304 w 2124908"/>
                  <a:gd name="connsiteY9" fmla="*/ 471607 h 5217883"/>
                  <a:gd name="connsiteX10" fmla="*/ 42304 w 2124908"/>
                  <a:gd name="connsiteY10" fmla="*/ 4746276 h 5217883"/>
                  <a:gd name="connsiteX11" fmla="*/ 471554 w 2124908"/>
                  <a:gd name="connsiteY11" fmla="*/ 5175526 h 5217883"/>
                  <a:gd name="connsiteX12" fmla="*/ 2103730 w 2124908"/>
                  <a:gd name="connsiteY12" fmla="*/ 5175526 h 5217883"/>
                  <a:gd name="connsiteX13" fmla="*/ 2124908 w 2124908"/>
                  <a:gd name="connsiteY13" fmla="*/ 5196705 h 5217883"/>
                  <a:gd name="connsiteX14" fmla="*/ 2103730 w 2124908"/>
                  <a:gd name="connsiteY14" fmla="*/ 5217884 h 5217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4908" h="5217883">
                    <a:moveTo>
                      <a:pt x="2103784" y="5217830"/>
                    </a:moveTo>
                    <a:lnTo>
                      <a:pt x="471554" y="5217830"/>
                    </a:lnTo>
                    <a:cubicBezTo>
                      <a:pt x="211518" y="5217830"/>
                      <a:pt x="0" y="5006311"/>
                      <a:pt x="0" y="4746276"/>
                    </a:cubicBezTo>
                    <a:lnTo>
                      <a:pt x="0" y="471553"/>
                    </a:lnTo>
                    <a:cubicBezTo>
                      <a:pt x="0" y="211518"/>
                      <a:pt x="211518" y="0"/>
                      <a:pt x="471554" y="0"/>
                    </a:cubicBezTo>
                    <a:lnTo>
                      <a:pt x="1254847" y="0"/>
                    </a:lnTo>
                    <a:cubicBezTo>
                      <a:pt x="1266517" y="0"/>
                      <a:pt x="1276026" y="9455"/>
                      <a:pt x="1276026" y="21179"/>
                    </a:cubicBezTo>
                    <a:cubicBezTo>
                      <a:pt x="1276026" y="32903"/>
                      <a:pt x="1266571" y="42358"/>
                      <a:pt x="1254847" y="42358"/>
                    </a:cubicBezTo>
                    <a:lnTo>
                      <a:pt x="471554" y="42358"/>
                    </a:lnTo>
                    <a:cubicBezTo>
                      <a:pt x="234858" y="42358"/>
                      <a:pt x="42304" y="234912"/>
                      <a:pt x="42304" y="471607"/>
                    </a:cubicBezTo>
                    <a:lnTo>
                      <a:pt x="42304" y="4746276"/>
                    </a:lnTo>
                    <a:cubicBezTo>
                      <a:pt x="42304" y="4982972"/>
                      <a:pt x="234858" y="5175526"/>
                      <a:pt x="471554" y="5175526"/>
                    </a:cubicBezTo>
                    <a:lnTo>
                      <a:pt x="2103730" y="5175526"/>
                    </a:lnTo>
                    <a:cubicBezTo>
                      <a:pt x="2115400" y="5175526"/>
                      <a:pt x="2124908" y="5184981"/>
                      <a:pt x="2124908" y="5196705"/>
                    </a:cubicBezTo>
                    <a:cubicBezTo>
                      <a:pt x="2124908" y="5208429"/>
                      <a:pt x="2115453" y="5217884"/>
                      <a:pt x="2103730" y="5217884"/>
                    </a:cubicBezTo>
                    <a:close/>
                  </a:path>
                </a:pathLst>
              </a:custGeom>
              <a:solidFill>
                <a:srgbClr val="40403F"/>
              </a:solidFill>
              <a:ln w="25400" cap="flat">
                <a:solidFill>
                  <a:schemeClr val="bg1"/>
                </a:solidFill>
                <a:prstDash val="solid"/>
                <a:miter/>
              </a:ln>
            </p:spPr>
            <p:txBody>
              <a:bodyPr rtlCol="0" anchor="ctr"/>
              <a:lstStyle/>
              <a:p>
                <a:endParaRPr lang="en-US"/>
              </a:p>
            </p:txBody>
          </p:sp>
          <p:sp>
            <p:nvSpPr>
              <p:cNvPr id="17" name="Freeform: Shape 40">
                <a:extLst>
                  <a:ext uri="{FF2B5EF4-FFF2-40B4-BE49-F238E27FC236}">
                    <a16:creationId xmlns:a16="http://schemas.microsoft.com/office/drawing/2014/main" id="{57A027E3-1960-68D1-3D48-A8DD0F1FC12C}"/>
                  </a:ext>
                </a:extLst>
              </p:cNvPr>
              <p:cNvSpPr/>
              <p:nvPr/>
            </p:nvSpPr>
            <p:spPr>
              <a:xfrm>
                <a:off x="3781853" y="1286972"/>
                <a:ext cx="2124908" cy="5217883"/>
              </a:xfrm>
              <a:custGeom>
                <a:avLst/>
                <a:gdLst>
                  <a:gd name="connsiteX0" fmla="*/ 1653355 w 2124908"/>
                  <a:gd name="connsiteY0" fmla="*/ 5217884 h 5217883"/>
                  <a:gd name="connsiteX1" fmla="*/ 21179 w 2124908"/>
                  <a:gd name="connsiteY1" fmla="*/ 5217884 h 5217883"/>
                  <a:gd name="connsiteX2" fmla="*/ 0 w 2124908"/>
                  <a:gd name="connsiteY2" fmla="*/ 5196705 h 5217883"/>
                  <a:gd name="connsiteX3" fmla="*/ 21179 w 2124908"/>
                  <a:gd name="connsiteY3" fmla="*/ 5175526 h 5217883"/>
                  <a:gd name="connsiteX4" fmla="*/ 1653355 w 2124908"/>
                  <a:gd name="connsiteY4" fmla="*/ 5175526 h 5217883"/>
                  <a:gd name="connsiteX5" fmla="*/ 2082605 w 2124908"/>
                  <a:gd name="connsiteY5" fmla="*/ 4746277 h 5217883"/>
                  <a:gd name="connsiteX6" fmla="*/ 2082605 w 2124908"/>
                  <a:gd name="connsiteY6" fmla="*/ 471607 h 5217883"/>
                  <a:gd name="connsiteX7" fmla="*/ 1653355 w 2124908"/>
                  <a:gd name="connsiteY7" fmla="*/ 42358 h 5217883"/>
                  <a:gd name="connsiteX8" fmla="*/ 870062 w 2124908"/>
                  <a:gd name="connsiteY8" fmla="*/ 42358 h 5217883"/>
                  <a:gd name="connsiteX9" fmla="*/ 848883 w 2124908"/>
                  <a:gd name="connsiteY9" fmla="*/ 21179 h 5217883"/>
                  <a:gd name="connsiteX10" fmla="*/ 870062 w 2124908"/>
                  <a:gd name="connsiteY10" fmla="*/ 0 h 5217883"/>
                  <a:gd name="connsiteX11" fmla="*/ 1653355 w 2124908"/>
                  <a:gd name="connsiteY11" fmla="*/ 0 h 5217883"/>
                  <a:gd name="connsiteX12" fmla="*/ 2124909 w 2124908"/>
                  <a:gd name="connsiteY12" fmla="*/ 471553 h 5217883"/>
                  <a:gd name="connsiteX13" fmla="*/ 2124909 w 2124908"/>
                  <a:gd name="connsiteY13" fmla="*/ 4746223 h 5217883"/>
                  <a:gd name="connsiteX14" fmla="*/ 1653355 w 2124908"/>
                  <a:gd name="connsiteY14" fmla="*/ 5217776 h 5217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4908" h="5217883">
                    <a:moveTo>
                      <a:pt x="1653355" y="5217884"/>
                    </a:moveTo>
                    <a:lnTo>
                      <a:pt x="21179" y="5217884"/>
                    </a:lnTo>
                    <a:cubicBezTo>
                      <a:pt x="9509" y="5217884"/>
                      <a:pt x="0" y="5208429"/>
                      <a:pt x="0" y="5196705"/>
                    </a:cubicBezTo>
                    <a:cubicBezTo>
                      <a:pt x="0" y="5184981"/>
                      <a:pt x="9455" y="5175526"/>
                      <a:pt x="21179" y="5175526"/>
                    </a:cubicBezTo>
                    <a:lnTo>
                      <a:pt x="1653355" y="5175526"/>
                    </a:lnTo>
                    <a:cubicBezTo>
                      <a:pt x="1890050" y="5175526"/>
                      <a:pt x="2082605" y="4982972"/>
                      <a:pt x="2082605" y="4746277"/>
                    </a:cubicBezTo>
                    <a:lnTo>
                      <a:pt x="2082605" y="471607"/>
                    </a:lnTo>
                    <a:cubicBezTo>
                      <a:pt x="2082605" y="234912"/>
                      <a:pt x="1890050" y="42358"/>
                      <a:pt x="1653355" y="42358"/>
                    </a:cubicBezTo>
                    <a:lnTo>
                      <a:pt x="870062" y="42358"/>
                    </a:lnTo>
                    <a:cubicBezTo>
                      <a:pt x="858392" y="42358"/>
                      <a:pt x="848883" y="32903"/>
                      <a:pt x="848883" y="21179"/>
                    </a:cubicBezTo>
                    <a:cubicBezTo>
                      <a:pt x="848883" y="9455"/>
                      <a:pt x="858338" y="0"/>
                      <a:pt x="870062" y="0"/>
                    </a:cubicBezTo>
                    <a:lnTo>
                      <a:pt x="1653355" y="0"/>
                    </a:lnTo>
                    <a:cubicBezTo>
                      <a:pt x="1913390" y="0"/>
                      <a:pt x="2124909" y="211572"/>
                      <a:pt x="2124909" y="471553"/>
                    </a:cubicBezTo>
                    <a:lnTo>
                      <a:pt x="2124909" y="4746223"/>
                    </a:lnTo>
                    <a:cubicBezTo>
                      <a:pt x="2124909" y="5006257"/>
                      <a:pt x="1913390" y="5217776"/>
                      <a:pt x="1653355" y="5217776"/>
                    </a:cubicBezTo>
                    <a:close/>
                  </a:path>
                </a:pathLst>
              </a:custGeom>
              <a:solidFill>
                <a:srgbClr val="0070C0"/>
              </a:solidFill>
              <a:ln w="15875" cap="flat">
                <a:solidFill>
                  <a:schemeClr val="bg1"/>
                </a:solidFill>
                <a:prstDash val="solid"/>
                <a:miter/>
              </a:ln>
            </p:spPr>
            <p:txBody>
              <a:bodyPr rtlCol="0" anchor="ctr"/>
              <a:lstStyle/>
              <a:p>
                <a:endParaRPr lang="en-US"/>
              </a:p>
            </p:txBody>
          </p:sp>
          <p:sp>
            <p:nvSpPr>
              <p:cNvPr id="18" name="Freeform: Shape 41">
                <a:extLst>
                  <a:ext uri="{FF2B5EF4-FFF2-40B4-BE49-F238E27FC236}">
                    <a16:creationId xmlns:a16="http://schemas.microsoft.com/office/drawing/2014/main" id="{7E2DD05F-AE3D-2B37-C7AB-7E859BC96079}"/>
                  </a:ext>
                </a:extLst>
              </p:cNvPr>
              <p:cNvSpPr/>
              <p:nvPr/>
            </p:nvSpPr>
            <p:spPr>
              <a:xfrm rot="16390200">
                <a:off x="2477735" y="6375042"/>
                <a:ext cx="217191" cy="217191"/>
              </a:xfrm>
              <a:custGeom>
                <a:avLst/>
                <a:gdLst>
                  <a:gd name="connsiteX0" fmla="*/ 217191 w 217191"/>
                  <a:gd name="connsiteY0" fmla="*/ 108595 h 217191"/>
                  <a:gd name="connsiteX1" fmla="*/ 108596 w 217191"/>
                  <a:gd name="connsiteY1" fmla="*/ 217191 h 217191"/>
                  <a:gd name="connsiteX2" fmla="*/ 0 w 217191"/>
                  <a:gd name="connsiteY2" fmla="*/ 108595 h 217191"/>
                  <a:gd name="connsiteX3" fmla="*/ 108596 w 217191"/>
                  <a:gd name="connsiteY3" fmla="*/ 0 h 217191"/>
                  <a:gd name="connsiteX4" fmla="*/ 217191 w 217191"/>
                  <a:gd name="connsiteY4" fmla="*/ 108595 h 2171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191" h="217191">
                    <a:moveTo>
                      <a:pt x="217191" y="108595"/>
                    </a:moveTo>
                    <a:cubicBezTo>
                      <a:pt x="217191" y="168571"/>
                      <a:pt x="168571" y="217191"/>
                      <a:pt x="108596" y="217191"/>
                    </a:cubicBezTo>
                    <a:cubicBezTo>
                      <a:pt x="48620" y="217191"/>
                      <a:pt x="0" y="168571"/>
                      <a:pt x="0" y="108595"/>
                    </a:cubicBezTo>
                    <a:cubicBezTo>
                      <a:pt x="0" y="48620"/>
                      <a:pt x="48620" y="0"/>
                      <a:pt x="108596" y="0"/>
                    </a:cubicBezTo>
                    <a:cubicBezTo>
                      <a:pt x="168571" y="0"/>
                      <a:pt x="217191" y="48620"/>
                      <a:pt x="217191" y="108595"/>
                    </a:cubicBezTo>
                    <a:close/>
                  </a:path>
                </a:pathLst>
              </a:custGeom>
              <a:solidFill>
                <a:srgbClr val="40403F"/>
              </a:solidFill>
              <a:ln w="5398" cap="flat">
                <a:noFill/>
                <a:prstDash val="solid"/>
                <a:miter/>
              </a:ln>
            </p:spPr>
            <p:txBody>
              <a:bodyPr rtlCol="0" anchor="ctr"/>
              <a:lstStyle/>
              <a:p>
                <a:endParaRPr lang="en-US"/>
              </a:p>
            </p:txBody>
          </p:sp>
          <p:sp>
            <p:nvSpPr>
              <p:cNvPr id="19" name="Freeform: Shape 42">
                <a:extLst>
                  <a:ext uri="{FF2B5EF4-FFF2-40B4-BE49-F238E27FC236}">
                    <a16:creationId xmlns:a16="http://schemas.microsoft.com/office/drawing/2014/main" id="{44935821-BC4D-440D-B38C-9263DF81A504}"/>
                  </a:ext>
                </a:extLst>
              </p:cNvPr>
              <p:cNvSpPr/>
              <p:nvPr/>
            </p:nvSpPr>
            <p:spPr>
              <a:xfrm rot="16896000">
                <a:off x="3694479" y="6375152"/>
                <a:ext cx="217191" cy="217191"/>
              </a:xfrm>
              <a:custGeom>
                <a:avLst/>
                <a:gdLst>
                  <a:gd name="connsiteX0" fmla="*/ 217191 w 217191"/>
                  <a:gd name="connsiteY0" fmla="*/ 108595 h 217191"/>
                  <a:gd name="connsiteX1" fmla="*/ 108596 w 217191"/>
                  <a:gd name="connsiteY1" fmla="*/ 217191 h 217191"/>
                  <a:gd name="connsiteX2" fmla="*/ 0 w 217191"/>
                  <a:gd name="connsiteY2" fmla="*/ 108595 h 217191"/>
                  <a:gd name="connsiteX3" fmla="*/ 108596 w 217191"/>
                  <a:gd name="connsiteY3" fmla="*/ 0 h 217191"/>
                  <a:gd name="connsiteX4" fmla="*/ 217191 w 217191"/>
                  <a:gd name="connsiteY4" fmla="*/ 108595 h 2171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191" h="217191">
                    <a:moveTo>
                      <a:pt x="217191" y="108595"/>
                    </a:moveTo>
                    <a:cubicBezTo>
                      <a:pt x="217191" y="168571"/>
                      <a:pt x="168571" y="217191"/>
                      <a:pt x="108596" y="217191"/>
                    </a:cubicBezTo>
                    <a:cubicBezTo>
                      <a:pt x="48620" y="217191"/>
                      <a:pt x="0" y="168571"/>
                      <a:pt x="0" y="108595"/>
                    </a:cubicBezTo>
                    <a:cubicBezTo>
                      <a:pt x="0" y="48620"/>
                      <a:pt x="48620" y="0"/>
                      <a:pt x="108596" y="0"/>
                    </a:cubicBezTo>
                    <a:cubicBezTo>
                      <a:pt x="168572" y="0"/>
                      <a:pt x="217191" y="48620"/>
                      <a:pt x="217191" y="108595"/>
                    </a:cubicBezTo>
                    <a:close/>
                  </a:path>
                </a:pathLst>
              </a:custGeom>
              <a:solidFill>
                <a:srgbClr val="0070C0"/>
              </a:solidFill>
              <a:ln w="5398" cap="flat">
                <a:noFill/>
                <a:prstDash val="solid"/>
                <a:miter/>
              </a:ln>
            </p:spPr>
            <p:txBody>
              <a:bodyPr rtlCol="0" anchor="ctr"/>
              <a:lstStyle/>
              <a:p>
                <a:endParaRPr lang="en-US"/>
              </a:p>
            </p:txBody>
          </p:sp>
          <p:sp>
            <p:nvSpPr>
              <p:cNvPr id="20" name="Freeform: Shape 43">
                <a:extLst>
                  <a:ext uri="{FF2B5EF4-FFF2-40B4-BE49-F238E27FC236}">
                    <a16:creationId xmlns:a16="http://schemas.microsoft.com/office/drawing/2014/main" id="{D8BB4F0A-306F-C07E-0B1E-85DAC55C6366}"/>
                  </a:ext>
                </a:extLst>
              </p:cNvPr>
              <p:cNvSpPr/>
              <p:nvPr/>
            </p:nvSpPr>
            <p:spPr>
              <a:xfrm>
                <a:off x="1246605" y="940006"/>
                <a:ext cx="3896151" cy="736397"/>
              </a:xfrm>
              <a:custGeom>
                <a:avLst/>
                <a:gdLst>
                  <a:gd name="connsiteX0" fmla="*/ 368199 w 3896151"/>
                  <a:gd name="connsiteY0" fmla="*/ 736397 h 736397"/>
                  <a:gd name="connsiteX1" fmla="*/ 0 w 3896151"/>
                  <a:gd name="connsiteY1" fmla="*/ 368199 h 736397"/>
                  <a:gd name="connsiteX2" fmla="*/ 368199 w 3896151"/>
                  <a:gd name="connsiteY2" fmla="*/ 0 h 736397"/>
                  <a:gd name="connsiteX3" fmla="*/ 3527953 w 3896151"/>
                  <a:gd name="connsiteY3" fmla="*/ 0 h 736397"/>
                  <a:gd name="connsiteX4" fmla="*/ 3896151 w 3896151"/>
                  <a:gd name="connsiteY4" fmla="*/ 368199 h 736397"/>
                  <a:gd name="connsiteX5" fmla="*/ 3527953 w 3896151"/>
                  <a:gd name="connsiteY5" fmla="*/ 736397 h 736397"/>
                  <a:gd name="connsiteX6" fmla="*/ 368199 w 3896151"/>
                  <a:gd name="connsiteY6" fmla="*/ 736397 h 736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6151" h="736397">
                    <a:moveTo>
                      <a:pt x="368199" y="736397"/>
                    </a:moveTo>
                    <a:cubicBezTo>
                      <a:pt x="165163" y="736397"/>
                      <a:pt x="0" y="571234"/>
                      <a:pt x="0" y="368199"/>
                    </a:cubicBezTo>
                    <a:cubicBezTo>
                      <a:pt x="0" y="165163"/>
                      <a:pt x="165163" y="0"/>
                      <a:pt x="368199" y="0"/>
                    </a:cubicBezTo>
                    <a:lnTo>
                      <a:pt x="3527953" y="0"/>
                    </a:lnTo>
                    <a:cubicBezTo>
                      <a:pt x="3730935" y="0"/>
                      <a:pt x="3896151" y="165163"/>
                      <a:pt x="3896151" y="368199"/>
                    </a:cubicBezTo>
                    <a:cubicBezTo>
                      <a:pt x="3896151" y="571234"/>
                      <a:pt x="3730989" y="736397"/>
                      <a:pt x="3527953" y="736397"/>
                    </a:cubicBezTo>
                    <a:lnTo>
                      <a:pt x="368199" y="736397"/>
                    </a:lnTo>
                    <a:close/>
                  </a:path>
                </a:pathLst>
              </a:custGeom>
              <a:solidFill>
                <a:srgbClr val="FFFFFF"/>
              </a:solidFill>
              <a:ln w="6350" cap="flat">
                <a:solidFill>
                  <a:srgbClr val="0070C0"/>
                </a:solidFill>
                <a:prstDash val="solid"/>
                <a:miter/>
              </a:ln>
            </p:spPr>
            <p:txBody>
              <a:bodyPr rtlCol="0" anchor="ctr"/>
              <a:lstStyle/>
              <a:p>
                <a:pPr algn="ctr"/>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Operating Model</a:t>
                </a:r>
              </a:p>
            </p:txBody>
          </p:sp>
          <p:sp>
            <p:nvSpPr>
              <p:cNvPr id="21" name="TextBox 20">
                <a:extLst>
                  <a:ext uri="{FF2B5EF4-FFF2-40B4-BE49-F238E27FC236}">
                    <a16:creationId xmlns:a16="http://schemas.microsoft.com/office/drawing/2014/main" id="{30A3ED25-C4F8-553C-BD1E-6E33F594A6EF}"/>
                  </a:ext>
                </a:extLst>
              </p:cNvPr>
              <p:cNvSpPr txBox="1"/>
              <p:nvPr/>
            </p:nvSpPr>
            <p:spPr>
              <a:xfrm>
                <a:off x="771958" y="1951335"/>
                <a:ext cx="4868017" cy="2867191"/>
              </a:xfrm>
              <a:prstGeom prst="rect">
                <a:avLst/>
              </a:prstGeom>
              <a:noFill/>
            </p:spPr>
            <p:txBody>
              <a:bodyPr wrap="square" rtlCol="0">
                <a:spAutoFit/>
              </a:bodyPr>
              <a:lstStyle/>
              <a:p>
                <a:pPr marL="171450" lvl="0" indent="-171450">
                  <a:lnSpc>
                    <a:spcPct val="150000"/>
                  </a:lnSpc>
                  <a:spcBef>
                    <a:spcPts val="600"/>
                  </a:spcBef>
                  <a:buClr>
                    <a:srgbClr val="00B0F0"/>
                  </a:buClr>
                  <a:buFont typeface="Wingdings" panose="05000000000000000000" pitchFamily="2" charset="2"/>
                  <a:buChar char="Ø"/>
                  <a:defRPr/>
                </a:pPr>
                <a:r>
                  <a:rPr lang="en-US" sz="1200">
                    <a:solidFill>
                      <a:prstClr val="black"/>
                    </a:solidFill>
                    <a:latin typeface="Lato"/>
                  </a:rPr>
                  <a:t>Pod-based or capability-aligned teams across QE, Data, Digital, and Cloud</a:t>
                </a:r>
              </a:p>
              <a:p>
                <a:pPr marL="171450" lvl="0" indent="-171450">
                  <a:lnSpc>
                    <a:spcPct val="150000"/>
                  </a:lnSpc>
                  <a:spcBef>
                    <a:spcPts val="600"/>
                  </a:spcBef>
                  <a:buClr>
                    <a:srgbClr val="00B0F0"/>
                  </a:buClr>
                  <a:buFont typeface="Wingdings" panose="05000000000000000000" pitchFamily="2" charset="2"/>
                  <a:buChar char="Ø"/>
                  <a:defRPr/>
                </a:pPr>
                <a:r>
                  <a:rPr lang="en-US" sz="1200">
                    <a:solidFill>
                      <a:prstClr val="black"/>
                    </a:solidFill>
                    <a:latin typeface="Lato"/>
                  </a:rPr>
                  <a:t>Flexible resource reallocation across programs based on priority</a:t>
                </a:r>
              </a:p>
              <a:p>
                <a:pPr marL="171450" lvl="0" indent="-171450">
                  <a:lnSpc>
                    <a:spcPct val="150000"/>
                  </a:lnSpc>
                  <a:spcBef>
                    <a:spcPts val="600"/>
                  </a:spcBef>
                  <a:buClr>
                    <a:srgbClr val="00B0F0"/>
                  </a:buClr>
                  <a:buFont typeface="Wingdings" panose="05000000000000000000" pitchFamily="2" charset="2"/>
                  <a:buChar char="Ø"/>
                  <a:defRPr/>
                </a:pPr>
                <a:r>
                  <a:rPr lang="en-US" sz="1200">
                    <a:solidFill>
                      <a:prstClr val="black"/>
                    </a:solidFill>
                    <a:latin typeface="Lato"/>
                  </a:rPr>
                  <a:t>Integrated DevOps, QA, and </a:t>
                </a:r>
                <a:r>
                  <a:rPr lang="en-US" sz="1200" err="1">
                    <a:solidFill>
                      <a:prstClr val="black"/>
                    </a:solidFill>
                    <a:latin typeface="Lato"/>
                  </a:rPr>
                  <a:t>CloudOps</a:t>
                </a:r>
                <a:r>
                  <a:rPr lang="en-US" sz="1200">
                    <a:solidFill>
                      <a:prstClr val="black"/>
                    </a:solidFill>
                    <a:latin typeface="Lato"/>
                  </a:rPr>
                  <a:t> model</a:t>
                </a:r>
              </a:p>
              <a:p>
                <a:pPr marL="171450" lvl="0" indent="-171450">
                  <a:lnSpc>
                    <a:spcPct val="150000"/>
                  </a:lnSpc>
                  <a:spcBef>
                    <a:spcPts val="600"/>
                  </a:spcBef>
                  <a:buClr>
                    <a:srgbClr val="00B0F0"/>
                  </a:buClr>
                  <a:buFont typeface="Wingdings" panose="05000000000000000000" pitchFamily="2" charset="2"/>
                  <a:buChar char="Ø"/>
                  <a:defRPr/>
                </a:pPr>
                <a:r>
                  <a:rPr lang="en-US" sz="1200">
                    <a:solidFill>
                      <a:prstClr val="black"/>
                    </a:solidFill>
                    <a:latin typeface="Lato"/>
                  </a:rPr>
                  <a:t>Strong focus on security, compliance, and audit readiness</a:t>
                </a:r>
              </a:p>
            </p:txBody>
          </p:sp>
        </p:grpSp>
        <p:grpSp>
          <p:nvGrpSpPr>
            <p:cNvPr id="7" name="Group 6">
              <a:extLst>
                <a:ext uri="{FF2B5EF4-FFF2-40B4-BE49-F238E27FC236}">
                  <a16:creationId xmlns:a16="http://schemas.microsoft.com/office/drawing/2014/main" id="{C6532D06-62C3-29B7-684C-47330E423A40}"/>
                </a:ext>
              </a:extLst>
            </p:cNvPr>
            <p:cNvGrpSpPr/>
            <p:nvPr/>
          </p:nvGrpSpPr>
          <p:grpSpPr>
            <a:xfrm>
              <a:off x="7976267" y="2019299"/>
              <a:ext cx="3829595" cy="4471443"/>
              <a:chOff x="482600" y="832074"/>
              <a:chExt cx="5424161" cy="5760269"/>
            </a:xfrm>
          </p:grpSpPr>
          <p:sp>
            <p:nvSpPr>
              <p:cNvPr id="8" name="Freeform: Shape 46">
                <a:extLst>
                  <a:ext uri="{FF2B5EF4-FFF2-40B4-BE49-F238E27FC236}">
                    <a16:creationId xmlns:a16="http://schemas.microsoft.com/office/drawing/2014/main" id="{52890DB2-A7AA-2BD8-C5D3-D3492E829B53}"/>
                  </a:ext>
                </a:extLst>
              </p:cNvPr>
              <p:cNvSpPr/>
              <p:nvPr/>
            </p:nvSpPr>
            <p:spPr>
              <a:xfrm>
                <a:off x="1578716" y="832074"/>
                <a:ext cx="3231928" cy="952262"/>
              </a:xfrm>
              <a:custGeom>
                <a:avLst/>
                <a:gdLst>
                  <a:gd name="connsiteX0" fmla="*/ 3819702 w 4479650"/>
                  <a:gd name="connsiteY0" fmla="*/ 0 h 1319895"/>
                  <a:gd name="connsiteX1" fmla="*/ 659948 w 4479650"/>
                  <a:gd name="connsiteY1" fmla="*/ 0 h 1319895"/>
                  <a:gd name="connsiteX2" fmla="*/ 0 w 4479650"/>
                  <a:gd name="connsiteY2" fmla="*/ 659948 h 1319895"/>
                  <a:gd name="connsiteX3" fmla="*/ 659948 w 4479650"/>
                  <a:gd name="connsiteY3" fmla="*/ 1319896 h 1319895"/>
                  <a:gd name="connsiteX4" fmla="*/ 3819702 w 4479650"/>
                  <a:gd name="connsiteY4" fmla="*/ 1319896 h 1319895"/>
                  <a:gd name="connsiteX5" fmla="*/ 4479650 w 4479650"/>
                  <a:gd name="connsiteY5" fmla="*/ 659948 h 1319895"/>
                  <a:gd name="connsiteX6" fmla="*/ 3819702 w 4479650"/>
                  <a:gd name="connsiteY6" fmla="*/ 0 h 1319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79650" h="1319895">
                    <a:moveTo>
                      <a:pt x="3819702" y="0"/>
                    </a:moveTo>
                    <a:lnTo>
                      <a:pt x="659948" y="0"/>
                    </a:lnTo>
                    <a:cubicBezTo>
                      <a:pt x="295477" y="0"/>
                      <a:pt x="0" y="295477"/>
                      <a:pt x="0" y="659948"/>
                    </a:cubicBezTo>
                    <a:cubicBezTo>
                      <a:pt x="0" y="1024419"/>
                      <a:pt x="295477" y="1319896"/>
                      <a:pt x="659948" y="1319896"/>
                    </a:cubicBezTo>
                    <a:lnTo>
                      <a:pt x="3819702" y="1319896"/>
                    </a:lnTo>
                    <a:cubicBezTo>
                      <a:pt x="4184173" y="1319896"/>
                      <a:pt x="4479650" y="1024419"/>
                      <a:pt x="4479650" y="659948"/>
                    </a:cubicBezTo>
                    <a:cubicBezTo>
                      <a:pt x="4479650" y="295477"/>
                      <a:pt x="4184173" y="0"/>
                      <a:pt x="3819702" y="0"/>
                    </a:cubicBezTo>
                    <a:close/>
                  </a:path>
                </a:pathLst>
              </a:custGeom>
              <a:solidFill>
                <a:srgbClr val="0070C0"/>
              </a:solidFill>
              <a:ln w="5398" cap="flat">
                <a:noFill/>
                <a:prstDash val="solid"/>
                <a:miter/>
              </a:ln>
            </p:spPr>
            <p:txBody>
              <a:bodyPr rtlCol="0" anchor="ctr"/>
              <a:lstStyle/>
              <a:p>
                <a:endParaRPr lang="en-US"/>
              </a:p>
            </p:txBody>
          </p:sp>
          <p:sp>
            <p:nvSpPr>
              <p:cNvPr id="9" name="Freeform: Shape 47">
                <a:extLst>
                  <a:ext uri="{FF2B5EF4-FFF2-40B4-BE49-F238E27FC236}">
                    <a16:creationId xmlns:a16="http://schemas.microsoft.com/office/drawing/2014/main" id="{7AEEC46F-7D52-3309-4FE4-60078D5E29AA}"/>
                  </a:ext>
                </a:extLst>
              </p:cNvPr>
              <p:cNvSpPr/>
              <p:nvPr/>
            </p:nvSpPr>
            <p:spPr>
              <a:xfrm>
                <a:off x="482600" y="1287026"/>
                <a:ext cx="2124908" cy="5217883"/>
              </a:xfrm>
              <a:custGeom>
                <a:avLst/>
                <a:gdLst>
                  <a:gd name="connsiteX0" fmla="*/ 2103784 w 2124908"/>
                  <a:gd name="connsiteY0" fmla="*/ 5217830 h 5217883"/>
                  <a:gd name="connsiteX1" fmla="*/ 471554 w 2124908"/>
                  <a:gd name="connsiteY1" fmla="*/ 5217830 h 5217883"/>
                  <a:gd name="connsiteX2" fmla="*/ 0 w 2124908"/>
                  <a:gd name="connsiteY2" fmla="*/ 4746276 h 5217883"/>
                  <a:gd name="connsiteX3" fmla="*/ 0 w 2124908"/>
                  <a:gd name="connsiteY3" fmla="*/ 471553 h 5217883"/>
                  <a:gd name="connsiteX4" fmla="*/ 471554 w 2124908"/>
                  <a:gd name="connsiteY4" fmla="*/ 0 h 5217883"/>
                  <a:gd name="connsiteX5" fmla="*/ 1254847 w 2124908"/>
                  <a:gd name="connsiteY5" fmla="*/ 0 h 5217883"/>
                  <a:gd name="connsiteX6" fmla="*/ 1276026 w 2124908"/>
                  <a:gd name="connsiteY6" fmla="*/ 21179 h 5217883"/>
                  <a:gd name="connsiteX7" fmla="*/ 1254847 w 2124908"/>
                  <a:gd name="connsiteY7" fmla="*/ 42358 h 5217883"/>
                  <a:gd name="connsiteX8" fmla="*/ 471554 w 2124908"/>
                  <a:gd name="connsiteY8" fmla="*/ 42358 h 5217883"/>
                  <a:gd name="connsiteX9" fmla="*/ 42304 w 2124908"/>
                  <a:gd name="connsiteY9" fmla="*/ 471607 h 5217883"/>
                  <a:gd name="connsiteX10" fmla="*/ 42304 w 2124908"/>
                  <a:gd name="connsiteY10" fmla="*/ 4746276 h 5217883"/>
                  <a:gd name="connsiteX11" fmla="*/ 471554 w 2124908"/>
                  <a:gd name="connsiteY11" fmla="*/ 5175526 h 5217883"/>
                  <a:gd name="connsiteX12" fmla="*/ 2103730 w 2124908"/>
                  <a:gd name="connsiteY12" fmla="*/ 5175526 h 5217883"/>
                  <a:gd name="connsiteX13" fmla="*/ 2124908 w 2124908"/>
                  <a:gd name="connsiteY13" fmla="*/ 5196705 h 5217883"/>
                  <a:gd name="connsiteX14" fmla="*/ 2103730 w 2124908"/>
                  <a:gd name="connsiteY14" fmla="*/ 5217884 h 5217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4908" h="5217883">
                    <a:moveTo>
                      <a:pt x="2103784" y="5217830"/>
                    </a:moveTo>
                    <a:lnTo>
                      <a:pt x="471554" y="5217830"/>
                    </a:lnTo>
                    <a:cubicBezTo>
                      <a:pt x="211518" y="5217830"/>
                      <a:pt x="0" y="5006311"/>
                      <a:pt x="0" y="4746276"/>
                    </a:cubicBezTo>
                    <a:lnTo>
                      <a:pt x="0" y="471553"/>
                    </a:lnTo>
                    <a:cubicBezTo>
                      <a:pt x="0" y="211518"/>
                      <a:pt x="211518" y="0"/>
                      <a:pt x="471554" y="0"/>
                    </a:cubicBezTo>
                    <a:lnTo>
                      <a:pt x="1254847" y="0"/>
                    </a:lnTo>
                    <a:cubicBezTo>
                      <a:pt x="1266517" y="0"/>
                      <a:pt x="1276026" y="9455"/>
                      <a:pt x="1276026" y="21179"/>
                    </a:cubicBezTo>
                    <a:cubicBezTo>
                      <a:pt x="1276026" y="32903"/>
                      <a:pt x="1266571" y="42358"/>
                      <a:pt x="1254847" y="42358"/>
                    </a:cubicBezTo>
                    <a:lnTo>
                      <a:pt x="471554" y="42358"/>
                    </a:lnTo>
                    <a:cubicBezTo>
                      <a:pt x="234858" y="42358"/>
                      <a:pt x="42304" y="234912"/>
                      <a:pt x="42304" y="471607"/>
                    </a:cubicBezTo>
                    <a:lnTo>
                      <a:pt x="42304" y="4746276"/>
                    </a:lnTo>
                    <a:cubicBezTo>
                      <a:pt x="42304" y="4982972"/>
                      <a:pt x="234858" y="5175526"/>
                      <a:pt x="471554" y="5175526"/>
                    </a:cubicBezTo>
                    <a:lnTo>
                      <a:pt x="2103730" y="5175526"/>
                    </a:lnTo>
                    <a:cubicBezTo>
                      <a:pt x="2115400" y="5175526"/>
                      <a:pt x="2124908" y="5184981"/>
                      <a:pt x="2124908" y="5196705"/>
                    </a:cubicBezTo>
                    <a:cubicBezTo>
                      <a:pt x="2124908" y="5208429"/>
                      <a:pt x="2115453" y="5217884"/>
                      <a:pt x="2103730" y="5217884"/>
                    </a:cubicBezTo>
                    <a:close/>
                  </a:path>
                </a:pathLst>
              </a:custGeom>
              <a:solidFill>
                <a:srgbClr val="40403F"/>
              </a:solidFill>
              <a:ln w="25400" cap="flat">
                <a:solidFill>
                  <a:schemeClr val="bg1"/>
                </a:solidFill>
                <a:prstDash val="solid"/>
                <a:miter/>
              </a:ln>
            </p:spPr>
            <p:txBody>
              <a:bodyPr rtlCol="0" anchor="ctr"/>
              <a:lstStyle/>
              <a:p>
                <a:endParaRPr lang="en-US"/>
              </a:p>
            </p:txBody>
          </p:sp>
          <p:sp>
            <p:nvSpPr>
              <p:cNvPr id="10" name="Freeform: Shape 48">
                <a:extLst>
                  <a:ext uri="{FF2B5EF4-FFF2-40B4-BE49-F238E27FC236}">
                    <a16:creationId xmlns:a16="http://schemas.microsoft.com/office/drawing/2014/main" id="{374EA558-CFC5-4A94-E58F-89B0DBFD3AE4}"/>
                  </a:ext>
                </a:extLst>
              </p:cNvPr>
              <p:cNvSpPr/>
              <p:nvPr/>
            </p:nvSpPr>
            <p:spPr>
              <a:xfrm>
                <a:off x="3781853" y="1286972"/>
                <a:ext cx="2124908" cy="5217883"/>
              </a:xfrm>
              <a:custGeom>
                <a:avLst/>
                <a:gdLst>
                  <a:gd name="connsiteX0" fmla="*/ 1653355 w 2124908"/>
                  <a:gd name="connsiteY0" fmla="*/ 5217884 h 5217883"/>
                  <a:gd name="connsiteX1" fmla="*/ 21179 w 2124908"/>
                  <a:gd name="connsiteY1" fmla="*/ 5217884 h 5217883"/>
                  <a:gd name="connsiteX2" fmla="*/ 0 w 2124908"/>
                  <a:gd name="connsiteY2" fmla="*/ 5196705 h 5217883"/>
                  <a:gd name="connsiteX3" fmla="*/ 21179 w 2124908"/>
                  <a:gd name="connsiteY3" fmla="*/ 5175526 h 5217883"/>
                  <a:gd name="connsiteX4" fmla="*/ 1653355 w 2124908"/>
                  <a:gd name="connsiteY4" fmla="*/ 5175526 h 5217883"/>
                  <a:gd name="connsiteX5" fmla="*/ 2082605 w 2124908"/>
                  <a:gd name="connsiteY5" fmla="*/ 4746277 h 5217883"/>
                  <a:gd name="connsiteX6" fmla="*/ 2082605 w 2124908"/>
                  <a:gd name="connsiteY6" fmla="*/ 471607 h 5217883"/>
                  <a:gd name="connsiteX7" fmla="*/ 1653355 w 2124908"/>
                  <a:gd name="connsiteY7" fmla="*/ 42358 h 5217883"/>
                  <a:gd name="connsiteX8" fmla="*/ 870062 w 2124908"/>
                  <a:gd name="connsiteY8" fmla="*/ 42358 h 5217883"/>
                  <a:gd name="connsiteX9" fmla="*/ 848883 w 2124908"/>
                  <a:gd name="connsiteY9" fmla="*/ 21179 h 5217883"/>
                  <a:gd name="connsiteX10" fmla="*/ 870062 w 2124908"/>
                  <a:gd name="connsiteY10" fmla="*/ 0 h 5217883"/>
                  <a:gd name="connsiteX11" fmla="*/ 1653355 w 2124908"/>
                  <a:gd name="connsiteY11" fmla="*/ 0 h 5217883"/>
                  <a:gd name="connsiteX12" fmla="*/ 2124909 w 2124908"/>
                  <a:gd name="connsiteY12" fmla="*/ 471553 h 5217883"/>
                  <a:gd name="connsiteX13" fmla="*/ 2124909 w 2124908"/>
                  <a:gd name="connsiteY13" fmla="*/ 4746223 h 5217883"/>
                  <a:gd name="connsiteX14" fmla="*/ 1653355 w 2124908"/>
                  <a:gd name="connsiteY14" fmla="*/ 5217776 h 5217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4908" h="5217883">
                    <a:moveTo>
                      <a:pt x="1653355" y="5217884"/>
                    </a:moveTo>
                    <a:lnTo>
                      <a:pt x="21179" y="5217884"/>
                    </a:lnTo>
                    <a:cubicBezTo>
                      <a:pt x="9509" y="5217884"/>
                      <a:pt x="0" y="5208429"/>
                      <a:pt x="0" y="5196705"/>
                    </a:cubicBezTo>
                    <a:cubicBezTo>
                      <a:pt x="0" y="5184981"/>
                      <a:pt x="9455" y="5175526"/>
                      <a:pt x="21179" y="5175526"/>
                    </a:cubicBezTo>
                    <a:lnTo>
                      <a:pt x="1653355" y="5175526"/>
                    </a:lnTo>
                    <a:cubicBezTo>
                      <a:pt x="1890050" y="5175526"/>
                      <a:pt x="2082605" y="4982972"/>
                      <a:pt x="2082605" y="4746277"/>
                    </a:cubicBezTo>
                    <a:lnTo>
                      <a:pt x="2082605" y="471607"/>
                    </a:lnTo>
                    <a:cubicBezTo>
                      <a:pt x="2082605" y="234912"/>
                      <a:pt x="1890050" y="42358"/>
                      <a:pt x="1653355" y="42358"/>
                    </a:cubicBezTo>
                    <a:lnTo>
                      <a:pt x="870062" y="42358"/>
                    </a:lnTo>
                    <a:cubicBezTo>
                      <a:pt x="858392" y="42358"/>
                      <a:pt x="848883" y="32903"/>
                      <a:pt x="848883" y="21179"/>
                    </a:cubicBezTo>
                    <a:cubicBezTo>
                      <a:pt x="848883" y="9455"/>
                      <a:pt x="858338" y="0"/>
                      <a:pt x="870062" y="0"/>
                    </a:cubicBezTo>
                    <a:lnTo>
                      <a:pt x="1653355" y="0"/>
                    </a:lnTo>
                    <a:cubicBezTo>
                      <a:pt x="1913390" y="0"/>
                      <a:pt x="2124909" y="211572"/>
                      <a:pt x="2124909" y="471553"/>
                    </a:cubicBezTo>
                    <a:lnTo>
                      <a:pt x="2124909" y="4746223"/>
                    </a:lnTo>
                    <a:cubicBezTo>
                      <a:pt x="2124909" y="5006257"/>
                      <a:pt x="1913390" y="5217776"/>
                      <a:pt x="1653355" y="5217776"/>
                    </a:cubicBezTo>
                    <a:close/>
                  </a:path>
                </a:pathLst>
              </a:custGeom>
              <a:solidFill>
                <a:srgbClr val="0070C0"/>
              </a:solidFill>
              <a:ln w="15875" cap="flat">
                <a:solidFill>
                  <a:schemeClr val="bg1"/>
                </a:solidFill>
                <a:prstDash val="solid"/>
                <a:miter/>
              </a:ln>
            </p:spPr>
            <p:txBody>
              <a:bodyPr rtlCol="0" anchor="ctr"/>
              <a:lstStyle/>
              <a:p>
                <a:endParaRPr lang="en-US"/>
              </a:p>
            </p:txBody>
          </p:sp>
          <p:sp>
            <p:nvSpPr>
              <p:cNvPr id="11" name="Freeform: Shape 49">
                <a:extLst>
                  <a:ext uri="{FF2B5EF4-FFF2-40B4-BE49-F238E27FC236}">
                    <a16:creationId xmlns:a16="http://schemas.microsoft.com/office/drawing/2014/main" id="{B5807D8D-F03B-367D-645F-5B9E40873AF0}"/>
                  </a:ext>
                </a:extLst>
              </p:cNvPr>
              <p:cNvSpPr/>
              <p:nvPr/>
            </p:nvSpPr>
            <p:spPr>
              <a:xfrm rot="16390200">
                <a:off x="2477735" y="6375042"/>
                <a:ext cx="217191" cy="217191"/>
              </a:xfrm>
              <a:custGeom>
                <a:avLst/>
                <a:gdLst>
                  <a:gd name="connsiteX0" fmla="*/ 217191 w 217191"/>
                  <a:gd name="connsiteY0" fmla="*/ 108595 h 217191"/>
                  <a:gd name="connsiteX1" fmla="*/ 108596 w 217191"/>
                  <a:gd name="connsiteY1" fmla="*/ 217191 h 217191"/>
                  <a:gd name="connsiteX2" fmla="*/ 0 w 217191"/>
                  <a:gd name="connsiteY2" fmla="*/ 108595 h 217191"/>
                  <a:gd name="connsiteX3" fmla="*/ 108596 w 217191"/>
                  <a:gd name="connsiteY3" fmla="*/ 0 h 217191"/>
                  <a:gd name="connsiteX4" fmla="*/ 217191 w 217191"/>
                  <a:gd name="connsiteY4" fmla="*/ 108595 h 2171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191" h="217191">
                    <a:moveTo>
                      <a:pt x="217191" y="108595"/>
                    </a:moveTo>
                    <a:cubicBezTo>
                      <a:pt x="217191" y="168571"/>
                      <a:pt x="168571" y="217191"/>
                      <a:pt x="108596" y="217191"/>
                    </a:cubicBezTo>
                    <a:cubicBezTo>
                      <a:pt x="48620" y="217191"/>
                      <a:pt x="0" y="168571"/>
                      <a:pt x="0" y="108595"/>
                    </a:cubicBezTo>
                    <a:cubicBezTo>
                      <a:pt x="0" y="48620"/>
                      <a:pt x="48620" y="0"/>
                      <a:pt x="108596" y="0"/>
                    </a:cubicBezTo>
                    <a:cubicBezTo>
                      <a:pt x="168571" y="0"/>
                      <a:pt x="217191" y="48620"/>
                      <a:pt x="217191" y="108595"/>
                    </a:cubicBezTo>
                    <a:close/>
                  </a:path>
                </a:pathLst>
              </a:custGeom>
              <a:solidFill>
                <a:srgbClr val="40403F"/>
              </a:solidFill>
              <a:ln w="5398" cap="flat">
                <a:noFill/>
                <a:prstDash val="solid"/>
                <a:miter/>
              </a:ln>
            </p:spPr>
            <p:txBody>
              <a:bodyPr rtlCol="0" anchor="ctr"/>
              <a:lstStyle/>
              <a:p>
                <a:endParaRPr lang="en-US"/>
              </a:p>
            </p:txBody>
          </p:sp>
          <p:sp>
            <p:nvSpPr>
              <p:cNvPr id="12" name="Freeform: Shape 50">
                <a:extLst>
                  <a:ext uri="{FF2B5EF4-FFF2-40B4-BE49-F238E27FC236}">
                    <a16:creationId xmlns:a16="http://schemas.microsoft.com/office/drawing/2014/main" id="{C74BF738-F5A6-9ACD-AF9C-5CB29045FDF4}"/>
                  </a:ext>
                </a:extLst>
              </p:cNvPr>
              <p:cNvSpPr/>
              <p:nvPr/>
            </p:nvSpPr>
            <p:spPr>
              <a:xfrm rot="16896000">
                <a:off x="3694479" y="6375152"/>
                <a:ext cx="217191" cy="217191"/>
              </a:xfrm>
              <a:custGeom>
                <a:avLst/>
                <a:gdLst>
                  <a:gd name="connsiteX0" fmla="*/ 217191 w 217191"/>
                  <a:gd name="connsiteY0" fmla="*/ 108595 h 217191"/>
                  <a:gd name="connsiteX1" fmla="*/ 108596 w 217191"/>
                  <a:gd name="connsiteY1" fmla="*/ 217191 h 217191"/>
                  <a:gd name="connsiteX2" fmla="*/ 0 w 217191"/>
                  <a:gd name="connsiteY2" fmla="*/ 108595 h 217191"/>
                  <a:gd name="connsiteX3" fmla="*/ 108596 w 217191"/>
                  <a:gd name="connsiteY3" fmla="*/ 0 h 217191"/>
                  <a:gd name="connsiteX4" fmla="*/ 217191 w 217191"/>
                  <a:gd name="connsiteY4" fmla="*/ 108595 h 2171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191" h="217191">
                    <a:moveTo>
                      <a:pt x="217191" y="108595"/>
                    </a:moveTo>
                    <a:cubicBezTo>
                      <a:pt x="217191" y="168571"/>
                      <a:pt x="168571" y="217191"/>
                      <a:pt x="108596" y="217191"/>
                    </a:cubicBezTo>
                    <a:cubicBezTo>
                      <a:pt x="48620" y="217191"/>
                      <a:pt x="0" y="168571"/>
                      <a:pt x="0" y="108595"/>
                    </a:cubicBezTo>
                    <a:cubicBezTo>
                      <a:pt x="0" y="48620"/>
                      <a:pt x="48620" y="0"/>
                      <a:pt x="108596" y="0"/>
                    </a:cubicBezTo>
                    <a:cubicBezTo>
                      <a:pt x="168572" y="0"/>
                      <a:pt x="217191" y="48620"/>
                      <a:pt x="217191" y="108595"/>
                    </a:cubicBezTo>
                    <a:close/>
                  </a:path>
                </a:pathLst>
              </a:custGeom>
              <a:solidFill>
                <a:srgbClr val="0070C0"/>
              </a:solidFill>
              <a:ln w="5398" cap="flat">
                <a:noFill/>
                <a:prstDash val="solid"/>
                <a:miter/>
              </a:ln>
            </p:spPr>
            <p:txBody>
              <a:bodyPr rtlCol="0" anchor="ctr"/>
              <a:lstStyle/>
              <a:p>
                <a:endParaRPr lang="en-US"/>
              </a:p>
            </p:txBody>
          </p:sp>
          <p:sp>
            <p:nvSpPr>
              <p:cNvPr id="13" name="Freeform: Shape 51">
                <a:extLst>
                  <a:ext uri="{FF2B5EF4-FFF2-40B4-BE49-F238E27FC236}">
                    <a16:creationId xmlns:a16="http://schemas.microsoft.com/office/drawing/2014/main" id="{560ECD5F-E255-A377-B50B-9CAF702BCD56}"/>
                  </a:ext>
                </a:extLst>
              </p:cNvPr>
              <p:cNvSpPr/>
              <p:nvPr/>
            </p:nvSpPr>
            <p:spPr>
              <a:xfrm>
                <a:off x="1246605" y="940006"/>
                <a:ext cx="3896151" cy="736397"/>
              </a:xfrm>
              <a:custGeom>
                <a:avLst/>
                <a:gdLst>
                  <a:gd name="connsiteX0" fmla="*/ 368199 w 3896151"/>
                  <a:gd name="connsiteY0" fmla="*/ 736397 h 736397"/>
                  <a:gd name="connsiteX1" fmla="*/ 0 w 3896151"/>
                  <a:gd name="connsiteY1" fmla="*/ 368199 h 736397"/>
                  <a:gd name="connsiteX2" fmla="*/ 368199 w 3896151"/>
                  <a:gd name="connsiteY2" fmla="*/ 0 h 736397"/>
                  <a:gd name="connsiteX3" fmla="*/ 3527953 w 3896151"/>
                  <a:gd name="connsiteY3" fmla="*/ 0 h 736397"/>
                  <a:gd name="connsiteX4" fmla="*/ 3896151 w 3896151"/>
                  <a:gd name="connsiteY4" fmla="*/ 368199 h 736397"/>
                  <a:gd name="connsiteX5" fmla="*/ 3527953 w 3896151"/>
                  <a:gd name="connsiteY5" fmla="*/ 736397 h 736397"/>
                  <a:gd name="connsiteX6" fmla="*/ 368199 w 3896151"/>
                  <a:gd name="connsiteY6" fmla="*/ 736397 h 736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6151" h="736397">
                    <a:moveTo>
                      <a:pt x="368199" y="736397"/>
                    </a:moveTo>
                    <a:cubicBezTo>
                      <a:pt x="165163" y="736397"/>
                      <a:pt x="0" y="571234"/>
                      <a:pt x="0" y="368199"/>
                    </a:cubicBezTo>
                    <a:cubicBezTo>
                      <a:pt x="0" y="165163"/>
                      <a:pt x="165163" y="0"/>
                      <a:pt x="368199" y="0"/>
                    </a:cubicBezTo>
                    <a:lnTo>
                      <a:pt x="3527953" y="0"/>
                    </a:lnTo>
                    <a:cubicBezTo>
                      <a:pt x="3730935" y="0"/>
                      <a:pt x="3896151" y="165163"/>
                      <a:pt x="3896151" y="368199"/>
                    </a:cubicBezTo>
                    <a:cubicBezTo>
                      <a:pt x="3896151" y="571234"/>
                      <a:pt x="3730989" y="736397"/>
                      <a:pt x="3527953" y="736397"/>
                    </a:cubicBezTo>
                    <a:lnTo>
                      <a:pt x="368199" y="736397"/>
                    </a:lnTo>
                    <a:close/>
                  </a:path>
                </a:pathLst>
              </a:custGeom>
              <a:solidFill>
                <a:srgbClr val="FFFFFF"/>
              </a:solidFill>
              <a:ln w="6350" cap="flat">
                <a:solidFill>
                  <a:srgbClr val="0070C0"/>
                </a:solidFill>
                <a:prstDash val="solid"/>
                <a:miter/>
              </a:ln>
            </p:spPr>
            <p:txBody>
              <a:bodyPr rtlCol="0" anchor="ctr"/>
              <a:lstStyle/>
              <a:p>
                <a:pPr algn="ctr"/>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Compliance, Security &amp; Risk Management</a:t>
                </a:r>
              </a:p>
            </p:txBody>
          </p:sp>
          <p:sp>
            <p:nvSpPr>
              <p:cNvPr id="14" name="TextBox 13">
                <a:extLst>
                  <a:ext uri="{FF2B5EF4-FFF2-40B4-BE49-F238E27FC236}">
                    <a16:creationId xmlns:a16="http://schemas.microsoft.com/office/drawing/2014/main" id="{D165CC89-CD06-1911-1E8C-8D9FCB013F5C}"/>
                  </a:ext>
                </a:extLst>
              </p:cNvPr>
              <p:cNvSpPr txBox="1"/>
              <p:nvPr/>
            </p:nvSpPr>
            <p:spPr>
              <a:xfrm>
                <a:off x="771958" y="1934974"/>
                <a:ext cx="4868017" cy="4393672"/>
              </a:xfrm>
              <a:prstGeom prst="rect">
                <a:avLst/>
              </a:prstGeom>
              <a:noFill/>
            </p:spPr>
            <p:txBody>
              <a:bodyPr wrap="square" rtlCol="0">
                <a:spAutoFit/>
              </a:bodyPr>
              <a:lstStyle/>
              <a:p>
                <a:pPr marL="171450" lvl="0" indent="-171450">
                  <a:lnSpc>
                    <a:spcPct val="150000"/>
                  </a:lnSpc>
                  <a:spcBef>
                    <a:spcPts val="600"/>
                  </a:spcBef>
                  <a:buClr>
                    <a:srgbClr val="00B0F0"/>
                  </a:buClr>
                  <a:buFont typeface="Wingdings" panose="05000000000000000000" pitchFamily="2" charset="2"/>
                  <a:buChar char="Ø"/>
                  <a:defRPr/>
                </a:pPr>
                <a:r>
                  <a:rPr lang="en-US" sz="1200">
                    <a:solidFill>
                      <a:prstClr val="black"/>
                    </a:solidFill>
                    <a:latin typeface="Lato"/>
                  </a:rPr>
                  <a:t>Centralized compliance oversight aligned to Lantern Care’s regulatory and audit requirements</a:t>
                </a:r>
              </a:p>
              <a:p>
                <a:pPr marL="171450" lvl="0" indent="-171450">
                  <a:lnSpc>
                    <a:spcPct val="150000"/>
                  </a:lnSpc>
                  <a:spcBef>
                    <a:spcPts val="600"/>
                  </a:spcBef>
                  <a:buClr>
                    <a:srgbClr val="00B0F0"/>
                  </a:buClr>
                  <a:buFont typeface="Wingdings" panose="05000000000000000000" pitchFamily="2" charset="2"/>
                  <a:buChar char="Ø"/>
                  <a:defRPr/>
                </a:pPr>
                <a:r>
                  <a:rPr lang="en-US" sz="1200">
                    <a:solidFill>
                      <a:prstClr val="black"/>
                    </a:solidFill>
                    <a:latin typeface="Lato"/>
                  </a:rPr>
                  <a:t>Standardized security controls across application, data, and cloud operations</a:t>
                </a:r>
              </a:p>
              <a:p>
                <a:pPr marL="171450" lvl="0" indent="-171450">
                  <a:lnSpc>
                    <a:spcPct val="150000"/>
                  </a:lnSpc>
                  <a:spcBef>
                    <a:spcPts val="600"/>
                  </a:spcBef>
                  <a:buClr>
                    <a:srgbClr val="00B0F0"/>
                  </a:buClr>
                  <a:buFont typeface="Wingdings" panose="05000000000000000000" pitchFamily="2" charset="2"/>
                  <a:buChar char="Ø"/>
                  <a:defRPr/>
                </a:pPr>
                <a:r>
                  <a:rPr lang="en-US" sz="1200">
                    <a:solidFill>
                      <a:prstClr val="black"/>
                    </a:solidFill>
                    <a:latin typeface="Lato"/>
                  </a:rPr>
                  <a:t>Role-based access, data protection, and environment governance</a:t>
                </a:r>
              </a:p>
              <a:p>
                <a:pPr marL="171450" lvl="0" indent="-171450">
                  <a:lnSpc>
                    <a:spcPct val="150000"/>
                  </a:lnSpc>
                  <a:spcBef>
                    <a:spcPts val="600"/>
                  </a:spcBef>
                  <a:buClr>
                    <a:srgbClr val="00B0F0"/>
                  </a:buClr>
                  <a:buFont typeface="Wingdings" panose="05000000000000000000" pitchFamily="2" charset="2"/>
                  <a:buChar char="Ø"/>
                  <a:defRPr/>
                </a:pPr>
                <a:r>
                  <a:rPr lang="en-US" sz="1200">
                    <a:solidFill>
                      <a:prstClr val="black"/>
                    </a:solidFill>
                    <a:latin typeface="Lato"/>
                  </a:rPr>
                  <a:t>Proactive risk identification, escalation, and mitigation framework</a:t>
                </a:r>
              </a:p>
              <a:p>
                <a:pPr marL="171450" lvl="0" indent="-171450">
                  <a:lnSpc>
                    <a:spcPct val="150000"/>
                  </a:lnSpc>
                  <a:spcBef>
                    <a:spcPts val="600"/>
                  </a:spcBef>
                  <a:buClr>
                    <a:srgbClr val="00B0F0"/>
                  </a:buClr>
                  <a:buFont typeface="Wingdings" panose="05000000000000000000" pitchFamily="2" charset="2"/>
                  <a:buChar char="Ø"/>
                  <a:defRPr/>
                </a:pPr>
                <a:r>
                  <a:rPr lang="en-US" sz="1200">
                    <a:solidFill>
                      <a:prstClr val="black"/>
                    </a:solidFill>
                    <a:latin typeface="Lato"/>
                  </a:rPr>
                  <a:t>Audit-ready documentation, traceability, and reporting</a:t>
                </a:r>
              </a:p>
            </p:txBody>
          </p:sp>
        </p:grpSp>
      </p:grpSp>
      <p:sp>
        <p:nvSpPr>
          <p:cNvPr id="29" name="Rectangle: Top Corners Rounded 54">
            <a:extLst>
              <a:ext uri="{FF2B5EF4-FFF2-40B4-BE49-F238E27FC236}">
                <a16:creationId xmlns:a16="http://schemas.microsoft.com/office/drawing/2014/main" id="{E5CCFF99-7F1E-AEA0-011B-BB791668EA98}"/>
              </a:ext>
            </a:extLst>
          </p:cNvPr>
          <p:cNvSpPr/>
          <p:nvPr/>
        </p:nvSpPr>
        <p:spPr>
          <a:xfrm>
            <a:off x="2610848" y="721617"/>
            <a:ext cx="6970305" cy="954783"/>
          </a:xfrm>
          <a:prstGeom prst="round2SameRect">
            <a:avLst/>
          </a:prstGeom>
          <a:solidFill>
            <a:schemeClr val="bg1"/>
          </a:solidFill>
          <a:ln w="12700">
            <a:solidFill>
              <a:srgbClr val="00B0F0"/>
            </a:solidFill>
          </a:ln>
          <a:effectLst>
            <a:outerShdw dist="25400" dir="5400000" algn="t" rotWithShape="0">
              <a:srgbClr val="00B0F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Lato" panose="020F0502020204030203" pitchFamily="34" charset="0"/>
                <a:ea typeface="Lato" panose="020F0502020204030203" pitchFamily="34" charset="0"/>
                <a:cs typeface="Lato" panose="020F0502020204030203" pitchFamily="34" charset="0"/>
              </a:rPr>
              <a:t>Innominds will establish a single-vendor governance framework aligned with Lantern Care’s compliance and operational expectations.</a:t>
            </a:r>
          </a:p>
        </p:txBody>
      </p:sp>
    </p:spTree>
    <p:extLst>
      <p:ext uri="{BB962C8B-B14F-4D97-AF65-F5344CB8AC3E}">
        <p14:creationId xmlns:p14="http://schemas.microsoft.com/office/powerpoint/2010/main" val="22538182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3DDC-DCA9-AB8A-4788-5AC2A83148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3FB3EE-26BF-E9CD-86E7-AF245FD1E97C}"/>
              </a:ext>
            </a:extLst>
          </p:cNvPr>
          <p:cNvSpPr>
            <a:spLocks noGrp="1"/>
          </p:cNvSpPr>
          <p:nvPr>
            <p:ph type="title"/>
          </p:nvPr>
        </p:nvSpPr>
        <p:spPr/>
        <p:txBody>
          <a:bodyPr/>
          <a:lstStyle/>
          <a:p>
            <a:r>
              <a:rPr lang="en-US"/>
              <a:t>Transformation Fund &amp; Value Appreciation Model</a:t>
            </a:r>
            <a:endParaRPr lang="en-IN"/>
          </a:p>
        </p:txBody>
      </p:sp>
      <p:sp>
        <p:nvSpPr>
          <p:cNvPr id="3" name="Rectangle: Top Corners Rounded 54">
            <a:extLst>
              <a:ext uri="{FF2B5EF4-FFF2-40B4-BE49-F238E27FC236}">
                <a16:creationId xmlns:a16="http://schemas.microsoft.com/office/drawing/2014/main" id="{B3AF9BB5-CDF4-FBD6-2F91-A193FB06FA73}"/>
              </a:ext>
            </a:extLst>
          </p:cNvPr>
          <p:cNvSpPr/>
          <p:nvPr/>
        </p:nvSpPr>
        <p:spPr>
          <a:xfrm>
            <a:off x="834390" y="995937"/>
            <a:ext cx="10538460" cy="954783"/>
          </a:xfrm>
          <a:prstGeom prst="round2SameRect">
            <a:avLst/>
          </a:prstGeom>
          <a:solidFill>
            <a:schemeClr val="bg1"/>
          </a:solidFill>
          <a:ln w="12700">
            <a:solidFill>
              <a:srgbClr val="00B0F0"/>
            </a:solidFill>
          </a:ln>
          <a:effectLst>
            <a:outerShdw dist="25400" dir="5400000" algn="t" rotWithShape="0">
              <a:srgbClr val="00B0F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Clr>
                <a:srgbClr val="00B0F0"/>
              </a:buClr>
              <a:buFont typeface="Wingdings" panose="05000000000000000000" pitchFamily="2" charset="2"/>
              <a:buChar char="v"/>
            </a:pPr>
            <a:r>
              <a:rPr lang="en-US" sz="1400" dirty="0">
                <a:solidFill>
                  <a:schemeClr val="tx1"/>
                </a:solidFill>
                <a:latin typeface="Lato" panose="020F0502020204030203" pitchFamily="34" charset="0"/>
                <a:ea typeface="Lato" panose="020F0502020204030203" pitchFamily="34" charset="0"/>
                <a:cs typeface="Lato" panose="020F0502020204030203" pitchFamily="34" charset="0"/>
              </a:rPr>
              <a:t>Innominds proposes a Transformation Fund as part of a long-term partnership, activated upon achieving mutually agreed annual commercial milestones (minimum USD 2M).</a:t>
            </a:r>
          </a:p>
          <a:p>
            <a:pPr marL="285750" indent="-285750">
              <a:buClr>
                <a:srgbClr val="00B0F0"/>
              </a:buClr>
              <a:buFont typeface="Wingdings" panose="05000000000000000000" pitchFamily="2" charset="2"/>
              <a:buChar char="v"/>
            </a:pPr>
            <a:r>
              <a:rPr lang="en-US" sz="1400" dirty="0">
                <a:solidFill>
                  <a:schemeClr val="tx1"/>
                </a:solidFill>
                <a:latin typeface="Lato" panose="020F0502020204030203" pitchFamily="34" charset="0"/>
                <a:ea typeface="Lato" panose="020F0502020204030203" pitchFamily="34" charset="0"/>
                <a:cs typeface="Lato" panose="020F0502020204030203" pitchFamily="34" charset="0"/>
              </a:rPr>
              <a:t>The fund supports Lantern Care’s strategic priorities, including workforce ownership, India </a:t>
            </a:r>
            <a:r>
              <a:rPr lang="en-US" sz="1400" dirty="0" err="1">
                <a:solidFill>
                  <a:schemeClr val="tx1"/>
                </a:solidFill>
                <a:latin typeface="Lato" panose="020F0502020204030203" pitchFamily="34" charset="0"/>
                <a:ea typeface="Lato" panose="020F0502020204030203" pitchFamily="34" charset="0"/>
                <a:cs typeface="Lato" panose="020F0502020204030203" pitchFamily="34" charset="0"/>
              </a:rPr>
              <a:t>CoE</a:t>
            </a:r>
            <a:r>
              <a:rPr lang="en-US" sz="1400" dirty="0">
                <a:solidFill>
                  <a:schemeClr val="tx1"/>
                </a:solidFill>
                <a:latin typeface="Lato" panose="020F0502020204030203" pitchFamily="34" charset="0"/>
                <a:ea typeface="Lato" panose="020F0502020204030203" pitchFamily="34" charset="0"/>
                <a:cs typeface="Lato" panose="020F0502020204030203" pitchFamily="34" charset="0"/>
              </a:rPr>
              <a:t> transfer readiness, and Canada hiring enablement.</a:t>
            </a:r>
          </a:p>
        </p:txBody>
      </p:sp>
      <p:sp>
        <p:nvSpPr>
          <p:cNvPr id="4" name="TextBox 3">
            <a:extLst>
              <a:ext uri="{FF2B5EF4-FFF2-40B4-BE49-F238E27FC236}">
                <a16:creationId xmlns:a16="http://schemas.microsoft.com/office/drawing/2014/main" id="{7E502F81-3399-170E-B8EB-4E45ED513160}"/>
              </a:ext>
            </a:extLst>
          </p:cNvPr>
          <p:cNvSpPr txBox="1"/>
          <p:nvPr/>
        </p:nvSpPr>
        <p:spPr>
          <a:xfrm>
            <a:off x="742405" y="2204437"/>
            <a:ext cx="3200945" cy="307777"/>
          </a:xfrm>
          <a:prstGeom prst="rect">
            <a:avLst/>
          </a:prstGeom>
          <a:noFill/>
        </p:spPr>
        <p:txBody>
          <a:bodyPr wrap="square">
            <a:spAutoFit/>
          </a:bodyPr>
          <a:lstStyle/>
          <a:p>
            <a:pPr marR="0" lvl="0" indent="0" fontAlgn="auto">
              <a:lnSpc>
                <a:spcPct val="100000"/>
              </a:lnSpc>
              <a:spcBef>
                <a:spcPts val="0"/>
              </a:spcBef>
              <a:spcAft>
                <a:spcPts val="0"/>
              </a:spcAft>
              <a:buClrTx/>
              <a:buSzTx/>
              <a:buFontTx/>
              <a:buNone/>
              <a:tabLst/>
              <a:defRPr/>
            </a:pPr>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Transformation Fund Structure:</a:t>
            </a:r>
          </a:p>
        </p:txBody>
      </p:sp>
      <p:graphicFrame>
        <p:nvGraphicFramePr>
          <p:cNvPr id="5" name="Table 4">
            <a:extLst>
              <a:ext uri="{FF2B5EF4-FFF2-40B4-BE49-F238E27FC236}">
                <a16:creationId xmlns:a16="http://schemas.microsoft.com/office/drawing/2014/main" id="{29DD0F15-3ACE-2771-A36C-98D2FB35A2B6}"/>
              </a:ext>
            </a:extLst>
          </p:cNvPr>
          <p:cNvGraphicFramePr>
            <a:graphicFrameLocks noGrp="1"/>
          </p:cNvGraphicFramePr>
          <p:nvPr/>
        </p:nvGraphicFramePr>
        <p:xfrm>
          <a:off x="834389" y="2611467"/>
          <a:ext cx="10538460" cy="1400463"/>
        </p:xfrm>
        <a:graphic>
          <a:graphicData uri="http://schemas.openxmlformats.org/drawingml/2006/table">
            <a:tbl>
              <a:tblPr firstRow="1" bandRow="1">
                <a:tableStyleId>{17292A2E-F333-43FB-9621-5CBBE7FDCDCB}</a:tableStyleId>
              </a:tblPr>
              <a:tblGrid>
                <a:gridCol w="3069062">
                  <a:extLst>
                    <a:ext uri="{9D8B030D-6E8A-4147-A177-3AD203B41FA5}">
                      <a16:colId xmlns:a16="http://schemas.microsoft.com/office/drawing/2014/main" val="1230001427"/>
                    </a:ext>
                  </a:extLst>
                </a:gridCol>
                <a:gridCol w="2577359">
                  <a:extLst>
                    <a:ext uri="{9D8B030D-6E8A-4147-A177-3AD203B41FA5}">
                      <a16:colId xmlns:a16="http://schemas.microsoft.com/office/drawing/2014/main" val="1591512394"/>
                    </a:ext>
                  </a:extLst>
                </a:gridCol>
                <a:gridCol w="4892039">
                  <a:extLst>
                    <a:ext uri="{9D8B030D-6E8A-4147-A177-3AD203B41FA5}">
                      <a16:colId xmlns:a16="http://schemas.microsoft.com/office/drawing/2014/main" val="3164835473"/>
                    </a:ext>
                  </a:extLst>
                </a:gridCol>
              </a:tblGrid>
              <a:tr h="492960">
                <a:tc>
                  <a:txBody>
                    <a:bodyPr/>
                    <a:lstStyle/>
                    <a:p>
                      <a:pPr algn="ctr"/>
                      <a:r>
                        <a:rPr lang="en-US" sz="1400">
                          <a:latin typeface="Lato" panose="020F0502020204030203" pitchFamily="34" charset="0"/>
                          <a:ea typeface="Lato" panose="020F0502020204030203" pitchFamily="34" charset="0"/>
                          <a:cs typeface="Lato" panose="020F0502020204030203" pitchFamily="34" charset="0"/>
                        </a:rPr>
                        <a:t>Annual Commercial Value Achieved</a:t>
                      </a:r>
                      <a:endParaRPr lang="en-IN" sz="1400">
                        <a:latin typeface="Lato" panose="020F0502020204030203" pitchFamily="34" charset="0"/>
                        <a:ea typeface="Lato" panose="020F0502020204030203" pitchFamily="34" charset="0"/>
                        <a:cs typeface="Lato" panose="020F0502020204030203" pitchFamily="34" charset="0"/>
                      </a:endParaRPr>
                    </a:p>
                  </a:txBody>
                  <a:tcPr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0070C0"/>
                    </a:solid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400">
                          <a:latin typeface="Lato" panose="020F0502020204030203" pitchFamily="34" charset="0"/>
                          <a:ea typeface="Lato" panose="020F0502020204030203" pitchFamily="34" charset="0"/>
                          <a:cs typeface="Lato" panose="020F0502020204030203" pitchFamily="34" charset="0"/>
                        </a:rPr>
                        <a:t>Credit Percentage</a:t>
                      </a:r>
                      <a:endParaRPr lang="en-IN" sz="1400">
                        <a:latin typeface="Lato" panose="020F0502020204030203" pitchFamily="34" charset="0"/>
                        <a:ea typeface="Lato" panose="020F0502020204030203" pitchFamily="34" charset="0"/>
                        <a:cs typeface="Lato" panose="020F0502020204030203" pitchFamily="34" charset="0"/>
                      </a:endParaRPr>
                    </a:p>
                  </a:txBody>
                  <a:tcPr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0070C0"/>
                    </a:solid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IN" sz="1400">
                          <a:latin typeface="Lato" panose="020F0502020204030203" pitchFamily="34" charset="0"/>
                          <a:ea typeface="Lato" panose="020F0502020204030203" pitchFamily="34" charset="0"/>
                          <a:cs typeface="Lato" panose="020F0502020204030203" pitchFamily="34" charset="0"/>
                        </a:rPr>
                        <a:t>Credit Utilization Options</a:t>
                      </a:r>
                    </a:p>
                  </a:txBody>
                  <a:tcPr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0070C0"/>
                    </a:solidFill>
                  </a:tcPr>
                </a:tc>
                <a:extLst>
                  <a:ext uri="{0D108BD9-81ED-4DB2-BD59-A6C34878D82A}">
                    <a16:rowId xmlns:a16="http://schemas.microsoft.com/office/drawing/2014/main" val="156835044"/>
                  </a:ext>
                </a:extLst>
              </a:tr>
              <a:tr h="456594">
                <a:tc>
                  <a:txBody>
                    <a:bodyPr/>
                    <a:lstStyle/>
                    <a:p>
                      <a:pPr algn="ctr"/>
                      <a:r>
                        <a:rPr lang="en-IN" sz="1200" kern="1200">
                          <a:solidFill>
                            <a:schemeClr val="tx1"/>
                          </a:solidFill>
                          <a:latin typeface="Lato" panose="020F0502020204030203" pitchFamily="34" charset="0"/>
                          <a:ea typeface="Lato" panose="020F0502020204030203" pitchFamily="34" charset="0"/>
                          <a:cs typeface="Lato" panose="020F0502020204030203" pitchFamily="34" charset="0"/>
                        </a:rPr>
                        <a:t>USD 2.0M – &lt; USD 3.0M</a:t>
                      </a:r>
                    </a:p>
                  </a:txBody>
                  <a:tcPr marL="42660" marR="42660" marT="21330" marB="2133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noFill/>
                  </a:tcPr>
                </a:tc>
                <a:tc>
                  <a:txBody>
                    <a:bodyPr/>
                    <a:lstStyle/>
                    <a:p>
                      <a:pPr marL="0" algn="ctr" defTabSz="914377" rtl="0" eaLnBrk="1" latinLnBrk="0" hangingPunct="1"/>
                      <a:r>
                        <a:rPr lang="en-IN" sz="1200" kern="1200">
                          <a:solidFill>
                            <a:schemeClr val="tx1"/>
                          </a:solidFill>
                          <a:latin typeface="Lato" panose="020F0502020204030203" pitchFamily="34" charset="0"/>
                          <a:ea typeface="Lato" panose="020F0502020204030203" pitchFamily="34" charset="0"/>
                          <a:cs typeface="Lato" panose="020F0502020204030203" pitchFamily="34" charset="0"/>
                        </a:rPr>
                        <a:t>1.5%</a:t>
                      </a:r>
                    </a:p>
                  </a:txBody>
                  <a:tcPr marL="42660" marR="42660" marT="21330" marB="2133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rowSpan="2">
                  <a:txBody>
                    <a:bodyPr/>
                    <a:lstStyle/>
                    <a:p>
                      <a:pPr marL="285750" indent="-285750" algn="l" defTabSz="914400" rtl="0" eaLnBrk="1" latinLnBrk="0" hangingPunct="1">
                        <a:buClr>
                          <a:srgbClr val="00B0F0"/>
                        </a:buClr>
                        <a:buFont typeface="Wingdings" panose="05000000000000000000" pitchFamily="2" charset="2"/>
                        <a:buChar char="v"/>
                      </a:pPr>
                      <a:r>
                        <a:rPr lang="en-US" sz="1200" kern="1200" dirty="0">
                          <a:solidFill>
                            <a:schemeClr val="tx1"/>
                          </a:solidFill>
                          <a:latin typeface="Lato" panose="020F0502020204030203" pitchFamily="34" charset="0"/>
                          <a:ea typeface="Lato" panose="020F0502020204030203" pitchFamily="34" charset="0"/>
                          <a:cs typeface="Lato" panose="020F0502020204030203" pitchFamily="34" charset="0"/>
                        </a:rPr>
                        <a:t>Offset future commercial invoices</a:t>
                      </a:r>
                    </a:p>
                    <a:p>
                      <a:pPr marL="285750" indent="-285750" algn="l" defTabSz="914400" rtl="0" eaLnBrk="1" latinLnBrk="0" hangingPunct="1">
                        <a:buClr>
                          <a:srgbClr val="00B0F0"/>
                        </a:buClr>
                        <a:buFont typeface="Wingdings" panose="05000000000000000000" pitchFamily="2" charset="2"/>
                        <a:buChar char="v"/>
                      </a:pPr>
                      <a:r>
                        <a:rPr lang="en-US" sz="1200" kern="1200" dirty="0">
                          <a:solidFill>
                            <a:schemeClr val="tx1"/>
                          </a:solidFill>
                          <a:latin typeface="Lato" panose="020F0502020204030203" pitchFamily="34" charset="0"/>
                          <a:ea typeface="Lato" panose="020F0502020204030203" pitchFamily="34" charset="0"/>
                          <a:cs typeface="Lato" panose="020F0502020204030203" pitchFamily="34" charset="0"/>
                        </a:rPr>
                        <a:t>Support Canada hiring, relocation, and immigration costs</a:t>
                      </a:r>
                    </a:p>
                    <a:p>
                      <a:pPr marL="285750" indent="-285750" algn="l" defTabSz="914400" rtl="0" eaLnBrk="1" latinLnBrk="0" hangingPunct="1">
                        <a:buClr>
                          <a:srgbClr val="00B0F0"/>
                        </a:buClr>
                        <a:buFont typeface="Wingdings" panose="05000000000000000000" pitchFamily="2" charset="2"/>
                        <a:buChar char="v"/>
                      </a:pPr>
                      <a:r>
                        <a:rPr lang="en-US" sz="1200" kern="1200" dirty="0">
                          <a:solidFill>
                            <a:schemeClr val="tx1"/>
                          </a:solidFill>
                          <a:latin typeface="Lato" panose="020F0502020204030203" pitchFamily="34" charset="0"/>
                          <a:ea typeface="Lato" panose="020F0502020204030203" pitchFamily="34" charset="0"/>
                          <a:cs typeface="Lato" panose="020F0502020204030203" pitchFamily="34" charset="0"/>
                        </a:rPr>
                        <a:t>Enable India BOT / </a:t>
                      </a:r>
                      <a:r>
                        <a:rPr lang="en-US" sz="1200" kern="1200" dirty="0" err="1">
                          <a:solidFill>
                            <a:schemeClr val="tx1"/>
                          </a:solidFill>
                          <a:latin typeface="Lato" panose="020F0502020204030203" pitchFamily="34" charset="0"/>
                          <a:ea typeface="Lato" panose="020F0502020204030203" pitchFamily="34" charset="0"/>
                          <a:cs typeface="Lato" panose="020F0502020204030203" pitchFamily="34" charset="0"/>
                        </a:rPr>
                        <a:t>CoE</a:t>
                      </a:r>
                      <a:r>
                        <a:rPr lang="en-US" sz="1200" kern="1200" dirty="0">
                          <a:solidFill>
                            <a:schemeClr val="tx1"/>
                          </a:solidFill>
                          <a:latin typeface="Lato" panose="020F0502020204030203" pitchFamily="34" charset="0"/>
                          <a:ea typeface="Lato" panose="020F0502020204030203" pitchFamily="34" charset="0"/>
                          <a:cs typeface="Lato" panose="020F0502020204030203" pitchFamily="34" charset="0"/>
                        </a:rPr>
                        <a:t> transfer and onboarding activities</a:t>
                      </a:r>
                    </a:p>
                    <a:p>
                      <a:pPr marL="285750" indent="-285750" algn="l" defTabSz="914400" rtl="0" eaLnBrk="1" latinLnBrk="0" hangingPunct="1">
                        <a:buClr>
                          <a:srgbClr val="00B0F0"/>
                        </a:buClr>
                        <a:buFont typeface="Wingdings" panose="05000000000000000000" pitchFamily="2" charset="2"/>
                        <a:buChar char="v"/>
                      </a:pPr>
                      <a:r>
                        <a:rPr lang="en-US" sz="1200" kern="1200" dirty="0">
                          <a:solidFill>
                            <a:schemeClr val="tx1"/>
                          </a:solidFill>
                          <a:latin typeface="Lato" panose="020F0502020204030203" pitchFamily="34" charset="0"/>
                          <a:ea typeface="Lato" panose="020F0502020204030203" pitchFamily="34" charset="0"/>
                          <a:cs typeface="Lato" panose="020F0502020204030203" pitchFamily="34" charset="0"/>
                        </a:rPr>
                        <a:t>Fund innovation initiatives, including AI use cases</a:t>
                      </a:r>
                      <a:endParaRPr lang="en-IN" sz="1200" kern="1200" dirty="0">
                        <a:solidFill>
                          <a:schemeClr val="tx1"/>
                        </a:solidFill>
                        <a:latin typeface="Lato" panose="020F0502020204030203" pitchFamily="34" charset="0"/>
                        <a:ea typeface="Lato" panose="020F0502020204030203" pitchFamily="34" charset="0"/>
                        <a:cs typeface="Lato" panose="020F0502020204030203" pitchFamily="34" charset="0"/>
                      </a:endParaRPr>
                    </a:p>
                  </a:txBody>
                  <a:tcPr marL="42660" marR="42660" marT="21330" marB="2133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636792695"/>
                  </a:ext>
                </a:extLst>
              </a:tr>
              <a:tr h="450909">
                <a:tc>
                  <a:txBody>
                    <a:bodyPr/>
                    <a:lstStyle/>
                    <a:p>
                      <a:pPr algn="ctr"/>
                      <a:r>
                        <a:rPr lang="en-IN" sz="1200" kern="1200">
                          <a:solidFill>
                            <a:schemeClr val="tx1"/>
                          </a:solidFill>
                          <a:latin typeface="Lato" panose="020F0502020204030203" pitchFamily="34" charset="0"/>
                          <a:ea typeface="Lato" panose="020F0502020204030203" pitchFamily="34" charset="0"/>
                          <a:cs typeface="Lato" panose="020F0502020204030203" pitchFamily="34" charset="0"/>
                        </a:rPr>
                        <a:t>USD 3.0M – &lt; USD 4.0M</a:t>
                      </a:r>
                    </a:p>
                  </a:txBody>
                  <a:tcPr marL="42660" marR="42660" marT="21330" marB="2133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noFill/>
                  </a:tcPr>
                </a:tc>
                <a:tc>
                  <a:txBody>
                    <a:bodyPr/>
                    <a:lstStyle/>
                    <a:p>
                      <a:pPr marL="0" algn="ctr" defTabSz="914377" rtl="0" eaLnBrk="1" latinLnBrk="0" hangingPunct="1"/>
                      <a:r>
                        <a:rPr lang="en-IN" sz="1200" kern="1200" dirty="0">
                          <a:solidFill>
                            <a:schemeClr val="tx1"/>
                          </a:solidFill>
                          <a:latin typeface="Lato" panose="020F0502020204030203" pitchFamily="34" charset="0"/>
                          <a:ea typeface="Lato" panose="020F0502020204030203" pitchFamily="34" charset="0"/>
                          <a:cs typeface="Lato" panose="020F0502020204030203" pitchFamily="34" charset="0"/>
                        </a:rPr>
                        <a:t>2.0%</a:t>
                      </a:r>
                    </a:p>
                  </a:txBody>
                  <a:tcPr marL="42660" marR="42660" marT="21330" marB="2133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vMerge="1">
                  <a:txBody>
                    <a:bodyPr/>
                    <a:lstStyle/>
                    <a:p>
                      <a:pPr marL="0" algn="ctr" defTabSz="914377" rtl="0" eaLnBrk="1" latinLnBrk="0" hangingPunct="1"/>
                      <a:endParaRPr lang="en-IN" sz="1200" kern="1200">
                        <a:solidFill>
                          <a:schemeClr val="tx1"/>
                        </a:solidFill>
                        <a:latin typeface="Lato" panose="020F0502020204030203" pitchFamily="34" charset="0"/>
                        <a:ea typeface="Lato" panose="020F0502020204030203" pitchFamily="34" charset="0"/>
                        <a:cs typeface="Lato" panose="020F0502020204030203" pitchFamily="34" charset="0"/>
                      </a:endParaRPr>
                    </a:p>
                  </a:txBody>
                  <a:tcPr marL="42660" marR="42660" marT="21330" marB="2133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846493406"/>
                  </a:ext>
                </a:extLst>
              </a:tr>
            </a:tbl>
          </a:graphicData>
        </a:graphic>
      </p:graphicFrame>
      <p:sp>
        <p:nvSpPr>
          <p:cNvPr id="12" name="TextBox 11">
            <a:extLst>
              <a:ext uri="{FF2B5EF4-FFF2-40B4-BE49-F238E27FC236}">
                <a16:creationId xmlns:a16="http://schemas.microsoft.com/office/drawing/2014/main" id="{F23416BA-09A2-1C83-48EE-3D892561560A}"/>
              </a:ext>
            </a:extLst>
          </p:cNvPr>
          <p:cNvSpPr txBox="1"/>
          <p:nvPr/>
        </p:nvSpPr>
        <p:spPr>
          <a:xfrm>
            <a:off x="834389" y="4111183"/>
            <a:ext cx="6097904" cy="276999"/>
          </a:xfrm>
          <a:prstGeom prst="rect">
            <a:avLst/>
          </a:prstGeom>
          <a:noFill/>
        </p:spPr>
        <p:txBody>
          <a:bodyPr wrap="square">
            <a:spAutoFit/>
          </a:bodyPr>
          <a:lstStyle/>
          <a:p>
            <a:r>
              <a:rPr lang="en-US" sz="1200" b="1">
                <a:latin typeface="Lato" panose="020F0502020204030203" pitchFamily="34" charset="0"/>
                <a:ea typeface="Lato" panose="020F0502020204030203" pitchFamily="34" charset="0"/>
                <a:cs typeface="Lato" panose="020F0502020204030203" pitchFamily="34" charset="0"/>
              </a:rPr>
              <a:t>Note</a:t>
            </a:r>
            <a:r>
              <a:rPr lang="en-US" sz="1200">
                <a:latin typeface="Lato" panose="020F0502020204030203" pitchFamily="34" charset="0"/>
                <a:ea typeface="Lato" panose="020F0502020204030203" pitchFamily="34" charset="0"/>
                <a:cs typeface="Lato" panose="020F0502020204030203" pitchFamily="34" charset="0"/>
              </a:rPr>
              <a:t>: Final utilization to be mutually agreed based on Lantern Care priorities</a:t>
            </a:r>
            <a:endParaRPr lang="en-IN" sz="1200">
              <a:latin typeface="Lato" panose="020F0502020204030203" pitchFamily="34" charset="0"/>
              <a:ea typeface="Lato" panose="020F0502020204030203" pitchFamily="34" charset="0"/>
              <a:cs typeface="Lato" panose="020F0502020204030203" pitchFamily="34" charset="0"/>
            </a:endParaRPr>
          </a:p>
        </p:txBody>
      </p:sp>
      <p:grpSp>
        <p:nvGrpSpPr>
          <p:cNvPr id="11" name="Group 10">
            <a:extLst>
              <a:ext uri="{FF2B5EF4-FFF2-40B4-BE49-F238E27FC236}">
                <a16:creationId xmlns:a16="http://schemas.microsoft.com/office/drawing/2014/main" id="{5FD006DF-F6DD-08F9-A632-4EBB7D88D39A}"/>
              </a:ext>
            </a:extLst>
          </p:cNvPr>
          <p:cNvGrpSpPr/>
          <p:nvPr/>
        </p:nvGrpSpPr>
        <p:grpSpPr>
          <a:xfrm>
            <a:off x="2133998" y="4631219"/>
            <a:ext cx="7783830" cy="1815301"/>
            <a:chOff x="8058370" y="1964097"/>
            <a:chExt cx="3811503" cy="1876383"/>
          </a:xfrm>
        </p:grpSpPr>
        <p:sp>
          <p:nvSpPr>
            <p:cNvPr id="18" name="Rectangle: Top Corners One Rounded and One Snipped 17">
              <a:extLst>
                <a:ext uri="{FF2B5EF4-FFF2-40B4-BE49-F238E27FC236}">
                  <a16:creationId xmlns:a16="http://schemas.microsoft.com/office/drawing/2014/main" id="{EF71FDE0-0007-7252-6F43-E082674B7ABF}"/>
                </a:ext>
              </a:extLst>
            </p:cNvPr>
            <p:cNvSpPr/>
            <p:nvPr/>
          </p:nvSpPr>
          <p:spPr>
            <a:xfrm>
              <a:off x="8058370" y="1964097"/>
              <a:ext cx="3811503" cy="1876383"/>
            </a:xfrm>
            <a:prstGeom prst="snipRoundRect">
              <a:avLst>
                <a:gd name="adj1" fmla="val 6315"/>
                <a:gd name="adj2" fmla="val 16667"/>
              </a:avLst>
            </a:prstGeom>
            <a:solidFill>
              <a:schemeClr val="bg1"/>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TextBox 18">
              <a:extLst>
                <a:ext uri="{FF2B5EF4-FFF2-40B4-BE49-F238E27FC236}">
                  <a16:creationId xmlns:a16="http://schemas.microsoft.com/office/drawing/2014/main" id="{EB2CD93F-0E42-0E8D-70E7-563FE2EFCC29}"/>
                </a:ext>
              </a:extLst>
            </p:cNvPr>
            <p:cNvSpPr txBox="1"/>
            <p:nvPr/>
          </p:nvSpPr>
          <p:spPr>
            <a:xfrm>
              <a:off x="8419048" y="1994765"/>
              <a:ext cx="3263177" cy="307777"/>
            </a:xfrm>
            <a:prstGeom prst="rect">
              <a:avLst/>
            </a:prstGeom>
            <a:noFill/>
          </p:spPr>
          <p:txBody>
            <a:bodyPr wrap="square">
              <a:spAutoFit/>
            </a:bodyPr>
            <a:lstStyle/>
            <a:p>
              <a:pPr marR="0" lvl="0" indent="0" algn="ctr" fontAlgn="auto">
                <a:lnSpc>
                  <a:spcPct val="100000"/>
                </a:lnSpc>
                <a:spcBef>
                  <a:spcPts val="0"/>
                </a:spcBef>
                <a:spcAft>
                  <a:spcPts val="0"/>
                </a:spcAft>
                <a:buClrTx/>
                <a:buSzTx/>
                <a:buFontTx/>
                <a:buNone/>
                <a:tabLst/>
                <a:defRPr/>
              </a:pPr>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Key Considerations</a:t>
              </a:r>
            </a:p>
          </p:txBody>
        </p:sp>
        <p:sp>
          <p:nvSpPr>
            <p:cNvPr id="20" name="TextBox 19">
              <a:extLst>
                <a:ext uri="{FF2B5EF4-FFF2-40B4-BE49-F238E27FC236}">
                  <a16:creationId xmlns:a16="http://schemas.microsoft.com/office/drawing/2014/main" id="{56BD70BC-E174-F7F7-C5E4-79EE9CEEEE8F}"/>
                </a:ext>
              </a:extLst>
            </p:cNvPr>
            <p:cNvSpPr txBox="1"/>
            <p:nvPr/>
          </p:nvSpPr>
          <p:spPr>
            <a:xfrm>
              <a:off x="8419048" y="2221006"/>
              <a:ext cx="3362038" cy="1560905"/>
            </a:xfrm>
            <a:prstGeom prst="rect">
              <a:avLst/>
            </a:prstGeom>
            <a:noFill/>
          </p:spPr>
          <p:txBody>
            <a:bodyPr wrap="square">
              <a:spAutoFit/>
            </a:bodyPr>
            <a:lstStyle/>
            <a:p>
              <a:pPr marL="171450" marR="0" lvl="0" indent="-171450" algn="l" defTabSz="914400" rtl="0" eaLnBrk="1" fontAlgn="auto" latinLnBrk="0" hangingPunct="1">
                <a:lnSpc>
                  <a:spcPct val="200000"/>
                </a:lnSpc>
                <a:spcBef>
                  <a:spcPts val="0"/>
                </a:spcBef>
                <a:spcAft>
                  <a:spcPts val="0"/>
                </a:spcAft>
                <a:buClrTx/>
                <a:buSzTx/>
                <a:buFontTx/>
                <a:buBlip>
                  <a:blip r:embed="rId2"/>
                </a:buBlip>
                <a:tabLst/>
                <a:defRPr/>
              </a:pPr>
              <a:r>
                <a:rPr kumimoji="0" lang="en-US" sz="1200" b="0" i="0" u="none" strike="noStrike" kern="1200" cap="none" spc="0" normalizeH="0" baseline="0" noProof="0">
                  <a:ln>
                    <a:noFill/>
                  </a:ln>
                  <a:solidFill>
                    <a:prstClr val="black"/>
                  </a:solidFill>
                  <a:effectLst/>
                  <a:uLnTx/>
                  <a:uFillTx/>
                  <a:latin typeface="Lato" panose="020F0502020204030203" pitchFamily="34" charset="77"/>
                  <a:ea typeface="+mn-ea"/>
                  <a:cs typeface="+mn-cs"/>
                </a:rPr>
                <a:t>Credits applied only on realized annual commercial spend</a:t>
              </a:r>
            </a:p>
            <a:p>
              <a:pPr marL="171450" marR="0" lvl="0" indent="-171450" algn="l" defTabSz="914400" rtl="0" eaLnBrk="1" fontAlgn="auto" latinLnBrk="0" hangingPunct="1">
                <a:lnSpc>
                  <a:spcPct val="200000"/>
                </a:lnSpc>
                <a:spcBef>
                  <a:spcPts val="0"/>
                </a:spcBef>
                <a:spcAft>
                  <a:spcPts val="0"/>
                </a:spcAft>
                <a:buClrTx/>
                <a:buSzTx/>
                <a:buFontTx/>
                <a:buBlip>
                  <a:blip r:embed="rId2"/>
                </a:buBlip>
                <a:tabLst/>
                <a:defRPr/>
              </a:pPr>
              <a:r>
                <a:rPr kumimoji="0" lang="en-US" sz="1200" b="0" i="0" u="none" strike="noStrike" kern="1200" cap="none" spc="0" normalizeH="0" baseline="0" noProof="0">
                  <a:ln>
                    <a:noFill/>
                  </a:ln>
                  <a:solidFill>
                    <a:prstClr val="black"/>
                  </a:solidFill>
                  <a:effectLst/>
                  <a:uLnTx/>
                  <a:uFillTx/>
                  <a:latin typeface="Lato" panose="020F0502020204030203" pitchFamily="34" charset="77"/>
                  <a:ea typeface="+mn-ea"/>
                  <a:cs typeface="+mn-cs"/>
                </a:rPr>
                <a:t>Utilization to be mutually agreed, milestone-linked, and time-bound</a:t>
              </a:r>
            </a:p>
            <a:p>
              <a:pPr marL="171450" marR="0" lvl="0" indent="-171450" algn="l" defTabSz="914400" rtl="0" eaLnBrk="1" fontAlgn="auto" latinLnBrk="0" hangingPunct="1">
                <a:lnSpc>
                  <a:spcPct val="200000"/>
                </a:lnSpc>
                <a:spcBef>
                  <a:spcPts val="0"/>
                </a:spcBef>
                <a:spcAft>
                  <a:spcPts val="0"/>
                </a:spcAft>
                <a:buClrTx/>
                <a:buSzTx/>
                <a:buFontTx/>
                <a:buBlip>
                  <a:blip r:embed="rId2"/>
                </a:buBlip>
                <a:tabLst/>
                <a:defRPr/>
              </a:pPr>
              <a:r>
                <a:rPr kumimoji="0" lang="en-US" sz="1200" b="0" i="0" u="none" strike="noStrike" kern="1200" cap="none" spc="0" normalizeH="0" baseline="0" noProof="0">
                  <a:ln>
                    <a:noFill/>
                  </a:ln>
                  <a:solidFill>
                    <a:prstClr val="black"/>
                  </a:solidFill>
                  <a:effectLst/>
                  <a:uLnTx/>
                  <a:uFillTx/>
                  <a:latin typeface="Lato" panose="020F0502020204030203" pitchFamily="34" charset="77"/>
                  <a:ea typeface="+mn-ea"/>
                  <a:cs typeface="+mn-cs"/>
                </a:rPr>
                <a:t>Designed to accelerate workforce ownership, not create dependency</a:t>
              </a:r>
            </a:p>
            <a:p>
              <a:pPr marL="171450" marR="0" lvl="0" indent="-171450" algn="l" defTabSz="914400" rtl="0" eaLnBrk="1" fontAlgn="auto" latinLnBrk="0" hangingPunct="1">
                <a:lnSpc>
                  <a:spcPct val="200000"/>
                </a:lnSpc>
                <a:spcBef>
                  <a:spcPts val="0"/>
                </a:spcBef>
                <a:spcAft>
                  <a:spcPts val="0"/>
                </a:spcAft>
                <a:buClrTx/>
                <a:buSzTx/>
                <a:buFontTx/>
                <a:buBlip>
                  <a:blip r:embed="rId2"/>
                </a:buBlip>
                <a:tabLst/>
                <a:defRPr/>
              </a:pPr>
              <a:r>
                <a:rPr kumimoji="0" lang="en-US" sz="1200" b="0" i="0" u="none" strike="noStrike" kern="1200" cap="none" spc="0" normalizeH="0" baseline="0" noProof="0">
                  <a:ln>
                    <a:noFill/>
                  </a:ln>
                  <a:solidFill>
                    <a:prstClr val="black"/>
                  </a:solidFill>
                  <a:effectLst/>
                  <a:uLnTx/>
                  <a:uFillTx/>
                  <a:latin typeface="Lato" panose="020F0502020204030203" pitchFamily="34" charset="77"/>
                  <a:ea typeface="+mn-ea"/>
                  <a:cs typeface="+mn-cs"/>
                </a:rPr>
                <a:t>Reinforces Innominds as a strategic transformation partner</a:t>
              </a:r>
            </a:p>
          </p:txBody>
        </p:sp>
        <p:sp>
          <p:nvSpPr>
            <p:cNvPr id="21" name="Rectangle 20">
              <a:extLst>
                <a:ext uri="{FF2B5EF4-FFF2-40B4-BE49-F238E27FC236}">
                  <a16:creationId xmlns:a16="http://schemas.microsoft.com/office/drawing/2014/main" id="{6F6EAB73-68D9-9B4F-4F22-1454514BFACE}"/>
                </a:ext>
              </a:extLst>
            </p:cNvPr>
            <p:cNvSpPr/>
            <p:nvPr/>
          </p:nvSpPr>
          <p:spPr>
            <a:xfrm>
              <a:off x="8297856" y="1964097"/>
              <a:ext cx="72571" cy="1876383"/>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Tree>
    <p:extLst>
      <p:ext uri="{BB962C8B-B14F-4D97-AF65-F5344CB8AC3E}">
        <p14:creationId xmlns:p14="http://schemas.microsoft.com/office/powerpoint/2010/main" val="2820019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FF69B-B9CE-FC2D-3232-C32A0E3F4A77}"/>
              </a:ext>
            </a:extLst>
          </p:cNvPr>
          <p:cNvSpPr>
            <a:spLocks noGrp="1"/>
          </p:cNvSpPr>
          <p:nvPr>
            <p:ph type="title"/>
          </p:nvPr>
        </p:nvSpPr>
        <p:spPr/>
        <p:txBody>
          <a:bodyPr/>
          <a:lstStyle/>
          <a:p>
            <a:r>
              <a:rPr lang="en-IN"/>
              <a:t>Benefits to Lantern Care</a:t>
            </a:r>
          </a:p>
        </p:txBody>
      </p:sp>
      <p:grpSp>
        <p:nvGrpSpPr>
          <p:cNvPr id="3" name="Group 2">
            <a:extLst>
              <a:ext uri="{FF2B5EF4-FFF2-40B4-BE49-F238E27FC236}">
                <a16:creationId xmlns:a16="http://schemas.microsoft.com/office/drawing/2014/main" id="{27A82289-BC52-0E33-38CE-CFEE3E67C6F8}"/>
              </a:ext>
            </a:extLst>
          </p:cNvPr>
          <p:cNvGrpSpPr/>
          <p:nvPr/>
        </p:nvGrpSpPr>
        <p:grpSpPr>
          <a:xfrm>
            <a:off x="1032983" y="1327339"/>
            <a:ext cx="6493501" cy="4810571"/>
            <a:chOff x="1474471" y="1623060"/>
            <a:chExt cx="8918380" cy="4779912"/>
          </a:xfrm>
        </p:grpSpPr>
        <p:sp>
          <p:nvSpPr>
            <p:cNvPr id="4" name="Rectangle: Top Corners Rounded 3">
              <a:extLst>
                <a:ext uri="{FF2B5EF4-FFF2-40B4-BE49-F238E27FC236}">
                  <a16:creationId xmlns:a16="http://schemas.microsoft.com/office/drawing/2014/main" id="{7682693B-E0BD-C057-EF6C-299F986A7648}"/>
                </a:ext>
              </a:extLst>
            </p:cNvPr>
            <p:cNvSpPr/>
            <p:nvPr/>
          </p:nvSpPr>
          <p:spPr>
            <a:xfrm>
              <a:off x="1474471" y="1623060"/>
              <a:ext cx="8918380" cy="4779912"/>
            </a:xfrm>
            <a:prstGeom prst="round2SameRect">
              <a:avLst>
                <a:gd name="adj1" fmla="val 7865"/>
                <a:gd name="adj2" fmla="val 0"/>
              </a:avLst>
            </a:prstGeom>
            <a:solidFill>
              <a:schemeClr val="bg1"/>
            </a:solidFill>
            <a:ln w="6350">
              <a:solidFill>
                <a:srgbClr val="00B0F0"/>
              </a:solidFill>
            </a:ln>
            <a:effectLst>
              <a:outerShdw dist="38100" dir="5400000" algn="t" rotWithShape="0">
                <a:srgbClr val="00B0F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B1A91899-FB6F-0672-6920-CFE179338000}"/>
                </a:ext>
              </a:extLst>
            </p:cNvPr>
            <p:cNvSpPr/>
            <p:nvPr/>
          </p:nvSpPr>
          <p:spPr>
            <a:xfrm>
              <a:off x="1752004" y="2224014"/>
              <a:ext cx="8633234" cy="3939344"/>
            </a:xfrm>
            <a:prstGeom prst="rect">
              <a:avLst/>
            </a:prstGeom>
          </p:spPr>
          <p:txBody>
            <a:bodyPr wrap="square" anchor="t">
              <a:spAutoFit/>
            </a:bodyPr>
            <a:lstStyle/>
            <a:p>
              <a:pPr>
                <a:lnSpc>
                  <a:spcPct val="150000"/>
                </a:lnSpc>
              </a:pPr>
              <a:r>
                <a:rPr lang="en-IN" sz="1200" b="1">
                  <a:solidFill>
                    <a:srgbClr val="0070C0"/>
                  </a:solidFill>
                  <a:latin typeface="Lato" panose="020F0502020204030203" pitchFamily="34" charset="0"/>
                  <a:ea typeface="Lato" panose="020F0502020204030203" pitchFamily="34" charset="0"/>
                  <a:cs typeface="Lato" panose="020F0502020204030203" pitchFamily="34" charset="0"/>
                </a:rPr>
                <a:t>Cost &amp; Efficiency</a:t>
              </a:r>
            </a:p>
            <a:p>
              <a:pPr marL="628650" lvl="1" indent="-171450">
                <a:lnSpc>
                  <a:spcPct val="150000"/>
                </a:lnSpc>
                <a:spcBef>
                  <a:spcPts val="300"/>
                </a:spcBef>
                <a:buClr>
                  <a:srgbClr val="0070C0"/>
                </a:buClr>
                <a:buFont typeface="Wingdings" panose="05000000000000000000" pitchFamily="2" charset="2"/>
                <a:buChar char="Ø"/>
                <a:defRPr/>
              </a:pPr>
              <a:r>
                <a:rPr lang="en-US" sz="1200">
                  <a:latin typeface="Lato" panose="020F0502020204030203" pitchFamily="34" charset="0"/>
                  <a:ea typeface="Lato" panose="020F0502020204030203" pitchFamily="34" charset="0"/>
                  <a:cs typeface="Lato" panose="020F0502020204030203" pitchFamily="34" charset="0"/>
                </a:rPr>
                <a:t>Reduced vendor sprawl through single-partner consolidation</a:t>
              </a:r>
            </a:p>
            <a:p>
              <a:pPr marL="628650" lvl="1" indent="-171450">
                <a:lnSpc>
                  <a:spcPct val="150000"/>
                </a:lnSpc>
                <a:spcBef>
                  <a:spcPts val="300"/>
                </a:spcBef>
                <a:buClr>
                  <a:srgbClr val="0070C0"/>
                </a:buClr>
                <a:buFont typeface="Wingdings" panose="05000000000000000000" pitchFamily="2" charset="2"/>
                <a:buChar char="Ø"/>
                <a:defRPr/>
              </a:pPr>
              <a:r>
                <a:rPr lang="en-US" sz="1200">
                  <a:latin typeface="Lato" panose="020F0502020204030203" pitchFamily="34" charset="0"/>
                  <a:ea typeface="Lato" panose="020F0502020204030203" pitchFamily="34" charset="0"/>
                  <a:cs typeface="Lato" panose="020F0502020204030203" pitchFamily="34" charset="0"/>
                </a:rPr>
                <a:t>Optimized spend via rebadging, resource reuse, and phased scaling</a:t>
              </a:r>
              <a:endParaRPr lang="en-IN" sz="1200">
                <a:latin typeface="Lato" panose="020F0502020204030203" pitchFamily="34" charset="0"/>
                <a:ea typeface="Lato" panose="020F0502020204030203" pitchFamily="34" charset="0"/>
                <a:cs typeface="Lato" panose="020F0502020204030203" pitchFamily="34" charset="0"/>
              </a:endParaRPr>
            </a:p>
            <a:p>
              <a:pPr>
                <a:lnSpc>
                  <a:spcPct val="150000"/>
                </a:lnSpc>
              </a:pPr>
              <a:r>
                <a:rPr lang="en-IN" sz="1200" b="1">
                  <a:solidFill>
                    <a:srgbClr val="0070C0"/>
                  </a:solidFill>
                  <a:latin typeface="Lato" panose="020F0502020204030203" pitchFamily="34" charset="0"/>
                  <a:ea typeface="Lato" panose="020F0502020204030203" pitchFamily="34" charset="0"/>
                  <a:cs typeface="Lato" panose="020F0502020204030203" pitchFamily="34" charset="0"/>
                </a:rPr>
                <a:t>Speed &amp; Continuity</a:t>
              </a:r>
            </a:p>
            <a:p>
              <a:pPr marL="628650" lvl="1" indent="-171450">
                <a:lnSpc>
                  <a:spcPct val="150000"/>
                </a:lnSpc>
                <a:spcBef>
                  <a:spcPts val="300"/>
                </a:spcBef>
                <a:buClr>
                  <a:srgbClr val="0070C0"/>
                </a:buClr>
                <a:buFont typeface="Wingdings" panose="05000000000000000000" pitchFamily="2" charset="2"/>
                <a:buChar char="Ø"/>
                <a:defRPr/>
              </a:pPr>
              <a:r>
                <a:rPr lang="en-US" sz="1200">
                  <a:latin typeface="Lato" panose="020F0502020204030203" pitchFamily="34" charset="0"/>
                  <a:ea typeface="Lato" panose="020F0502020204030203" pitchFamily="34" charset="0"/>
                  <a:cs typeface="Lato" panose="020F0502020204030203" pitchFamily="34" charset="0"/>
                </a:rPr>
                <a:t>Near-zero transition downtime with retained domain knowledge</a:t>
              </a:r>
            </a:p>
            <a:p>
              <a:pPr marL="628650" lvl="1" indent="-171450">
                <a:lnSpc>
                  <a:spcPct val="150000"/>
                </a:lnSpc>
                <a:spcBef>
                  <a:spcPts val="300"/>
                </a:spcBef>
                <a:buClr>
                  <a:srgbClr val="0070C0"/>
                </a:buClr>
                <a:buFont typeface="Wingdings" panose="05000000000000000000" pitchFamily="2" charset="2"/>
                <a:buChar char="Ø"/>
                <a:defRPr/>
              </a:pPr>
              <a:r>
                <a:rPr lang="en-US" sz="1200">
                  <a:latin typeface="Lato" panose="020F0502020204030203" pitchFamily="34" charset="0"/>
                  <a:ea typeface="Lato" panose="020F0502020204030203" pitchFamily="34" charset="0"/>
                  <a:cs typeface="Lato" panose="020F0502020204030203" pitchFamily="34" charset="0"/>
                </a:rPr>
                <a:t>Sustained delivery velocity during vendor consolidation</a:t>
              </a:r>
              <a:endParaRPr lang="en-IN" sz="1200">
                <a:latin typeface="Lato" panose="020F0502020204030203" pitchFamily="34" charset="0"/>
                <a:ea typeface="Lato" panose="020F0502020204030203" pitchFamily="34" charset="0"/>
                <a:cs typeface="Lato" panose="020F0502020204030203" pitchFamily="34" charset="0"/>
              </a:endParaRPr>
            </a:p>
            <a:p>
              <a:pPr>
                <a:lnSpc>
                  <a:spcPct val="150000"/>
                </a:lnSpc>
              </a:pPr>
              <a:r>
                <a:rPr lang="en-IN" sz="1200" b="1">
                  <a:solidFill>
                    <a:srgbClr val="0070C0"/>
                  </a:solidFill>
                  <a:latin typeface="Lato" panose="020F0502020204030203" pitchFamily="34" charset="0"/>
                  <a:ea typeface="Lato" panose="020F0502020204030203" pitchFamily="34" charset="0"/>
                  <a:cs typeface="Lato" panose="020F0502020204030203" pitchFamily="34" charset="0"/>
                </a:rPr>
                <a:t>Risk Reduction</a:t>
              </a:r>
            </a:p>
            <a:p>
              <a:pPr marL="628650" lvl="1" indent="-171450">
                <a:lnSpc>
                  <a:spcPct val="150000"/>
                </a:lnSpc>
                <a:spcBef>
                  <a:spcPts val="300"/>
                </a:spcBef>
                <a:buClr>
                  <a:srgbClr val="0070C0"/>
                </a:buClr>
                <a:buFont typeface="Wingdings" panose="05000000000000000000" pitchFamily="2" charset="2"/>
                <a:buChar char="Ø"/>
                <a:defRPr/>
              </a:pPr>
              <a:r>
                <a:rPr lang="en-US" sz="1200">
                  <a:latin typeface="Lato" panose="020F0502020204030203" pitchFamily="34" charset="0"/>
                  <a:ea typeface="Lato" panose="020F0502020204030203" pitchFamily="34" charset="0"/>
                  <a:cs typeface="Lato" panose="020F0502020204030203" pitchFamily="34" charset="0"/>
                </a:rPr>
                <a:t>Minimized attrition and knowledge-loss risk</a:t>
              </a:r>
            </a:p>
            <a:p>
              <a:pPr marL="628650" lvl="1" indent="-171450">
                <a:lnSpc>
                  <a:spcPct val="150000"/>
                </a:lnSpc>
                <a:spcBef>
                  <a:spcPts val="300"/>
                </a:spcBef>
                <a:buClr>
                  <a:srgbClr val="0070C0"/>
                </a:buClr>
                <a:buFont typeface="Wingdings" panose="05000000000000000000" pitchFamily="2" charset="2"/>
                <a:buChar char="Ø"/>
                <a:defRPr/>
              </a:pPr>
              <a:r>
                <a:rPr lang="en-US" sz="1200">
                  <a:latin typeface="Lato" panose="020F0502020204030203" pitchFamily="34" charset="0"/>
                  <a:ea typeface="Lato" panose="020F0502020204030203" pitchFamily="34" charset="0"/>
                  <a:cs typeface="Lato" panose="020F0502020204030203" pitchFamily="34" charset="0"/>
                </a:rPr>
                <a:t>Single accountable partner for delivery, compliance, and transition</a:t>
              </a:r>
            </a:p>
            <a:p>
              <a:pPr>
                <a:lnSpc>
                  <a:spcPct val="150000"/>
                </a:lnSpc>
              </a:pPr>
              <a:r>
                <a:rPr lang="en-IN" sz="1200" b="1">
                  <a:solidFill>
                    <a:srgbClr val="0070C0"/>
                  </a:solidFill>
                  <a:latin typeface="Lato" panose="020F0502020204030203" pitchFamily="34" charset="0"/>
                  <a:ea typeface="Lato" panose="020F0502020204030203" pitchFamily="34" charset="0"/>
                  <a:cs typeface="Lato" panose="020F0502020204030203" pitchFamily="34" charset="0"/>
                </a:rPr>
                <a:t>Scalability &amp; Future Readiness</a:t>
              </a:r>
            </a:p>
            <a:p>
              <a:pPr marL="628650" lvl="1" indent="-171450">
                <a:lnSpc>
                  <a:spcPct val="150000"/>
                </a:lnSpc>
                <a:spcBef>
                  <a:spcPts val="300"/>
                </a:spcBef>
                <a:buClr>
                  <a:srgbClr val="0070C0"/>
                </a:buClr>
                <a:buFont typeface="Wingdings" panose="05000000000000000000" pitchFamily="2" charset="2"/>
                <a:buChar char="Ø"/>
                <a:defRPr/>
              </a:pPr>
              <a:r>
                <a:rPr lang="en-US" sz="1200">
                  <a:latin typeface="Lato" panose="020F0502020204030203" pitchFamily="34" charset="0"/>
                  <a:ea typeface="Lato" panose="020F0502020204030203" pitchFamily="34" charset="0"/>
                  <a:cs typeface="Lato" panose="020F0502020204030203" pitchFamily="34" charset="0"/>
                </a:rPr>
                <a:t>Flexible scale across Quality, Data, Digital, and Cloud teams</a:t>
              </a:r>
            </a:p>
            <a:p>
              <a:pPr marL="628650" lvl="1" indent="-171450">
                <a:lnSpc>
                  <a:spcPct val="150000"/>
                </a:lnSpc>
                <a:spcBef>
                  <a:spcPts val="300"/>
                </a:spcBef>
                <a:buClr>
                  <a:srgbClr val="0070C0"/>
                </a:buClr>
                <a:buFont typeface="Wingdings" panose="05000000000000000000" pitchFamily="2" charset="2"/>
                <a:buChar char="Ø"/>
                <a:defRPr/>
              </a:pPr>
              <a:r>
                <a:rPr lang="en-US" sz="1200">
                  <a:latin typeface="Lato" panose="020F0502020204030203" pitchFamily="34" charset="0"/>
                  <a:ea typeface="Lato" panose="020F0502020204030203" pitchFamily="34" charset="0"/>
                  <a:cs typeface="Lato" panose="020F0502020204030203" pitchFamily="34" charset="0"/>
                </a:rPr>
                <a:t>Optional path to build and acquire an India ODC aligned to Lantern Care standards</a:t>
              </a:r>
            </a:p>
          </p:txBody>
        </p:sp>
      </p:grpSp>
      <p:sp>
        <p:nvSpPr>
          <p:cNvPr id="6" name="Rectangle: Top Corners One Rounded and One Snipped 5">
            <a:extLst>
              <a:ext uri="{FF2B5EF4-FFF2-40B4-BE49-F238E27FC236}">
                <a16:creationId xmlns:a16="http://schemas.microsoft.com/office/drawing/2014/main" id="{0D5222F3-49A3-B573-4ED8-2A036DFE1291}"/>
              </a:ext>
            </a:extLst>
          </p:cNvPr>
          <p:cNvSpPr/>
          <p:nvPr/>
        </p:nvSpPr>
        <p:spPr>
          <a:xfrm>
            <a:off x="2179433" y="1036595"/>
            <a:ext cx="4286497" cy="523220"/>
          </a:xfrm>
          <a:prstGeom prst="snipRoundRect">
            <a:avLst>
              <a:gd name="adj1" fmla="val 16667"/>
              <a:gd name="adj2"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bg1"/>
                </a:solidFill>
                <a:latin typeface="Lato" panose="020F0502020204030203" pitchFamily="34" charset="0"/>
                <a:ea typeface="Lato" panose="020F0502020204030203" pitchFamily="34" charset="0"/>
                <a:cs typeface="Lato" panose="020F0502020204030203" pitchFamily="34" charset="0"/>
              </a:rPr>
              <a:t>Benefits</a:t>
            </a:r>
            <a:endParaRPr lang="en-US" sz="3200" b="1">
              <a:solidFill>
                <a:schemeClr val="bg1"/>
              </a:solidFill>
              <a:latin typeface="Lato" panose="020F0502020204030203" pitchFamily="34" charset="0"/>
              <a:ea typeface="Lato" panose="020F0502020204030203" pitchFamily="34" charset="0"/>
              <a:cs typeface="Lato" panose="020F0502020204030203" pitchFamily="34" charset="0"/>
            </a:endParaRPr>
          </a:p>
        </p:txBody>
      </p:sp>
      <p:pic>
        <p:nvPicPr>
          <p:cNvPr id="8" name="Picture 7">
            <a:extLst>
              <a:ext uri="{FF2B5EF4-FFF2-40B4-BE49-F238E27FC236}">
                <a16:creationId xmlns:a16="http://schemas.microsoft.com/office/drawing/2014/main" id="{3865D1CC-0A4F-3D0B-82EA-A38923F9DE4F}"/>
              </a:ext>
            </a:extLst>
          </p:cNvPr>
          <p:cNvPicPr>
            <a:picLocks noChangeAspect="1"/>
          </p:cNvPicPr>
          <p:nvPr/>
        </p:nvPicPr>
        <p:blipFill>
          <a:blip r:embed="rId2"/>
          <a:stretch>
            <a:fillRect/>
          </a:stretch>
        </p:blipFill>
        <p:spPr>
          <a:xfrm>
            <a:off x="7723014" y="1671449"/>
            <a:ext cx="4202838" cy="3515102"/>
          </a:xfrm>
          <a:prstGeom prst="rect">
            <a:avLst/>
          </a:prstGeom>
        </p:spPr>
      </p:pic>
    </p:spTree>
    <p:extLst>
      <p:ext uri="{BB962C8B-B14F-4D97-AF65-F5344CB8AC3E}">
        <p14:creationId xmlns:p14="http://schemas.microsoft.com/office/powerpoint/2010/main" val="27578414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69979-530F-55B4-B486-6B798FE38867}"/>
              </a:ext>
            </a:extLst>
          </p:cNvPr>
          <p:cNvSpPr>
            <a:spLocks noGrp="1"/>
          </p:cNvSpPr>
          <p:nvPr>
            <p:ph type="title"/>
          </p:nvPr>
        </p:nvSpPr>
        <p:spPr/>
        <p:txBody>
          <a:bodyPr/>
          <a:lstStyle/>
          <a:p>
            <a:r>
              <a:rPr lang="en-US" dirty="0"/>
              <a:t>Transition Approach for New or Changing Resources</a:t>
            </a:r>
            <a:endParaRPr lang="en-IN" dirty="0"/>
          </a:p>
        </p:txBody>
      </p:sp>
      <p:sp>
        <p:nvSpPr>
          <p:cNvPr id="3" name="Rectangle: Diagonal Corners Snipped 2">
            <a:extLst>
              <a:ext uri="{FF2B5EF4-FFF2-40B4-BE49-F238E27FC236}">
                <a16:creationId xmlns:a16="http://schemas.microsoft.com/office/drawing/2014/main" id="{10D5FE02-6460-017E-BDED-F72384832793}"/>
              </a:ext>
            </a:extLst>
          </p:cNvPr>
          <p:cNvSpPr/>
          <p:nvPr/>
        </p:nvSpPr>
        <p:spPr>
          <a:xfrm>
            <a:off x="241299" y="736600"/>
            <a:ext cx="11628574" cy="1234906"/>
          </a:xfrm>
          <a:prstGeom prst="snip2DiagRect">
            <a:avLst>
              <a:gd name="adj1" fmla="val 0"/>
              <a:gd name="adj2" fmla="val 14980"/>
            </a:avLst>
          </a:prstGeom>
          <a:solidFill>
            <a:schemeClr val="bg1"/>
          </a:solidFill>
          <a:ln w="63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a typeface="Lato" panose="020F0502020204030203" pitchFamily="34" charset="0"/>
              <a:cs typeface="Lato" panose="020F0502020204030203" pitchFamily="34" charset="0"/>
            </a:endParaRPr>
          </a:p>
        </p:txBody>
      </p:sp>
      <p:sp>
        <p:nvSpPr>
          <p:cNvPr id="4" name="TextBox 3">
            <a:extLst>
              <a:ext uri="{FF2B5EF4-FFF2-40B4-BE49-F238E27FC236}">
                <a16:creationId xmlns:a16="http://schemas.microsoft.com/office/drawing/2014/main" id="{85646922-6F3D-A501-D950-12F427B817A2}"/>
              </a:ext>
            </a:extLst>
          </p:cNvPr>
          <p:cNvSpPr txBox="1"/>
          <p:nvPr/>
        </p:nvSpPr>
        <p:spPr>
          <a:xfrm>
            <a:off x="515523" y="823161"/>
            <a:ext cx="10997092" cy="1092607"/>
          </a:xfrm>
          <a:prstGeom prst="rect">
            <a:avLst/>
          </a:prstGeom>
          <a:noFill/>
          <a:ln>
            <a:noFill/>
          </a:ln>
        </p:spPr>
        <p:txBody>
          <a:bodyPr wrap="square" rtlCol="0">
            <a:spAutoFit/>
          </a:bodyPr>
          <a:lstStyle/>
          <a:p>
            <a:pPr marL="285750" marR="0" lvl="0" indent="-285750" algn="just" defTabSz="914400" rtl="0" eaLnBrk="1" fontAlgn="auto" latinLnBrk="0" hangingPunct="1">
              <a:spcAft>
                <a:spcPts val="200"/>
              </a:spcAft>
              <a:buClrTx/>
              <a:buSzTx/>
              <a:buBlip>
                <a:blip r:embed="rId2"/>
              </a:buBlip>
              <a:tabLst/>
              <a:defRPr/>
            </a:pPr>
            <a:r>
              <a:rPr lang="en-US" sz="1200" kern="100" dirty="0">
                <a:solidFill>
                  <a:schemeClr val="tx1"/>
                </a:solidFill>
                <a:effectLst/>
                <a:latin typeface="Lato"/>
                <a:ea typeface="Roboto"/>
                <a:cs typeface="Roboto"/>
              </a:rPr>
              <a:t>Innominds proposes a structured and low-risk Transition Approach designed to ensure business continuity, knowledge preservation, and delivery stability throughout the transition period.</a:t>
            </a:r>
          </a:p>
          <a:p>
            <a:pPr marL="285750" marR="0" lvl="0" indent="-285750" algn="just" defTabSz="914400" rtl="0" eaLnBrk="1" fontAlgn="auto" latinLnBrk="0" hangingPunct="1">
              <a:spcAft>
                <a:spcPts val="200"/>
              </a:spcAft>
              <a:buClrTx/>
              <a:buSzTx/>
              <a:buBlip>
                <a:blip r:embed="rId2"/>
              </a:buBlip>
              <a:tabLst/>
              <a:defRPr/>
            </a:pPr>
            <a:r>
              <a:rPr lang="en-US" sz="1200" kern="100" dirty="0">
                <a:solidFill>
                  <a:schemeClr val="tx1"/>
                </a:solidFill>
                <a:effectLst/>
                <a:latin typeface="Lato"/>
                <a:ea typeface="Roboto"/>
                <a:cs typeface="Roboto"/>
              </a:rPr>
              <a:t>This transition approach is used when:</a:t>
            </a:r>
          </a:p>
          <a:p>
            <a:pPr marL="742950" lvl="1" indent="-285750" algn="just">
              <a:spcAft>
                <a:spcPts val="200"/>
              </a:spcAft>
              <a:buBlip>
                <a:blip r:embed="rId2"/>
              </a:buBlip>
              <a:defRPr/>
            </a:pPr>
            <a:r>
              <a:rPr lang="en-US" sz="1200" kern="100" dirty="0">
                <a:solidFill>
                  <a:schemeClr val="tx1"/>
                </a:solidFill>
                <a:effectLst/>
                <a:latin typeface="Lato"/>
                <a:ea typeface="Roboto"/>
                <a:cs typeface="Roboto"/>
              </a:rPr>
              <a:t>Resources hired from the market by Innominds</a:t>
            </a:r>
          </a:p>
          <a:p>
            <a:pPr marL="742950" lvl="1" indent="-285750" algn="just">
              <a:spcAft>
                <a:spcPts val="200"/>
              </a:spcAft>
              <a:buBlip>
                <a:blip r:embed="rId2"/>
              </a:buBlip>
              <a:defRPr/>
            </a:pPr>
            <a:r>
              <a:rPr lang="en-US" sz="1200" kern="100" dirty="0">
                <a:solidFill>
                  <a:schemeClr val="tx1"/>
                </a:solidFill>
                <a:effectLst/>
                <a:latin typeface="Lato"/>
                <a:ea typeface="Roboto"/>
                <a:cs typeface="Roboto"/>
              </a:rPr>
              <a:t>Roles where existing vendor resources are being replaced with Innominds resources</a:t>
            </a:r>
          </a:p>
        </p:txBody>
      </p:sp>
      <p:grpSp>
        <p:nvGrpSpPr>
          <p:cNvPr id="47" name="Group 46">
            <a:extLst>
              <a:ext uri="{FF2B5EF4-FFF2-40B4-BE49-F238E27FC236}">
                <a16:creationId xmlns:a16="http://schemas.microsoft.com/office/drawing/2014/main" id="{2D8CD024-D40B-9436-F174-6EA3A947FFE9}"/>
              </a:ext>
            </a:extLst>
          </p:cNvPr>
          <p:cNvGrpSpPr/>
          <p:nvPr/>
        </p:nvGrpSpPr>
        <p:grpSpPr>
          <a:xfrm>
            <a:off x="338343" y="2371461"/>
            <a:ext cx="2570401" cy="4167317"/>
            <a:chOff x="338343" y="1731381"/>
            <a:chExt cx="2720375" cy="3954007"/>
          </a:xfrm>
        </p:grpSpPr>
        <p:grpSp>
          <p:nvGrpSpPr>
            <p:cNvPr id="7" name="Group 6">
              <a:extLst>
                <a:ext uri="{FF2B5EF4-FFF2-40B4-BE49-F238E27FC236}">
                  <a16:creationId xmlns:a16="http://schemas.microsoft.com/office/drawing/2014/main" id="{AE4F8054-AB58-A058-E675-C560AFF2DF1C}"/>
                </a:ext>
              </a:extLst>
            </p:cNvPr>
            <p:cNvGrpSpPr/>
            <p:nvPr/>
          </p:nvGrpSpPr>
          <p:grpSpPr>
            <a:xfrm>
              <a:off x="338343" y="1731381"/>
              <a:ext cx="2720375" cy="3954007"/>
              <a:chOff x="4369387" y="1687516"/>
              <a:chExt cx="3324027" cy="3954007"/>
            </a:xfrm>
          </p:grpSpPr>
          <p:cxnSp>
            <p:nvCxnSpPr>
              <p:cNvPr id="10" name="Connector: Elbow 31">
                <a:extLst>
                  <a:ext uri="{FF2B5EF4-FFF2-40B4-BE49-F238E27FC236}">
                    <a16:creationId xmlns:a16="http://schemas.microsoft.com/office/drawing/2014/main" id="{E3D37CA6-2979-738B-DCFD-EBAFCA710CB9}"/>
                  </a:ext>
                </a:extLst>
              </p:cNvPr>
              <p:cNvCxnSpPr>
                <a:cxnSpLocks/>
              </p:cNvCxnSpPr>
              <p:nvPr/>
            </p:nvCxnSpPr>
            <p:spPr>
              <a:xfrm rot="5400000">
                <a:off x="3944098" y="2213269"/>
                <a:ext cx="3853543" cy="3002965"/>
              </a:xfrm>
              <a:prstGeom prst="bentConnector3">
                <a:avLst>
                  <a:gd name="adj1" fmla="val 282"/>
                </a:avLst>
              </a:prstGeom>
              <a:ln>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11" name="Connector: Elbow 32">
                <a:extLst>
                  <a:ext uri="{FF2B5EF4-FFF2-40B4-BE49-F238E27FC236}">
                    <a16:creationId xmlns:a16="http://schemas.microsoft.com/office/drawing/2014/main" id="{ED4F1D02-FE5F-89D3-FCA6-CFC07249A5D6}"/>
                  </a:ext>
                </a:extLst>
              </p:cNvPr>
              <p:cNvCxnSpPr>
                <a:cxnSpLocks/>
              </p:cNvCxnSpPr>
              <p:nvPr/>
            </p:nvCxnSpPr>
            <p:spPr>
              <a:xfrm rot="5400000" flipH="1" flipV="1">
                <a:off x="4146410" y="2188174"/>
                <a:ext cx="3626133" cy="2825747"/>
              </a:xfrm>
              <a:prstGeom prst="bentConnector3">
                <a:avLst>
                  <a:gd name="adj1" fmla="val -168"/>
                </a:avLst>
              </a:prstGeom>
              <a:ln>
                <a:solidFill>
                  <a:srgbClr val="00B0F0"/>
                </a:solidFill>
                <a:prstDash val="sysDash"/>
                <a:round/>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29D82161-02B1-C39C-7C9A-314749C843C8}"/>
                  </a:ext>
                </a:extLst>
              </p:cNvPr>
              <p:cNvCxnSpPr/>
              <p:nvPr/>
            </p:nvCxnSpPr>
            <p:spPr>
              <a:xfrm>
                <a:off x="4369387" y="5641523"/>
                <a:ext cx="3119068" cy="0"/>
              </a:xfrm>
              <a:prstGeom prst="straightConnector1">
                <a:avLst/>
              </a:prstGeom>
              <a:ln w="38100">
                <a:solidFill>
                  <a:srgbClr val="00B0F0"/>
                </a:solidFill>
                <a:tailEnd type="triangle"/>
              </a:ln>
            </p:spPr>
            <p:style>
              <a:lnRef idx="2">
                <a:schemeClr val="accent1"/>
              </a:lnRef>
              <a:fillRef idx="0">
                <a:schemeClr val="accent1"/>
              </a:fillRef>
              <a:effectRef idx="1">
                <a:schemeClr val="accent1"/>
              </a:effectRef>
              <a:fontRef idx="minor">
                <a:schemeClr val="tx1"/>
              </a:fontRef>
            </p:style>
          </p:cxnSp>
          <p:grpSp>
            <p:nvGrpSpPr>
              <p:cNvPr id="13" name="Group 12">
                <a:extLst>
                  <a:ext uri="{FF2B5EF4-FFF2-40B4-BE49-F238E27FC236}">
                    <a16:creationId xmlns:a16="http://schemas.microsoft.com/office/drawing/2014/main" id="{79B40168-4817-0C16-A412-02BDAFC492DB}"/>
                  </a:ext>
                </a:extLst>
              </p:cNvPr>
              <p:cNvGrpSpPr/>
              <p:nvPr/>
            </p:nvGrpSpPr>
            <p:grpSpPr>
              <a:xfrm>
                <a:off x="7076323" y="1687516"/>
                <a:ext cx="617091" cy="225410"/>
                <a:chOff x="7076323" y="1687516"/>
                <a:chExt cx="617091" cy="225410"/>
              </a:xfrm>
            </p:grpSpPr>
            <p:cxnSp>
              <p:nvCxnSpPr>
                <p:cNvPr id="14" name="Straight Arrow Connector 13">
                  <a:extLst>
                    <a:ext uri="{FF2B5EF4-FFF2-40B4-BE49-F238E27FC236}">
                      <a16:creationId xmlns:a16="http://schemas.microsoft.com/office/drawing/2014/main" id="{4B2A5E6A-6938-32AB-D089-66879D572677}"/>
                    </a:ext>
                  </a:extLst>
                </p:cNvPr>
                <p:cNvCxnSpPr>
                  <a:cxnSpLocks/>
                </p:cNvCxnSpPr>
                <p:nvPr/>
              </p:nvCxnSpPr>
              <p:spPr>
                <a:xfrm>
                  <a:off x="7076323" y="1800220"/>
                  <a:ext cx="617091" cy="0"/>
                </a:xfrm>
                <a:prstGeom prst="straightConnector1">
                  <a:avLst/>
                </a:prstGeom>
                <a:ln w="8255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15" name="Isosceles Triangle 36">
                  <a:extLst>
                    <a:ext uri="{FF2B5EF4-FFF2-40B4-BE49-F238E27FC236}">
                      <a16:creationId xmlns:a16="http://schemas.microsoft.com/office/drawing/2014/main" id="{85CDAC3D-5DD1-8FFF-7F74-3A9E80147014}"/>
                    </a:ext>
                  </a:extLst>
                </p:cNvPr>
                <p:cNvSpPr/>
                <p:nvPr/>
              </p:nvSpPr>
              <p:spPr>
                <a:xfrm rot="5400000">
                  <a:off x="7305425" y="1703062"/>
                  <a:ext cx="225410" cy="194318"/>
                </a:xfrm>
                <a:prstGeom prst="triangl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8" name="TextBox 7">
              <a:extLst>
                <a:ext uri="{FF2B5EF4-FFF2-40B4-BE49-F238E27FC236}">
                  <a16:creationId xmlns:a16="http://schemas.microsoft.com/office/drawing/2014/main" id="{BBD55444-6B60-E9AA-3DAD-15B0D87497DF}"/>
                </a:ext>
              </a:extLst>
            </p:cNvPr>
            <p:cNvSpPr txBox="1"/>
            <p:nvPr/>
          </p:nvSpPr>
          <p:spPr>
            <a:xfrm>
              <a:off x="483376" y="1965958"/>
              <a:ext cx="2141964" cy="523220"/>
            </a:xfrm>
            <a:prstGeom prst="rect">
              <a:avLst/>
            </a:prstGeom>
            <a:noFill/>
          </p:spPr>
          <p:txBody>
            <a:bodyPr wrap="square" rtlCol="0">
              <a:spAutoFit/>
            </a:bodyPr>
            <a:lstStyle/>
            <a:p>
              <a:pPr algn="ctr"/>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Team Onboarding &amp; Knowledge Transfer</a:t>
              </a:r>
            </a:p>
          </p:txBody>
        </p:sp>
        <p:sp>
          <p:nvSpPr>
            <p:cNvPr id="9" name="TextBox 8">
              <a:extLst>
                <a:ext uri="{FF2B5EF4-FFF2-40B4-BE49-F238E27FC236}">
                  <a16:creationId xmlns:a16="http://schemas.microsoft.com/office/drawing/2014/main" id="{F9DB9481-F368-E409-52B4-07B831131A21}"/>
                </a:ext>
              </a:extLst>
            </p:cNvPr>
            <p:cNvSpPr txBox="1"/>
            <p:nvPr/>
          </p:nvSpPr>
          <p:spPr>
            <a:xfrm>
              <a:off x="483374" y="2508071"/>
              <a:ext cx="2141964" cy="2657406"/>
            </a:xfrm>
            <a:prstGeom prst="rect">
              <a:avLst/>
            </a:prstGeom>
            <a:noFill/>
          </p:spPr>
          <p:txBody>
            <a:bodyPr wrap="square" rtlCol="0">
              <a:spAutoFit/>
            </a:bodyPr>
            <a:lstStyle/>
            <a:p>
              <a:pPr marL="171450" indent="-171450">
                <a:spcBef>
                  <a:spcPts val="1200"/>
                </a:spcBef>
                <a:buBlip>
                  <a:blip r:embed="rId3"/>
                </a:buBlip>
              </a:pPr>
              <a:r>
                <a:rPr lang="en-US" sz="1200" dirty="0">
                  <a:latin typeface="Lato" panose="020F0502020204030203" pitchFamily="34" charset="0"/>
                  <a:ea typeface="Lato" panose="020F0502020204030203" pitchFamily="34" charset="0"/>
                  <a:cs typeface="Lato" panose="020F0502020204030203" pitchFamily="34" charset="0"/>
                </a:rPr>
                <a:t>Accelerated onboarding of new / changing resources into Convatec programs</a:t>
              </a:r>
            </a:p>
            <a:p>
              <a:pPr marL="171450" indent="-171450">
                <a:spcBef>
                  <a:spcPts val="1200"/>
                </a:spcBef>
                <a:buBlip>
                  <a:blip r:embed="rId3"/>
                </a:buBlip>
              </a:pPr>
              <a:r>
                <a:rPr lang="en-US" sz="1200" dirty="0">
                  <a:latin typeface="Lato" panose="020F0502020204030203" pitchFamily="34" charset="0"/>
                  <a:ea typeface="Lato" panose="020F0502020204030203" pitchFamily="34" charset="0"/>
                  <a:cs typeface="Lato" panose="020F0502020204030203" pitchFamily="34" charset="0"/>
                </a:rPr>
                <a:t>Structured knowledge transfer covering domain context, applications, data, and cloud environments</a:t>
              </a:r>
            </a:p>
            <a:p>
              <a:pPr marL="171450" indent="-171450">
                <a:spcBef>
                  <a:spcPts val="1200"/>
                </a:spcBef>
                <a:buBlip>
                  <a:blip r:embed="rId3"/>
                </a:buBlip>
              </a:pPr>
              <a:r>
                <a:rPr lang="en-US" sz="1200" dirty="0">
                  <a:latin typeface="Lato" panose="020F0502020204030203" pitchFamily="34" charset="0"/>
                  <a:ea typeface="Lato" panose="020F0502020204030203" pitchFamily="34" charset="0"/>
                  <a:cs typeface="Lato" panose="020F0502020204030203" pitchFamily="34" charset="0"/>
                </a:rPr>
                <a:t>Standardized documentation captured in a centralized knowledge repository</a:t>
              </a:r>
            </a:p>
          </p:txBody>
        </p:sp>
      </p:grpSp>
      <p:grpSp>
        <p:nvGrpSpPr>
          <p:cNvPr id="46" name="Group 45">
            <a:extLst>
              <a:ext uri="{FF2B5EF4-FFF2-40B4-BE49-F238E27FC236}">
                <a16:creationId xmlns:a16="http://schemas.microsoft.com/office/drawing/2014/main" id="{F9167FD7-B64A-C402-8F47-EA56607D0CD1}"/>
              </a:ext>
            </a:extLst>
          </p:cNvPr>
          <p:cNvGrpSpPr/>
          <p:nvPr/>
        </p:nvGrpSpPr>
        <p:grpSpPr>
          <a:xfrm>
            <a:off x="2945206" y="2371461"/>
            <a:ext cx="2570401" cy="4167317"/>
            <a:chOff x="3105226" y="1731381"/>
            <a:chExt cx="2720375" cy="3954007"/>
          </a:xfrm>
        </p:grpSpPr>
        <p:grpSp>
          <p:nvGrpSpPr>
            <p:cNvPr id="17" name="Group 16">
              <a:extLst>
                <a:ext uri="{FF2B5EF4-FFF2-40B4-BE49-F238E27FC236}">
                  <a16:creationId xmlns:a16="http://schemas.microsoft.com/office/drawing/2014/main" id="{28C474F7-E188-9BCE-F5AE-CA8C028975F0}"/>
                </a:ext>
              </a:extLst>
            </p:cNvPr>
            <p:cNvGrpSpPr/>
            <p:nvPr/>
          </p:nvGrpSpPr>
          <p:grpSpPr>
            <a:xfrm>
              <a:off x="3105226" y="1731381"/>
              <a:ext cx="2720375" cy="3954007"/>
              <a:chOff x="4369387" y="1687516"/>
              <a:chExt cx="3324027" cy="3954007"/>
            </a:xfrm>
          </p:grpSpPr>
          <p:cxnSp>
            <p:nvCxnSpPr>
              <p:cNvPr id="20" name="Connector: Elbow 23">
                <a:extLst>
                  <a:ext uri="{FF2B5EF4-FFF2-40B4-BE49-F238E27FC236}">
                    <a16:creationId xmlns:a16="http://schemas.microsoft.com/office/drawing/2014/main" id="{3CECD16A-264E-6C13-C8A8-29B4A222AC50}"/>
                  </a:ext>
                </a:extLst>
              </p:cNvPr>
              <p:cNvCxnSpPr>
                <a:cxnSpLocks/>
              </p:cNvCxnSpPr>
              <p:nvPr/>
            </p:nvCxnSpPr>
            <p:spPr>
              <a:xfrm rot="5400000">
                <a:off x="3944098" y="2213269"/>
                <a:ext cx="3853543" cy="3002965"/>
              </a:xfrm>
              <a:prstGeom prst="bentConnector3">
                <a:avLst>
                  <a:gd name="adj1" fmla="val 282"/>
                </a:avLst>
              </a:prstGeom>
              <a:ln>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21" name="Connector: Elbow 24">
                <a:extLst>
                  <a:ext uri="{FF2B5EF4-FFF2-40B4-BE49-F238E27FC236}">
                    <a16:creationId xmlns:a16="http://schemas.microsoft.com/office/drawing/2014/main" id="{C325EE69-E70A-A017-5B0A-E89C5BE7BA15}"/>
                  </a:ext>
                </a:extLst>
              </p:cNvPr>
              <p:cNvCxnSpPr>
                <a:cxnSpLocks/>
              </p:cNvCxnSpPr>
              <p:nvPr/>
            </p:nvCxnSpPr>
            <p:spPr>
              <a:xfrm rot="5400000" flipH="1" flipV="1">
                <a:off x="4146410" y="2188174"/>
                <a:ext cx="3626133" cy="2825747"/>
              </a:xfrm>
              <a:prstGeom prst="bentConnector3">
                <a:avLst>
                  <a:gd name="adj1" fmla="val -168"/>
                </a:avLst>
              </a:prstGeom>
              <a:ln>
                <a:solidFill>
                  <a:srgbClr val="00B0F0"/>
                </a:solidFill>
                <a:prstDash val="sysDash"/>
                <a:round/>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7C5E8296-923E-9956-5539-EEBC44025EF3}"/>
                  </a:ext>
                </a:extLst>
              </p:cNvPr>
              <p:cNvCxnSpPr/>
              <p:nvPr/>
            </p:nvCxnSpPr>
            <p:spPr>
              <a:xfrm>
                <a:off x="4369387" y="5641523"/>
                <a:ext cx="3119068" cy="0"/>
              </a:xfrm>
              <a:prstGeom prst="straightConnector1">
                <a:avLst/>
              </a:prstGeom>
              <a:ln w="38100">
                <a:solidFill>
                  <a:srgbClr val="00B0F0"/>
                </a:solidFill>
                <a:tailEnd type="triangle"/>
              </a:ln>
            </p:spPr>
            <p:style>
              <a:lnRef idx="2">
                <a:schemeClr val="accent1"/>
              </a:lnRef>
              <a:fillRef idx="0">
                <a:schemeClr val="accent1"/>
              </a:fillRef>
              <a:effectRef idx="1">
                <a:schemeClr val="accent1"/>
              </a:effectRef>
              <a:fontRef idx="minor">
                <a:schemeClr val="tx1"/>
              </a:fontRef>
            </p:style>
          </p:cxnSp>
          <p:grpSp>
            <p:nvGrpSpPr>
              <p:cNvPr id="23" name="Group 22">
                <a:extLst>
                  <a:ext uri="{FF2B5EF4-FFF2-40B4-BE49-F238E27FC236}">
                    <a16:creationId xmlns:a16="http://schemas.microsoft.com/office/drawing/2014/main" id="{F5754E7B-140C-C2D9-4812-E6450BCB26E2}"/>
                  </a:ext>
                </a:extLst>
              </p:cNvPr>
              <p:cNvGrpSpPr/>
              <p:nvPr/>
            </p:nvGrpSpPr>
            <p:grpSpPr>
              <a:xfrm>
                <a:off x="7076323" y="1687516"/>
                <a:ext cx="617091" cy="225410"/>
                <a:chOff x="7076323" y="1687516"/>
                <a:chExt cx="617091" cy="225410"/>
              </a:xfrm>
            </p:grpSpPr>
            <p:cxnSp>
              <p:nvCxnSpPr>
                <p:cNvPr id="24" name="Straight Arrow Connector 23">
                  <a:extLst>
                    <a:ext uri="{FF2B5EF4-FFF2-40B4-BE49-F238E27FC236}">
                      <a16:creationId xmlns:a16="http://schemas.microsoft.com/office/drawing/2014/main" id="{8E93529A-B74F-35CA-D43C-19FA65EF9C57}"/>
                    </a:ext>
                  </a:extLst>
                </p:cNvPr>
                <p:cNvCxnSpPr>
                  <a:cxnSpLocks/>
                </p:cNvCxnSpPr>
                <p:nvPr/>
              </p:nvCxnSpPr>
              <p:spPr>
                <a:xfrm>
                  <a:off x="7076323" y="1800220"/>
                  <a:ext cx="617091" cy="0"/>
                </a:xfrm>
                <a:prstGeom prst="straightConnector1">
                  <a:avLst/>
                </a:prstGeom>
                <a:ln w="8255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25" name="Isosceles Triangle 28">
                  <a:extLst>
                    <a:ext uri="{FF2B5EF4-FFF2-40B4-BE49-F238E27FC236}">
                      <a16:creationId xmlns:a16="http://schemas.microsoft.com/office/drawing/2014/main" id="{2DDA415A-275A-C58D-5478-8995C65BE662}"/>
                    </a:ext>
                  </a:extLst>
                </p:cNvPr>
                <p:cNvSpPr/>
                <p:nvPr/>
              </p:nvSpPr>
              <p:spPr>
                <a:xfrm rot="5400000">
                  <a:off x="7305425" y="1703062"/>
                  <a:ext cx="225410" cy="194318"/>
                </a:xfrm>
                <a:prstGeom prst="triangl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8" name="TextBox 17">
              <a:extLst>
                <a:ext uri="{FF2B5EF4-FFF2-40B4-BE49-F238E27FC236}">
                  <a16:creationId xmlns:a16="http://schemas.microsoft.com/office/drawing/2014/main" id="{ABB35C9B-BB09-FCA1-BEB3-82CB70A5FE09}"/>
                </a:ext>
              </a:extLst>
            </p:cNvPr>
            <p:cNvSpPr txBox="1"/>
            <p:nvPr/>
          </p:nvSpPr>
          <p:spPr>
            <a:xfrm>
              <a:off x="3250259" y="1965958"/>
              <a:ext cx="2141964" cy="523220"/>
            </a:xfrm>
            <a:prstGeom prst="rect">
              <a:avLst/>
            </a:prstGeom>
            <a:noFill/>
          </p:spPr>
          <p:txBody>
            <a:bodyPr wrap="square" rtlCol="0">
              <a:spAutoFit/>
            </a:bodyPr>
            <a:lstStyle/>
            <a:p>
              <a:pPr algn="ctr"/>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Shadowing &amp; Assisted Ownership</a:t>
              </a:r>
            </a:p>
          </p:txBody>
        </p:sp>
        <p:sp>
          <p:nvSpPr>
            <p:cNvPr id="19" name="TextBox 18">
              <a:extLst>
                <a:ext uri="{FF2B5EF4-FFF2-40B4-BE49-F238E27FC236}">
                  <a16:creationId xmlns:a16="http://schemas.microsoft.com/office/drawing/2014/main" id="{672D6824-AC80-A40A-28B4-09313E38ACF6}"/>
                </a:ext>
              </a:extLst>
            </p:cNvPr>
            <p:cNvSpPr txBox="1"/>
            <p:nvPr/>
          </p:nvSpPr>
          <p:spPr>
            <a:xfrm>
              <a:off x="3263052" y="2485844"/>
              <a:ext cx="2141964" cy="2131765"/>
            </a:xfrm>
            <a:prstGeom prst="rect">
              <a:avLst/>
            </a:prstGeom>
            <a:noFill/>
          </p:spPr>
          <p:txBody>
            <a:bodyPr wrap="square" rtlCol="0">
              <a:spAutoFit/>
            </a:bodyPr>
            <a:lstStyle/>
            <a:p>
              <a:pPr marL="171450" indent="-171450">
                <a:spcBef>
                  <a:spcPts val="1200"/>
                </a:spcBef>
                <a:buBlip>
                  <a:blip r:embed="rId3"/>
                </a:buBlip>
              </a:pPr>
              <a:r>
                <a:rPr lang="en-US" sz="1200" dirty="0">
                  <a:latin typeface="Lato" panose="020F0502020204030203" pitchFamily="34" charset="0"/>
                  <a:ea typeface="Lato" panose="020F0502020204030203" pitchFamily="34" charset="0"/>
                  <a:cs typeface="Lato" panose="020F0502020204030203" pitchFamily="34" charset="0"/>
                </a:rPr>
                <a:t>Defined shadowing model with incumbent teams / resources, if any</a:t>
              </a:r>
            </a:p>
            <a:p>
              <a:pPr marL="171450" indent="-171450">
                <a:spcBef>
                  <a:spcPts val="1200"/>
                </a:spcBef>
                <a:buBlip>
                  <a:blip r:embed="rId3"/>
                </a:buBlip>
              </a:pPr>
              <a:r>
                <a:rPr lang="en-US" sz="1200" dirty="0">
                  <a:latin typeface="Lato" panose="020F0502020204030203" pitchFamily="34" charset="0"/>
                  <a:ea typeface="Lato" panose="020F0502020204030203" pitchFamily="34" charset="0"/>
                  <a:cs typeface="Lato" panose="020F0502020204030203" pitchFamily="34" charset="0"/>
                </a:rPr>
                <a:t>Parallel execution to ensure confidence, continuity, and risk mitigation</a:t>
              </a:r>
            </a:p>
            <a:p>
              <a:pPr marL="171450" indent="-171450">
                <a:spcBef>
                  <a:spcPts val="1200"/>
                </a:spcBef>
                <a:buBlip>
                  <a:blip r:embed="rId3"/>
                </a:buBlip>
              </a:pPr>
              <a:r>
                <a:rPr lang="en-US" sz="1200" dirty="0">
                  <a:latin typeface="Lato" panose="020F0502020204030203" pitchFamily="34" charset="0"/>
                  <a:ea typeface="Lato" panose="020F0502020204030203" pitchFamily="34" charset="0"/>
                  <a:cs typeface="Lato" panose="020F0502020204030203" pitchFamily="34" charset="0"/>
                </a:rPr>
                <a:t>Gradual transition from assisted execution to primary ownership</a:t>
              </a:r>
            </a:p>
          </p:txBody>
        </p:sp>
      </p:grpSp>
      <p:grpSp>
        <p:nvGrpSpPr>
          <p:cNvPr id="45" name="Group 44">
            <a:extLst>
              <a:ext uri="{FF2B5EF4-FFF2-40B4-BE49-F238E27FC236}">
                <a16:creationId xmlns:a16="http://schemas.microsoft.com/office/drawing/2014/main" id="{DF3DD30C-1356-D787-0140-BEFAFE57C785}"/>
              </a:ext>
            </a:extLst>
          </p:cNvPr>
          <p:cNvGrpSpPr/>
          <p:nvPr/>
        </p:nvGrpSpPr>
        <p:grpSpPr>
          <a:xfrm>
            <a:off x="5574928" y="2387006"/>
            <a:ext cx="2421921" cy="4253823"/>
            <a:chOff x="5963548" y="1746926"/>
            <a:chExt cx="2563232" cy="4036085"/>
          </a:xfrm>
        </p:grpSpPr>
        <p:cxnSp>
          <p:nvCxnSpPr>
            <p:cNvPr id="27" name="Connector: Elbow 15">
              <a:extLst>
                <a:ext uri="{FF2B5EF4-FFF2-40B4-BE49-F238E27FC236}">
                  <a16:creationId xmlns:a16="http://schemas.microsoft.com/office/drawing/2014/main" id="{BA5436B9-9AFD-3A4C-AD6A-DAB40EE0A521}"/>
                </a:ext>
              </a:extLst>
            </p:cNvPr>
            <p:cNvCxnSpPr>
              <a:cxnSpLocks/>
            </p:cNvCxnSpPr>
            <p:nvPr/>
          </p:nvCxnSpPr>
          <p:spPr>
            <a:xfrm rot="5400000">
              <a:off x="5265586" y="2529807"/>
              <a:ext cx="3853543" cy="2457619"/>
            </a:xfrm>
            <a:prstGeom prst="bentConnector3">
              <a:avLst>
                <a:gd name="adj1" fmla="val 282"/>
              </a:avLst>
            </a:prstGeom>
            <a:ln>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28" name="Connector: Elbow 16">
              <a:extLst>
                <a:ext uri="{FF2B5EF4-FFF2-40B4-BE49-F238E27FC236}">
                  <a16:creationId xmlns:a16="http://schemas.microsoft.com/office/drawing/2014/main" id="{0A81CDC5-13F4-EC5C-D5ED-6252EC042C12}"/>
                </a:ext>
              </a:extLst>
            </p:cNvPr>
            <p:cNvCxnSpPr>
              <a:cxnSpLocks/>
            </p:cNvCxnSpPr>
            <p:nvPr/>
          </p:nvCxnSpPr>
          <p:spPr>
            <a:xfrm rot="5400000" flipH="1" flipV="1">
              <a:off x="5451807" y="2488621"/>
              <a:ext cx="3626133" cy="2312584"/>
            </a:xfrm>
            <a:prstGeom prst="bentConnector3">
              <a:avLst>
                <a:gd name="adj1" fmla="val -168"/>
              </a:avLst>
            </a:prstGeom>
            <a:ln>
              <a:solidFill>
                <a:srgbClr val="00B0F0"/>
              </a:solidFill>
              <a:prstDash val="sysDash"/>
              <a:round/>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2966D771-E9A1-F056-44A5-29F5D1E3B55F}"/>
                </a:ext>
              </a:extLst>
            </p:cNvPr>
            <p:cNvCxnSpPr/>
            <p:nvPr/>
          </p:nvCxnSpPr>
          <p:spPr>
            <a:xfrm>
              <a:off x="5963548" y="5685388"/>
              <a:ext cx="2552637" cy="0"/>
            </a:xfrm>
            <a:prstGeom prst="straightConnector1">
              <a:avLst/>
            </a:prstGeom>
            <a:ln w="38100">
              <a:solidFill>
                <a:srgbClr val="00B0F0"/>
              </a:solidFill>
              <a:tailEnd type="non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62D42B19-9390-EBD7-4FB1-EBB80357FEE8}"/>
                </a:ext>
              </a:extLst>
            </p:cNvPr>
            <p:cNvSpPr txBox="1"/>
            <p:nvPr/>
          </p:nvSpPr>
          <p:spPr>
            <a:xfrm>
              <a:off x="6108581" y="1965958"/>
              <a:ext cx="2141964" cy="307777"/>
            </a:xfrm>
            <a:prstGeom prst="rect">
              <a:avLst/>
            </a:prstGeom>
            <a:noFill/>
          </p:spPr>
          <p:txBody>
            <a:bodyPr wrap="square" rtlCol="0">
              <a:spAutoFit/>
            </a:bodyPr>
            <a:lstStyle/>
            <a:p>
              <a:pPr algn="ctr"/>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Steady-State Delivery</a:t>
              </a:r>
            </a:p>
          </p:txBody>
        </p:sp>
        <p:sp>
          <p:nvSpPr>
            <p:cNvPr id="31" name="Rectangle 30">
              <a:extLst>
                <a:ext uri="{FF2B5EF4-FFF2-40B4-BE49-F238E27FC236}">
                  <a16:creationId xmlns:a16="http://schemas.microsoft.com/office/drawing/2014/main" id="{E68E96CB-47EF-34D4-E40F-2F9EC1DEC112}"/>
                </a:ext>
              </a:extLst>
            </p:cNvPr>
            <p:cNvSpPr/>
            <p:nvPr/>
          </p:nvSpPr>
          <p:spPr>
            <a:xfrm>
              <a:off x="8341650" y="1746926"/>
              <a:ext cx="159029" cy="194318"/>
            </a:xfrm>
            <a:prstGeom prst="rect">
              <a:avLst/>
            </a:prstGeom>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BF9D1E96-F288-867E-A6F3-D81A747320E4}"/>
                </a:ext>
              </a:extLst>
            </p:cNvPr>
            <p:cNvSpPr/>
            <p:nvPr/>
          </p:nvSpPr>
          <p:spPr>
            <a:xfrm>
              <a:off x="8367751" y="5588693"/>
              <a:ext cx="159029" cy="19431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F0684695-992B-6F03-F1F3-E03DB4AF088C}"/>
                </a:ext>
              </a:extLst>
            </p:cNvPr>
            <p:cNvSpPr txBox="1"/>
            <p:nvPr/>
          </p:nvSpPr>
          <p:spPr>
            <a:xfrm>
              <a:off x="6127383" y="2485844"/>
              <a:ext cx="2141965" cy="2131765"/>
            </a:xfrm>
            <a:prstGeom prst="rect">
              <a:avLst/>
            </a:prstGeom>
            <a:noFill/>
          </p:spPr>
          <p:txBody>
            <a:bodyPr wrap="square" rtlCol="0">
              <a:spAutoFit/>
            </a:bodyPr>
            <a:lstStyle/>
            <a:p>
              <a:pPr marL="171450" indent="-171450">
                <a:spcBef>
                  <a:spcPts val="1200"/>
                </a:spcBef>
                <a:buBlip>
                  <a:blip r:embed="rId3"/>
                </a:buBlip>
              </a:pPr>
              <a:r>
                <a:rPr lang="en-US" sz="1200" dirty="0">
                  <a:latin typeface="Lato" panose="020F0502020204030203" pitchFamily="34" charset="0"/>
                  <a:ea typeface="Lato" panose="020F0502020204030203" pitchFamily="34" charset="0"/>
                  <a:cs typeface="Lato" panose="020F0502020204030203" pitchFamily="34" charset="0"/>
                </a:rPr>
                <a:t>Full ownership under Innominds’ governance and operating model</a:t>
              </a:r>
            </a:p>
            <a:p>
              <a:pPr marL="171450" indent="-171450">
                <a:spcBef>
                  <a:spcPts val="1200"/>
                </a:spcBef>
                <a:buBlip>
                  <a:blip r:embed="rId3"/>
                </a:buBlip>
              </a:pPr>
              <a:r>
                <a:rPr lang="en-US" sz="1200" dirty="0">
                  <a:latin typeface="Lato" panose="020F0502020204030203" pitchFamily="34" charset="0"/>
                  <a:ea typeface="Lato" panose="020F0502020204030203" pitchFamily="34" charset="0"/>
                  <a:cs typeface="Lato" panose="020F0502020204030203" pitchFamily="34" charset="0"/>
                </a:rPr>
                <a:t>Teams aligned across Quality, Data, Digital, and Cloud capabilities</a:t>
              </a:r>
            </a:p>
            <a:p>
              <a:pPr marL="171450" indent="-171450">
                <a:spcBef>
                  <a:spcPts val="1200"/>
                </a:spcBef>
                <a:buBlip>
                  <a:blip r:embed="rId3"/>
                </a:buBlip>
              </a:pPr>
              <a:r>
                <a:rPr lang="en-US" sz="1200" dirty="0">
                  <a:latin typeface="Lato" panose="020F0502020204030203" pitchFamily="34" charset="0"/>
                  <a:ea typeface="Lato" panose="020F0502020204030203" pitchFamily="34" charset="0"/>
                  <a:cs typeface="Lato" panose="020F0502020204030203" pitchFamily="34" charset="0"/>
                </a:rPr>
                <a:t>Continuous improvement through metrics-driven delivery and optimization</a:t>
              </a:r>
            </a:p>
          </p:txBody>
        </p:sp>
      </p:grpSp>
      <p:sp>
        <p:nvSpPr>
          <p:cNvPr id="35" name="TextBox 34">
            <a:extLst>
              <a:ext uri="{FF2B5EF4-FFF2-40B4-BE49-F238E27FC236}">
                <a16:creationId xmlns:a16="http://schemas.microsoft.com/office/drawing/2014/main" id="{60656E2C-9938-2E60-8B90-7785F7DFC853}"/>
              </a:ext>
            </a:extLst>
          </p:cNvPr>
          <p:cNvSpPr txBox="1"/>
          <p:nvPr/>
        </p:nvSpPr>
        <p:spPr>
          <a:xfrm>
            <a:off x="453685" y="1994977"/>
            <a:ext cx="2421921" cy="377896"/>
          </a:xfrm>
          <a:prstGeom prst="rect">
            <a:avLst/>
          </a:prstGeom>
          <a:noFill/>
        </p:spPr>
        <p:txBody>
          <a:bodyPr wrap="square">
            <a:spAutoFit/>
          </a:bodyPr>
          <a:lstStyle/>
          <a:p>
            <a:r>
              <a:rPr lang="en-IN" b="1">
                <a:solidFill>
                  <a:srgbClr val="0070C0"/>
                </a:solidFill>
                <a:latin typeface="Lato" panose="020F0502020204030203" pitchFamily="34" charset="0"/>
                <a:ea typeface="Lato" panose="020F0502020204030203" pitchFamily="34" charset="0"/>
                <a:cs typeface="Lato" panose="020F0502020204030203" pitchFamily="34" charset="0"/>
              </a:rPr>
              <a:t>Transition Approach:</a:t>
            </a:r>
          </a:p>
        </p:txBody>
      </p:sp>
      <p:grpSp>
        <p:nvGrpSpPr>
          <p:cNvPr id="5" name="Group 4">
            <a:extLst>
              <a:ext uri="{FF2B5EF4-FFF2-40B4-BE49-F238E27FC236}">
                <a16:creationId xmlns:a16="http://schemas.microsoft.com/office/drawing/2014/main" id="{4222117E-7029-2088-CB30-FFA32818D669}"/>
              </a:ext>
            </a:extLst>
          </p:cNvPr>
          <p:cNvGrpSpPr/>
          <p:nvPr/>
        </p:nvGrpSpPr>
        <p:grpSpPr>
          <a:xfrm>
            <a:off x="8058370" y="2387007"/>
            <a:ext cx="3811503" cy="2184993"/>
            <a:chOff x="8058370" y="1964097"/>
            <a:chExt cx="3811503" cy="1876383"/>
          </a:xfrm>
        </p:grpSpPr>
        <p:sp>
          <p:nvSpPr>
            <p:cNvPr id="48" name="Rectangle: Top Corners One Rounded and One Snipped 47">
              <a:extLst>
                <a:ext uri="{FF2B5EF4-FFF2-40B4-BE49-F238E27FC236}">
                  <a16:creationId xmlns:a16="http://schemas.microsoft.com/office/drawing/2014/main" id="{944682DC-7283-C785-8ACF-33620D5A1EB5}"/>
                </a:ext>
              </a:extLst>
            </p:cNvPr>
            <p:cNvSpPr/>
            <p:nvPr/>
          </p:nvSpPr>
          <p:spPr>
            <a:xfrm>
              <a:off x="8058370" y="1964097"/>
              <a:ext cx="3811503" cy="1876383"/>
            </a:xfrm>
            <a:prstGeom prst="snipRoundRect">
              <a:avLst>
                <a:gd name="adj1" fmla="val 6315"/>
                <a:gd name="adj2" fmla="val 16667"/>
              </a:avLst>
            </a:prstGeom>
            <a:solidFill>
              <a:schemeClr val="bg1"/>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9" name="TextBox 48">
              <a:extLst>
                <a:ext uri="{FF2B5EF4-FFF2-40B4-BE49-F238E27FC236}">
                  <a16:creationId xmlns:a16="http://schemas.microsoft.com/office/drawing/2014/main" id="{93CBD4FC-3AFF-35FA-C335-E7407985C64D}"/>
                </a:ext>
              </a:extLst>
            </p:cNvPr>
            <p:cNvSpPr txBox="1"/>
            <p:nvPr/>
          </p:nvSpPr>
          <p:spPr>
            <a:xfrm>
              <a:off x="8419048" y="1994765"/>
              <a:ext cx="2977421" cy="307777"/>
            </a:xfrm>
            <a:prstGeom prst="rect">
              <a:avLst/>
            </a:prstGeom>
            <a:noFill/>
          </p:spPr>
          <p:txBody>
            <a:bodyPr wrap="square">
              <a:spAutoFit/>
            </a:bodyPr>
            <a:lstStyle/>
            <a:p>
              <a:pPr marR="0" lvl="0" indent="0" algn="ctr" fontAlgn="auto">
                <a:lnSpc>
                  <a:spcPct val="100000"/>
                </a:lnSpc>
                <a:spcBef>
                  <a:spcPts val="0"/>
                </a:spcBef>
                <a:spcAft>
                  <a:spcPts val="0"/>
                </a:spcAft>
                <a:buClrTx/>
                <a:buSzTx/>
                <a:buFontTx/>
                <a:buNone/>
                <a:tabLst/>
                <a:defRPr/>
              </a:pPr>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Key Principles</a:t>
              </a:r>
            </a:p>
          </p:txBody>
        </p:sp>
        <p:sp>
          <p:nvSpPr>
            <p:cNvPr id="50" name="TextBox 49">
              <a:extLst>
                <a:ext uri="{FF2B5EF4-FFF2-40B4-BE49-F238E27FC236}">
                  <a16:creationId xmlns:a16="http://schemas.microsoft.com/office/drawing/2014/main" id="{5722F1F2-617E-02CA-E690-5FF3E266711F}"/>
                </a:ext>
              </a:extLst>
            </p:cNvPr>
            <p:cNvSpPr txBox="1"/>
            <p:nvPr/>
          </p:nvSpPr>
          <p:spPr>
            <a:xfrm>
              <a:off x="8419048" y="2246174"/>
              <a:ext cx="3362038" cy="1347960"/>
            </a:xfrm>
            <a:prstGeom prst="rect">
              <a:avLst/>
            </a:prstGeom>
            <a:noFill/>
          </p:spPr>
          <p:txBody>
            <a:bodyPr wrap="square">
              <a:spAutoFit/>
            </a:bodyPr>
            <a:lstStyle/>
            <a:p>
              <a:pPr marL="171450" marR="0" lvl="0" indent="-171450" algn="l" defTabSz="914400" rtl="0" eaLnBrk="1" fontAlgn="auto" latinLnBrk="0" hangingPunct="1">
                <a:spcBef>
                  <a:spcPts val="0"/>
                </a:spcBef>
                <a:spcAft>
                  <a:spcPts val="0"/>
                </a:spcAft>
                <a:buClrTx/>
                <a:buSzTx/>
                <a:buFontTx/>
                <a:buBlip>
                  <a:blip r:embed="rId2"/>
                </a:buBlip>
                <a:tabLst/>
                <a:defRPr/>
              </a:pPr>
              <a:r>
                <a:rPr kumimoji="0" lang="en-US" sz="1200" b="0" i="0" u="none" strike="noStrike" kern="1200" cap="none" spc="0" normalizeH="0" baseline="0" noProof="0" dirty="0">
                  <a:ln>
                    <a:noFill/>
                  </a:ln>
                  <a:solidFill>
                    <a:prstClr val="black"/>
                  </a:solidFill>
                  <a:effectLst/>
                  <a:uLnTx/>
                  <a:uFillTx/>
                  <a:latin typeface="Lato" panose="020F0502020204030203" pitchFamily="34" charset="77"/>
                  <a:ea typeface="+mn-ea"/>
                  <a:cs typeface="+mn-cs"/>
                </a:rPr>
                <a:t>Zero or minimal disruption to ongoing programs</a:t>
              </a:r>
            </a:p>
            <a:p>
              <a:pPr marL="171450" marR="0" lvl="0" indent="-171450" algn="l" defTabSz="914400" rtl="0" eaLnBrk="1" fontAlgn="auto" latinLnBrk="0" hangingPunct="1">
                <a:spcBef>
                  <a:spcPts val="0"/>
                </a:spcBef>
                <a:spcAft>
                  <a:spcPts val="0"/>
                </a:spcAft>
                <a:buClrTx/>
                <a:buSzTx/>
                <a:buFontTx/>
                <a:buBlip>
                  <a:blip r:embed="rId2"/>
                </a:buBlip>
                <a:tabLst/>
                <a:defRPr/>
              </a:pPr>
              <a:r>
                <a:rPr kumimoji="0" lang="en-US" sz="1200" b="0" i="0" u="none" strike="noStrike" kern="1200" cap="none" spc="0" normalizeH="0" baseline="0" noProof="0" dirty="0">
                  <a:ln>
                    <a:noFill/>
                  </a:ln>
                  <a:solidFill>
                    <a:prstClr val="black"/>
                  </a:solidFill>
                  <a:effectLst/>
                  <a:uLnTx/>
                  <a:uFillTx/>
                  <a:latin typeface="Lato" panose="020F0502020204030203" pitchFamily="34" charset="77"/>
                  <a:ea typeface="+mn-ea"/>
                  <a:cs typeface="+mn-cs"/>
                </a:rPr>
                <a:t>Retention-first approach for skilled resources</a:t>
              </a:r>
            </a:p>
            <a:p>
              <a:pPr marL="171450" marR="0" lvl="0" indent="-171450" algn="l" defTabSz="914400" rtl="0" eaLnBrk="1" fontAlgn="auto" latinLnBrk="0" hangingPunct="1">
                <a:spcBef>
                  <a:spcPts val="0"/>
                </a:spcBef>
                <a:spcAft>
                  <a:spcPts val="0"/>
                </a:spcAft>
                <a:buClrTx/>
                <a:buSzTx/>
                <a:buFontTx/>
                <a:buBlip>
                  <a:blip r:embed="rId2"/>
                </a:buBlip>
                <a:tabLst/>
                <a:defRPr/>
              </a:pPr>
              <a:r>
                <a:rPr kumimoji="0" lang="en-US" sz="1200" b="0" i="0" u="none" strike="noStrike" kern="1200" cap="none" spc="0" normalizeH="0" baseline="0" noProof="0" dirty="0">
                  <a:ln>
                    <a:noFill/>
                  </a:ln>
                  <a:solidFill>
                    <a:prstClr val="black"/>
                  </a:solidFill>
                  <a:effectLst/>
                  <a:uLnTx/>
                  <a:uFillTx/>
                  <a:latin typeface="Lato" panose="020F0502020204030203" pitchFamily="34" charset="77"/>
                  <a:ea typeface="+mn-ea"/>
                  <a:cs typeface="+mn-cs"/>
                </a:rPr>
                <a:t>Clear ownership and accountability during transition</a:t>
              </a:r>
            </a:p>
            <a:p>
              <a:pPr marL="171450" marR="0" lvl="0" indent="-171450" algn="l" defTabSz="914400" rtl="0" eaLnBrk="1" fontAlgn="auto" latinLnBrk="0" hangingPunct="1">
                <a:spcBef>
                  <a:spcPts val="0"/>
                </a:spcBef>
                <a:spcAft>
                  <a:spcPts val="0"/>
                </a:spcAft>
                <a:buClrTx/>
                <a:buSzTx/>
                <a:buFontTx/>
                <a:buBlip>
                  <a:blip r:embed="rId2"/>
                </a:buBlip>
                <a:tabLst/>
                <a:defRPr/>
              </a:pPr>
              <a:r>
                <a:rPr kumimoji="0" lang="en-US" sz="1200" b="0" i="0" u="none" strike="noStrike" kern="1200" cap="none" spc="0" normalizeH="0" baseline="0" noProof="0" dirty="0">
                  <a:ln>
                    <a:noFill/>
                  </a:ln>
                  <a:solidFill>
                    <a:prstClr val="black"/>
                  </a:solidFill>
                  <a:effectLst/>
                  <a:uLnTx/>
                  <a:uFillTx/>
                  <a:latin typeface="Lato" panose="020F0502020204030203" pitchFamily="34" charset="77"/>
                  <a:ea typeface="+mn-ea"/>
                  <a:cs typeface="+mn-cs"/>
                </a:rPr>
                <a:t>Strong focus on delivery stability, quality, and compliance</a:t>
              </a:r>
            </a:p>
          </p:txBody>
        </p:sp>
        <p:sp>
          <p:nvSpPr>
            <p:cNvPr id="51" name="Rectangle 50">
              <a:extLst>
                <a:ext uri="{FF2B5EF4-FFF2-40B4-BE49-F238E27FC236}">
                  <a16:creationId xmlns:a16="http://schemas.microsoft.com/office/drawing/2014/main" id="{5C110949-C1AE-2C03-FA64-64E0E05402B1}"/>
                </a:ext>
              </a:extLst>
            </p:cNvPr>
            <p:cNvSpPr/>
            <p:nvPr/>
          </p:nvSpPr>
          <p:spPr>
            <a:xfrm>
              <a:off x="8297856" y="1964097"/>
              <a:ext cx="72571" cy="1876383"/>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6" name="Group 5">
            <a:extLst>
              <a:ext uri="{FF2B5EF4-FFF2-40B4-BE49-F238E27FC236}">
                <a16:creationId xmlns:a16="http://schemas.microsoft.com/office/drawing/2014/main" id="{F12A0024-6055-3BAA-AFA6-85F9F07594B3}"/>
              </a:ext>
            </a:extLst>
          </p:cNvPr>
          <p:cNvGrpSpPr/>
          <p:nvPr/>
        </p:nvGrpSpPr>
        <p:grpSpPr>
          <a:xfrm>
            <a:off x="8058370" y="4754880"/>
            <a:ext cx="3811503" cy="1794510"/>
            <a:chOff x="8058370" y="3999182"/>
            <a:chExt cx="3811503" cy="2127298"/>
          </a:xfrm>
        </p:grpSpPr>
        <p:sp>
          <p:nvSpPr>
            <p:cNvPr id="52" name="Rectangle: Top Corners One Rounded and One Snipped 51">
              <a:extLst>
                <a:ext uri="{FF2B5EF4-FFF2-40B4-BE49-F238E27FC236}">
                  <a16:creationId xmlns:a16="http://schemas.microsoft.com/office/drawing/2014/main" id="{6A2309A6-FEBB-8CA6-0066-FF7AE7E20FAE}"/>
                </a:ext>
              </a:extLst>
            </p:cNvPr>
            <p:cNvSpPr/>
            <p:nvPr/>
          </p:nvSpPr>
          <p:spPr>
            <a:xfrm>
              <a:off x="8058370" y="3999182"/>
              <a:ext cx="3811503" cy="2127298"/>
            </a:xfrm>
            <a:prstGeom prst="snipRoundRect">
              <a:avLst>
                <a:gd name="adj1" fmla="val 6315"/>
                <a:gd name="adj2" fmla="val 16667"/>
              </a:avLst>
            </a:prstGeom>
            <a:solidFill>
              <a:schemeClr val="bg1"/>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3" name="TextBox 52">
              <a:extLst>
                <a:ext uri="{FF2B5EF4-FFF2-40B4-BE49-F238E27FC236}">
                  <a16:creationId xmlns:a16="http://schemas.microsoft.com/office/drawing/2014/main" id="{A653AC97-1938-212C-DDE5-C8E963BB8E5D}"/>
                </a:ext>
              </a:extLst>
            </p:cNvPr>
            <p:cNvSpPr txBox="1"/>
            <p:nvPr/>
          </p:nvSpPr>
          <p:spPr>
            <a:xfrm>
              <a:off x="8419048" y="4029850"/>
              <a:ext cx="2977421" cy="307777"/>
            </a:xfrm>
            <a:prstGeom prst="rect">
              <a:avLst/>
            </a:prstGeom>
            <a:noFill/>
          </p:spPr>
          <p:txBody>
            <a:bodyPr wrap="square">
              <a:spAutoFit/>
            </a:bodyPr>
            <a:lstStyle/>
            <a:p>
              <a:pPr marR="0" lvl="0" indent="0" algn="ctr" fontAlgn="auto">
                <a:lnSpc>
                  <a:spcPct val="100000"/>
                </a:lnSpc>
                <a:spcBef>
                  <a:spcPts val="0"/>
                </a:spcBef>
                <a:spcAft>
                  <a:spcPts val="0"/>
                </a:spcAft>
                <a:buClrTx/>
                <a:buSzTx/>
                <a:buFontTx/>
                <a:buNone/>
                <a:tabLst/>
                <a:defRPr/>
              </a:pPr>
              <a:r>
                <a:rPr lang="en-US" sz="1400" b="1">
                  <a:solidFill>
                    <a:srgbClr val="0070C0"/>
                  </a:solidFill>
                  <a:latin typeface="Lato" panose="020F0502020204030203" pitchFamily="34" charset="0"/>
                  <a:ea typeface="Lato" panose="020F0502020204030203" pitchFamily="34" charset="0"/>
                  <a:cs typeface="Lato" panose="020F0502020204030203" pitchFamily="34" charset="0"/>
                </a:rPr>
                <a:t>Benefits</a:t>
              </a:r>
            </a:p>
          </p:txBody>
        </p:sp>
        <p:sp>
          <p:nvSpPr>
            <p:cNvPr id="54" name="TextBox 53">
              <a:extLst>
                <a:ext uri="{FF2B5EF4-FFF2-40B4-BE49-F238E27FC236}">
                  <a16:creationId xmlns:a16="http://schemas.microsoft.com/office/drawing/2014/main" id="{89D065B0-9ABF-F52B-DC37-9E70ED88B2A4}"/>
                </a:ext>
              </a:extLst>
            </p:cNvPr>
            <p:cNvSpPr txBox="1"/>
            <p:nvPr/>
          </p:nvSpPr>
          <p:spPr>
            <a:xfrm>
              <a:off x="8419048" y="4281259"/>
              <a:ext cx="3362038" cy="1163845"/>
            </a:xfrm>
            <a:prstGeom prst="rect">
              <a:avLst/>
            </a:prstGeom>
            <a:noFill/>
          </p:spPr>
          <p:txBody>
            <a:bodyPr wrap="square">
              <a:spAutoFit/>
            </a:bodyPr>
            <a:lstStyle/>
            <a:p>
              <a:pPr marL="171450" marR="0" lvl="0" indent="-171450" algn="l" defTabSz="914400" rtl="0" eaLnBrk="1" fontAlgn="auto" latinLnBrk="0" hangingPunct="1">
                <a:lnSpc>
                  <a:spcPct val="150000"/>
                </a:lnSpc>
                <a:spcBef>
                  <a:spcPts val="0"/>
                </a:spcBef>
                <a:spcAft>
                  <a:spcPts val="0"/>
                </a:spcAft>
                <a:buClrTx/>
                <a:buSzTx/>
                <a:buFontTx/>
                <a:buBlip>
                  <a:blip r:embed="rId2"/>
                </a:buBlip>
                <a:tabLst/>
                <a:defRPr/>
              </a:pPr>
              <a:r>
                <a:rPr kumimoji="0" lang="en-US" sz="1200" b="0" i="0" u="none" strike="noStrike" kern="1200" cap="none" spc="0" normalizeH="0" baseline="0" noProof="0">
                  <a:ln>
                    <a:noFill/>
                  </a:ln>
                  <a:solidFill>
                    <a:prstClr val="black"/>
                  </a:solidFill>
                  <a:effectLst/>
                  <a:uLnTx/>
                  <a:uFillTx/>
                  <a:latin typeface="Lato" panose="020F0502020204030203" pitchFamily="34" charset="77"/>
                  <a:ea typeface="+mn-ea"/>
                  <a:cs typeface="+mn-cs"/>
                </a:rPr>
                <a:t>Smooth ramp-up for new and replacement roles</a:t>
              </a:r>
            </a:p>
            <a:p>
              <a:pPr marL="171450" marR="0" lvl="0" indent="-171450" algn="l" defTabSz="914400" rtl="0" eaLnBrk="1" fontAlgn="auto" latinLnBrk="0" hangingPunct="1">
                <a:lnSpc>
                  <a:spcPct val="150000"/>
                </a:lnSpc>
                <a:spcBef>
                  <a:spcPts val="0"/>
                </a:spcBef>
                <a:spcAft>
                  <a:spcPts val="0"/>
                </a:spcAft>
                <a:buClrTx/>
                <a:buSzTx/>
                <a:buFontTx/>
                <a:buBlip>
                  <a:blip r:embed="rId2"/>
                </a:buBlip>
                <a:tabLst/>
                <a:defRPr/>
              </a:pPr>
              <a:r>
                <a:rPr kumimoji="0" lang="en-US" sz="1200" b="0" i="0" u="none" strike="noStrike" kern="1200" cap="none" spc="0" normalizeH="0" baseline="0" noProof="0">
                  <a:ln>
                    <a:noFill/>
                  </a:ln>
                  <a:solidFill>
                    <a:prstClr val="black"/>
                  </a:solidFill>
                  <a:effectLst/>
                  <a:uLnTx/>
                  <a:uFillTx/>
                  <a:latin typeface="Lato" panose="020F0502020204030203" pitchFamily="34" charset="77"/>
                  <a:ea typeface="+mn-ea"/>
                  <a:cs typeface="+mn-cs"/>
                </a:rPr>
                <a:t>Controlled risk during vendor consolidation</a:t>
              </a:r>
            </a:p>
            <a:p>
              <a:pPr marL="171450" marR="0" lvl="0" indent="-171450" algn="l" defTabSz="914400" rtl="0" eaLnBrk="1" fontAlgn="auto" latinLnBrk="0" hangingPunct="1">
                <a:lnSpc>
                  <a:spcPct val="150000"/>
                </a:lnSpc>
                <a:spcBef>
                  <a:spcPts val="0"/>
                </a:spcBef>
                <a:spcAft>
                  <a:spcPts val="0"/>
                </a:spcAft>
                <a:buClrTx/>
                <a:buSzTx/>
                <a:buFontTx/>
                <a:buBlip>
                  <a:blip r:embed="rId2"/>
                </a:buBlip>
                <a:tabLst/>
                <a:defRPr/>
              </a:pPr>
              <a:r>
                <a:rPr kumimoji="0" lang="en-US" sz="1200" b="0" i="0" u="none" strike="noStrike" kern="1200" cap="none" spc="0" normalizeH="0" baseline="0" noProof="0">
                  <a:ln>
                    <a:noFill/>
                  </a:ln>
                  <a:solidFill>
                    <a:prstClr val="black"/>
                  </a:solidFill>
                  <a:effectLst/>
                  <a:uLnTx/>
                  <a:uFillTx/>
                  <a:latin typeface="Lato" panose="020F0502020204030203" pitchFamily="34" charset="77"/>
                  <a:ea typeface="+mn-ea"/>
                  <a:cs typeface="+mn-cs"/>
                </a:rPr>
                <a:t>Predictable and stable steady-state delivery</a:t>
              </a:r>
            </a:p>
          </p:txBody>
        </p:sp>
        <p:sp>
          <p:nvSpPr>
            <p:cNvPr id="55" name="Rectangle 54">
              <a:extLst>
                <a:ext uri="{FF2B5EF4-FFF2-40B4-BE49-F238E27FC236}">
                  <a16:creationId xmlns:a16="http://schemas.microsoft.com/office/drawing/2014/main" id="{2F5D92DC-DD77-FD07-9AB5-C329305EF146}"/>
                </a:ext>
              </a:extLst>
            </p:cNvPr>
            <p:cNvSpPr/>
            <p:nvPr/>
          </p:nvSpPr>
          <p:spPr>
            <a:xfrm>
              <a:off x="8297856" y="3999182"/>
              <a:ext cx="72571" cy="2127298"/>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Tree>
    <p:extLst>
      <p:ext uri="{BB962C8B-B14F-4D97-AF65-F5344CB8AC3E}">
        <p14:creationId xmlns:p14="http://schemas.microsoft.com/office/powerpoint/2010/main" val="20749964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F05A0-B81B-BB0C-7CCE-FA1FE3492C61}"/>
              </a:ext>
            </a:extLst>
          </p:cNvPr>
          <p:cNvSpPr>
            <a:spLocks noGrp="1"/>
          </p:cNvSpPr>
          <p:nvPr>
            <p:ph type="title"/>
          </p:nvPr>
        </p:nvSpPr>
        <p:spPr/>
        <p:txBody>
          <a:bodyPr/>
          <a:lstStyle/>
          <a:p>
            <a:r>
              <a:rPr lang="en-US"/>
              <a:t>Our Proposition for Seamless Execution</a:t>
            </a:r>
            <a:endParaRPr lang="en-IN"/>
          </a:p>
        </p:txBody>
      </p:sp>
      <p:sp>
        <p:nvSpPr>
          <p:cNvPr id="4" name="Rectangle 3">
            <a:extLst>
              <a:ext uri="{FF2B5EF4-FFF2-40B4-BE49-F238E27FC236}">
                <a16:creationId xmlns:a16="http://schemas.microsoft.com/office/drawing/2014/main" id="{395ADB73-22E1-1516-19CF-399D9D3E15F7}"/>
              </a:ext>
            </a:extLst>
          </p:cNvPr>
          <p:cNvSpPr/>
          <p:nvPr/>
        </p:nvSpPr>
        <p:spPr>
          <a:xfrm>
            <a:off x="314212" y="1308525"/>
            <a:ext cx="3650348" cy="4673167"/>
          </a:xfrm>
          <a:prstGeom prst="rect">
            <a:avLst/>
          </a:prstGeom>
          <a:solidFill>
            <a:schemeClr val="tx2">
              <a:lumMod val="10000"/>
              <a:lumOff val="90000"/>
              <a:alpha val="4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a:ea typeface="+mn-ea"/>
              <a:cs typeface="+mn-cs"/>
            </a:endParaRPr>
          </a:p>
        </p:txBody>
      </p:sp>
      <p:sp>
        <p:nvSpPr>
          <p:cNvPr id="6" name="Rectangle 5">
            <a:extLst>
              <a:ext uri="{FF2B5EF4-FFF2-40B4-BE49-F238E27FC236}">
                <a16:creationId xmlns:a16="http://schemas.microsoft.com/office/drawing/2014/main" id="{1DB632AF-1107-F876-68AA-2166210A6744}"/>
              </a:ext>
            </a:extLst>
          </p:cNvPr>
          <p:cNvSpPr/>
          <p:nvPr/>
        </p:nvSpPr>
        <p:spPr>
          <a:xfrm>
            <a:off x="314211" y="938355"/>
            <a:ext cx="3678675" cy="755485"/>
          </a:xfrm>
          <a:prstGeom prst="rect">
            <a:avLst/>
          </a:prstGeom>
          <a:solidFill>
            <a:srgbClr val="03509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400" b="1">
                <a:solidFill>
                  <a:schemeClr val="bg1"/>
                </a:solidFill>
                <a:latin typeface="Lato" panose="020F0502020204030203" pitchFamily="34" charset="0"/>
                <a:ea typeface="Lato" panose="020F0502020204030203" pitchFamily="34" charset="0"/>
                <a:cs typeface="Lato" panose="020F0502020204030203" pitchFamily="34" charset="0"/>
              </a:rPr>
              <a:t>Talent Readiness &amp; Agile Workforce</a:t>
            </a:r>
          </a:p>
        </p:txBody>
      </p:sp>
      <p:sp>
        <p:nvSpPr>
          <p:cNvPr id="7" name="Rectangle 6">
            <a:extLst>
              <a:ext uri="{FF2B5EF4-FFF2-40B4-BE49-F238E27FC236}">
                <a16:creationId xmlns:a16="http://schemas.microsoft.com/office/drawing/2014/main" id="{5EF92222-4626-FDF8-3EE2-C4E3D2536F3F}"/>
              </a:ext>
            </a:extLst>
          </p:cNvPr>
          <p:cNvSpPr/>
          <p:nvPr/>
        </p:nvSpPr>
        <p:spPr>
          <a:xfrm>
            <a:off x="4258369" y="1308526"/>
            <a:ext cx="3649033" cy="4660786"/>
          </a:xfrm>
          <a:prstGeom prst="rect">
            <a:avLst/>
          </a:prstGeom>
          <a:solidFill>
            <a:schemeClr val="tx2">
              <a:lumMod val="10000"/>
              <a:lumOff val="90000"/>
              <a:alpha val="4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a:ea typeface="+mn-ea"/>
              <a:cs typeface="+mn-cs"/>
            </a:endParaRPr>
          </a:p>
        </p:txBody>
      </p:sp>
      <p:sp>
        <p:nvSpPr>
          <p:cNvPr id="9" name="Rectangle 8">
            <a:extLst>
              <a:ext uri="{FF2B5EF4-FFF2-40B4-BE49-F238E27FC236}">
                <a16:creationId xmlns:a16="http://schemas.microsoft.com/office/drawing/2014/main" id="{AB3CA45C-B41F-0D0E-79EE-808784078A46}"/>
              </a:ext>
            </a:extLst>
          </p:cNvPr>
          <p:cNvSpPr/>
          <p:nvPr/>
        </p:nvSpPr>
        <p:spPr>
          <a:xfrm>
            <a:off x="4258369" y="938355"/>
            <a:ext cx="3677350" cy="755485"/>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lgn="ctr" eaLnBrk="0" fontAlgn="base" hangingPunct="0">
              <a:spcBef>
                <a:spcPct val="0"/>
              </a:spcBef>
              <a:spcAft>
                <a:spcPct val="0"/>
              </a:spcAft>
            </a:pPr>
            <a:r>
              <a:rPr lang="en-US" altLang="en-US" sz="1400" b="1">
                <a:solidFill>
                  <a:schemeClr val="bg1"/>
                </a:solidFill>
                <a:latin typeface="Lato" panose="020F0502020204030203" pitchFamily="34" charset="0"/>
                <a:ea typeface="Lato" panose="020F0502020204030203" pitchFamily="34" charset="0"/>
                <a:cs typeface="Lato" panose="020F0502020204030203" pitchFamily="34" charset="0"/>
              </a:rPr>
              <a:t>Infrastructure &amp; Security Investments</a:t>
            </a:r>
          </a:p>
        </p:txBody>
      </p:sp>
      <p:sp>
        <p:nvSpPr>
          <p:cNvPr id="10" name="Rectangle 9">
            <a:extLst>
              <a:ext uri="{FF2B5EF4-FFF2-40B4-BE49-F238E27FC236}">
                <a16:creationId xmlns:a16="http://schemas.microsoft.com/office/drawing/2014/main" id="{4DD24B64-842C-B4FA-27BA-76D3D916D3EA}"/>
              </a:ext>
            </a:extLst>
          </p:cNvPr>
          <p:cNvSpPr/>
          <p:nvPr/>
        </p:nvSpPr>
        <p:spPr>
          <a:xfrm>
            <a:off x="8158416" y="1296143"/>
            <a:ext cx="3651583" cy="4660786"/>
          </a:xfrm>
          <a:prstGeom prst="rect">
            <a:avLst/>
          </a:prstGeom>
          <a:solidFill>
            <a:schemeClr val="tx2">
              <a:lumMod val="10000"/>
              <a:lumOff val="90000"/>
              <a:alpha val="4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a:ea typeface="+mn-ea"/>
              <a:cs typeface="+mn-cs"/>
            </a:endParaRPr>
          </a:p>
        </p:txBody>
      </p:sp>
      <p:sp>
        <p:nvSpPr>
          <p:cNvPr id="11" name="TextBox 10">
            <a:extLst>
              <a:ext uri="{FF2B5EF4-FFF2-40B4-BE49-F238E27FC236}">
                <a16:creationId xmlns:a16="http://schemas.microsoft.com/office/drawing/2014/main" id="{77233D6A-07BA-B7C4-8EC2-14206AB348CE}"/>
              </a:ext>
            </a:extLst>
          </p:cNvPr>
          <p:cNvSpPr txBox="1"/>
          <p:nvPr/>
        </p:nvSpPr>
        <p:spPr>
          <a:xfrm>
            <a:off x="8224157" y="1696278"/>
            <a:ext cx="3614179" cy="2704971"/>
          </a:xfrm>
          <a:prstGeom prst="rect">
            <a:avLst/>
          </a:prstGeom>
          <a:noFill/>
          <a:ln>
            <a:noFill/>
          </a:ln>
        </p:spPr>
        <p:txBody>
          <a:bodyPr wrap="square" lIns="91440" tIns="45720" rIns="91440" bIns="45720" rtlCol="0" anchor="t">
            <a:spAutoFit/>
          </a:bodyPr>
          <a:lstStyle/>
          <a:p>
            <a:pPr marL="285750" marR="0" lvl="0" indent="-285750" eaLnBrk="0" fontAlgn="base" hangingPunct="0">
              <a:lnSpc>
                <a:spcPct val="150000"/>
              </a:lnSpc>
              <a:spcBef>
                <a:spcPct val="0"/>
              </a:spcBef>
              <a:spcAft>
                <a:spcPct val="0"/>
              </a:spcAft>
              <a:buClr>
                <a:srgbClr val="00B0F0"/>
              </a:buClr>
              <a:buSzTx/>
              <a:buFont typeface="Wingdings" panose="05000000000000000000" pitchFamily="2" charset="2"/>
              <a:buChar char="Ø"/>
              <a:tabLst/>
            </a:pPr>
            <a:r>
              <a:rPr lang="en-US" altLang="en-US" sz="1400" b="1" dirty="0">
                <a:solidFill>
                  <a:srgbClr val="03509B"/>
                </a:solidFill>
                <a:latin typeface="Lato" panose="020F0502020204030203" pitchFamily="34" charset="0"/>
                <a:ea typeface="Lato" panose="020F0502020204030203" pitchFamily="34" charset="0"/>
                <a:cs typeface="Lato" panose="020F0502020204030203" pitchFamily="34" charset="0"/>
              </a:rPr>
              <a:t>Story Points Delivery</a:t>
            </a:r>
            <a:r>
              <a:rPr lang="en-US" altLang="en-US" sz="1400" dirty="0">
                <a:solidFill>
                  <a:srgbClr val="03509B"/>
                </a:solidFill>
                <a:latin typeface="Lato" panose="020F0502020204030203" pitchFamily="34" charset="0"/>
                <a:ea typeface="Lato" panose="020F0502020204030203" pitchFamily="34" charset="0"/>
                <a:cs typeface="Lato" panose="020F0502020204030203" pitchFamily="34" charset="0"/>
              </a:rPr>
              <a:t>: </a:t>
            </a:r>
          </a:p>
          <a:p>
            <a:pPr marL="445770" lvl="1" indent="-182245" eaLnBrk="0" fontAlgn="base" hangingPunct="0">
              <a:lnSpc>
                <a:spcPct val="150000"/>
              </a:lnSpc>
              <a:spcBef>
                <a:spcPct val="0"/>
              </a:spcBef>
              <a:spcAft>
                <a:spcPct val="0"/>
              </a:spcAft>
              <a:buFont typeface="Wingdings" panose="05000000000000000000" pitchFamily="2" charset="2"/>
              <a:buChar char="§"/>
            </a:pPr>
            <a:r>
              <a:rPr lang="en-US" altLang="en-US" sz="1050" dirty="0">
                <a:latin typeface="Lato" panose="020F0502020204030203" pitchFamily="34" charset="0"/>
                <a:ea typeface="Lato" panose="020F0502020204030203" pitchFamily="34" charset="0"/>
                <a:cs typeface="Lato" panose="020F0502020204030203" pitchFamily="34" charset="0"/>
              </a:rPr>
              <a:t>Agile tracking mechanisms ensuring planned vs. actual execution efficiency.</a:t>
            </a:r>
          </a:p>
          <a:p>
            <a:pPr marL="285750" marR="0" lvl="0" indent="-285750" eaLnBrk="0" fontAlgn="base" hangingPunct="0">
              <a:lnSpc>
                <a:spcPct val="150000"/>
              </a:lnSpc>
              <a:spcBef>
                <a:spcPct val="0"/>
              </a:spcBef>
              <a:spcAft>
                <a:spcPct val="0"/>
              </a:spcAft>
              <a:buClr>
                <a:srgbClr val="00B0F0"/>
              </a:buClr>
              <a:buSzTx/>
              <a:buFont typeface="Wingdings" panose="05000000000000000000" pitchFamily="2" charset="2"/>
              <a:buChar char="Ø"/>
              <a:tabLst/>
            </a:pPr>
            <a:r>
              <a:rPr lang="en-US" altLang="en-US" sz="1400" b="1" dirty="0">
                <a:solidFill>
                  <a:srgbClr val="03509B"/>
                </a:solidFill>
                <a:latin typeface="Lato" panose="020F0502020204030203" pitchFamily="34" charset="0"/>
                <a:ea typeface="Lato" panose="020F0502020204030203" pitchFamily="34" charset="0"/>
                <a:cs typeface="Lato" panose="020F0502020204030203" pitchFamily="34" charset="0"/>
              </a:rPr>
              <a:t>Burn Velocity Monitoring</a:t>
            </a:r>
            <a:r>
              <a:rPr lang="en-US" altLang="en-US" sz="1400" dirty="0">
                <a:solidFill>
                  <a:srgbClr val="03509B"/>
                </a:solidFill>
                <a:latin typeface="Lato" panose="020F0502020204030203" pitchFamily="34" charset="0"/>
                <a:ea typeface="Lato" panose="020F0502020204030203" pitchFamily="34" charset="0"/>
                <a:cs typeface="Lato" panose="020F0502020204030203" pitchFamily="34" charset="0"/>
              </a:rPr>
              <a:t>: </a:t>
            </a:r>
          </a:p>
          <a:p>
            <a:pPr marL="445770" lvl="1" indent="-182245" eaLnBrk="0" fontAlgn="base" hangingPunct="0">
              <a:lnSpc>
                <a:spcPct val="150000"/>
              </a:lnSpc>
              <a:spcBef>
                <a:spcPct val="0"/>
              </a:spcBef>
              <a:spcAft>
                <a:spcPct val="0"/>
              </a:spcAft>
              <a:buFont typeface="Wingdings" panose="05000000000000000000" pitchFamily="2" charset="2"/>
              <a:buChar char="§"/>
            </a:pPr>
            <a:r>
              <a:rPr lang="en-US" altLang="en-US" sz="1050" dirty="0">
                <a:latin typeface="Lato"/>
                <a:ea typeface="Lato"/>
                <a:cs typeface="Lato"/>
              </a:rPr>
              <a:t>Minimum Velocity commitment, Real-time performance tracking for sprint execution and bottleneck resolution.</a:t>
            </a:r>
          </a:p>
          <a:p>
            <a:pPr marL="285750" marR="0" lvl="0" indent="-285750" eaLnBrk="0" fontAlgn="base" hangingPunct="0">
              <a:lnSpc>
                <a:spcPct val="150000"/>
              </a:lnSpc>
              <a:spcBef>
                <a:spcPct val="0"/>
              </a:spcBef>
              <a:spcAft>
                <a:spcPct val="0"/>
              </a:spcAft>
              <a:buClr>
                <a:srgbClr val="00B0F0"/>
              </a:buClr>
              <a:buSzTx/>
              <a:buFont typeface="Wingdings" panose="05000000000000000000" pitchFamily="2" charset="2"/>
              <a:buChar char="Ø"/>
              <a:tabLst/>
            </a:pPr>
            <a:r>
              <a:rPr lang="en-US" altLang="en-US" sz="1400" b="1" dirty="0">
                <a:solidFill>
                  <a:srgbClr val="03509B"/>
                </a:solidFill>
                <a:latin typeface="Lato" panose="020F0502020204030203" pitchFamily="34" charset="0"/>
                <a:ea typeface="Lato" panose="020F0502020204030203" pitchFamily="34" charset="0"/>
                <a:cs typeface="Lato" panose="020F0502020204030203" pitchFamily="34" charset="0"/>
              </a:rPr>
              <a:t>Project Management Excellence</a:t>
            </a:r>
            <a:r>
              <a:rPr lang="en-US" altLang="en-US" sz="1400" dirty="0">
                <a:solidFill>
                  <a:srgbClr val="03509B"/>
                </a:solidFill>
                <a:latin typeface="Lato" panose="020F0502020204030203" pitchFamily="34" charset="0"/>
                <a:ea typeface="Lato" panose="020F0502020204030203" pitchFamily="34" charset="0"/>
                <a:cs typeface="Lato" panose="020F0502020204030203" pitchFamily="34" charset="0"/>
              </a:rPr>
              <a:t>: </a:t>
            </a:r>
          </a:p>
          <a:p>
            <a:pPr marL="445770" lvl="1" indent="-182245" eaLnBrk="0" fontAlgn="base" hangingPunct="0">
              <a:lnSpc>
                <a:spcPct val="150000"/>
              </a:lnSpc>
              <a:spcBef>
                <a:spcPct val="0"/>
              </a:spcBef>
              <a:spcAft>
                <a:spcPct val="0"/>
              </a:spcAft>
              <a:buFont typeface="Wingdings" panose="05000000000000000000" pitchFamily="2" charset="2"/>
              <a:buChar char="§"/>
            </a:pPr>
            <a:r>
              <a:rPr lang="en-US" altLang="en-US" sz="1050" dirty="0">
                <a:latin typeface="Lato" panose="020F0502020204030203" pitchFamily="34" charset="0"/>
                <a:ea typeface="Lato" panose="020F0502020204030203" pitchFamily="34" charset="0"/>
                <a:cs typeface="Lato" panose="020F0502020204030203" pitchFamily="34" charset="0"/>
              </a:rPr>
              <a:t>Jira-based workflows, structured governance, and clear milestone tracking.</a:t>
            </a:r>
          </a:p>
        </p:txBody>
      </p:sp>
      <p:sp>
        <p:nvSpPr>
          <p:cNvPr id="12" name="Rectangle 11">
            <a:extLst>
              <a:ext uri="{FF2B5EF4-FFF2-40B4-BE49-F238E27FC236}">
                <a16:creationId xmlns:a16="http://schemas.microsoft.com/office/drawing/2014/main" id="{FE062448-14C7-F88A-9DBB-89A916E1F03A}"/>
              </a:ext>
            </a:extLst>
          </p:cNvPr>
          <p:cNvSpPr/>
          <p:nvPr/>
        </p:nvSpPr>
        <p:spPr>
          <a:xfrm>
            <a:off x="8158416" y="925973"/>
            <a:ext cx="3679920" cy="755486"/>
          </a:xfrm>
          <a:prstGeom prst="rect">
            <a:avLst/>
          </a:prstGeom>
          <a:solidFill>
            <a:schemeClr val="tx2">
              <a:lumMod val="50000"/>
              <a:lumOff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marR="0" lvl="0" algn="ctr" eaLnBrk="0" fontAlgn="base" hangingPunct="0">
              <a:lnSpc>
                <a:spcPct val="100000"/>
              </a:lnSpc>
              <a:spcBef>
                <a:spcPct val="0"/>
              </a:spcBef>
              <a:spcAft>
                <a:spcPct val="0"/>
              </a:spcAft>
              <a:buClrTx/>
              <a:buSzTx/>
              <a:tabLst>
                <a:tab pos="892175" algn="l"/>
              </a:tabLst>
            </a:pPr>
            <a:r>
              <a:rPr lang="en-US" altLang="en-US" sz="1400" b="1">
                <a:solidFill>
                  <a:schemeClr val="bg1"/>
                </a:solidFill>
                <a:latin typeface="Lato" panose="020F0502020204030203" pitchFamily="34" charset="0"/>
                <a:ea typeface="Lato" panose="020F0502020204030203" pitchFamily="34" charset="0"/>
                <a:cs typeface="Lato" panose="020F0502020204030203" pitchFamily="34" charset="0"/>
              </a:rPr>
              <a:t> Performance &amp; Productivity Optimization</a:t>
            </a:r>
          </a:p>
        </p:txBody>
      </p:sp>
      <p:sp>
        <p:nvSpPr>
          <p:cNvPr id="13" name="Rectangle 12">
            <a:extLst>
              <a:ext uri="{FF2B5EF4-FFF2-40B4-BE49-F238E27FC236}">
                <a16:creationId xmlns:a16="http://schemas.microsoft.com/office/drawing/2014/main" id="{2BDCF854-64B0-A565-9758-9CE4AC07CB89}"/>
              </a:ext>
            </a:extLst>
          </p:cNvPr>
          <p:cNvSpPr/>
          <p:nvPr/>
        </p:nvSpPr>
        <p:spPr>
          <a:xfrm>
            <a:off x="286629" y="925973"/>
            <a:ext cx="95371" cy="5043338"/>
          </a:xfrm>
          <a:prstGeom prst="rect">
            <a:avLst/>
          </a:prstGeom>
          <a:solidFill>
            <a:schemeClr val="tx2">
              <a:lumMod val="50000"/>
              <a:lumOff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A0B6D0-3042-01AB-6A3E-91B03AF1F26B}"/>
              </a:ext>
            </a:extLst>
          </p:cNvPr>
          <p:cNvSpPr/>
          <p:nvPr/>
        </p:nvSpPr>
        <p:spPr>
          <a:xfrm>
            <a:off x="4212039" y="925972"/>
            <a:ext cx="81484" cy="5043339"/>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6FB0FED-9F5D-02A3-3F30-2C24D9F2E7DE}"/>
              </a:ext>
            </a:extLst>
          </p:cNvPr>
          <p:cNvSpPr/>
          <p:nvPr/>
        </p:nvSpPr>
        <p:spPr>
          <a:xfrm>
            <a:off x="8106655" y="917034"/>
            <a:ext cx="77094" cy="5052278"/>
          </a:xfrm>
          <a:prstGeom prst="rect">
            <a:avLst/>
          </a:prstGeom>
          <a:solidFill>
            <a:srgbClr val="4E95D9"/>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76E06ACC-4E8F-A493-C5E3-E5E63B384EA3}"/>
              </a:ext>
            </a:extLst>
          </p:cNvPr>
          <p:cNvSpPr txBox="1"/>
          <p:nvPr/>
        </p:nvSpPr>
        <p:spPr>
          <a:xfrm>
            <a:off x="4327374" y="1706222"/>
            <a:ext cx="3493521" cy="3211264"/>
          </a:xfrm>
          <a:prstGeom prst="rect">
            <a:avLst/>
          </a:prstGeom>
          <a:noFill/>
          <a:ln>
            <a:noFill/>
          </a:ln>
        </p:spPr>
        <p:txBody>
          <a:bodyPr wrap="square" rtlCol="0">
            <a:spAutoFit/>
          </a:bodyPr>
          <a:lstStyle/>
          <a:p>
            <a:pPr marL="285750" marR="0" lvl="0" indent="-285750" eaLnBrk="0" fontAlgn="base" hangingPunct="0">
              <a:lnSpc>
                <a:spcPct val="150000"/>
              </a:lnSpc>
              <a:spcBef>
                <a:spcPct val="0"/>
              </a:spcBef>
              <a:spcAft>
                <a:spcPct val="0"/>
              </a:spcAft>
              <a:buClr>
                <a:srgbClr val="00B0F0"/>
              </a:buClr>
              <a:buSzTx/>
              <a:buFont typeface="Wingdings" panose="05000000000000000000" pitchFamily="2" charset="2"/>
              <a:buChar char="Ø"/>
              <a:tabLst/>
            </a:pPr>
            <a:r>
              <a:rPr lang="en-US" altLang="en-US" sz="1400" b="1" dirty="0">
                <a:solidFill>
                  <a:srgbClr val="03509B"/>
                </a:solidFill>
                <a:latin typeface="Lato" panose="020F0502020204030203" pitchFamily="34" charset="0"/>
                <a:ea typeface="Lato" panose="020F0502020204030203" pitchFamily="34" charset="0"/>
                <a:cs typeface="Lato" panose="020F0502020204030203" pitchFamily="34" charset="0"/>
              </a:rPr>
              <a:t>Dedicated Labs</a:t>
            </a:r>
            <a:r>
              <a:rPr lang="en-US" altLang="en-US" sz="1200" dirty="0">
                <a:solidFill>
                  <a:srgbClr val="03509B"/>
                </a:solidFill>
                <a:latin typeface="Lato" panose="020F0502020204030203" pitchFamily="34" charset="0"/>
                <a:ea typeface="Lato" panose="020F0502020204030203" pitchFamily="34" charset="0"/>
                <a:cs typeface="Lato" panose="020F0502020204030203" pitchFamily="34" charset="0"/>
              </a:rPr>
              <a:t>: </a:t>
            </a:r>
          </a:p>
          <a:p>
            <a:pPr marL="446088" lvl="1" indent="-182563" eaLnBrk="0" fontAlgn="base" hangingPunct="0">
              <a:lnSpc>
                <a:spcPct val="150000"/>
              </a:lnSpc>
              <a:spcBef>
                <a:spcPct val="0"/>
              </a:spcBef>
              <a:spcAft>
                <a:spcPct val="0"/>
              </a:spcAft>
              <a:buFont typeface="Wingdings" panose="05000000000000000000" pitchFamily="2" charset="2"/>
              <a:buChar char="§"/>
            </a:pPr>
            <a:r>
              <a:rPr lang="en-US" altLang="en-US" sz="1050" dirty="0">
                <a:latin typeface="Lato" panose="020F0502020204030203" pitchFamily="34" charset="0"/>
                <a:ea typeface="Lato" panose="020F0502020204030203" pitchFamily="34" charset="0"/>
                <a:cs typeface="Lato" panose="020F0502020204030203" pitchFamily="34" charset="0"/>
              </a:rPr>
              <a:t>In-house infrastructure supporting Convatec’s use cases.</a:t>
            </a:r>
          </a:p>
          <a:p>
            <a:pPr marL="285750" indent="-285750" eaLnBrk="0" fontAlgn="base" hangingPunct="0">
              <a:lnSpc>
                <a:spcPct val="150000"/>
              </a:lnSpc>
              <a:spcBef>
                <a:spcPct val="0"/>
              </a:spcBef>
              <a:spcAft>
                <a:spcPct val="0"/>
              </a:spcAft>
              <a:buClr>
                <a:srgbClr val="00B0F0"/>
              </a:buClr>
              <a:buFont typeface="Wingdings" panose="05000000000000000000" pitchFamily="2" charset="2"/>
              <a:buChar char="Ø"/>
            </a:pPr>
            <a:r>
              <a:rPr lang="en-US" altLang="en-US" sz="1400" b="1" dirty="0">
                <a:solidFill>
                  <a:srgbClr val="03509B"/>
                </a:solidFill>
                <a:latin typeface="Lato" panose="020F0502020204030203" pitchFamily="34" charset="0"/>
                <a:ea typeface="Lato" panose="020F0502020204030203" pitchFamily="34" charset="0"/>
                <a:cs typeface="Lato" panose="020F0502020204030203" pitchFamily="34" charset="0"/>
              </a:rPr>
              <a:t>Secure VPN Access: </a:t>
            </a:r>
          </a:p>
          <a:p>
            <a:pPr marL="446088" marR="0" lvl="1" indent="-182563" eaLnBrk="0" fontAlgn="base" hangingPunct="0">
              <a:lnSpc>
                <a:spcPct val="150000"/>
              </a:lnSpc>
              <a:spcBef>
                <a:spcPct val="0"/>
              </a:spcBef>
              <a:spcAft>
                <a:spcPct val="0"/>
              </a:spcAft>
              <a:buClrTx/>
              <a:buSzTx/>
              <a:buFont typeface="Wingdings" panose="05000000000000000000" pitchFamily="2" charset="2"/>
              <a:buChar char="§"/>
              <a:tabLst/>
            </a:pPr>
            <a:r>
              <a:rPr lang="en-US" altLang="en-US" sz="1050" dirty="0" err="1">
                <a:latin typeface="Lato" panose="020F0502020204030203" pitchFamily="34" charset="0"/>
                <a:ea typeface="Lato" panose="020F0502020204030203" pitchFamily="34" charset="0"/>
                <a:cs typeface="Lato" panose="020F0502020204030203" pitchFamily="34" charset="0"/>
              </a:rPr>
              <a:t>GxP</a:t>
            </a:r>
            <a:r>
              <a:rPr lang="en-US" altLang="en-US" sz="1050" dirty="0">
                <a:latin typeface="Lato" panose="020F0502020204030203" pitchFamily="34" charset="0"/>
                <a:ea typeface="Lato" panose="020F0502020204030203" pitchFamily="34" charset="0"/>
                <a:cs typeface="Lato" panose="020F0502020204030203" pitchFamily="34" charset="0"/>
              </a:rPr>
              <a:t>-compliant encrypted connectivity access to secure access to Convatec systems and environments.</a:t>
            </a:r>
          </a:p>
          <a:p>
            <a:pPr marL="285750" marR="0" lvl="1" indent="-285750" eaLnBrk="0" fontAlgn="base" hangingPunct="0">
              <a:lnSpc>
                <a:spcPct val="150000"/>
              </a:lnSpc>
              <a:spcBef>
                <a:spcPct val="0"/>
              </a:spcBef>
              <a:spcAft>
                <a:spcPct val="0"/>
              </a:spcAft>
              <a:buClr>
                <a:srgbClr val="00B0F0"/>
              </a:buClr>
              <a:buSzTx/>
              <a:buFont typeface="Wingdings" panose="05000000000000000000" pitchFamily="2" charset="2"/>
              <a:buChar char="Ø"/>
              <a:tabLst/>
            </a:pPr>
            <a:r>
              <a:rPr lang="en-US" altLang="en-US" sz="1400" b="1" dirty="0">
                <a:solidFill>
                  <a:srgbClr val="03509B"/>
                </a:solidFill>
                <a:latin typeface="Lato" panose="020F0502020204030203" pitchFamily="34" charset="0"/>
                <a:ea typeface="Lato" panose="020F0502020204030203" pitchFamily="34" charset="0"/>
                <a:cs typeface="Lato" panose="020F0502020204030203" pitchFamily="34" charset="0"/>
              </a:rPr>
              <a:t>Cloud &amp; DevOps Enablement: </a:t>
            </a:r>
          </a:p>
          <a:p>
            <a:pPr marL="446088" lvl="1" indent="-182563" eaLnBrk="0" fontAlgn="base" hangingPunct="0">
              <a:lnSpc>
                <a:spcPct val="150000"/>
              </a:lnSpc>
              <a:spcBef>
                <a:spcPct val="0"/>
              </a:spcBef>
              <a:spcAft>
                <a:spcPct val="0"/>
              </a:spcAft>
              <a:buFont typeface="Wingdings" panose="05000000000000000000" pitchFamily="2" charset="2"/>
              <a:buChar char="§"/>
            </a:pPr>
            <a:r>
              <a:rPr lang="en-US" altLang="en-US" sz="1050" dirty="0">
                <a:latin typeface="Lato" panose="020F0502020204030203" pitchFamily="34" charset="0"/>
                <a:ea typeface="Lato" panose="020F0502020204030203" pitchFamily="34" charset="0"/>
                <a:cs typeface="Lato" panose="020F0502020204030203" pitchFamily="34" charset="0"/>
              </a:rPr>
              <a:t>Cloud and DevOps environments aligned to Convatec’s operational and compliance requirements, supporting CI/CD automation and infrastructure-as-code where applicable.</a:t>
            </a:r>
          </a:p>
        </p:txBody>
      </p:sp>
      <p:sp>
        <p:nvSpPr>
          <p:cNvPr id="17" name="TextBox 16">
            <a:extLst>
              <a:ext uri="{FF2B5EF4-FFF2-40B4-BE49-F238E27FC236}">
                <a16:creationId xmlns:a16="http://schemas.microsoft.com/office/drawing/2014/main" id="{B4AD7B0D-FDDB-87A3-2451-0AA5E7144317}"/>
              </a:ext>
            </a:extLst>
          </p:cNvPr>
          <p:cNvSpPr txBox="1"/>
          <p:nvPr/>
        </p:nvSpPr>
        <p:spPr>
          <a:xfrm>
            <a:off x="393556" y="1706222"/>
            <a:ext cx="3324075" cy="3420552"/>
          </a:xfrm>
          <a:prstGeom prst="rect">
            <a:avLst/>
          </a:prstGeom>
          <a:noFill/>
          <a:ln>
            <a:noFill/>
          </a:ln>
        </p:spPr>
        <p:txBody>
          <a:bodyPr wrap="square" rtlCol="0">
            <a:spAutoFit/>
          </a:bodyPr>
          <a:lstStyle/>
          <a:p>
            <a:pPr marL="285750" marR="0" lvl="0" indent="-285750" eaLnBrk="0" fontAlgn="base" hangingPunct="0">
              <a:lnSpc>
                <a:spcPct val="150000"/>
              </a:lnSpc>
              <a:spcBef>
                <a:spcPct val="0"/>
              </a:spcBef>
              <a:spcAft>
                <a:spcPct val="0"/>
              </a:spcAft>
              <a:buClr>
                <a:srgbClr val="00B0F0"/>
              </a:buClr>
              <a:buSzTx/>
              <a:buFont typeface="Wingdings" panose="05000000000000000000" pitchFamily="2" charset="2"/>
              <a:buChar char="Ø"/>
              <a:tabLst/>
            </a:pPr>
            <a:r>
              <a:rPr lang="en-US" altLang="en-US" sz="1400" b="1" dirty="0">
                <a:solidFill>
                  <a:srgbClr val="03509B"/>
                </a:solidFill>
                <a:latin typeface="Lato" panose="020F0502020204030203" pitchFamily="34" charset="0"/>
                <a:ea typeface="Lato" panose="020F0502020204030203" pitchFamily="34" charset="0"/>
                <a:cs typeface="Lato" panose="020F0502020204030203" pitchFamily="34" charset="0"/>
              </a:rPr>
              <a:t>Shadow Resources &amp; Dynamic Allocation</a:t>
            </a:r>
            <a:r>
              <a:rPr lang="en-US" altLang="en-US" sz="1200" dirty="0">
                <a:solidFill>
                  <a:srgbClr val="03509B"/>
                </a:solidFill>
                <a:latin typeface="Lato" panose="020F0502020204030203" pitchFamily="34" charset="0"/>
                <a:ea typeface="Lato" panose="020F0502020204030203" pitchFamily="34" charset="0"/>
                <a:cs typeface="Lato" panose="020F0502020204030203" pitchFamily="34" charset="0"/>
              </a:rPr>
              <a:t>: </a:t>
            </a:r>
          </a:p>
          <a:p>
            <a:pPr marL="446088" lvl="1" indent="-182563" eaLnBrk="0" fontAlgn="base" hangingPunct="0">
              <a:lnSpc>
                <a:spcPct val="150000"/>
              </a:lnSpc>
              <a:spcBef>
                <a:spcPct val="0"/>
              </a:spcBef>
              <a:spcAft>
                <a:spcPct val="0"/>
              </a:spcAft>
              <a:buFont typeface="Wingdings" panose="05000000000000000000" pitchFamily="2" charset="2"/>
              <a:buChar char="§"/>
            </a:pPr>
            <a:r>
              <a:rPr lang="en-US" altLang="en-US" sz="1050" dirty="0">
                <a:latin typeface="Lato" panose="020F0502020204030203" pitchFamily="34" charset="0"/>
                <a:ea typeface="Lato" panose="020F0502020204030203" pitchFamily="34" charset="0"/>
                <a:cs typeface="Lato" panose="020F0502020204030203" pitchFamily="34" charset="0"/>
              </a:rPr>
              <a:t>Pre-trained engineers available on short notice, allowing seamless team ramp-up based on project demands.</a:t>
            </a:r>
          </a:p>
          <a:p>
            <a:pPr marL="446088" lvl="1" indent="-182563" eaLnBrk="0" fontAlgn="base" hangingPunct="0">
              <a:lnSpc>
                <a:spcPct val="150000"/>
              </a:lnSpc>
              <a:spcBef>
                <a:spcPct val="0"/>
              </a:spcBef>
              <a:spcAft>
                <a:spcPct val="0"/>
              </a:spcAft>
              <a:buFont typeface="Wingdings" panose="05000000000000000000" pitchFamily="2" charset="2"/>
              <a:buChar char="§"/>
            </a:pPr>
            <a:r>
              <a:rPr lang="en-US" altLang="en-US" sz="1050" dirty="0">
                <a:latin typeface="Lato" panose="020F0502020204030203" pitchFamily="34" charset="0"/>
                <a:ea typeface="Lato" panose="020F0502020204030203" pitchFamily="34" charset="0"/>
                <a:cs typeface="Lato" panose="020F0502020204030203" pitchFamily="34" charset="0"/>
              </a:rPr>
              <a:t>Maintaining a pool of shadow resources ensures immediate replacement of team members if required, minimizing disruptions and ensuring continuity.</a:t>
            </a:r>
          </a:p>
          <a:p>
            <a:pPr marL="263525" lvl="1" eaLnBrk="0" fontAlgn="base" hangingPunct="0">
              <a:lnSpc>
                <a:spcPct val="150000"/>
              </a:lnSpc>
              <a:spcBef>
                <a:spcPct val="0"/>
              </a:spcBef>
              <a:spcAft>
                <a:spcPct val="0"/>
              </a:spcAft>
            </a:pPr>
            <a:r>
              <a:rPr lang="en-US" altLang="en-US" sz="1400" b="1" dirty="0">
                <a:solidFill>
                  <a:srgbClr val="03509B"/>
                </a:solidFill>
                <a:latin typeface="Lato" panose="020F0502020204030203" pitchFamily="34" charset="0"/>
                <a:ea typeface="Lato" panose="020F0502020204030203" pitchFamily="34" charset="0"/>
                <a:cs typeface="Lato" panose="020F0502020204030203" pitchFamily="34" charset="0"/>
              </a:rPr>
              <a:t>Continuous Training &amp; Upskilling</a:t>
            </a:r>
            <a:r>
              <a:rPr lang="en-US" altLang="en-US" sz="1200" dirty="0">
                <a:solidFill>
                  <a:srgbClr val="03509B"/>
                </a:solidFill>
                <a:latin typeface="Lato" panose="020F0502020204030203" pitchFamily="34" charset="0"/>
                <a:ea typeface="Lato" panose="020F0502020204030203" pitchFamily="34" charset="0"/>
                <a:cs typeface="Lato" panose="020F0502020204030203" pitchFamily="34" charset="0"/>
              </a:rPr>
              <a:t>: </a:t>
            </a:r>
          </a:p>
          <a:p>
            <a:pPr marL="446088" lvl="1" indent="-182563" eaLnBrk="0" fontAlgn="base" hangingPunct="0">
              <a:lnSpc>
                <a:spcPct val="150000"/>
              </a:lnSpc>
              <a:spcBef>
                <a:spcPct val="0"/>
              </a:spcBef>
              <a:spcAft>
                <a:spcPct val="0"/>
              </a:spcAft>
              <a:buFont typeface="Wingdings" panose="05000000000000000000" pitchFamily="2" charset="2"/>
              <a:buChar char="§"/>
            </a:pPr>
            <a:r>
              <a:rPr lang="en-US" altLang="en-US" sz="1050" dirty="0">
                <a:latin typeface="Lato" panose="020F0502020204030203" pitchFamily="34" charset="0"/>
                <a:ea typeface="Lato" panose="020F0502020204030203" pitchFamily="34" charset="0"/>
                <a:cs typeface="Lato" panose="020F0502020204030203" pitchFamily="34" charset="0"/>
              </a:rPr>
              <a:t>Regular knowledge enhancement to stay aligned with Convatec technology stack and roadmap.</a:t>
            </a:r>
          </a:p>
        </p:txBody>
      </p:sp>
    </p:spTree>
    <p:extLst>
      <p:ext uri="{BB962C8B-B14F-4D97-AF65-F5344CB8AC3E}">
        <p14:creationId xmlns:p14="http://schemas.microsoft.com/office/powerpoint/2010/main" val="32984528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CBD7F-4F02-461F-F119-E7605A0A6E5A}"/>
              </a:ext>
            </a:extLst>
          </p:cNvPr>
          <p:cNvSpPr>
            <a:spLocks noGrp="1"/>
          </p:cNvSpPr>
          <p:nvPr>
            <p:ph type="title"/>
          </p:nvPr>
        </p:nvSpPr>
        <p:spPr/>
        <p:txBody>
          <a:bodyPr/>
          <a:lstStyle/>
          <a:p>
            <a:r>
              <a:rPr lang="en-US"/>
              <a:t>Strategic Roadmap – India Build-Operate-Transfer (BOT) Model</a:t>
            </a:r>
            <a:endParaRPr lang="en-IN"/>
          </a:p>
        </p:txBody>
      </p:sp>
      <p:sp>
        <p:nvSpPr>
          <p:cNvPr id="3" name="Rectangle: Top Corners Rounded 54">
            <a:extLst>
              <a:ext uri="{FF2B5EF4-FFF2-40B4-BE49-F238E27FC236}">
                <a16:creationId xmlns:a16="http://schemas.microsoft.com/office/drawing/2014/main" id="{2284F2DC-CE43-3A28-E44D-27DAACEFE601}"/>
              </a:ext>
            </a:extLst>
          </p:cNvPr>
          <p:cNvSpPr/>
          <p:nvPr/>
        </p:nvSpPr>
        <p:spPr>
          <a:xfrm>
            <a:off x="834390" y="835917"/>
            <a:ext cx="10538460" cy="954783"/>
          </a:xfrm>
          <a:prstGeom prst="round2SameRect">
            <a:avLst/>
          </a:prstGeom>
          <a:solidFill>
            <a:schemeClr val="bg1"/>
          </a:solidFill>
          <a:ln w="12700">
            <a:solidFill>
              <a:srgbClr val="00B0F0"/>
            </a:solidFill>
          </a:ln>
          <a:effectLst>
            <a:outerShdw dist="25400" dir="5400000" algn="t" rotWithShape="0">
              <a:srgbClr val="00B0F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Lato" panose="020F0502020204030203" pitchFamily="34" charset="0"/>
                <a:ea typeface="Lato" panose="020F0502020204030203" pitchFamily="34" charset="0"/>
                <a:cs typeface="Lato" panose="020F0502020204030203" pitchFamily="34" charset="0"/>
              </a:rPr>
              <a:t>Innominds acts as the architect and operator supporting Convatec’s future India Center of Excellence (CoE)—stabilizing today’s fragmented vendor landscape while building a scalable, culture-aligned captive capability that Convatec can choose to own in the future.</a:t>
            </a:r>
          </a:p>
        </p:txBody>
      </p:sp>
      <p:sp>
        <p:nvSpPr>
          <p:cNvPr id="5" name="TextBox 4">
            <a:extLst>
              <a:ext uri="{FF2B5EF4-FFF2-40B4-BE49-F238E27FC236}">
                <a16:creationId xmlns:a16="http://schemas.microsoft.com/office/drawing/2014/main" id="{02C30FC7-400C-1DF8-59C6-F0B3055AC4F7}"/>
              </a:ext>
            </a:extLst>
          </p:cNvPr>
          <p:cNvSpPr txBox="1"/>
          <p:nvPr/>
        </p:nvSpPr>
        <p:spPr>
          <a:xfrm>
            <a:off x="447130" y="6199649"/>
            <a:ext cx="11312980" cy="307777"/>
          </a:xfrm>
          <a:prstGeom prst="rect">
            <a:avLst/>
          </a:prstGeom>
          <a:noFill/>
        </p:spPr>
        <p:txBody>
          <a:bodyPr wrap="square" rtlCol="0">
            <a:spAutoFit/>
          </a:bodyPr>
          <a:lstStyle/>
          <a:p>
            <a:pPr algn="ctr"/>
            <a:r>
              <a:rPr lang="en-US" sz="1400" b="1" dirty="0">
                <a:solidFill>
                  <a:srgbClr val="0070C0"/>
                </a:solidFill>
                <a:latin typeface="Lato" panose="020F0502020204030203" pitchFamily="34" charset="0"/>
                <a:ea typeface="Lato" panose="020F0502020204030203" pitchFamily="34" charset="0"/>
                <a:cs typeface="Lato" panose="020F0502020204030203" pitchFamily="34" charset="0"/>
              </a:rPr>
              <a:t>Innominds is not just an outsourcing partner—we enable Convatec to build, mature, and optionally own its global delivery capability.</a:t>
            </a:r>
            <a:endParaRPr lang="en-IN" sz="1400" b="1" dirty="0">
              <a:solidFill>
                <a:srgbClr val="0070C0"/>
              </a:solidFill>
              <a:latin typeface="Lato" panose="020F0502020204030203" pitchFamily="34" charset="0"/>
              <a:ea typeface="Lato" panose="020F0502020204030203" pitchFamily="34" charset="0"/>
              <a:cs typeface="Lato" panose="020F0502020204030203" pitchFamily="34" charset="0"/>
            </a:endParaRPr>
          </a:p>
        </p:txBody>
      </p:sp>
      <p:sp>
        <p:nvSpPr>
          <p:cNvPr id="28" name="TextBox 27">
            <a:extLst>
              <a:ext uri="{FF2B5EF4-FFF2-40B4-BE49-F238E27FC236}">
                <a16:creationId xmlns:a16="http://schemas.microsoft.com/office/drawing/2014/main" id="{E6D0C0CA-82F1-144C-A836-5B67043F3F10}"/>
              </a:ext>
            </a:extLst>
          </p:cNvPr>
          <p:cNvSpPr txBox="1"/>
          <p:nvPr/>
        </p:nvSpPr>
        <p:spPr>
          <a:xfrm>
            <a:off x="834390" y="1972333"/>
            <a:ext cx="2459475" cy="307777"/>
          </a:xfrm>
          <a:prstGeom prst="rect">
            <a:avLst/>
          </a:prstGeom>
          <a:noFill/>
        </p:spPr>
        <p:txBody>
          <a:bodyPr wrap="square">
            <a:spAutoFit/>
          </a:bodyPr>
          <a:lstStyle/>
          <a:p>
            <a:r>
              <a:rPr lang="en-IN" sz="1400" b="1">
                <a:solidFill>
                  <a:srgbClr val="0070C0"/>
                </a:solidFill>
                <a:latin typeface="Lato" panose="020F0502020204030203" pitchFamily="34" charset="0"/>
                <a:ea typeface="Lato" panose="020F0502020204030203" pitchFamily="34" charset="0"/>
                <a:cs typeface="Lato" panose="020F0502020204030203" pitchFamily="34" charset="0"/>
              </a:rPr>
              <a:t>3-Year Strategic Roadmap:</a:t>
            </a:r>
          </a:p>
        </p:txBody>
      </p:sp>
      <p:grpSp>
        <p:nvGrpSpPr>
          <p:cNvPr id="39" name="Group 38">
            <a:extLst>
              <a:ext uri="{FF2B5EF4-FFF2-40B4-BE49-F238E27FC236}">
                <a16:creationId xmlns:a16="http://schemas.microsoft.com/office/drawing/2014/main" id="{E2E048FA-B5B3-85BB-A705-B77FED582363}"/>
              </a:ext>
            </a:extLst>
          </p:cNvPr>
          <p:cNvGrpSpPr/>
          <p:nvPr/>
        </p:nvGrpSpPr>
        <p:grpSpPr>
          <a:xfrm>
            <a:off x="1713681" y="2456415"/>
            <a:ext cx="8696059" cy="3389052"/>
            <a:chOff x="1590303" y="2536425"/>
            <a:chExt cx="8696059" cy="3389052"/>
          </a:xfrm>
        </p:grpSpPr>
        <p:grpSp>
          <p:nvGrpSpPr>
            <p:cNvPr id="36" name="Group 35">
              <a:extLst>
                <a:ext uri="{FF2B5EF4-FFF2-40B4-BE49-F238E27FC236}">
                  <a16:creationId xmlns:a16="http://schemas.microsoft.com/office/drawing/2014/main" id="{FD35741F-DD8D-F734-542D-4D6C62DC704A}"/>
                </a:ext>
              </a:extLst>
            </p:cNvPr>
            <p:cNvGrpSpPr/>
            <p:nvPr/>
          </p:nvGrpSpPr>
          <p:grpSpPr>
            <a:xfrm>
              <a:off x="1590303" y="2536425"/>
              <a:ext cx="2792317" cy="3389052"/>
              <a:chOff x="1235973" y="2552593"/>
              <a:chExt cx="2792317" cy="3389052"/>
            </a:xfrm>
          </p:grpSpPr>
          <p:sp>
            <p:nvSpPr>
              <p:cNvPr id="6" name="Freeform: Shape 22">
                <a:extLst>
                  <a:ext uri="{FF2B5EF4-FFF2-40B4-BE49-F238E27FC236}">
                    <a16:creationId xmlns:a16="http://schemas.microsoft.com/office/drawing/2014/main" id="{4A0FB56A-9D55-4834-F77D-2E48C5BAA7F5}"/>
                  </a:ext>
                </a:extLst>
              </p:cNvPr>
              <p:cNvSpPr/>
              <p:nvPr/>
            </p:nvSpPr>
            <p:spPr>
              <a:xfrm>
                <a:off x="1379897" y="2552593"/>
                <a:ext cx="2594407" cy="3389052"/>
              </a:xfrm>
              <a:custGeom>
                <a:avLst/>
                <a:gdLst>
                  <a:gd name="connsiteX0" fmla="*/ 1685401 w 1794101"/>
                  <a:gd name="connsiteY0" fmla="*/ 0 h 1794100"/>
                  <a:gd name="connsiteX1" fmla="*/ 1794102 w 1794101"/>
                  <a:gd name="connsiteY1" fmla="*/ 108701 h 1794100"/>
                  <a:gd name="connsiteX2" fmla="*/ 1794102 w 1794101"/>
                  <a:gd name="connsiteY2" fmla="*/ 1685400 h 1794100"/>
                  <a:gd name="connsiteX3" fmla="*/ 1685401 w 1794101"/>
                  <a:gd name="connsiteY3" fmla="*/ 1794101 h 1794100"/>
                  <a:gd name="connsiteX4" fmla="*/ 108702 w 1794101"/>
                  <a:gd name="connsiteY4" fmla="*/ 1794101 h 1794100"/>
                  <a:gd name="connsiteX5" fmla="*/ 0 w 1794101"/>
                  <a:gd name="connsiteY5" fmla="*/ 1685400 h 1794100"/>
                  <a:gd name="connsiteX6" fmla="*/ 0 w 1794101"/>
                  <a:gd name="connsiteY6" fmla="*/ 108702 h 1794100"/>
                  <a:gd name="connsiteX7" fmla="*/ 108702 w 1794101"/>
                  <a:gd name="connsiteY7" fmla="*/ 0 h 1794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4101" h="1794100">
                    <a:moveTo>
                      <a:pt x="1685401" y="0"/>
                    </a:moveTo>
                    <a:cubicBezTo>
                      <a:pt x="1745435" y="0"/>
                      <a:pt x="1794102" y="48667"/>
                      <a:pt x="1794102" y="108701"/>
                    </a:cubicBezTo>
                    <a:lnTo>
                      <a:pt x="1794102" y="1685400"/>
                    </a:lnTo>
                    <a:cubicBezTo>
                      <a:pt x="1794102" y="1745434"/>
                      <a:pt x="1745435" y="1794101"/>
                      <a:pt x="1685401" y="1794101"/>
                    </a:cubicBezTo>
                    <a:lnTo>
                      <a:pt x="108702" y="1794101"/>
                    </a:lnTo>
                    <a:cubicBezTo>
                      <a:pt x="48667" y="1794101"/>
                      <a:pt x="0" y="1745434"/>
                      <a:pt x="0" y="1685400"/>
                    </a:cubicBezTo>
                    <a:lnTo>
                      <a:pt x="0" y="108702"/>
                    </a:lnTo>
                    <a:cubicBezTo>
                      <a:pt x="0" y="48667"/>
                      <a:pt x="48667" y="0"/>
                      <a:pt x="108702" y="0"/>
                    </a:cubicBezTo>
                    <a:close/>
                  </a:path>
                </a:pathLst>
              </a:custGeom>
              <a:solidFill>
                <a:srgbClr val="FFFFFF"/>
              </a:solidFill>
              <a:ln w="3148" cap="flat">
                <a:solidFill>
                  <a:srgbClr val="00B0F0"/>
                </a:solidFill>
                <a:prstDash val="solid"/>
                <a:miter/>
              </a:ln>
            </p:spPr>
            <p:txBody>
              <a:bodyPr rtlCol="0" anchor="ctr"/>
              <a:lstStyle/>
              <a:p>
                <a:endParaRPr lang="en-US"/>
              </a:p>
            </p:txBody>
          </p:sp>
          <p:sp>
            <p:nvSpPr>
              <p:cNvPr id="7" name="Freeform: Shape 23">
                <a:extLst>
                  <a:ext uri="{FF2B5EF4-FFF2-40B4-BE49-F238E27FC236}">
                    <a16:creationId xmlns:a16="http://schemas.microsoft.com/office/drawing/2014/main" id="{D8F4CA8C-DDB2-BB6B-9F43-85732AF11D4C}"/>
                  </a:ext>
                </a:extLst>
              </p:cNvPr>
              <p:cNvSpPr/>
              <p:nvPr/>
            </p:nvSpPr>
            <p:spPr>
              <a:xfrm>
                <a:off x="1327243" y="2668524"/>
                <a:ext cx="672632" cy="459843"/>
              </a:xfrm>
              <a:custGeom>
                <a:avLst/>
                <a:gdLst>
                  <a:gd name="connsiteX0" fmla="*/ 442711 w 672632"/>
                  <a:gd name="connsiteY0" fmla="*/ 0 h 459843"/>
                  <a:gd name="connsiteX1" fmla="*/ 0 w 672632"/>
                  <a:gd name="connsiteY1" fmla="*/ 0 h 459843"/>
                  <a:gd name="connsiteX2" fmla="*/ 0 w 672632"/>
                  <a:gd name="connsiteY2" fmla="*/ 459843 h 459843"/>
                  <a:gd name="connsiteX3" fmla="*/ 442711 w 672632"/>
                  <a:gd name="connsiteY3" fmla="*/ 459843 h 459843"/>
                  <a:gd name="connsiteX4" fmla="*/ 672633 w 672632"/>
                  <a:gd name="connsiteY4" fmla="*/ 229922 h 459843"/>
                  <a:gd name="connsiteX5" fmla="*/ 442711 w 672632"/>
                  <a:gd name="connsiteY5" fmla="*/ 0 h 459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2632" h="459843">
                    <a:moveTo>
                      <a:pt x="442711" y="0"/>
                    </a:moveTo>
                    <a:lnTo>
                      <a:pt x="0" y="0"/>
                    </a:lnTo>
                    <a:lnTo>
                      <a:pt x="0" y="459843"/>
                    </a:lnTo>
                    <a:lnTo>
                      <a:pt x="442711" y="459843"/>
                    </a:lnTo>
                    <a:cubicBezTo>
                      <a:pt x="569694" y="459843"/>
                      <a:pt x="672633" y="356905"/>
                      <a:pt x="672633" y="229922"/>
                    </a:cubicBezTo>
                    <a:cubicBezTo>
                      <a:pt x="672633" y="102938"/>
                      <a:pt x="569694" y="0"/>
                      <a:pt x="442711" y="0"/>
                    </a:cubicBezTo>
                    <a:close/>
                  </a:path>
                </a:pathLst>
              </a:custGeom>
              <a:solidFill>
                <a:srgbClr val="4D4D4D"/>
              </a:solidFill>
              <a:ln w="1574" cap="flat">
                <a:noFill/>
                <a:prstDash val="solid"/>
                <a:miter/>
              </a:ln>
            </p:spPr>
            <p:txBody>
              <a:bodyPr rtlCol="0" anchor="ctr"/>
              <a:lstStyle/>
              <a:p>
                <a:endParaRPr lang="en-US"/>
              </a:p>
            </p:txBody>
          </p:sp>
          <p:sp>
            <p:nvSpPr>
              <p:cNvPr id="8" name="Freeform: Shape 24">
                <a:extLst>
                  <a:ext uri="{FF2B5EF4-FFF2-40B4-BE49-F238E27FC236}">
                    <a16:creationId xmlns:a16="http://schemas.microsoft.com/office/drawing/2014/main" id="{F6D208AA-5B68-04B8-F389-D3BDB17C9D73}"/>
                  </a:ext>
                </a:extLst>
              </p:cNvPr>
              <p:cNvSpPr/>
              <p:nvPr/>
            </p:nvSpPr>
            <p:spPr>
              <a:xfrm>
                <a:off x="1235973" y="3130902"/>
                <a:ext cx="149990" cy="107315"/>
              </a:xfrm>
              <a:custGeom>
                <a:avLst/>
                <a:gdLst>
                  <a:gd name="connsiteX0" fmla="*/ 0 w 149990"/>
                  <a:gd name="connsiteY0" fmla="*/ 189 h 107315"/>
                  <a:gd name="connsiteX1" fmla="*/ 149502 w 149990"/>
                  <a:gd name="connsiteY1" fmla="*/ 107316 h 107315"/>
                  <a:gd name="connsiteX2" fmla="*/ 149990 w 149990"/>
                  <a:gd name="connsiteY2" fmla="*/ 0 h 107315"/>
                  <a:gd name="connsiteX3" fmla="*/ 16 w 149990"/>
                  <a:gd name="connsiteY3" fmla="*/ 189 h 107315"/>
                </a:gdLst>
                <a:ahLst/>
                <a:cxnLst>
                  <a:cxn ang="0">
                    <a:pos x="connsiteX0" y="connsiteY0"/>
                  </a:cxn>
                  <a:cxn ang="0">
                    <a:pos x="connsiteX1" y="connsiteY1"/>
                  </a:cxn>
                  <a:cxn ang="0">
                    <a:pos x="connsiteX2" y="connsiteY2"/>
                  </a:cxn>
                  <a:cxn ang="0">
                    <a:pos x="connsiteX3" y="connsiteY3"/>
                  </a:cxn>
                </a:cxnLst>
                <a:rect l="l" t="t" r="r" b="b"/>
                <a:pathLst>
                  <a:path w="149990" h="107315">
                    <a:moveTo>
                      <a:pt x="0" y="189"/>
                    </a:moveTo>
                    <a:cubicBezTo>
                      <a:pt x="30801" y="97946"/>
                      <a:pt x="149502" y="107316"/>
                      <a:pt x="149502" y="107316"/>
                    </a:cubicBezTo>
                    <a:lnTo>
                      <a:pt x="149990" y="0"/>
                    </a:lnTo>
                    <a:lnTo>
                      <a:pt x="16" y="189"/>
                    </a:lnTo>
                    <a:close/>
                  </a:path>
                </a:pathLst>
              </a:custGeom>
              <a:solidFill>
                <a:srgbClr val="247BD1"/>
              </a:solidFill>
              <a:ln w="1574" cap="flat">
                <a:noFill/>
                <a:prstDash val="solid"/>
                <a:miter/>
              </a:ln>
            </p:spPr>
            <p:txBody>
              <a:bodyPr rtlCol="0" anchor="ctr"/>
              <a:lstStyle/>
              <a:p>
                <a:endParaRPr lang="en-US"/>
              </a:p>
            </p:txBody>
          </p:sp>
          <p:sp>
            <p:nvSpPr>
              <p:cNvPr id="9" name="Freeform: Shape 25">
                <a:extLst>
                  <a:ext uri="{FF2B5EF4-FFF2-40B4-BE49-F238E27FC236}">
                    <a16:creationId xmlns:a16="http://schemas.microsoft.com/office/drawing/2014/main" id="{576B9549-44A1-39A6-8ECA-CA8AB6FAE483}"/>
                  </a:ext>
                </a:extLst>
              </p:cNvPr>
              <p:cNvSpPr/>
              <p:nvPr/>
            </p:nvSpPr>
            <p:spPr>
              <a:xfrm>
                <a:off x="1235989" y="2665957"/>
                <a:ext cx="767587" cy="465118"/>
              </a:xfrm>
              <a:custGeom>
                <a:avLst/>
                <a:gdLst>
                  <a:gd name="connsiteX0" fmla="*/ 535146 w 767587"/>
                  <a:gd name="connsiteY0" fmla="*/ 16 h 465118"/>
                  <a:gd name="connsiteX1" fmla="*/ 103284 w 767587"/>
                  <a:gd name="connsiteY1" fmla="*/ 362 h 465118"/>
                  <a:gd name="connsiteX2" fmla="*/ 0 w 767587"/>
                  <a:gd name="connsiteY2" fmla="*/ 103725 h 465118"/>
                  <a:gd name="connsiteX3" fmla="*/ 0 w 767587"/>
                  <a:gd name="connsiteY3" fmla="*/ 465119 h 465118"/>
                  <a:gd name="connsiteX4" fmla="*/ 146431 w 767587"/>
                  <a:gd name="connsiteY4" fmla="*/ 464930 h 465118"/>
                  <a:gd name="connsiteX5" fmla="*/ 532909 w 767587"/>
                  <a:gd name="connsiteY5" fmla="*/ 464930 h 465118"/>
                  <a:gd name="connsiteX6" fmla="*/ 767587 w 767587"/>
                  <a:gd name="connsiteY6" fmla="*/ 232583 h 465118"/>
                  <a:gd name="connsiteX7" fmla="*/ 535130 w 767587"/>
                  <a:gd name="connsiteY7" fmla="*/ 0 h 46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7587" h="465118">
                    <a:moveTo>
                      <a:pt x="535146" y="16"/>
                    </a:moveTo>
                    <a:lnTo>
                      <a:pt x="103284" y="362"/>
                    </a:lnTo>
                    <a:cubicBezTo>
                      <a:pt x="46233" y="409"/>
                      <a:pt x="0" y="46674"/>
                      <a:pt x="0" y="103725"/>
                    </a:cubicBezTo>
                    <a:lnTo>
                      <a:pt x="0" y="465119"/>
                    </a:lnTo>
                    <a:lnTo>
                      <a:pt x="146431" y="464930"/>
                    </a:lnTo>
                    <a:lnTo>
                      <a:pt x="532909" y="464930"/>
                    </a:lnTo>
                    <a:cubicBezTo>
                      <a:pt x="661610" y="464930"/>
                      <a:pt x="767524" y="361283"/>
                      <a:pt x="767587" y="232583"/>
                    </a:cubicBezTo>
                    <a:cubicBezTo>
                      <a:pt x="767650" y="104151"/>
                      <a:pt x="663547" y="0"/>
                      <a:pt x="535130" y="0"/>
                    </a:cubicBezTo>
                    <a:close/>
                  </a:path>
                </a:pathLst>
              </a:custGeom>
              <a:solidFill>
                <a:srgbClr val="0070C0"/>
              </a:solidFill>
              <a:ln w="1574" cap="flat">
                <a:noFill/>
                <a:prstDash val="solid"/>
                <a:miter/>
              </a:ln>
            </p:spPr>
            <p:txBody>
              <a:bodyPr rtlCol="0" anchor="ctr"/>
              <a:lstStyle/>
              <a:p>
                <a:endParaRPr lang="en-US"/>
              </a:p>
            </p:txBody>
          </p:sp>
          <p:sp>
            <p:nvSpPr>
              <p:cNvPr id="18" name="TextBox 17">
                <a:extLst>
                  <a:ext uri="{FF2B5EF4-FFF2-40B4-BE49-F238E27FC236}">
                    <a16:creationId xmlns:a16="http://schemas.microsoft.com/office/drawing/2014/main" id="{465A299A-88B8-2B56-B8F8-BC013CDBAA73}"/>
                  </a:ext>
                </a:extLst>
              </p:cNvPr>
              <p:cNvSpPr txBox="1"/>
              <p:nvPr/>
            </p:nvSpPr>
            <p:spPr>
              <a:xfrm>
                <a:off x="1374698" y="3286543"/>
                <a:ext cx="2594838" cy="1384995"/>
              </a:xfrm>
              <a:prstGeom prst="rect">
                <a:avLst/>
              </a:prstGeom>
              <a:noFill/>
            </p:spPr>
            <p:txBody>
              <a:bodyPr wrap="square" rtlCol="0" anchor="t">
                <a:spAutoFit/>
              </a:bodyPr>
              <a:lstStyle/>
              <a:p>
                <a:pPr marL="171450" lvl="1" indent="-171450">
                  <a:buBlip>
                    <a:blip r:embed="rId2"/>
                  </a:buBlip>
                </a:pPr>
                <a:r>
                  <a:rPr lang="en-US" sz="1200" dirty="0">
                    <a:latin typeface="Lato" panose="020F0502020204030203" pitchFamily="34" charset="0"/>
                    <a:ea typeface="Lato" panose="020F0502020204030203" pitchFamily="34" charset="0"/>
                    <a:cs typeface="Lato" panose="020F0502020204030203" pitchFamily="34" charset="0"/>
                  </a:rPr>
                  <a:t>Enable optional consolidation of delivery under a governed model</a:t>
                </a:r>
              </a:p>
              <a:p>
                <a:pPr marL="171450" lvl="1" indent="-171450">
                  <a:buBlip>
                    <a:blip r:embed="rId2"/>
                  </a:buBlip>
                </a:pPr>
                <a:r>
                  <a:rPr lang="en-US" sz="1200" dirty="0">
                    <a:latin typeface="Lato" panose="020F0502020204030203" pitchFamily="34" charset="0"/>
                    <a:ea typeface="Lato" panose="020F0502020204030203" pitchFamily="34" charset="0"/>
                    <a:cs typeface="Lato" panose="020F0502020204030203" pitchFamily="34" charset="0"/>
                  </a:rPr>
                  <a:t>Rebadge, replace, and onboard teams to ensure business continuity</a:t>
                </a:r>
              </a:p>
              <a:p>
                <a:pPr marL="171450" lvl="1" indent="-171450">
                  <a:buBlip>
                    <a:blip r:embed="rId2"/>
                  </a:buBlip>
                </a:pPr>
                <a:r>
                  <a:rPr lang="en-US" sz="1200" dirty="0">
                    <a:latin typeface="Lato" panose="020F0502020204030203" pitchFamily="34" charset="0"/>
                    <a:ea typeface="Lato" panose="020F0502020204030203" pitchFamily="34" charset="0"/>
                    <a:cs typeface="Lato" panose="020F0502020204030203" pitchFamily="34" charset="0"/>
                  </a:rPr>
                  <a:t>Eliminate delivery risk and stabilize ongoing programs</a:t>
                </a:r>
                <a:endParaRPr lang="en-GB" sz="1200" dirty="0">
                  <a:latin typeface="Lato" panose="020F0502020204030203" pitchFamily="34" charset="0"/>
                  <a:ea typeface="Lato" panose="020F0502020204030203" pitchFamily="34" charset="0"/>
                  <a:cs typeface="Lato" panose="020F0502020204030203" pitchFamily="34" charset="0"/>
                </a:endParaRPr>
              </a:p>
            </p:txBody>
          </p:sp>
          <p:sp>
            <p:nvSpPr>
              <p:cNvPr id="21" name="TextBox 20">
                <a:extLst>
                  <a:ext uri="{FF2B5EF4-FFF2-40B4-BE49-F238E27FC236}">
                    <a16:creationId xmlns:a16="http://schemas.microsoft.com/office/drawing/2014/main" id="{87DA8382-F2F1-1803-09C3-B47F9AF2844F}"/>
                  </a:ext>
                </a:extLst>
              </p:cNvPr>
              <p:cNvSpPr txBox="1"/>
              <p:nvPr/>
            </p:nvSpPr>
            <p:spPr>
              <a:xfrm>
                <a:off x="2035497" y="2709620"/>
                <a:ext cx="1785239" cy="461665"/>
              </a:xfrm>
              <a:prstGeom prst="rect">
                <a:avLst/>
              </a:prstGeom>
              <a:noFill/>
            </p:spPr>
            <p:txBody>
              <a:bodyPr wrap="square">
                <a:spAutoFit/>
              </a:bodyPr>
              <a:lstStyle>
                <a:defPPr>
                  <a:defRPr lang="en-US"/>
                </a:defPPr>
                <a:lvl1pPr lvl="0" algn="ctr">
                  <a:defRPr sz="1200" b="1">
                    <a:solidFill>
                      <a:srgbClr val="0070C0"/>
                    </a:solidFill>
                    <a:latin typeface="Lato" panose="020F0502020204030203" pitchFamily="34" charset="0"/>
                    <a:ea typeface="Lato" panose="020F0502020204030203" pitchFamily="34" charset="0"/>
                    <a:cs typeface="Lato" panose="020F0502020204030203" pitchFamily="34" charset="0"/>
                  </a:defRPr>
                </a:lvl1pPr>
              </a:lstStyle>
              <a:p>
                <a:r>
                  <a:rPr lang="en-IN" dirty="0"/>
                  <a:t>Phase 1: Stabilize &amp; Consolidate</a:t>
                </a:r>
              </a:p>
            </p:txBody>
          </p:sp>
          <p:pic>
            <p:nvPicPr>
              <p:cNvPr id="24" name="Picture 23">
                <a:extLst>
                  <a:ext uri="{FF2B5EF4-FFF2-40B4-BE49-F238E27FC236}">
                    <a16:creationId xmlns:a16="http://schemas.microsoft.com/office/drawing/2014/main" id="{AA40DF27-41C1-8F56-1C92-701E97DFE961}"/>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rcRect/>
              <a:stretch/>
            </p:blipFill>
            <p:spPr>
              <a:xfrm>
                <a:off x="1361488" y="2704831"/>
                <a:ext cx="384646" cy="384646"/>
              </a:xfrm>
              <a:prstGeom prst="rect">
                <a:avLst/>
              </a:prstGeom>
            </p:spPr>
          </p:pic>
          <p:sp>
            <p:nvSpPr>
              <p:cNvPr id="31" name="Rectangle: Rounded Corners 30">
                <a:extLst>
                  <a:ext uri="{FF2B5EF4-FFF2-40B4-BE49-F238E27FC236}">
                    <a16:creationId xmlns:a16="http://schemas.microsoft.com/office/drawing/2014/main" id="{532A907F-3CAD-C28C-69B3-A86F40D4CCA5}"/>
                  </a:ext>
                </a:extLst>
              </p:cNvPr>
              <p:cNvSpPr/>
              <p:nvPr/>
            </p:nvSpPr>
            <p:spPr>
              <a:xfrm>
                <a:off x="1394703" y="5090274"/>
                <a:ext cx="2584800" cy="849518"/>
              </a:xfrm>
              <a:prstGeom prst="roundRect">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538F0450-1C4F-C198-D866-0513BD07A445}"/>
                  </a:ext>
                </a:extLst>
              </p:cNvPr>
              <p:cNvSpPr txBox="1"/>
              <p:nvPr/>
            </p:nvSpPr>
            <p:spPr>
              <a:xfrm>
                <a:off x="1460209" y="5100428"/>
                <a:ext cx="2568081" cy="646331"/>
              </a:xfrm>
              <a:prstGeom prst="rect">
                <a:avLst/>
              </a:prstGeom>
              <a:noFill/>
            </p:spPr>
            <p:txBody>
              <a:bodyPr wrap="square">
                <a:spAutoFit/>
              </a:bodyPr>
              <a:lstStyle/>
              <a:p>
                <a:pPr>
                  <a:buNone/>
                </a:pPr>
                <a:r>
                  <a:rPr lang="en-US" sz="1200" b="1">
                    <a:latin typeface="Lato" panose="020F0502020204030203" pitchFamily="34" charset="0"/>
                    <a:ea typeface="Lato" panose="020F0502020204030203" pitchFamily="34" charset="0"/>
                    <a:cs typeface="Lato" panose="020F0502020204030203" pitchFamily="34" charset="0"/>
                  </a:rPr>
                  <a:t>Outcome:</a:t>
                </a:r>
                <a:r>
                  <a:rPr lang="en-US" sz="1200">
                    <a:latin typeface="Lato" panose="020F0502020204030203" pitchFamily="34" charset="0"/>
                    <a:ea typeface="Lato" panose="020F0502020204030203" pitchFamily="34" charset="0"/>
                    <a:cs typeface="Lato" panose="020F0502020204030203" pitchFamily="34" charset="0"/>
                  </a:rPr>
                  <a:t> </a:t>
                </a:r>
              </a:p>
              <a:p>
                <a:pPr>
                  <a:buNone/>
                </a:pPr>
                <a:r>
                  <a:rPr lang="en-US" sz="1200">
                    <a:latin typeface="Lato" panose="020F0502020204030203" pitchFamily="34" charset="0"/>
                    <a:ea typeface="Lato" panose="020F0502020204030203" pitchFamily="34" charset="0"/>
                    <a:cs typeface="Lato" panose="020F0502020204030203" pitchFamily="34" charset="0"/>
                  </a:rPr>
                  <a:t>Stable delivery foundation with minimal disruption</a:t>
                </a:r>
              </a:p>
            </p:txBody>
          </p:sp>
        </p:grpSp>
        <p:grpSp>
          <p:nvGrpSpPr>
            <p:cNvPr id="37" name="Group 36">
              <a:extLst>
                <a:ext uri="{FF2B5EF4-FFF2-40B4-BE49-F238E27FC236}">
                  <a16:creationId xmlns:a16="http://schemas.microsoft.com/office/drawing/2014/main" id="{C0FC0B71-2E36-EE35-F8C4-2C90B455B7B3}"/>
                </a:ext>
              </a:extLst>
            </p:cNvPr>
            <p:cNvGrpSpPr/>
            <p:nvPr/>
          </p:nvGrpSpPr>
          <p:grpSpPr>
            <a:xfrm>
              <a:off x="4530202" y="2536425"/>
              <a:ext cx="2807073" cy="3389052"/>
              <a:chOff x="4114678" y="2559286"/>
              <a:chExt cx="2807073" cy="3389052"/>
            </a:xfrm>
          </p:grpSpPr>
          <p:sp>
            <p:nvSpPr>
              <p:cNvPr id="10" name="Freeform: Shape 26">
                <a:extLst>
                  <a:ext uri="{FF2B5EF4-FFF2-40B4-BE49-F238E27FC236}">
                    <a16:creationId xmlns:a16="http://schemas.microsoft.com/office/drawing/2014/main" id="{CBB5C801-B5FB-792F-CA45-D3C964F8D31B}"/>
                  </a:ext>
                </a:extLst>
              </p:cNvPr>
              <p:cNvSpPr/>
              <p:nvPr/>
            </p:nvSpPr>
            <p:spPr>
              <a:xfrm>
                <a:off x="4264983" y="2559286"/>
                <a:ext cx="2594407" cy="3389052"/>
              </a:xfrm>
              <a:custGeom>
                <a:avLst/>
                <a:gdLst>
                  <a:gd name="connsiteX0" fmla="*/ 1685400 w 1794101"/>
                  <a:gd name="connsiteY0" fmla="*/ 0 h 1794100"/>
                  <a:gd name="connsiteX1" fmla="*/ 1794101 w 1794101"/>
                  <a:gd name="connsiteY1" fmla="*/ 108701 h 1794100"/>
                  <a:gd name="connsiteX2" fmla="*/ 1794101 w 1794101"/>
                  <a:gd name="connsiteY2" fmla="*/ 1685400 h 1794100"/>
                  <a:gd name="connsiteX3" fmla="*/ 1685400 w 1794101"/>
                  <a:gd name="connsiteY3" fmla="*/ 1794101 h 1794100"/>
                  <a:gd name="connsiteX4" fmla="*/ 108701 w 1794101"/>
                  <a:gd name="connsiteY4" fmla="*/ 1794101 h 1794100"/>
                  <a:gd name="connsiteX5" fmla="*/ 0 w 1794101"/>
                  <a:gd name="connsiteY5" fmla="*/ 1685400 h 1794100"/>
                  <a:gd name="connsiteX6" fmla="*/ 0 w 1794101"/>
                  <a:gd name="connsiteY6" fmla="*/ 108702 h 1794100"/>
                  <a:gd name="connsiteX7" fmla="*/ 108701 w 1794101"/>
                  <a:gd name="connsiteY7" fmla="*/ 0 h 1794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4101" h="1794100">
                    <a:moveTo>
                      <a:pt x="1685400" y="0"/>
                    </a:moveTo>
                    <a:cubicBezTo>
                      <a:pt x="1745434" y="0"/>
                      <a:pt x="1794101" y="48667"/>
                      <a:pt x="1794101" y="108701"/>
                    </a:cubicBezTo>
                    <a:lnTo>
                      <a:pt x="1794101" y="1685400"/>
                    </a:lnTo>
                    <a:cubicBezTo>
                      <a:pt x="1794101" y="1745434"/>
                      <a:pt x="1745434" y="1794101"/>
                      <a:pt x="1685400" y="1794101"/>
                    </a:cubicBezTo>
                    <a:lnTo>
                      <a:pt x="108701" y="1794101"/>
                    </a:lnTo>
                    <a:cubicBezTo>
                      <a:pt x="48667" y="1794101"/>
                      <a:pt x="0" y="1745434"/>
                      <a:pt x="0" y="1685400"/>
                    </a:cubicBezTo>
                    <a:lnTo>
                      <a:pt x="0" y="108702"/>
                    </a:lnTo>
                    <a:cubicBezTo>
                      <a:pt x="0" y="48667"/>
                      <a:pt x="48667" y="0"/>
                      <a:pt x="108701" y="0"/>
                    </a:cubicBezTo>
                    <a:close/>
                  </a:path>
                </a:pathLst>
              </a:custGeom>
              <a:solidFill>
                <a:srgbClr val="FFFFFF"/>
              </a:solidFill>
              <a:ln w="3148" cap="flat">
                <a:solidFill>
                  <a:srgbClr val="00B0F0"/>
                </a:solidFill>
                <a:prstDash val="solid"/>
                <a:miter/>
              </a:ln>
            </p:spPr>
            <p:txBody>
              <a:bodyPr rtlCol="0" anchor="ctr"/>
              <a:lstStyle/>
              <a:p>
                <a:endParaRPr lang="en-US"/>
              </a:p>
            </p:txBody>
          </p:sp>
          <p:sp>
            <p:nvSpPr>
              <p:cNvPr id="11" name="Freeform: Shape 27">
                <a:extLst>
                  <a:ext uri="{FF2B5EF4-FFF2-40B4-BE49-F238E27FC236}">
                    <a16:creationId xmlns:a16="http://schemas.microsoft.com/office/drawing/2014/main" id="{A242E24B-C675-6E42-30AF-418A80887F1E}"/>
                  </a:ext>
                </a:extLst>
              </p:cNvPr>
              <p:cNvSpPr/>
              <p:nvPr/>
            </p:nvSpPr>
            <p:spPr>
              <a:xfrm>
                <a:off x="4205932" y="2675216"/>
                <a:ext cx="672632" cy="459843"/>
              </a:xfrm>
              <a:custGeom>
                <a:avLst/>
                <a:gdLst>
                  <a:gd name="connsiteX0" fmla="*/ 442711 w 672632"/>
                  <a:gd name="connsiteY0" fmla="*/ 0 h 459843"/>
                  <a:gd name="connsiteX1" fmla="*/ 0 w 672632"/>
                  <a:gd name="connsiteY1" fmla="*/ 0 h 459843"/>
                  <a:gd name="connsiteX2" fmla="*/ 0 w 672632"/>
                  <a:gd name="connsiteY2" fmla="*/ 459843 h 459843"/>
                  <a:gd name="connsiteX3" fmla="*/ 442711 w 672632"/>
                  <a:gd name="connsiteY3" fmla="*/ 459843 h 459843"/>
                  <a:gd name="connsiteX4" fmla="*/ 672633 w 672632"/>
                  <a:gd name="connsiteY4" fmla="*/ 229922 h 459843"/>
                  <a:gd name="connsiteX5" fmla="*/ 442711 w 672632"/>
                  <a:gd name="connsiteY5" fmla="*/ 0 h 459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2632" h="459843">
                    <a:moveTo>
                      <a:pt x="442711" y="0"/>
                    </a:moveTo>
                    <a:lnTo>
                      <a:pt x="0" y="0"/>
                    </a:lnTo>
                    <a:lnTo>
                      <a:pt x="0" y="459843"/>
                    </a:lnTo>
                    <a:lnTo>
                      <a:pt x="442711" y="459843"/>
                    </a:lnTo>
                    <a:cubicBezTo>
                      <a:pt x="569694" y="459843"/>
                      <a:pt x="672633" y="356905"/>
                      <a:pt x="672633" y="229922"/>
                    </a:cubicBezTo>
                    <a:cubicBezTo>
                      <a:pt x="672633" y="102938"/>
                      <a:pt x="569694" y="0"/>
                      <a:pt x="442711" y="0"/>
                    </a:cubicBezTo>
                    <a:close/>
                  </a:path>
                </a:pathLst>
              </a:custGeom>
              <a:solidFill>
                <a:srgbClr val="4D4D4D"/>
              </a:solidFill>
              <a:ln w="1574" cap="flat">
                <a:noFill/>
                <a:prstDash val="solid"/>
                <a:miter/>
              </a:ln>
            </p:spPr>
            <p:txBody>
              <a:bodyPr rtlCol="0" anchor="ctr"/>
              <a:lstStyle/>
              <a:p>
                <a:endParaRPr lang="en-US"/>
              </a:p>
            </p:txBody>
          </p:sp>
          <p:sp>
            <p:nvSpPr>
              <p:cNvPr id="12" name="Freeform: Shape 28">
                <a:extLst>
                  <a:ext uri="{FF2B5EF4-FFF2-40B4-BE49-F238E27FC236}">
                    <a16:creationId xmlns:a16="http://schemas.microsoft.com/office/drawing/2014/main" id="{3205A495-05F3-C554-EFC0-6652ABFE9EB7}"/>
                  </a:ext>
                </a:extLst>
              </p:cNvPr>
              <p:cNvSpPr/>
              <p:nvPr/>
            </p:nvSpPr>
            <p:spPr>
              <a:xfrm>
                <a:off x="4114678" y="3137595"/>
                <a:ext cx="149990" cy="107315"/>
              </a:xfrm>
              <a:custGeom>
                <a:avLst/>
                <a:gdLst>
                  <a:gd name="connsiteX0" fmla="*/ 0 w 149990"/>
                  <a:gd name="connsiteY0" fmla="*/ 189 h 107315"/>
                  <a:gd name="connsiteX1" fmla="*/ 149503 w 149990"/>
                  <a:gd name="connsiteY1" fmla="*/ 107316 h 107315"/>
                  <a:gd name="connsiteX2" fmla="*/ 149990 w 149990"/>
                  <a:gd name="connsiteY2" fmla="*/ 0 h 107315"/>
                  <a:gd name="connsiteX3" fmla="*/ 16 w 149990"/>
                  <a:gd name="connsiteY3" fmla="*/ 189 h 107315"/>
                </a:gdLst>
                <a:ahLst/>
                <a:cxnLst>
                  <a:cxn ang="0">
                    <a:pos x="connsiteX0" y="connsiteY0"/>
                  </a:cxn>
                  <a:cxn ang="0">
                    <a:pos x="connsiteX1" y="connsiteY1"/>
                  </a:cxn>
                  <a:cxn ang="0">
                    <a:pos x="connsiteX2" y="connsiteY2"/>
                  </a:cxn>
                  <a:cxn ang="0">
                    <a:pos x="connsiteX3" y="connsiteY3"/>
                  </a:cxn>
                </a:cxnLst>
                <a:rect l="l" t="t" r="r" b="b"/>
                <a:pathLst>
                  <a:path w="149990" h="107315">
                    <a:moveTo>
                      <a:pt x="0" y="189"/>
                    </a:moveTo>
                    <a:cubicBezTo>
                      <a:pt x="30801" y="97946"/>
                      <a:pt x="149503" y="107316"/>
                      <a:pt x="149503" y="107316"/>
                    </a:cubicBezTo>
                    <a:lnTo>
                      <a:pt x="149990" y="0"/>
                    </a:lnTo>
                    <a:lnTo>
                      <a:pt x="16" y="189"/>
                    </a:lnTo>
                    <a:close/>
                  </a:path>
                </a:pathLst>
              </a:custGeom>
              <a:solidFill>
                <a:srgbClr val="247BD1"/>
              </a:solidFill>
              <a:ln w="1574" cap="flat">
                <a:noFill/>
                <a:prstDash val="solid"/>
                <a:miter/>
              </a:ln>
            </p:spPr>
            <p:txBody>
              <a:bodyPr rtlCol="0" anchor="ctr"/>
              <a:lstStyle/>
              <a:p>
                <a:endParaRPr lang="en-US"/>
              </a:p>
            </p:txBody>
          </p:sp>
          <p:sp>
            <p:nvSpPr>
              <p:cNvPr id="13" name="Freeform: Shape 29">
                <a:extLst>
                  <a:ext uri="{FF2B5EF4-FFF2-40B4-BE49-F238E27FC236}">
                    <a16:creationId xmlns:a16="http://schemas.microsoft.com/office/drawing/2014/main" id="{02E5137D-7269-0826-ABDA-A814825EE225}"/>
                  </a:ext>
                </a:extLst>
              </p:cNvPr>
              <p:cNvSpPr/>
              <p:nvPr/>
            </p:nvSpPr>
            <p:spPr>
              <a:xfrm>
                <a:off x="4114678" y="2672665"/>
                <a:ext cx="767587" cy="465118"/>
              </a:xfrm>
              <a:custGeom>
                <a:avLst/>
                <a:gdLst>
                  <a:gd name="connsiteX0" fmla="*/ 535146 w 767587"/>
                  <a:gd name="connsiteY0" fmla="*/ 16 h 465118"/>
                  <a:gd name="connsiteX1" fmla="*/ 103285 w 767587"/>
                  <a:gd name="connsiteY1" fmla="*/ 362 h 465118"/>
                  <a:gd name="connsiteX2" fmla="*/ 0 w 767587"/>
                  <a:gd name="connsiteY2" fmla="*/ 103725 h 465118"/>
                  <a:gd name="connsiteX3" fmla="*/ 0 w 767587"/>
                  <a:gd name="connsiteY3" fmla="*/ 465119 h 465118"/>
                  <a:gd name="connsiteX4" fmla="*/ 146432 w 767587"/>
                  <a:gd name="connsiteY4" fmla="*/ 464930 h 465118"/>
                  <a:gd name="connsiteX5" fmla="*/ 532910 w 767587"/>
                  <a:gd name="connsiteY5" fmla="*/ 464930 h 465118"/>
                  <a:gd name="connsiteX6" fmla="*/ 767587 w 767587"/>
                  <a:gd name="connsiteY6" fmla="*/ 232583 h 465118"/>
                  <a:gd name="connsiteX7" fmla="*/ 535130 w 767587"/>
                  <a:gd name="connsiteY7" fmla="*/ 0 h 46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7587" h="465118">
                    <a:moveTo>
                      <a:pt x="535146" y="16"/>
                    </a:moveTo>
                    <a:lnTo>
                      <a:pt x="103285" y="362"/>
                    </a:lnTo>
                    <a:cubicBezTo>
                      <a:pt x="46234" y="409"/>
                      <a:pt x="0" y="46674"/>
                      <a:pt x="0" y="103725"/>
                    </a:cubicBezTo>
                    <a:lnTo>
                      <a:pt x="0" y="465119"/>
                    </a:lnTo>
                    <a:lnTo>
                      <a:pt x="146432" y="464930"/>
                    </a:lnTo>
                    <a:lnTo>
                      <a:pt x="532910" y="464930"/>
                    </a:lnTo>
                    <a:cubicBezTo>
                      <a:pt x="661610" y="464930"/>
                      <a:pt x="767524" y="361283"/>
                      <a:pt x="767587" y="232583"/>
                    </a:cubicBezTo>
                    <a:cubicBezTo>
                      <a:pt x="767650" y="104151"/>
                      <a:pt x="663547" y="0"/>
                      <a:pt x="535130" y="0"/>
                    </a:cubicBezTo>
                    <a:close/>
                  </a:path>
                </a:pathLst>
              </a:custGeom>
              <a:solidFill>
                <a:srgbClr val="0070C0"/>
              </a:solidFill>
              <a:ln w="1574" cap="flat">
                <a:noFill/>
                <a:prstDash val="solid"/>
                <a:miter/>
              </a:ln>
            </p:spPr>
            <p:txBody>
              <a:bodyPr rtlCol="0" anchor="ctr"/>
              <a:lstStyle/>
              <a:p>
                <a:endParaRPr lang="en-US"/>
              </a:p>
            </p:txBody>
          </p:sp>
          <p:sp>
            <p:nvSpPr>
              <p:cNvPr id="19" name="TextBox 18">
                <a:extLst>
                  <a:ext uri="{FF2B5EF4-FFF2-40B4-BE49-F238E27FC236}">
                    <a16:creationId xmlns:a16="http://schemas.microsoft.com/office/drawing/2014/main" id="{C4851CCF-A2A1-748C-05D1-414B96E6711D}"/>
                  </a:ext>
                </a:extLst>
              </p:cNvPr>
              <p:cNvSpPr txBox="1"/>
              <p:nvPr/>
            </p:nvSpPr>
            <p:spPr>
              <a:xfrm>
                <a:off x="4264668" y="3286543"/>
                <a:ext cx="2594838" cy="1384995"/>
              </a:xfrm>
              <a:prstGeom prst="rect">
                <a:avLst/>
              </a:prstGeom>
              <a:noFill/>
            </p:spPr>
            <p:txBody>
              <a:bodyPr wrap="square" rtlCol="0" anchor="t">
                <a:spAutoFit/>
              </a:bodyPr>
              <a:lstStyle/>
              <a:p>
                <a:pPr marL="171450" lvl="1" indent="-171450">
                  <a:buBlip>
                    <a:blip r:embed="rId2"/>
                  </a:buBlip>
                </a:pPr>
                <a:r>
                  <a:rPr lang="en-US" sz="1200" dirty="0">
                    <a:latin typeface="Lato" panose="020F0502020204030203" pitchFamily="34" charset="0"/>
                    <a:ea typeface="Lato" panose="020F0502020204030203" pitchFamily="34" charset="0"/>
                    <a:cs typeface="Lato" panose="020F0502020204030203" pitchFamily="34" charset="0"/>
                  </a:rPr>
                  <a:t>Standardize processes, tools, and engineering practices aligned to Convatec’s US/UK culture</a:t>
                </a:r>
              </a:p>
              <a:p>
                <a:pPr marL="171450" lvl="1" indent="-171450">
                  <a:buBlip>
                    <a:blip r:embed="rId2"/>
                  </a:buBlip>
                </a:pPr>
                <a:r>
                  <a:rPr lang="en-US" sz="1200" dirty="0">
                    <a:latin typeface="Lato" panose="020F0502020204030203" pitchFamily="34" charset="0"/>
                    <a:ea typeface="Lato" panose="020F0502020204030203" pitchFamily="34" charset="0"/>
                    <a:cs typeface="Lato" panose="020F0502020204030203" pitchFamily="34" charset="0"/>
                  </a:rPr>
                  <a:t>Build leadership, governance, and operating rigor in India</a:t>
                </a:r>
              </a:p>
              <a:p>
                <a:pPr marL="171450" lvl="1" indent="-171450">
                  <a:buBlip>
                    <a:blip r:embed="rId2"/>
                  </a:buBlip>
                </a:pPr>
                <a:r>
                  <a:rPr lang="en-US" sz="1200" dirty="0">
                    <a:latin typeface="Lato" panose="020F0502020204030203" pitchFamily="34" charset="0"/>
                    <a:ea typeface="Lato" panose="020F0502020204030203" pitchFamily="34" charset="0"/>
                    <a:cs typeface="Lato" panose="020F0502020204030203" pitchFamily="34" charset="0"/>
                  </a:rPr>
                  <a:t>Establish domain ownership and delivery excellence</a:t>
                </a:r>
                <a:endParaRPr lang="en-GB" sz="1200" dirty="0">
                  <a:latin typeface="Lato" panose="020F0502020204030203" pitchFamily="34" charset="0"/>
                  <a:ea typeface="Lato" panose="020F0502020204030203" pitchFamily="34" charset="0"/>
                  <a:cs typeface="Lato" panose="020F0502020204030203" pitchFamily="34" charset="0"/>
                </a:endParaRPr>
              </a:p>
            </p:txBody>
          </p:sp>
          <p:sp>
            <p:nvSpPr>
              <p:cNvPr id="22" name="TextBox 21">
                <a:extLst>
                  <a:ext uri="{FF2B5EF4-FFF2-40B4-BE49-F238E27FC236}">
                    <a16:creationId xmlns:a16="http://schemas.microsoft.com/office/drawing/2014/main" id="{952D7FB1-AAEF-0E35-F444-51DEC515A756}"/>
                  </a:ext>
                </a:extLst>
              </p:cNvPr>
              <p:cNvSpPr txBox="1"/>
              <p:nvPr/>
            </p:nvSpPr>
            <p:spPr>
              <a:xfrm>
                <a:off x="4788508" y="2709620"/>
                <a:ext cx="1955192" cy="461665"/>
              </a:xfrm>
              <a:prstGeom prst="rect">
                <a:avLst/>
              </a:prstGeom>
              <a:noFill/>
            </p:spPr>
            <p:txBody>
              <a:bodyPr wrap="square">
                <a:spAutoFit/>
              </a:bodyPr>
              <a:lstStyle>
                <a:defPPr>
                  <a:defRPr lang="en-US"/>
                </a:defPPr>
                <a:lvl1pPr lvl="0" algn="ctr">
                  <a:defRPr sz="1200" b="1">
                    <a:solidFill>
                      <a:srgbClr val="0070C0"/>
                    </a:solidFill>
                    <a:latin typeface="Lato" panose="020F0502020204030203" pitchFamily="34" charset="0"/>
                    <a:ea typeface="Lato" panose="020F0502020204030203" pitchFamily="34" charset="0"/>
                    <a:cs typeface="Lato" panose="020F0502020204030203" pitchFamily="34" charset="0"/>
                  </a:defRPr>
                </a:lvl1pPr>
              </a:lstStyle>
              <a:p>
                <a:r>
                  <a:rPr lang="en-US" dirty="0"/>
                  <a:t>Phase 2: Standardize &amp; Operate</a:t>
                </a:r>
                <a:endParaRPr lang="en-IN" dirty="0"/>
              </a:p>
            </p:txBody>
          </p:sp>
          <p:pic>
            <p:nvPicPr>
              <p:cNvPr id="25" name="Picture 24">
                <a:extLst>
                  <a:ext uri="{FF2B5EF4-FFF2-40B4-BE49-F238E27FC236}">
                    <a16:creationId xmlns:a16="http://schemas.microsoft.com/office/drawing/2014/main" id="{AEDBAF37-52D3-5E3D-A65F-C4F9B1FE5652}"/>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100000"/>
                        </a14:imgEffect>
                      </a14:imgLayer>
                    </a14:imgProps>
                  </a:ext>
                </a:extLst>
              </a:blip>
              <a:srcRect/>
              <a:stretch/>
            </p:blipFill>
            <p:spPr>
              <a:xfrm>
                <a:off x="4222352" y="2699688"/>
                <a:ext cx="431563" cy="431563"/>
              </a:xfrm>
              <a:prstGeom prst="rect">
                <a:avLst/>
              </a:prstGeom>
            </p:spPr>
          </p:pic>
          <p:sp>
            <p:nvSpPr>
              <p:cNvPr id="32" name="Rectangle: Rounded Corners 31">
                <a:extLst>
                  <a:ext uri="{FF2B5EF4-FFF2-40B4-BE49-F238E27FC236}">
                    <a16:creationId xmlns:a16="http://schemas.microsoft.com/office/drawing/2014/main" id="{7FE2C11D-FAA0-BE43-DB7F-04F375564053}"/>
                  </a:ext>
                </a:extLst>
              </p:cNvPr>
              <p:cNvSpPr/>
              <p:nvPr/>
            </p:nvSpPr>
            <p:spPr>
              <a:xfrm>
                <a:off x="4288164" y="5090274"/>
                <a:ext cx="2584800" cy="849518"/>
              </a:xfrm>
              <a:prstGeom prst="roundRect">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F50EBCF7-303A-B99A-0FA5-10A1CEB18E22}"/>
                  </a:ext>
                </a:extLst>
              </p:cNvPr>
              <p:cNvSpPr txBox="1"/>
              <p:nvPr/>
            </p:nvSpPr>
            <p:spPr>
              <a:xfrm>
                <a:off x="4353670" y="5100428"/>
                <a:ext cx="2568081" cy="830997"/>
              </a:xfrm>
              <a:prstGeom prst="rect">
                <a:avLst/>
              </a:prstGeom>
              <a:noFill/>
            </p:spPr>
            <p:txBody>
              <a:bodyPr wrap="square">
                <a:spAutoFit/>
              </a:bodyPr>
              <a:lstStyle/>
              <a:p>
                <a:pPr>
                  <a:buNone/>
                </a:pPr>
                <a:r>
                  <a:rPr lang="en-US" sz="1200" b="1" dirty="0">
                    <a:latin typeface="Lato" panose="020F0502020204030203" pitchFamily="34" charset="0"/>
                    <a:ea typeface="Lato" panose="020F0502020204030203" pitchFamily="34" charset="0"/>
                    <a:cs typeface="Lato" panose="020F0502020204030203" pitchFamily="34" charset="0"/>
                  </a:rPr>
                  <a:t>Outcome:</a:t>
                </a:r>
                <a:r>
                  <a:rPr lang="en-US" sz="1200" dirty="0">
                    <a:latin typeface="Lato" panose="020F0502020204030203" pitchFamily="34" charset="0"/>
                    <a:ea typeface="Lato" panose="020F0502020204030203" pitchFamily="34" charset="0"/>
                    <a:cs typeface="Lato" panose="020F0502020204030203" pitchFamily="34" charset="0"/>
                  </a:rPr>
                  <a:t> </a:t>
                </a:r>
              </a:p>
              <a:p>
                <a:pPr>
                  <a:buNone/>
                </a:pPr>
                <a:r>
                  <a:rPr lang="en-US" sz="1200" dirty="0">
                    <a:latin typeface="Lato" panose="020F0502020204030203" pitchFamily="34" charset="0"/>
                    <a:ea typeface="Lato" panose="020F0502020204030203" pitchFamily="34" charset="0"/>
                    <a:cs typeface="Lato" panose="020F0502020204030203" pitchFamily="34" charset="0"/>
                  </a:rPr>
                  <a:t>Mature India delivery organization operating as an extension of Convatec’s core teams</a:t>
                </a:r>
              </a:p>
            </p:txBody>
          </p:sp>
        </p:grpSp>
        <p:grpSp>
          <p:nvGrpSpPr>
            <p:cNvPr id="38" name="Group 37">
              <a:extLst>
                <a:ext uri="{FF2B5EF4-FFF2-40B4-BE49-F238E27FC236}">
                  <a16:creationId xmlns:a16="http://schemas.microsoft.com/office/drawing/2014/main" id="{DF821D2D-33B1-AA07-9E80-BC721E27F47A}"/>
                </a:ext>
              </a:extLst>
            </p:cNvPr>
            <p:cNvGrpSpPr/>
            <p:nvPr/>
          </p:nvGrpSpPr>
          <p:grpSpPr>
            <a:xfrm>
              <a:off x="7484857" y="2536425"/>
              <a:ext cx="2801505" cy="3389052"/>
              <a:chOff x="7130527" y="2565978"/>
              <a:chExt cx="2801505" cy="3389052"/>
            </a:xfrm>
          </p:grpSpPr>
          <p:sp>
            <p:nvSpPr>
              <p:cNvPr id="14" name="Freeform: Shape 30">
                <a:extLst>
                  <a:ext uri="{FF2B5EF4-FFF2-40B4-BE49-F238E27FC236}">
                    <a16:creationId xmlns:a16="http://schemas.microsoft.com/office/drawing/2014/main" id="{689BFA00-2AA3-4A22-AF29-91B40564F80C}"/>
                  </a:ext>
                </a:extLst>
              </p:cNvPr>
              <p:cNvSpPr/>
              <p:nvPr/>
            </p:nvSpPr>
            <p:spPr>
              <a:xfrm>
                <a:off x="7280832" y="2565978"/>
                <a:ext cx="2594407" cy="3389052"/>
              </a:xfrm>
              <a:custGeom>
                <a:avLst/>
                <a:gdLst>
                  <a:gd name="connsiteX0" fmla="*/ 1685401 w 1794101"/>
                  <a:gd name="connsiteY0" fmla="*/ 0 h 1794100"/>
                  <a:gd name="connsiteX1" fmla="*/ 1794102 w 1794101"/>
                  <a:gd name="connsiteY1" fmla="*/ 108701 h 1794100"/>
                  <a:gd name="connsiteX2" fmla="*/ 1794102 w 1794101"/>
                  <a:gd name="connsiteY2" fmla="*/ 1685400 h 1794100"/>
                  <a:gd name="connsiteX3" fmla="*/ 1685401 w 1794101"/>
                  <a:gd name="connsiteY3" fmla="*/ 1794101 h 1794100"/>
                  <a:gd name="connsiteX4" fmla="*/ 108702 w 1794101"/>
                  <a:gd name="connsiteY4" fmla="*/ 1794101 h 1794100"/>
                  <a:gd name="connsiteX5" fmla="*/ 1 w 1794101"/>
                  <a:gd name="connsiteY5" fmla="*/ 1685400 h 1794100"/>
                  <a:gd name="connsiteX6" fmla="*/ 1 w 1794101"/>
                  <a:gd name="connsiteY6" fmla="*/ 108702 h 1794100"/>
                  <a:gd name="connsiteX7" fmla="*/ 108702 w 1794101"/>
                  <a:gd name="connsiteY7" fmla="*/ 0 h 1794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4101" h="1794100">
                    <a:moveTo>
                      <a:pt x="1685401" y="0"/>
                    </a:moveTo>
                    <a:cubicBezTo>
                      <a:pt x="1745435" y="0"/>
                      <a:pt x="1794102" y="48667"/>
                      <a:pt x="1794102" y="108701"/>
                    </a:cubicBezTo>
                    <a:lnTo>
                      <a:pt x="1794102" y="1685400"/>
                    </a:lnTo>
                    <a:cubicBezTo>
                      <a:pt x="1794102" y="1745434"/>
                      <a:pt x="1745435" y="1794101"/>
                      <a:pt x="1685401" y="1794101"/>
                    </a:cubicBezTo>
                    <a:lnTo>
                      <a:pt x="108702" y="1794101"/>
                    </a:lnTo>
                    <a:cubicBezTo>
                      <a:pt x="48668" y="1794101"/>
                      <a:pt x="1" y="1745434"/>
                      <a:pt x="1" y="1685400"/>
                    </a:cubicBezTo>
                    <a:lnTo>
                      <a:pt x="1" y="108702"/>
                    </a:lnTo>
                    <a:cubicBezTo>
                      <a:pt x="1" y="48667"/>
                      <a:pt x="48668" y="0"/>
                      <a:pt x="108702" y="0"/>
                    </a:cubicBezTo>
                    <a:close/>
                  </a:path>
                </a:pathLst>
              </a:custGeom>
              <a:solidFill>
                <a:srgbClr val="FFFFFF"/>
              </a:solidFill>
              <a:ln w="3148" cap="flat">
                <a:solidFill>
                  <a:srgbClr val="00B0F0"/>
                </a:solidFill>
                <a:prstDash val="solid"/>
                <a:miter/>
              </a:ln>
            </p:spPr>
            <p:txBody>
              <a:bodyPr rtlCol="0" anchor="ctr"/>
              <a:lstStyle/>
              <a:p>
                <a:endParaRPr lang="en-US"/>
              </a:p>
            </p:txBody>
          </p:sp>
          <p:sp>
            <p:nvSpPr>
              <p:cNvPr id="15" name="Freeform: Shape 31">
                <a:extLst>
                  <a:ext uri="{FF2B5EF4-FFF2-40B4-BE49-F238E27FC236}">
                    <a16:creationId xmlns:a16="http://schemas.microsoft.com/office/drawing/2014/main" id="{4E6D2D9F-20C6-69DA-0852-9B29886B4C39}"/>
                  </a:ext>
                </a:extLst>
              </p:cNvPr>
              <p:cNvSpPr/>
              <p:nvPr/>
            </p:nvSpPr>
            <p:spPr>
              <a:xfrm>
                <a:off x="7221797" y="2681909"/>
                <a:ext cx="672632" cy="459843"/>
              </a:xfrm>
              <a:custGeom>
                <a:avLst/>
                <a:gdLst>
                  <a:gd name="connsiteX0" fmla="*/ 442710 w 672632"/>
                  <a:gd name="connsiteY0" fmla="*/ 0 h 459843"/>
                  <a:gd name="connsiteX1" fmla="*/ 0 w 672632"/>
                  <a:gd name="connsiteY1" fmla="*/ 0 h 459843"/>
                  <a:gd name="connsiteX2" fmla="*/ 0 w 672632"/>
                  <a:gd name="connsiteY2" fmla="*/ 459843 h 459843"/>
                  <a:gd name="connsiteX3" fmla="*/ 442710 w 672632"/>
                  <a:gd name="connsiteY3" fmla="*/ 459843 h 459843"/>
                  <a:gd name="connsiteX4" fmla="*/ 672633 w 672632"/>
                  <a:gd name="connsiteY4" fmla="*/ 229922 h 459843"/>
                  <a:gd name="connsiteX5" fmla="*/ 442710 w 672632"/>
                  <a:gd name="connsiteY5" fmla="*/ 0 h 459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2632" h="459843">
                    <a:moveTo>
                      <a:pt x="442710" y="0"/>
                    </a:moveTo>
                    <a:lnTo>
                      <a:pt x="0" y="0"/>
                    </a:lnTo>
                    <a:lnTo>
                      <a:pt x="0" y="459843"/>
                    </a:lnTo>
                    <a:lnTo>
                      <a:pt x="442710" y="459843"/>
                    </a:lnTo>
                    <a:cubicBezTo>
                      <a:pt x="569694" y="459843"/>
                      <a:pt x="672633" y="356905"/>
                      <a:pt x="672633" y="229922"/>
                    </a:cubicBezTo>
                    <a:cubicBezTo>
                      <a:pt x="672633" y="102938"/>
                      <a:pt x="569694" y="0"/>
                      <a:pt x="442710" y="0"/>
                    </a:cubicBezTo>
                    <a:close/>
                  </a:path>
                </a:pathLst>
              </a:custGeom>
              <a:solidFill>
                <a:srgbClr val="4D4D4D"/>
              </a:solidFill>
              <a:ln w="1574" cap="flat">
                <a:noFill/>
                <a:prstDash val="solid"/>
                <a:miter/>
              </a:ln>
            </p:spPr>
            <p:txBody>
              <a:bodyPr rtlCol="0" anchor="ctr"/>
              <a:lstStyle/>
              <a:p>
                <a:endParaRPr lang="en-US"/>
              </a:p>
            </p:txBody>
          </p:sp>
          <p:sp>
            <p:nvSpPr>
              <p:cNvPr id="16" name="Freeform: Shape 32">
                <a:extLst>
                  <a:ext uri="{FF2B5EF4-FFF2-40B4-BE49-F238E27FC236}">
                    <a16:creationId xmlns:a16="http://schemas.microsoft.com/office/drawing/2014/main" id="{F84FC57D-87AD-439D-8F12-E2CA7C1570D8}"/>
                  </a:ext>
                </a:extLst>
              </p:cNvPr>
              <p:cNvSpPr/>
              <p:nvPr/>
            </p:nvSpPr>
            <p:spPr>
              <a:xfrm>
                <a:off x="7130527" y="3144287"/>
                <a:ext cx="149990" cy="107315"/>
              </a:xfrm>
              <a:custGeom>
                <a:avLst/>
                <a:gdLst>
                  <a:gd name="connsiteX0" fmla="*/ 0 w 149990"/>
                  <a:gd name="connsiteY0" fmla="*/ 189 h 107315"/>
                  <a:gd name="connsiteX1" fmla="*/ 149502 w 149990"/>
                  <a:gd name="connsiteY1" fmla="*/ 107316 h 107315"/>
                  <a:gd name="connsiteX2" fmla="*/ 149990 w 149990"/>
                  <a:gd name="connsiteY2" fmla="*/ 0 h 107315"/>
                  <a:gd name="connsiteX3" fmla="*/ 15 w 149990"/>
                  <a:gd name="connsiteY3" fmla="*/ 189 h 107315"/>
                </a:gdLst>
                <a:ahLst/>
                <a:cxnLst>
                  <a:cxn ang="0">
                    <a:pos x="connsiteX0" y="connsiteY0"/>
                  </a:cxn>
                  <a:cxn ang="0">
                    <a:pos x="connsiteX1" y="connsiteY1"/>
                  </a:cxn>
                  <a:cxn ang="0">
                    <a:pos x="connsiteX2" y="connsiteY2"/>
                  </a:cxn>
                  <a:cxn ang="0">
                    <a:pos x="connsiteX3" y="connsiteY3"/>
                  </a:cxn>
                </a:cxnLst>
                <a:rect l="l" t="t" r="r" b="b"/>
                <a:pathLst>
                  <a:path w="149990" h="107315">
                    <a:moveTo>
                      <a:pt x="0" y="189"/>
                    </a:moveTo>
                    <a:cubicBezTo>
                      <a:pt x="30800" y="97946"/>
                      <a:pt x="149502" y="107316"/>
                      <a:pt x="149502" y="107316"/>
                    </a:cubicBezTo>
                    <a:lnTo>
                      <a:pt x="149990" y="0"/>
                    </a:lnTo>
                    <a:lnTo>
                      <a:pt x="15" y="189"/>
                    </a:lnTo>
                    <a:close/>
                  </a:path>
                </a:pathLst>
              </a:custGeom>
              <a:solidFill>
                <a:srgbClr val="247BD1"/>
              </a:solidFill>
              <a:ln w="1574" cap="flat">
                <a:noFill/>
                <a:prstDash val="solid"/>
                <a:miter/>
              </a:ln>
            </p:spPr>
            <p:txBody>
              <a:bodyPr rtlCol="0" anchor="ctr"/>
              <a:lstStyle/>
              <a:p>
                <a:endParaRPr lang="en-US"/>
              </a:p>
            </p:txBody>
          </p:sp>
          <p:sp>
            <p:nvSpPr>
              <p:cNvPr id="17" name="Freeform: Shape 33">
                <a:extLst>
                  <a:ext uri="{FF2B5EF4-FFF2-40B4-BE49-F238E27FC236}">
                    <a16:creationId xmlns:a16="http://schemas.microsoft.com/office/drawing/2014/main" id="{32C37CCE-54B7-A91C-392A-F355261DFADB}"/>
                  </a:ext>
                </a:extLst>
              </p:cNvPr>
              <p:cNvSpPr/>
              <p:nvPr/>
            </p:nvSpPr>
            <p:spPr>
              <a:xfrm>
                <a:off x="7130527" y="2679358"/>
                <a:ext cx="767586" cy="465118"/>
              </a:xfrm>
              <a:custGeom>
                <a:avLst/>
                <a:gdLst>
                  <a:gd name="connsiteX0" fmla="*/ 535146 w 767586"/>
                  <a:gd name="connsiteY0" fmla="*/ 16 h 465118"/>
                  <a:gd name="connsiteX1" fmla="*/ 103284 w 767586"/>
                  <a:gd name="connsiteY1" fmla="*/ 362 h 465118"/>
                  <a:gd name="connsiteX2" fmla="*/ 0 w 767586"/>
                  <a:gd name="connsiteY2" fmla="*/ 103725 h 465118"/>
                  <a:gd name="connsiteX3" fmla="*/ 0 w 767586"/>
                  <a:gd name="connsiteY3" fmla="*/ 465119 h 465118"/>
                  <a:gd name="connsiteX4" fmla="*/ 146431 w 767586"/>
                  <a:gd name="connsiteY4" fmla="*/ 464930 h 465118"/>
                  <a:gd name="connsiteX5" fmla="*/ 532910 w 767586"/>
                  <a:gd name="connsiteY5" fmla="*/ 464930 h 465118"/>
                  <a:gd name="connsiteX6" fmla="*/ 767587 w 767586"/>
                  <a:gd name="connsiteY6" fmla="*/ 232583 h 465118"/>
                  <a:gd name="connsiteX7" fmla="*/ 535129 w 767586"/>
                  <a:gd name="connsiteY7" fmla="*/ 0 h 46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7586" h="465118">
                    <a:moveTo>
                      <a:pt x="535146" y="16"/>
                    </a:moveTo>
                    <a:lnTo>
                      <a:pt x="103284" y="362"/>
                    </a:lnTo>
                    <a:cubicBezTo>
                      <a:pt x="46233" y="409"/>
                      <a:pt x="0" y="46674"/>
                      <a:pt x="0" y="103725"/>
                    </a:cubicBezTo>
                    <a:lnTo>
                      <a:pt x="0" y="465119"/>
                    </a:lnTo>
                    <a:lnTo>
                      <a:pt x="146431" y="464930"/>
                    </a:lnTo>
                    <a:lnTo>
                      <a:pt x="532910" y="464930"/>
                    </a:lnTo>
                    <a:cubicBezTo>
                      <a:pt x="661610" y="464930"/>
                      <a:pt x="767524" y="361283"/>
                      <a:pt x="767587" y="232583"/>
                    </a:cubicBezTo>
                    <a:cubicBezTo>
                      <a:pt x="767650" y="104151"/>
                      <a:pt x="663547" y="0"/>
                      <a:pt x="535129" y="0"/>
                    </a:cubicBezTo>
                    <a:close/>
                  </a:path>
                </a:pathLst>
              </a:custGeom>
              <a:solidFill>
                <a:srgbClr val="0070C0"/>
              </a:solidFill>
              <a:ln w="1574" cap="flat">
                <a:noFill/>
                <a:prstDash val="solid"/>
                <a:miter/>
              </a:ln>
            </p:spPr>
            <p:txBody>
              <a:bodyPr rtlCol="0" anchor="ctr"/>
              <a:lstStyle/>
              <a:p>
                <a:endParaRPr lang="en-US"/>
              </a:p>
            </p:txBody>
          </p:sp>
          <p:sp>
            <p:nvSpPr>
              <p:cNvPr id="20" name="TextBox 19">
                <a:extLst>
                  <a:ext uri="{FF2B5EF4-FFF2-40B4-BE49-F238E27FC236}">
                    <a16:creationId xmlns:a16="http://schemas.microsoft.com/office/drawing/2014/main" id="{056C13A6-D26B-1BD1-9E71-4114AF80B853}"/>
                  </a:ext>
                </a:extLst>
              </p:cNvPr>
              <p:cNvSpPr txBox="1"/>
              <p:nvPr/>
            </p:nvSpPr>
            <p:spPr>
              <a:xfrm>
                <a:off x="7280682" y="3286543"/>
                <a:ext cx="2594838" cy="1569660"/>
              </a:xfrm>
              <a:prstGeom prst="rect">
                <a:avLst/>
              </a:prstGeom>
              <a:noFill/>
            </p:spPr>
            <p:txBody>
              <a:bodyPr wrap="square" rtlCol="0" anchor="t">
                <a:spAutoFit/>
              </a:bodyPr>
              <a:lstStyle/>
              <a:p>
                <a:pPr marL="171450" lvl="1" indent="-171450">
                  <a:buBlip>
                    <a:blip r:embed="rId2"/>
                  </a:buBlip>
                </a:pPr>
                <a:r>
                  <a:rPr lang="en-US" sz="1200" dirty="0">
                    <a:latin typeface="Lato" panose="020F0502020204030203" pitchFamily="34" charset="0"/>
                    <a:ea typeface="Lato" panose="020F0502020204030203" pitchFamily="34" charset="0"/>
                    <a:cs typeface="Lato" panose="020F0502020204030203" pitchFamily="34" charset="0"/>
                  </a:rPr>
                  <a:t>Structured option to transition the India delivery unit to Convatec</a:t>
                </a:r>
              </a:p>
              <a:p>
                <a:pPr marL="171450" lvl="1" indent="-171450">
                  <a:buBlip>
                    <a:blip r:embed="rId2"/>
                  </a:buBlip>
                </a:pPr>
                <a:r>
                  <a:rPr lang="en-US" sz="1200" dirty="0">
                    <a:latin typeface="Lato" panose="020F0502020204030203" pitchFamily="34" charset="0"/>
                    <a:ea typeface="Lato" panose="020F0502020204030203" pitchFamily="34" charset="0"/>
                    <a:cs typeface="Lato" panose="020F0502020204030203" pitchFamily="34" charset="0"/>
                  </a:rPr>
                  <a:t>Knowledge, IP, and leadership transfer with minimal business impact</a:t>
                </a:r>
              </a:p>
              <a:p>
                <a:pPr marL="171450" lvl="1" indent="-171450">
                  <a:buBlip>
                    <a:blip r:embed="rId2"/>
                  </a:buBlip>
                </a:pPr>
                <a:r>
                  <a:rPr lang="en-US" sz="1200" dirty="0">
                    <a:latin typeface="Lato" panose="020F0502020204030203" pitchFamily="34" charset="0"/>
                    <a:ea typeface="Lato" panose="020F0502020204030203" pitchFamily="34" charset="0"/>
                    <a:cs typeface="Lato" panose="020F0502020204030203" pitchFamily="34" charset="0"/>
                  </a:rPr>
                  <a:t>Flexible BOT exit model based on Convatec’s strategic direction</a:t>
                </a:r>
                <a:endParaRPr lang="en-GB" sz="1200" dirty="0">
                  <a:latin typeface="Lato" panose="020F0502020204030203" pitchFamily="34" charset="0"/>
                  <a:ea typeface="Lato" panose="020F0502020204030203" pitchFamily="34" charset="0"/>
                  <a:cs typeface="Lato" panose="020F0502020204030203" pitchFamily="34" charset="0"/>
                </a:endParaRPr>
              </a:p>
            </p:txBody>
          </p:sp>
          <p:sp>
            <p:nvSpPr>
              <p:cNvPr id="23" name="TextBox 22">
                <a:extLst>
                  <a:ext uri="{FF2B5EF4-FFF2-40B4-BE49-F238E27FC236}">
                    <a16:creationId xmlns:a16="http://schemas.microsoft.com/office/drawing/2014/main" id="{C459152D-8310-191F-ECE4-20C29EFCE843}"/>
                  </a:ext>
                </a:extLst>
              </p:cNvPr>
              <p:cNvSpPr txBox="1"/>
              <p:nvPr/>
            </p:nvSpPr>
            <p:spPr>
              <a:xfrm>
                <a:off x="7814000" y="2709620"/>
                <a:ext cx="1947220" cy="461665"/>
              </a:xfrm>
              <a:prstGeom prst="rect">
                <a:avLst/>
              </a:prstGeom>
              <a:noFill/>
            </p:spPr>
            <p:txBody>
              <a:bodyPr wrap="square">
                <a:spAutoFit/>
              </a:bodyPr>
              <a:lstStyle>
                <a:defPPr>
                  <a:defRPr lang="en-US"/>
                </a:defPPr>
                <a:lvl1pPr lvl="0" algn="ctr">
                  <a:defRPr sz="1200" b="1">
                    <a:solidFill>
                      <a:srgbClr val="0070C0"/>
                    </a:solidFill>
                    <a:latin typeface="Lato" panose="020F0502020204030203" pitchFamily="34" charset="0"/>
                    <a:ea typeface="Lato" panose="020F0502020204030203" pitchFamily="34" charset="0"/>
                    <a:cs typeface="Lato" panose="020F0502020204030203" pitchFamily="34" charset="0"/>
                  </a:defRPr>
                </a:lvl1pPr>
              </a:lstStyle>
              <a:p>
                <a:r>
                  <a:rPr lang="en-US" dirty="0"/>
                  <a:t>Phase 3: Transfer Option – India CoE</a:t>
                </a:r>
                <a:endParaRPr lang="en-IN" dirty="0"/>
              </a:p>
            </p:txBody>
          </p:sp>
          <p:pic>
            <p:nvPicPr>
              <p:cNvPr id="26" name="Picture 25">
                <a:extLst>
                  <a:ext uri="{FF2B5EF4-FFF2-40B4-BE49-F238E27FC236}">
                    <a16:creationId xmlns:a16="http://schemas.microsoft.com/office/drawing/2014/main" id="{E1C126F1-F24D-75EB-A36A-6F607A862728}"/>
                  </a:ext>
                </a:extLst>
              </p:cNvPr>
              <p:cNvPicPr>
                <a:picLocks noChangeAspect="1"/>
              </p:cNvPicPr>
              <p:nvPr/>
            </p:nvPicPr>
            <p:blipFill>
              <a:blip r:embed="rId7">
                <a:extLst>
                  <a:ext uri="{BEBA8EAE-BF5A-486C-A8C5-ECC9F3942E4B}">
                    <a14:imgProps xmlns:a14="http://schemas.microsoft.com/office/drawing/2010/main">
                      <a14:imgLayer r:embed="rId8">
                        <a14:imgEffect>
                          <a14:brightnessContrast bright="100000"/>
                        </a14:imgEffect>
                      </a14:imgLayer>
                    </a14:imgProps>
                  </a:ext>
                </a:extLst>
              </a:blip>
              <a:srcRect/>
              <a:stretch/>
            </p:blipFill>
            <p:spPr>
              <a:xfrm>
                <a:off x="7259796" y="2717271"/>
                <a:ext cx="382870" cy="382870"/>
              </a:xfrm>
              <a:prstGeom prst="rect">
                <a:avLst/>
              </a:prstGeom>
            </p:spPr>
          </p:pic>
          <p:sp>
            <p:nvSpPr>
              <p:cNvPr id="34" name="Rectangle: Rounded Corners 33">
                <a:extLst>
                  <a:ext uri="{FF2B5EF4-FFF2-40B4-BE49-F238E27FC236}">
                    <a16:creationId xmlns:a16="http://schemas.microsoft.com/office/drawing/2014/main" id="{F3E2E968-02EE-99B6-0773-7B23DF29943D}"/>
                  </a:ext>
                </a:extLst>
              </p:cNvPr>
              <p:cNvSpPr/>
              <p:nvPr/>
            </p:nvSpPr>
            <p:spPr>
              <a:xfrm>
                <a:off x="7298445" y="5090274"/>
                <a:ext cx="2584800" cy="849518"/>
              </a:xfrm>
              <a:prstGeom prst="roundRect">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TextBox 34">
                <a:extLst>
                  <a:ext uri="{FF2B5EF4-FFF2-40B4-BE49-F238E27FC236}">
                    <a16:creationId xmlns:a16="http://schemas.microsoft.com/office/drawing/2014/main" id="{AC651EB9-11C7-FB65-007F-4E88C2ED5609}"/>
                  </a:ext>
                </a:extLst>
              </p:cNvPr>
              <p:cNvSpPr txBox="1"/>
              <p:nvPr/>
            </p:nvSpPr>
            <p:spPr>
              <a:xfrm>
                <a:off x="7363951" y="5123288"/>
                <a:ext cx="2568081" cy="646331"/>
              </a:xfrm>
              <a:prstGeom prst="rect">
                <a:avLst/>
              </a:prstGeom>
              <a:noFill/>
            </p:spPr>
            <p:txBody>
              <a:bodyPr wrap="square">
                <a:spAutoFit/>
              </a:bodyPr>
              <a:lstStyle/>
              <a:p>
                <a:pPr>
                  <a:buNone/>
                </a:pPr>
                <a:r>
                  <a:rPr lang="en-US" sz="1200" b="1" dirty="0">
                    <a:latin typeface="Lato" panose="020F0502020204030203" pitchFamily="34" charset="0"/>
                    <a:ea typeface="Lato" panose="020F0502020204030203" pitchFamily="34" charset="0"/>
                    <a:cs typeface="Lato" panose="020F0502020204030203" pitchFamily="34" charset="0"/>
                  </a:rPr>
                  <a:t>Outcome:</a:t>
                </a:r>
                <a:r>
                  <a:rPr lang="en-US" sz="1200" dirty="0">
                    <a:latin typeface="Lato" panose="020F0502020204030203" pitchFamily="34" charset="0"/>
                    <a:ea typeface="Lato" panose="020F0502020204030203" pitchFamily="34" charset="0"/>
                    <a:cs typeface="Lato" panose="020F0502020204030203" pitchFamily="34" charset="0"/>
                  </a:rPr>
                  <a:t> </a:t>
                </a:r>
              </a:p>
              <a:p>
                <a:pPr>
                  <a:buNone/>
                </a:pPr>
                <a:r>
                  <a:rPr lang="en-US" sz="1200" dirty="0">
                    <a:latin typeface="Lato" panose="020F0502020204030203" pitchFamily="34" charset="0"/>
                    <a:ea typeface="Lato" panose="020F0502020204030203" pitchFamily="34" charset="0"/>
                    <a:cs typeface="Lato" panose="020F0502020204030203" pitchFamily="34" charset="0"/>
                  </a:rPr>
                  <a:t>Convatec-owned India Center of Excellence</a:t>
                </a:r>
              </a:p>
            </p:txBody>
          </p:sp>
        </p:grpSp>
      </p:grpSp>
    </p:spTree>
    <p:extLst>
      <p:ext uri="{BB962C8B-B14F-4D97-AF65-F5344CB8AC3E}">
        <p14:creationId xmlns:p14="http://schemas.microsoft.com/office/powerpoint/2010/main" val="17424112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3E420-95A8-A5F9-A244-4CAD42EFB28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41342BE-1E1F-594E-3A94-E1BE5126D94A}"/>
              </a:ext>
            </a:extLst>
          </p:cNvPr>
          <p:cNvSpPr>
            <a:spLocks noGrp="1"/>
          </p:cNvSpPr>
          <p:nvPr>
            <p:ph type="title"/>
          </p:nvPr>
        </p:nvSpPr>
        <p:spPr/>
        <p:txBody>
          <a:bodyPr/>
          <a:lstStyle/>
          <a:p>
            <a:r>
              <a:rPr lang="en-US"/>
              <a:t>Optional Services</a:t>
            </a:r>
          </a:p>
        </p:txBody>
      </p:sp>
      <p:sp>
        <p:nvSpPr>
          <p:cNvPr id="6" name="Rectangle: Top Corners Rounded 5">
            <a:extLst>
              <a:ext uri="{FF2B5EF4-FFF2-40B4-BE49-F238E27FC236}">
                <a16:creationId xmlns:a16="http://schemas.microsoft.com/office/drawing/2014/main" id="{3E43BC75-6FB3-6C30-9BBA-1EEB17BCFF5E}"/>
              </a:ext>
            </a:extLst>
          </p:cNvPr>
          <p:cNvSpPr/>
          <p:nvPr/>
        </p:nvSpPr>
        <p:spPr>
          <a:xfrm rot="10800000">
            <a:off x="385925" y="2500073"/>
            <a:ext cx="2692366" cy="3813640"/>
          </a:xfrm>
          <a:prstGeom prst="round2SameRect">
            <a:avLst>
              <a:gd name="adj1" fmla="val 7027"/>
              <a:gd name="adj2" fmla="val 0"/>
            </a:avLst>
          </a:prstGeom>
          <a:solidFill>
            <a:schemeClr val="bg1"/>
          </a:solid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Single Corner Snipped 1">
            <a:extLst>
              <a:ext uri="{FF2B5EF4-FFF2-40B4-BE49-F238E27FC236}">
                <a16:creationId xmlns:a16="http://schemas.microsoft.com/office/drawing/2014/main" id="{4DCA16A5-A0E1-F2A3-C6B1-69BFFF28D9D9}"/>
              </a:ext>
            </a:extLst>
          </p:cNvPr>
          <p:cNvSpPr/>
          <p:nvPr/>
        </p:nvSpPr>
        <p:spPr>
          <a:xfrm>
            <a:off x="385924" y="1651107"/>
            <a:ext cx="2692366" cy="788063"/>
          </a:xfrm>
          <a:prstGeom prst="snip1Rect">
            <a:avLst>
              <a:gd name="adj" fmla="val 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defTabSz="914400" rtl="0" eaLnBrk="1" fontAlgn="auto" latinLnBrk="0" hangingPunct="1">
              <a:spcBef>
                <a:spcPts val="0"/>
              </a:spcBef>
              <a:spcAft>
                <a:spcPts val="0"/>
              </a:spcAft>
              <a:buClrTx/>
              <a:buSzTx/>
              <a:tabLst/>
              <a:defRPr/>
            </a:pPr>
            <a:r>
              <a:rPr lang="en-US" sz="1400" b="1" kern="1200">
                <a:solidFill>
                  <a:schemeClr val="bg1"/>
                </a:solidFill>
                <a:latin typeface="Lato" panose="020F0502020204030203" pitchFamily="34" charset="0"/>
              </a:rPr>
              <a:t>AI-Powered Analytics &amp; Reporting</a:t>
            </a:r>
          </a:p>
        </p:txBody>
      </p:sp>
      <p:sp>
        <p:nvSpPr>
          <p:cNvPr id="9" name="Rectangle 8">
            <a:extLst>
              <a:ext uri="{FF2B5EF4-FFF2-40B4-BE49-F238E27FC236}">
                <a16:creationId xmlns:a16="http://schemas.microsoft.com/office/drawing/2014/main" id="{C8BE3669-263D-C38C-AAA3-DD92D6BA7A71}"/>
              </a:ext>
            </a:extLst>
          </p:cNvPr>
          <p:cNvSpPr/>
          <p:nvPr/>
        </p:nvSpPr>
        <p:spPr>
          <a:xfrm>
            <a:off x="472163" y="2594667"/>
            <a:ext cx="2519889" cy="756000"/>
          </a:xfrm>
          <a:prstGeom prst="rect">
            <a:avLst/>
          </a:prstGeom>
          <a:solidFill>
            <a:schemeClr val="accent1">
              <a:lumMod val="20000"/>
              <a:lumOff val="80000"/>
            </a:schemeClr>
          </a:solidFill>
          <a:ln w="12700">
            <a:solidFill>
              <a:srgbClr val="00B1F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marL="88900">
              <a:buClr>
                <a:srgbClr val="E44C25"/>
              </a:buClr>
              <a:defRPr/>
            </a:pPr>
            <a:r>
              <a:rPr lang="en-US" sz="1400">
                <a:solidFill>
                  <a:schemeClr val="bg2">
                    <a:lumMod val="25000"/>
                  </a:schemeClr>
                </a:solidFill>
                <a:latin typeface="Lato" panose="020F0502020204030203" pitchFamily="34" charset="0"/>
                <a:ea typeface="Lato" panose="020F0502020204030203" pitchFamily="34" charset="0"/>
                <a:cs typeface="Lato" panose="020F0502020204030203" pitchFamily="34" charset="0"/>
              </a:rPr>
              <a:t>Enable advanced data interpretation to assist decision-makers</a:t>
            </a:r>
          </a:p>
        </p:txBody>
      </p:sp>
      <p:sp>
        <p:nvSpPr>
          <p:cNvPr id="10" name="TextBox 9">
            <a:extLst>
              <a:ext uri="{FF2B5EF4-FFF2-40B4-BE49-F238E27FC236}">
                <a16:creationId xmlns:a16="http://schemas.microsoft.com/office/drawing/2014/main" id="{BC2A4ED6-213B-FD6E-FE0F-F267F2EF270D}"/>
              </a:ext>
            </a:extLst>
          </p:cNvPr>
          <p:cNvSpPr txBox="1"/>
          <p:nvPr/>
        </p:nvSpPr>
        <p:spPr>
          <a:xfrm>
            <a:off x="472163" y="3702056"/>
            <a:ext cx="2519889" cy="1938992"/>
          </a:xfrm>
          <a:prstGeom prst="rect">
            <a:avLst/>
          </a:prstGeom>
          <a:noFill/>
        </p:spPr>
        <p:txBody>
          <a:bodyPr wrap="square" rtlCol="0">
            <a:spAutoFit/>
          </a:bodyPr>
          <a:lstStyle/>
          <a:p>
            <a:pPr marL="374650" marR="0" lvl="0" indent="-285750" algn="l" defTabSz="914400" rtl="0" eaLnBrk="1" fontAlgn="auto" latinLnBrk="0" hangingPunct="1">
              <a:lnSpc>
                <a:spcPct val="100000"/>
              </a:lnSpc>
              <a:spcBef>
                <a:spcPts val="0"/>
              </a:spcBef>
              <a:spcAft>
                <a:spcPts val="0"/>
              </a:spcAft>
              <a:buClr>
                <a:srgbClr val="E44C25"/>
              </a:buClr>
              <a:buSzTx/>
              <a:buBlip>
                <a:blip r:embed="rId2"/>
              </a:buBlip>
              <a:tabLst/>
              <a:defRPr/>
            </a:pPr>
            <a:r>
              <a:rPr lang="en-US" sz="1200" kern="1200">
                <a:latin typeface="Lato" panose="020F0502020204030203" pitchFamily="34" charset="0"/>
                <a:ea typeface="Lato" panose="020F0502020204030203" pitchFamily="34" charset="0"/>
                <a:cs typeface="Lato" panose="020F0502020204030203" pitchFamily="34" charset="0"/>
              </a:rPr>
              <a:t>Anomaly Detection (e.g., identifying inconsistencies in measurement data).</a:t>
            </a:r>
          </a:p>
          <a:p>
            <a:pPr marL="374650" marR="0" lvl="0" indent="-285750" algn="l" defTabSz="914400" rtl="0" eaLnBrk="1" fontAlgn="auto" latinLnBrk="0" hangingPunct="1">
              <a:lnSpc>
                <a:spcPct val="100000"/>
              </a:lnSpc>
              <a:spcBef>
                <a:spcPts val="0"/>
              </a:spcBef>
              <a:spcAft>
                <a:spcPts val="0"/>
              </a:spcAft>
              <a:buClr>
                <a:srgbClr val="E44C25"/>
              </a:buClr>
              <a:buSzTx/>
              <a:buBlip>
                <a:blip r:embed="rId2"/>
              </a:buBlip>
              <a:tabLst/>
              <a:defRPr/>
            </a:pPr>
            <a:endParaRPr lang="en-US" sz="1200" kern="1200">
              <a:latin typeface="Lato" panose="020F0502020204030203" pitchFamily="34" charset="0"/>
              <a:ea typeface="Lato" panose="020F0502020204030203" pitchFamily="34" charset="0"/>
              <a:cs typeface="Lato" panose="020F0502020204030203" pitchFamily="34" charset="0"/>
            </a:endParaRPr>
          </a:p>
          <a:p>
            <a:pPr marL="374650" marR="0" lvl="0" indent="-285750" algn="l" defTabSz="914400" rtl="0" eaLnBrk="1" fontAlgn="auto" latinLnBrk="0" hangingPunct="1">
              <a:lnSpc>
                <a:spcPct val="100000"/>
              </a:lnSpc>
              <a:spcBef>
                <a:spcPts val="0"/>
              </a:spcBef>
              <a:spcAft>
                <a:spcPts val="0"/>
              </a:spcAft>
              <a:buClr>
                <a:srgbClr val="E44C25"/>
              </a:buClr>
              <a:buSzTx/>
              <a:buBlip>
                <a:blip r:embed="rId2"/>
              </a:buBlip>
              <a:tabLst/>
              <a:defRPr/>
            </a:pPr>
            <a:r>
              <a:rPr lang="en-US" sz="1200" kern="1200">
                <a:latin typeface="Lato" panose="020F0502020204030203" pitchFamily="34" charset="0"/>
                <a:ea typeface="Lato" panose="020F0502020204030203" pitchFamily="34" charset="0"/>
                <a:cs typeface="Lato" panose="020F0502020204030203" pitchFamily="34" charset="0"/>
              </a:rPr>
              <a:t>Trend Analysis of historical survey data.</a:t>
            </a:r>
          </a:p>
          <a:p>
            <a:pPr marL="374650" marR="0" lvl="0" indent="-285750" algn="l" defTabSz="914400" rtl="0" eaLnBrk="1" fontAlgn="auto" latinLnBrk="0" hangingPunct="1">
              <a:lnSpc>
                <a:spcPct val="100000"/>
              </a:lnSpc>
              <a:spcBef>
                <a:spcPts val="0"/>
              </a:spcBef>
              <a:spcAft>
                <a:spcPts val="0"/>
              </a:spcAft>
              <a:buClr>
                <a:srgbClr val="E44C25"/>
              </a:buClr>
              <a:buSzTx/>
              <a:buBlip>
                <a:blip r:embed="rId2"/>
              </a:buBlip>
              <a:tabLst/>
              <a:defRPr/>
            </a:pPr>
            <a:endParaRPr lang="en-US" sz="1200" kern="1200">
              <a:latin typeface="Lato" panose="020F0502020204030203" pitchFamily="34" charset="0"/>
              <a:ea typeface="Lato" panose="020F0502020204030203" pitchFamily="34" charset="0"/>
              <a:cs typeface="Lato" panose="020F0502020204030203" pitchFamily="34" charset="0"/>
            </a:endParaRPr>
          </a:p>
          <a:p>
            <a:pPr marL="374650" marR="0" lvl="0" indent="-285750" algn="l" defTabSz="914400" rtl="0" eaLnBrk="1" fontAlgn="auto" latinLnBrk="0" hangingPunct="1">
              <a:lnSpc>
                <a:spcPct val="100000"/>
              </a:lnSpc>
              <a:spcBef>
                <a:spcPts val="0"/>
              </a:spcBef>
              <a:spcAft>
                <a:spcPts val="0"/>
              </a:spcAft>
              <a:buClr>
                <a:srgbClr val="E44C25"/>
              </a:buClr>
              <a:buSzTx/>
              <a:buBlip>
                <a:blip r:embed="rId2"/>
              </a:buBlip>
              <a:tabLst/>
              <a:defRPr/>
            </a:pPr>
            <a:r>
              <a:rPr lang="en-US" sz="1200" kern="1200">
                <a:latin typeface="Lato" panose="020F0502020204030203" pitchFamily="34" charset="0"/>
                <a:ea typeface="Lato" panose="020F0502020204030203" pitchFamily="34" charset="0"/>
                <a:cs typeface="Lato" panose="020F0502020204030203" pitchFamily="34" charset="0"/>
              </a:rPr>
              <a:t>Auto-generated reports with visualizations and geospatial overlays.</a:t>
            </a:r>
          </a:p>
        </p:txBody>
      </p:sp>
      <p:sp>
        <p:nvSpPr>
          <p:cNvPr id="14" name="Rectangle: Top Corners Rounded 13">
            <a:extLst>
              <a:ext uri="{FF2B5EF4-FFF2-40B4-BE49-F238E27FC236}">
                <a16:creationId xmlns:a16="http://schemas.microsoft.com/office/drawing/2014/main" id="{9A84E8D2-C69E-D316-1C74-2083BC15B5C3}"/>
              </a:ext>
            </a:extLst>
          </p:cNvPr>
          <p:cNvSpPr/>
          <p:nvPr/>
        </p:nvSpPr>
        <p:spPr>
          <a:xfrm rot="10800000">
            <a:off x="3310414" y="2500075"/>
            <a:ext cx="2692366" cy="3813637"/>
          </a:xfrm>
          <a:prstGeom prst="round2SameRect">
            <a:avLst>
              <a:gd name="adj1" fmla="val 7027"/>
              <a:gd name="adj2" fmla="val 0"/>
            </a:avLst>
          </a:prstGeom>
          <a:solidFill>
            <a:schemeClr val="bg1"/>
          </a:solid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Single Corner Snipped 15">
            <a:extLst>
              <a:ext uri="{FF2B5EF4-FFF2-40B4-BE49-F238E27FC236}">
                <a16:creationId xmlns:a16="http://schemas.microsoft.com/office/drawing/2014/main" id="{F26C11D8-A83C-ADFB-14AB-D2D57FCB8F6D}"/>
              </a:ext>
            </a:extLst>
          </p:cNvPr>
          <p:cNvSpPr/>
          <p:nvPr/>
        </p:nvSpPr>
        <p:spPr>
          <a:xfrm>
            <a:off x="3310413" y="1651107"/>
            <a:ext cx="2692366" cy="788063"/>
          </a:xfrm>
          <a:prstGeom prst="snip1Rect">
            <a:avLst>
              <a:gd name="adj" fmla="val 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0" algn="ctr">
              <a:lnSpc>
                <a:spcPct val="100000"/>
              </a:lnSpc>
              <a:buFont typeface="Arial" panose="020B0604020202020204" pitchFamily="34" charset="0"/>
              <a:buNone/>
              <a:defRPr/>
            </a:pPr>
            <a:r>
              <a:rPr lang="en-US" sz="1400" b="1">
                <a:solidFill>
                  <a:schemeClr val="bg1"/>
                </a:solidFill>
                <a:latin typeface="Lato" panose="020F0502020204030203" pitchFamily="34" charset="0"/>
              </a:rPr>
              <a:t>Intelligent Workflow Automation</a:t>
            </a:r>
            <a:endParaRPr lang="en-US" altLang="en-US" sz="1400" b="1">
              <a:solidFill>
                <a:schemeClr val="bg1"/>
              </a:solidFill>
              <a:latin typeface="Lato" panose="020F0502020204030203" pitchFamily="34" charset="0"/>
            </a:endParaRPr>
          </a:p>
        </p:txBody>
      </p:sp>
      <p:sp>
        <p:nvSpPr>
          <p:cNvPr id="17" name="Rectangle 16">
            <a:extLst>
              <a:ext uri="{FF2B5EF4-FFF2-40B4-BE49-F238E27FC236}">
                <a16:creationId xmlns:a16="http://schemas.microsoft.com/office/drawing/2014/main" id="{41F421F5-C2E7-6772-7E72-378872CDFABF}"/>
              </a:ext>
            </a:extLst>
          </p:cNvPr>
          <p:cNvSpPr/>
          <p:nvPr/>
        </p:nvSpPr>
        <p:spPr>
          <a:xfrm>
            <a:off x="3396652" y="2594667"/>
            <a:ext cx="2519889" cy="756000"/>
          </a:xfrm>
          <a:prstGeom prst="rect">
            <a:avLst/>
          </a:prstGeom>
          <a:solidFill>
            <a:schemeClr val="accent1">
              <a:lumMod val="20000"/>
              <a:lumOff val="80000"/>
            </a:schemeClr>
          </a:solidFill>
          <a:ln w="12700">
            <a:solidFill>
              <a:srgbClr val="00B1F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marL="88900" marR="0" lvl="0" indent="0" fontAlgn="auto">
              <a:lnSpc>
                <a:spcPct val="100000"/>
              </a:lnSpc>
              <a:spcBef>
                <a:spcPts val="0"/>
              </a:spcBef>
              <a:spcAft>
                <a:spcPts val="0"/>
              </a:spcAft>
              <a:buClr>
                <a:srgbClr val="E44C25"/>
              </a:buClr>
              <a:buSzTx/>
              <a:buFont typeface="Wingdings" pitchFamily="2" charset="2"/>
              <a:buNone/>
              <a:tabLst/>
              <a:defRPr/>
            </a:pPr>
            <a:r>
              <a:rPr lang="en-US" sz="1400">
                <a:solidFill>
                  <a:schemeClr val="bg2">
                    <a:lumMod val="25000"/>
                  </a:schemeClr>
                </a:solidFill>
                <a:latin typeface="Lato" panose="020F0502020204030203" pitchFamily="34" charset="0"/>
                <a:ea typeface="Lato" panose="020F0502020204030203" pitchFamily="34" charset="0"/>
                <a:cs typeface="Lato" panose="020F0502020204030203" pitchFamily="34" charset="0"/>
              </a:rPr>
              <a:t>Simplify manual steps using automation:</a:t>
            </a:r>
          </a:p>
        </p:txBody>
      </p:sp>
      <p:sp>
        <p:nvSpPr>
          <p:cNvPr id="18" name="TextBox 17">
            <a:extLst>
              <a:ext uri="{FF2B5EF4-FFF2-40B4-BE49-F238E27FC236}">
                <a16:creationId xmlns:a16="http://schemas.microsoft.com/office/drawing/2014/main" id="{77D11F4F-B630-63C8-CD13-A0B03B3E4856}"/>
              </a:ext>
            </a:extLst>
          </p:cNvPr>
          <p:cNvSpPr txBox="1"/>
          <p:nvPr/>
        </p:nvSpPr>
        <p:spPr>
          <a:xfrm>
            <a:off x="3396652" y="3702056"/>
            <a:ext cx="2519889" cy="1938992"/>
          </a:xfrm>
          <a:prstGeom prst="rect">
            <a:avLst/>
          </a:prstGeom>
          <a:noFill/>
        </p:spPr>
        <p:txBody>
          <a:bodyPr wrap="square" rtlCol="0">
            <a:spAutoFit/>
          </a:bodyPr>
          <a:lstStyle/>
          <a:p>
            <a:pPr marL="374650" indent="-285750">
              <a:buClr>
                <a:srgbClr val="E44C25"/>
              </a:buClr>
              <a:buBlip>
                <a:blip r:embed="rId2"/>
              </a:buBlip>
              <a:defRPr/>
            </a:pPr>
            <a:r>
              <a:rPr lang="en-US" sz="1200">
                <a:latin typeface="Lato" panose="020F0502020204030203" pitchFamily="34" charset="0"/>
                <a:ea typeface="Lato" panose="020F0502020204030203" pitchFamily="34" charset="0"/>
                <a:cs typeface="Lato" panose="020F0502020204030203" pitchFamily="34" charset="0"/>
              </a:rPr>
              <a:t>Pre-set survey templates based on project type.</a:t>
            </a:r>
          </a:p>
          <a:p>
            <a:pPr marL="374650" indent="-285750">
              <a:buClr>
                <a:srgbClr val="E44C25"/>
              </a:buClr>
              <a:buBlip>
                <a:blip r:embed="rId2"/>
              </a:buBlip>
              <a:defRPr/>
            </a:pPr>
            <a:endParaRPr lang="en-US" sz="1200">
              <a:latin typeface="Lato" panose="020F0502020204030203" pitchFamily="34" charset="0"/>
              <a:ea typeface="Lato" panose="020F0502020204030203" pitchFamily="34" charset="0"/>
              <a:cs typeface="Lato" panose="020F0502020204030203" pitchFamily="34" charset="0"/>
            </a:endParaRPr>
          </a:p>
          <a:p>
            <a:pPr marL="374650" indent="-285750">
              <a:buClr>
                <a:srgbClr val="E44C25"/>
              </a:buClr>
              <a:buBlip>
                <a:blip r:embed="rId2"/>
              </a:buBlip>
              <a:defRPr/>
            </a:pPr>
            <a:r>
              <a:rPr lang="en-US" sz="1200">
                <a:latin typeface="Lato" panose="020F0502020204030203" pitchFamily="34" charset="0"/>
                <a:ea typeface="Lato" panose="020F0502020204030203" pitchFamily="34" charset="0"/>
                <a:cs typeface="Lato" panose="020F0502020204030203" pitchFamily="34" charset="0"/>
              </a:rPr>
              <a:t>Automated field-to-office pipelines for report generation.</a:t>
            </a:r>
          </a:p>
          <a:p>
            <a:pPr marL="374650" indent="-285750">
              <a:buClr>
                <a:srgbClr val="E44C25"/>
              </a:buClr>
              <a:buBlip>
                <a:blip r:embed="rId2"/>
              </a:buBlip>
              <a:defRPr/>
            </a:pPr>
            <a:endParaRPr lang="en-US" sz="1200">
              <a:latin typeface="Lato" panose="020F0502020204030203" pitchFamily="34" charset="0"/>
              <a:ea typeface="Lato" panose="020F0502020204030203" pitchFamily="34" charset="0"/>
              <a:cs typeface="Lato" panose="020F0502020204030203" pitchFamily="34" charset="0"/>
            </a:endParaRPr>
          </a:p>
          <a:p>
            <a:pPr marL="374650" indent="-285750">
              <a:buClr>
                <a:srgbClr val="E44C25"/>
              </a:buClr>
              <a:buBlip>
                <a:blip r:embed="rId2"/>
              </a:buBlip>
              <a:defRPr/>
            </a:pPr>
            <a:r>
              <a:rPr lang="en-US" sz="1200">
                <a:latin typeface="Lato" panose="020F0502020204030203" pitchFamily="34" charset="0"/>
                <a:ea typeface="Lato" panose="020F0502020204030203" pitchFamily="34" charset="0"/>
                <a:cs typeface="Lato" panose="020F0502020204030203" pitchFamily="34" charset="0"/>
              </a:rPr>
              <a:t>Rule-based alerts and task triggers (e.g., "Notify if deviation &gt; X mm").</a:t>
            </a:r>
          </a:p>
        </p:txBody>
      </p:sp>
      <p:sp>
        <p:nvSpPr>
          <p:cNvPr id="20" name="Rectangle: Top Corners Rounded 19">
            <a:extLst>
              <a:ext uri="{FF2B5EF4-FFF2-40B4-BE49-F238E27FC236}">
                <a16:creationId xmlns:a16="http://schemas.microsoft.com/office/drawing/2014/main" id="{2EBC2589-F51D-C6C1-C893-F55D73FFF546}"/>
              </a:ext>
            </a:extLst>
          </p:cNvPr>
          <p:cNvSpPr/>
          <p:nvPr/>
        </p:nvSpPr>
        <p:spPr>
          <a:xfrm rot="10800000">
            <a:off x="6234903" y="2500075"/>
            <a:ext cx="2692366" cy="3813637"/>
          </a:xfrm>
          <a:prstGeom prst="round2SameRect">
            <a:avLst>
              <a:gd name="adj1" fmla="val 7027"/>
              <a:gd name="adj2" fmla="val 0"/>
            </a:avLst>
          </a:prstGeom>
          <a:solidFill>
            <a:schemeClr val="bg1"/>
          </a:solid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Single Corner Snipped 21">
            <a:extLst>
              <a:ext uri="{FF2B5EF4-FFF2-40B4-BE49-F238E27FC236}">
                <a16:creationId xmlns:a16="http://schemas.microsoft.com/office/drawing/2014/main" id="{0FAE1A82-5DF8-C1C7-1388-F921A5897C81}"/>
              </a:ext>
            </a:extLst>
          </p:cNvPr>
          <p:cNvSpPr/>
          <p:nvPr/>
        </p:nvSpPr>
        <p:spPr>
          <a:xfrm>
            <a:off x="6234902" y="1651107"/>
            <a:ext cx="2692366" cy="788063"/>
          </a:xfrm>
          <a:prstGeom prst="snip1Rect">
            <a:avLst>
              <a:gd name="adj" fmla="val 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1400" b="1">
                <a:solidFill>
                  <a:schemeClr val="bg1"/>
                </a:solidFill>
                <a:latin typeface="Lato" panose="020F0502020204030203" pitchFamily="34" charset="0"/>
              </a:rPr>
              <a:t>AI-Driven Learning Assistant &amp; Smart Onboarding</a:t>
            </a:r>
          </a:p>
        </p:txBody>
      </p:sp>
      <p:sp>
        <p:nvSpPr>
          <p:cNvPr id="23" name="Rectangle 22">
            <a:extLst>
              <a:ext uri="{FF2B5EF4-FFF2-40B4-BE49-F238E27FC236}">
                <a16:creationId xmlns:a16="http://schemas.microsoft.com/office/drawing/2014/main" id="{21C1C6D8-EF44-F285-7A97-7B0124716148}"/>
              </a:ext>
            </a:extLst>
          </p:cNvPr>
          <p:cNvSpPr/>
          <p:nvPr/>
        </p:nvSpPr>
        <p:spPr>
          <a:xfrm>
            <a:off x="6321141" y="2594667"/>
            <a:ext cx="2519889" cy="756000"/>
          </a:xfrm>
          <a:prstGeom prst="rect">
            <a:avLst/>
          </a:prstGeom>
          <a:solidFill>
            <a:schemeClr val="accent1">
              <a:lumMod val="20000"/>
              <a:lumOff val="80000"/>
            </a:schemeClr>
          </a:solidFill>
          <a:ln w="12700">
            <a:solidFill>
              <a:srgbClr val="00B1F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marL="88900" marR="0" lvl="0" indent="0" fontAlgn="auto">
              <a:lnSpc>
                <a:spcPct val="100000"/>
              </a:lnSpc>
              <a:spcBef>
                <a:spcPts val="0"/>
              </a:spcBef>
              <a:spcAft>
                <a:spcPts val="0"/>
              </a:spcAft>
              <a:buClr>
                <a:srgbClr val="E44C25"/>
              </a:buClr>
              <a:buSzTx/>
              <a:buFont typeface="Wingdings" pitchFamily="2" charset="2"/>
              <a:buNone/>
              <a:tabLst/>
              <a:defRPr/>
            </a:pPr>
            <a:r>
              <a:rPr lang="en-US" sz="1400">
                <a:solidFill>
                  <a:schemeClr val="bg2">
                    <a:lumMod val="25000"/>
                  </a:schemeClr>
                </a:solidFill>
                <a:latin typeface="Lato" panose="020F0502020204030203" pitchFamily="34" charset="0"/>
                <a:ea typeface="Lato" panose="020F0502020204030203" pitchFamily="34" charset="0"/>
                <a:cs typeface="Lato" panose="020F0502020204030203" pitchFamily="34" charset="0"/>
              </a:rPr>
              <a:t>Boost user adoption and reduce learning curves:</a:t>
            </a:r>
          </a:p>
        </p:txBody>
      </p:sp>
      <p:sp>
        <p:nvSpPr>
          <p:cNvPr id="24" name="TextBox 23">
            <a:extLst>
              <a:ext uri="{FF2B5EF4-FFF2-40B4-BE49-F238E27FC236}">
                <a16:creationId xmlns:a16="http://schemas.microsoft.com/office/drawing/2014/main" id="{C04588E9-7E10-45D3-E6FE-C6B61FD36D4E}"/>
              </a:ext>
            </a:extLst>
          </p:cNvPr>
          <p:cNvSpPr txBox="1"/>
          <p:nvPr/>
        </p:nvSpPr>
        <p:spPr>
          <a:xfrm>
            <a:off x="6321141" y="3702056"/>
            <a:ext cx="2519889" cy="1754326"/>
          </a:xfrm>
          <a:prstGeom prst="rect">
            <a:avLst/>
          </a:prstGeom>
          <a:noFill/>
        </p:spPr>
        <p:txBody>
          <a:bodyPr wrap="square" rtlCol="0">
            <a:spAutoFit/>
          </a:bodyPr>
          <a:lstStyle/>
          <a:p>
            <a:pPr marL="374650" indent="-285750">
              <a:buClr>
                <a:srgbClr val="E44C25"/>
              </a:buClr>
              <a:buBlip>
                <a:blip r:embed="rId2"/>
              </a:buBlip>
              <a:defRPr/>
            </a:pPr>
            <a:r>
              <a:rPr lang="en-US" sz="1200">
                <a:latin typeface="Lato" panose="020F0502020204030203" pitchFamily="34" charset="0"/>
                <a:ea typeface="Lato" panose="020F0502020204030203" pitchFamily="34" charset="0"/>
                <a:cs typeface="Lato" panose="020F0502020204030203" pitchFamily="34" charset="0"/>
              </a:rPr>
              <a:t>Interactive walkthroughs tailored to user roles.</a:t>
            </a:r>
          </a:p>
          <a:p>
            <a:pPr marL="374650" indent="-285750">
              <a:buClr>
                <a:srgbClr val="E44C25"/>
              </a:buClr>
              <a:buBlip>
                <a:blip r:embed="rId2"/>
              </a:buBlip>
              <a:defRPr/>
            </a:pPr>
            <a:endParaRPr lang="en-US" sz="1200">
              <a:latin typeface="Lato" panose="020F0502020204030203" pitchFamily="34" charset="0"/>
              <a:ea typeface="Lato" panose="020F0502020204030203" pitchFamily="34" charset="0"/>
              <a:cs typeface="Lato" panose="020F0502020204030203" pitchFamily="34" charset="0"/>
            </a:endParaRPr>
          </a:p>
          <a:p>
            <a:pPr marL="374650" indent="-285750">
              <a:buClr>
                <a:srgbClr val="E44C25"/>
              </a:buClr>
              <a:buBlip>
                <a:blip r:embed="rId2"/>
              </a:buBlip>
              <a:defRPr/>
            </a:pPr>
            <a:r>
              <a:rPr lang="en-US" sz="1200">
                <a:latin typeface="Lato" panose="020F0502020204030203" pitchFamily="34" charset="0"/>
                <a:ea typeface="Lato" panose="020F0502020204030203" pitchFamily="34" charset="0"/>
                <a:cs typeface="Lato" panose="020F0502020204030203" pitchFamily="34" charset="0"/>
              </a:rPr>
              <a:t>Contextual help (e.g., “Need help setting up backsight?”).</a:t>
            </a:r>
          </a:p>
          <a:p>
            <a:pPr marL="374650" indent="-285750">
              <a:buClr>
                <a:srgbClr val="E44C25"/>
              </a:buClr>
              <a:buBlip>
                <a:blip r:embed="rId2"/>
              </a:buBlip>
              <a:defRPr/>
            </a:pPr>
            <a:endParaRPr lang="en-US" sz="1200">
              <a:latin typeface="Lato" panose="020F0502020204030203" pitchFamily="34" charset="0"/>
              <a:ea typeface="Lato" panose="020F0502020204030203" pitchFamily="34" charset="0"/>
              <a:cs typeface="Lato" panose="020F0502020204030203" pitchFamily="34" charset="0"/>
            </a:endParaRPr>
          </a:p>
          <a:p>
            <a:pPr marL="374650" indent="-285750">
              <a:buClr>
                <a:srgbClr val="E44C25"/>
              </a:buClr>
              <a:buBlip>
                <a:blip r:embed="rId2"/>
              </a:buBlip>
              <a:defRPr/>
            </a:pPr>
            <a:r>
              <a:rPr lang="en-US" sz="1200">
                <a:latin typeface="Lato" panose="020F0502020204030203" pitchFamily="34" charset="0"/>
                <a:ea typeface="Lato" panose="020F0502020204030203" pitchFamily="34" charset="0"/>
                <a:cs typeface="Lato" panose="020F0502020204030203" pitchFamily="34" charset="0"/>
              </a:rPr>
              <a:t>Adaptive training dashboards that track skill gaps and usage patterns.</a:t>
            </a:r>
          </a:p>
        </p:txBody>
      </p:sp>
      <p:sp>
        <p:nvSpPr>
          <p:cNvPr id="26" name="Rectangle: Top Corners Rounded 25">
            <a:extLst>
              <a:ext uri="{FF2B5EF4-FFF2-40B4-BE49-F238E27FC236}">
                <a16:creationId xmlns:a16="http://schemas.microsoft.com/office/drawing/2014/main" id="{0EDA3F25-2E08-A485-D348-26DD2961D95A}"/>
              </a:ext>
            </a:extLst>
          </p:cNvPr>
          <p:cNvSpPr/>
          <p:nvPr/>
        </p:nvSpPr>
        <p:spPr>
          <a:xfrm rot="10800000">
            <a:off x="9159393" y="2500075"/>
            <a:ext cx="2692366" cy="3813638"/>
          </a:xfrm>
          <a:prstGeom prst="round2SameRect">
            <a:avLst>
              <a:gd name="adj1" fmla="val 7027"/>
              <a:gd name="adj2" fmla="val 0"/>
            </a:avLst>
          </a:prstGeom>
          <a:solidFill>
            <a:schemeClr val="bg1"/>
          </a:solid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Single Corner Snipped 27">
            <a:extLst>
              <a:ext uri="{FF2B5EF4-FFF2-40B4-BE49-F238E27FC236}">
                <a16:creationId xmlns:a16="http://schemas.microsoft.com/office/drawing/2014/main" id="{41E181B8-7142-5868-EC6A-AC5C05A8E2FA}"/>
              </a:ext>
            </a:extLst>
          </p:cNvPr>
          <p:cNvSpPr/>
          <p:nvPr/>
        </p:nvSpPr>
        <p:spPr>
          <a:xfrm>
            <a:off x="9159392" y="1651107"/>
            <a:ext cx="2692366" cy="788063"/>
          </a:xfrm>
          <a:prstGeom prst="snip1Rect">
            <a:avLst>
              <a:gd name="adj" fmla="val 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0" algn="ctr">
              <a:lnSpc>
                <a:spcPct val="100000"/>
              </a:lnSpc>
              <a:buFont typeface="Arial" panose="020B0604020202020204" pitchFamily="34" charset="0"/>
              <a:buNone/>
              <a:defRPr/>
            </a:pPr>
            <a:r>
              <a:rPr lang="en-US" sz="1400" b="1">
                <a:solidFill>
                  <a:schemeClr val="bg1"/>
                </a:solidFill>
                <a:latin typeface="Lato" panose="020F0502020204030203" pitchFamily="34" charset="0"/>
              </a:rPr>
              <a:t>Survey Team Productivity Dashboard</a:t>
            </a:r>
            <a:endParaRPr lang="en-US" altLang="en-US" sz="1400" b="1">
              <a:solidFill>
                <a:schemeClr val="bg1"/>
              </a:solidFill>
              <a:latin typeface="Lato" panose="020F0502020204030203" pitchFamily="34" charset="0"/>
            </a:endParaRPr>
          </a:p>
        </p:txBody>
      </p:sp>
      <p:sp>
        <p:nvSpPr>
          <p:cNvPr id="29" name="Rectangle 28">
            <a:extLst>
              <a:ext uri="{FF2B5EF4-FFF2-40B4-BE49-F238E27FC236}">
                <a16:creationId xmlns:a16="http://schemas.microsoft.com/office/drawing/2014/main" id="{42EA71FD-0440-732A-87D0-700C82683E3A}"/>
              </a:ext>
            </a:extLst>
          </p:cNvPr>
          <p:cNvSpPr/>
          <p:nvPr/>
        </p:nvSpPr>
        <p:spPr>
          <a:xfrm>
            <a:off x="9245631" y="2594667"/>
            <a:ext cx="2519889" cy="756000"/>
          </a:xfrm>
          <a:prstGeom prst="rect">
            <a:avLst/>
          </a:prstGeom>
          <a:solidFill>
            <a:schemeClr val="accent1">
              <a:lumMod val="20000"/>
              <a:lumOff val="80000"/>
            </a:schemeClr>
          </a:solidFill>
          <a:ln w="12700">
            <a:solidFill>
              <a:srgbClr val="00B1F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marL="88900" marR="0" lvl="0" indent="0" fontAlgn="auto">
              <a:lnSpc>
                <a:spcPct val="100000"/>
              </a:lnSpc>
              <a:spcBef>
                <a:spcPts val="0"/>
              </a:spcBef>
              <a:spcAft>
                <a:spcPts val="0"/>
              </a:spcAft>
              <a:buClr>
                <a:srgbClr val="E44C25"/>
              </a:buClr>
              <a:buSzTx/>
              <a:buFont typeface="Wingdings" pitchFamily="2" charset="2"/>
              <a:buNone/>
              <a:tabLst/>
              <a:defRPr/>
            </a:pPr>
            <a:r>
              <a:rPr lang="en-US" sz="1400">
                <a:solidFill>
                  <a:schemeClr val="bg2">
                    <a:lumMod val="25000"/>
                  </a:schemeClr>
                </a:solidFill>
                <a:latin typeface="Lato" panose="020F0502020204030203" pitchFamily="34" charset="0"/>
                <a:ea typeface="Lato" panose="020F0502020204030203" pitchFamily="34" charset="0"/>
                <a:cs typeface="Lato" panose="020F0502020204030203" pitchFamily="34" charset="0"/>
              </a:rPr>
              <a:t>Enable dashboards for contractors/project owners to:</a:t>
            </a:r>
          </a:p>
        </p:txBody>
      </p:sp>
      <p:sp>
        <p:nvSpPr>
          <p:cNvPr id="30" name="TextBox 29">
            <a:extLst>
              <a:ext uri="{FF2B5EF4-FFF2-40B4-BE49-F238E27FC236}">
                <a16:creationId xmlns:a16="http://schemas.microsoft.com/office/drawing/2014/main" id="{B499CB7E-5C1E-8E5D-691A-E0376F12EB43}"/>
              </a:ext>
            </a:extLst>
          </p:cNvPr>
          <p:cNvSpPr txBox="1"/>
          <p:nvPr/>
        </p:nvSpPr>
        <p:spPr>
          <a:xfrm>
            <a:off x="9245631" y="3702056"/>
            <a:ext cx="2519889" cy="1200329"/>
          </a:xfrm>
          <a:prstGeom prst="rect">
            <a:avLst/>
          </a:prstGeom>
          <a:noFill/>
        </p:spPr>
        <p:txBody>
          <a:bodyPr wrap="square" rtlCol="0">
            <a:spAutoFit/>
          </a:bodyPr>
          <a:lstStyle/>
          <a:p>
            <a:pPr marL="374650" indent="-285750">
              <a:buClr>
                <a:srgbClr val="E44C25"/>
              </a:buClr>
              <a:buBlip>
                <a:blip r:embed="rId2"/>
              </a:buBlip>
              <a:defRPr/>
            </a:pPr>
            <a:r>
              <a:rPr lang="en-US" sz="1200">
                <a:latin typeface="Lato" panose="020F0502020204030203" pitchFamily="34" charset="0"/>
                <a:ea typeface="Lato" panose="020F0502020204030203" pitchFamily="34" charset="0"/>
                <a:cs typeface="Lato" panose="020F0502020204030203" pitchFamily="34" charset="0"/>
              </a:rPr>
              <a:t>View team performance</a:t>
            </a:r>
          </a:p>
          <a:p>
            <a:pPr marL="374650" indent="-285750">
              <a:buClr>
                <a:srgbClr val="E44C25"/>
              </a:buClr>
              <a:buBlip>
                <a:blip r:embed="rId2"/>
              </a:buBlip>
              <a:defRPr/>
            </a:pPr>
            <a:endParaRPr lang="en-US" sz="1200">
              <a:latin typeface="Lato" panose="020F0502020204030203" pitchFamily="34" charset="0"/>
              <a:ea typeface="Lato" panose="020F0502020204030203" pitchFamily="34" charset="0"/>
              <a:cs typeface="Lato" panose="020F0502020204030203" pitchFamily="34" charset="0"/>
            </a:endParaRPr>
          </a:p>
          <a:p>
            <a:pPr marL="374650" indent="-285750">
              <a:buClr>
                <a:srgbClr val="E44C25"/>
              </a:buClr>
              <a:buBlip>
                <a:blip r:embed="rId2"/>
              </a:buBlip>
              <a:defRPr/>
            </a:pPr>
            <a:r>
              <a:rPr lang="en-US" sz="1200">
                <a:latin typeface="Lato" panose="020F0502020204030203" pitchFamily="34" charset="0"/>
                <a:ea typeface="Lato" panose="020F0502020204030203" pitchFamily="34" charset="0"/>
                <a:cs typeface="Lato" panose="020F0502020204030203" pitchFamily="34" charset="0"/>
              </a:rPr>
              <a:t>Monitor survey progress</a:t>
            </a:r>
          </a:p>
          <a:p>
            <a:pPr marL="374650" indent="-285750">
              <a:buClr>
                <a:srgbClr val="E44C25"/>
              </a:buClr>
              <a:buBlip>
                <a:blip r:embed="rId2"/>
              </a:buBlip>
              <a:defRPr/>
            </a:pPr>
            <a:endParaRPr lang="en-US" sz="1200">
              <a:latin typeface="Lato" panose="020F0502020204030203" pitchFamily="34" charset="0"/>
              <a:ea typeface="Lato" panose="020F0502020204030203" pitchFamily="34" charset="0"/>
              <a:cs typeface="Lato" panose="020F0502020204030203" pitchFamily="34" charset="0"/>
            </a:endParaRPr>
          </a:p>
          <a:p>
            <a:pPr marL="374650" indent="-285750">
              <a:buClr>
                <a:srgbClr val="E44C25"/>
              </a:buClr>
              <a:buBlip>
                <a:blip r:embed="rId2"/>
              </a:buBlip>
              <a:defRPr/>
            </a:pPr>
            <a:r>
              <a:rPr lang="en-US" sz="1200">
                <a:latin typeface="Lato" panose="020F0502020204030203" pitchFamily="34" charset="0"/>
                <a:ea typeface="Lato" panose="020F0502020204030203" pitchFamily="34" charset="0"/>
                <a:cs typeface="Lato" panose="020F0502020204030203" pitchFamily="34" charset="0"/>
              </a:rPr>
              <a:t>Track stake-out completion rates.</a:t>
            </a:r>
          </a:p>
        </p:txBody>
      </p:sp>
      <p:sp>
        <p:nvSpPr>
          <p:cNvPr id="4" name="TextBox 3">
            <a:extLst>
              <a:ext uri="{FF2B5EF4-FFF2-40B4-BE49-F238E27FC236}">
                <a16:creationId xmlns:a16="http://schemas.microsoft.com/office/drawing/2014/main" id="{4C76825F-BDAD-C8B1-5E69-8C4F9757D61E}"/>
              </a:ext>
            </a:extLst>
          </p:cNvPr>
          <p:cNvSpPr txBox="1"/>
          <p:nvPr/>
        </p:nvSpPr>
        <p:spPr>
          <a:xfrm>
            <a:off x="385925" y="721617"/>
            <a:ext cx="11465834" cy="584775"/>
          </a:xfrm>
          <a:prstGeom prst="rect">
            <a:avLst/>
          </a:prstGeom>
          <a:noFill/>
        </p:spPr>
        <p:txBody>
          <a:bodyPr wrap="square" rtlCol="0">
            <a:spAutoFit/>
          </a:bodyPr>
          <a:lstStyle/>
          <a:p>
            <a:r>
              <a:rPr lang="en-US" sz="1600">
                <a:latin typeface="Lato" panose="020F0502020204030203" pitchFamily="34" charset="0"/>
                <a:ea typeface="Lato" panose="020F0502020204030203" pitchFamily="34" charset="0"/>
                <a:cs typeface="Lato" panose="020F0502020204030203" pitchFamily="34" charset="0"/>
              </a:rPr>
              <a:t>Innominds will jointly finalize the requirements for the below services with Topcon management and load the required resources as per skillset needed with agreed roadmap.</a:t>
            </a:r>
          </a:p>
        </p:txBody>
      </p:sp>
    </p:spTree>
    <p:extLst>
      <p:ext uri="{BB962C8B-B14F-4D97-AF65-F5344CB8AC3E}">
        <p14:creationId xmlns:p14="http://schemas.microsoft.com/office/powerpoint/2010/main" val="30008833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E08F0-98F1-C237-BDC3-4E83A209E6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8112F6-A82A-4DE2-680B-B46B111E203D}"/>
              </a:ext>
            </a:extLst>
          </p:cNvPr>
          <p:cNvSpPr>
            <a:spLocks noGrp="1"/>
          </p:cNvSpPr>
          <p:nvPr>
            <p:ph type="title"/>
          </p:nvPr>
        </p:nvSpPr>
        <p:spPr/>
        <p:txBody>
          <a:bodyPr>
            <a:noAutofit/>
          </a:bodyPr>
          <a:lstStyle/>
          <a:p>
            <a:r>
              <a:rPr lang="en-US">
                <a:latin typeface="Roboto"/>
                <a:ea typeface="Roboto"/>
                <a:cs typeface="Roboto"/>
                <a:sym typeface="Arial"/>
              </a:rPr>
              <a:t>Technical Stack &amp; Key Tools</a:t>
            </a:r>
            <a:endParaRPr lang="en-US"/>
          </a:p>
        </p:txBody>
      </p:sp>
      <p:graphicFrame>
        <p:nvGraphicFramePr>
          <p:cNvPr id="3" name="Table 2">
            <a:extLst>
              <a:ext uri="{FF2B5EF4-FFF2-40B4-BE49-F238E27FC236}">
                <a16:creationId xmlns:a16="http://schemas.microsoft.com/office/drawing/2014/main" id="{5A075DC8-47E3-976B-691A-AF7FA29F4EDE}"/>
              </a:ext>
            </a:extLst>
          </p:cNvPr>
          <p:cNvGraphicFramePr>
            <a:graphicFrameLocks noGrp="1"/>
          </p:cNvGraphicFramePr>
          <p:nvPr/>
        </p:nvGraphicFramePr>
        <p:xfrm>
          <a:off x="391931" y="721617"/>
          <a:ext cx="11163774" cy="5841588"/>
        </p:xfrm>
        <a:graphic>
          <a:graphicData uri="http://schemas.openxmlformats.org/drawingml/2006/table">
            <a:tbl>
              <a:tblPr>
                <a:tableStyleId>{5C22544A-7EE6-4342-B048-85BDC9FD1C3A}</a:tableStyleId>
              </a:tblPr>
              <a:tblGrid>
                <a:gridCol w="3435979">
                  <a:extLst>
                    <a:ext uri="{9D8B030D-6E8A-4147-A177-3AD203B41FA5}">
                      <a16:colId xmlns:a16="http://schemas.microsoft.com/office/drawing/2014/main" val="20000"/>
                    </a:ext>
                  </a:extLst>
                </a:gridCol>
                <a:gridCol w="7727795">
                  <a:extLst>
                    <a:ext uri="{9D8B030D-6E8A-4147-A177-3AD203B41FA5}">
                      <a16:colId xmlns:a16="http://schemas.microsoft.com/office/drawing/2014/main" val="20001"/>
                    </a:ext>
                  </a:extLst>
                </a:gridCol>
              </a:tblGrid>
              <a:tr h="321494">
                <a:tc>
                  <a:txBody>
                    <a:bodyPr/>
                    <a:lstStyle/>
                    <a:p>
                      <a:pPr marL="0" lvl="0" indent="0" algn="l"/>
                      <a:r>
                        <a:rPr lang="en-US" sz="1400" b="1" i="0">
                          <a:solidFill>
                            <a:schemeClr val="bg1"/>
                          </a:solidFill>
                          <a:latin typeface="Lato"/>
                          <a:ea typeface="Lato"/>
                          <a:cs typeface="Lato"/>
                        </a:rPr>
                        <a:t>Mobile Platforms</a:t>
                      </a:r>
                    </a:p>
                  </a:txBody>
                  <a:tcPr marL="82296" marR="82296" marT="87782" marB="8778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marL="285750" marR="0" lvl="1" indent="-285750" algn="just" defTabSz="914400" rtl="0" eaLnBrk="1" fontAlgn="auto" latinLnBrk="0" hangingPunct="1">
                        <a:lnSpc>
                          <a:spcPct val="100000"/>
                        </a:lnSpc>
                        <a:spcBef>
                          <a:spcPts val="200"/>
                        </a:spcBef>
                        <a:spcAft>
                          <a:spcPts val="200"/>
                        </a:spcAft>
                        <a:buClrTx/>
                        <a:buSzTx/>
                        <a:buFontTx/>
                        <a:buBlip>
                          <a:blip r:embed="rId3"/>
                        </a:buBlip>
                        <a:tabLst/>
                        <a:defRPr/>
                      </a:pPr>
                      <a:r>
                        <a:rPr lang="en-US" sz="1400" b="0" i="0" u="none" strike="noStrike" kern="1200" cap="none" spc="0" baseline="0">
                          <a:ln>
                            <a:noFill/>
                          </a:ln>
                          <a:solidFill>
                            <a:schemeClr val="tx1"/>
                          </a:solidFill>
                          <a:uFillTx/>
                          <a:latin typeface="Lato"/>
                          <a:ea typeface="Lato"/>
                          <a:cs typeface="Lato"/>
                          <a:sym typeface="Arial"/>
                        </a:rPr>
                        <a:t>Android Platform versions: </a:t>
                      </a:r>
                      <a:r>
                        <a:rPr lang="en-US" sz="1400" b="0" i="0" u="none" strike="noStrike" kern="1200" cap="none" spc="0" baseline="0">
                          <a:ln>
                            <a:noFill/>
                          </a:ln>
                          <a:solidFill>
                            <a:schemeClr val="tx1"/>
                          </a:solidFill>
                          <a:uFillTx/>
                          <a:latin typeface="Lato"/>
                          <a:ea typeface="Lato"/>
                          <a:cs typeface="Lato"/>
                        </a:rPr>
                        <a:t>Android OS versions 12 and above</a:t>
                      </a:r>
                      <a:endParaRPr lang="en-US" sz="1400" b="0" i="0" u="none" strike="noStrike" kern="1200" cap="none" spc="0" baseline="0">
                        <a:ln>
                          <a:noFill/>
                        </a:ln>
                        <a:solidFill>
                          <a:schemeClr val="tx1"/>
                        </a:solidFill>
                        <a:uFillTx/>
                        <a:latin typeface="Lato"/>
                        <a:ea typeface="Lato"/>
                        <a:cs typeface="Lato"/>
                        <a:sym typeface="Arial"/>
                      </a:endParaRPr>
                    </a:p>
                  </a:txBody>
                  <a:tcPr marL="219456" marR="87782" marT="87782" marB="8778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alpha val="57000"/>
                      </a:schemeClr>
                    </a:solidFill>
                  </a:tcPr>
                </a:tc>
                <a:extLst>
                  <a:ext uri="{0D108BD9-81ED-4DB2-BD59-A6C34878D82A}">
                    <a16:rowId xmlns:a16="http://schemas.microsoft.com/office/drawing/2014/main" val="10001"/>
                  </a:ext>
                </a:extLst>
              </a:tr>
              <a:tr h="321494">
                <a:tc>
                  <a:txBody>
                    <a:bodyPr/>
                    <a:lstStyle/>
                    <a:p>
                      <a:pPr marL="0" lvl="0" indent="0" algn="l"/>
                      <a:r>
                        <a:rPr lang="en-US" sz="1400" b="1" i="0">
                          <a:solidFill>
                            <a:schemeClr val="bg1"/>
                          </a:solidFill>
                          <a:latin typeface="Lato"/>
                          <a:ea typeface="Lato"/>
                          <a:cs typeface="Lato"/>
                        </a:rPr>
                        <a:t>Programming Language for Android App</a:t>
                      </a:r>
                    </a:p>
                  </a:txBody>
                  <a:tcPr marL="82296" marR="82296" marT="87782" marB="8778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marL="285750" marR="0" lvl="1" indent="-285750" algn="just" defTabSz="914400" rtl="0" eaLnBrk="1" fontAlgn="auto" latinLnBrk="0" hangingPunct="1">
                        <a:lnSpc>
                          <a:spcPct val="100000"/>
                        </a:lnSpc>
                        <a:spcBef>
                          <a:spcPts val="200"/>
                        </a:spcBef>
                        <a:spcAft>
                          <a:spcPts val="200"/>
                        </a:spcAft>
                        <a:buClrTx/>
                        <a:buSzTx/>
                        <a:buFontTx/>
                        <a:buBlip>
                          <a:blip r:embed="rId3"/>
                        </a:buBlip>
                        <a:tabLst/>
                        <a:defRPr/>
                      </a:pPr>
                      <a:r>
                        <a:rPr lang="en-US" sz="1400" b="0" i="0" u="none" strike="noStrike" kern="1200" cap="none" spc="0" baseline="0">
                          <a:ln>
                            <a:noFill/>
                          </a:ln>
                          <a:solidFill>
                            <a:schemeClr val="tx2"/>
                          </a:solidFill>
                          <a:uFillTx/>
                          <a:latin typeface="Lato"/>
                          <a:ea typeface="Lato"/>
                          <a:cs typeface="Lato"/>
                          <a:sym typeface="Arial"/>
                        </a:rPr>
                        <a:t>Kotlin</a:t>
                      </a:r>
                    </a:p>
                  </a:txBody>
                  <a:tcPr marL="219456" marR="87782" marT="87782" marB="8778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alpha val="57000"/>
                      </a:schemeClr>
                    </a:solidFill>
                  </a:tcPr>
                </a:tc>
                <a:extLst>
                  <a:ext uri="{0D108BD9-81ED-4DB2-BD59-A6C34878D82A}">
                    <a16:rowId xmlns:a16="http://schemas.microsoft.com/office/drawing/2014/main" val="10002"/>
                  </a:ext>
                </a:extLst>
              </a:tr>
              <a:tr h="560851">
                <a:tc>
                  <a:txBody>
                    <a:bodyPr/>
                    <a:lstStyle/>
                    <a:p>
                      <a:pPr marL="0" lvl="0" indent="0" algn="l"/>
                      <a:r>
                        <a:rPr lang="en-US" sz="1400" b="1" i="0">
                          <a:solidFill>
                            <a:schemeClr val="bg1"/>
                          </a:solidFill>
                          <a:latin typeface="Lato"/>
                          <a:ea typeface="Lato"/>
                          <a:cs typeface="Lato"/>
                        </a:rPr>
                        <a:t>Backend System </a:t>
                      </a:r>
                    </a:p>
                  </a:txBody>
                  <a:tcPr marL="82296" marR="82296" marT="87782" marB="8778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marL="285750" marR="0" lvl="1" indent="-285750" algn="just" defTabSz="914400" rtl="0" eaLnBrk="1" fontAlgn="auto" latinLnBrk="0" hangingPunct="1">
                        <a:lnSpc>
                          <a:spcPct val="100000"/>
                        </a:lnSpc>
                        <a:spcBef>
                          <a:spcPts val="200"/>
                        </a:spcBef>
                        <a:spcAft>
                          <a:spcPts val="200"/>
                        </a:spcAft>
                        <a:buClrTx/>
                        <a:buSzTx/>
                        <a:buFontTx/>
                        <a:buBlip>
                          <a:blip r:embed="rId3"/>
                        </a:buBlip>
                        <a:tabLst/>
                        <a:defRPr/>
                      </a:pPr>
                      <a:r>
                        <a:rPr lang="en-US" sz="1400" b="0" i="0" u="none" strike="noStrike" kern="1200" cap="none" spc="0" baseline="0">
                          <a:ln>
                            <a:noFill/>
                          </a:ln>
                          <a:solidFill>
                            <a:schemeClr val="tx2"/>
                          </a:solidFill>
                          <a:uFillTx/>
                          <a:latin typeface="Lato"/>
                          <a:ea typeface="Lato"/>
                          <a:cs typeface="Lato"/>
                          <a:sym typeface="Arial"/>
                        </a:rPr>
                        <a:t>Java / Python</a:t>
                      </a:r>
                    </a:p>
                    <a:p>
                      <a:pPr marL="285750" marR="0" lvl="1" indent="-285750" algn="just" defTabSz="914400" rtl="0" eaLnBrk="1" fontAlgn="auto" latinLnBrk="0" hangingPunct="1">
                        <a:lnSpc>
                          <a:spcPct val="100000"/>
                        </a:lnSpc>
                        <a:spcBef>
                          <a:spcPts val="200"/>
                        </a:spcBef>
                        <a:spcAft>
                          <a:spcPts val="200"/>
                        </a:spcAft>
                        <a:buClrTx/>
                        <a:buSzTx/>
                        <a:buFontTx/>
                        <a:buBlip>
                          <a:blip r:embed="rId3"/>
                        </a:buBlip>
                        <a:tabLst/>
                        <a:defRPr/>
                      </a:pPr>
                      <a:r>
                        <a:rPr lang="en-US" sz="1400" b="0" i="0" u="none" strike="noStrike" kern="1200" cap="none" spc="0" baseline="0">
                          <a:ln>
                            <a:noFill/>
                          </a:ln>
                          <a:solidFill>
                            <a:schemeClr val="tx2"/>
                          </a:solidFill>
                          <a:uFillTx/>
                          <a:latin typeface="Lato"/>
                          <a:ea typeface="Lato"/>
                          <a:cs typeface="Lato"/>
                          <a:sym typeface="Arial"/>
                        </a:rPr>
                        <a:t>AWS</a:t>
                      </a:r>
                    </a:p>
                  </a:txBody>
                  <a:tcPr marL="219456" marR="87782" marT="87782" marB="8778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alpha val="57000"/>
                      </a:schemeClr>
                    </a:solidFill>
                  </a:tcPr>
                </a:tc>
                <a:extLst>
                  <a:ext uri="{0D108BD9-81ED-4DB2-BD59-A6C34878D82A}">
                    <a16:rowId xmlns:a16="http://schemas.microsoft.com/office/drawing/2014/main" val="10003"/>
                  </a:ext>
                </a:extLst>
              </a:tr>
              <a:tr h="800208">
                <a:tc>
                  <a:txBody>
                    <a:bodyPr/>
                    <a:lstStyle/>
                    <a:p>
                      <a:pPr marL="0" lvl="0" indent="0" algn="l"/>
                      <a:r>
                        <a:rPr lang="en-US" sz="1400" b="1" i="0">
                          <a:solidFill>
                            <a:schemeClr val="bg1"/>
                          </a:solidFill>
                          <a:latin typeface="Lato"/>
                          <a:ea typeface="Lato"/>
                          <a:cs typeface="Lato"/>
                        </a:rPr>
                        <a:t>Integrations</a:t>
                      </a:r>
                    </a:p>
                  </a:txBody>
                  <a:tcPr marL="82296" marR="82296" marT="87782" marB="8778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marL="285750" marR="0" lvl="1" indent="-285750" algn="just" defTabSz="914400" rtl="0" eaLnBrk="1" fontAlgn="auto" latinLnBrk="0" hangingPunct="1">
                        <a:lnSpc>
                          <a:spcPct val="100000"/>
                        </a:lnSpc>
                        <a:spcBef>
                          <a:spcPts val="200"/>
                        </a:spcBef>
                        <a:spcAft>
                          <a:spcPts val="200"/>
                        </a:spcAft>
                        <a:buClrTx/>
                        <a:buSzTx/>
                        <a:buFontTx/>
                        <a:buBlip>
                          <a:blip r:embed="rId3"/>
                        </a:buBlip>
                        <a:tabLst/>
                        <a:defRPr/>
                      </a:pPr>
                      <a:r>
                        <a:rPr lang="en-US" sz="1400" b="0" i="0" u="none" strike="noStrike" kern="1200" cap="none" spc="0" baseline="0">
                          <a:ln>
                            <a:noFill/>
                          </a:ln>
                          <a:solidFill>
                            <a:schemeClr val="tx2"/>
                          </a:solidFill>
                          <a:uFillTx/>
                          <a:latin typeface="Lato"/>
                          <a:ea typeface="Lato"/>
                          <a:cs typeface="Lato"/>
                          <a:sym typeface="Arial"/>
                        </a:rPr>
                        <a:t>Open-source CAD Engine</a:t>
                      </a:r>
                    </a:p>
                    <a:p>
                      <a:pPr marL="285750" marR="0" lvl="1" indent="-285750" algn="just" defTabSz="914400" rtl="0" eaLnBrk="1" fontAlgn="auto" latinLnBrk="0" hangingPunct="1">
                        <a:lnSpc>
                          <a:spcPct val="100000"/>
                        </a:lnSpc>
                        <a:spcBef>
                          <a:spcPts val="200"/>
                        </a:spcBef>
                        <a:spcAft>
                          <a:spcPts val="200"/>
                        </a:spcAft>
                        <a:buClrTx/>
                        <a:buSzTx/>
                        <a:buFontTx/>
                        <a:buBlip>
                          <a:blip r:embed="rId3"/>
                        </a:buBlip>
                        <a:tabLst/>
                        <a:defRPr/>
                      </a:pPr>
                      <a:r>
                        <a:rPr lang="en-US" sz="1400" b="0" i="0" u="none" strike="noStrike" kern="1200" cap="none" spc="0" baseline="0">
                          <a:ln>
                            <a:noFill/>
                          </a:ln>
                          <a:solidFill>
                            <a:schemeClr val="tx2"/>
                          </a:solidFill>
                          <a:uFillTx/>
                          <a:latin typeface="Lato"/>
                          <a:ea typeface="Lato"/>
                          <a:cs typeface="Lato"/>
                          <a:sym typeface="Arial"/>
                        </a:rPr>
                        <a:t>Open Street Maps (or similar ex: TomTom) for Maps</a:t>
                      </a:r>
                    </a:p>
                    <a:p>
                      <a:pPr marL="285750" marR="0" lvl="1" indent="-285750" algn="just" defTabSz="914400" rtl="0" eaLnBrk="1" fontAlgn="auto" latinLnBrk="0" hangingPunct="1">
                        <a:lnSpc>
                          <a:spcPct val="100000"/>
                        </a:lnSpc>
                        <a:spcBef>
                          <a:spcPts val="200"/>
                        </a:spcBef>
                        <a:spcAft>
                          <a:spcPts val="200"/>
                        </a:spcAft>
                        <a:buClrTx/>
                        <a:buSzTx/>
                        <a:buFontTx/>
                        <a:buBlip>
                          <a:blip r:embed="rId3"/>
                        </a:buBlip>
                        <a:tabLst/>
                        <a:defRPr/>
                      </a:pPr>
                      <a:r>
                        <a:rPr lang="en-US" sz="1400" b="0" i="0" u="none" strike="noStrike" kern="1200" cap="none" spc="0" baseline="0">
                          <a:ln>
                            <a:noFill/>
                          </a:ln>
                          <a:solidFill>
                            <a:schemeClr val="tx2"/>
                          </a:solidFill>
                          <a:uFillTx/>
                          <a:latin typeface="Lato"/>
                          <a:ea typeface="Lato"/>
                          <a:cs typeface="Lato"/>
                          <a:sym typeface="Arial"/>
                        </a:rPr>
                        <a:t>WMTS integration for Satellite Images</a:t>
                      </a:r>
                    </a:p>
                  </a:txBody>
                  <a:tcPr marL="219456" marR="87782" marT="87782" marB="8778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alpha val="57000"/>
                      </a:schemeClr>
                    </a:solidFill>
                  </a:tcPr>
                </a:tc>
                <a:extLst>
                  <a:ext uri="{0D108BD9-81ED-4DB2-BD59-A6C34878D82A}">
                    <a16:rowId xmlns:a16="http://schemas.microsoft.com/office/drawing/2014/main" val="1533105223"/>
                  </a:ext>
                </a:extLst>
              </a:tr>
              <a:tr h="2173361">
                <a:tc>
                  <a:txBody>
                    <a:bodyPr/>
                    <a:lstStyle/>
                    <a:p>
                      <a:pPr marL="0" lvl="0" indent="0" algn="l"/>
                      <a:r>
                        <a:rPr lang="en-US" sz="1400" b="1" i="0">
                          <a:solidFill>
                            <a:schemeClr val="bg1"/>
                          </a:solidFill>
                          <a:latin typeface="Lato"/>
                          <a:ea typeface="Lato"/>
                          <a:cs typeface="Lato"/>
                        </a:rPr>
                        <a:t>Tools and Frameworks</a:t>
                      </a:r>
                    </a:p>
                  </a:txBody>
                  <a:tcPr marL="82296" marR="82296" marT="87782" marB="8778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marL="285750" marR="0" lvl="1" indent="-285750" algn="just" defTabSz="914400" rtl="0" eaLnBrk="1" fontAlgn="auto" latinLnBrk="0" hangingPunct="1">
                        <a:lnSpc>
                          <a:spcPct val="100000"/>
                        </a:lnSpc>
                        <a:spcBef>
                          <a:spcPts val="200"/>
                        </a:spcBef>
                        <a:spcAft>
                          <a:spcPts val="200"/>
                        </a:spcAft>
                        <a:buClrTx/>
                        <a:buSzTx/>
                        <a:buFontTx/>
                        <a:buBlip>
                          <a:blip r:embed="rId3"/>
                        </a:buBlip>
                        <a:tabLst/>
                        <a:defRPr/>
                      </a:pPr>
                      <a:r>
                        <a:rPr lang="en-US" sz="1400" b="0" i="0" u="none" strike="noStrike" kern="1200" cap="none" spc="0" baseline="0">
                          <a:ln>
                            <a:noFill/>
                          </a:ln>
                          <a:solidFill>
                            <a:schemeClr val="tx2"/>
                          </a:solidFill>
                          <a:uFillTx/>
                          <a:latin typeface="Lato"/>
                          <a:ea typeface="Lato"/>
                          <a:cs typeface="Lato"/>
                          <a:sym typeface="Arial"/>
                        </a:rPr>
                        <a:t>Version Control: Git (GitHub/Bitbucket/Azure) </a:t>
                      </a:r>
                    </a:p>
                    <a:p>
                      <a:pPr marL="285750" marR="0" lvl="1" indent="-285750" algn="just" defTabSz="914400" rtl="0" eaLnBrk="1" fontAlgn="auto" latinLnBrk="0" hangingPunct="1">
                        <a:lnSpc>
                          <a:spcPct val="100000"/>
                        </a:lnSpc>
                        <a:spcBef>
                          <a:spcPts val="200"/>
                        </a:spcBef>
                        <a:spcAft>
                          <a:spcPts val="200"/>
                        </a:spcAft>
                        <a:buClrTx/>
                        <a:buSzTx/>
                        <a:buFontTx/>
                        <a:buBlip>
                          <a:blip r:embed="rId3"/>
                        </a:buBlip>
                        <a:tabLst/>
                        <a:defRPr/>
                      </a:pPr>
                      <a:r>
                        <a:rPr lang="en-US" sz="1400" b="0" i="0" u="none" strike="noStrike" kern="1200" cap="none" spc="0" baseline="0">
                          <a:ln>
                            <a:noFill/>
                          </a:ln>
                          <a:solidFill>
                            <a:schemeClr val="tx2"/>
                          </a:solidFill>
                          <a:uFillTx/>
                          <a:latin typeface="Lato"/>
                          <a:ea typeface="Lato"/>
                          <a:cs typeface="Lato"/>
                          <a:sym typeface="Arial"/>
                        </a:rPr>
                        <a:t>Code Quality: Sonar Lint</a:t>
                      </a:r>
                    </a:p>
                    <a:p>
                      <a:pPr marL="285750" marR="0" lvl="1" indent="-285750" algn="just" defTabSz="914400" rtl="0" eaLnBrk="1" fontAlgn="auto" latinLnBrk="0" hangingPunct="1">
                        <a:lnSpc>
                          <a:spcPct val="100000"/>
                        </a:lnSpc>
                        <a:spcBef>
                          <a:spcPts val="200"/>
                        </a:spcBef>
                        <a:spcAft>
                          <a:spcPts val="200"/>
                        </a:spcAft>
                        <a:buClrTx/>
                        <a:buSzTx/>
                        <a:buFontTx/>
                        <a:buBlip>
                          <a:blip r:embed="rId3"/>
                        </a:buBlip>
                        <a:tabLst/>
                        <a:defRPr/>
                      </a:pPr>
                      <a:r>
                        <a:rPr lang="en-US" sz="1400" b="0" i="0" u="none" strike="noStrike" kern="1200" cap="none" spc="0" baseline="0">
                          <a:ln>
                            <a:noFill/>
                          </a:ln>
                          <a:solidFill>
                            <a:schemeClr val="tx2"/>
                          </a:solidFill>
                          <a:uFillTx/>
                          <a:latin typeface="Lato"/>
                          <a:ea typeface="Lato"/>
                          <a:cs typeface="Lato"/>
                          <a:sym typeface="Arial"/>
                        </a:rPr>
                        <a:t>Bug Reporting: Azure DevOps/Jira</a:t>
                      </a:r>
                    </a:p>
                    <a:p>
                      <a:pPr marL="285750" marR="0" lvl="1" indent="-285750" algn="just" defTabSz="914400" rtl="0" eaLnBrk="1" fontAlgn="auto" latinLnBrk="0" hangingPunct="1">
                        <a:lnSpc>
                          <a:spcPct val="100000"/>
                        </a:lnSpc>
                        <a:spcBef>
                          <a:spcPts val="200"/>
                        </a:spcBef>
                        <a:spcAft>
                          <a:spcPts val="200"/>
                        </a:spcAft>
                        <a:buClrTx/>
                        <a:buSzTx/>
                        <a:buFontTx/>
                        <a:buBlip>
                          <a:blip r:embed="rId3"/>
                        </a:buBlip>
                        <a:tabLst/>
                        <a:defRPr/>
                      </a:pPr>
                      <a:r>
                        <a:rPr lang="en-US" sz="1400" b="0" i="0" u="none" strike="noStrike" kern="1200" cap="none" spc="0" baseline="0">
                          <a:ln>
                            <a:noFill/>
                          </a:ln>
                          <a:solidFill>
                            <a:schemeClr val="tx2"/>
                          </a:solidFill>
                          <a:uFillTx/>
                          <a:latin typeface="Lato"/>
                          <a:ea typeface="Lato"/>
                          <a:cs typeface="Lato"/>
                          <a:sym typeface="Arial"/>
                        </a:rPr>
                        <a:t>Project Management: Azure DevOps/Jira</a:t>
                      </a:r>
                    </a:p>
                    <a:p>
                      <a:pPr marL="285750" marR="0" lvl="1" indent="-285750" algn="just">
                        <a:lnSpc>
                          <a:spcPct val="100000"/>
                        </a:lnSpc>
                        <a:spcBef>
                          <a:spcPts val="200"/>
                        </a:spcBef>
                        <a:spcAft>
                          <a:spcPts val="200"/>
                        </a:spcAft>
                        <a:buClrTx/>
                        <a:buSzTx/>
                        <a:buFontTx/>
                        <a:buBlip>
                          <a:blip r:embed="rId3"/>
                        </a:buBlip>
                      </a:pPr>
                      <a:r>
                        <a:rPr lang="en-US" sz="1400" b="0" i="0" u="none" strike="noStrike" kern="1200" cap="none" spc="0" baseline="0">
                          <a:ln>
                            <a:noFill/>
                          </a:ln>
                          <a:solidFill>
                            <a:schemeClr val="tx2"/>
                          </a:solidFill>
                          <a:uFillTx/>
                          <a:latin typeface="Lato"/>
                          <a:ea typeface="Lato"/>
                          <a:cs typeface="Lato"/>
                        </a:rPr>
                        <a:t>Development: Java Spring/Python, AWS services (Lambda, S3, RDS, API gateway, IAM, CloudWatch)</a:t>
                      </a:r>
                    </a:p>
                    <a:p>
                      <a:pPr marL="285750" marR="0" lvl="1" indent="-285750" algn="just">
                        <a:lnSpc>
                          <a:spcPct val="100000"/>
                        </a:lnSpc>
                        <a:spcBef>
                          <a:spcPts val="200"/>
                        </a:spcBef>
                        <a:spcAft>
                          <a:spcPts val="200"/>
                        </a:spcAft>
                        <a:buClrTx/>
                        <a:buSzTx/>
                        <a:buFontTx/>
                        <a:buBlip>
                          <a:blip r:embed="rId3"/>
                        </a:buBlip>
                      </a:pPr>
                      <a:r>
                        <a:rPr lang="en-US" sz="1400" b="0" i="0" u="none" strike="noStrike" kern="1200" cap="none" spc="0" baseline="0">
                          <a:ln>
                            <a:noFill/>
                          </a:ln>
                          <a:solidFill>
                            <a:schemeClr val="tx2"/>
                          </a:solidFill>
                          <a:uFillTx/>
                          <a:latin typeface="Lato"/>
                          <a:ea typeface="Lato"/>
                          <a:cs typeface="Lato"/>
                        </a:rPr>
                        <a:t>APIs Testing: Postman, Swagger</a:t>
                      </a:r>
                    </a:p>
                    <a:p>
                      <a:pPr marL="285750" marR="0" lvl="1" indent="-285750" algn="just">
                        <a:lnSpc>
                          <a:spcPct val="100000"/>
                        </a:lnSpc>
                        <a:spcBef>
                          <a:spcPts val="200"/>
                        </a:spcBef>
                        <a:spcAft>
                          <a:spcPts val="200"/>
                        </a:spcAft>
                        <a:buClrTx/>
                        <a:buSzTx/>
                        <a:buFontTx/>
                        <a:buBlip>
                          <a:blip r:embed="rId3"/>
                        </a:buBlip>
                      </a:pPr>
                      <a:r>
                        <a:rPr lang="en-US" sz="1400" b="0" i="0" u="none" strike="noStrike" kern="1200" cap="none" spc="0" baseline="0">
                          <a:ln>
                            <a:noFill/>
                          </a:ln>
                          <a:solidFill>
                            <a:schemeClr val="tx2"/>
                          </a:solidFill>
                          <a:uFillTx/>
                          <a:latin typeface="Lato"/>
                          <a:ea typeface="Lato"/>
                          <a:cs typeface="Lato"/>
                        </a:rPr>
                        <a:t>CI/CD: Terraform</a:t>
                      </a:r>
                    </a:p>
                    <a:p>
                      <a:pPr marL="285750" marR="0" lvl="1" indent="-285750" algn="just">
                        <a:lnSpc>
                          <a:spcPct val="100000"/>
                        </a:lnSpc>
                        <a:spcBef>
                          <a:spcPts val="200"/>
                        </a:spcBef>
                        <a:spcAft>
                          <a:spcPts val="200"/>
                        </a:spcAft>
                        <a:buClrTx/>
                        <a:buSzTx/>
                        <a:buFontTx/>
                        <a:buBlip>
                          <a:blip r:embed="rId3"/>
                        </a:buBlip>
                      </a:pPr>
                      <a:r>
                        <a:rPr lang="en-US" sz="1400" b="0" i="0" u="none" strike="noStrike" kern="1200" cap="none" spc="0" baseline="0">
                          <a:ln>
                            <a:noFill/>
                          </a:ln>
                          <a:solidFill>
                            <a:schemeClr val="tx2"/>
                          </a:solidFill>
                          <a:uFillTx/>
                          <a:latin typeface="Lato"/>
                          <a:ea typeface="Lato"/>
                          <a:cs typeface="Lato"/>
                        </a:rPr>
                        <a:t>Beta Release &amp; Internal Testing: Firebase App Distribution, Play Store Beta</a:t>
                      </a:r>
                    </a:p>
                  </a:txBody>
                  <a:tcPr marL="219456" marR="87782" marT="87782" marB="8778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alpha val="57000"/>
                      </a:schemeClr>
                    </a:solidFill>
                  </a:tcPr>
                </a:tc>
                <a:extLst>
                  <a:ext uri="{0D108BD9-81ED-4DB2-BD59-A6C34878D82A}">
                    <a16:rowId xmlns:a16="http://schemas.microsoft.com/office/drawing/2014/main" val="10004"/>
                  </a:ext>
                </a:extLst>
              </a:tr>
              <a:tr h="560851">
                <a:tc>
                  <a:txBody>
                    <a:bodyPr/>
                    <a:lstStyle/>
                    <a:p>
                      <a:pPr marL="0" lvl="0" indent="0" algn="l"/>
                      <a:r>
                        <a:rPr lang="en-US" sz="1400" b="1" i="0">
                          <a:solidFill>
                            <a:schemeClr val="bg1"/>
                          </a:solidFill>
                          <a:latin typeface="Lato"/>
                          <a:ea typeface="Lato"/>
                          <a:cs typeface="Lato"/>
                        </a:rPr>
                        <a:t>Test</a:t>
                      </a:r>
                      <a:r>
                        <a:rPr lang="en-US" sz="1400" b="1" i="0" baseline="0">
                          <a:solidFill>
                            <a:schemeClr val="bg1"/>
                          </a:solidFill>
                          <a:latin typeface="Lato"/>
                          <a:ea typeface="Lato"/>
                          <a:cs typeface="Lato"/>
                        </a:rPr>
                        <a:t> Considerations </a:t>
                      </a:r>
                      <a:endParaRPr lang="en-US" sz="1400" b="1" i="0">
                        <a:solidFill>
                          <a:schemeClr val="bg1"/>
                        </a:solidFill>
                        <a:latin typeface="Lato"/>
                        <a:ea typeface="Lato"/>
                        <a:cs typeface="Lato"/>
                      </a:endParaRPr>
                    </a:p>
                  </a:txBody>
                  <a:tcPr marL="82296" marR="82296" marT="87782" marB="8778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marL="285750" marR="0" lvl="1" indent="-285750" algn="just" defTabSz="914400" rtl="0" eaLnBrk="1" fontAlgn="auto" latinLnBrk="0" hangingPunct="1">
                        <a:lnSpc>
                          <a:spcPct val="100000"/>
                        </a:lnSpc>
                        <a:spcBef>
                          <a:spcPts val="200"/>
                        </a:spcBef>
                        <a:spcAft>
                          <a:spcPts val="200"/>
                        </a:spcAft>
                        <a:buClrTx/>
                        <a:buSzTx/>
                        <a:buFontTx/>
                        <a:buBlip>
                          <a:blip r:embed="rId3"/>
                        </a:buBlip>
                        <a:tabLst/>
                        <a:defRPr/>
                      </a:pPr>
                      <a:r>
                        <a:rPr lang="en-IN" sz="1400" b="0" i="0" u="none" strike="noStrike" kern="1200" cap="none" spc="0" baseline="0">
                          <a:ln>
                            <a:noFill/>
                          </a:ln>
                          <a:solidFill>
                            <a:schemeClr val="tx2"/>
                          </a:solidFill>
                          <a:uFillTx/>
                          <a:latin typeface="Lato"/>
                          <a:ea typeface="Lato"/>
                          <a:cs typeface="Lato"/>
                          <a:sym typeface="Arial"/>
                        </a:rPr>
                        <a:t>Automation &amp; system testing</a:t>
                      </a:r>
                    </a:p>
                    <a:p>
                      <a:pPr marL="285750" marR="0" lvl="1" indent="-285750" algn="just" defTabSz="914400" rtl="0" eaLnBrk="1" fontAlgn="auto" latinLnBrk="0" hangingPunct="1">
                        <a:lnSpc>
                          <a:spcPct val="100000"/>
                        </a:lnSpc>
                        <a:spcBef>
                          <a:spcPts val="200"/>
                        </a:spcBef>
                        <a:spcAft>
                          <a:spcPts val="200"/>
                        </a:spcAft>
                        <a:buClrTx/>
                        <a:buSzTx/>
                        <a:buFontTx/>
                        <a:buBlip>
                          <a:blip r:embed="rId3"/>
                        </a:buBlip>
                        <a:tabLst/>
                        <a:defRPr/>
                      </a:pPr>
                      <a:r>
                        <a:rPr lang="en-IN" sz="1400" b="0" i="0" u="none" strike="noStrike" kern="1200" cap="none" spc="0" baseline="0">
                          <a:ln>
                            <a:noFill/>
                          </a:ln>
                          <a:solidFill>
                            <a:schemeClr val="tx2"/>
                          </a:solidFill>
                          <a:uFillTx/>
                          <a:latin typeface="Lato"/>
                          <a:ea typeface="Lato"/>
                          <a:cs typeface="Lato"/>
                          <a:sym typeface="Arial"/>
                        </a:rPr>
                        <a:t>Total of two physical mobiles and Tablet devices of Android for mobile app</a:t>
                      </a:r>
                    </a:p>
                  </a:txBody>
                  <a:tcPr marL="219456" marR="87782" marT="87782" marB="8778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alpha val="57000"/>
                      </a:schemeClr>
                    </a:solidFill>
                  </a:tcPr>
                </a:tc>
                <a:extLst>
                  <a:ext uri="{0D108BD9-81ED-4DB2-BD59-A6C34878D82A}">
                    <a16:rowId xmlns:a16="http://schemas.microsoft.com/office/drawing/2014/main" val="10005"/>
                  </a:ext>
                </a:extLst>
              </a:tr>
              <a:tr h="321494">
                <a:tc>
                  <a:txBody>
                    <a:bodyPr/>
                    <a:lstStyle/>
                    <a:p>
                      <a:pPr marL="0" lvl="0" indent="0" algn="l"/>
                      <a:r>
                        <a:rPr lang="en-US" sz="1400" b="1" i="0">
                          <a:solidFill>
                            <a:schemeClr val="bg1"/>
                          </a:solidFill>
                          <a:latin typeface="Lato"/>
                          <a:ea typeface="Lato"/>
                          <a:cs typeface="Lato"/>
                        </a:rPr>
                        <a:t>Language</a:t>
                      </a:r>
                    </a:p>
                  </a:txBody>
                  <a:tcPr marL="82296" marR="82296" marT="87782" marB="8778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marL="285750" marR="0" lvl="1" indent="-285750" algn="just" defTabSz="914400" rtl="0" eaLnBrk="1" fontAlgn="auto" latinLnBrk="0" hangingPunct="1">
                        <a:lnSpc>
                          <a:spcPct val="100000"/>
                        </a:lnSpc>
                        <a:spcBef>
                          <a:spcPts val="200"/>
                        </a:spcBef>
                        <a:spcAft>
                          <a:spcPts val="200"/>
                        </a:spcAft>
                        <a:buClrTx/>
                        <a:buSzTx/>
                        <a:buFontTx/>
                        <a:buBlip>
                          <a:blip r:embed="rId3"/>
                        </a:buBlip>
                        <a:tabLst/>
                        <a:defRPr/>
                      </a:pPr>
                      <a:r>
                        <a:rPr lang="en-IN" sz="1400" b="0" i="0" u="none" strike="noStrike" kern="1200" cap="none" spc="0" baseline="0">
                          <a:ln>
                            <a:noFill/>
                          </a:ln>
                          <a:solidFill>
                            <a:schemeClr val="tx2"/>
                          </a:solidFill>
                          <a:uFillTx/>
                          <a:latin typeface="Lato"/>
                          <a:ea typeface="Lato"/>
                          <a:cs typeface="Lato"/>
                          <a:sym typeface="Arial"/>
                        </a:rPr>
                        <a:t>Languages supported in Mobile App: English (Content shall be provided by Topcon)</a:t>
                      </a:r>
                    </a:p>
                  </a:txBody>
                  <a:tcPr marL="219456" marR="87782" marT="87782" marB="8778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alpha val="57000"/>
                      </a:schemeClr>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7365359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67E4D-338A-4E01-B58A-523FD4DC9ACB}"/>
              </a:ext>
            </a:extLst>
          </p:cNvPr>
          <p:cNvSpPr>
            <a:spLocks noGrp="1"/>
          </p:cNvSpPr>
          <p:nvPr>
            <p:ph type="title"/>
          </p:nvPr>
        </p:nvSpPr>
        <p:spPr/>
        <p:txBody>
          <a:bodyPr/>
          <a:lstStyle/>
          <a:p>
            <a:r>
              <a:rPr lang="en-US"/>
              <a:t>Security By Design</a:t>
            </a:r>
          </a:p>
        </p:txBody>
      </p:sp>
      <p:sp>
        <p:nvSpPr>
          <p:cNvPr id="6" name="Freeform 5">
            <a:extLst>
              <a:ext uri="{FF2B5EF4-FFF2-40B4-BE49-F238E27FC236}">
                <a16:creationId xmlns:a16="http://schemas.microsoft.com/office/drawing/2014/main" id="{5395D175-7B4E-C205-1BD4-3323E940A12D}"/>
              </a:ext>
            </a:extLst>
          </p:cNvPr>
          <p:cNvSpPr>
            <a:spLocks noChangeArrowheads="1"/>
          </p:cNvSpPr>
          <p:nvPr/>
        </p:nvSpPr>
        <p:spPr bwMode="auto">
          <a:xfrm>
            <a:off x="553455" y="974558"/>
            <a:ext cx="5542141" cy="2778293"/>
          </a:xfrm>
          <a:custGeom>
            <a:avLst/>
            <a:gdLst>
              <a:gd name="connsiteX0" fmla="*/ 9732811 w 9732811"/>
              <a:gd name="connsiteY0" fmla="*/ 0 h 4887347"/>
              <a:gd name="connsiteX1" fmla="*/ 9732811 w 9732811"/>
              <a:gd name="connsiteY1" fmla="*/ 2774187 h 4887347"/>
              <a:gd name="connsiteX2" fmla="*/ 7620648 w 9732811"/>
              <a:gd name="connsiteY2" fmla="*/ 4886536 h 4887347"/>
              <a:gd name="connsiteX3" fmla="*/ 2512787 w 9732811"/>
              <a:gd name="connsiteY3" fmla="*/ 4886536 h 4887347"/>
              <a:gd name="connsiteX4" fmla="*/ 2512787 w 9732811"/>
              <a:gd name="connsiteY4" fmla="*/ 4887347 h 4887347"/>
              <a:gd name="connsiteX5" fmla="*/ 0 w 9732811"/>
              <a:gd name="connsiteY5" fmla="*/ 4887347 h 4887347"/>
              <a:gd name="connsiteX6" fmla="*/ 0 w 9732811"/>
              <a:gd name="connsiteY6" fmla="*/ 2271950 h 4887347"/>
              <a:gd name="connsiteX7" fmla="*/ 2501212 w 9732811"/>
              <a:gd name="connsiteY7" fmla="*/ 2271950 h 4887347"/>
              <a:gd name="connsiteX8" fmla="*/ 2501212 w 9732811"/>
              <a:gd name="connsiteY8" fmla="*/ 2269272 h 4887347"/>
              <a:gd name="connsiteX9" fmla="*/ 5607670 w 9732811"/>
              <a:gd name="connsiteY9" fmla="*/ 2269272 h 4887347"/>
              <a:gd name="connsiteX10" fmla="*/ 9732811 w 9732811"/>
              <a:gd name="connsiteY10" fmla="*/ 0 h 4887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32811" h="4887347">
                <a:moveTo>
                  <a:pt x="9732811" y="0"/>
                </a:moveTo>
                <a:lnTo>
                  <a:pt x="9732811" y="2774187"/>
                </a:lnTo>
                <a:cubicBezTo>
                  <a:pt x="8566162" y="2774187"/>
                  <a:pt x="7620648" y="3719784"/>
                  <a:pt x="7620648" y="4886536"/>
                </a:cubicBezTo>
                <a:lnTo>
                  <a:pt x="2512787" y="4886536"/>
                </a:lnTo>
                <a:lnTo>
                  <a:pt x="2512787" y="4887347"/>
                </a:lnTo>
                <a:lnTo>
                  <a:pt x="0" y="4887347"/>
                </a:lnTo>
                <a:lnTo>
                  <a:pt x="0" y="2271950"/>
                </a:lnTo>
                <a:lnTo>
                  <a:pt x="2501212" y="2271950"/>
                </a:lnTo>
                <a:lnTo>
                  <a:pt x="2501212" y="2269272"/>
                </a:lnTo>
                <a:lnTo>
                  <a:pt x="5607670" y="2269272"/>
                </a:lnTo>
                <a:cubicBezTo>
                  <a:pt x="6474323" y="905757"/>
                  <a:pt x="7997064" y="0"/>
                  <a:pt x="9732811" y="0"/>
                </a:cubicBezTo>
                <a:close/>
              </a:path>
            </a:pathLst>
          </a:custGeom>
          <a:solidFill>
            <a:srgbClr val="03509B"/>
          </a:solidFill>
          <a:ln>
            <a:noFill/>
          </a:ln>
          <a:effectLst/>
        </p:spPr>
        <p:txBody>
          <a:bodyPr wrap="square" anchor="ctr">
            <a:noAutofit/>
          </a:bodyPr>
          <a:lstStyle/>
          <a:p>
            <a:endParaRPr lang="en-US" sz="3266">
              <a:latin typeface="Lato Light" panose="020F0502020204030203" pitchFamily="34" charset="0"/>
            </a:endParaRPr>
          </a:p>
        </p:txBody>
      </p:sp>
      <p:sp>
        <p:nvSpPr>
          <p:cNvPr id="7" name="Freeform 6">
            <a:extLst>
              <a:ext uri="{FF2B5EF4-FFF2-40B4-BE49-F238E27FC236}">
                <a16:creationId xmlns:a16="http://schemas.microsoft.com/office/drawing/2014/main" id="{1E648012-D273-34D6-7BBE-498590BF7A38}"/>
              </a:ext>
            </a:extLst>
          </p:cNvPr>
          <p:cNvSpPr/>
          <p:nvPr/>
        </p:nvSpPr>
        <p:spPr>
          <a:xfrm>
            <a:off x="553455" y="3752850"/>
            <a:ext cx="5542141" cy="2599824"/>
          </a:xfrm>
          <a:custGeom>
            <a:avLst/>
            <a:gdLst>
              <a:gd name="connsiteX0" fmla="*/ 0 w 9732811"/>
              <a:gd name="connsiteY0" fmla="*/ 0 h 4886534"/>
              <a:gd name="connsiteX1" fmla="*/ 2512787 w 9732811"/>
              <a:gd name="connsiteY1" fmla="*/ 0 h 4886534"/>
              <a:gd name="connsiteX2" fmla="*/ 2512787 w 9732811"/>
              <a:gd name="connsiteY2" fmla="*/ 1 h 4886534"/>
              <a:gd name="connsiteX3" fmla="*/ 7620648 w 9732811"/>
              <a:gd name="connsiteY3" fmla="*/ 1 h 4886534"/>
              <a:gd name="connsiteX4" fmla="*/ 9732811 w 9732811"/>
              <a:gd name="connsiteY4" fmla="*/ 2111888 h 4886534"/>
              <a:gd name="connsiteX5" fmla="*/ 9732811 w 9732811"/>
              <a:gd name="connsiteY5" fmla="*/ 4886534 h 4886534"/>
              <a:gd name="connsiteX6" fmla="*/ 5607670 w 9732811"/>
              <a:gd name="connsiteY6" fmla="*/ 2616073 h 4886534"/>
              <a:gd name="connsiteX7" fmla="*/ 2501212 w 9732811"/>
              <a:gd name="connsiteY7" fmla="*/ 2616073 h 4886534"/>
              <a:gd name="connsiteX8" fmla="*/ 2501212 w 9732811"/>
              <a:gd name="connsiteY8" fmla="*/ 2615397 h 4886534"/>
              <a:gd name="connsiteX9" fmla="*/ 0 w 9732811"/>
              <a:gd name="connsiteY9" fmla="*/ 2615397 h 4886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32811" h="4886534">
                <a:moveTo>
                  <a:pt x="0" y="0"/>
                </a:moveTo>
                <a:lnTo>
                  <a:pt x="2512787" y="0"/>
                </a:lnTo>
                <a:lnTo>
                  <a:pt x="2512787" y="1"/>
                </a:lnTo>
                <a:lnTo>
                  <a:pt x="7620648" y="1"/>
                </a:lnTo>
                <a:cubicBezTo>
                  <a:pt x="7620648" y="1165320"/>
                  <a:pt x="8566162" y="2111888"/>
                  <a:pt x="9732811" y="2111888"/>
                </a:cubicBezTo>
                <a:lnTo>
                  <a:pt x="9732811" y="4886534"/>
                </a:lnTo>
                <a:cubicBezTo>
                  <a:pt x="7997064" y="4886534"/>
                  <a:pt x="6474323" y="3980626"/>
                  <a:pt x="5607670" y="2616073"/>
                </a:cubicBezTo>
                <a:lnTo>
                  <a:pt x="2501212" y="2616073"/>
                </a:lnTo>
                <a:lnTo>
                  <a:pt x="2501212" y="2615397"/>
                </a:lnTo>
                <a:lnTo>
                  <a:pt x="0" y="2615397"/>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Lato Light" panose="020F0502020204030203" pitchFamily="34" charset="0"/>
            </a:endParaRPr>
          </a:p>
        </p:txBody>
      </p:sp>
      <p:sp>
        <p:nvSpPr>
          <p:cNvPr id="8" name="Freeform 7">
            <a:extLst>
              <a:ext uri="{FF2B5EF4-FFF2-40B4-BE49-F238E27FC236}">
                <a16:creationId xmlns:a16="http://schemas.microsoft.com/office/drawing/2014/main" id="{4CC8B631-8BFA-9953-C4ED-DD21FD9B0A4A}"/>
              </a:ext>
            </a:extLst>
          </p:cNvPr>
          <p:cNvSpPr>
            <a:spLocks noChangeArrowheads="1"/>
          </p:cNvSpPr>
          <p:nvPr/>
        </p:nvSpPr>
        <p:spPr bwMode="auto">
          <a:xfrm>
            <a:off x="6096000" y="3752850"/>
            <a:ext cx="5542141" cy="2599824"/>
          </a:xfrm>
          <a:custGeom>
            <a:avLst/>
            <a:gdLst>
              <a:gd name="connsiteX0" fmla="*/ 7220841 w 9733627"/>
              <a:gd name="connsiteY0" fmla="*/ 0 h 4886534"/>
              <a:gd name="connsiteX1" fmla="*/ 9733627 w 9733627"/>
              <a:gd name="connsiteY1" fmla="*/ 0 h 4886534"/>
              <a:gd name="connsiteX2" fmla="*/ 9733627 w 9733627"/>
              <a:gd name="connsiteY2" fmla="*/ 2615397 h 4886534"/>
              <a:gd name="connsiteX3" fmla="*/ 7231601 w 9733627"/>
              <a:gd name="connsiteY3" fmla="*/ 2615397 h 4886534"/>
              <a:gd name="connsiteX4" fmla="*/ 7231601 w 9733627"/>
              <a:gd name="connsiteY4" fmla="*/ 2616073 h 4886534"/>
              <a:gd name="connsiteX5" fmla="*/ 4125257 w 9733627"/>
              <a:gd name="connsiteY5" fmla="*/ 2616073 h 4886534"/>
              <a:gd name="connsiteX6" fmla="*/ 0 w 9733627"/>
              <a:gd name="connsiteY6" fmla="*/ 4886534 h 4886534"/>
              <a:gd name="connsiteX7" fmla="*/ 0 w 9733627"/>
              <a:gd name="connsiteY7" fmla="*/ 2111888 h 4886534"/>
              <a:gd name="connsiteX8" fmla="*/ 2111826 w 9733627"/>
              <a:gd name="connsiteY8" fmla="*/ 1 h 4886534"/>
              <a:gd name="connsiteX9" fmla="*/ 7220841 w 9733627"/>
              <a:gd name="connsiteY9" fmla="*/ 1 h 4886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33627" h="4886534">
                <a:moveTo>
                  <a:pt x="7220841" y="0"/>
                </a:moveTo>
                <a:lnTo>
                  <a:pt x="9733627" y="0"/>
                </a:lnTo>
                <a:lnTo>
                  <a:pt x="9733627" y="2615397"/>
                </a:lnTo>
                <a:lnTo>
                  <a:pt x="7231601" y="2615397"/>
                </a:lnTo>
                <a:lnTo>
                  <a:pt x="7231601" y="2616073"/>
                </a:lnTo>
                <a:lnTo>
                  <a:pt x="4125257" y="2616073"/>
                </a:lnTo>
                <a:cubicBezTo>
                  <a:pt x="3258409" y="3980626"/>
                  <a:pt x="1735324" y="4886534"/>
                  <a:pt x="0" y="4886534"/>
                </a:cubicBezTo>
                <a:lnTo>
                  <a:pt x="0" y="2111888"/>
                </a:lnTo>
                <a:cubicBezTo>
                  <a:pt x="1166099" y="2111888"/>
                  <a:pt x="2111826" y="1165320"/>
                  <a:pt x="2111826" y="1"/>
                </a:cubicBezTo>
                <a:lnTo>
                  <a:pt x="7220841" y="1"/>
                </a:lnTo>
                <a:close/>
              </a:path>
            </a:pathLst>
          </a:custGeom>
          <a:solidFill>
            <a:srgbClr val="0081E2"/>
          </a:solidFill>
          <a:ln>
            <a:noFill/>
          </a:ln>
          <a:effectLst/>
        </p:spPr>
        <p:txBody>
          <a:bodyPr wrap="square" anchor="ctr">
            <a:noAutofit/>
          </a:bodyPr>
          <a:lstStyle/>
          <a:p>
            <a:endParaRPr lang="en-US" sz="3266">
              <a:latin typeface="Lato Light" panose="020F0502020204030203" pitchFamily="34" charset="0"/>
            </a:endParaRPr>
          </a:p>
        </p:txBody>
      </p:sp>
      <p:sp>
        <p:nvSpPr>
          <p:cNvPr id="9" name="Freeform 8">
            <a:extLst>
              <a:ext uri="{FF2B5EF4-FFF2-40B4-BE49-F238E27FC236}">
                <a16:creationId xmlns:a16="http://schemas.microsoft.com/office/drawing/2014/main" id="{A12CA202-91C5-A32B-7D34-E5086E70FF86}"/>
              </a:ext>
            </a:extLst>
          </p:cNvPr>
          <p:cNvSpPr>
            <a:spLocks noChangeArrowheads="1"/>
          </p:cNvSpPr>
          <p:nvPr/>
        </p:nvSpPr>
        <p:spPr bwMode="auto">
          <a:xfrm>
            <a:off x="6096000" y="974558"/>
            <a:ext cx="5542141" cy="2778293"/>
          </a:xfrm>
          <a:custGeom>
            <a:avLst/>
            <a:gdLst>
              <a:gd name="connsiteX0" fmla="*/ 0 w 9733627"/>
              <a:gd name="connsiteY0" fmla="*/ 0 h 4887347"/>
              <a:gd name="connsiteX1" fmla="*/ 4125257 w 9733627"/>
              <a:gd name="connsiteY1" fmla="*/ 2269272 h 4887347"/>
              <a:gd name="connsiteX2" fmla="*/ 7231601 w 9733627"/>
              <a:gd name="connsiteY2" fmla="*/ 2269272 h 4887347"/>
              <a:gd name="connsiteX3" fmla="*/ 7231601 w 9733627"/>
              <a:gd name="connsiteY3" fmla="*/ 2271950 h 4887347"/>
              <a:gd name="connsiteX4" fmla="*/ 9733627 w 9733627"/>
              <a:gd name="connsiteY4" fmla="*/ 2271950 h 4887347"/>
              <a:gd name="connsiteX5" fmla="*/ 9733627 w 9733627"/>
              <a:gd name="connsiteY5" fmla="*/ 4887347 h 4887347"/>
              <a:gd name="connsiteX6" fmla="*/ 7220841 w 9733627"/>
              <a:gd name="connsiteY6" fmla="*/ 4887347 h 4887347"/>
              <a:gd name="connsiteX7" fmla="*/ 7220841 w 9733627"/>
              <a:gd name="connsiteY7" fmla="*/ 4886536 h 4887347"/>
              <a:gd name="connsiteX8" fmla="*/ 2111826 w 9733627"/>
              <a:gd name="connsiteY8" fmla="*/ 4886536 h 4887347"/>
              <a:gd name="connsiteX9" fmla="*/ 0 w 9733627"/>
              <a:gd name="connsiteY9" fmla="*/ 2774187 h 4887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33627" h="4887347">
                <a:moveTo>
                  <a:pt x="0" y="0"/>
                </a:moveTo>
                <a:cubicBezTo>
                  <a:pt x="1735324" y="0"/>
                  <a:pt x="3258409" y="905757"/>
                  <a:pt x="4125257" y="2269272"/>
                </a:cubicBezTo>
                <a:lnTo>
                  <a:pt x="7231601" y="2269272"/>
                </a:lnTo>
                <a:lnTo>
                  <a:pt x="7231601" y="2271950"/>
                </a:lnTo>
                <a:lnTo>
                  <a:pt x="9733627" y="2271950"/>
                </a:lnTo>
                <a:lnTo>
                  <a:pt x="9733627" y="4887347"/>
                </a:lnTo>
                <a:lnTo>
                  <a:pt x="7220841" y="4887347"/>
                </a:lnTo>
                <a:lnTo>
                  <a:pt x="7220841" y="4886536"/>
                </a:lnTo>
                <a:lnTo>
                  <a:pt x="2111826" y="4886536"/>
                </a:lnTo>
                <a:cubicBezTo>
                  <a:pt x="2111826" y="3719784"/>
                  <a:pt x="1166099" y="2774187"/>
                  <a:pt x="0" y="2774187"/>
                </a:cubicBezTo>
                <a:close/>
              </a:path>
            </a:pathLst>
          </a:custGeom>
          <a:solidFill>
            <a:srgbClr val="00B0F0"/>
          </a:solidFill>
          <a:ln>
            <a:noFill/>
          </a:ln>
          <a:effectLst/>
        </p:spPr>
        <p:txBody>
          <a:bodyPr wrap="square" anchor="ctr">
            <a:noAutofit/>
          </a:bodyPr>
          <a:lstStyle/>
          <a:p>
            <a:endParaRPr lang="en-US" sz="3266">
              <a:latin typeface="Lato Light" panose="020F0502020204030203" pitchFamily="34" charset="0"/>
            </a:endParaRPr>
          </a:p>
        </p:txBody>
      </p:sp>
      <p:sp>
        <p:nvSpPr>
          <p:cNvPr id="10" name="TextBox 9">
            <a:extLst>
              <a:ext uri="{FF2B5EF4-FFF2-40B4-BE49-F238E27FC236}">
                <a16:creationId xmlns:a16="http://schemas.microsoft.com/office/drawing/2014/main" id="{C52CEB17-CF38-0B8E-086A-0BA72650F621}"/>
              </a:ext>
            </a:extLst>
          </p:cNvPr>
          <p:cNvSpPr txBox="1"/>
          <p:nvPr/>
        </p:nvSpPr>
        <p:spPr>
          <a:xfrm>
            <a:off x="4147281" y="4959042"/>
            <a:ext cx="1731061" cy="584775"/>
          </a:xfrm>
          <a:prstGeom prst="rect">
            <a:avLst/>
          </a:prstGeom>
          <a:noFill/>
        </p:spPr>
        <p:txBody>
          <a:bodyPr wrap="square" rtlCol="0" anchor="t" anchorCtr="0">
            <a:spAutoFit/>
          </a:bodyPr>
          <a:lstStyle/>
          <a:p>
            <a:pPr algn="ctr"/>
            <a:r>
              <a:rPr lang="en-US" sz="1600" b="1">
                <a:solidFill>
                  <a:schemeClr val="bg1"/>
                </a:solidFill>
                <a:latin typeface="Lato" panose="020F0502020204030203" pitchFamily="34" charset="0"/>
                <a:ea typeface="Lato" panose="020F0502020204030203" pitchFamily="34" charset="0"/>
                <a:cs typeface="Lato" panose="020F0502020204030203" pitchFamily="34" charset="0"/>
              </a:rPr>
              <a:t>VAPT/Security Testing</a:t>
            </a:r>
          </a:p>
        </p:txBody>
      </p:sp>
      <p:sp>
        <p:nvSpPr>
          <p:cNvPr id="11" name="TextBox 10">
            <a:extLst>
              <a:ext uri="{FF2B5EF4-FFF2-40B4-BE49-F238E27FC236}">
                <a16:creationId xmlns:a16="http://schemas.microsoft.com/office/drawing/2014/main" id="{398B6B57-80B1-F3E8-573F-EA710276FBD9}"/>
              </a:ext>
            </a:extLst>
          </p:cNvPr>
          <p:cNvSpPr txBox="1"/>
          <p:nvPr/>
        </p:nvSpPr>
        <p:spPr>
          <a:xfrm>
            <a:off x="3764999" y="2303440"/>
            <a:ext cx="1539204" cy="338554"/>
          </a:xfrm>
          <a:prstGeom prst="rect">
            <a:avLst/>
          </a:prstGeom>
          <a:noFill/>
        </p:spPr>
        <p:txBody>
          <a:bodyPr wrap="square" rtlCol="0" anchor="t" anchorCtr="0">
            <a:spAutoFit/>
          </a:bodyPr>
          <a:lstStyle/>
          <a:p>
            <a:pPr algn="ctr"/>
            <a:r>
              <a:rPr lang="en-US" sz="1600" b="1">
                <a:solidFill>
                  <a:schemeClr val="bg1"/>
                </a:solidFill>
                <a:latin typeface="Lato" panose="020F0502020204030203" pitchFamily="34" charset="0"/>
                <a:ea typeface="Lato" panose="020F0502020204030203" pitchFamily="34" charset="0"/>
                <a:cs typeface="Lato" panose="020F0502020204030203" pitchFamily="34" charset="0"/>
              </a:rPr>
              <a:t>Design Phase</a:t>
            </a:r>
          </a:p>
        </p:txBody>
      </p:sp>
      <p:sp>
        <p:nvSpPr>
          <p:cNvPr id="12" name="TextBox 11">
            <a:extLst>
              <a:ext uri="{FF2B5EF4-FFF2-40B4-BE49-F238E27FC236}">
                <a16:creationId xmlns:a16="http://schemas.microsoft.com/office/drawing/2014/main" id="{37E14754-B84C-64F5-1BCF-8A729C14E725}"/>
              </a:ext>
            </a:extLst>
          </p:cNvPr>
          <p:cNvSpPr txBox="1"/>
          <p:nvPr/>
        </p:nvSpPr>
        <p:spPr>
          <a:xfrm>
            <a:off x="6904041" y="2267611"/>
            <a:ext cx="1253868" cy="584775"/>
          </a:xfrm>
          <a:prstGeom prst="rect">
            <a:avLst/>
          </a:prstGeom>
          <a:noFill/>
        </p:spPr>
        <p:txBody>
          <a:bodyPr wrap="square" rtlCol="0" anchor="t" anchorCtr="0">
            <a:spAutoFit/>
          </a:bodyPr>
          <a:lstStyle/>
          <a:p>
            <a:pPr algn="ctr"/>
            <a:r>
              <a:rPr lang="en-US" sz="1600" b="1">
                <a:solidFill>
                  <a:schemeClr val="bg1"/>
                </a:solidFill>
                <a:latin typeface="Lato" panose="020F0502020204030203" pitchFamily="34" charset="0"/>
                <a:ea typeface="Lato" panose="020F0502020204030203" pitchFamily="34" charset="0"/>
                <a:cs typeface="Lato" panose="020F0502020204030203" pitchFamily="34" charset="0"/>
              </a:rPr>
              <a:t>Coding</a:t>
            </a:r>
          </a:p>
          <a:p>
            <a:pPr algn="ctr"/>
            <a:r>
              <a:rPr lang="en-US" sz="1600" b="1">
                <a:solidFill>
                  <a:schemeClr val="bg1"/>
                </a:solidFill>
                <a:latin typeface="Lato" panose="020F0502020204030203" pitchFamily="34" charset="0"/>
                <a:ea typeface="Lato" panose="020F0502020204030203" pitchFamily="34" charset="0"/>
                <a:cs typeface="Lato" panose="020F0502020204030203" pitchFamily="34" charset="0"/>
              </a:rPr>
              <a:t>Phase</a:t>
            </a:r>
          </a:p>
        </p:txBody>
      </p:sp>
      <p:sp>
        <p:nvSpPr>
          <p:cNvPr id="13" name="TextBox 12">
            <a:extLst>
              <a:ext uri="{FF2B5EF4-FFF2-40B4-BE49-F238E27FC236}">
                <a16:creationId xmlns:a16="http://schemas.microsoft.com/office/drawing/2014/main" id="{69BE067A-59C4-9895-AAB7-2DA7E2506853}"/>
              </a:ext>
            </a:extLst>
          </p:cNvPr>
          <p:cNvSpPr txBox="1"/>
          <p:nvPr/>
        </p:nvSpPr>
        <p:spPr>
          <a:xfrm>
            <a:off x="6176482" y="4969004"/>
            <a:ext cx="1976409" cy="584775"/>
          </a:xfrm>
          <a:prstGeom prst="rect">
            <a:avLst/>
          </a:prstGeom>
          <a:noFill/>
        </p:spPr>
        <p:txBody>
          <a:bodyPr wrap="square" rtlCol="0" anchor="t" anchorCtr="0">
            <a:spAutoFit/>
          </a:bodyPr>
          <a:lstStyle/>
          <a:p>
            <a:pPr algn="ctr"/>
            <a:r>
              <a:rPr lang="en-US" sz="1600" b="1">
                <a:solidFill>
                  <a:schemeClr val="bg1"/>
                </a:solidFill>
                <a:latin typeface="Lato" panose="020F0502020204030203" pitchFamily="34" charset="0"/>
                <a:ea typeface="Lato" panose="020F0502020204030203" pitchFamily="34" charset="0"/>
                <a:cs typeface="Lato" panose="020F0502020204030203" pitchFamily="34" charset="0"/>
              </a:rPr>
              <a:t>Post Implementation</a:t>
            </a:r>
          </a:p>
        </p:txBody>
      </p:sp>
      <p:sp>
        <p:nvSpPr>
          <p:cNvPr id="14" name="Freeform 974">
            <a:extLst>
              <a:ext uri="{FF2B5EF4-FFF2-40B4-BE49-F238E27FC236}">
                <a16:creationId xmlns:a16="http://schemas.microsoft.com/office/drawing/2014/main" id="{1C718A8A-6262-0C7B-05C4-66C8C81F04F7}"/>
              </a:ext>
            </a:extLst>
          </p:cNvPr>
          <p:cNvSpPr>
            <a:spLocks noChangeAspect="1" noChangeArrowheads="1"/>
          </p:cNvSpPr>
          <p:nvPr/>
        </p:nvSpPr>
        <p:spPr bwMode="auto">
          <a:xfrm>
            <a:off x="6402382" y="1404954"/>
            <a:ext cx="706832" cy="706832"/>
          </a:xfrm>
          <a:custGeom>
            <a:avLst/>
            <a:gdLst>
              <a:gd name="T0" fmla="*/ 171517 w 288565"/>
              <a:gd name="T1" fmla="*/ 244515 h 288564"/>
              <a:gd name="T2" fmla="*/ 81165 w 288565"/>
              <a:gd name="T3" fmla="*/ 244515 h 288564"/>
              <a:gd name="T4" fmla="*/ 37293 w 288565"/>
              <a:gd name="T5" fmla="*/ 242961 h 288564"/>
              <a:gd name="T6" fmla="*/ 47384 w 288565"/>
              <a:gd name="T7" fmla="*/ 232966 h 288564"/>
              <a:gd name="T8" fmla="*/ 47384 w 288565"/>
              <a:gd name="T9" fmla="*/ 262237 h 288564"/>
              <a:gd name="T10" fmla="*/ 85098 w 288565"/>
              <a:gd name="T11" fmla="*/ 181428 h 288564"/>
              <a:gd name="T12" fmla="*/ 125853 w 288565"/>
              <a:gd name="T13" fmla="*/ 190610 h 288564"/>
              <a:gd name="T14" fmla="*/ 85098 w 288565"/>
              <a:gd name="T15" fmla="*/ 181428 h 288564"/>
              <a:gd name="T16" fmla="*/ 47384 w 288565"/>
              <a:gd name="T17" fmla="*/ 196292 h 288564"/>
              <a:gd name="T18" fmla="*/ 47384 w 288565"/>
              <a:gd name="T19" fmla="*/ 167106 h 288564"/>
              <a:gd name="T20" fmla="*/ 28647 w 288565"/>
              <a:gd name="T21" fmla="*/ 186203 h 288564"/>
              <a:gd name="T22" fmla="*/ 204488 w 288565"/>
              <a:gd name="T23" fmla="*/ 145977 h 288564"/>
              <a:gd name="T24" fmla="*/ 195466 w 288565"/>
              <a:gd name="T25" fmla="*/ 166359 h 288564"/>
              <a:gd name="T26" fmla="*/ 212067 w 288565"/>
              <a:gd name="T27" fmla="*/ 181645 h 288564"/>
              <a:gd name="T28" fmla="*/ 235525 w 288565"/>
              <a:gd name="T29" fmla="*/ 192199 h 288564"/>
              <a:gd name="T30" fmla="*/ 248517 w 288565"/>
              <a:gd name="T31" fmla="*/ 151437 h 288564"/>
              <a:gd name="T32" fmla="*/ 213871 w 288565"/>
              <a:gd name="T33" fmla="*/ 126325 h 288564"/>
              <a:gd name="T34" fmla="*/ 136504 w 288565"/>
              <a:gd name="T35" fmla="*/ 127128 h 288564"/>
              <a:gd name="T36" fmla="*/ 81165 w 288565"/>
              <a:gd name="T37" fmla="*/ 127128 h 288564"/>
              <a:gd name="T38" fmla="*/ 37293 w 288565"/>
              <a:gd name="T39" fmla="*/ 126958 h 288564"/>
              <a:gd name="T40" fmla="*/ 47384 w 288565"/>
              <a:gd name="T41" fmla="*/ 116508 h 288564"/>
              <a:gd name="T42" fmla="*/ 230473 w 288565"/>
              <a:gd name="T43" fmla="*/ 139791 h 288564"/>
              <a:gd name="T44" fmla="*/ 261148 w 288565"/>
              <a:gd name="T45" fmla="*/ 151437 h 288564"/>
              <a:gd name="T46" fmla="*/ 243464 w 288565"/>
              <a:gd name="T47" fmla="*/ 203481 h 288564"/>
              <a:gd name="T48" fmla="*/ 213871 w 288565"/>
              <a:gd name="T49" fmla="*/ 190743 h 288564"/>
              <a:gd name="T50" fmla="*/ 182836 w 288565"/>
              <a:gd name="T51" fmla="*/ 199478 h 288564"/>
              <a:gd name="T52" fmla="*/ 165873 w 288565"/>
              <a:gd name="T53" fmla="*/ 146705 h 288564"/>
              <a:gd name="T54" fmla="*/ 209902 w 288565"/>
              <a:gd name="T55" fmla="*/ 114315 h 288564"/>
              <a:gd name="T56" fmla="*/ 47384 w 288565"/>
              <a:gd name="T57" fmla="*/ 146055 h 288564"/>
              <a:gd name="T58" fmla="*/ 214526 w 288565"/>
              <a:gd name="T59" fmla="*/ 96188 h 288564"/>
              <a:gd name="T60" fmla="*/ 280256 w 288565"/>
              <a:gd name="T61" fmla="*/ 162000 h 288564"/>
              <a:gd name="T62" fmla="*/ 197047 w 288565"/>
              <a:gd name="T63" fmla="*/ 63659 h 288564"/>
              <a:gd name="T64" fmla="*/ 146348 w 288565"/>
              <a:gd name="T65" fmla="*/ 72841 h 288564"/>
              <a:gd name="T66" fmla="*/ 85162 w 288565"/>
              <a:gd name="T67" fmla="*/ 63659 h 288564"/>
              <a:gd name="T68" fmla="*/ 122593 w 288565"/>
              <a:gd name="T69" fmla="*/ 72841 h 288564"/>
              <a:gd name="T70" fmla="*/ 85162 w 288565"/>
              <a:gd name="T71" fmla="*/ 63659 h 288564"/>
              <a:gd name="T72" fmla="*/ 47384 w 288565"/>
              <a:gd name="T73" fmla="*/ 78164 h 288564"/>
              <a:gd name="T74" fmla="*/ 47384 w 288565"/>
              <a:gd name="T75" fmla="*/ 49337 h 288564"/>
              <a:gd name="T76" fmla="*/ 28647 w 288565"/>
              <a:gd name="T77" fmla="*/ 68434 h 288564"/>
              <a:gd name="T78" fmla="*/ 67175 w 288565"/>
              <a:gd name="T79" fmla="*/ 21696 h 288564"/>
              <a:gd name="T80" fmla="*/ 163241 w 288565"/>
              <a:gd name="T81" fmla="*/ 21696 h 288564"/>
              <a:gd name="T82" fmla="*/ 22030 w 288565"/>
              <a:gd name="T83" fmla="*/ 8679 h 288564"/>
              <a:gd name="T84" fmla="*/ 22030 w 288565"/>
              <a:gd name="T85" fmla="*/ 280608 h 288564"/>
              <a:gd name="T86" fmla="*/ 222110 w 288565"/>
              <a:gd name="T87" fmla="*/ 236491 h 288564"/>
              <a:gd name="T88" fmla="*/ 214526 w 288565"/>
              <a:gd name="T89" fmla="*/ 87509 h 288564"/>
              <a:gd name="T90" fmla="*/ 208748 w 288565"/>
              <a:gd name="T91" fmla="*/ 8679 h 288564"/>
              <a:gd name="T92" fmla="*/ 156381 w 288565"/>
              <a:gd name="T93" fmla="*/ 37968 h 288564"/>
              <a:gd name="T94" fmla="*/ 58145 w 288565"/>
              <a:gd name="T95" fmla="*/ 8679 h 288564"/>
              <a:gd name="T96" fmla="*/ 208748 w 288565"/>
              <a:gd name="T97" fmla="*/ 0 h 288564"/>
              <a:gd name="T98" fmla="*/ 289285 w 288565"/>
              <a:gd name="T99" fmla="*/ 162000 h 288564"/>
              <a:gd name="T100" fmla="*/ 208748 w 288565"/>
              <a:gd name="T101" fmla="*/ 289286 h 288564"/>
              <a:gd name="T102" fmla="*/ 0 w 288565"/>
              <a:gd name="T103" fmla="*/ 21696 h 28856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88565" h="288564">
                <a:moveTo>
                  <a:pt x="84929" y="239713"/>
                </a:moveTo>
                <a:lnTo>
                  <a:pt x="167124" y="239713"/>
                </a:lnTo>
                <a:cubicBezTo>
                  <a:pt x="168927" y="239713"/>
                  <a:pt x="171090" y="241999"/>
                  <a:pt x="171090" y="243904"/>
                </a:cubicBezTo>
                <a:cubicBezTo>
                  <a:pt x="171090" y="246571"/>
                  <a:pt x="168927" y="248857"/>
                  <a:pt x="167124" y="248857"/>
                </a:cubicBezTo>
                <a:lnTo>
                  <a:pt x="84929" y="248857"/>
                </a:lnTo>
                <a:cubicBezTo>
                  <a:pt x="82765" y="248857"/>
                  <a:pt x="80963" y="246571"/>
                  <a:pt x="80963" y="243904"/>
                </a:cubicBezTo>
                <a:cubicBezTo>
                  <a:pt x="80963" y="241999"/>
                  <a:pt x="82765" y="239713"/>
                  <a:pt x="84929" y="239713"/>
                </a:cubicBezTo>
                <a:close/>
                <a:moveTo>
                  <a:pt x="47266" y="232384"/>
                </a:moveTo>
                <a:cubicBezTo>
                  <a:pt x="41515" y="232384"/>
                  <a:pt x="37201" y="236657"/>
                  <a:pt x="37201" y="242354"/>
                </a:cubicBezTo>
                <a:cubicBezTo>
                  <a:pt x="37201" y="248051"/>
                  <a:pt x="41515" y="252680"/>
                  <a:pt x="47266" y="252680"/>
                </a:cubicBezTo>
                <a:cubicBezTo>
                  <a:pt x="53016" y="252680"/>
                  <a:pt x="57330" y="248051"/>
                  <a:pt x="57330" y="242354"/>
                </a:cubicBezTo>
                <a:cubicBezTo>
                  <a:pt x="57330" y="236657"/>
                  <a:pt x="53016" y="232384"/>
                  <a:pt x="47266" y="232384"/>
                </a:cubicBezTo>
                <a:close/>
                <a:moveTo>
                  <a:pt x="47266" y="223838"/>
                </a:moveTo>
                <a:cubicBezTo>
                  <a:pt x="58049" y="223838"/>
                  <a:pt x="66316" y="232384"/>
                  <a:pt x="66316" y="242354"/>
                </a:cubicBezTo>
                <a:cubicBezTo>
                  <a:pt x="66316" y="253036"/>
                  <a:pt x="58049" y="261582"/>
                  <a:pt x="47266" y="261582"/>
                </a:cubicBezTo>
                <a:cubicBezTo>
                  <a:pt x="37201" y="261582"/>
                  <a:pt x="28575" y="253036"/>
                  <a:pt x="28575" y="242354"/>
                </a:cubicBezTo>
                <a:cubicBezTo>
                  <a:pt x="28575" y="232384"/>
                  <a:pt x="37201" y="223838"/>
                  <a:pt x="47266" y="223838"/>
                </a:cubicBezTo>
                <a:close/>
                <a:moveTo>
                  <a:pt x="84886" y="180975"/>
                </a:moveTo>
                <a:lnTo>
                  <a:pt x="125539" y="180975"/>
                </a:lnTo>
                <a:cubicBezTo>
                  <a:pt x="127679" y="180975"/>
                  <a:pt x="129818" y="183173"/>
                  <a:pt x="129818" y="185738"/>
                </a:cubicBezTo>
                <a:cubicBezTo>
                  <a:pt x="129818" y="187936"/>
                  <a:pt x="127679" y="190134"/>
                  <a:pt x="125539" y="190134"/>
                </a:cubicBezTo>
                <a:lnTo>
                  <a:pt x="84886" y="190134"/>
                </a:lnTo>
                <a:cubicBezTo>
                  <a:pt x="82746" y="190134"/>
                  <a:pt x="80963" y="187936"/>
                  <a:pt x="80963" y="185738"/>
                </a:cubicBezTo>
                <a:cubicBezTo>
                  <a:pt x="80963" y="183173"/>
                  <a:pt x="82746" y="180975"/>
                  <a:pt x="84886" y="180975"/>
                </a:cubicBezTo>
                <a:close/>
                <a:moveTo>
                  <a:pt x="47266" y="175314"/>
                </a:moveTo>
                <a:cubicBezTo>
                  <a:pt x="41515" y="175314"/>
                  <a:pt x="37201" y="180347"/>
                  <a:pt x="37201" y="185738"/>
                </a:cubicBezTo>
                <a:cubicBezTo>
                  <a:pt x="37201" y="191130"/>
                  <a:pt x="41515" y="195802"/>
                  <a:pt x="47266" y="195802"/>
                </a:cubicBezTo>
                <a:cubicBezTo>
                  <a:pt x="53016" y="195802"/>
                  <a:pt x="57330" y="191130"/>
                  <a:pt x="57330" y="185738"/>
                </a:cubicBezTo>
                <a:cubicBezTo>
                  <a:pt x="57330" y="180347"/>
                  <a:pt x="53016" y="175314"/>
                  <a:pt x="47266" y="175314"/>
                </a:cubicBezTo>
                <a:close/>
                <a:moveTo>
                  <a:pt x="47266" y="166688"/>
                </a:moveTo>
                <a:cubicBezTo>
                  <a:pt x="58049" y="166688"/>
                  <a:pt x="66316" y="175314"/>
                  <a:pt x="66316" y="185738"/>
                </a:cubicBezTo>
                <a:cubicBezTo>
                  <a:pt x="66316" y="196162"/>
                  <a:pt x="58049" y="204429"/>
                  <a:pt x="47266" y="204429"/>
                </a:cubicBezTo>
                <a:cubicBezTo>
                  <a:pt x="37201" y="204429"/>
                  <a:pt x="28575" y="196162"/>
                  <a:pt x="28575" y="185738"/>
                </a:cubicBezTo>
                <a:cubicBezTo>
                  <a:pt x="28575" y="175314"/>
                  <a:pt x="37201" y="166688"/>
                  <a:pt x="47266" y="166688"/>
                </a:cubicBezTo>
                <a:close/>
                <a:moveTo>
                  <a:pt x="213339" y="126009"/>
                </a:moveTo>
                <a:lnTo>
                  <a:pt x="203979" y="145613"/>
                </a:lnTo>
                <a:cubicBezTo>
                  <a:pt x="203619" y="146702"/>
                  <a:pt x="201819" y="147792"/>
                  <a:pt x="200739" y="148155"/>
                </a:cubicBezTo>
                <a:lnTo>
                  <a:pt x="179500" y="151059"/>
                </a:lnTo>
                <a:lnTo>
                  <a:pt x="194979" y="165943"/>
                </a:lnTo>
                <a:cubicBezTo>
                  <a:pt x="195699" y="167395"/>
                  <a:pt x="196059" y="168485"/>
                  <a:pt x="196059" y="170300"/>
                </a:cubicBezTo>
                <a:lnTo>
                  <a:pt x="192459" y="191719"/>
                </a:lnTo>
                <a:lnTo>
                  <a:pt x="211539" y="181191"/>
                </a:lnTo>
                <a:cubicBezTo>
                  <a:pt x="211899" y="181191"/>
                  <a:pt x="212979" y="180828"/>
                  <a:pt x="213339" y="180828"/>
                </a:cubicBezTo>
                <a:cubicBezTo>
                  <a:pt x="214059" y="180828"/>
                  <a:pt x="214779" y="181191"/>
                  <a:pt x="215499" y="181191"/>
                </a:cubicBezTo>
                <a:lnTo>
                  <a:pt x="234939" y="191719"/>
                </a:lnTo>
                <a:lnTo>
                  <a:pt x="230979" y="170300"/>
                </a:lnTo>
                <a:cubicBezTo>
                  <a:pt x="230619" y="168485"/>
                  <a:pt x="230979" y="167395"/>
                  <a:pt x="232419" y="165943"/>
                </a:cubicBezTo>
                <a:lnTo>
                  <a:pt x="247898" y="151059"/>
                </a:lnTo>
                <a:lnTo>
                  <a:pt x="226299" y="148155"/>
                </a:lnTo>
                <a:cubicBezTo>
                  <a:pt x="224859" y="147792"/>
                  <a:pt x="223779" y="146702"/>
                  <a:pt x="223059" y="145613"/>
                </a:cubicBezTo>
                <a:lnTo>
                  <a:pt x="213339" y="126009"/>
                </a:lnTo>
                <a:close/>
                <a:moveTo>
                  <a:pt x="84932" y="122238"/>
                </a:moveTo>
                <a:lnTo>
                  <a:pt x="131835" y="122238"/>
                </a:lnTo>
                <a:cubicBezTo>
                  <a:pt x="134360" y="122238"/>
                  <a:pt x="136164" y="124524"/>
                  <a:pt x="136164" y="126810"/>
                </a:cubicBezTo>
                <a:cubicBezTo>
                  <a:pt x="136164" y="129096"/>
                  <a:pt x="134360" y="131382"/>
                  <a:pt x="131835" y="131382"/>
                </a:cubicBezTo>
                <a:lnTo>
                  <a:pt x="84932" y="131382"/>
                </a:lnTo>
                <a:cubicBezTo>
                  <a:pt x="82767" y="131382"/>
                  <a:pt x="80963" y="129096"/>
                  <a:pt x="80963" y="126810"/>
                </a:cubicBezTo>
                <a:cubicBezTo>
                  <a:pt x="80963" y="124524"/>
                  <a:pt x="82767" y="122238"/>
                  <a:pt x="84932" y="122238"/>
                </a:cubicBezTo>
                <a:close/>
                <a:moveTo>
                  <a:pt x="47266" y="116217"/>
                </a:moveTo>
                <a:cubicBezTo>
                  <a:pt x="41515" y="116217"/>
                  <a:pt x="37201" y="121249"/>
                  <a:pt x="37201" y="126641"/>
                </a:cubicBezTo>
                <a:cubicBezTo>
                  <a:pt x="37201" y="132751"/>
                  <a:pt x="41515" y="137064"/>
                  <a:pt x="47266" y="137064"/>
                </a:cubicBezTo>
                <a:cubicBezTo>
                  <a:pt x="53016" y="137064"/>
                  <a:pt x="57330" y="132751"/>
                  <a:pt x="57330" y="126641"/>
                </a:cubicBezTo>
                <a:cubicBezTo>
                  <a:pt x="57330" y="121249"/>
                  <a:pt x="53016" y="116217"/>
                  <a:pt x="47266" y="116217"/>
                </a:cubicBezTo>
                <a:close/>
                <a:moveTo>
                  <a:pt x="209379" y="114029"/>
                </a:moveTo>
                <a:cubicBezTo>
                  <a:pt x="211179" y="111125"/>
                  <a:pt x="216219" y="111125"/>
                  <a:pt x="217299" y="114029"/>
                </a:cubicBezTo>
                <a:lnTo>
                  <a:pt x="229899" y="139442"/>
                </a:lnTo>
                <a:lnTo>
                  <a:pt x="257618" y="143435"/>
                </a:lnTo>
                <a:cubicBezTo>
                  <a:pt x="259418" y="143798"/>
                  <a:pt x="260858" y="145250"/>
                  <a:pt x="261218" y="146339"/>
                </a:cubicBezTo>
                <a:cubicBezTo>
                  <a:pt x="261578" y="148155"/>
                  <a:pt x="261578" y="149607"/>
                  <a:pt x="260498" y="151059"/>
                </a:cubicBezTo>
                <a:lnTo>
                  <a:pt x="239979" y="170663"/>
                </a:lnTo>
                <a:lnTo>
                  <a:pt x="245018" y="198980"/>
                </a:lnTo>
                <a:cubicBezTo>
                  <a:pt x="245018" y="200795"/>
                  <a:pt x="244298" y="202247"/>
                  <a:pt x="242858" y="202973"/>
                </a:cubicBezTo>
                <a:cubicBezTo>
                  <a:pt x="242138" y="204062"/>
                  <a:pt x="241418" y="204062"/>
                  <a:pt x="240339" y="204062"/>
                </a:cubicBezTo>
                <a:cubicBezTo>
                  <a:pt x="239619" y="204062"/>
                  <a:pt x="238899" y="204062"/>
                  <a:pt x="238539" y="203336"/>
                </a:cubicBezTo>
                <a:lnTo>
                  <a:pt x="213339" y="190267"/>
                </a:lnTo>
                <a:lnTo>
                  <a:pt x="188500" y="203336"/>
                </a:lnTo>
                <a:cubicBezTo>
                  <a:pt x="187060" y="204425"/>
                  <a:pt x="185260" y="204062"/>
                  <a:pt x="183820" y="202973"/>
                </a:cubicBezTo>
                <a:cubicBezTo>
                  <a:pt x="182740" y="202247"/>
                  <a:pt x="182020" y="200795"/>
                  <a:pt x="182380" y="198980"/>
                </a:cubicBezTo>
                <a:lnTo>
                  <a:pt x="186700" y="170663"/>
                </a:lnTo>
                <a:lnTo>
                  <a:pt x="166900" y="151059"/>
                </a:lnTo>
                <a:cubicBezTo>
                  <a:pt x="165460" y="149607"/>
                  <a:pt x="165100" y="148155"/>
                  <a:pt x="165460" y="146339"/>
                </a:cubicBezTo>
                <a:cubicBezTo>
                  <a:pt x="166540" y="145250"/>
                  <a:pt x="167620" y="143798"/>
                  <a:pt x="169060" y="143435"/>
                </a:cubicBezTo>
                <a:lnTo>
                  <a:pt x="196779" y="139442"/>
                </a:lnTo>
                <a:lnTo>
                  <a:pt x="209379" y="114029"/>
                </a:lnTo>
                <a:close/>
                <a:moveTo>
                  <a:pt x="47266" y="107950"/>
                </a:moveTo>
                <a:cubicBezTo>
                  <a:pt x="58049" y="107950"/>
                  <a:pt x="66316" y="116217"/>
                  <a:pt x="66316" y="126641"/>
                </a:cubicBezTo>
                <a:cubicBezTo>
                  <a:pt x="66316" y="137064"/>
                  <a:pt x="58049" y="145691"/>
                  <a:pt x="47266" y="145691"/>
                </a:cubicBezTo>
                <a:cubicBezTo>
                  <a:pt x="37201" y="145691"/>
                  <a:pt x="28575" y="137064"/>
                  <a:pt x="28575" y="126641"/>
                </a:cubicBezTo>
                <a:cubicBezTo>
                  <a:pt x="28575" y="116217"/>
                  <a:pt x="37201" y="107950"/>
                  <a:pt x="47266" y="107950"/>
                </a:cubicBezTo>
                <a:close/>
                <a:moveTo>
                  <a:pt x="213992" y="95948"/>
                </a:moveTo>
                <a:cubicBezTo>
                  <a:pt x="177966" y="95948"/>
                  <a:pt x="148785" y="125165"/>
                  <a:pt x="148785" y="161596"/>
                </a:cubicBezTo>
                <a:cubicBezTo>
                  <a:pt x="148785" y="198027"/>
                  <a:pt x="177966" y="227244"/>
                  <a:pt x="213992" y="227244"/>
                </a:cubicBezTo>
                <a:cubicBezTo>
                  <a:pt x="250017" y="227244"/>
                  <a:pt x="279558" y="198027"/>
                  <a:pt x="279558" y="161596"/>
                </a:cubicBezTo>
                <a:cubicBezTo>
                  <a:pt x="279558" y="125165"/>
                  <a:pt x="250017" y="95948"/>
                  <a:pt x="213992" y="95948"/>
                </a:cubicBezTo>
                <a:close/>
                <a:moveTo>
                  <a:pt x="145984" y="63500"/>
                </a:moveTo>
                <a:lnTo>
                  <a:pt x="196556" y="63500"/>
                </a:lnTo>
                <a:cubicBezTo>
                  <a:pt x="198723" y="63500"/>
                  <a:pt x="201252" y="66064"/>
                  <a:pt x="201252" y="68629"/>
                </a:cubicBezTo>
                <a:cubicBezTo>
                  <a:pt x="201252" y="71193"/>
                  <a:pt x="198723" y="72659"/>
                  <a:pt x="196556" y="72659"/>
                </a:cubicBezTo>
                <a:lnTo>
                  <a:pt x="145984" y="72659"/>
                </a:lnTo>
                <a:cubicBezTo>
                  <a:pt x="143455" y="72659"/>
                  <a:pt x="141288" y="71193"/>
                  <a:pt x="141288" y="68629"/>
                </a:cubicBezTo>
                <a:cubicBezTo>
                  <a:pt x="141288" y="66064"/>
                  <a:pt x="143455" y="63500"/>
                  <a:pt x="145984" y="63500"/>
                </a:cubicBezTo>
                <a:close/>
                <a:moveTo>
                  <a:pt x="84950" y="63500"/>
                </a:moveTo>
                <a:lnTo>
                  <a:pt x="122287" y="63500"/>
                </a:lnTo>
                <a:cubicBezTo>
                  <a:pt x="124825" y="63500"/>
                  <a:pt x="126637" y="66064"/>
                  <a:pt x="126637" y="68629"/>
                </a:cubicBezTo>
                <a:cubicBezTo>
                  <a:pt x="126637" y="71193"/>
                  <a:pt x="124825" y="72659"/>
                  <a:pt x="122287" y="72659"/>
                </a:cubicBezTo>
                <a:lnTo>
                  <a:pt x="84950" y="72659"/>
                </a:lnTo>
                <a:cubicBezTo>
                  <a:pt x="82775" y="72659"/>
                  <a:pt x="80963" y="71193"/>
                  <a:pt x="80963" y="68629"/>
                </a:cubicBezTo>
                <a:cubicBezTo>
                  <a:pt x="80963" y="66064"/>
                  <a:pt x="82775" y="63500"/>
                  <a:pt x="84950" y="63500"/>
                </a:cubicBezTo>
                <a:close/>
                <a:moveTo>
                  <a:pt x="47266" y="58199"/>
                </a:moveTo>
                <a:cubicBezTo>
                  <a:pt x="41515" y="58199"/>
                  <a:pt x="37201" y="62512"/>
                  <a:pt x="37201" y="68263"/>
                </a:cubicBezTo>
                <a:cubicBezTo>
                  <a:pt x="37201" y="73654"/>
                  <a:pt x="41515" y="77968"/>
                  <a:pt x="47266" y="77968"/>
                </a:cubicBezTo>
                <a:cubicBezTo>
                  <a:pt x="53016" y="77968"/>
                  <a:pt x="57330" y="73654"/>
                  <a:pt x="57330" y="68263"/>
                </a:cubicBezTo>
                <a:cubicBezTo>
                  <a:pt x="57330" y="62512"/>
                  <a:pt x="53016" y="58199"/>
                  <a:pt x="47266" y="58199"/>
                </a:cubicBezTo>
                <a:close/>
                <a:moveTo>
                  <a:pt x="47266" y="49213"/>
                </a:moveTo>
                <a:cubicBezTo>
                  <a:pt x="58049" y="49213"/>
                  <a:pt x="66316" y="57839"/>
                  <a:pt x="66316" y="68263"/>
                </a:cubicBezTo>
                <a:cubicBezTo>
                  <a:pt x="66316" y="78327"/>
                  <a:pt x="58049" y="86954"/>
                  <a:pt x="47266" y="86954"/>
                </a:cubicBezTo>
                <a:cubicBezTo>
                  <a:pt x="37201" y="86954"/>
                  <a:pt x="28575" y="78327"/>
                  <a:pt x="28575" y="68263"/>
                </a:cubicBezTo>
                <a:cubicBezTo>
                  <a:pt x="28575" y="57839"/>
                  <a:pt x="37201" y="49213"/>
                  <a:pt x="47266" y="49213"/>
                </a:cubicBezTo>
                <a:close/>
                <a:moveTo>
                  <a:pt x="67007" y="8657"/>
                </a:moveTo>
                <a:lnTo>
                  <a:pt x="67007" y="21642"/>
                </a:lnTo>
                <a:cubicBezTo>
                  <a:pt x="67007" y="25610"/>
                  <a:pt x="69890" y="28856"/>
                  <a:pt x="74213" y="28856"/>
                </a:cubicBezTo>
                <a:lnTo>
                  <a:pt x="155991" y="28856"/>
                </a:lnTo>
                <a:cubicBezTo>
                  <a:pt x="159953" y="28856"/>
                  <a:pt x="162835" y="25610"/>
                  <a:pt x="162835" y="21642"/>
                </a:cubicBezTo>
                <a:lnTo>
                  <a:pt x="162835" y="8657"/>
                </a:lnTo>
                <a:lnTo>
                  <a:pt x="67007" y="8657"/>
                </a:lnTo>
                <a:close/>
                <a:moveTo>
                  <a:pt x="21976" y="8657"/>
                </a:moveTo>
                <a:cubicBezTo>
                  <a:pt x="14410" y="8657"/>
                  <a:pt x="8646" y="14428"/>
                  <a:pt x="8646" y="21642"/>
                </a:cubicBezTo>
                <a:lnTo>
                  <a:pt x="8646" y="266561"/>
                </a:lnTo>
                <a:cubicBezTo>
                  <a:pt x="8646" y="273775"/>
                  <a:pt x="14410" y="279907"/>
                  <a:pt x="21976" y="279907"/>
                </a:cubicBezTo>
                <a:lnTo>
                  <a:pt x="208228" y="279907"/>
                </a:lnTo>
                <a:cubicBezTo>
                  <a:pt x="215433" y="279907"/>
                  <a:pt x="221557" y="273775"/>
                  <a:pt x="221557" y="266561"/>
                </a:cubicBezTo>
                <a:lnTo>
                  <a:pt x="221557" y="235901"/>
                </a:lnTo>
                <a:cubicBezTo>
                  <a:pt x="219035" y="235901"/>
                  <a:pt x="216874" y="235901"/>
                  <a:pt x="213992" y="235901"/>
                </a:cubicBezTo>
                <a:cubicBezTo>
                  <a:pt x="173283" y="235901"/>
                  <a:pt x="139779" y="202716"/>
                  <a:pt x="139779" y="161596"/>
                </a:cubicBezTo>
                <a:cubicBezTo>
                  <a:pt x="139779" y="120836"/>
                  <a:pt x="173283" y="87291"/>
                  <a:pt x="213992" y="87291"/>
                </a:cubicBezTo>
                <a:cubicBezTo>
                  <a:pt x="216874" y="87291"/>
                  <a:pt x="219035" y="87291"/>
                  <a:pt x="221557" y="87651"/>
                </a:cubicBezTo>
                <a:lnTo>
                  <a:pt x="221557" y="21642"/>
                </a:lnTo>
                <a:cubicBezTo>
                  <a:pt x="221557" y="14428"/>
                  <a:pt x="215433" y="8657"/>
                  <a:pt x="208228" y="8657"/>
                </a:cubicBezTo>
                <a:lnTo>
                  <a:pt x="171842" y="8657"/>
                </a:lnTo>
                <a:lnTo>
                  <a:pt x="171842" y="21642"/>
                </a:lnTo>
                <a:cubicBezTo>
                  <a:pt x="171842" y="30660"/>
                  <a:pt x="164637" y="37874"/>
                  <a:pt x="155991" y="37874"/>
                </a:cubicBezTo>
                <a:lnTo>
                  <a:pt x="74213" y="37874"/>
                </a:lnTo>
                <a:cubicBezTo>
                  <a:pt x="65566" y="37874"/>
                  <a:pt x="58001" y="30660"/>
                  <a:pt x="58001" y="21642"/>
                </a:cubicBezTo>
                <a:lnTo>
                  <a:pt x="58001" y="8657"/>
                </a:lnTo>
                <a:lnTo>
                  <a:pt x="21976" y="8657"/>
                </a:lnTo>
                <a:close/>
                <a:moveTo>
                  <a:pt x="21976" y="0"/>
                </a:moveTo>
                <a:lnTo>
                  <a:pt x="208228" y="0"/>
                </a:lnTo>
                <a:cubicBezTo>
                  <a:pt x="220477" y="0"/>
                  <a:pt x="230203" y="9739"/>
                  <a:pt x="230203" y="21642"/>
                </a:cubicBezTo>
                <a:lnTo>
                  <a:pt x="230203" y="89094"/>
                </a:lnTo>
                <a:cubicBezTo>
                  <a:pt x="263347" y="96308"/>
                  <a:pt x="288565" y="126247"/>
                  <a:pt x="288565" y="161596"/>
                </a:cubicBezTo>
                <a:cubicBezTo>
                  <a:pt x="288565" y="196945"/>
                  <a:pt x="263347" y="226884"/>
                  <a:pt x="230203" y="234098"/>
                </a:cubicBezTo>
                <a:lnTo>
                  <a:pt x="230203" y="266561"/>
                </a:lnTo>
                <a:cubicBezTo>
                  <a:pt x="230203" y="278825"/>
                  <a:pt x="220477" y="288564"/>
                  <a:pt x="208228" y="288564"/>
                </a:cubicBezTo>
                <a:lnTo>
                  <a:pt x="21976" y="288564"/>
                </a:lnTo>
                <a:cubicBezTo>
                  <a:pt x="10087" y="288564"/>
                  <a:pt x="0" y="278825"/>
                  <a:pt x="0" y="266561"/>
                </a:cubicBezTo>
                <a:lnTo>
                  <a:pt x="0" y="21642"/>
                </a:lnTo>
                <a:cubicBezTo>
                  <a:pt x="0" y="9739"/>
                  <a:pt x="10087" y="0"/>
                  <a:pt x="21976" y="0"/>
                </a:cubicBezTo>
                <a:close/>
              </a:path>
            </a:pathLst>
          </a:custGeom>
          <a:solidFill>
            <a:schemeClr val="bg1"/>
          </a:solidFill>
          <a:ln>
            <a:noFill/>
          </a:ln>
          <a:effectLst/>
        </p:spPr>
        <p:txBody>
          <a:bodyPr anchor="ctr"/>
          <a:lstStyle/>
          <a:p>
            <a:endParaRPr lang="en-US"/>
          </a:p>
        </p:txBody>
      </p:sp>
      <p:sp>
        <p:nvSpPr>
          <p:cNvPr id="15" name="Freeform 1021">
            <a:extLst>
              <a:ext uri="{FF2B5EF4-FFF2-40B4-BE49-F238E27FC236}">
                <a16:creationId xmlns:a16="http://schemas.microsoft.com/office/drawing/2014/main" id="{BBEC3117-F1A7-360C-D950-D2AD2805C900}"/>
              </a:ext>
            </a:extLst>
          </p:cNvPr>
          <p:cNvSpPr>
            <a:spLocks noChangeAspect="1" noChangeArrowheads="1"/>
          </p:cNvSpPr>
          <p:nvPr/>
        </p:nvSpPr>
        <p:spPr bwMode="auto">
          <a:xfrm>
            <a:off x="5028424" y="1429496"/>
            <a:ext cx="668516" cy="668516"/>
          </a:xfrm>
          <a:custGeom>
            <a:avLst/>
            <a:gdLst>
              <a:gd name="T0" fmla="*/ 19108361 w 290150"/>
              <a:gd name="T1" fmla="*/ 33564603 h 290152"/>
              <a:gd name="T2" fmla="*/ 28010790 w 290150"/>
              <a:gd name="T3" fmla="*/ 28790608 h 290152"/>
              <a:gd name="T4" fmla="*/ 33603522 w 290150"/>
              <a:gd name="T5" fmla="*/ 33565165 h 290152"/>
              <a:gd name="T6" fmla="*/ 33950478 w 290150"/>
              <a:gd name="T7" fmla="*/ 28876532 h 290152"/>
              <a:gd name="T8" fmla="*/ 27100419 w 290150"/>
              <a:gd name="T9" fmla="*/ 34640317 h 290152"/>
              <a:gd name="T10" fmla="*/ 28010790 w 290150"/>
              <a:gd name="T11" fmla="*/ 28790608 h 290152"/>
              <a:gd name="T12" fmla="*/ 1021859 w 290150"/>
              <a:gd name="T13" fmla="*/ 33565165 h 290152"/>
              <a:gd name="T14" fmla="*/ 6513562 w 290150"/>
              <a:gd name="T15" fmla="*/ 28790608 h 290152"/>
              <a:gd name="T16" fmla="*/ 7407729 w 290150"/>
              <a:gd name="T17" fmla="*/ 34640317 h 290152"/>
              <a:gd name="T18" fmla="*/ 723990 w 290150"/>
              <a:gd name="T19" fmla="*/ 28876532 h 290152"/>
              <a:gd name="T20" fmla="*/ 22250567 w 290150"/>
              <a:gd name="T21" fmla="*/ 30423091 h 290152"/>
              <a:gd name="T22" fmla="*/ 29272760 w 290150"/>
              <a:gd name="T23" fmla="*/ 26723260 h 290152"/>
              <a:gd name="T24" fmla="*/ 3937393 w 290150"/>
              <a:gd name="T25" fmla="*/ 25478853 h 290152"/>
              <a:gd name="T26" fmla="*/ 3937393 w 290150"/>
              <a:gd name="T27" fmla="*/ 25478853 h 290152"/>
              <a:gd name="T28" fmla="*/ 28242667 w 290150"/>
              <a:gd name="T29" fmla="*/ 26723260 h 290152"/>
              <a:gd name="T30" fmla="*/ 3937393 w 290150"/>
              <a:gd name="T31" fmla="*/ 28954763 h 290152"/>
              <a:gd name="T32" fmla="*/ 15750977 w 290150"/>
              <a:gd name="T33" fmla="*/ 27281629 h 290152"/>
              <a:gd name="T34" fmla="*/ 20959335 w 290150"/>
              <a:gd name="T35" fmla="*/ 19578348 h 290152"/>
              <a:gd name="T36" fmla="*/ 22035386 w 290150"/>
              <a:gd name="T37" fmla="*/ 20611168 h 290152"/>
              <a:gd name="T38" fmla="*/ 13641923 w 290150"/>
              <a:gd name="T39" fmla="*/ 21687027 h 290152"/>
              <a:gd name="T40" fmla="*/ 2148419 w 290150"/>
              <a:gd name="T41" fmla="*/ 11940077 h 290152"/>
              <a:gd name="T42" fmla="*/ 2443292 w 290150"/>
              <a:gd name="T43" fmla="*/ 23604758 h 290152"/>
              <a:gd name="T44" fmla="*/ 0 w 290150"/>
              <a:gd name="T45" fmla="*/ 14135216 h 290152"/>
              <a:gd name="T46" fmla="*/ 33472552 w 290150"/>
              <a:gd name="T47" fmla="*/ 20872448 h 290152"/>
              <a:gd name="T48" fmla="*/ 32447376 w 290150"/>
              <a:gd name="T49" fmla="*/ 20530028 h 290152"/>
              <a:gd name="T50" fmla="*/ 24176082 w 290150"/>
              <a:gd name="T51" fmla="*/ 16221779 h 290152"/>
              <a:gd name="T52" fmla="*/ 17197137 w 290150"/>
              <a:gd name="T53" fmla="*/ 11311420 h 290152"/>
              <a:gd name="T54" fmla="*/ 8046409 w 290150"/>
              <a:gd name="T55" fmla="*/ 17297506 h 290152"/>
              <a:gd name="T56" fmla="*/ 14718073 w 290150"/>
              <a:gd name="T57" fmla="*/ 22719889 h 290152"/>
              <a:gd name="T58" fmla="*/ 15750977 w 290150"/>
              <a:gd name="T59" fmla="*/ 20611168 h 290152"/>
              <a:gd name="T60" fmla="*/ 20959335 w 290150"/>
              <a:gd name="T61" fmla="*/ 18545511 h 290152"/>
              <a:gd name="T62" fmla="*/ 19926305 w 290150"/>
              <a:gd name="T63" fmla="*/ 27281629 h 290152"/>
              <a:gd name="T64" fmla="*/ 17300627 w 290150"/>
              <a:gd name="T65" fmla="*/ 8045311 h 290152"/>
              <a:gd name="T66" fmla="*/ 23326608 w 290150"/>
              <a:gd name="T67" fmla="*/ 27927007 h 290152"/>
              <a:gd name="T68" fmla="*/ 21734094 w 290150"/>
              <a:gd name="T69" fmla="*/ 32015416 h 290152"/>
              <a:gd name="T70" fmla="*/ 12996443 w 290150"/>
              <a:gd name="T71" fmla="*/ 31455816 h 290152"/>
              <a:gd name="T72" fmla="*/ 10026357 w 290150"/>
              <a:gd name="T73" fmla="*/ 24570337 h 290152"/>
              <a:gd name="T74" fmla="*/ 28097509 w 290150"/>
              <a:gd name="T75" fmla="*/ 5072913 h 290152"/>
              <a:gd name="T76" fmla="*/ 33603522 w 290150"/>
              <a:gd name="T77" fmla="*/ 6406433 h 290152"/>
              <a:gd name="T78" fmla="*/ 34643864 w 290150"/>
              <a:gd name="T79" fmla="*/ 6406433 h 290152"/>
              <a:gd name="T80" fmla="*/ 26536638 w 290150"/>
              <a:gd name="T81" fmla="*/ 9675421 h 290152"/>
              <a:gd name="T82" fmla="*/ 1405026 w 290150"/>
              <a:gd name="T83" fmla="*/ 4384759 h 290152"/>
              <a:gd name="T84" fmla="*/ 6896651 w 290150"/>
              <a:gd name="T85" fmla="*/ 9159078 h 290152"/>
              <a:gd name="T86" fmla="*/ 7237277 w 290150"/>
              <a:gd name="T87" fmla="*/ 4427438 h 290152"/>
              <a:gd name="T88" fmla="*/ 510547 w 290150"/>
              <a:gd name="T89" fmla="*/ 10191473 h 290152"/>
              <a:gd name="T90" fmla="*/ 1405026 w 290150"/>
              <a:gd name="T91" fmla="*/ 4384759 h 290152"/>
              <a:gd name="T92" fmla="*/ 31718903 w 290150"/>
              <a:gd name="T93" fmla="*/ 2253079 h 290152"/>
              <a:gd name="T94" fmla="*/ 3937393 w 290150"/>
              <a:gd name="T95" fmla="*/ 3485819 h 290152"/>
              <a:gd name="T96" fmla="*/ 23534097 w 290150"/>
              <a:gd name="T97" fmla="*/ 1956947 h 290152"/>
              <a:gd name="T98" fmla="*/ 23102419 w 290150"/>
              <a:gd name="T99" fmla="*/ 2850784 h 290152"/>
              <a:gd name="T100" fmla="*/ 8642448 w 290150"/>
              <a:gd name="T101" fmla="*/ 3148629 h 290152"/>
              <a:gd name="T102" fmla="*/ 30517365 w 290150"/>
              <a:gd name="T103" fmla="*/ 4506129 h 290152"/>
              <a:gd name="T104" fmla="*/ 6211951 w 290150"/>
              <a:gd name="T105" fmla="*/ 2253079 h 29015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290150" h="290152">
                <a:moveTo>
                  <a:pt x="117499" y="263478"/>
                </a:moveTo>
                <a:lnTo>
                  <a:pt x="117499" y="268164"/>
                </a:lnTo>
                <a:cubicBezTo>
                  <a:pt x="117499" y="275373"/>
                  <a:pt x="123627" y="281140"/>
                  <a:pt x="130837" y="281140"/>
                </a:cubicBezTo>
                <a:lnTo>
                  <a:pt x="160037" y="281140"/>
                </a:lnTo>
                <a:cubicBezTo>
                  <a:pt x="167247" y="281140"/>
                  <a:pt x="173015" y="275373"/>
                  <a:pt x="173015" y="268164"/>
                </a:cubicBezTo>
                <a:lnTo>
                  <a:pt x="173015" y="263478"/>
                </a:lnTo>
                <a:lnTo>
                  <a:pt x="117499" y="263478"/>
                </a:lnTo>
                <a:close/>
                <a:moveTo>
                  <a:pt x="234596" y="241153"/>
                </a:moveTo>
                <a:cubicBezTo>
                  <a:pt x="236774" y="242955"/>
                  <a:pt x="236774" y="245477"/>
                  <a:pt x="235322" y="247278"/>
                </a:cubicBezTo>
                <a:cubicBezTo>
                  <a:pt x="232417" y="250521"/>
                  <a:pt x="231328" y="254124"/>
                  <a:pt x="231328" y="258447"/>
                </a:cubicBezTo>
                <a:lnTo>
                  <a:pt x="231328" y="281145"/>
                </a:lnTo>
                <a:lnTo>
                  <a:pt x="281436" y="281145"/>
                </a:lnTo>
                <a:lnTo>
                  <a:pt x="281436" y="258447"/>
                </a:lnTo>
                <a:cubicBezTo>
                  <a:pt x="281436" y="254124"/>
                  <a:pt x="279983" y="250521"/>
                  <a:pt x="277442" y="247278"/>
                </a:cubicBezTo>
                <a:cubicBezTo>
                  <a:pt x="275626" y="245477"/>
                  <a:pt x="275989" y="242955"/>
                  <a:pt x="278168" y="241153"/>
                </a:cubicBezTo>
                <a:cubicBezTo>
                  <a:pt x="279983" y="239712"/>
                  <a:pt x="282525" y="239712"/>
                  <a:pt x="284341" y="241874"/>
                </a:cubicBezTo>
                <a:cubicBezTo>
                  <a:pt x="287972" y="246558"/>
                  <a:pt x="290150" y="252322"/>
                  <a:pt x="290150" y="258447"/>
                </a:cubicBezTo>
                <a:lnTo>
                  <a:pt x="290150" y="285829"/>
                </a:lnTo>
                <a:cubicBezTo>
                  <a:pt x="290150" y="287990"/>
                  <a:pt x="288335" y="290152"/>
                  <a:pt x="285793" y="290152"/>
                </a:cubicBezTo>
                <a:lnTo>
                  <a:pt x="226971" y="290152"/>
                </a:lnTo>
                <a:cubicBezTo>
                  <a:pt x="224429" y="290152"/>
                  <a:pt x="222250" y="287990"/>
                  <a:pt x="222250" y="285829"/>
                </a:cubicBezTo>
                <a:lnTo>
                  <a:pt x="222250" y="258447"/>
                </a:lnTo>
                <a:cubicBezTo>
                  <a:pt x="222250" y="252322"/>
                  <a:pt x="224429" y="246558"/>
                  <a:pt x="228423" y="241874"/>
                </a:cubicBezTo>
                <a:cubicBezTo>
                  <a:pt x="229875" y="239712"/>
                  <a:pt x="232780" y="239712"/>
                  <a:pt x="234596" y="241153"/>
                </a:cubicBezTo>
                <a:close/>
                <a:moveTo>
                  <a:pt x="11766" y="241153"/>
                </a:moveTo>
                <a:cubicBezTo>
                  <a:pt x="13905" y="242955"/>
                  <a:pt x="14262" y="245477"/>
                  <a:pt x="12479" y="247278"/>
                </a:cubicBezTo>
                <a:cubicBezTo>
                  <a:pt x="9983" y="250521"/>
                  <a:pt x="8557" y="254124"/>
                  <a:pt x="8557" y="258447"/>
                </a:cubicBezTo>
                <a:lnTo>
                  <a:pt x="8557" y="281145"/>
                </a:lnTo>
                <a:lnTo>
                  <a:pt x="57761" y="281145"/>
                </a:lnTo>
                <a:lnTo>
                  <a:pt x="57761" y="258447"/>
                </a:lnTo>
                <a:cubicBezTo>
                  <a:pt x="57761" y="254124"/>
                  <a:pt x="56335" y="250521"/>
                  <a:pt x="53839" y="247278"/>
                </a:cubicBezTo>
                <a:cubicBezTo>
                  <a:pt x="52413" y="245477"/>
                  <a:pt x="52413" y="242955"/>
                  <a:pt x="54552" y="241153"/>
                </a:cubicBezTo>
                <a:cubicBezTo>
                  <a:pt x="56335" y="239712"/>
                  <a:pt x="59188" y="239712"/>
                  <a:pt x="60614" y="241874"/>
                </a:cubicBezTo>
                <a:cubicBezTo>
                  <a:pt x="64179" y="246558"/>
                  <a:pt x="66319" y="252322"/>
                  <a:pt x="66319" y="258447"/>
                </a:cubicBezTo>
                <a:lnTo>
                  <a:pt x="66319" y="285829"/>
                </a:lnTo>
                <a:cubicBezTo>
                  <a:pt x="66319" y="287990"/>
                  <a:pt x="64536" y="290152"/>
                  <a:pt x="62040" y="290152"/>
                </a:cubicBezTo>
                <a:lnTo>
                  <a:pt x="4278" y="290152"/>
                </a:lnTo>
                <a:cubicBezTo>
                  <a:pt x="1783" y="290152"/>
                  <a:pt x="0" y="287990"/>
                  <a:pt x="0" y="285829"/>
                </a:cubicBezTo>
                <a:lnTo>
                  <a:pt x="0" y="258447"/>
                </a:lnTo>
                <a:cubicBezTo>
                  <a:pt x="0" y="252322"/>
                  <a:pt x="2139" y="246558"/>
                  <a:pt x="6061" y="241874"/>
                </a:cubicBezTo>
                <a:cubicBezTo>
                  <a:pt x="7487" y="239712"/>
                  <a:pt x="9983" y="239712"/>
                  <a:pt x="11766" y="241153"/>
                </a:cubicBezTo>
                <a:close/>
                <a:moveTo>
                  <a:pt x="104160" y="237525"/>
                </a:moveTo>
                <a:lnTo>
                  <a:pt x="104160" y="254827"/>
                </a:lnTo>
                <a:lnTo>
                  <a:pt x="186353" y="254827"/>
                </a:lnTo>
                <a:lnTo>
                  <a:pt x="186353" y="237525"/>
                </a:lnTo>
                <a:lnTo>
                  <a:pt x="104160" y="237525"/>
                </a:lnTo>
                <a:close/>
                <a:moveTo>
                  <a:pt x="255588" y="213414"/>
                </a:moveTo>
                <a:cubicBezTo>
                  <a:pt x="249837" y="213414"/>
                  <a:pt x="245165" y="218086"/>
                  <a:pt x="245165" y="223837"/>
                </a:cubicBezTo>
                <a:cubicBezTo>
                  <a:pt x="245165" y="229229"/>
                  <a:pt x="249837" y="233901"/>
                  <a:pt x="255588" y="233901"/>
                </a:cubicBezTo>
                <a:cubicBezTo>
                  <a:pt x="260980" y="233901"/>
                  <a:pt x="265652" y="229229"/>
                  <a:pt x="265652" y="223837"/>
                </a:cubicBezTo>
                <a:cubicBezTo>
                  <a:pt x="265652" y="218086"/>
                  <a:pt x="260980" y="213414"/>
                  <a:pt x="255588" y="213414"/>
                </a:cubicBezTo>
                <a:close/>
                <a:moveTo>
                  <a:pt x="32978" y="213414"/>
                </a:moveTo>
                <a:cubicBezTo>
                  <a:pt x="27587" y="213414"/>
                  <a:pt x="22914" y="218086"/>
                  <a:pt x="22914" y="223837"/>
                </a:cubicBezTo>
                <a:cubicBezTo>
                  <a:pt x="22914" y="229229"/>
                  <a:pt x="27587" y="233901"/>
                  <a:pt x="32978" y="233901"/>
                </a:cubicBezTo>
                <a:cubicBezTo>
                  <a:pt x="38729" y="233901"/>
                  <a:pt x="43402" y="229229"/>
                  <a:pt x="43402" y="223837"/>
                </a:cubicBezTo>
                <a:cubicBezTo>
                  <a:pt x="43402" y="218086"/>
                  <a:pt x="38729" y="213414"/>
                  <a:pt x="32978" y="213414"/>
                </a:cubicBezTo>
                <a:close/>
                <a:moveTo>
                  <a:pt x="255588" y="204787"/>
                </a:moveTo>
                <a:cubicBezTo>
                  <a:pt x="266012" y="204787"/>
                  <a:pt x="274279" y="213414"/>
                  <a:pt x="274279" y="223837"/>
                </a:cubicBezTo>
                <a:cubicBezTo>
                  <a:pt x="274279" y="234261"/>
                  <a:pt x="266012" y="242528"/>
                  <a:pt x="255588" y="242528"/>
                </a:cubicBezTo>
                <a:cubicBezTo>
                  <a:pt x="245165" y="242528"/>
                  <a:pt x="236538" y="234261"/>
                  <a:pt x="236538" y="223837"/>
                </a:cubicBezTo>
                <a:cubicBezTo>
                  <a:pt x="236538" y="213414"/>
                  <a:pt x="245165" y="204787"/>
                  <a:pt x="255588" y="204787"/>
                </a:cubicBezTo>
                <a:close/>
                <a:moveTo>
                  <a:pt x="32978" y="204787"/>
                </a:moveTo>
                <a:cubicBezTo>
                  <a:pt x="43402" y="204787"/>
                  <a:pt x="52028" y="213414"/>
                  <a:pt x="52028" y="223837"/>
                </a:cubicBezTo>
                <a:cubicBezTo>
                  <a:pt x="52028" y="234261"/>
                  <a:pt x="43402" y="242528"/>
                  <a:pt x="32978" y="242528"/>
                </a:cubicBezTo>
                <a:cubicBezTo>
                  <a:pt x="22555" y="242528"/>
                  <a:pt x="14288" y="234261"/>
                  <a:pt x="14288" y="223837"/>
                </a:cubicBezTo>
                <a:cubicBezTo>
                  <a:pt x="14288" y="213414"/>
                  <a:pt x="22555" y="204787"/>
                  <a:pt x="32978" y="204787"/>
                </a:cubicBezTo>
                <a:close/>
                <a:moveTo>
                  <a:pt x="131918" y="190305"/>
                </a:moveTo>
                <a:lnTo>
                  <a:pt x="131918" y="228513"/>
                </a:lnTo>
                <a:lnTo>
                  <a:pt x="158235" y="228513"/>
                </a:lnTo>
                <a:lnTo>
                  <a:pt x="158235" y="190305"/>
                </a:lnTo>
                <a:lnTo>
                  <a:pt x="131918" y="190305"/>
                </a:lnTo>
                <a:close/>
                <a:moveTo>
                  <a:pt x="175538" y="163991"/>
                </a:moveTo>
                <a:cubicBezTo>
                  <a:pt x="171212" y="163991"/>
                  <a:pt x="166886" y="168317"/>
                  <a:pt x="166886" y="172642"/>
                </a:cubicBezTo>
                <a:lnTo>
                  <a:pt x="166886" y="181654"/>
                </a:lnTo>
                <a:lnTo>
                  <a:pt x="175538" y="181654"/>
                </a:lnTo>
                <a:cubicBezTo>
                  <a:pt x="180585" y="181654"/>
                  <a:pt x="184551" y="177689"/>
                  <a:pt x="184551" y="172642"/>
                </a:cubicBezTo>
                <a:cubicBezTo>
                  <a:pt x="184551" y="168317"/>
                  <a:pt x="180585" y="163991"/>
                  <a:pt x="175538" y="163991"/>
                </a:cubicBezTo>
                <a:close/>
                <a:moveTo>
                  <a:pt x="114254" y="163991"/>
                </a:moveTo>
                <a:cubicBezTo>
                  <a:pt x="109568" y="163991"/>
                  <a:pt x="105602" y="168317"/>
                  <a:pt x="105602" y="172642"/>
                </a:cubicBezTo>
                <a:cubicBezTo>
                  <a:pt x="105602" y="177689"/>
                  <a:pt x="109568" y="181654"/>
                  <a:pt x="114254" y="181654"/>
                </a:cubicBezTo>
                <a:lnTo>
                  <a:pt x="123267" y="181654"/>
                </a:lnTo>
                <a:lnTo>
                  <a:pt x="123267" y="172642"/>
                </a:lnTo>
                <a:cubicBezTo>
                  <a:pt x="123267" y="168317"/>
                  <a:pt x="119301" y="163991"/>
                  <a:pt x="114254" y="163991"/>
                </a:cubicBezTo>
                <a:close/>
                <a:moveTo>
                  <a:pt x="17991" y="100012"/>
                </a:moveTo>
                <a:lnTo>
                  <a:pt x="25047" y="125249"/>
                </a:lnTo>
                <a:lnTo>
                  <a:pt x="16580" y="123086"/>
                </a:lnTo>
                <a:cubicBezTo>
                  <a:pt x="12700" y="146160"/>
                  <a:pt x="14816" y="169955"/>
                  <a:pt x="22930" y="191948"/>
                </a:cubicBezTo>
                <a:cubicBezTo>
                  <a:pt x="23636" y="194471"/>
                  <a:pt x="22578" y="196995"/>
                  <a:pt x="20461" y="197716"/>
                </a:cubicBezTo>
                <a:cubicBezTo>
                  <a:pt x="19755" y="198077"/>
                  <a:pt x="19403" y="198077"/>
                  <a:pt x="18697" y="198077"/>
                </a:cubicBezTo>
                <a:cubicBezTo>
                  <a:pt x="17286" y="198077"/>
                  <a:pt x="15522" y="196995"/>
                  <a:pt x="14816" y="195192"/>
                </a:cubicBezTo>
                <a:cubicBezTo>
                  <a:pt x="5997" y="171397"/>
                  <a:pt x="3880" y="145800"/>
                  <a:pt x="8114" y="120923"/>
                </a:cubicBezTo>
                <a:lnTo>
                  <a:pt x="0" y="118399"/>
                </a:lnTo>
                <a:lnTo>
                  <a:pt x="17991" y="100012"/>
                </a:lnTo>
                <a:close/>
                <a:moveTo>
                  <a:pt x="270322" y="95609"/>
                </a:moveTo>
                <a:cubicBezTo>
                  <a:pt x="272469" y="95250"/>
                  <a:pt x="274615" y="95967"/>
                  <a:pt x="275689" y="98476"/>
                </a:cubicBezTo>
                <a:cubicBezTo>
                  <a:pt x="284275" y="123211"/>
                  <a:pt x="285706" y="149020"/>
                  <a:pt x="280339" y="174830"/>
                </a:cubicBezTo>
                <a:lnTo>
                  <a:pt x="288568" y="176980"/>
                </a:lnTo>
                <a:lnTo>
                  <a:pt x="269249" y="194904"/>
                </a:lnTo>
                <a:lnTo>
                  <a:pt x="263525" y="169453"/>
                </a:lnTo>
                <a:lnTo>
                  <a:pt x="271753" y="171962"/>
                </a:lnTo>
                <a:cubicBezTo>
                  <a:pt x="276762" y="148662"/>
                  <a:pt x="275331" y="124286"/>
                  <a:pt x="267460" y="101344"/>
                </a:cubicBezTo>
                <a:cubicBezTo>
                  <a:pt x="266745" y="99193"/>
                  <a:pt x="267818" y="96326"/>
                  <a:pt x="270322" y="95609"/>
                </a:cubicBezTo>
                <a:close/>
                <a:moveTo>
                  <a:pt x="144030" y="85725"/>
                </a:moveTo>
                <a:cubicBezTo>
                  <a:pt x="173615" y="85725"/>
                  <a:pt x="197788" y="107012"/>
                  <a:pt x="202479" y="135875"/>
                </a:cubicBezTo>
                <a:cubicBezTo>
                  <a:pt x="202839" y="138401"/>
                  <a:pt x="201396" y="140205"/>
                  <a:pt x="198871" y="140926"/>
                </a:cubicBezTo>
                <a:cubicBezTo>
                  <a:pt x="198510" y="140926"/>
                  <a:pt x="198149" y="140926"/>
                  <a:pt x="198149" y="140926"/>
                </a:cubicBezTo>
                <a:cubicBezTo>
                  <a:pt x="195984" y="140926"/>
                  <a:pt x="194180" y="139483"/>
                  <a:pt x="193820" y="137319"/>
                </a:cubicBezTo>
                <a:cubicBezTo>
                  <a:pt x="190212" y="112785"/>
                  <a:pt x="168925" y="94745"/>
                  <a:pt x="144030" y="94745"/>
                </a:cubicBezTo>
                <a:cubicBezTo>
                  <a:pt x="141865" y="94745"/>
                  <a:pt x="139700" y="92580"/>
                  <a:pt x="139700" y="90416"/>
                </a:cubicBezTo>
                <a:cubicBezTo>
                  <a:pt x="139700" y="87890"/>
                  <a:pt x="141865" y="85725"/>
                  <a:pt x="144030" y="85725"/>
                </a:cubicBezTo>
                <a:close/>
                <a:moveTo>
                  <a:pt x="144896" y="67388"/>
                </a:moveTo>
                <a:cubicBezTo>
                  <a:pt x="102358" y="67388"/>
                  <a:pt x="67390" y="102353"/>
                  <a:pt x="67390" y="144887"/>
                </a:cubicBezTo>
                <a:cubicBezTo>
                  <a:pt x="67390" y="165433"/>
                  <a:pt x="75681" y="184898"/>
                  <a:pt x="89741" y="199677"/>
                </a:cubicBezTo>
                <a:cubicBezTo>
                  <a:pt x="97672" y="207607"/>
                  <a:pt x="102718" y="217700"/>
                  <a:pt x="103800" y="228513"/>
                </a:cubicBezTo>
                <a:lnTo>
                  <a:pt x="123267" y="228513"/>
                </a:lnTo>
                <a:lnTo>
                  <a:pt x="123267" y="190305"/>
                </a:lnTo>
                <a:lnTo>
                  <a:pt x="114254" y="190305"/>
                </a:lnTo>
                <a:cubicBezTo>
                  <a:pt x="104881" y="190305"/>
                  <a:pt x="96590" y="182375"/>
                  <a:pt x="96590" y="172642"/>
                </a:cubicBezTo>
                <a:cubicBezTo>
                  <a:pt x="96590" y="163270"/>
                  <a:pt x="104881" y="155340"/>
                  <a:pt x="114254" y="155340"/>
                </a:cubicBezTo>
                <a:cubicBezTo>
                  <a:pt x="123988" y="155340"/>
                  <a:pt x="131918" y="163270"/>
                  <a:pt x="131918" y="172642"/>
                </a:cubicBezTo>
                <a:lnTo>
                  <a:pt x="131918" y="181654"/>
                </a:lnTo>
                <a:lnTo>
                  <a:pt x="158235" y="181654"/>
                </a:lnTo>
                <a:lnTo>
                  <a:pt x="158235" y="172642"/>
                </a:lnTo>
                <a:cubicBezTo>
                  <a:pt x="158235" y="163270"/>
                  <a:pt x="166165" y="155340"/>
                  <a:pt x="175538" y="155340"/>
                </a:cubicBezTo>
                <a:cubicBezTo>
                  <a:pt x="185272" y="155340"/>
                  <a:pt x="193202" y="163270"/>
                  <a:pt x="193202" y="172642"/>
                </a:cubicBezTo>
                <a:cubicBezTo>
                  <a:pt x="193202" y="182375"/>
                  <a:pt x="185272" y="190305"/>
                  <a:pt x="175538" y="190305"/>
                </a:cubicBezTo>
                <a:lnTo>
                  <a:pt x="166886" y="190305"/>
                </a:lnTo>
                <a:lnTo>
                  <a:pt x="166886" y="228513"/>
                </a:lnTo>
                <a:lnTo>
                  <a:pt x="187074" y="228513"/>
                </a:lnTo>
                <a:cubicBezTo>
                  <a:pt x="187795" y="217339"/>
                  <a:pt x="192842" y="207246"/>
                  <a:pt x="200412" y="199316"/>
                </a:cubicBezTo>
                <a:cubicBezTo>
                  <a:pt x="214832" y="184537"/>
                  <a:pt x="222402" y="165433"/>
                  <a:pt x="222402" y="144887"/>
                </a:cubicBezTo>
                <a:cubicBezTo>
                  <a:pt x="222402" y="102353"/>
                  <a:pt x="187795" y="67388"/>
                  <a:pt x="144896" y="67388"/>
                </a:cubicBezTo>
                <a:close/>
                <a:moveTo>
                  <a:pt x="144896" y="58737"/>
                </a:moveTo>
                <a:cubicBezTo>
                  <a:pt x="192481" y="58737"/>
                  <a:pt x="231415" y="97306"/>
                  <a:pt x="231415" y="144887"/>
                </a:cubicBezTo>
                <a:cubicBezTo>
                  <a:pt x="231415" y="167596"/>
                  <a:pt x="222763" y="189223"/>
                  <a:pt x="206901" y="205444"/>
                </a:cubicBezTo>
                <a:cubicBezTo>
                  <a:pt x="199331" y="213014"/>
                  <a:pt x="195365" y="223106"/>
                  <a:pt x="195365" y="233920"/>
                </a:cubicBezTo>
                <a:lnTo>
                  <a:pt x="195365" y="254827"/>
                </a:lnTo>
                <a:cubicBezTo>
                  <a:pt x="195365" y="259513"/>
                  <a:pt x="191400" y="263478"/>
                  <a:pt x="186353" y="263478"/>
                </a:cubicBezTo>
                <a:lnTo>
                  <a:pt x="182027" y="263478"/>
                </a:lnTo>
                <a:lnTo>
                  <a:pt x="182027" y="268164"/>
                </a:lnTo>
                <a:cubicBezTo>
                  <a:pt x="182027" y="280059"/>
                  <a:pt x="171933" y="290152"/>
                  <a:pt x="160037" y="290152"/>
                </a:cubicBezTo>
                <a:lnTo>
                  <a:pt x="130837" y="290152"/>
                </a:lnTo>
                <a:cubicBezTo>
                  <a:pt x="118580" y="290152"/>
                  <a:pt x="108847" y="280059"/>
                  <a:pt x="108847" y="268164"/>
                </a:cubicBezTo>
                <a:lnTo>
                  <a:pt x="108847" y="263478"/>
                </a:lnTo>
                <a:lnTo>
                  <a:pt x="104521" y="263478"/>
                </a:lnTo>
                <a:cubicBezTo>
                  <a:pt x="99474" y="263478"/>
                  <a:pt x="95509" y="259513"/>
                  <a:pt x="95509" y="254827"/>
                </a:cubicBezTo>
                <a:lnTo>
                  <a:pt x="95509" y="234641"/>
                </a:lnTo>
                <a:cubicBezTo>
                  <a:pt x="95509" y="223467"/>
                  <a:pt x="91543" y="213374"/>
                  <a:pt x="83973" y="205804"/>
                </a:cubicBezTo>
                <a:cubicBezTo>
                  <a:pt x="67751" y="189584"/>
                  <a:pt x="58738" y="167956"/>
                  <a:pt x="58738" y="144887"/>
                </a:cubicBezTo>
                <a:cubicBezTo>
                  <a:pt x="58738" y="97306"/>
                  <a:pt x="97672" y="58737"/>
                  <a:pt x="144896" y="58737"/>
                </a:cubicBezTo>
                <a:close/>
                <a:moveTo>
                  <a:pt x="234596" y="36726"/>
                </a:moveTo>
                <a:cubicBezTo>
                  <a:pt x="236774" y="38167"/>
                  <a:pt x="236774" y="40689"/>
                  <a:pt x="235322" y="42491"/>
                </a:cubicBezTo>
                <a:cubicBezTo>
                  <a:pt x="232417" y="45733"/>
                  <a:pt x="231328" y="49696"/>
                  <a:pt x="231328" y="53660"/>
                </a:cubicBezTo>
                <a:lnTo>
                  <a:pt x="231328" y="76718"/>
                </a:lnTo>
                <a:lnTo>
                  <a:pt x="281436" y="76718"/>
                </a:lnTo>
                <a:lnTo>
                  <a:pt x="281436" y="53660"/>
                </a:lnTo>
                <a:cubicBezTo>
                  <a:pt x="281436" y="49696"/>
                  <a:pt x="279983" y="45733"/>
                  <a:pt x="277442" y="42491"/>
                </a:cubicBezTo>
                <a:cubicBezTo>
                  <a:pt x="275626" y="40689"/>
                  <a:pt x="275989" y="38167"/>
                  <a:pt x="278168" y="36726"/>
                </a:cubicBezTo>
                <a:cubicBezTo>
                  <a:pt x="279983" y="34925"/>
                  <a:pt x="282525" y="35285"/>
                  <a:pt x="284341" y="37086"/>
                </a:cubicBezTo>
                <a:cubicBezTo>
                  <a:pt x="287972" y="41770"/>
                  <a:pt x="290150" y="47895"/>
                  <a:pt x="290150" y="53660"/>
                </a:cubicBezTo>
                <a:lnTo>
                  <a:pt x="290150" y="81042"/>
                </a:lnTo>
                <a:cubicBezTo>
                  <a:pt x="290150" y="83203"/>
                  <a:pt x="288335" y="85365"/>
                  <a:pt x="285793" y="85365"/>
                </a:cubicBezTo>
                <a:lnTo>
                  <a:pt x="226971" y="85365"/>
                </a:lnTo>
                <a:cubicBezTo>
                  <a:pt x="224429" y="85365"/>
                  <a:pt x="222250" y="83203"/>
                  <a:pt x="222250" y="81042"/>
                </a:cubicBezTo>
                <a:lnTo>
                  <a:pt x="222250" y="53660"/>
                </a:lnTo>
                <a:cubicBezTo>
                  <a:pt x="222250" y="47895"/>
                  <a:pt x="224429" y="41770"/>
                  <a:pt x="228423" y="37086"/>
                </a:cubicBezTo>
                <a:cubicBezTo>
                  <a:pt x="229875" y="35285"/>
                  <a:pt x="232780" y="34925"/>
                  <a:pt x="234596" y="36726"/>
                </a:cubicBezTo>
                <a:close/>
                <a:moveTo>
                  <a:pt x="11766" y="36726"/>
                </a:moveTo>
                <a:cubicBezTo>
                  <a:pt x="13905" y="38167"/>
                  <a:pt x="14262" y="40689"/>
                  <a:pt x="12479" y="42491"/>
                </a:cubicBezTo>
                <a:cubicBezTo>
                  <a:pt x="9983" y="45733"/>
                  <a:pt x="8557" y="49696"/>
                  <a:pt x="8557" y="53660"/>
                </a:cubicBezTo>
                <a:lnTo>
                  <a:pt x="8557" y="76718"/>
                </a:lnTo>
                <a:lnTo>
                  <a:pt x="57761" y="76718"/>
                </a:lnTo>
                <a:lnTo>
                  <a:pt x="57761" y="53660"/>
                </a:lnTo>
                <a:cubicBezTo>
                  <a:pt x="57761" y="49696"/>
                  <a:pt x="56335" y="45733"/>
                  <a:pt x="53839" y="42491"/>
                </a:cubicBezTo>
                <a:cubicBezTo>
                  <a:pt x="52413" y="40689"/>
                  <a:pt x="52413" y="38167"/>
                  <a:pt x="54552" y="36726"/>
                </a:cubicBezTo>
                <a:cubicBezTo>
                  <a:pt x="56335" y="34925"/>
                  <a:pt x="59188" y="35285"/>
                  <a:pt x="60614" y="37086"/>
                </a:cubicBezTo>
                <a:cubicBezTo>
                  <a:pt x="64179" y="41770"/>
                  <a:pt x="66319" y="47895"/>
                  <a:pt x="66319" y="53660"/>
                </a:cubicBezTo>
                <a:lnTo>
                  <a:pt x="66319" y="81042"/>
                </a:lnTo>
                <a:cubicBezTo>
                  <a:pt x="66319" y="83203"/>
                  <a:pt x="64536" y="85365"/>
                  <a:pt x="62040" y="85365"/>
                </a:cubicBezTo>
                <a:lnTo>
                  <a:pt x="4278" y="85365"/>
                </a:lnTo>
                <a:cubicBezTo>
                  <a:pt x="1783" y="85365"/>
                  <a:pt x="0" y="83203"/>
                  <a:pt x="0" y="81042"/>
                </a:cubicBezTo>
                <a:lnTo>
                  <a:pt x="0" y="53660"/>
                </a:lnTo>
                <a:cubicBezTo>
                  <a:pt x="0" y="47895"/>
                  <a:pt x="2139" y="41770"/>
                  <a:pt x="6061" y="37086"/>
                </a:cubicBezTo>
                <a:cubicBezTo>
                  <a:pt x="7487" y="35285"/>
                  <a:pt x="9983" y="34925"/>
                  <a:pt x="11766" y="36726"/>
                </a:cubicBezTo>
                <a:close/>
                <a:moveTo>
                  <a:pt x="255588" y="8902"/>
                </a:moveTo>
                <a:cubicBezTo>
                  <a:pt x="249837" y="8902"/>
                  <a:pt x="245165" y="13531"/>
                  <a:pt x="245165" y="18872"/>
                </a:cubicBezTo>
                <a:cubicBezTo>
                  <a:pt x="245165" y="24569"/>
                  <a:pt x="249837" y="29198"/>
                  <a:pt x="255588" y="29198"/>
                </a:cubicBezTo>
                <a:cubicBezTo>
                  <a:pt x="260980" y="29198"/>
                  <a:pt x="265652" y="24569"/>
                  <a:pt x="265652" y="18872"/>
                </a:cubicBezTo>
                <a:cubicBezTo>
                  <a:pt x="265652" y="13531"/>
                  <a:pt x="260980" y="8902"/>
                  <a:pt x="255588" y="8902"/>
                </a:cubicBezTo>
                <a:close/>
                <a:moveTo>
                  <a:pt x="32978" y="8902"/>
                </a:moveTo>
                <a:cubicBezTo>
                  <a:pt x="27587" y="8902"/>
                  <a:pt x="22914" y="13531"/>
                  <a:pt x="22914" y="18872"/>
                </a:cubicBezTo>
                <a:cubicBezTo>
                  <a:pt x="22914" y="24569"/>
                  <a:pt x="27587" y="29198"/>
                  <a:pt x="32978" y="29198"/>
                </a:cubicBezTo>
                <a:cubicBezTo>
                  <a:pt x="38729" y="29198"/>
                  <a:pt x="43402" y="24569"/>
                  <a:pt x="43402" y="18872"/>
                </a:cubicBezTo>
                <a:cubicBezTo>
                  <a:pt x="43402" y="13531"/>
                  <a:pt x="38729" y="8902"/>
                  <a:pt x="32978" y="8902"/>
                </a:cubicBezTo>
                <a:close/>
                <a:moveTo>
                  <a:pt x="133521" y="6815"/>
                </a:moveTo>
                <a:cubicBezTo>
                  <a:pt x="154896" y="5078"/>
                  <a:pt x="176676" y="8197"/>
                  <a:pt x="197102" y="16393"/>
                </a:cubicBezTo>
                <a:lnTo>
                  <a:pt x="201078" y="8553"/>
                </a:lnTo>
                <a:lnTo>
                  <a:pt x="215539" y="30292"/>
                </a:lnTo>
                <a:lnTo>
                  <a:pt x="189149" y="31717"/>
                </a:lnTo>
                <a:lnTo>
                  <a:pt x="193487" y="23877"/>
                </a:lnTo>
                <a:cubicBezTo>
                  <a:pt x="155167" y="9266"/>
                  <a:pt x="112147" y="12829"/>
                  <a:pt x="77080" y="33856"/>
                </a:cubicBezTo>
                <a:cubicBezTo>
                  <a:pt x="76357" y="34212"/>
                  <a:pt x="75634" y="34568"/>
                  <a:pt x="74911" y="34568"/>
                </a:cubicBezTo>
                <a:cubicBezTo>
                  <a:pt x="73465" y="34568"/>
                  <a:pt x="72019" y="33856"/>
                  <a:pt x="70935" y="32430"/>
                </a:cubicBezTo>
                <a:cubicBezTo>
                  <a:pt x="69850" y="30292"/>
                  <a:pt x="70212" y="27441"/>
                  <a:pt x="72381" y="26372"/>
                </a:cubicBezTo>
                <a:cubicBezTo>
                  <a:pt x="91179" y="15146"/>
                  <a:pt x="112147" y="8553"/>
                  <a:pt x="133521" y="6815"/>
                </a:cubicBezTo>
                <a:close/>
                <a:moveTo>
                  <a:pt x="255588" y="0"/>
                </a:moveTo>
                <a:cubicBezTo>
                  <a:pt x="266012" y="0"/>
                  <a:pt x="274279" y="8546"/>
                  <a:pt x="274279" y="18872"/>
                </a:cubicBezTo>
                <a:cubicBezTo>
                  <a:pt x="274279" y="29198"/>
                  <a:pt x="266012" y="37744"/>
                  <a:pt x="255588" y="37744"/>
                </a:cubicBezTo>
                <a:cubicBezTo>
                  <a:pt x="245165" y="37744"/>
                  <a:pt x="236538" y="29198"/>
                  <a:pt x="236538" y="18872"/>
                </a:cubicBezTo>
                <a:cubicBezTo>
                  <a:pt x="236538" y="8546"/>
                  <a:pt x="245165" y="0"/>
                  <a:pt x="255588" y="0"/>
                </a:cubicBezTo>
                <a:close/>
                <a:moveTo>
                  <a:pt x="32978" y="0"/>
                </a:moveTo>
                <a:cubicBezTo>
                  <a:pt x="43402" y="0"/>
                  <a:pt x="52028" y="8546"/>
                  <a:pt x="52028" y="18872"/>
                </a:cubicBezTo>
                <a:cubicBezTo>
                  <a:pt x="52028" y="29198"/>
                  <a:pt x="43402" y="37744"/>
                  <a:pt x="32978" y="37744"/>
                </a:cubicBezTo>
                <a:cubicBezTo>
                  <a:pt x="22555" y="37744"/>
                  <a:pt x="14288" y="29198"/>
                  <a:pt x="14288" y="18872"/>
                </a:cubicBezTo>
                <a:cubicBezTo>
                  <a:pt x="14288" y="8546"/>
                  <a:pt x="22555" y="0"/>
                  <a:pt x="32978" y="0"/>
                </a:cubicBezTo>
                <a:close/>
              </a:path>
            </a:pathLst>
          </a:custGeom>
          <a:solidFill>
            <a:schemeClr val="bg1"/>
          </a:solidFill>
          <a:ln>
            <a:noFill/>
          </a:ln>
          <a:effectLst/>
        </p:spPr>
        <p:txBody>
          <a:bodyPr anchor="ctr"/>
          <a:lstStyle/>
          <a:p>
            <a:endParaRPr lang="en-US">
              <a:latin typeface="Lato Light" panose="020F0502020204030203" pitchFamily="34" charset="0"/>
            </a:endParaRPr>
          </a:p>
        </p:txBody>
      </p:sp>
      <p:sp>
        <p:nvSpPr>
          <p:cNvPr id="16" name="Freeform 756">
            <a:extLst>
              <a:ext uri="{FF2B5EF4-FFF2-40B4-BE49-F238E27FC236}">
                <a16:creationId xmlns:a16="http://schemas.microsoft.com/office/drawing/2014/main" id="{0C1F30B0-C04D-1076-5B35-4D59F35E32CC}"/>
              </a:ext>
            </a:extLst>
          </p:cNvPr>
          <p:cNvSpPr>
            <a:spLocks noChangeArrowheads="1"/>
          </p:cNvSpPr>
          <p:nvPr/>
        </p:nvSpPr>
        <p:spPr bwMode="auto">
          <a:xfrm>
            <a:off x="7338553" y="4073167"/>
            <a:ext cx="733857" cy="632774"/>
          </a:xfrm>
          <a:custGeom>
            <a:avLst/>
            <a:gdLst>
              <a:gd name="T0" fmla="*/ 9383 w 306026"/>
              <a:gd name="T1" fmla="*/ 282598 h 305668"/>
              <a:gd name="T2" fmla="*/ 27066 w 306026"/>
              <a:gd name="T3" fmla="*/ 250157 h 305668"/>
              <a:gd name="T4" fmla="*/ 90942 w 306026"/>
              <a:gd name="T5" fmla="*/ 269261 h 305668"/>
              <a:gd name="T6" fmla="*/ 27066 w 306026"/>
              <a:gd name="T7" fmla="*/ 296656 h 305668"/>
              <a:gd name="T8" fmla="*/ 119451 w 306026"/>
              <a:gd name="T9" fmla="*/ 282598 h 305668"/>
              <a:gd name="T10" fmla="*/ 276073 w 306026"/>
              <a:gd name="T11" fmla="*/ 273227 h 305668"/>
              <a:gd name="T12" fmla="*/ 144352 w 306026"/>
              <a:gd name="T13" fmla="*/ 250157 h 305668"/>
              <a:gd name="T14" fmla="*/ 27066 w 306026"/>
              <a:gd name="T15" fmla="*/ 250157 h 305668"/>
              <a:gd name="T16" fmla="*/ 94551 w 306026"/>
              <a:gd name="T17" fmla="*/ 240785 h 305668"/>
              <a:gd name="T18" fmla="*/ 188749 w 306026"/>
              <a:gd name="T19" fmla="*/ 69367 h 305668"/>
              <a:gd name="T20" fmla="*/ 188749 w 306026"/>
              <a:gd name="T21" fmla="*/ 69367 h 305668"/>
              <a:gd name="T22" fmla="*/ 184068 w 306026"/>
              <a:gd name="T23" fmla="*/ 189778 h 305668"/>
              <a:gd name="T24" fmla="*/ 184068 w 306026"/>
              <a:gd name="T25" fmla="*/ 59965 h 305668"/>
              <a:gd name="T26" fmla="*/ 83003 w 306026"/>
              <a:gd name="T27" fmla="*/ 55511 h 305668"/>
              <a:gd name="T28" fmla="*/ 94551 w 306026"/>
              <a:gd name="T29" fmla="*/ 208344 h 305668"/>
              <a:gd name="T30" fmla="*/ 48358 w 306026"/>
              <a:gd name="T31" fmla="*/ 208344 h 305668"/>
              <a:gd name="T32" fmla="*/ 59906 w 306026"/>
              <a:gd name="T33" fmla="*/ 55511 h 305668"/>
              <a:gd name="T34" fmla="*/ 71454 w 306026"/>
              <a:gd name="T35" fmla="*/ 12256 h 305668"/>
              <a:gd name="T36" fmla="*/ 81920 w 306026"/>
              <a:gd name="T37" fmla="*/ 46499 h 305668"/>
              <a:gd name="T38" fmla="*/ 149044 w 306026"/>
              <a:gd name="T39" fmla="*/ 9372 h 305668"/>
              <a:gd name="T40" fmla="*/ 167088 w 306026"/>
              <a:gd name="T41" fmla="*/ 39290 h 305668"/>
              <a:gd name="T42" fmla="*/ 149044 w 306026"/>
              <a:gd name="T43" fmla="*/ 68848 h 305668"/>
              <a:gd name="T44" fmla="*/ 162396 w 306026"/>
              <a:gd name="T45" fmla="*/ 78220 h 305668"/>
              <a:gd name="T46" fmla="*/ 162396 w 306026"/>
              <a:gd name="T47" fmla="*/ 103091 h 305668"/>
              <a:gd name="T48" fmla="*/ 149044 w 306026"/>
              <a:gd name="T49" fmla="*/ 112463 h 305668"/>
              <a:gd name="T50" fmla="*/ 167088 w 306026"/>
              <a:gd name="T51" fmla="*/ 142381 h 305668"/>
              <a:gd name="T52" fmla="*/ 149044 w 306026"/>
              <a:gd name="T53" fmla="*/ 171938 h 305668"/>
              <a:gd name="T54" fmla="*/ 162396 w 306026"/>
              <a:gd name="T55" fmla="*/ 181310 h 305668"/>
              <a:gd name="T56" fmla="*/ 162396 w 306026"/>
              <a:gd name="T57" fmla="*/ 206542 h 305668"/>
              <a:gd name="T58" fmla="*/ 149044 w 306026"/>
              <a:gd name="T59" fmla="*/ 215553 h 305668"/>
              <a:gd name="T60" fmla="*/ 180440 w 306026"/>
              <a:gd name="T61" fmla="*/ 219158 h 305668"/>
              <a:gd name="T62" fmla="*/ 185132 w 306026"/>
              <a:gd name="T63" fmla="*/ 35686 h 305668"/>
              <a:gd name="T64" fmla="*/ 149044 w 306026"/>
              <a:gd name="T65" fmla="*/ 9372 h 305668"/>
              <a:gd name="T66" fmla="*/ 189823 w 306026"/>
              <a:gd name="T67" fmla="*/ 4686 h 305668"/>
              <a:gd name="T68" fmla="*/ 189823 w 306026"/>
              <a:gd name="T69" fmla="*/ 223844 h 305668"/>
              <a:gd name="T70" fmla="*/ 306026 w 306026"/>
              <a:gd name="T71" fmla="*/ 245471 h 305668"/>
              <a:gd name="T72" fmla="*/ 294117 w 306026"/>
              <a:gd name="T73" fmla="*/ 296656 h 305668"/>
              <a:gd name="T74" fmla="*/ 301335 w 306026"/>
              <a:gd name="T75" fmla="*/ 305668 h 305668"/>
              <a:gd name="T76" fmla="*/ 0 w 306026"/>
              <a:gd name="T77" fmla="*/ 263855 h 305668"/>
              <a:gd name="T78" fmla="*/ 38975 w 306026"/>
              <a:gd name="T79" fmla="*/ 41813 h 305668"/>
              <a:gd name="T80" fmla="*/ 39697 w 306026"/>
              <a:gd name="T81" fmla="*/ 39290 h 305668"/>
              <a:gd name="T82" fmla="*/ 102851 w 306026"/>
              <a:gd name="T83" fmla="*/ 39290 h 305668"/>
              <a:gd name="T84" fmla="*/ 103934 w 306026"/>
              <a:gd name="T85" fmla="*/ 240785 h 305668"/>
              <a:gd name="T86" fmla="*/ 144352 w 306026"/>
              <a:gd name="T87" fmla="*/ 0 h 3056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06026" h="305668">
                <a:moveTo>
                  <a:pt x="17683" y="251599"/>
                </a:moveTo>
                <a:cubicBezTo>
                  <a:pt x="12631" y="253401"/>
                  <a:pt x="9383" y="258448"/>
                  <a:pt x="9383" y="263855"/>
                </a:cubicBezTo>
                <a:lnTo>
                  <a:pt x="9383" y="282598"/>
                </a:lnTo>
                <a:cubicBezTo>
                  <a:pt x="9383" y="288366"/>
                  <a:pt x="12631" y="293052"/>
                  <a:pt x="17683" y="295214"/>
                </a:cubicBezTo>
                <a:cubicBezTo>
                  <a:pt x="23457" y="282959"/>
                  <a:pt x="23457" y="263855"/>
                  <a:pt x="17683" y="251599"/>
                </a:cubicBezTo>
                <a:close/>
                <a:moveTo>
                  <a:pt x="27066" y="250157"/>
                </a:moveTo>
                <a:cubicBezTo>
                  <a:pt x="28871" y="254843"/>
                  <a:pt x="29953" y="259169"/>
                  <a:pt x="30675" y="264215"/>
                </a:cubicBezTo>
                <a:lnTo>
                  <a:pt x="86611" y="264215"/>
                </a:lnTo>
                <a:cubicBezTo>
                  <a:pt x="89138" y="264215"/>
                  <a:pt x="90942" y="266378"/>
                  <a:pt x="90942" y="269261"/>
                </a:cubicBezTo>
                <a:cubicBezTo>
                  <a:pt x="90942" y="271424"/>
                  <a:pt x="89138" y="273587"/>
                  <a:pt x="86611" y="273587"/>
                </a:cubicBezTo>
                <a:lnTo>
                  <a:pt x="31397" y="273587"/>
                </a:lnTo>
                <a:cubicBezTo>
                  <a:pt x="31397" y="281877"/>
                  <a:pt x="29953" y="289447"/>
                  <a:pt x="27066" y="296656"/>
                </a:cubicBezTo>
                <a:lnTo>
                  <a:pt x="282569" y="296656"/>
                </a:lnTo>
                <a:cubicBezTo>
                  <a:pt x="280043" y="291970"/>
                  <a:pt x="278239" y="287645"/>
                  <a:pt x="276795" y="282598"/>
                </a:cubicBezTo>
                <a:lnTo>
                  <a:pt x="119451" y="282598"/>
                </a:lnTo>
                <a:cubicBezTo>
                  <a:pt x="116925" y="282598"/>
                  <a:pt x="114760" y="280436"/>
                  <a:pt x="114760" y="277912"/>
                </a:cubicBezTo>
                <a:cubicBezTo>
                  <a:pt x="114760" y="275389"/>
                  <a:pt x="116925" y="273227"/>
                  <a:pt x="119451" y="273227"/>
                </a:cubicBezTo>
                <a:lnTo>
                  <a:pt x="276073" y="273227"/>
                </a:lnTo>
                <a:cubicBezTo>
                  <a:pt x="276073" y="265296"/>
                  <a:pt x="278239" y="257006"/>
                  <a:pt x="282569" y="250157"/>
                </a:cubicBezTo>
                <a:lnTo>
                  <a:pt x="185132" y="250157"/>
                </a:lnTo>
                <a:lnTo>
                  <a:pt x="144352" y="250157"/>
                </a:lnTo>
                <a:lnTo>
                  <a:pt x="99242" y="250157"/>
                </a:lnTo>
                <a:lnTo>
                  <a:pt x="43667" y="250157"/>
                </a:lnTo>
                <a:lnTo>
                  <a:pt x="27066" y="250157"/>
                </a:lnTo>
                <a:close/>
                <a:moveTo>
                  <a:pt x="48358" y="217716"/>
                </a:moveTo>
                <a:lnTo>
                  <a:pt x="48358" y="240785"/>
                </a:lnTo>
                <a:lnTo>
                  <a:pt x="94551" y="240785"/>
                </a:lnTo>
                <a:lnTo>
                  <a:pt x="94551" y="217716"/>
                </a:lnTo>
                <a:lnTo>
                  <a:pt x="48358" y="217716"/>
                </a:lnTo>
                <a:close/>
                <a:moveTo>
                  <a:pt x="188749" y="69367"/>
                </a:moveTo>
                <a:lnTo>
                  <a:pt x="188749" y="180015"/>
                </a:lnTo>
                <a:cubicBezTo>
                  <a:pt x="217193" y="177846"/>
                  <a:pt x="239516" y="153619"/>
                  <a:pt x="239516" y="124691"/>
                </a:cubicBezTo>
                <a:cubicBezTo>
                  <a:pt x="239516" y="95763"/>
                  <a:pt x="217193" y="71898"/>
                  <a:pt x="188749" y="69367"/>
                </a:cubicBezTo>
                <a:close/>
                <a:moveTo>
                  <a:pt x="184068" y="59965"/>
                </a:moveTo>
                <a:cubicBezTo>
                  <a:pt x="220073" y="59965"/>
                  <a:pt x="248877" y="88893"/>
                  <a:pt x="248877" y="124691"/>
                </a:cubicBezTo>
                <a:cubicBezTo>
                  <a:pt x="248877" y="160489"/>
                  <a:pt x="220073" y="189778"/>
                  <a:pt x="184068" y="189778"/>
                </a:cubicBezTo>
                <a:cubicBezTo>
                  <a:pt x="181548" y="189778"/>
                  <a:pt x="179387" y="187609"/>
                  <a:pt x="179387" y="185078"/>
                </a:cubicBezTo>
                <a:lnTo>
                  <a:pt x="179387" y="64666"/>
                </a:lnTo>
                <a:cubicBezTo>
                  <a:pt x="179387" y="62135"/>
                  <a:pt x="181548" y="59965"/>
                  <a:pt x="184068" y="59965"/>
                </a:cubicBezTo>
                <a:close/>
                <a:moveTo>
                  <a:pt x="94551" y="49743"/>
                </a:moveTo>
                <a:lnTo>
                  <a:pt x="85168" y="55150"/>
                </a:lnTo>
                <a:cubicBezTo>
                  <a:pt x="84446" y="55511"/>
                  <a:pt x="83724" y="55511"/>
                  <a:pt x="83003" y="55511"/>
                </a:cubicBezTo>
                <a:lnTo>
                  <a:pt x="76146" y="55511"/>
                </a:lnTo>
                <a:lnTo>
                  <a:pt x="76146" y="208344"/>
                </a:lnTo>
                <a:lnTo>
                  <a:pt x="94551" y="208344"/>
                </a:lnTo>
                <a:lnTo>
                  <a:pt x="94551" y="49743"/>
                </a:lnTo>
                <a:close/>
                <a:moveTo>
                  <a:pt x="48358" y="49743"/>
                </a:moveTo>
                <a:lnTo>
                  <a:pt x="48358" y="208344"/>
                </a:lnTo>
                <a:lnTo>
                  <a:pt x="66763" y="208344"/>
                </a:lnTo>
                <a:lnTo>
                  <a:pt x="66763" y="55511"/>
                </a:lnTo>
                <a:lnTo>
                  <a:pt x="59906" y="55511"/>
                </a:lnTo>
                <a:cubicBezTo>
                  <a:pt x="58824" y="55511"/>
                  <a:pt x="58102" y="55511"/>
                  <a:pt x="57380" y="55150"/>
                </a:cubicBezTo>
                <a:lnTo>
                  <a:pt x="48358" y="49743"/>
                </a:lnTo>
                <a:close/>
                <a:moveTo>
                  <a:pt x="71454" y="12256"/>
                </a:moveTo>
                <a:lnTo>
                  <a:pt x="50523" y="40372"/>
                </a:lnTo>
                <a:lnTo>
                  <a:pt x="60989" y="46499"/>
                </a:lnTo>
                <a:lnTo>
                  <a:pt x="81920" y="46499"/>
                </a:lnTo>
                <a:lnTo>
                  <a:pt x="92385" y="40372"/>
                </a:lnTo>
                <a:lnTo>
                  <a:pt x="71454" y="12256"/>
                </a:lnTo>
                <a:close/>
                <a:moveTo>
                  <a:pt x="149044" y="9372"/>
                </a:moveTo>
                <a:lnTo>
                  <a:pt x="149044" y="34604"/>
                </a:lnTo>
                <a:lnTo>
                  <a:pt x="162396" y="34604"/>
                </a:lnTo>
                <a:cubicBezTo>
                  <a:pt x="164922" y="34604"/>
                  <a:pt x="167088" y="36407"/>
                  <a:pt x="167088" y="39290"/>
                </a:cubicBezTo>
                <a:cubicBezTo>
                  <a:pt x="167088" y="41813"/>
                  <a:pt x="164922" y="43616"/>
                  <a:pt x="162396" y="43616"/>
                </a:cubicBezTo>
                <a:lnTo>
                  <a:pt x="149044" y="43616"/>
                </a:lnTo>
                <a:lnTo>
                  <a:pt x="149044" y="68848"/>
                </a:lnTo>
                <a:lnTo>
                  <a:pt x="162396" y="68848"/>
                </a:lnTo>
                <a:cubicBezTo>
                  <a:pt x="164922" y="68848"/>
                  <a:pt x="167088" y="71010"/>
                  <a:pt x="167088" y="73534"/>
                </a:cubicBezTo>
                <a:cubicBezTo>
                  <a:pt x="167088" y="76057"/>
                  <a:pt x="164922" y="78220"/>
                  <a:pt x="162396" y="78220"/>
                </a:cubicBezTo>
                <a:lnTo>
                  <a:pt x="149044" y="78220"/>
                </a:lnTo>
                <a:lnTo>
                  <a:pt x="149044" y="103091"/>
                </a:lnTo>
                <a:lnTo>
                  <a:pt x="162396" y="103091"/>
                </a:lnTo>
                <a:cubicBezTo>
                  <a:pt x="164922" y="103091"/>
                  <a:pt x="167088" y="105254"/>
                  <a:pt x="167088" y="107777"/>
                </a:cubicBezTo>
                <a:cubicBezTo>
                  <a:pt x="167088" y="110300"/>
                  <a:pt x="164922" y="112463"/>
                  <a:pt x="162396" y="112463"/>
                </a:cubicBezTo>
                <a:lnTo>
                  <a:pt x="149044" y="112463"/>
                </a:lnTo>
                <a:lnTo>
                  <a:pt x="149044" y="137695"/>
                </a:lnTo>
                <a:lnTo>
                  <a:pt x="162396" y="137695"/>
                </a:lnTo>
                <a:cubicBezTo>
                  <a:pt x="164922" y="137695"/>
                  <a:pt x="167088" y="139858"/>
                  <a:pt x="167088" y="142381"/>
                </a:cubicBezTo>
                <a:cubicBezTo>
                  <a:pt x="167088" y="144904"/>
                  <a:pt x="164922" y="146706"/>
                  <a:pt x="162396" y="146706"/>
                </a:cubicBezTo>
                <a:lnTo>
                  <a:pt x="149044" y="146706"/>
                </a:lnTo>
                <a:lnTo>
                  <a:pt x="149044" y="171938"/>
                </a:lnTo>
                <a:lnTo>
                  <a:pt x="162396" y="171938"/>
                </a:lnTo>
                <a:cubicBezTo>
                  <a:pt x="164922" y="171938"/>
                  <a:pt x="167088" y="174101"/>
                  <a:pt x="167088" y="176624"/>
                </a:cubicBezTo>
                <a:cubicBezTo>
                  <a:pt x="167088" y="179147"/>
                  <a:pt x="164922" y="181310"/>
                  <a:pt x="162396" y="181310"/>
                </a:cubicBezTo>
                <a:lnTo>
                  <a:pt x="149044" y="181310"/>
                </a:lnTo>
                <a:lnTo>
                  <a:pt x="149044" y="206542"/>
                </a:lnTo>
                <a:lnTo>
                  <a:pt x="162396" y="206542"/>
                </a:lnTo>
                <a:cubicBezTo>
                  <a:pt x="164922" y="206542"/>
                  <a:pt x="167088" y="208344"/>
                  <a:pt x="167088" y="211228"/>
                </a:cubicBezTo>
                <a:cubicBezTo>
                  <a:pt x="167088" y="213751"/>
                  <a:pt x="164922" y="215553"/>
                  <a:pt x="162396" y="215553"/>
                </a:cubicBezTo>
                <a:lnTo>
                  <a:pt x="149044" y="215553"/>
                </a:lnTo>
                <a:lnTo>
                  <a:pt x="149044" y="240785"/>
                </a:lnTo>
                <a:lnTo>
                  <a:pt x="180440" y="240785"/>
                </a:lnTo>
                <a:lnTo>
                  <a:pt x="180440" y="219158"/>
                </a:lnTo>
                <a:cubicBezTo>
                  <a:pt x="180440" y="216635"/>
                  <a:pt x="182605" y="214833"/>
                  <a:pt x="185132" y="214833"/>
                </a:cubicBezTo>
                <a:cubicBezTo>
                  <a:pt x="234933" y="214833"/>
                  <a:pt x="274991" y="174461"/>
                  <a:pt x="274991" y="125079"/>
                </a:cubicBezTo>
                <a:cubicBezTo>
                  <a:pt x="274991" y="75696"/>
                  <a:pt x="234933" y="35686"/>
                  <a:pt x="185132" y="35686"/>
                </a:cubicBezTo>
                <a:cubicBezTo>
                  <a:pt x="182605" y="35686"/>
                  <a:pt x="180440" y="33523"/>
                  <a:pt x="180440" y="31000"/>
                </a:cubicBezTo>
                <a:lnTo>
                  <a:pt x="180440" y="9372"/>
                </a:lnTo>
                <a:lnTo>
                  <a:pt x="149044" y="9372"/>
                </a:lnTo>
                <a:close/>
                <a:moveTo>
                  <a:pt x="144352" y="0"/>
                </a:moveTo>
                <a:lnTo>
                  <a:pt x="185132" y="0"/>
                </a:lnTo>
                <a:cubicBezTo>
                  <a:pt x="187658" y="0"/>
                  <a:pt x="189823" y="2163"/>
                  <a:pt x="189823" y="4686"/>
                </a:cubicBezTo>
                <a:lnTo>
                  <a:pt x="189823" y="26314"/>
                </a:lnTo>
                <a:cubicBezTo>
                  <a:pt x="242151" y="28837"/>
                  <a:pt x="284013" y="72092"/>
                  <a:pt x="284013" y="125079"/>
                </a:cubicBezTo>
                <a:cubicBezTo>
                  <a:pt x="284013" y="178066"/>
                  <a:pt x="242151" y="221321"/>
                  <a:pt x="189823" y="223844"/>
                </a:cubicBezTo>
                <a:lnTo>
                  <a:pt x="189823" y="240785"/>
                </a:lnTo>
                <a:lnTo>
                  <a:pt x="301335" y="240785"/>
                </a:lnTo>
                <a:cubicBezTo>
                  <a:pt x="303861" y="240785"/>
                  <a:pt x="306026" y="242948"/>
                  <a:pt x="306026" y="245471"/>
                </a:cubicBezTo>
                <a:cubicBezTo>
                  <a:pt x="306026" y="247995"/>
                  <a:pt x="303861" y="250157"/>
                  <a:pt x="301335" y="250157"/>
                </a:cubicBezTo>
                <a:lnTo>
                  <a:pt x="294117" y="250157"/>
                </a:lnTo>
                <a:cubicBezTo>
                  <a:pt x="282208" y="263134"/>
                  <a:pt x="282208" y="283319"/>
                  <a:pt x="294117" y="296656"/>
                </a:cubicBezTo>
                <a:lnTo>
                  <a:pt x="301335" y="296656"/>
                </a:lnTo>
                <a:cubicBezTo>
                  <a:pt x="303861" y="296656"/>
                  <a:pt x="306026" y="298458"/>
                  <a:pt x="306026" y="301342"/>
                </a:cubicBezTo>
                <a:cubicBezTo>
                  <a:pt x="306026" y="303865"/>
                  <a:pt x="303861" y="305668"/>
                  <a:pt x="301335" y="305668"/>
                </a:cubicBezTo>
                <a:lnTo>
                  <a:pt x="23457" y="305668"/>
                </a:lnTo>
                <a:cubicBezTo>
                  <a:pt x="10466" y="305668"/>
                  <a:pt x="0" y="295214"/>
                  <a:pt x="0" y="282598"/>
                </a:cubicBezTo>
                <a:lnTo>
                  <a:pt x="0" y="263855"/>
                </a:lnTo>
                <a:cubicBezTo>
                  <a:pt x="0" y="251239"/>
                  <a:pt x="10466" y="240785"/>
                  <a:pt x="23457" y="240785"/>
                </a:cubicBezTo>
                <a:lnTo>
                  <a:pt x="38975" y="240785"/>
                </a:lnTo>
                <a:lnTo>
                  <a:pt x="38975" y="41813"/>
                </a:lnTo>
                <a:cubicBezTo>
                  <a:pt x="38975" y="41453"/>
                  <a:pt x="38975" y="41093"/>
                  <a:pt x="38975" y="40732"/>
                </a:cubicBezTo>
                <a:cubicBezTo>
                  <a:pt x="38975" y="40732"/>
                  <a:pt x="38975" y="40732"/>
                  <a:pt x="39336" y="40732"/>
                </a:cubicBezTo>
                <a:cubicBezTo>
                  <a:pt x="39336" y="40011"/>
                  <a:pt x="39336" y="39651"/>
                  <a:pt x="39697" y="39290"/>
                </a:cubicBezTo>
                <a:lnTo>
                  <a:pt x="67485" y="2163"/>
                </a:lnTo>
                <a:cubicBezTo>
                  <a:pt x="69650" y="-360"/>
                  <a:pt x="73259" y="-360"/>
                  <a:pt x="75063" y="2163"/>
                </a:cubicBezTo>
                <a:lnTo>
                  <a:pt x="102851" y="39290"/>
                </a:lnTo>
                <a:cubicBezTo>
                  <a:pt x="103212" y="39651"/>
                  <a:pt x="103573" y="40011"/>
                  <a:pt x="103573" y="40732"/>
                </a:cubicBezTo>
                <a:cubicBezTo>
                  <a:pt x="103934" y="41093"/>
                  <a:pt x="103934" y="41453"/>
                  <a:pt x="103934" y="41813"/>
                </a:cubicBezTo>
                <a:lnTo>
                  <a:pt x="103934" y="240785"/>
                </a:lnTo>
                <a:lnTo>
                  <a:pt x="139661" y="240785"/>
                </a:lnTo>
                <a:lnTo>
                  <a:pt x="139661" y="4686"/>
                </a:lnTo>
                <a:cubicBezTo>
                  <a:pt x="139661" y="2163"/>
                  <a:pt x="141826" y="0"/>
                  <a:pt x="144352" y="0"/>
                </a:cubicBezTo>
                <a:close/>
              </a:path>
            </a:pathLst>
          </a:custGeom>
          <a:solidFill>
            <a:schemeClr val="bg1"/>
          </a:solidFill>
          <a:ln>
            <a:noFill/>
          </a:ln>
          <a:effectLst/>
        </p:spPr>
        <p:txBody>
          <a:bodyPr anchor="ctr"/>
          <a:lstStyle/>
          <a:p>
            <a:endParaRPr lang="en-US">
              <a:latin typeface="Lato Light" panose="020F0502020204030203" pitchFamily="34" charset="0"/>
            </a:endParaRPr>
          </a:p>
        </p:txBody>
      </p:sp>
      <p:grpSp>
        <p:nvGrpSpPr>
          <p:cNvPr id="17" name="Group 16">
            <a:extLst>
              <a:ext uri="{FF2B5EF4-FFF2-40B4-BE49-F238E27FC236}">
                <a16:creationId xmlns:a16="http://schemas.microsoft.com/office/drawing/2014/main" id="{372FF35E-ADB6-5140-9D61-80EA160B3349}"/>
              </a:ext>
            </a:extLst>
          </p:cNvPr>
          <p:cNvGrpSpPr/>
          <p:nvPr/>
        </p:nvGrpSpPr>
        <p:grpSpPr>
          <a:xfrm>
            <a:off x="4130276" y="4082127"/>
            <a:ext cx="867394" cy="875334"/>
            <a:chOff x="4832103" y="1598326"/>
            <a:chExt cx="867394" cy="875334"/>
          </a:xfrm>
        </p:grpSpPr>
        <p:pic>
          <p:nvPicPr>
            <p:cNvPr id="18" name="Graphic 17" descr="Infinity outline">
              <a:extLst>
                <a:ext uri="{FF2B5EF4-FFF2-40B4-BE49-F238E27FC236}">
                  <a16:creationId xmlns:a16="http://schemas.microsoft.com/office/drawing/2014/main" id="{467C34C1-E71E-ED63-9BCC-2B6CA1472F3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32103" y="1606266"/>
              <a:ext cx="867394" cy="867394"/>
            </a:xfrm>
            <a:prstGeom prst="rect">
              <a:avLst/>
            </a:prstGeom>
          </p:spPr>
        </p:pic>
        <p:pic>
          <p:nvPicPr>
            <p:cNvPr id="19" name="Graphic 18" descr="Shield Tick outline">
              <a:extLst>
                <a:ext uri="{FF2B5EF4-FFF2-40B4-BE49-F238E27FC236}">
                  <a16:creationId xmlns:a16="http://schemas.microsoft.com/office/drawing/2014/main" id="{835E9B81-6B06-729E-8BBF-9AFC77572CE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091028" y="1598326"/>
              <a:ext cx="349545" cy="349545"/>
            </a:xfrm>
            <a:prstGeom prst="rect">
              <a:avLst/>
            </a:prstGeom>
          </p:spPr>
        </p:pic>
      </p:grpSp>
      <p:sp>
        <p:nvSpPr>
          <p:cNvPr id="20" name="Freeform 379">
            <a:extLst>
              <a:ext uri="{FF2B5EF4-FFF2-40B4-BE49-F238E27FC236}">
                <a16:creationId xmlns:a16="http://schemas.microsoft.com/office/drawing/2014/main" id="{A5F56047-5708-A3A3-40B1-4A876FA90799}"/>
              </a:ext>
            </a:extLst>
          </p:cNvPr>
          <p:cNvSpPr>
            <a:spLocks noChangeArrowheads="1"/>
          </p:cNvSpPr>
          <p:nvPr/>
        </p:nvSpPr>
        <p:spPr bwMode="auto">
          <a:xfrm>
            <a:off x="5243842" y="3461819"/>
            <a:ext cx="43671" cy="43671"/>
          </a:xfrm>
          <a:custGeom>
            <a:avLst/>
            <a:gdLst>
              <a:gd name="T0" fmla="*/ 74 w 75"/>
              <a:gd name="T1" fmla="*/ 37 h 74"/>
              <a:gd name="T2" fmla="*/ 74 w 75"/>
              <a:gd name="T3" fmla="*/ 37 h 74"/>
              <a:gd name="T4" fmla="*/ 37 w 75"/>
              <a:gd name="T5" fmla="*/ 73 h 74"/>
              <a:gd name="T6" fmla="*/ 37 w 75"/>
              <a:gd name="T7" fmla="*/ 73 h 74"/>
              <a:gd name="T8" fmla="*/ 0 w 75"/>
              <a:gd name="T9" fmla="*/ 37 h 74"/>
              <a:gd name="T10" fmla="*/ 0 w 75"/>
              <a:gd name="T11" fmla="*/ 37 h 74"/>
              <a:gd name="T12" fmla="*/ 37 w 75"/>
              <a:gd name="T13" fmla="*/ 0 h 74"/>
              <a:gd name="T14" fmla="*/ 37 w 75"/>
              <a:gd name="T15" fmla="*/ 0 h 74"/>
              <a:gd name="T16" fmla="*/ 74 w 75"/>
              <a:gd name="T17" fmla="*/ 37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74">
                <a:moveTo>
                  <a:pt x="74" y="37"/>
                </a:moveTo>
                <a:lnTo>
                  <a:pt x="74" y="37"/>
                </a:lnTo>
                <a:cubicBezTo>
                  <a:pt x="74" y="57"/>
                  <a:pt x="57" y="73"/>
                  <a:pt x="37" y="73"/>
                </a:cubicBezTo>
                <a:lnTo>
                  <a:pt x="37" y="73"/>
                </a:lnTo>
                <a:cubicBezTo>
                  <a:pt x="17" y="73"/>
                  <a:pt x="0" y="57"/>
                  <a:pt x="0" y="37"/>
                </a:cubicBezTo>
                <a:lnTo>
                  <a:pt x="0" y="37"/>
                </a:lnTo>
                <a:cubicBezTo>
                  <a:pt x="0" y="17"/>
                  <a:pt x="17" y="0"/>
                  <a:pt x="37" y="0"/>
                </a:cubicBezTo>
                <a:lnTo>
                  <a:pt x="37" y="0"/>
                </a:lnTo>
                <a:cubicBezTo>
                  <a:pt x="57" y="0"/>
                  <a:pt x="74" y="17"/>
                  <a:pt x="74" y="37"/>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atin typeface="Poppins" pitchFamily="2" charset="77"/>
            </a:endParaRPr>
          </a:p>
        </p:txBody>
      </p:sp>
      <p:sp>
        <p:nvSpPr>
          <p:cNvPr id="21" name="Freeform 381">
            <a:extLst>
              <a:ext uri="{FF2B5EF4-FFF2-40B4-BE49-F238E27FC236}">
                <a16:creationId xmlns:a16="http://schemas.microsoft.com/office/drawing/2014/main" id="{44D20E23-EBBE-DC0E-4C67-EF45EB943885}"/>
              </a:ext>
            </a:extLst>
          </p:cNvPr>
          <p:cNvSpPr>
            <a:spLocks noChangeArrowheads="1"/>
          </p:cNvSpPr>
          <p:nvPr/>
        </p:nvSpPr>
        <p:spPr bwMode="auto">
          <a:xfrm>
            <a:off x="6561503" y="2931837"/>
            <a:ext cx="84771" cy="84771"/>
          </a:xfrm>
          <a:custGeom>
            <a:avLst/>
            <a:gdLst>
              <a:gd name="T0" fmla="*/ 143 w 144"/>
              <a:gd name="T1" fmla="*/ 72 h 145"/>
              <a:gd name="T2" fmla="*/ 143 w 144"/>
              <a:gd name="T3" fmla="*/ 72 h 145"/>
              <a:gd name="T4" fmla="*/ 72 w 144"/>
              <a:gd name="T5" fmla="*/ 144 h 145"/>
              <a:gd name="T6" fmla="*/ 72 w 144"/>
              <a:gd name="T7" fmla="*/ 144 h 145"/>
              <a:gd name="T8" fmla="*/ 0 w 144"/>
              <a:gd name="T9" fmla="*/ 72 h 145"/>
              <a:gd name="T10" fmla="*/ 0 w 144"/>
              <a:gd name="T11" fmla="*/ 72 h 145"/>
              <a:gd name="T12" fmla="*/ 72 w 144"/>
              <a:gd name="T13" fmla="*/ 0 h 145"/>
              <a:gd name="T14" fmla="*/ 72 w 144"/>
              <a:gd name="T15" fmla="*/ 0 h 145"/>
              <a:gd name="T16" fmla="*/ 143 w 144"/>
              <a:gd name="T17" fmla="*/ 72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4" h="145">
                <a:moveTo>
                  <a:pt x="143" y="72"/>
                </a:moveTo>
                <a:lnTo>
                  <a:pt x="143" y="72"/>
                </a:lnTo>
                <a:cubicBezTo>
                  <a:pt x="143" y="112"/>
                  <a:pt x="111" y="144"/>
                  <a:pt x="72" y="144"/>
                </a:cubicBezTo>
                <a:lnTo>
                  <a:pt x="72" y="144"/>
                </a:lnTo>
                <a:cubicBezTo>
                  <a:pt x="32" y="144"/>
                  <a:pt x="0" y="112"/>
                  <a:pt x="0" y="72"/>
                </a:cubicBezTo>
                <a:lnTo>
                  <a:pt x="0" y="72"/>
                </a:lnTo>
                <a:cubicBezTo>
                  <a:pt x="0" y="33"/>
                  <a:pt x="32" y="0"/>
                  <a:pt x="72" y="0"/>
                </a:cubicBezTo>
                <a:lnTo>
                  <a:pt x="72" y="0"/>
                </a:lnTo>
                <a:cubicBezTo>
                  <a:pt x="111" y="0"/>
                  <a:pt x="143" y="33"/>
                  <a:pt x="143" y="72"/>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atin typeface="Poppins" pitchFamily="2" charset="77"/>
            </a:endParaRPr>
          </a:p>
        </p:txBody>
      </p:sp>
      <p:sp>
        <p:nvSpPr>
          <p:cNvPr id="24" name="Freeform 385">
            <a:extLst>
              <a:ext uri="{FF2B5EF4-FFF2-40B4-BE49-F238E27FC236}">
                <a16:creationId xmlns:a16="http://schemas.microsoft.com/office/drawing/2014/main" id="{5B0F85BA-B37D-5FAB-F2E4-80DFEF32DC59}"/>
              </a:ext>
            </a:extLst>
          </p:cNvPr>
          <p:cNvSpPr>
            <a:spLocks noChangeArrowheads="1"/>
          </p:cNvSpPr>
          <p:nvPr/>
        </p:nvSpPr>
        <p:spPr bwMode="auto">
          <a:xfrm>
            <a:off x="5457056" y="2950625"/>
            <a:ext cx="1181659" cy="1531018"/>
          </a:xfrm>
          <a:custGeom>
            <a:avLst/>
            <a:gdLst>
              <a:gd name="T0" fmla="*/ 1032 w 2028"/>
              <a:gd name="T1" fmla="*/ 0 h 2630"/>
              <a:gd name="T2" fmla="*/ 0 w 2028"/>
              <a:gd name="T3" fmla="*/ 602 h 2630"/>
              <a:gd name="T4" fmla="*/ 0 w 2028"/>
              <a:gd name="T5" fmla="*/ 602 h 2630"/>
              <a:gd name="T6" fmla="*/ 213 w 2028"/>
              <a:gd name="T7" fmla="*/ 1754 h 2630"/>
              <a:gd name="T8" fmla="*/ 213 w 2028"/>
              <a:gd name="T9" fmla="*/ 1754 h 2630"/>
              <a:gd name="T10" fmla="*/ 1031 w 2028"/>
              <a:gd name="T11" fmla="*/ 2629 h 2630"/>
              <a:gd name="T12" fmla="*/ 1031 w 2028"/>
              <a:gd name="T13" fmla="*/ 2629 h 2630"/>
              <a:gd name="T14" fmla="*/ 1032 w 2028"/>
              <a:gd name="T15" fmla="*/ 2629 h 2630"/>
              <a:gd name="T16" fmla="*/ 1032 w 2028"/>
              <a:gd name="T17" fmla="*/ 2629 h 2630"/>
              <a:gd name="T18" fmla="*/ 1815 w 2028"/>
              <a:gd name="T19" fmla="*/ 1754 h 2630"/>
              <a:gd name="T20" fmla="*/ 1815 w 2028"/>
              <a:gd name="T21" fmla="*/ 1754 h 2630"/>
              <a:gd name="T22" fmla="*/ 2027 w 2028"/>
              <a:gd name="T23" fmla="*/ 602 h 2630"/>
              <a:gd name="T24" fmla="*/ 1032 w 2028"/>
              <a:gd name="T25" fmla="*/ 0 h 2630"/>
              <a:gd name="T26" fmla="*/ 1031 w 2028"/>
              <a:gd name="T27" fmla="*/ 159 h 2630"/>
              <a:gd name="T28" fmla="*/ 1881 w 2028"/>
              <a:gd name="T29" fmla="*/ 672 h 2630"/>
              <a:gd name="T30" fmla="*/ 1881 w 2028"/>
              <a:gd name="T31" fmla="*/ 672 h 2630"/>
              <a:gd name="T32" fmla="*/ 1684 w 2028"/>
              <a:gd name="T33" fmla="*/ 1719 h 2630"/>
              <a:gd name="T34" fmla="*/ 1684 w 2028"/>
              <a:gd name="T35" fmla="*/ 1719 h 2630"/>
              <a:gd name="T36" fmla="*/ 1335 w 2028"/>
              <a:gd name="T37" fmla="*/ 2247 h 2630"/>
              <a:gd name="T38" fmla="*/ 1335 w 2028"/>
              <a:gd name="T39" fmla="*/ 2247 h 2630"/>
              <a:gd name="T40" fmla="*/ 1028 w 2028"/>
              <a:gd name="T41" fmla="*/ 2484 h 2630"/>
              <a:gd name="T42" fmla="*/ 1028 w 2028"/>
              <a:gd name="T43" fmla="*/ 2484 h 2630"/>
              <a:gd name="T44" fmla="*/ 706 w 2028"/>
              <a:gd name="T45" fmla="*/ 2248 h 2630"/>
              <a:gd name="T46" fmla="*/ 706 w 2028"/>
              <a:gd name="T47" fmla="*/ 2248 h 2630"/>
              <a:gd name="T48" fmla="*/ 344 w 2028"/>
              <a:gd name="T49" fmla="*/ 1718 h 2630"/>
              <a:gd name="T50" fmla="*/ 344 w 2028"/>
              <a:gd name="T51" fmla="*/ 1718 h 2630"/>
              <a:gd name="T52" fmla="*/ 147 w 2028"/>
              <a:gd name="T53" fmla="*/ 674 h 2630"/>
              <a:gd name="T54" fmla="*/ 1031 w 2028"/>
              <a:gd name="T55" fmla="*/ 159 h 2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028" h="2630">
                <a:moveTo>
                  <a:pt x="1032" y="0"/>
                </a:moveTo>
                <a:lnTo>
                  <a:pt x="0" y="602"/>
                </a:lnTo>
                <a:lnTo>
                  <a:pt x="0" y="602"/>
                </a:lnTo>
                <a:cubicBezTo>
                  <a:pt x="0" y="602"/>
                  <a:pt x="86" y="1293"/>
                  <a:pt x="213" y="1754"/>
                </a:cubicBezTo>
                <a:lnTo>
                  <a:pt x="213" y="1754"/>
                </a:lnTo>
                <a:cubicBezTo>
                  <a:pt x="348" y="2243"/>
                  <a:pt x="954" y="2629"/>
                  <a:pt x="1031" y="2629"/>
                </a:cubicBezTo>
                <a:lnTo>
                  <a:pt x="1031" y="2629"/>
                </a:lnTo>
                <a:cubicBezTo>
                  <a:pt x="1031" y="2629"/>
                  <a:pt x="1031" y="2629"/>
                  <a:pt x="1032" y="2629"/>
                </a:cubicBezTo>
                <a:lnTo>
                  <a:pt x="1032" y="2629"/>
                </a:lnTo>
                <a:cubicBezTo>
                  <a:pt x="1102" y="2624"/>
                  <a:pt x="1685" y="2238"/>
                  <a:pt x="1815" y="1754"/>
                </a:cubicBezTo>
                <a:lnTo>
                  <a:pt x="1815" y="1754"/>
                </a:lnTo>
                <a:cubicBezTo>
                  <a:pt x="1939" y="1291"/>
                  <a:pt x="2027" y="602"/>
                  <a:pt x="2027" y="602"/>
                </a:cubicBezTo>
                <a:lnTo>
                  <a:pt x="1032" y="0"/>
                </a:lnTo>
                <a:close/>
                <a:moveTo>
                  <a:pt x="1031" y="159"/>
                </a:moveTo>
                <a:lnTo>
                  <a:pt x="1881" y="672"/>
                </a:lnTo>
                <a:lnTo>
                  <a:pt x="1881" y="672"/>
                </a:lnTo>
                <a:cubicBezTo>
                  <a:pt x="1853" y="871"/>
                  <a:pt x="1778" y="1366"/>
                  <a:pt x="1684" y="1719"/>
                </a:cubicBezTo>
                <a:lnTo>
                  <a:pt x="1684" y="1719"/>
                </a:lnTo>
                <a:cubicBezTo>
                  <a:pt x="1652" y="1839"/>
                  <a:pt x="1565" y="2028"/>
                  <a:pt x="1335" y="2247"/>
                </a:cubicBezTo>
                <a:lnTo>
                  <a:pt x="1335" y="2247"/>
                </a:lnTo>
                <a:cubicBezTo>
                  <a:pt x="1207" y="2370"/>
                  <a:pt x="1085" y="2453"/>
                  <a:pt x="1028" y="2484"/>
                </a:cubicBezTo>
                <a:lnTo>
                  <a:pt x="1028" y="2484"/>
                </a:lnTo>
                <a:cubicBezTo>
                  <a:pt x="970" y="2454"/>
                  <a:pt x="843" y="2373"/>
                  <a:pt x="706" y="2248"/>
                </a:cubicBezTo>
                <a:lnTo>
                  <a:pt x="706" y="2248"/>
                </a:lnTo>
                <a:cubicBezTo>
                  <a:pt x="467" y="2029"/>
                  <a:pt x="377" y="1839"/>
                  <a:pt x="344" y="1718"/>
                </a:cubicBezTo>
                <a:lnTo>
                  <a:pt x="344" y="1718"/>
                </a:lnTo>
                <a:cubicBezTo>
                  <a:pt x="248" y="1368"/>
                  <a:pt x="175" y="873"/>
                  <a:pt x="147" y="674"/>
                </a:cubicBezTo>
                <a:lnTo>
                  <a:pt x="1031" y="159"/>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atin typeface="Poppins" pitchFamily="2" charset="77"/>
            </a:endParaRPr>
          </a:p>
        </p:txBody>
      </p:sp>
      <p:sp>
        <p:nvSpPr>
          <p:cNvPr id="26" name="Freeform 387">
            <a:extLst>
              <a:ext uri="{FF2B5EF4-FFF2-40B4-BE49-F238E27FC236}">
                <a16:creationId xmlns:a16="http://schemas.microsoft.com/office/drawing/2014/main" id="{C312E299-BC57-F3E9-60A3-8014A5EC8B0B}"/>
              </a:ext>
            </a:extLst>
          </p:cNvPr>
          <p:cNvSpPr>
            <a:spLocks noChangeArrowheads="1"/>
          </p:cNvSpPr>
          <p:nvPr/>
        </p:nvSpPr>
        <p:spPr bwMode="auto">
          <a:xfrm>
            <a:off x="5878342" y="3382186"/>
            <a:ext cx="524040" cy="428992"/>
          </a:xfrm>
          <a:custGeom>
            <a:avLst/>
            <a:gdLst>
              <a:gd name="T0" fmla="*/ 291 w 900"/>
              <a:gd name="T1" fmla="*/ 734 h 735"/>
              <a:gd name="T2" fmla="*/ 291 w 900"/>
              <a:gd name="T3" fmla="*/ 734 h 735"/>
              <a:gd name="T4" fmla="*/ 289 w 900"/>
              <a:gd name="T5" fmla="*/ 734 h 735"/>
              <a:gd name="T6" fmla="*/ 289 w 900"/>
              <a:gd name="T7" fmla="*/ 734 h 735"/>
              <a:gd name="T8" fmla="*/ 251 w 900"/>
              <a:gd name="T9" fmla="*/ 715 h 735"/>
              <a:gd name="T10" fmla="*/ 0 w 900"/>
              <a:gd name="T11" fmla="*/ 395 h 735"/>
              <a:gd name="T12" fmla="*/ 82 w 900"/>
              <a:gd name="T13" fmla="*/ 331 h 735"/>
              <a:gd name="T14" fmla="*/ 293 w 900"/>
              <a:gd name="T15" fmla="*/ 601 h 735"/>
              <a:gd name="T16" fmla="*/ 821 w 900"/>
              <a:gd name="T17" fmla="*/ 0 h 735"/>
              <a:gd name="T18" fmla="*/ 899 w 900"/>
              <a:gd name="T19" fmla="*/ 69 h 735"/>
              <a:gd name="T20" fmla="*/ 330 w 900"/>
              <a:gd name="T21" fmla="*/ 716 h 735"/>
              <a:gd name="T22" fmla="*/ 330 w 900"/>
              <a:gd name="T23" fmla="*/ 716 h 735"/>
              <a:gd name="T24" fmla="*/ 291 w 900"/>
              <a:gd name="T25" fmla="*/ 734 h 7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0" h="735">
                <a:moveTo>
                  <a:pt x="291" y="734"/>
                </a:moveTo>
                <a:lnTo>
                  <a:pt x="291" y="734"/>
                </a:lnTo>
                <a:cubicBezTo>
                  <a:pt x="290" y="734"/>
                  <a:pt x="289" y="734"/>
                  <a:pt x="289" y="734"/>
                </a:cubicBezTo>
                <a:lnTo>
                  <a:pt x="289" y="734"/>
                </a:lnTo>
                <a:cubicBezTo>
                  <a:pt x="275" y="734"/>
                  <a:pt x="260" y="726"/>
                  <a:pt x="251" y="715"/>
                </a:cubicBezTo>
                <a:lnTo>
                  <a:pt x="0" y="395"/>
                </a:lnTo>
                <a:lnTo>
                  <a:pt x="82" y="331"/>
                </a:lnTo>
                <a:lnTo>
                  <a:pt x="293" y="601"/>
                </a:lnTo>
                <a:lnTo>
                  <a:pt x="821" y="0"/>
                </a:lnTo>
                <a:lnTo>
                  <a:pt x="899" y="69"/>
                </a:lnTo>
                <a:lnTo>
                  <a:pt x="330" y="716"/>
                </a:lnTo>
                <a:lnTo>
                  <a:pt x="330" y="716"/>
                </a:lnTo>
                <a:cubicBezTo>
                  <a:pt x="320" y="728"/>
                  <a:pt x="305" y="734"/>
                  <a:pt x="291" y="734"/>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atin typeface="Poppins" pitchFamily="2" charset="77"/>
            </a:endParaRPr>
          </a:p>
        </p:txBody>
      </p:sp>
      <p:sp>
        <p:nvSpPr>
          <p:cNvPr id="27" name="TextBox 26">
            <a:extLst>
              <a:ext uri="{FF2B5EF4-FFF2-40B4-BE49-F238E27FC236}">
                <a16:creationId xmlns:a16="http://schemas.microsoft.com/office/drawing/2014/main" id="{C006F737-908A-96D9-BCCD-603EE4CBA6D3}"/>
              </a:ext>
            </a:extLst>
          </p:cNvPr>
          <p:cNvSpPr txBox="1"/>
          <p:nvPr/>
        </p:nvSpPr>
        <p:spPr>
          <a:xfrm>
            <a:off x="8499193" y="2460776"/>
            <a:ext cx="2791536" cy="1001043"/>
          </a:xfrm>
          <a:prstGeom prst="rect">
            <a:avLst/>
          </a:prstGeom>
          <a:noFill/>
        </p:spPr>
        <p:txBody>
          <a:bodyPr wrap="square" rtlCol="0">
            <a:spAutoFit/>
          </a:bodyPr>
          <a:lstStyle/>
          <a:p>
            <a:pPr marL="171450" indent="-171450">
              <a:lnSpc>
                <a:spcPts val="1800"/>
              </a:lnSpc>
              <a:buFont typeface="Wingdings" panose="05000000000000000000" pitchFamily="2" charset="2"/>
              <a:buChar char="Ø"/>
            </a:pPr>
            <a:r>
              <a:rPr lang="en-US" sz="1200" spc="-10">
                <a:solidFill>
                  <a:schemeClr val="bg1"/>
                </a:solidFill>
                <a:latin typeface="Lato" panose="020F0502020204030203" pitchFamily="34" charset="0"/>
                <a:ea typeface="Lato" panose="020F0502020204030203" pitchFamily="34" charset="0"/>
                <a:cs typeface="Lato" panose="020F0502020204030203" pitchFamily="34" charset="0"/>
              </a:rPr>
              <a:t>Secure Coding Practices</a:t>
            </a:r>
          </a:p>
          <a:p>
            <a:pPr marL="171450" indent="-171450">
              <a:lnSpc>
                <a:spcPts val="1800"/>
              </a:lnSpc>
              <a:buFont typeface="Wingdings" panose="05000000000000000000" pitchFamily="2" charset="2"/>
              <a:buChar char="Ø"/>
            </a:pPr>
            <a:r>
              <a:rPr lang="en-US" sz="1200" spc="-10">
                <a:solidFill>
                  <a:schemeClr val="bg1"/>
                </a:solidFill>
                <a:latin typeface="Lato" panose="020F0502020204030203" pitchFamily="34" charset="0"/>
                <a:ea typeface="Lato" panose="020F0502020204030203" pitchFamily="34" charset="0"/>
                <a:cs typeface="Lato" panose="020F0502020204030203" pitchFamily="34" charset="0"/>
              </a:rPr>
              <a:t>Secure Code Review</a:t>
            </a:r>
          </a:p>
          <a:p>
            <a:pPr marL="171450" indent="-171450">
              <a:lnSpc>
                <a:spcPts val="1800"/>
              </a:lnSpc>
              <a:buFont typeface="Wingdings" panose="05000000000000000000" pitchFamily="2" charset="2"/>
              <a:buChar char="Ø"/>
            </a:pPr>
            <a:r>
              <a:rPr lang="en-US" sz="1200" spc="-10">
                <a:solidFill>
                  <a:schemeClr val="bg1"/>
                </a:solidFill>
                <a:latin typeface="Lato" panose="020F0502020204030203" pitchFamily="34" charset="0"/>
                <a:ea typeface="Lato" panose="020F0502020204030203" pitchFamily="34" charset="0"/>
                <a:cs typeface="Lato" panose="020F0502020204030203" pitchFamily="34" charset="0"/>
              </a:rPr>
              <a:t>Generating Logs for Monitoring</a:t>
            </a:r>
          </a:p>
          <a:p>
            <a:pPr marL="171450" indent="-171450">
              <a:lnSpc>
                <a:spcPts val="1800"/>
              </a:lnSpc>
              <a:buFont typeface="Wingdings" panose="05000000000000000000" pitchFamily="2" charset="2"/>
              <a:buChar char="Ø"/>
            </a:pPr>
            <a:endParaRPr lang="en-US" sz="1200" spc="-10">
              <a:latin typeface="Lato" panose="020F0502020204030203" pitchFamily="34" charset="0"/>
              <a:ea typeface="Lato" panose="020F0502020204030203" pitchFamily="34" charset="0"/>
              <a:cs typeface="Lato" panose="020F0502020204030203" pitchFamily="34" charset="0"/>
            </a:endParaRPr>
          </a:p>
        </p:txBody>
      </p:sp>
      <p:sp>
        <p:nvSpPr>
          <p:cNvPr id="28" name="TextBox 27">
            <a:extLst>
              <a:ext uri="{FF2B5EF4-FFF2-40B4-BE49-F238E27FC236}">
                <a16:creationId xmlns:a16="http://schemas.microsoft.com/office/drawing/2014/main" id="{01D3EFB2-897F-4C1C-2E0D-F22545FFCC29}"/>
              </a:ext>
            </a:extLst>
          </p:cNvPr>
          <p:cNvSpPr txBox="1"/>
          <p:nvPr/>
        </p:nvSpPr>
        <p:spPr>
          <a:xfrm>
            <a:off x="728097" y="2643485"/>
            <a:ext cx="2791536" cy="646331"/>
          </a:xfrm>
          <a:prstGeom prst="rect">
            <a:avLst/>
          </a:prstGeom>
          <a:noFill/>
        </p:spPr>
        <p:txBody>
          <a:bodyPr wrap="square" rtlCol="0">
            <a:spAutoFit/>
          </a:bodyPr>
          <a:lstStyle/>
          <a:p>
            <a:pPr marL="171450" indent="-171450">
              <a:buFont typeface="Wingdings" panose="05000000000000000000" pitchFamily="2" charset="2"/>
              <a:buChar char="Ø"/>
            </a:pPr>
            <a:r>
              <a:rPr lang="en-US" sz="1200" spc="-10">
                <a:solidFill>
                  <a:schemeClr val="bg1"/>
                </a:solidFill>
                <a:latin typeface="Lato" panose="020F0502020204030203" pitchFamily="34" charset="0"/>
                <a:ea typeface="Lato" panose="020F0502020204030203" pitchFamily="34" charset="0"/>
                <a:cs typeface="Lato" panose="020F0502020204030203" pitchFamily="34" charset="0"/>
              </a:rPr>
              <a:t>Analyze Architecture for Threats</a:t>
            </a:r>
          </a:p>
          <a:p>
            <a:pPr marL="171450" indent="-171450">
              <a:buFont typeface="Wingdings" panose="05000000000000000000" pitchFamily="2" charset="2"/>
              <a:buChar char="Ø"/>
            </a:pPr>
            <a:r>
              <a:rPr lang="en-US" sz="1200" spc="-10">
                <a:solidFill>
                  <a:schemeClr val="bg1"/>
                </a:solidFill>
                <a:latin typeface="Lato" panose="020F0502020204030203" pitchFamily="34" charset="0"/>
                <a:ea typeface="Lato" panose="020F0502020204030203" pitchFamily="34" charset="0"/>
                <a:cs typeface="Lato" panose="020F0502020204030203" pitchFamily="34" charset="0"/>
              </a:rPr>
              <a:t>Data Classification</a:t>
            </a:r>
          </a:p>
          <a:p>
            <a:pPr marL="171450" indent="-171450">
              <a:buFont typeface="Wingdings" panose="05000000000000000000" pitchFamily="2" charset="2"/>
              <a:buChar char="Ø"/>
            </a:pPr>
            <a:r>
              <a:rPr lang="en-US" sz="1200" spc="-10">
                <a:solidFill>
                  <a:schemeClr val="bg1"/>
                </a:solidFill>
                <a:latin typeface="Lato" panose="020F0502020204030203" pitchFamily="34" charset="0"/>
                <a:ea typeface="Lato" panose="020F0502020204030203" pitchFamily="34" charset="0"/>
                <a:cs typeface="Lato" panose="020F0502020204030203" pitchFamily="34" charset="0"/>
              </a:rPr>
              <a:t>Define User Role(s)</a:t>
            </a:r>
          </a:p>
        </p:txBody>
      </p:sp>
      <p:sp>
        <p:nvSpPr>
          <p:cNvPr id="29" name="TextBox 28">
            <a:extLst>
              <a:ext uri="{FF2B5EF4-FFF2-40B4-BE49-F238E27FC236}">
                <a16:creationId xmlns:a16="http://schemas.microsoft.com/office/drawing/2014/main" id="{D93B232D-C61B-362F-8AA9-DB6574DEB708}"/>
              </a:ext>
            </a:extLst>
          </p:cNvPr>
          <p:cNvSpPr txBox="1"/>
          <p:nvPr/>
        </p:nvSpPr>
        <p:spPr>
          <a:xfrm>
            <a:off x="8523805" y="4293172"/>
            <a:ext cx="2951737" cy="276999"/>
          </a:xfrm>
          <a:prstGeom prst="rect">
            <a:avLst/>
          </a:prstGeom>
          <a:noFill/>
        </p:spPr>
        <p:txBody>
          <a:bodyPr wrap="square" rtlCol="0">
            <a:spAutoFit/>
          </a:bodyPr>
          <a:lstStyle/>
          <a:p>
            <a:pPr marL="171450" indent="-171450">
              <a:buFont typeface="Wingdings" panose="05000000000000000000" pitchFamily="2" charset="2"/>
              <a:buChar char="Ø"/>
            </a:pPr>
            <a:r>
              <a:rPr lang="en-US" sz="1200" spc="-10">
                <a:solidFill>
                  <a:schemeClr val="bg1"/>
                </a:solidFill>
                <a:latin typeface="Lato" panose="020F0502020204030203" pitchFamily="34" charset="0"/>
                <a:ea typeface="Lato" panose="020F0502020204030203" pitchFamily="34" charset="0"/>
                <a:cs typeface="Lato" panose="020F0502020204030203" pitchFamily="34" charset="0"/>
              </a:rPr>
              <a:t>SIEM/SOAR - Monitoring</a:t>
            </a:r>
          </a:p>
        </p:txBody>
      </p:sp>
      <p:sp>
        <p:nvSpPr>
          <p:cNvPr id="30" name="TextBox 29">
            <a:extLst>
              <a:ext uri="{FF2B5EF4-FFF2-40B4-BE49-F238E27FC236}">
                <a16:creationId xmlns:a16="http://schemas.microsoft.com/office/drawing/2014/main" id="{C3E2A123-80AF-371A-28D0-612350C22FE6}"/>
              </a:ext>
            </a:extLst>
          </p:cNvPr>
          <p:cNvSpPr txBox="1"/>
          <p:nvPr/>
        </p:nvSpPr>
        <p:spPr>
          <a:xfrm>
            <a:off x="716458" y="3872442"/>
            <a:ext cx="3488292" cy="830997"/>
          </a:xfrm>
          <a:prstGeom prst="rect">
            <a:avLst/>
          </a:prstGeom>
          <a:noFill/>
        </p:spPr>
        <p:txBody>
          <a:bodyPr wrap="square" rtlCol="0">
            <a:spAutoFit/>
          </a:bodyPr>
          <a:lstStyle/>
          <a:p>
            <a:pPr marL="171450" indent="-171450">
              <a:buFont typeface="Wingdings" panose="05000000000000000000" pitchFamily="2" charset="2"/>
              <a:buChar char="Ø"/>
            </a:pPr>
            <a:r>
              <a:rPr lang="en-US" sz="1200" spc="-10">
                <a:solidFill>
                  <a:schemeClr val="bg1"/>
                </a:solidFill>
                <a:latin typeface="Lato" panose="020F0502020204030203" pitchFamily="34" charset="0"/>
                <a:ea typeface="Lato" panose="020F0502020204030203" pitchFamily="34" charset="0"/>
                <a:cs typeface="Lato" panose="020F0502020204030203" pitchFamily="34" charset="0"/>
              </a:rPr>
              <a:t>Mobile Security Testing</a:t>
            </a:r>
          </a:p>
          <a:p>
            <a:pPr marL="171450" indent="-171450">
              <a:buFont typeface="Wingdings" panose="05000000000000000000" pitchFamily="2" charset="2"/>
              <a:buChar char="Ø"/>
            </a:pPr>
            <a:r>
              <a:rPr lang="en-US" sz="1200" spc="-10">
                <a:solidFill>
                  <a:schemeClr val="bg1"/>
                </a:solidFill>
                <a:latin typeface="Lato" panose="020F0502020204030203" pitchFamily="34" charset="0"/>
                <a:ea typeface="Lato" panose="020F0502020204030203" pitchFamily="34" charset="0"/>
                <a:cs typeface="Lato" panose="020F0502020204030203" pitchFamily="34" charset="0"/>
              </a:rPr>
              <a:t>API Security Testing</a:t>
            </a:r>
          </a:p>
          <a:p>
            <a:pPr marL="171450" indent="-171450">
              <a:buFont typeface="Wingdings" panose="05000000000000000000" pitchFamily="2" charset="2"/>
              <a:buChar char="Ø"/>
            </a:pPr>
            <a:r>
              <a:rPr lang="en-US" sz="1200" spc="-10">
                <a:solidFill>
                  <a:schemeClr val="bg1"/>
                </a:solidFill>
                <a:latin typeface="Lato" panose="020F0502020204030203" pitchFamily="34" charset="0"/>
                <a:ea typeface="Lato" panose="020F0502020204030203" pitchFamily="34" charset="0"/>
                <a:cs typeface="Lato" panose="020F0502020204030203" pitchFamily="34" charset="0"/>
              </a:rPr>
              <a:t>Cloud Security Audit</a:t>
            </a:r>
          </a:p>
          <a:p>
            <a:pPr marL="171450" indent="-171450">
              <a:buFont typeface="Wingdings" panose="05000000000000000000" pitchFamily="2" charset="2"/>
              <a:buChar char="Ø"/>
            </a:pPr>
            <a:r>
              <a:rPr lang="en-US" sz="1200" spc="-10">
                <a:solidFill>
                  <a:schemeClr val="bg1"/>
                </a:solidFill>
                <a:latin typeface="Lato" panose="020F0502020204030203" pitchFamily="34" charset="0"/>
                <a:ea typeface="Lato" panose="020F0502020204030203" pitchFamily="34" charset="0"/>
                <a:cs typeface="Lato" panose="020F0502020204030203" pitchFamily="34" charset="0"/>
              </a:rPr>
              <a:t>Network and Platform Security Testing (VAPT)</a:t>
            </a:r>
          </a:p>
        </p:txBody>
      </p:sp>
      <p:pic>
        <p:nvPicPr>
          <p:cNvPr id="4" name="Graphic 3">
            <a:extLst>
              <a:ext uri="{FF2B5EF4-FFF2-40B4-BE49-F238E27FC236}">
                <a16:creationId xmlns:a16="http://schemas.microsoft.com/office/drawing/2014/main" id="{1226EB2E-4B61-0901-E2C6-378E42A4394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89165" y="2859451"/>
            <a:ext cx="1583598" cy="1843988"/>
          </a:xfrm>
          <a:prstGeom prst="rect">
            <a:avLst/>
          </a:prstGeom>
        </p:spPr>
      </p:pic>
    </p:spTree>
    <p:extLst>
      <p:ext uri="{BB962C8B-B14F-4D97-AF65-F5344CB8AC3E}">
        <p14:creationId xmlns:p14="http://schemas.microsoft.com/office/powerpoint/2010/main" val="33078145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AF7F1-A39D-6107-644E-435DCBDE296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B3EEA38-C607-AAB9-C3BA-A716E6FDE178}"/>
              </a:ext>
            </a:extLst>
          </p:cNvPr>
          <p:cNvSpPr txBox="1"/>
          <p:nvPr/>
        </p:nvSpPr>
        <p:spPr>
          <a:xfrm>
            <a:off x="255396" y="1569062"/>
            <a:ext cx="10450138" cy="400110"/>
          </a:xfrm>
          <a:prstGeom prst="rect">
            <a:avLst/>
          </a:prstGeom>
          <a:noFill/>
        </p:spPr>
        <p:txBody>
          <a:bodyPr wrap="square" lIns="91440" tIns="45720" rIns="91440" bIns="45720" rtlCol="0" anchor="t">
            <a:spAutoFit/>
          </a:bodyPr>
          <a:lstStyle/>
          <a:p>
            <a:r>
              <a:rPr lang="en-US" sz="2000" b="1">
                <a:solidFill>
                  <a:srgbClr val="03509B"/>
                </a:solidFill>
                <a:latin typeface="Lato" panose="020F0502020204030203" pitchFamily="34" charset="0"/>
                <a:ea typeface="Lato" panose="020F0502020204030203" pitchFamily="34" charset="0"/>
                <a:cs typeface="Lato" panose="020F0502020204030203" pitchFamily="34" charset="0"/>
              </a:rPr>
              <a:t>We will be using appropriate user testing methodology during the project phase:</a:t>
            </a:r>
          </a:p>
        </p:txBody>
      </p:sp>
      <p:sp>
        <p:nvSpPr>
          <p:cNvPr id="2" name="Rectangle: Top Corners One Rounded and One Snipped 1">
            <a:extLst>
              <a:ext uri="{FF2B5EF4-FFF2-40B4-BE49-F238E27FC236}">
                <a16:creationId xmlns:a16="http://schemas.microsoft.com/office/drawing/2014/main" id="{282FF378-C65D-0E90-0ED2-FC3824B2B21B}"/>
              </a:ext>
            </a:extLst>
          </p:cNvPr>
          <p:cNvSpPr/>
          <p:nvPr/>
        </p:nvSpPr>
        <p:spPr>
          <a:xfrm>
            <a:off x="285204" y="700842"/>
            <a:ext cx="11621591" cy="706022"/>
          </a:xfrm>
          <a:prstGeom prst="snipRoundRect">
            <a:avLst>
              <a:gd name="adj1" fmla="val 16667"/>
              <a:gd name="adj2" fmla="val 41337"/>
            </a:avLst>
          </a:prstGeom>
          <a:solidFill>
            <a:schemeClr val="bg1"/>
          </a:solid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Lato" panose="020F0502020204030203" pitchFamily="34" charset="0"/>
                <a:ea typeface="Lato" panose="020F0502020204030203" pitchFamily="34" charset="0"/>
                <a:cs typeface="Lato" panose="020F0502020204030203" pitchFamily="34" charset="0"/>
              </a:rPr>
              <a:t>For a professional-grade field engineering or Stake-Out app, usability testing should be structured around its real-world, task-critical usage by technical field users. </a:t>
            </a:r>
          </a:p>
        </p:txBody>
      </p:sp>
      <p:sp>
        <p:nvSpPr>
          <p:cNvPr id="12" name="Title 1">
            <a:extLst>
              <a:ext uri="{FF2B5EF4-FFF2-40B4-BE49-F238E27FC236}">
                <a16:creationId xmlns:a16="http://schemas.microsoft.com/office/drawing/2014/main" id="{0B32CCE9-8748-6B8D-396D-B99E1267CBC9}"/>
              </a:ext>
            </a:extLst>
          </p:cNvPr>
          <p:cNvSpPr>
            <a:spLocks noGrp="1"/>
          </p:cNvSpPr>
          <p:nvPr>
            <p:ph type="title"/>
          </p:nvPr>
        </p:nvSpPr>
        <p:spPr>
          <a:xfrm>
            <a:off x="285205" y="145617"/>
            <a:ext cx="10926134" cy="576000"/>
          </a:xfrm>
        </p:spPr>
        <p:txBody>
          <a:bodyPr>
            <a:normAutofit/>
          </a:bodyPr>
          <a:lstStyle/>
          <a:p>
            <a:r>
              <a:rPr lang="en-CA">
                <a:latin typeface="Roboto"/>
                <a:ea typeface="Roboto"/>
                <a:cs typeface="Roboto"/>
              </a:rPr>
              <a:t>Usability Testing Approach</a:t>
            </a:r>
          </a:p>
        </p:txBody>
      </p:sp>
      <p:graphicFrame>
        <p:nvGraphicFramePr>
          <p:cNvPr id="5" name="Table 4">
            <a:extLst>
              <a:ext uri="{FF2B5EF4-FFF2-40B4-BE49-F238E27FC236}">
                <a16:creationId xmlns:a16="http://schemas.microsoft.com/office/drawing/2014/main" id="{44099A0F-7A77-BBB9-EF93-6990B327377E}"/>
              </a:ext>
            </a:extLst>
          </p:cNvPr>
          <p:cNvGraphicFramePr>
            <a:graphicFrameLocks noGrp="1"/>
          </p:cNvGraphicFramePr>
          <p:nvPr/>
        </p:nvGraphicFramePr>
        <p:xfrm>
          <a:off x="285204" y="2131370"/>
          <a:ext cx="11591363" cy="3620845"/>
        </p:xfrm>
        <a:graphic>
          <a:graphicData uri="http://schemas.openxmlformats.org/drawingml/2006/table">
            <a:tbl>
              <a:tblPr>
                <a:tableStyleId>{5C22544A-7EE6-4342-B048-85BDC9FD1C3A}</a:tableStyleId>
              </a:tblPr>
              <a:tblGrid>
                <a:gridCol w="4031615">
                  <a:extLst>
                    <a:ext uri="{9D8B030D-6E8A-4147-A177-3AD203B41FA5}">
                      <a16:colId xmlns:a16="http://schemas.microsoft.com/office/drawing/2014/main" val="20000"/>
                    </a:ext>
                  </a:extLst>
                </a:gridCol>
                <a:gridCol w="7559748">
                  <a:extLst>
                    <a:ext uri="{9D8B030D-6E8A-4147-A177-3AD203B41FA5}">
                      <a16:colId xmlns:a16="http://schemas.microsoft.com/office/drawing/2014/main" val="20001"/>
                    </a:ext>
                  </a:extLst>
                </a:gridCol>
              </a:tblGrid>
              <a:tr h="724169">
                <a:tc>
                  <a:txBody>
                    <a:bodyPr/>
                    <a:lstStyle/>
                    <a:p>
                      <a:pPr marL="0" lvl="0" indent="0" algn="l"/>
                      <a:r>
                        <a:rPr lang="en-US" sz="1400" b="1" i="0">
                          <a:solidFill>
                            <a:schemeClr val="bg1"/>
                          </a:solidFill>
                          <a:latin typeface="Lato"/>
                          <a:ea typeface="Lato"/>
                          <a:cs typeface="Lato"/>
                        </a:rPr>
                        <a:t>Contextual Inquiry / Field Study</a:t>
                      </a:r>
                    </a:p>
                  </a:txBody>
                  <a:tcPr marL="82296" marR="82296" marT="87782" marB="8778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marL="285750" marR="0" lvl="1" indent="-285750" algn="just" defTabSz="914400" rtl="0" eaLnBrk="1" fontAlgn="auto" latinLnBrk="0" hangingPunct="1">
                        <a:lnSpc>
                          <a:spcPct val="100000"/>
                        </a:lnSpc>
                        <a:spcBef>
                          <a:spcPts val="200"/>
                        </a:spcBef>
                        <a:spcAft>
                          <a:spcPts val="200"/>
                        </a:spcAft>
                        <a:buClrTx/>
                        <a:buSzTx/>
                        <a:buFontTx/>
                        <a:buBlip>
                          <a:blip r:embed="rId2"/>
                        </a:buBlip>
                        <a:tabLst/>
                        <a:defRPr/>
                      </a:pPr>
                      <a:r>
                        <a:rPr lang="en-US" sz="1400" b="0" i="0" u="none" strike="noStrike" kern="1200" cap="none" spc="0" baseline="0">
                          <a:ln>
                            <a:noFill/>
                          </a:ln>
                          <a:solidFill>
                            <a:schemeClr val="tx1"/>
                          </a:solidFill>
                          <a:uFillTx/>
                          <a:latin typeface="Lato"/>
                          <a:ea typeface="Lato"/>
                          <a:cs typeface="Lato"/>
                          <a:sym typeface="Arial"/>
                        </a:rPr>
                        <a:t>Understanding real-world workflows, tool usage, and environment constraints.</a:t>
                      </a:r>
                    </a:p>
                  </a:txBody>
                  <a:tcPr marL="219456" marR="87782" marT="87782" marB="8778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alpha val="57000"/>
                      </a:schemeClr>
                    </a:solidFill>
                  </a:tcPr>
                </a:tc>
                <a:extLst>
                  <a:ext uri="{0D108BD9-81ED-4DB2-BD59-A6C34878D82A}">
                    <a16:rowId xmlns:a16="http://schemas.microsoft.com/office/drawing/2014/main" val="10001"/>
                  </a:ext>
                </a:extLst>
              </a:tr>
              <a:tr h="724169">
                <a:tc>
                  <a:txBody>
                    <a:bodyPr/>
                    <a:lstStyle/>
                    <a:p>
                      <a:pPr marL="0" lvl="0" indent="0" algn="l"/>
                      <a:r>
                        <a:rPr lang="en-US" sz="1400" b="1" i="0">
                          <a:solidFill>
                            <a:schemeClr val="bg1"/>
                          </a:solidFill>
                          <a:latin typeface="Lato"/>
                          <a:ea typeface="Lato"/>
                          <a:cs typeface="Lato"/>
                        </a:rPr>
                        <a:t>Task-Based Usability Testing</a:t>
                      </a:r>
                    </a:p>
                  </a:txBody>
                  <a:tcPr marL="82296" marR="82296" marT="87782" marB="8778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marL="285750" marR="0" lvl="1" indent="-285750" algn="just" defTabSz="914400" rtl="0" eaLnBrk="1" fontAlgn="auto" latinLnBrk="0" hangingPunct="1">
                        <a:lnSpc>
                          <a:spcPct val="100000"/>
                        </a:lnSpc>
                        <a:spcBef>
                          <a:spcPts val="200"/>
                        </a:spcBef>
                        <a:spcAft>
                          <a:spcPts val="200"/>
                        </a:spcAft>
                        <a:buClrTx/>
                        <a:buSzTx/>
                        <a:buFontTx/>
                        <a:buBlip>
                          <a:blip r:embed="rId2"/>
                        </a:buBlip>
                        <a:tabLst/>
                        <a:defRPr/>
                      </a:pPr>
                      <a:r>
                        <a:rPr lang="en-US" sz="1400" b="0" i="0" u="none" strike="noStrike" kern="1200" cap="none" spc="0" baseline="0">
                          <a:ln>
                            <a:noFill/>
                          </a:ln>
                          <a:solidFill>
                            <a:schemeClr val="tx1"/>
                          </a:solidFill>
                          <a:uFillTx/>
                          <a:latin typeface="Lato"/>
                          <a:ea typeface="Lato"/>
                          <a:cs typeface="Lato"/>
                          <a:sym typeface="Arial"/>
                        </a:rPr>
                        <a:t>Identifying navigation and interaction issues with the UI</a:t>
                      </a:r>
                    </a:p>
                  </a:txBody>
                  <a:tcPr marL="219456" marR="87782" marT="87782" marB="8778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alpha val="57000"/>
                      </a:schemeClr>
                    </a:solidFill>
                  </a:tcPr>
                </a:tc>
                <a:extLst>
                  <a:ext uri="{0D108BD9-81ED-4DB2-BD59-A6C34878D82A}">
                    <a16:rowId xmlns:a16="http://schemas.microsoft.com/office/drawing/2014/main" val="10002"/>
                  </a:ext>
                </a:extLst>
              </a:tr>
              <a:tr h="724169">
                <a:tc>
                  <a:txBody>
                    <a:bodyPr/>
                    <a:lstStyle/>
                    <a:p>
                      <a:pPr marL="0" lvl="0" indent="0" algn="l"/>
                      <a:r>
                        <a:rPr lang="en-US" sz="1400" b="1" i="0">
                          <a:solidFill>
                            <a:schemeClr val="bg1"/>
                          </a:solidFill>
                          <a:latin typeface="Lato"/>
                          <a:ea typeface="Lato"/>
                          <a:cs typeface="Lato"/>
                        </a:rPr>
                        <a:t>Heuristic Evaluation</a:t>
                      </a:r>
                    </a:p>
                  </a:txBody>
                  <a:tcPr marL="82296" marR="82296" marT="87782" marB="8778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marL="285750" marR="0" lvl="1" indent="-285750" algn="just" defTabSz="914400" rtl="0" eaLnBrk="1" fontAlgn="auto" latinLnBrk="0" hangingPunct="1">
                        <a:lnSpc>
                          <a:spcPct val="100000"/>
                        </a:lnSpc>
                        <a:spcBef>
                          <a:spcPts val="200"/>
                        </a:spcBef>
                        <a:spcAft>
                          <a:spcPts val="200"/>
                        </a:spcAft>
                        <a:buClrTx/>
                        <a:buSzTx/>
                        <a:buFontTx/>
                        <a:buBlip>
                          <a:blip r:embed="rId2"/>
                        </a:buBlip>
                        <a:tabLst/>
                        <a:defRPr/>
                      </a:pPr>
                      <a:r>
                        <a:rPr lang="en-US" sz="1400" b="0" i="0" u="none" strike="noStrike" kern="1200" cap="none" spc="0" baseline="0">
                          <a:ln>
                            <a:noFill/>
                          </a:ln>
                          <a:solidFill>
                            <a:schemeClr val="tx1"/>
                          </a:solidFill>
                          <a:uFillTx/>
                          <a:latin typeface="Lato"/>
                          <a:ea typeface="Lato"/>
                          <a:cs typeface="Lato"/>
                          <a:sym typeface="Arial"/>
                        </a:rPr>
                        <a:t>Quickly spotting usability violations with expert UX reviewers</a:t>
                      </a:r>
                    </a:p>
                  </a:txBody>
                  <a:tcPr marL="219456" marR="87782" marT="87782" marB="8778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alpha val="57000"/>
                      </a:schemeClr>
                    </a:solidFill>
                  </a:tcPr>
                </a:tc>
                <a:extLst>
                  <a:ext uri="{0D108BD9-81ED-4DB2-BD59-A6C34878D82A}">
                    <a16:rowId xmlns:a16="http://schemas.microsoft.com/office/drawing/2014/main" val="10003"/>
                  </a:ext>
                </a:extLst>
              </a:tr>
              <a:tr h="724169">
                <a:tc>
                  <a:txBody>
                    <a:bodyPr/>
                    <a:lstStyle/>
                    <a:p>
                      <a:pPr marL="0" lvl="0" indent="0" algn="l"/>
                      <a:r>
                        <a:rPr lang="en-US" sz="1400" b="1" i="0">
                          <a:solidFill>
                            <a:schemeClr val="bg1"/>
                          </a:solidFill>
                          <a:latin typeface="Lato"/>
                          <a:ea typeface="Lato"/>
                          <a:cs typeface="Lato"/>
                        </a:rPr>
                        <a:t>Mobile Usability Testing for Harsh Environments</a:t>
                      </a:r>
                    </a:p>
                  </a:txBody>
                  <a:tcPr marL="82296" marR="82296" marT="87782" marB="8778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marL="285750" marR="0" lvl="1" indent="-285750" algn="just" defTabSz="914400" rtl="0" eaLnBrk="1" fontAlgn="auto" latinLnBrk="0" hangingPunct="1">
                        <a:lnSpc>
                          <a:spcPct val="100000"/>
                        </a:lnSpc>
                        <a:spcBef>
                          <a:spcPts val="200"/>
                        </a:spcBef>
                        <a:spcAft>
                          <a:spcPts val="200"/>
                        </a:spcAft>
                        <a:buClrTx/>
                        <a:buSzTx/>
                        <a:buFontTx/>
                        <a:buBlip>
                          <a:blip r:embed="rId2"/>
                        </a:buBlip>
                        <a:tabLst/>
                        <a:defRPr/>
                      </a:pPr>
                      <a:r>
                        <a:rPr lang="en-US" sz="1400" b="0" i="0" u="none" strike="noStrike" kern="1200" cap="none" spc="0" baseline="0">
                          <a:ln>
                            <a:noFill/>
                          </a:ln>
                          <a:solidFill>
                            <a:schemeClr val="tx1"/>
                          </a:solidFill>
                          <a:uFillTx/>
                          <a:latin typeface="Lato"/>
                          <a:ea typeface="Lato"/>
                          <a:cs typeface="Lato"/>
                          <a:sym typeface="Arial"/>
                        </a:rPr>
                        <a:t>Ensuring operability in rugged, outdoor conditions</a:t>
                      </a:r>
                    </a:p>
                  </a:txBody>
                  <a:tcPr marL="219456" marR="87782" marT="87782" marB="8778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alpha val="57000"/>
                      </a:schemeClr>
                    </a:solidFill>
                  </a:tcPr>
                </a:tc>
                <a:extLst>
                  <a:ext uri="{0D108BD9-81ED-4DB2-BD59-A6C34878D82A}">
                    <a16:rowId xmlns:a16="http://schemas.microsoft.com/office/drawing/2014/main" val="1533105223"/>
                  </a:ext>
                </a:extLst>
              </a:tr>
              <a:tr h="724169">
                <a:tc>
                  <a:txBody>
                    <a:bodyPr/>
                    <a:lstStyle/>
                    <a:p>
                      <a:pPr marL="0" lvl="0" indent="0" algn="l"/>
                      <a:r>
                        <a:rPr lang="en-US" sz="1400" b="1" i="0">
                          <a:solidFill>
                            <a:schemeClr val="bg1"/>
                          </a:solidFill>
                          <a:latin typeface="Lato"/>
                          <a:ea typeface="Lato"/>
                          <a:cs typeface="Lato"/>
                        </a:rPr>
                        <a:t>A/B Testing</a:t>
                      </a:r>
                    </a:p>
                  </a:txBody>
                  <a:tcPr marL="82296" marR="82296" marT="87782" marB="8778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marL="285750" marR="0" lvl="1" indent="-285750" algn="just" defTabSz="914400" rtl="0" eaLnBrk="1" fontAlgn="auto" latinLnBrk="0" hangingPunct="1">
                        <a:lnSpc>
                          <a:spcPct val="100000"/>
                        </a:lnSpc>
                        <a:spcBef>
                          <a:spcPts val="200"/>
                        </a:spcBef>
                        <a:spcAft>
                          <a:spcPts val="200"/>
                        </a:spcAft>
                        <a:buClrTx/>
                        <a:buSzTx/>
                        <a:buFontTx/>
                        <a:buBlip>
                          <a:blip r:embed="rId2"/>
                        </a:buBlip>
                        <a:tabLst/>
                        <a:defRPr/>
                      </a:pPr>
                      <a:r>
                        <a:rPr lang="en-US" sz="1400" b="0" i="0" u="none" strike="noStrike" kern="1200" cap="none" spc="0" baseline="0">
                          <a:ln>
                            <a:noFill/>
                          </a:ln>
                          <a:solidFill>
                            <a:schemeClr val="tx1"/>
                          </a:solidFill>
                          <a:uFillTx/>
                          <a:latin typeface="Lato"/>
                          <a:ea typeface="Lato"/>
                          <a:cs typeface="Lato"/>
                          <a:sym typeface="Arial"/>
                        </a:rPr>
                        <a:t>Testing layout, icon clarity, or workflow simplification</a:t>
                      </a:r>
                    </a:p>
                  </a:txBody>
                  <a:tcPr marL="219456" marR="87782" marT="87782" marB="8778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alpha val="57000"/>
                      </a:schemeClr>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475766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90C9C-7689-5BD9-8258-101CDFEDD546}"/>
              </a:ext>
            </a:extLst>
          </p:cNvPr>
          <p:cNvSpPr>
            <a:spLocks noGrp="1"/>
          </p:cNvSpPr>
          <p:nvPr>
            <p:ph type="title"/>
          </p:nvPr>
        </p:nvSpPr>
        <p:spPr/>
        <p:txBody>
          <a:bodyPr/>
          <a:lstStyle/>
          <a:p>
            <a:r>
              <a:rPr lang="en-IN"/>
              <a:t>Executive Summary</a:t>
            </a:r>
          </a:p>
        </p:txBody>
      </p:sp>
      <p:sp>
        <p:nvSpPr>
          <p:cNvPr id="3" name="Rectangle 2">
            <a:extLst>
              <a:ext uri="{FF2B5EF4-FFF2-40B4-BE49-F238E27FC236}">
                <a16:creationId xmlns:a16="http://schemas.microsoft.com/office/drawing/2014/main" id="{F22F549E-92D9-B662-8F2E-20B592AA5FD2}"/>
              </a:ext>
            </a:extLst>
          </p:cNvPr>
          <p:cNvSpPr/>
          <p:nvPr/>
        </p:nvSpPr>
        <p:spPr>
          <a:xfrm rot="16200000">
            <a:off x="10853284" y="1303931"/>
            <a:ext cx="1402133" cy="167300"/>
          </a:xfrm>
          <a:prstGeom prst="rect">
            <a:avLst/>
          </a:prstGeom>
          <a:solidFill>
            <a:srgbClr val="499C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Rectangle 3">
            <a:extLst>
              <a:ext uri="{FF2B5EF4-FFF2-40B4-BE49-F238E27FC236}">
                <a16:creationId xmlns:a16="http://schemas.microsoft.com/office/drawing/2014/main" id="{5D4211CE-23AF-AD70-BC05-E4CB4A6921B5}"/>
              </a:ext>
            </a:extLst>
          </p:cNvPr>
          <p:cNvSpPr/>
          <p:nvPr/>
        </p:nvSpPr>
        <p:spPr>
          <a:xfrm rot="5400000">
            <a:off x="5326927" y="-4058971"/>
            <a:ext cx="1402373" cy="10885178"/>
          </a:xfrm>
          <a:prstGeom prst="rect">
            <a:avLst/>
          </a:prstGeom>
          <a:solidFill>
            <a:schemeClr val="bg1"/>
          </a:solidFill>
          <a:ln w="28575" cap="flat" cmpd="sng" algn="ctr">
            <a:noFill/>
            <a:prstDash val="solid"/>
          </a:ln>
          <a:effectLst>
            <a:outerShdw blurRad="178518" dist="38100" dir="5400000" algn="t" rotWithShape="0">
              <a:prstClr val="black">
                <a:alpha val="19516"/>
              </a:prstClr>
            </a:outerShdw>
          </a:effectLst>
        </p:spPr>
        <p:txBody>
          <a:bodyPr rot="0" spcFirstLastPara="0" vertOverflow="overflow" horzOverflow="overflow" vert="horz" wrap="square" lIns="91392" tIns="45696" rIns="91392" bIns="45696" numCol="1" spcCol="0" rtlCol="0" fromWordArt="0" anchor="ctr" anchorCtr="0" forceAA="0" compatLnSpc="1">
            <a:prstTxWarp prst="textNoShape">
              <a:avLst/>
            </a:prstTxWarp>
            <a:noAutofit/>
          </a:bodyPr>
          <a:lstStyle/>
          <a:p>
            <a:pPr marL="0" marR="0" lvl="0" indent="0" algn="ctr" defTabSz="913852" rtl="0" eaLnBrk="1" fontAlgn="auto" latinLnBrk="0" hangingPunct="1">
              <a:lnSpc>
                <a:spcPct val="100000"/>
              </a:lnSpc>
              <a:spcBef>
                <a:spcPts val="0"/>
              </a:spcBef>
              <a:spcAft>
                <a:spcPts val="600"/>
              </a:spcAft>
              <a:buClrTx/>
              <a:buSzTx/>
              <a:buFontTx/>
              <a:buNone/>
              <a:tabLst/>
              <a:defRPr/>
            </a:pPr>
            <a:endParaRPr kumimoji="0" lang="en-US" sz="1100" b="0" i="0" u="none" strike="noStrike" kern="0" cap="none" spc="0" normalizeH="0" baseline="0" noProof="0">
              <a:ln>
                <a:noFill/>
              </a:ln>
              <a:solidFill>
                <a:prstClr val="white"/>
              </a:solidFill>
              <a:effectLst/>
              <a:uLnTx/>
              <a:uFillTx/>
              <a:latin typeface="Lato" panose="020F0502020204030203" pitchFamily="34" charset="77"/>
              <a:ea typeface="+mn-ea"/>
              <a:cs typeface="+mn-cs"/>
            </a:endParaRPr>
          </a:p>
        </p:txBody>
      </p:sp>
      <p:sp>
        <p:nvSpPr>
          <p:cNvPr id="5" name="Rectangle 4">
            <a:extLst>
              <a:ext uri="{FF2B5EF4-FFF2-40B4-BE49-F238E27FC236}">
                <a16:creationId xmlns:a16="http://schemas.microsoft.com/office/drawing/2014/main" id="{C7494ABA-1FDE-F611-3B46-47168FEAA405}"/>
              </a:ext>
            </a:extLst>
          </p:cNvPr>
          <p:cNvSpPr/>
          <p:nvPr/>
        </p:nvSpPr>
        <p:spPr>
          <a:xfrm rot="16200000">
            <a:off x="-31886" y="1300122"/>
            <a:ext cx="1402134" cy="167300"/>
          </a:xfrm>
          <a:prstGeom prst="rect">
            <a:avLst/>
          </a:prstGeom>
          <a:solidFill>
            <a:srgbClr val="499C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extBox 5">
            <a:extLst>
              <a:ext uri="{FF2B5EF4-FFF2-40B4-BE49-F238E27FC236}">
                <a16:creationId xmlns:a16="http://schemas.microsoft.com/office/drawing/2014/main" id="{9ED4AF41-DDAC-EE52-FF8F-AC3B67EF8977}"/>
              </a:ext>
            </a:extLst>
          </p:cNvPr>
          <p:cNvSpPr txBox="1"/>
          <p:nvPr/>
        </p:nvSpPr>
        <p:spPr>
          <a:xfrm>
            <a:off x="794163" y="701892"/>
            <a:ext cx="2033042"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E44C25"/>
                </a:solidFill>
                <a:effectLst/>
                <a:uLnTx/>
                <a:uFillTx/>
                <a:latin typeface="Lato" panose="020F0502020204030203" pitchFamily="34" charset="77"/>
                <a:ea typeface="+mn-ea"/>
                <a:cs typeface="+mn-cs"/>
              </a:rPr>
              <a:t>Our Understanding:</a:t>
            </a:r>
          </a:p>
        </p:txBody>
      </p:sp>
      <p:sp>
        <p:nvSpPr>
          <p:cNvPr id="7" name="TextBox 6">
            <a:extLst>
              <a:ext uri="{FF2B5EF4-FFF2-40B4-BE49-F238E27FC236}">
                <a16:creationId xmlns:a16="http://schemas.microsoft.com/office/drawing/2014/main" id="{2E0356E7-E33C-056A-C7BB-727A4C59554B}"/>
              </a:ext>
            </a:extLst>
          </p:cNvPr>
          <p:cNvSpPr txBox="1"/>
          <p:nvPr/>
        </p:nvSpPr>
        <p:spPr>
          <a:xfrm>
            <a:off x="977332" y="977060"/>
            <a:ext cx="10326070" cy="461665"/>
          </a:xfrm>
          <a:prstGeom prst="rect">
            <a:avLst/>
          </a:prstGeom>
          <a:noFill/>
          <a:ln>
            <a:noFill/>
          </a:ln>
        </p:spPr>
        <p:txBody>
          <a:bodyPr wrap="square" rtlCol="0">
            <a:spAutoFit/>
          </a:bodyPr>
          <a:lstStyle/>
          <a:p>
            <a:pPr marL="285750" marR="0" lvl="0" indent="-285750" algn="just" defTabSz="914400" rtl="0" eaLnBrk="1" fontAlgn="auto" latinLnBrk="0" hangingPunct="1">
              <a:spcBef>
                <a:spcPts val="0"/>
              </a:spcBef>
              <a:spcAft>
                <a:spcPts val="300"/>
              </a:spcAft>
              <a:buClrTx/>
              <a:buSzTx/>
              <a:buFont typeface="Arial" panose="020B0604020202020204" pitchFamily="34" charset="0"/>
              <a:buChar char="•"/>
              <a:tabLst/>
              <a:defRPr/>
            </a:pPr>
            <a:r>
              <a:rPr kumimoji="0" lang="en-US" sz="1200" b="0" i="0" u="none" strike="noStrike" kern="100" cap="none" spc="0" normalizeH="0" baseline="0" noProof="0">
                <a:ln>
                  <a:noFill/>
                </a:ln>
                <a:solidFill>
                  <a:prstClr val="black"/>
                </a:solidFill>
                <a:effectLst/>
                <a:uLnTx/>
                <a:uFillTx/>
                <a:latin typeface="Lato"/>
                <a:ea typeface="Roboto"/>
                <a:cs typeface="Roboto"/>
              </a:rPr>
              <a:t>Deloitte is looking for vendor-managed, cross-functional 10-member PODs Teams (10 PODs) to work as an extended engineering team to support Ascend AI platform using Agile and GenAI-enabled delivery practices.</a:t>
            </a:r>
          </a:p>
        </p:txBody>
      </p:sp>
      <p:sp>
        <p:nvSpPr>
          <p:cNvPr id="8" name="Rectangle: Rounded Corners 7">
            <a:extLst>
              <a:ext uri="{FF2B5EF4-FFF2-40B4-BE49-F238E27FC236}">
                <a16:creationId xmlns:a16="http://schemas.microsoft.com/office/drawing/2014/main" id="{16AFFE7B-86A0-46BA-0DFF-153E615948F1}"/>
              </a:ext>
            </a:extLst>
          </p:cNvPr>
          <p:cNvSpPr/>
          <p:nvPr/>
        </p:nvSpPr>
        <p:spPr>
          <a:xfrm>
            <a:off x="689650" y="2617808"/>
            <a:ext cx="5480778" cy="3943917"/>
          </a:xfrm>
          <a:prstGeom prst="roundRect">
            <a:avLst>
              <a:gd name="adj" fmla="val 8065"/>
            </a:avLst>
          </a:prstGeom>
          <a:solidFill>
            <a:schemeClr val="bg1"/>
          </a:solidFill>
          <a:ln w="952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lvl="1">
              <a:spcBef>
                <a:spcPts val="300"/>
              </a:spcBef>
              <a:spcAft>
                <a:spcPts val="300"/>
              </a:spcAft>
              <a:buClr>
                <a:schemeClr val="accent4">
                  <a:lumMod val="75000"/>
                </a:schemeClr>
              </a:buClr>
            </a:pPr>
            <a:endParaRPr lang="en-US" sz="1100">
              <a:solidFill>
                <a:schemeClr val="tx1"/>
              </a:solidFill>
              <a:latin typeface="Lato" panose="020F0502020204030203" pitchFamily="34" charset="0"/>
              <a:ea typeface="Lato" panose="020F0502020204030203" pitchFamily="34" charset="0"/>
              <a:cs typeface="Lato" panose="020F0502020204030203" pitchFamily="34" charset="0"/>
            </a:endParaRPr>
          </a:p>
          <a:p>
            <a:pPr marL="0" lvl="1">
              <a:spcBef>
                <a:spcPts val="300"/>
              </a:spcBef>
              <a:spcAft>
                <a:spcPts val="300"/>
              </a:spcAft>
              <a:buClr>
                <a:schemeClr val="accent4">
                  <a:lumMod val="75000"/>
                </a:schemeClr>
              </a:buClr>
            </a:pPr>
            <a:r>
              <a:rPr lang="en-US" sz="1100">
                <a:solidFill>
                  <a:schemeClr val="tx1"/>
                </a:solidFill>
                <a:latin typeface="Lato" panose="020F0502020204030203" pitchFamily="34" charset="0"/>
                <a:ea typeface="Lato" panose="020F0502020204030203" pitchFamily="34" charset="0"/>
                <a:cs typeface="Lato" panose="020F0502020204030203" pitchFamily="34" charset="0"/>
              </a:rPr>
              <a:t>To support Deloitte’s high-velocity, AI-driven platform vision, Innominds delivers a turnkey POD model combining rapid scale with full-lifecycle engineering excellence.</a:t>
            </a:r>
          </a:p>
          <a:p>
            <a:pPr marL="171450" lvl="1" indent="-171450">
              <a:spcBef>
                <a:spcPts val="300"/>
              </a:spcBef>
              <a:spcAft>
                <a:spcPts val="300"/>
              </a:spcAft>
              <a:buClr>
                <a:schemeClr val="accent4">
                  <a:lumMod val="75000"/>
                </a:schemeClr>
              </a:buClr>
              <a:buFont typeface="Wingdings" panose="05000000000000000000" pitchFamily="2" charset="2"/>
              <a:buChar char="v"/>
            </a:pPr>
            <a:r>
              <a:rPr lang="en-US" sz="1100" b="1">
                <a:solidFill>
                  <a:schemeClr val="tx1"/>
                </a:solidFill>
                <a:latin typeface="Lato" panose="020F0502020204030203" pitchFamily="34" charset="0"/>
                <a:ea typeface="Lato" panose="020F0502020204030203" pitchFamily="34" charset="0"/>
                <a:cs typeface="Lato" panose="020F0502020204030203" pitchFamily="34" charset="0"/>
              </a:rPr>
              <a:t>Rapid Talent Activation: </a:t>
            </a:r>
            <a:r>
              <a:rPr lang="en-US" sz="1100">
                <a:solidFill>
                  <a:schemeClr val="tx1"/>
                </a:solidFill>
                <a:latin typeface="Lato" panose="020F0502020204030203" pitchFamily="34" charset="0"/>
                <a:ea typeface="Lato" panose="020F0502020204030203" pitchFamily="34" charset="0"/>
                <a:cs typeface="Lato" panose="020F0502020204030203" pitchFamily="34" charset="0"/>
              </a:rPr>
              <a:t>POD capacity will be ramped up in planned waves starting with 2 PODs (20 resources) in January and scaling progressively through February and March to reach the targeted capacity (100 resources) </a:t>
            </a:r>
          </a:p>
          <a:p>
            <a:pPr marL="171450" lvl="1" indent="-171450">
              <a:spcBef>
                <a:spcPts val="300"/>
              </a:spcBef>
              <a:spcAft>
                <a:spcPts val="300"/>
              </a:spcAft>
              <a:buClr>
                <a:schemeClr val="accent4">
                  <a:lumMod val="75000"/>
                </a:schemeClr>
              </a:buClr>
              <a:buFont typeface="Wingdings" panose="05000000000000000000" pitchFamily="2" charset="2"/>
              <a:buChar char="v"/>
            </a:pPr>
            <a:r>
              <a:rPr lang="en-US" sz="1100" b="1">
                <a:solidFill>
                  <a:schemeClr val="tx1"/>
                </a:solidFill>
                <a:latin typeface="Lato" panose="020F0502020204030203" pitchFamily="34" charset="0"/>
                <a:ea typeface="Lato" panose="020F0502020204030203" pitchFamily="34" charset="0"/>
                <a:cs typeface="Lato" panose="020F0502020204030203" pitchFamily="34" charset="0"/>
              </a:rPr>
              <a:t>Continuity Assurance</a:t>
            </a:r>
            <a:r>
              <a:rPr lang="en-US" sz="1100">
                <a:solidFill>
                  <a:schemeClr val="tx1"/>
                </a:solidFill>
                <a:latin typeface="Lato" panose="020F0502020204030203" pitchFamily="34" charset="0"/>
                <a:ea typeface="Lato" panose="020F0502020204030203" pitchFamily="34" charset="0"/>
                <a:cs typeface="Lato" panose="020F0502020204030203" pitchFamily="34" charset="0"/>
              </a:rPr>
              <a:t>: 15% pre-trained shadow bench enabling 24–48-hour role replacement at no additional cost.</a:t>
            </a:r>
          </a:p>
          <a:p>
            <a:pPr marL="171450" lvl="1" indent="-171450">
              <a:spcBef>
                <a:spcPts val="300"/>
              </a:spcBef>
              <a:spcAft>
                <a:spcPts val="300"/>
              </a:spcAft>
              <a:buClr>
                <a:schemeClr val="accent4">
                  <a:lumMod val="75000"/>
                </a:schemeClr>
              </a:buClr>
              <a:buFont typeface="Wingdings" panose="05000000000000000000" pitchFamily="2" charset="2"/>
              <a:buChar char="v"/>
            </a:pPr>
            <a:r>
              <a:rPr lang="en-US" sz="1100" b="1">
                <a:solidFill>
                  <a:schemeClr val="tx1"/>
                </a:solidFill>
                <a:latin typeface="Lato" panose="020F0502020204030203" pitchFamily="34" charset="0"/>
                <a:ea typeface="Lato" panose="020F0502020204030203" pitchFamily="34" charset="0"/>
                <a:cs typeface="Lato" panose="020F0502020204030203" pitchFamily="34" charset="0"/>
              </a:rPr>
              <a:t>Mandatory Enablement: </a:t>
            </a:r>
            <a:r>
              <a:rPr lang="en-US" sz="1100">
                <a:solidFill>
                  <a:schemeClr val="tx1"/>
                </a:solidFill>
                <a:latin typeface="Lato" panose="020F0502020204030203" pitchFamily="34" charset="0"/>
                <a:ea typeface="Lato" panose="020F0502020204030203" pitchFamily="34" charset="0"/>
                <a:cs typeface="Lato" panose="020F0502020204030203" pitchFamily="34" charset="0"/>
              </a:rPr>
              <a:t>One-week structured onboarding covering security, CI/CD toolchains, and platform architecture for zero-day productivity.</a:t>
            </a:r>
          </a:p>
          <a:p>
            <a:pPr marL="171450" lvl="1" indent="-171450">
              <a:spcBef>
                <a:spcPts val="300"/>
              </a:spcBef>
              <a:spcAft>
                <a:spcPts val="300"/>
              </a:spcAft>
              <a:buClr>
                <a:schemeClr val="accent4">
                  <a:lumMod val="75000"/>
                </a:schemeClr>
              </a:buClr>
              <a:buFont typeface="Wingdings" panose="05000000000000000000" pitchFamily="2" charset="2"/>
              <a:buChar char="v"/>
            </a:pPr>
            <a:r>
              <a:rPr lang="en-US" sz="1100" b="1">
                <a:solidFill>
                  <a:schemeClr val="tx1"/>
                </a:solidFill>
                <a:latin typeface="Lato" panose="020F0502020204030203" pitchFamily="34" charset="0"/>
                <a:ea typeface="Lato" panose="020F0502020204030203" pitchFamily="34" charset="0"/>
                <a:cs typeface="Lato" panose="020F0502020204030203" pitchFamily="34" charset="0"/>
              </a:rPr>
              <a:t>End-to-End POD Ownership: </a:t>
            </a:r>
            <a:r>
              <a:rPr lang="en-US" sz="1100">
                <a:solidFill>
                  <a:schemeClr val="tx1"/>
                </a:solidFill>
                <a:latin typeface="Lato" panose="020F0502020204030203" pitchFamily="34" charset="0"/>
                <a:ea typeface="Lato" panose="020F0502020204030203" pitchFamily="34" charset="0"/>
                <a:cs typeface="Lato" panose="020F0502020204030203" pitchFamily="34" charset="0"/>
              </a:rPr>
              <a:t>PODs own the complete lifecycle, from GenAI-assisted requirements to automated deployment and observability.</a:t>
            </a:r>
          </a:p>
          <a:p>
            <a:pPr marL="171450" lvl="1" indent="-171450">
              <a:spcBef>
                <a:spcPts val="300"/>
              </a:spcBef>
              <a:spcAft>
                <a:spcPts val="300"/>
              </a:spcAft>
              <a:buClr>
                <a:schemeClr val="accent4">
                  <a:lumMod val="75000"/>
                </a:schemeClr>
              </a:buClr>
              <a:buFont typeface="Wingdings" panose="05000000000000000000" pitchFamily="2" charset="2"/>
              <a:buChar char="v"/>
            </a:pPr>
            <a:r>
              <a:rPr lang="en-US" sz="1100" b="1">
                <a:solidFill>
                  <a:schemeClr val="tx1"/>
                </a:solidFill>
                <a:latin typeface="Lato" panose="020F0502020204030203" pitchFamily="34" charset="0"/>
                <a:ea typeface="Lato" panose="020F0502020204030203" pitchFamily="34" charset="0"/>
                <a:cs typeface="Lato" panose="020F0502020204030203" pitchFamily="34" charset="0"/>
              </a:rPr>
              <a:t>Program Governance: </a:t>
            </a:r>
            <a:r>
              <a:rPr lang="en-US" sz="1100">
                <a:solidFill>
                  <a:schemeClr val="tx1"/>
                </a:solidFill>
                <a:latin typeface="Lato" panose="020F0502020204030203" pitchFamily="34" charset="0"/>
                <a:ea typeface="Lato" panose="020F0502020204030203" pitchFamily="34" charset="0"/>
                <a:cs typeface="Lato" panose="020F0502020204030203" pitchFamily="34" charset="0"/>
              </a:rPr>
              <a:t>Once the engagement is awarded, a dedicated Innominds Program Director will be assigned to oversee execution and delivery across all waves at no additional cost.</a:t>
            </a:r>
          </a:p>
          <a:p>
            <a:pPr marL="171450" lvl="1" indent="-171450">
              <a:spcBef>
                <a:spcPts val="300"/>
              </a:spcBef>
              <a:spcAft>
                <a:spcPts val="300"/>
              </a:spcAft>
              <a:buClr>
                <a:schemeClr val="accent4">
                  <a:lumMod val="75000"/>
                </a:schemeClr>
              </a:buClr>
              <a:buFont typeface="Wingdings" panose="05000000000000000000" pitchFamily="2" charset="2"/>
              <a:buChar char="v"/>
            </a:pPr>
            <a:r>
              <a:rPr lang="en-US" sz="1100">
                <a:solidFill>
                  <a:schemeClr val="tx1"/>
                </a:solidFill>
                <a:latin typeface="Lato" panose="020F0502020204030203" pitchFamily="34" charset="0"/>
                <a:ea typeface="Lato" panose="020F0502020204030203" pitchFamily="34" charset="0"/>
                <a:cs typeface="Lato" panose="020F0502020204030203" pitchFamily="34" charset="0"/>
              </a:rPr>
              <a:t>Commercial Model : Innominds offers flexible 2 commercial models :  Time &amp; Material Engagement Model and a capacity-based POD model, to suit </a:t>
            </a:r>
            <a:r>
              <a:rPr lang="en-US" sz="1100" err="1">
                <a:solidFill>
                  <a:schemeClr val="tx1"/>
                </a:solidFill>
                <a:latin typeface="Lato" panose="020F0502020204030203" pitchFamily="34" charset="0"/>
                <a:ea typeface="Lato" panose="020F0502020204030203" pitchFamily="34" charset="0"/>
                <a:cs typeface="Lato" panose="020F0502020204030203" pitchFamily="34" charset="0"/>
              </a:rPr>
              <a:t>Ascend’s</a:t>
            </a:r>
            <a:r>
              <a:rPr lang="en-US" sz="1100">
                <a:solidFill>
                  <a:schemeClr val="tx1"/>
                </a:solidFill>
                <a:latin typeface="Lato" panose="020F0502020204030203" pitchFamily="34" charset="0"/>
                <a:ea typeface="Lato" panose="020F0502020204030203" pitchFamily="34" charset="0"/>
                <a:cs typeface="Lato" panose="020F0502020204030203" pitchFamily="34" charset="0"/>
              </a:rPr>
              <a:t> delivery requirements.</a:t>
            </a:r>
          </a:p>
        </p:txBody>
      </p:sp>
      <p:sp>
        <p:nvSpPr>
          <p:cNvPr id="9" name="Rectangle: Rounded Corners 8">
            <a:extLst>
              <a:ext uri="{FF2B5EF4-FFF2-40B4-BE49-F238E27FC236}">
                <a16:creationId xmlns:a16="http://schemas.microsoft.com/office/drawing/2014/main" id="{4217C944-BDDA-B432-C4E0-9DCC0C093ACB}"/>
              </a:ext>
            </a:extLst>
          </p:cNvPr>
          <p:cNvSpPr/>
          <p:nvPr/>
        </p:nvSpPr>
        <p:spPr>
          <a:xfrm>
            <a:off x="639964" y="2385757"/>
            <a:ext cx="3194266" cy="525780"/>
          </a:xfrm>
          <a:prstGeom prst="roundRect">
            <a:avLst>
              <a:gd name="adj" fmla="val 8065"/>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400" b="1">
                <a:latin typeface="Lato" panose="020F0502020204030203" pitchFamily="34" charset="0"/>
                <a:ea typeface="Lato" panose="020F0502020204030203" pitchFamily="34" charset="0"/>
                <a:cs typeface="Lato" panose="020F0502020204030203" pitchFamily="34" charset="0"/>
              </a:rPr>
              <a:t>Innominds Approach</a:t>
            </a:r>
          </a:p>
        </p:txBody>
      </p:sp>
      <p:sp>
        <p:nvSpPr>
          <p:cNvPr id="10" name="Hexagon 9">
            <a:extLst>
              <a:ext uri="{FF2B5EF4-FFF2-40B4-BE49-F238E27FC236}">
                <a16:creationId xmlns:a16="http://schemas.microsoft.com/office/drawing/2014/main" id="{F81FCA2C-7F03-94E1-CD47-81CE8865F5C7}"/>
              </a:ext>
            </a:extLst>
          </p:cNvPr>
          <p:cNvSpPr/>
          <p:nvPr/>
        </p:nvSpPr>
        <p:spPr>
          <a:xfrm>
            <a:off x="209350" y="2223483"/>
            <a:ext cx="861228" cy="688054"/>
          </a:xfrm>
          <a:prstGeom prst="hexagon">
            <a:avLst/>
          </a:prstGeom>
          <a:solidFill>
            <a:schemeClr val="bg1"/>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C7B0D7D7-2C4B-AEDA-BF06-1745929F1515}"/>
              </a:ext>
            </a:extLst>
          </p:cNvPr>
          <p:cNvPicPr>
            <a:picLocks noChangeAspect="1"/>
          </p:cNvPicPr>
          <p:nvPr/>
        </p:nvPicPr>
        <p:blipFill>
          <a:blip r:embed="rId2"/>
          <a:srcRect/>
          <a:stretch/>
        </p:blipFill>
        <p:spPr>
          <a:xfrm>
            <a:off x="387964" y="2315510"/>
            <a:ext cx="504000" cy="504000"/>
          </a:xfrm>
          <a:prstGeom prst="rect">
            <a:avLst/>
          </a:prstGeom>
        </p:spPr>
      </p:pic>
      <p:sp>
        <p:nvSpPr>
          <p:cNvPr id="12" name="Rectangle: Rounded Corners 11">
            <a:extLst>
              <a:ext uri="{FF2B5EF4-FFF2-40B4-BE49-F238E27FC236}">
                <a16:creationId xmlns:a16="http://schemas.microsoft.com/office/drawing/2014/main" id="{AD6491F3-4C57-6ACA-0AE6-E08C84001540}"/>
              </a:ext>
            </a:extLst>
          </p:cNvPr>
          <p:cNvSpPr/>
          <p:nvPr/>
        </p:nvSpPr>
        <p:spPr>
          <a:xfrm>
            <a:off x="6671350" y="2621619"/>
            <a:ext cx="5229318" cy="3939532"/>
          </a:xfrm>
          <a:prstGeom prst="roundRect">
            <a:avLst>
              <a:gd name="adj" fmla="val 8065"/>
            </a:avLst>
          </a:prstGeom>
          <a:solidFill>
            <a:schemeClr val="bg1"/>
          </a:solidFill>
          <a:ln w="952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spcBef>
                <a:spcPts val="300"/>
              </a:spcBef>
              <a:spcAft>
                <a:spcPts val="300"/>
              </a:spcAft>
              <a:buClr>
                <a:schemeClr val="accent4">
                  <a:lumMod val="75000"/>
                </a:schemeClr>
              </a:buClr>
              <a:buFont typeface="Wingdings" panose="05000000000000000000" pitchFamily="2" charset="2"/>
              <a:buChar char="v"/>
            </a:pPr>
            <a:r>
              <a:rPr lang="en-US" sz="1100">
                <a:solidFill>
                  <a:schemeClr val="tx1"/>
                </a:solidFill>
                <a:latin typeface="Lato" panose="020F0502020204030203" pitchFamily="34" charset="0"/>
                <a:ea typeface="Lato" panose="020F0502020204030203" pitchFamily="34" charset="0"/>
                <a:cs typeface="Lato" panose="020F0502020204030203" pitchFamily="34" charset="0"/>
              </a:rPr>
              <a:t>GenAI Excellence: Our teams are experts in building RAG pipelines and multi-agent workflows (</a:t>
            </a:r>
            <a:r>
              <a:rPr lang="en-US" sz="1100" err="1">
                <a:solidFill>
                  <a:schemeClr val="tx1"/>
                </a:solidFill>
                <a:latin typeface="Lato" panose="020F0502020204030203" pitchFamily="34" charset="0"/>
                <a:ea typeface="Lato" panose="020F0502020204030203" pitchFamily="34" charset="0"/>
                <a:cs typeface="Lato" panose="020F0502020204030203" pitchFamily="34" charset="0"/>
              </a:rPr>
              <a:t>LangChain</a:t>
            </a:r>
            <a:r>
              <a:rPr lang="en-US" sz="1100">
                <a:solidFill>
                  <a:schemeClr val="tx1"/>
                </a:solidFill>
                <a:latin typeface="Lato" panose="020F0502020204030203" pitchFamily="34" charset="0"/>
                <a:ea typeface="Lato" panose="020F0502020204030203" pitchFamily="34" charset="0"/>
                <a:cs typeface="Lato" panose="020F0502020204030203" pitchFamily="34" charset="0"/>
              </a:rPr>
              <a:t>/</a:t>
            </a:r>
            <a:r>
              <a:rPr lang="en-US" sz="1100" err="1">
                <a:solidFill>
                  <a:schemeClr val="tx1"/>
                </a:solidFill>
                <a:latin typeface="Lato" panose="020F0502020204030203" pitchFamily="34" charset="0"/>
                <a:ea typeface="Lato" panose="020F0502020204030203" pitchFamily="34" charset="0"/>
                <a:cs typeface="Lato" panose="020F0502020204030203" pitchFamily="34" charset="0"/>
              </a:rPr>
              <a:t>Langgraph</a:t>
            </a:r>
            <a:r>
              <a:rPr lang="en-US" sz="1100">
                <a:solidFill>
                  <a:schemeClr val="tx1"/>
                </a:solidFill>
                <a:latin typeface="Lato" panose="020F0502020204030203" pitchFamily="34" charset="0"/>
                <a:ea typeface="Lato" panose="020F0502020204030203" pitchFamily="34" charset="0"/>
                <a:cs typeface="Lato" panose="020F0502020204030203" pitchFamily="34" charset="0"/>
              </a:rPr>
              <a:t>), directly supporting Ascend’s "AI-infused" vision.</a:t>
            </a:r>
          </a:p>
          <a:p>
            <a:pPr marL="171450" indent="-171450">
              <a:spcBef>
                <a:spcPts val="300"/>
              </a:spcBef>
              <a:spcAft>
                <a:spcPts val="300"/>
              </a:spcAft>
              <a:buClr>
                <a:schemeClr val="accent4">
                  <a:lumMod val="75000"/>
                </a:schemeClr>
              </a:buClr>
              <a:buFont typeface="Wingdings" panose="05000000000000000000" pitchFamily="2" charset="2"/>
              <a:buChar char="v"/>
            </a:pPr>
            <a:endParaRPr lang="en-US" sz="1100">
              <a:solidFill>
                <a:schemeClr val="tx1"/>
              </a:solidFill>
              <a:latin typeface="Lato" panose="020F0502020204030203" pitchFamily="34" charset="0"/>
              <a:ea typeface="Lato" panose="020F0502020204030203" pitchFamily="34" charset="0"/>
              <a:cs typeface="Lato" panose="020F0502020204030203" pitchFamily="34" charset="0"/>
            </a:endParaRPr>
          </a:p>
          <a:p>
            <a:pPr marL="171450" indent="-171450">
              <a:spcBef>
                <a:spcPts val="300"/>
              </a:spcBef>
              <a:spcAft>
                <a:spcPts val="300"/>
              </a:spcAft>
              <a:buClr>
                <a:schemeClr val="accent4">
                  <a:lumMod val="75000"/>
                </a:schemeClr>
              </a:buClr>
              <a:buFont typeface="Wingdings" panose="05000000000000000000" pitchFamily="2" charset="2"/>
              <a:buChar char="v"/>
            </a:pPr>
            <a:r>
              <a:rPr lang="en-US" sz="1100">
                <a:solidFill>
                  <a:schemeClr val="tx1"/>
                </a:solidFill>
                <a:latin typeface="Lato" panose="020F0502020204030203" pitchFamily="34" charset="0"/>
                <a:ea typeface="Lato" panose="020F0502020204030203" pitchFamily="34" charset="0"/>
                <a:cs typeface="Lato" panose="020F0502020204030203" pitchFamily="34" charset="0"/>
              </a:rPr>
              <a:t>Modern Engineering Stack: Deep proficiency in Java/Spring Boot, React/Next.js, and Databricks ensures high-quality, scalable code delivery.</a:t>
            </a:r>
          </a:p>
          <a:p>
            <a:pPr marL="171450" indent="-171450">
              <a:spcBef>
                <a:spcPts val="300"/>
              </a:spcBef>
              <a:spcAft>
                <a:spcPts val="300"/>
              </a:spcAft>
              <a:buClr>
                <a:schemeClr val="accent4">
                  <a:lumMod val="75000"/>
                </a:schemeClr>
              </a:buClr>
              <a:buFont typeface="Wingdings" panose="05000000000000000000" pitchFamily="2" charset="2"/>
              <a:buChar char="v"/>
            </a:pPr>
            <a:endParaRPr lang="en-US" sz="1100">
              <a:solidFill>
                <a:schemeClr val="tx1"/>
              </a:solidFill>
              <a:latin typeface="Lato" panose="020F0502020204030203" pitchFamily="34" charset="0"/>
              <a:ea typeface="Lato" panose="020F0502020204030203" pitchFamily="34" charset="0"/>
              <a:cs typeface="Lato" panose="020F0502020204030203" pitchFamily="34" charset="0"/>
            </a:endParaRPr>
          </a:p>
          <a:p>
            <a:pPr marL="171450" indent="-171450">
              <a:spcBef>
                <a:spcPts val="300"/>
              </a:spcBef>
              <a:spcAft>
                <a:spcPts val="300"/>
              </a:spcAft>
              <a:buClr>
                <a:schemeClr val="accent4">
                  <a:lumMod val="75000"/>
                </a:schemeClr>
              </a:buClr>
              <a:buFont typeface="Wingdings" panose="05000000000000000000" pitchFamily="2" charset="2"/>
              <a:buChar char="v"/>
            </a:pPr>
            <a:r>
              <a:rPr lang="en-US" sz="1100">
                <a:solidFill>
                  <a:schemeClr val="tx1"/>
                </a:solidFill>
                <a:latin typeface="Lato" panose="020F0502020204030203" pitchFamily="34" charset="0"/>
                <a:ea typeface="Lato" panose="020F0502020204030203" pitchFamily="34" charset="0"/>
                <a:cs typeface="Lato" panose="020F0502020204030203" pitchFamily="34" charset="0"/>
              </a:rPr>
              <a:t>Agile Elasticity: Our model is built for demand-driven growth  allowing Deloitte to scale PODs up or down based on roadmap fluctuations.</a:t>
            </a:r>
          </a:p>
          <a:p>
            <a:pPr marL="171450" indent="-171450">
              <a:spcBef>
                <a:spcPts val="300"/>
              </a:spcBef>
              <a:spcAft>
                <a:spcPts val="300"/>
              </a:spcAft>
              <a:buClr>
                <a:schemeClr val="accent4">
                  <a:lumMod val="75000"/>
                </a:schemeClr>
              </a:buClr>
              <a:buFont typeface="Wingdings" panose="05000000000000000000" pitchFamily="2" charset="2"/>
              <a:buChar char="v"/>
            </a:pPr>
            <a:endParaRPr lang="en-US" sz="1100">
              <a:solidFill>
                <a:schemeClr val="tx1"/>
              </a:solidFill>
              <a:latin typeface="Lato" panose="020F0502020204030203" pitchFamily="34" charset="0"/>
              <a:ea typeface="Lato" panose="020F0502020204030203" pitchFamily="34" charset="0"/>
              <a:cs typeface="Lato" panose="020F0502020204030203" pitchFamily="34" charset="0"/>
            </a:endParaRPr>
          </a:p>
          <a:p>
            <a:pPr marL="171450" indent="-171450">
              <a:spcBef>
                <a:spcPts val="300"/>
              </a:spcBef>
              <a:spcAft>
                <a:spcPts val="300"/>
              </a:spcAft>
              <a:buClr>
                <a:schemeClr val="accent4">
                  <a:lumMod val="75000"/>
                </a:schemeClr>
              </a:buClr>
              <a:buFont typeface="Wingdings" panose="05000000000000000000" pitchFamily="2" charset="2"/>
              <a:buChar char="v"/>
            </a:pPr>
            <a:r>
              <a:rPr lang="en-US" sz="1100">
                <a:solidFill>
                  <a:schemeClr val="tx1"/>
                </a:solidFill>
                <a:latin typeface="Lato" panose="020F0502020204030203" pitchFamily="34" charset="0"/>
                <a:ea typeface="Lato" panose="020F0502020204030203" pitchFamily="34" charset="0"/>
                <a:cs typeface="Lato" panose="020F0502020204030203" pitchFamily="34" charset="0"/>
              </a:rPr>
              <a:t>Automated Quality Governance: Utilizing Playwright MCP and AI-driven testing to maintain the 100% test coverage and security standards required by Deloitte.</a:t>
            </a:r>
          </a:p>
        </p:txBody>
      </p:sp>
      <p:sp>
        <p:nvSpPr>
          <p:cNvPr id="13" name="Rectangle: Rounded Corners 12">
            <a:extLst>
              <a:ext uri="{FF2B5EF4-FFF2-40B4-BE49-F238E27FC236}">
                <a16:creationId xmlns:a16="http://schemas.microsoft.com/office/drawing/2014/main" id="{47676BAD-02E3-416D-C467-1CEC54944D9A}"/>
              </a:ext>
            </a:extLst>
          </p:cNvPr>
          <p:cNvSpPr/>
          <p:nvPr/>
        </p:nvSpPr>
        <p:spPr>
          <a:xfrm>
            <a:off x="6621664" y="2389567"/>
            <a:ext cx="3194266" cy="525780"/>
          </a:xfrm>
          <a:prstGeom prst="roundRect">
            <a:avLst>
              <a:gd name="adj" fmla="val 8065"/>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400" b="1">
                <a:latin typeface="Lato" panose="020F0502020204030203" pitchFamily="34" charset="0"/>
                <a:ea typeface="Lato" panose="020F0502020204030203" pitchFamily="34" charset="0"/>
                <a:cs typeface="Lato" panose="020F0502020204030203" pitchFamily="34" charset="0"/>
              </a:rPr>
              <a:t>Innominds Strategic Capabilities</a:t>
            </a:r>
          </a:p>
        </p:txBody>
      </p:sp>
      <p:sp>
        <p:nvSpPr>
          <p:cNvPr id="14" name="Hexagon 13">
            <a:extLst>
              <a:ext uri="{FF2B5EF4-FFF2-40B4-BE49-F238E27FC236}">
                <a16:creationId xmlns:a16="http://schemas.microsoft.com/office/drawing/2014/main" id="{7BC94853-E4FD-CE5B-7025-C6D069CC19CD}"/>
              </a:ext>
            </a:extLst>
          </p:cNvPr>
          <p:cNvSpPr/>
          <p:nvPr/>
        </p:nvSpPr>
        <p:spPr>
          <a:xfrm>
            <a:off x="6191050" y="2227293"/>
            <a:ext cx="861228" cy="688054"/>
          </a:xfrm>
          <a:prstGeom prst="hexagon">
            <a:avLst/>
          </a:prstGeom>
          <a:solidFill>
            <a:schemeClr val="bg1"/>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7C8E0D97-D82B-F5F6-B0B6-EA09EBBCE557}"/>
              </a:ext>
            </a:extLst>
          </p:cNvPr>
          <p:cNvPicPr>
            <a:picLocks noChangeAspect="1"/>
          </p:cNvPicPr>
          <p:nvPr/>
        </p:nvPicPr>
        <p:blipFill>
          <a:blip r:embed="rId3"/>
          <a:srcRect/>
          <a:stretch/>
        </p:blipFill>
        <p:spPr>
          <a:xfrm>
            <a:off x="6369664" y="2319320"/>
            <a:ext cx="504000" cy="504000"/>
          </a:xfrm>
          <a:prstGeom prst="rect">
            <a:avLst/>
          </a:prstGeom>
        </p:spPr>
      </p:pic>
      <p:sp>
        <p:nvSpPr>
          <p:cNvPr id="20" name="TextBox 19">
            <a:extLst>
              <a:ext uri="{FF2B5EF4-FFF2-40B4-BE49-F238E27FC236}">
                <a16:creationId xmlns:a16="http://schemas.microsoft.com/office/drawing/2014/main" id="{73EC07BC-6A35-6C78-8CAC-1DEE92AE4902}"/>
              </a:ext>
            </a:extLst>
          </p:cNvPr>
          <p:cNvSpPr txBox="1"/>
          <p:nvPr/>
        </p:nvSpPr>
        <p:spPr>
          <a:xfrm>
            <a:off x="977332" y="1635169"/>
            <a:ext cx="9963729" cy="461665"/>
          </a:xfrm>
          <a:prstGeom prst="rect">
            <a:avLst/>
          </a:prstGeom>
          <a:noFill/>
        </p:spPr>
        <p:txBody>
          <a:bodyPr wrap="square">
            <a:spAutoFit/>
          </a:bodyPr>
          <a:lstStyle/>
          <a:p>
            <a:pPr marL="285750" indent="-285750" algn="just">
              <a:spcAft>
                <a:spcPts val="300"/>
              </a:spcAft>
              <a:buFont typeface="Arial" panose="020B0604020202020204" pitchFamily="34" charset="0"/>
              <a:buChar char="•"/>
              <a:defRPr/>
            </a:pPr>
            <a:r>
              <a:rPr lang="en-US" sz="1200" kern="100">
                <a:solidFill>
                  <a:prstClr val="black"/>
                </a:solidFill>
                <a:latin typeface="Lato"/>
                <a:ea typeface="Roboto"/>
                <a:cs typeface="Roboto"/>
              </a:rPr>
              <a:t>Establish dedicated, GenAI-enabled PODs to accelerate scalable, secure, and high-quality feature delivery aligned with Deloitte’s Ascend roadmap and governance, to work with their product teams in Bangalore / Hyderabad.</a:t>
            </a:r>
          </a:p>
        </p:txBody>
      </p:sp>
      <p:sp>
        <p:nvSpPr>
          <p:cNvPr id="21" name="TextBox 20">
            <a:extLst>
              <a:ext uri="{FF2B5EF4-FFF2-40B4-BE49-F238E27FC236}">
                <a16:creationId xmlns:a16="http://schemas.microsoft.com/office/drawing/2014/main" id="{D842D3A1-A81A-A815-2375-561E3EF7B999}"/>
              </a:ext>
            </a:extLst>
          </p:cNvPr>
          <p:cNvSpPr txBox="1"/>
          <p:nvPr/>
        </p:nvSpPr>
        <p:spPr>
          <a:xfrm>
            <a:off x="794163" y="1377057"/>
            <a:ext cx="2033042"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E44C25"/>
                </a:solidFill>
                <a:effectLst/>
                <a:uLnTx/>
                <a:uFillTx/>
                <a:latin typeface="Lato" panose="020F0502020204030203" pitchFamily="34" charset="77"/>
                <a:ea typeface="+mn-ea"/>
                <a:cs typeface="+mn-cs"/>
              </a:rPr>
              <a:t>Objective:</a:t>
            </a:r>
          </a:p>
        </p:txBody>
      </p:sp>
    </p:spTree>
    <p:extLst>
      <p:ext uri="{BB962C8B-B14F-4D97-AF65-F5344CB8AC3E}">
        <p14:creationId xmlns:p14="http://schemas.microsoft.com/office/powerpoint/2010/main" val="35924167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AA1FB-A900-A6C5-118E-C867BDA2E47F}"/>
              </a:ext>
            </a:extLst>
          </p:cNvPr>
          <p:cNvSpPr>
            <a:spLocks noGrp="1"/>
          </p:cNvSpPr>
          <p:nvPr>
            <p:ph type="title"/>
          </p:nvPr>
        </p:nvSpPr>
        <p:spPr/>
        <p:txBody>
          <a:bodyPr/>
          <a:lstStyle/>
          <a:p>
            <a:r>
              <a:rPr lang="en-US"/>
              <a:t>POD Setup – Key Benefits for Deloitte</a:t>
            </a:r>
            <a:endParaRPr lang="en-IN"/>
          </a:p>
        </p:txBody>
      </p:sp>
      <p:grpSp>
        <p:nvGrpSpPr>
          <p:cNvPr id="33" name="Group 32">
            <a:extLst>
              <a:ext uri="{FF2B5EF4-FFF2-40B4-BE49-F238E27FC236}">
                <a16:creationId xmlns:a16="http://schemas.microsoft.com/office/drawing/2014/main" id="{90204F5B-1E07-340E-E4CC-D70563248C50}"/>
              </a:ext>
            </a:extLst>
          </p:cNvPr>
          <p:cNvGrpSpPr/>
          <p:nvPr/>
        </p:nvGrpSpPr>
        <p:grpSpPr>
          <a:xfrm>
            <a:off x="1531088" y="1575545"/>
            <a:ext cx="3839272" cy="2394547"/>
            <a:chOff x="75766" y="1024857"/>
            <a:chExt cx="3886633" cy="2026351"/>
          </a:xfrm>
        </p:grpSpPr>
        <p:sp>
          <p:nvSpPr>
            <p:cNvPr id="35" name="Rectangle: Rounded Corners 34">
              <a:extLst>
                <a:ext uri="{FF2B5EF4-FFF2-40B4-BE49-F238E27FC236}">
                  <a16:creationId xmlns:a16="http://schemas.microsoft.com/office/drawing/2014/main" id="{88CF1FA3-7CA5-6838-6D81-D537A703236A}"/>
                </a:ext>
              </a:extLst>
            </p:cNvPr>
            <p:cNvSpPr/>
            <p:nvPr/>
          </p:nvSpPr>
          <p:spPr>
            <a:xfrm>
              <a:off x="75767" y="1024857"/>
              <a:ext cx="3886632" cy="2026351"/>
            </a:xfrm>
            <a:prstGeom prst="roundRect">
              <a:avLst>
                <a:gd name="adj" fmla="val 6411"/>
              </a:avLst>
            </a:prstGeom>
            <a:solidFill>
              <a:schemeClr val="bg1"/>
            </a:solidFill>
            <a:ln w="952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latin typeface="Lato" panose="020F0502020204030203" pitchFamily="34" charset="0"/>
                <a:ea typeface="Lato" panose="020F0502020204030203" pitchFamily="34" charset="0"/>
                <a:cs typeface="Lato" panose="020F0502020204030203" pitchFamily="34" charset="0"/>
              </a:endParaRPr>
            </a:p>
          </p:txBody>
        </p:sp>
        <p:sp>
          <p:nvSpPr>
            <p:cNvPr id="36" name="Rectangle 35">
              <a:extLst>
                <a:ext uri="{FF2B5EF4-FFF2-40B4-BE49-F238E27FC236}">
                  <a16:creationId xmlns:a16="http://schemas.microsoft.com/office/drawing/2014/main" id="{8F192B86-5E45-769D-0D3E-BEE74F0828E8}"/>
                </a:ext>
              </a:extLst>
            </p:cNvPr>
            <p:cNvSpPr/>
            <p:nvPr/>
          </p:nvSpPr>
          <p:spPr>
            <a:xfrm>
              <a:off x="756193" y="1353308"/>
              <a:ext cx="3163348" cy="453571"/>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IN" sz="1400" b="1">
                  <a:latin typeface="Lato"/>
                </a:rPr>
                <a:t>Cost Predictability &amp;</a:t>
              </a:r>
            </a:p>
            <a:p>
              <a:pPr algn="r"/>
              <a:r>
                <a:rPr lang="en-IN" sz="1400" b="1">
                  <a:latin typeface="Lato"/>
                </a:rPr>
                <a:t> Efficiency</a:t>
              </a:r>
            </a:p>
          </p:txBody>
        </p:sp>
        <p:sp>
          <p:nvSpPr>
            <p:cNvPr id="37" name="Rectangle 36">
              <a:extLst>
                <a:ext uri="{FF2B5EF4-FFF2-40B4-BE49-F238E27FC236}">
                  <a16:creationId xmlns:a16="http://schemas.microsoft.com/office/drawing/2014/main" id="{F0D69B53-8FE7-1ABA-B578-2CCB3FBFDE95}"/>
                </a:ext>
              </a:extLst>
            </p:cNvPr>
            <p:cNvSpPr/>
            <p:nvPr/>
          </p:nvSpPr>
          <p:spPr>
            <a:xfrm>
              <a:off x="75766" y="2932049"/>
              <a:ext cx="3886632" cy="46267"/>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latin typeface="Lato" panose="020F0502020204030203" pitchFamily="34" charset="0"/>
                <a:ea typeface="Lato" panose="020F0502020204030203" pitchFamily="34" charset="0"/>
                <a:cs typeface="Lato" panose="020F0502020204030203" pitchFamily="34" charset="0"/>
              </a:endParaRPr>
            </a:p>
          </p:txBody>
        </p:sp>
        <p:sp>
          <p:nvSpPr>
            <p:cNvPr id="38" name="Octagon 37">
              <a:extLst>
                <a:ext uri="{FF2B5EF4-FFF2-40B4-BE49-F238E27FC236}">
                  <a16:creationId xmlns:a16="http://schemas.microsoft.com/office/drawing/2014/main" id="{F8F62E72-B39B-46D7-BCE8-245F4343CED5}"/>
                </a:ext>
              </a:extLst>
            </p:cNvPr>
            <p:cNvSpPr/>
            <p:nvPr/>
          </p:nvSpPr>
          <p:spPr>
            <a:xfrm>
              <a:off x="551633" y="1164167"/>
              <a:ext cx="642712" cy="642712"/>
            </a:xfrm>
            <a:prstGeom prst="octagon">
              <a:avLst/>
            </a:prstGeom>
            <a:solidFill>
              <a:schemeClr val="bg1"/>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kern="0" spc="80">
                  <a:solidFill>
                    <a:srgbClr val="0070C0"/>
                  </a:solidFill>
                  <a:latin typeface="Lato" panose="020F0502020204030203" pitchFamily="34" charset="0"/>
                  <a:ea typeface="Lato" panose="020F0502020204030203" pitchFamily="34" charset="0"/>
                  <a:cs typeface="Lato" panose="020F0502020204030203" pitchFamily="34" charset="0"/>
                </a:rPr>
                <a:t>📊</a:t>
              </a:r>
              <a:endParaRPr lang="en-US" sz="2000">
                <a:solidFill>
                  <a:srgbClr val="0070C0"/>
                </a:solidFill>
              </a:endParaRPr>
            </a:p>
          </p:txBody>
        </p:sp>
      </p:grpSp>
      <p:sp>
        <p:nvSpPr>
          <p:cNvPr id="34" name="TextBox 33">
            <a:extLst>
              <a:ext uri="{FF2B5EF4-FFF2-40B4-BE49-F238E27FC236}">
                <a16:creationId xmlns:a16="http://schemas.microsoft.com/office/drawing/2014/main" id="{EDD38FB0-6AE3-0C5F-9B17-79990A34D80A}"/>
              </a:ext>
            </a:extLst>
          </p:cNvPr>
          <p:cNvSpPr txBox="1"/>
          <p:nvPr/>
        </p:nvSpPr>
        <p:spPr>
          <a:xfrm>
            <a:off x="1672364" y="2504317"/>
            <a:ext cx="3724834" cy="1216102"/>
          </a:xfrm>
          <a:prstGeom prst="rect">
            <a:avLst/>
          </a:prstGeom>
          <a:noFill/>
        </p:spPr>
        <p:txBody>
          <a:bodyPr wrap="square" rtlCol="0" anchor="ctr">
            <a:spAutoFit/>
          </a:bodyPr>
          <a:lstStyle/>
          <a:p>
            <a:pPr marL="171450" indent="-171450">
              <a:lnSpc>
                <a:spcPct val="150000"/>
              </a:lnSpc>
              <a:buBlip>
                <a:blip r:embed="rId3"/>
              </a:buBlip>
            </a:pPr>
            <a:r>
              <a:rPr lang="en-US" sz="1000">
                <a:latin typeface="Lato" panose="020F0502020204030203" pitchFamily="34" charset="0"/>
                <a:ea typeface="Lato" panose="020F0502020204030203" pitchFamily="34" charset="0"/>
                <a:cs typeface="Lato" panose="020F0502020204030203" pitchFamily="34" charset="0"/>
              </a:rPr>
              <a:t>Fixed POD construct with clearly defined roles and capacity</a:t>
            </a:r>
          </a:p>
          <a:p>
            <a:pPr marL="171450" indent="-171450">
              <a:lnSpc>
                <a:spcPct val="150000"/>
              </a:lnSpc>
              <a:buBlip>
                <a:blip r:embed="rId3"/>
              </a:buBlip>
            </a:pPr>
            <a:r>
              <a:rPr lang="en-US" sz="1000">
                <a:latin typeface="Lato" panose="020F0502020204030203" pitchFamily="34" charset="0"/>
                <a:ea typeface="Lato" panose="020F0502020204030203" pitchFamily="34" charset="0"/>
                <a:cs typeface="Lato" panose="020F0502020204030203" pitchFamily="34" charset="0"/>
              </a:rPr>
              <a:t>Optimized utilization through long-term pod continuity</a:t>
            </a:r>
          </a:p>
          <a:p>
            <a:pPr marL="171450" indent="-171450">
              <a:lnSpc>
                <a:spcPct val="150000"/>
              </a:lnSpc>
              <a:buBlip>
                <a:blip r:embed="rId3"/>
              </a:buBlip>
            </a:pPr>
            <a:r>
              <a:rPr lang="en-US" sz="1000">
                <a:latin typeface="Lato" panose="020F0502020204030203" pitchFamily="34" charset="0"/>
                <a:ea typeface="Lato" panose="020F0502020204030203" pitchFamily="34" charset="0"/>
                <a:cs typeface="Lato" panose="020F0502020204030203" pitchFamily="34" charset="0"/>
              </a:rPr>
              <a:t>Reduced hiring, onboarding, and transition overheads</a:t>
            </a:r>
          </a:p>
          <a:p>
            <a:pPr marL="171450" indent="-171450">
              <a:lnSpc>
                <a:spcPct val="150000"/>
              </a:lnSpc>
              <a:buBlip>
                <a:blip r:embed="rId3"/>
              </a:buBlip>
            </a:pPr>
            <a:r>
              <a:rPr lang="en-US" sz="1000">
                <a:latin typeface="Lato" panose="020F0502020204030203" pitchFamily="34" charset="0"/>
                <a:ea typeface="Lato" panose="020F0502020204030203" pitchFamily="34" charset="0"/>
                <a:cs typeface="Lato" panose="020F0502020204030203" pitchFamily="34" charset="0"/>
              </a:rPr>
              <a:t>Transparent rate structure aligned to Ascend commercial model</a:t>
            </a:r>
          </a:p>
        </p:txBody>
      </p:sp>
      <p:sp>
        <p:nvSpPr>
          <p:cNvPr id="41" name="TextBox 40">
            <a:extLst>
              <a:ext uri="{FF2B5EF4-FFF2-40B4-BE49-F238E27FC236}">
                <a16:creationId xmlns:a16="http://schemas.microsoft.com/office/drawing/2014/main" id="{6A149E06-E24A-5DD2-27F0-07F6916EF3B9}"/>
              </a:ext>
            </a:extLst>
          </p:cNvPr>
          <p:cNvSpPr txBox="1"/>
          <p:nvPr/>
        </p:nvSpPr>
        <p:spPr>
          <a:xfrm>
            <a:off x="1742583" y="779249"/>
            <a:ext cx="8706835" cy="738664"/>
          </a:xfrm>
          <a:prstGeom prst="rect">
            <a:avLst/>
          </a:prstGeom>
          <a:noFill/>
        </p:spPr>
        <p:txBody>
          <a:bodyPr wrap="square">
            <a:spAutoFit/>
          </a:bodyPr>
          <a:lstStyle/>
          <a:p>
            <a:pPr algn="ctr">
              <a:buNone/>
            </a:pPr>
            <a:r>
              <a:rPr lang="en-US" sz="1400" b="1">
                <a:solidFill>
                  <a:schemeClr val="tx2">
                    <a:lumMod val="75000"/>
                    <a:lumOff val="25000"/>
                  </a:schemeClr>
                </a:solidFill>
                <a:latin typeface="Lato" panose="020F0502020204030203" pitchFamily="34" charset="0"/>
                <a:ea typeface="Lato" panose="020F0502020204030203" pitchFamily="34" charset="0"/>
                <a:cs typeface="Lato" panose="020F0502020204030203" pitchFamily="34" charset="0"/>
              </a:rPr>
              <a:t>Innominds’ POD-based delivery model aligns with Deloitte’s Ascend program by providing a scalable, outcome-driven staffing construct with predictable delivery, flexible capacity management, and strong governance across pods.</a:t>
            </a:r>
          </a:p>
        </p:txBody>
      </p:sp>
      <p:grpSp>
        <p:nvGrpSpPr>
          <p:cNvPr id="10" name="Group 9">
            <a:extLst>
              <a:ext uri="{FF2B5EF4-FFF2-40B4-BE49-F238E27FC236}">
                <a16:creationId xmlns:a16="http://schemas.microsoft.com/office/drawing/2014/main" id="{A5C338F4-CB6E-082C-6710-9AB239ACD714}"/>
              </a:ext>
            </a:extLst>
          </p:cNvPr>
          <p:cNvGrpSpPr/>
          <p:nvPr/>
        </p:nvGrpSpPr>
        <p:grpSpPr>
          <a:xfrm>
            <a:off x="3703668" y="4117602"/>
            <a:ext cx="3839272" cy="2394547"/>
            <a:chOff x="75766" y="1024857"/>
            <a:chExt cx="3886633" cy="2026351"/>
          </a:xfrm>
        </p:grpSpPr>
        <p:sp>
          <p:nvSpPr>
            <p:cNvPr id="11" name="Rectangle: Rounded Corners 10">
              <a:extLst>
                <a:ext uri="{FF2B5EF4-FFF2-40B4-BE49-F238E27FC236}">
                  <a16:creationId xmlns:a16="http://schemas.microsoft.com/office/drawing/2014/main" id="{3BCDAC5D-956A-FDAA-132F-1DBED9D9D5FD}"/>
                </a:ext>
              </a:extLst>
            </p:cNvPr>
            <p:cNvSpPr/>
            <p:nvPr/>
          </p:nvSpPr>
          <p:spPr>
            <a:xfrm>
              <a:off x="75767" y="1024857"/>
              <a:ext cx="3886632" cy="2026351"/>
            </a:xfrm>
            <a:prstGeom prst="roundRect">
              <a:avLst>
                <a:gd name="adj" fmla="val 6411"/>
              </a:avLst>
            </a:prstGeom>
            <a:solidFill>
              <a:schemeClr val="bg1"/>
            </a:solidFill>
            <a:ln w="952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latin typeface="Lato" panose="020F0502020204030203" pitchFamily="34" charset="0"/>
                <a:ea typeface="Lato" panose="020F0502020204030203" pitchFamily="34" charset="0"/>
                <a:cs typeface="Lato" panose="020F0502020204030203" pitchFamily="34" charset="0"/>
              </a:endParaRPr>
            </a:p>
          </p:txBody>
        </p:sp>
        <p:sp>
          <p:nvSpPr>
            <p:cNvPr id="12" name="Rectangle 11">
              <a:extLst>
                <a:ext uri="{FF2B5EF4-FFF2-40B4-BE49-F238E27FC236}">
                  <a16:creationId xmlns:a16="http://schemas.microsoft.com/office/drawing/2014/main" id="{DD3D41FE-9F23-38A9-FDF0-5E6D170C95F2}"/>
                </a:ext>
              </a:extLst>
            </p:cNvPr>
            <p:cNvSpPr/>
            <p:nvPr/>
          </p:nvSpPr>
          <p:spPr>
            <a:xfrm>
              <a:off x="756193" y="1353308"/>
              <a:ext cx="3163348" cy="453571"/>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IN" sz="1400" b="1">
                  <a:latin typeface="Lato"/>
                </a:rPr>
                <a:t>Delivery Governance &amp; </a:t>
              </a:r>
            </a:p>
            <a:p>
              <a:pPr algn="r"/>
              <a:r>
                <a:rPr lang="en-IN" sz="1400" b="1">
                  <a:latin typeface="Lato"/>
                </a:rPr>
                <a:t>Control</a:t>
              </a:r>
            </a:p>
          </p:txBody>
        </p:sp>
        <p:sp>
          <p:nvSpPr>
            <p:cNvPr id="13" name="Rectangle 12">
              <a:extLst>
                <a:ext uri="{FF2B5EF4-FFF2-40B4-BE49-F238E27FC236}">
                  <a16:creationId xmlns:a16="http://schemas.microsoft.com/office/drawing/2014/main" id="{913D7183-6C45-D7A2-BE1B-AF19345387C5}"/>
                </a:ext>
              </a:extLst>
            </p:cNvPr>
            <p:cNvSpPr/>
            <p:nvPr/>
          </p:nvSpPr>
          <p:spPr>
            <a:xfrm>
              <a:off x="75766" y="2932049"/>
              <a:ext cx="3886632" cy="46267"/>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latin typeface="Lato" panose="020F0502020204030203" pitchFamily="34" charset="0"/>
                <a:ea typeface="Lato" panose="020F0502020204030203" pitchFamily="34" charset="0"/>
                <a:cs typeface="Lato" panose="020F0502020204030203" pitchFamily="34" charset="0"/>
              </a:endParaRPr>
            </a:p>
          </p:txBody>
        </p:sp>
        <p:sp>
          <p:nvSpPr>
            <p:cNvPr id="14" name="Octagon 13">
              <a:extLst>
                <a:ext uri="{FF2B5EF4-FFF2-40B4-BE49-F238E27FC236}">
                  <a16:creationId xmlns:a16="http://schemas.microsoft.com/office/drawing/2014/main" id="{DB9C4EAB-2126-3584-AECB-9EC4416CA352}"/>
                </a:ext>
              </a:extLst>
            </p:cNvPr>
            <p:cNvSpPr/>
            <p:nvPr/>
          </p:nvSpPr>
          <p:spPr>
            <a:xfrm>
              <a:off x="551633" y="1164167"/>
              <a:ext cx="642712" cy="642712"/>
            </a:xfrm>
            <a:prstGeom prst="octagon">
              <a:avLst/>
            </a:prstGeom>
            <a:solidFill>
              <a:schemeClr val="bg1"/>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grpSp>
      <p:sp>
        <p:nvSpPr>
          <p:cNvPr id="15" name="TextBox 14">
            <a:extLst>
              <a:ext uri="{FF2B5EF4-FFF2-40B4-BE49-F238E27FC236}">
                <a16:creationId xmlns:a16="http://schemas.microsoft.com/office/drawing/2014/main" id="{CAD38FA9-D3C0-1A9F-E767-C3E14BCF5358}"/>
              </a:ext>
            </a:extLst>
          </p:cNvPr>
          <p:cNvSpPr txBox="1"/>
          <p:nvPr/>
        </p:nvSpPr>
        <p:spPr>
          <a:xfrm>
            <a:off x="3844944" y="5161790"/>
            <a:ext cx="3724834" cy="985270"/>
          </a:xfrm>
          <a:prstGeom prst="rect">
            <a:avLst/>
          </a:prstGeom>
          <a:noFill/>
        </p:spPr>
        <p:txBody>
          <a:bodyPr wrap="square" rtlCol="0" anchor="ctr">
            <a:spAutoFit/>
          </a:bodyPr>
          <a:lstStyle/>
          <a:p>
            <a:pPr marL="171450" indent="-171450">
              <a:lnSpc>
                <a:spcPct val="150000"/>
              </a:lnSpc>
              <a:buBlip>
                <a:blip r:embed="rId3"/>
              </a:buBlip>
            </a:pPr>
            <a:r>
              <a:rPr lang="en-US" sz="1000">
                <a:latin typeface="Lato" panose="020F0502020204030203" pitchFamily="34" charset="0"/>
                <a:ea typeface="Lato" panose="020F0502020204030203" pitchFamily="34" charset="0"/>
                <a:cs typeface="Lato" panose="020F0502020204030203" pitchFamily="34" charset="0"/>
              </a:rPr>
              <a:t>POD-level ownership with clear accountability</a:t>
            </a:r>
          </a:p>
          <a:p>
            <a:pPr marL="171450" indent="-171450">
              <a:lnSpc>
                <a:spcPct val="150000"/>
              </a:lnSpc>
              <a:buBlip>
                <a:blip r:embed="rId3"/>
              </a:buBlip>
            </a:pPr>
            <a:r>
              <a:rPr lang="en-US" sz="1000">
                <a:latin typeface="Lato" panose="020F0502020204030203" pitchFamily="34" charset="0"/>
                <a:ea typeface="Lato" panose="020F0502020204030203" pitchFamily="34" charset="0"/>
                <a:cs typeface="Lato" panose="020F0502020204030203" pitchFamily="34" charset="0"/>
              </a:rPr>
              <a:t>Agile delivery aligned to sprint-based execution</a:t>
            </a:r>
          </a:p>
          <a:p>
            <a:pPr marL="171450" indent="-171450">
              <a:lnSpc>
                <a:spcPct val="150000"/>
              </a:lnSpc>
              <a:buBlip>
                <a:blip r:embed="rId3"/>
              </a:buBlip>
            </a:pPr>
            <a:r>
              <a:rPr lang="en-US" sz="1000">
                <a:latin typeface="Lato" panose="020F0502020204030203" pitchFamily="34" charset="0"/>
                <a:ea typeface="Lato" panose="020F0502020204030203" pitchFamily="34" charset="0"/>
                <a:cs typeface="Lato" panose="020F0502020204030203" pitchFamily="34" charset="0"/>
              </a:rPr>
              <a:t>Regular status reporting and sprint reviews</a:t>
            </a:r>
          </a:p>
          <a:p>
            <a:pPr marL="171450" indent="-171450">
              <a:lnSpc>
                <a:spcPct val="150000"/>
              </a:lnSpc>
              <a:buBlip>
                <a:blip r:embed="rId3"/>
              </a:buBlip>
            </a:pPr>
            <a:r>
              <a:rPr lang="en-US" sz="1000">
                <a:latin typeface="Lato" panose="020F0502020204030203" pitchFamily="34" charset="0"/>
                <a:ea typeface="Lato" panose="020F0502020204030203" pitchFamily="34" charset="0"/>
                <a:cs typeface="Lato" panose="020F0502020204030203" pitchFamily="34" charset="0"/>
              </a:rPr>
              <a:t>Vendor-managed staffing, backfill, and ramp transitions</a:t>
            </a:r>
          </a:p>
        </p:txBody>
      </p:sp>
      <p:grpSp>
        <p:nvGrpSpPr>
          <p:cNvPr id="16" name="Group 15">
            <a:extLst>
              <a:ext uri="{FF2B5EF4-FFF2-40B4-BE49-F238E27FC236}">
                <a16:creationId xmlns:a16="http://schemas.microsoft.com/office/drawing/2014/main" id="{86FE021D-4083-04CC-08D9-40388B7532FF}"/>
              </a:ext>
            </a:extLst>
          </p:cNvPr>
          <p:cNvGrpSpPr/>
          <p:nvPr/>
        </p:nvGrpSpPr>
        <p:grpSpPr>
          <a:xfrm>
            <a:off x="5539586" y="1575545"/>
            <a:ext cx="3839272" cy="2394547"/>
            <a:chOff x="75766" y="1024857"/>
            <a:chExt cx="3886633" cy="2026351"/>
          </a:xfrm>
        </p:grpSpPr>
        <p:sp>
          <p:nvSpPr>
            <p:cNvPr id="17" name="Rectangle: Rounded Corners 16">
              <a:extLst>
                <a:ext uri="{FF2B5EF4-FFF2-40B4-BE49-F238E27FC236}">
                  <a16:creationId xmlns:a16="http://schemas.microsoft.com/office/drawing/2014/main" id="{0EAE62E5-79F0-3D3A-0AC9-A982F36E1607}"/>
                </a:ext>
              </a:extLst>
            </p:cNvPr>
            <p:cNvSpPr/>
            <p:nvPr/>
          </p:nvSpPr>
          <p:spPr>
            <a:xfrm>
              <a:off x="75767" y="1024857"/>
              <a:ext cx="3886632" cy="2026351"/>
            </a:xfrm>
            <a:prstGeom prst="roundRect">
              <a:avLst>
                <a:gd name="adj" fmla="val 6411"/>
              </a:avLst>
            </a:prstGeom>
            <a:solidFill>
              <a:schemeClr val="bg1"/>
            </a:solidFill>
            <a:ln w="952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latin typeface="Lato" panose="020F0502020204030203" pitchFamily="34" charset="0"/>
                <a:ea typeface="Lato" panose="020F0502020204030203" pitchFamily="34" charset="0"/>
                <a:cs typeface="Lato" panose="020F0502020204030203" pitchFamily="34" charset="0"/>
              </a:endParaRPr>
            </a:p>
          </p:txBody>
        </p:sp>
        <p:sp>
          <p:nvSpPr>
            <p:cNvPr id="18" name="Rectangle 17">
              <a:extLst>
                <a:ext uri="{FF2B5EF4-FFF2-40B4-BE49-F238E27FC236}">
                  <a16:creationId xmlns:a16="http://schemas.microsoft.com/office/drawing/2014/main" id="{43C188F1-9D52-FED1-2BAC-3B8881802D61}"/>
                </a:ext>
              </a:extLst>
            </p:cNvPr>
            <p:cNvSpPr/>
            <p:nvPr/>
          </p:nvSpPr>
          <p:spPr>
            <a:xfrm>
              <a:off x="756193" y="1353308"/>
              <a:ext cx="3163348" cy="453571"/>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IN" sz="1400" b="1">
                  <a:latin typeface="Lato"/>
                </a:rPr>
                <a:t>Scalable &amp; Flexible </a:t>
              </a:r>
            </a:p>
            <a:p>
              <a:pPr algn="r"/>
              <a:r>
                <a:rPr lang="en-IN" sz="1400" b="1">
                  <a:latin typeface="Lato"/>
                </a:rPr>
                <a:t>POD Staffing</a:t>
              </a:r>
            </a:p>
          </p:txBody>
        </p:sp>
        <p:sp>
          <p:nvSpPr>
            <p:cNvPr id="19" name="Rectangle 18">
              <a:extLst>
                <a:ext uri="{FF2B5EF4-FFF2-40B4-BE49-F238E27FC236}">
                  <a16:creationId xmlns:a16="http://schemas.microsoft.com/office/drawing/2014/main" id="{374D8BC4-FB36-28BA-3F0E-498565506BDB}"/>
                </a:ext>
              </a:extLst>
            </p:cNvPr>
            <p:cNvSpPr/>
            <p:nvPr/>
          </p:nvSpPr>
          <p:spPr>
            <a:xfrm>
              <a:off x="75766" y="2932049"/>
              <a:ext cx="3886632" cy="46267"/>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latin typeface="Lato" panose="020F0502020204030203" pitchFamily="34" charset="0"/>
                <a:ea typeface="Lato" panose="020F0502020204030203" pitchFamily="34" charset="0"/>
                <a:cs typeface="Lato" panose="020F0502020204030203" pitchFamily="34" charset="0"/>
              </a:endParaRPr>
            </a:p>
          </p:txBody>
        </p:sp>
        <p:sp>
          <p:nvSpPr>
            <p:cNvPr id="20" name="Octagon 19">
              <a:extLst>
                <a:ext uri="{FF2B5EF4-FFF2-40B4-BE49-F238E27FC236}">
                  <a16:creationId xmlns:a16="http://schemas.microsoft.com/office/drawing/2014/main" id="{B5D146AF-A22E-C604-C39A-15BCA9D633F9}"/>
                </a:ext>
              </a:extLst>
            </p:cNvPr>
            <p:cNvSpPr/>
            <p:nvPr/>
          </p:nvSpPr>
          <p:spPr>
            <a:xfrm>
              <a:off x="551633" y="1164167"/>
              <a:ext cx="642712" cy="642712"/>
            </a:xfrm>
            <a:prstGeom prst="octagon">
              <a:avLst/>
            </a:prstGeom>
            <a:solidFill>
              <a:schemeClr val="bg1"/>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kern="0" spc="990">
                  <a:latin typeface="Lato" panose="020F0502020204030203" pitchFamily="34" charset="0"/>
                  <a:ea typeface="Lato" panose="020F0502020204030203" pitchFamily="34" charset="0"/>
                  <a:cs typeface="Lato" panose="020F0502020204030203" pitchFamily="34" charset="0"/>
                </a:rPr>
                <a:t>🧊</a:t>
              </a:r>
              <a:endParaRPr lang="en-US" sz="2000"/>
            </a:p>
          </p:txBody>
        </p:sp>
      </p:grpSp>
      <p:sp>
        <p:nvSpPr>
          <p:cNvPr id="21" name="TextBox 20">
            <a:extLst>
              <a:ext uri="{FF2B5EF4-FFF2-40B4-BE49-F238E27FC236}">
                <a16:creationId xmlns:a16="http://schemas.microsoft.com/office/drawing/2014/main" id="{1CF6ACB2-AD67-56CC-AC98-AFEAF48CF1F1}"/>
              </a:ext>
            </a:extLst>
          </p:cNvPr>
          <p:cNvSpPr txBox="1"/>
          <p:nvPr/>
        </p:nvSpPr>
        <p:spPr>
          <a:xfrm>
            <a:off x="5680862" y="2619733"/>
            <a:ext cx="3724834" cy="985270"/>
          </a:xfrm>
          <a:prstGeom prst="rect">
            <a:avLst/>
          </a:prstGeom>
          <a:noFill/>
        </p:spPr>
        <p:txBody>
          <a:bodyPr wrap="square" rtlCol="0" anchor="ctr">
            <a:spAutoFit/>
          </a:bodyPr>
          <a:lstStyle/>
          <a:p>
            <a:pPr marL="171450" indent="-171450">
              <a:lnSpc>
                <a:spcPct val="150000"/>
              </a:lnSpc>
              <a:buBlip>
                <a:blip r:embed="rId3"/>
              </a:buBlip>
            </a:pPr>
            <a:r>
              <a:rPr lang="en-US" sz="1000">
                <a:latin typeface="Lato" panose="020F0502020204030203" pitchFamily="34" charset="0"/>
                <a:ea typeface="Lato" panose="020F0502020204030203" pitchFamily="34" charset="0"/>
                <a:cs typeface="Lato" panose="020F0502020204030203" pitchFamily="34" charset="0"/>
              </a:rPr>
              <a:t>Standardized PODs enable rapid scale-up / scale-down</a:t>
            </a:r>
          </a:p>
          <a:p>
            <a:pPr marL="171450" indent="-171450">
              <a:lnSpc>
                <a:spcPct val="150000"/>
              </a:lnSpc>
              <a:buBlip>
                <a:blip r:embed="rId3"/>
              </a:buBlip>
            </a:pPr>
            <a:r>
              <a:rPr lang="en-US" sz="1000">
                <a:latin typeface="Lato" panose="020F0502020204030203" pitchFamily="34" charset="0"/>
                <a:ea typeface="Lato" panose="020F0502020204030203" pitchFamily="34" charset="0"/>
                <a:cs typeface="Lato" panose="020F0502020204030203" pitchFamily="34" charset="0"/>
              </a:rPr>
              <a:t>Consistent skill mix across pods for repeatable delivery</a:t>
            </a:r>
          </a:p>
          <a:p>
            <a:pPr marL="171450" indent="-171450">
              <a:lnSpc>
                <a:spcPct val="150000"/>
              </a:lnSpc>
              <a:buBlip>
                <a:blip r:embed="rId3"/>
              </a:buBlip>
            </a:pPr>
            <a:r>
              <a:rPr lang="en-US" sz="1000">
                <a:latin typeface="Lato" panose="020F0502020204030203" pitchFamily="34" charset="0"/>
                <a:ea typeface="Lato" panose="020F0502020204030203" pitchFamily="34" charset="0"/>
                <a:cs typeface="Lato" panose="020F0502020204030203" pitchFamily="34" charset="0"/>
              </a:rPr>
              <a:t>Resource continuity ensures knowledge retention</a:t>
            </a:r>
          </a:p>
          <a:p>
            <a:pPr marL="171450" indent="-171450">
              <a:lnSpc>
                <a:spcPct val="150000"/>
              </a:lnSpc>
              <a:buBlip>
                <a:blip r:embed="rId3"/>
              </a:buBlip>
            </a:pPr>
            <a:r>
              <a:rPr lang="en-US" sz="1000">
                <a:latin typeface="Lato" panose="020F0502020204030203" pitchFamily="34" charset="0"/>
                <a:ea typeface="Lato" panose="020F0502020204030203" pitchFamily="34" charset="0"/>
                <a:cs typeface="Lato" panose="020F0502020204030203" pitchFamily="34" charset="0"/>
              </a:rPr>
              <a:t>Flexibility to deploy PODs across multiple workstreams</a:t>
            </a:r>
          </a:p>
        </p:txBody>
      </p:sp>
      <p:grpSp>
        <p:nvGrpSpPr>
          <p:cNvPr id="53" name="Group 52">
            <a:extLst>
              <a:ext uri="{FF2B5EF4-FFF2-40B4-BE49-F238E27FC236}">
                <a16:creationId xmlns:a16="http://schemas.microsoft.com/office/drawing/2014/main" id="{49999B38-8E0D-0509-7517-2ED322406C8A}"/>
              </a:ext>
            </a:extLst>
          </p:cNvPr>
          <p:cNvGrpSpPr/>
          <p:nvPr/>
        </p:nvGrpSpPr>
        <p:grpSpPr>
          <a:xfrm>
            <a:off x="7722799" y="4117598"/>
            <a:ext cx="3839272" cy="2394547"/>
            <a:chOff x="75766" y="1024857"/>
            <a:chExt cx="3886633" cy="2026351"/>
          </a:xfrm>
        </p:grpSpPr>
        <p:sp>
          <p:nvSpPr>
            <p:cNvPr id="54" name="Rectangle: Rounded Corners 53">
              <a:extLst>
                <a:ext uri="{FF2B5EF4-FFF2-40B4-BE49-F238E27FC236}">
                  <a16:creationId xmlns:a16="http://schemas.microsoft.com/office/drawing/2014/main" id="{1F451441-D2AF-014F-B99E-2D3AE9C5709E}"/>
                </a:ext>
              </a:extLst>
            </p:cNvPr>
            <p:cNvSpPr/>
            <p:nvPr/>
          </p:nvSpPr>
          <p:spPr>
            <a:xfrm>
              <a:off x="75767" y="1024857"/>
              <a:ext cx="3886632" cy="2026351"/>
            </a:xfrm>
            <a:prstGeom prst="roundRect">
              <a:avLst>
                <a:gd name="adj" fmla="val 6411"/>
              </a:avLst>
            </a:prstGeom>
            <a:solidFill>
              <a:schemeClr val="bg1"/>
            </a:solidFill>
            <a:ln w="952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latin typeface="Lato" panose="020F0502020204030203" pitchFamily="34" charset="0"/>
                <a:ea typeface="Lato" panose="020F0502020204030203" pitchFamily="34" charset="0"/>
                <a:cs typeface="Lato" panose="020F0502020204030203" pitchFamily="34" charset="0"/>
              </a:endParaRPr>
            </a:p>
          </p:txBody>
        </p:sp>
        <p:sp>
          <p:nvSpPr>
            <p:cNvPr id="55" name="Rectangle 54">
              <a:extLst>
                <a:ext uri="{FF2B5EF4-FFF2-40B4-BE49-F238E27FC236}">
                  <a16:creationId xmlns:a16="http://schemas.microsoft.com/office/drawing/2014/main" id="{FAC1C902-EC74-DAB1-C109-09DF180C4896}"/>
                </a:ext>
              </a:extLst>
            </p:cNvPr>
            <p:cNvSpPr/>
            <p:nvPr/>
          </p:nvSpPr>
          <p:spPr>
            <a:xfrm>
              <a:off x="756193" y="1353308"/>
              <a:ext cx="3163348" cy="453571"/>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IN" sz="1400" b="1">
                  <a:latin typeface="Lato"/>
                </a:rPr>
                <a:t>Operational Alignment </a:t>
              </a:r>
            </a:p>
            <a:p>
              <a:pPr algn="r"/>
              <a:r>
                <a:rPr lang="en-IN" sz="1400" b="1">
                  <a:latin typeface="Lato"/>
                </a:rPr>
                <a:t>with Deloitte</a:t>
              </a:r>
            </a:p>
          </p:txBody>
        </p:sp>
        <p:sp>
          <p:nvSpPr>
            <p:cNvPr id="56" name="Rectangle 55">
              <a:extLst>
                <a:ext uri="{FF2B5EF4-FFF2-40B4-BE49-F238E27FC236}">
                  <a16:creationId xmlns:a16="http://schemas.microsoft.com/office/drawing/2014/main" id="{7E35D57B-D7E8-8DC6-8FAF-57FD62D39060}"/>
                </a:ext>
              </a:extLst>
            </p:cNvPr>
            <p:cNvSpPr/>
            <p:nvPr/>
          </p:nvSpPr>
          <p:spPr>
            <a:xfrm>
              <a:off x="75766" y="2932049"/>
              <a:ext cx="3886632" cy="46267"/>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latin typeface="Lato" panose="020F0502020204030203" pitchFamily="34" charset="0"/>
                <a:ea typeface="Lato" panose="020F0502020204030203" pitchFamily="34" charset="0"/>
                <a:cs typeface="Lato" panose="020F0502020204030203" pitchFamily="34" charset="0"/>
              </a:endParaRPr>
            </a:p>
          </p:txBody>
        </p:sp>
        <p:sp>
          <p:nvSpPr>
            <p:cNvPr id="57" name="Octagon 56">
              <a:extLst>
                <a:ext uri="{FF2B5EF4-FFF2-40B4-BE49-F238E27FC236}">
                  <a16:creationId xmlns:a16="http://schemas.microsoft.com/office/drawing/2014/main" id="{7C505DE1-07C6-910F-3FC7-EB352FF5E874}"/>
                </a:ext>
              </a:extLst>
            </p:cNvPr>
            <p:cNvSpPr/>
            <p:nvPr/>
          </p:nvSpPr>
          <p:spPr>
            <a:xfrm>
              <a:off x="551633" y="1164167"/>
              <a:ext cx="642712" cy="642712"/>
            </a:xfrm>
            <a:prstGeom prst="octagon">
              <a:avLst/>
            </a:prstGeom>
            <a:solidFill>
              <a:schemeClr val="bg1"/>
            </a:solid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kern="0" spc="80">
                  <a:latin typeface="Lato" panose="020F0502020204030203" pitchFamily="34" charset="0"/>
                  <a:ea typeface="Lato" panose="020F0502020204030203" pitchFamily="34" charset="0"/>
                  <a:cs typeface="Lato" panose="020F0502020204030203" pitchFamily="34" charset="0"/>
                </a:rPr>
                <a:t>🔄</a:t>
              </a:r>
              <a:endParaRPr lang="en-US" sz="2000"/>
            </a:p>
          </p:txBody>
        </p:sp>
      </p:grpSp>
      <p:sp>
        <p:nvSpPr>
          <p:cNvPr id="58" name="TextBox 57">
            <a:extLst>
              <a:ext uri="{FF2B5EF4-FFF2-40B4-BE49-F238E27FC236}">
                <a16:creationId xmlns:a16="http://schemas.microsoft.com/office/drawing/2014/main" id="{92B1EBB5-0D15-4D62-60A9-87A7C91F6333}"/>
              </a:ext>
            </a:extLst>
          </p:cNvPr>
          <p:cNvSpPr txBox="1"/>
          <p:nvPr/>
        </p:nvSpPr>
        <p:spPr>
          <a:xfrm>
            <a:off x="7749638" y="5143970"/>
            <a:ext cx="3839271" cy="985270"/>
          </a:xfrm>
          <a:prstGeom prst="rect">
            <a:avLst/>
          </a:prstGeom>
          <a:noFill/>
        </p:spPr>
        <p:txBody>
          <a:bodyPr wrap="square" rtlCol="0" anchor="ctr">
            <a:spAutoFit/>
          </a:bodyPr>
          <a:lstStyle/>
          <a:p>
            <a:pPr marL="171450" indent="-171450">
              <a:lnSpc>
                <a:spcPct val="150000"/>
              </a:lnSpc>
              <a:buBlip>
                <a:blip r:embed="rId3"/>
              </a:buBlip>
            </a:pPr>
            <a:r>
              <a:rPr lang="en-US" sz="1000">
                <a:latin typeface="Lato" panose="020F0502020204030203" pitchFamily="34" charset="0"/>
                <a:ea typeface="Lato" panose="020F0502020204030203" pitchFamily="34" charset="0"/>
                <a:cs typeface="Lato" panose="020F0502020204030203" pitchFamily="34" charset="0"/>
              </a:rPr>
              <a:t>Resources aligned to Deloitte tools, processes, and compliance</a:t>
            </a:r>
          </a:p>
          <a:p>
            <a:pPr marL="171450" indent="-171450">
              <a:lnSpc>
                <a:spcPct val="150000"/>
              </a:lnSpc>
              <a:buBlip>
                <a:blip r:embed="rId3"/>
              </a:buBlip>
            </a:pPr>
            <a:r>
              <a:rPr lang="en-US" sz="1000">
                <a:latin typeface="Lato" panose="020F0502020204030203" pitchFamily="34" charset="0"/>
                <a:ea typeface="Lato" panose="020F0502020204030203" pitchFamily="34" charset="0"/>
                <a:cs typeface="Lato" panose="020F0502020204030203" pitchFamily="34" charset="0"/>
              </a:rPr>
              <a:t>Seamless collaboration with Deloitte Product Owner &amp; SMEs</a:t>
            </a:r>
          </a:p>
          <a:p>
            <a:pPr marL="171450" indent="-171450">
              <a:lnSpc>
                <a:spcPct val="150000"/>
              </a:lnSpc>
              <a:buBlip>
                <a:blip r:embed="rId3"/>
              </a:buBlip>
            </a:pPr>
            <a:r>
              <a:rPr lang="en-US" sz="1000">
                <a:latin typeface="Lato" panose="020F0502020204030203" pitchFamily="34" charset="0"/>
                <a:ea typeface="Lato" panose="020F0502020204030203" pitchFamily="34" charset="0"/>
                <a:cs typeface="Lato" panose="020F0502020204030203" pitchFamily="34" charset="0"/>
              </a:rPr>
              <a:t>Centralized vendor responsibility for delivery execution</a:t>
            </a:r>
          </a:p>
          <a:p>
            <a:pPr marL="171450" indent="-171450">
              <a:lnSpc>
                <a:spcPct val="150000"/>
              </a:lnSpc>
              <a:buBlip>
                <a:blip r:embed="rId3"/>
              </a:buBlip>
            </a:pPr>
            <a:r>
              <a:rPr lang="en-US" sz="1000">
                <a:latin typeface="Lato" panose="020F0502020204030203" pitchFamily="34" charset="0"/>
                <a:ea typeface="Lato" panose="020F0502020204030203" pitchFamily="34" charset="0"/>
                <a:cs typeface="Lato" panose="020F0502020204030203" pitchFamily="34" charset="0"/>
              </a:rPr>
              <a:t>Supports multi-pod operating model under Ascend</a:t>
            </a:r>
          </a:p>
        </p:txBody>
      </p:sp>
      <p:pic>
        <p:nvPicPr>
          <p:cNvPr id="59" name="Picture 58">
            <a:extLst>
              <a:ext uri="{FF2B5EF4-FFF2-40B4-BE49-F238E27FC236}">
                <a16:creationId xmlns:a16="http://schemas.microsoft.com/office/drawing/2014/main" id="{7F1A1C17-B724-501D-0622-F962000AD65F}"/>
              </a:ext>
            </a:extLst>
          </p:cNvPr>
          <p:cNvPicPr>
            <a:picLocks noChangeAspect="1"/>
          </p:cNvPicPr>
          <p:nvPr/>
        </p:nvPicPr>
        <p:blipFill>
          <a:blip r:embed="rId4"/>
          <a:stretch>
            <a:fillRect/>
          </a:stretch>
        </p:blipFill>
        <p:spPr>
          <a:xfrm>
            <a:off x="91794" y="4241374"/>
            <a:ext cx="3510841" cy="1858681"/>
          </a:xfrm>
          <a:prstGeom prst="rect">
            <a:avLst/>
          </a:prstGeom>
        </p:spPr>
      </p:pic>
      <p:pic>
        <p:nvPicPr>
          <p:cNvPr id="61" name="Graphic 60" descr="Steering Wheel outline">
            <a:extLst>
              <a:ext uri="{FF2B5EF4-FFF2-40B4-BE49-F238E27FC236}">
                <a16:creationId xmlns:a16="http://schemas.microsoft.com/office/drawing/2014/main" id="{8D11109A-1E87-F005-E258-31239C5D2EC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05749" y="4483881"/>
            <a:ext cx="370854" cy="370854"/>
          </a:xfrm>
          <a:prstGeom prst="ellipse">
            <a:avLst/>
          </a:prstGeom>
        </p:spPr>
      </p:pic>
    </p:spTree>
    <p:extLst>
      <p:ext uri="{BB962C8B-B14F-4D97-AF65-F5344CB8AC3E}">
        <p14:creationId xmlns:p14="http://schemas.microsoft.com/office/powerpoint/2010/main" val="18024885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BD747-C929-FF9D-7B60-CEDD4C0A3E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5196DE-A1F0-9C71-AAC5-4B15A2368FE6}"/>
              </a:ext>
            </a:extLst>
          </p:cNvPr>
          <p:cNvSpPr>
            <a:spLocks noGrp="1"/>
          </p:cNvSpPr>
          <p:nvPr>
            <p:ph type="title"/>
          </p:nvPr>
        </p:nvSpPr>
        <p:spPr/>
        <p:txBody>
          <a:bodyPr>
            <a:normAutofit/>
          </a:bodyPr>
          <a:lstStyle/>
          <a:p>
            <a:r>
              <a:rPr lang="en-US"/>
              <a:t>Business Objectives &amp; Deloitte Needs</a:t>
            </a:r>
            <a:endParaRPr lang="en-US" sz="2800" b="1">
              <a:solidFill>
                <a:srgbClr val="E44C25"/>
              </a:solidFill>
              <a:latin typeface="Roboto" panose="02000000000000000000" pitchFamily="2" charset="0"/>
              <a:ea typeface="Roboto" panose="02000000000000000000" pitchFamily="2" charset="0"/>
              <a:cs typeface="+mn-cs"/>
            </a:endParaRPr>
          </a:p>
        </p:txBody>
      </p:sp>
      <p:grpSp>
        <p:nvGrpSpPr>
          <p:cNvPr id="29" name="Group 28">
            <a:extLst>
              <a:ext uri="{FF2B5EF4-FFF2-40B4-BE49-F238E27FC236}">
                <a16:creationId xmlns:a16="http://schemas.microsoft.com/office/drawing/2014/main" id="{38F9AA82-FFDA-22CB-57B2-203224AE8B7C}"/>
              </a:ext>
            </a:extLst>
          </p:cNvPr>
          <p:cNvGrpSpPr/>
          <p:nvPr/>
        </p:nvGrpSpPr>
        <p:grpSpPr>
          <a:xfrm>
            <a:off x="1148445" y="1126669"/>
            <a:ext cx="9895111" cy="5263499"/>
            <a:chOff x="489860" y="1126669"/>
            <a:chExt cx="9895111" cy="5263499"/>
          </a:xfrm>
        </p:grpSpPr>
        <p:grpSp>
          <p:nvGrpSpPr>
            <p:cNvPr id="11" name="Group 10">
              <a:extLst>
                <a:ext uri="{FF2B5EF4-FFF2-40B4-BE49-F238E27FC236}">
                  <a16:creationId xmlns:a16="http://schemas.microsoft.com/office/drawing/2014/main" id="{EB18F1F5-815D-F242-02AD-CD16D70D55BD}"/>
                </a:ext>
              </a:extLst>
            </p:cNvPr>
            <p:cNvGrpSpPr/>
            <p:nvPr/>
          </p:nvGrpSpPr>
          <p:grpSpPr>
            <a:xfrm>
              <a:off x="489860" y="1126669"/>
              <a:ext cx="4811484" cy="5263499"/>
              <a:chOff x="489860" y="1126669"/>
              <a:chExt cx="4811484" cy="5263499"/>
            </a:xfrm>
          </p:grpSpPr>
          <p:sp>
            <p:nvSpPr>
              <p:cNvPr id="7" name="Rectangle: Top Corners Rounded 6">
                <a:extLst>
                  <a:ext uri="{FF2B5EF4-FFF2-40B4-BE49-F238E27FC236}">
                    <a16:creationId xmlns:a16="http://schemas.microsoft.com/office/drawing/2014/main" id="{8FFA0081-FF1B-5656-37D8-64F3353A3C07}"/>
                  </a:ext>
                </a:extLst>
              </p:cNvPr>
              <p:cNvSpPr/>
              <p:nvPr/>
            </p:nvSpPr>
            <p:spPr>
              <a:xfrm rot="16200000">
                <a:off x="111453" y="1505076"/>
                <a:ext cx="5263499" cy="4506685"/>
              </a:xfrm>
              <a:prstGeom prst="round2SameRect">
                <a:avLst>
                  <a:gd name="adj1" fmla="val 8361"/>
                  <a:gd name="adj2" fmla="val 0"/>
                </a:avLst>
              </a:prstGeom>
              <a:solidFill>
                <a:schemeClr val="tx2">
                  <a:lumMod val="10000"/>
                  <a:lumOff val="90000"/>
                  <a:alpha val="38000"/>
                </a:schemeClr>
              </a:solid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arallelogram 7">
                <a:extLst>
                  <a:ext uri="{FF2B5EF4-FFF2-40B4-BE49-F238E27FC236}">
                    <a16:creationId xmlns:a16="http://schemas.microsoft.com/office/drawing/2014/main" id="{3BEE16AC-972A-31E8-2B07-CEEC2FA75164}"/>
                  </a:ext>
                </a:extLst>
              </p:cNvPr>
              <p:cNvSpPr/>
              <p:nvPr/>
            </p:nvSpPr>
            <p:spPr>
              <a:xfrm>
                <a:off x="1066801" y="1485900"/>
                <a:ext cx="4234543" cy="502529"/>
              </a:xfrm>
              <a:prstGeom prst="parallelogram">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latin typeface="Lato" panose="020F0502020204030203" pitchFamily="34" charset="0"/>
                    <a:ea typeface="Lato" panose="020F0502020204030203" pitchFamily="34" charset="0"/>
                    <a:cs typeface="Lato" panose="020F0502020204030203" pitchFamily="34" charset="0"/>
                  </a:rPr>
                  <a:t>Business Objectives</a:t>
                </a:r>
              </a:p>
            </p:txBody>
          </p:sp>
          <p:sp>
            <p:nvSpPr>
              <p:cNvPr id="10" name="TextBox 9">
                <a:extLst>
                  <a:ext uri="{FF2B5EF4-FFF2-40B4-BE49-F238E27FC236}">
                    <a16:creationId xmlns:a16="http://schemas.microsoft.com/office/drawing/2014/main" id="{857041AE-DCF2-7935-2401-F4025CB22250}"/>
                  </a:ext>
                </a:extLst>
              </p:cNvPr>
              <p:cNvSpPr txBox="1"/>
              <p:nvPr/>
            </p:nvSpPr>
            <p:spPr>
              <a:xfrm>
                <a:off x="626726" y="2263562"/>
                <a:ext cx="4234543" cy="3933834"/>
              </a:xfrm>
              <a:prstGeom prst="rect">
                <a:avLst/>
              </a:prstGeom>
              <a:noFill/>
            </p:spPr>
            <p:txBody>
              <a:bodyPr wrap="square" rtlCol="0">
                <a:spAutoFit/>
              </a:bodyPr>
              <a:lstStyle/>
              <a:p>
                <a:pPr marL="285750" indent="-285750">
                  <a:lnSpc>
                    <a:spcPct val="150000"/>
                  </a:lnSpc>
                  <a:buBlip>
                    <a:blip r:embed="rId2"/>
                  </a:buBlip>
                </a:pPr>
                <a:r>
                  <a:rPr lang="en-US" sz="1200">
                    <a:latin typeface="Lato" panose="020F0502020204030203" pitchFamily="34" charset="0"/>
                    <a:ea typeface="Lato" panose="020F0502020204030203" pitchFamily="34" charset="0"/>
                    <a:cs typeface="Lato" panose="020F0502020204030203" pitchFamily="34" charset="0"/>
                  </a:rPr>
                  <a:t>Establish a capacity-based POD delivery model to support Ascend platform initiatives</a:t>
                </a:r>
              </a:p>
              <a:p>
                <a:pPr marL="285750" indent="-285750">
                  <a:lnSpc>
                    <a:spcPct val="150000"/>
                  </a:lnSpc>
                  <a:buBlip>
                    <a:blip r:embed="rId2"/>
                  </a:buBlip>
                </a:pPr>
                <a:r>
                  <a:rPr lang="en-US" sz="1200">
                    <a:latin typeface="Lato" panose="020F0502020204030203" pitchFamily="34" charset="0"/>
                    <a:ea typeface="Lato" panose="020F0502020204030203" pitchFamily="34" charset="0"/>
                    <a:cs typeface="Lato" panose="020F0502020204030203" pitchFamily="34" charset="0"/>
                  </a:rPr>
                  <a:t>Enable on-demand access to skilled technology professionals across multiple product areas</a:t>
                </a:r>
              </a:p>
              <a:p>
                <a:pPr marL="285750" indent="-285750">
                  <a:lnSpc>
                    <a:spcPct val="150000"/>
                  </a:lnSpc>
                  <a:buBlip>
                    <a:blip r:embed="rId2"/>
                  </a:buBlip>
                </a:pPr>
                <a:r>
                  <a:rPr lang="en-US" sz="1200">
                    <a:latin typeface="Lato" panose="020F0502020204030203" pitchFamily="34" charset="0"/>
                    <a:ea typeface="Lato" panose="020F0502020204030203" pitchFamily="34" charset="0"/>
                    <a:cs typeface="Lato" panose="020F0502020204030203" pitchFamily="34" charset="0"/>
                  </a:rPr>
                  <a:t>Support continuous delivery through long-running, dedicated PODs</a:t>
                </a:r>
              </a:p>
              <a:p>
                <a:pPr marL="285750" indent="-285750">
                  <a:lnSpc>
                    <a:spcPct val="150000"/>
                  </a:lnSpc>
                  <a:buBlip>
                    <a:blip r:embed="rId2"/>
                  </a:buBlip>
                </a:pPr>
                <a:r>
                  <a:rPr lang="en-US" sz="1200">
                    <a:latin typeface="Lato" panose="020F0502020204030203" pitchFamily="34" charset="0"/>
                    <a:ea typeface="Lato" panose="020F0502020204030203" pitchFamily="34" charset="0"/>
                    <a:cs typeface="Lato" panose="020F0502020204030203" pitchFamily="34" charset="0"/>
                  </a:rPr>
                  <a:t>Ensure predictable delivery outcomes aligned to Deloitte’s planning and release cycles</a:t>
                </a:r>
              </a:p>
              <a:p>
                <a:pPr marL="285750" indent="-285750">
                  <a:lnSpc>
                    <a:spcPct val="150000"/>
                  </a:lnSpc>
                  <a:buBlip>
                    <a:blip r:embed="rId2"/>
                  </a:buBlip>
                </a:pPr>
                <a:r>
                  <a:rPr lang="en-US" sz="1200">
                    <a:latin typeface="Lato" panose="020F0502020204030203" pitchFamily="34" charset="0"/>
                    <a:ea typeface="Lato" panose="020F0502020204030203" pitchFamily="34" charset="0"/>
                    <a:cs typeface="Lato" panose="020F0502020204030203" pitchFamily="34" charset="0"/>
                  </a:rPr>
                  <a:t>Reduce overhead related to hiring, onboarding, and transition management</a:t>
                </a:r>
              </a:p>
              <a:p>
                <a:pPr marL="285750" indent="-285750">
                  <a:lnSpc>
                    <a:spcPct val="150000"/>
                  </a:lnSpc>
                  <a:buBlip>
                    <a:blip r:embed="rId2"/>
                  </a:buBlip>
                </a:pPr>
                <a:r>
                  <a:rPr lang="en-US" sz="1200">
                    <a:latin typeface="Lato" panose="020F0502020204030203" pitchFamily="34" charset="0"/>
                    <a:ea typeface="Lato" panose="020F0502020204030203" pitchFamily="34" charset="0"/>
                    <a:cs typeface="Lato" panose="020F0502020204030203" pitchFamily="34" charset="0"/>
                  </a:rPr>
                  <a:t>Maintain flexibility to scale POD capacity up or down based on program demand</a:t>
                </a:r>
              </a:p>
              <a:p>
                <a:pPr marL="285750" indent="-285750">
                  <a:lnSpc>
                    <a:spcPct val="150000"/>
                  </a:lnSpc>
                  <a:buBlip>
                    <a:blip r:embed="rId2"/>
                  </a:buBlip>
                </a:pPr>
                <a:r>
                  <a:rPr lang="en-US" sz="1200">
                    <a:latin typeface="Lato" panose="020F0502020204030203" pitchFamily="34" charset="0"/>
                    <a:ea typeface="Lato" panose="020F0502020204030203" pitchFamily="34" charset="0"/>
                    <a:cs typeface="Lato" panose="020F0502020204030203" pitchFamily="34" charset="0"/>
                  </a:rPr>
                  <a:t>Ensure delivery aligns with Deloitte’s governance, security, and compliance standards</a:t>
                </a:r>
                <a:endParaRPr lang="en-GB" sz="1200">
                  <a:latin typeface="Lato" panose="020F0502020204030203" pitchFamily="34" charset="0"/>
                  <a:ea typeface="Lato" panose="020F0502020204030203" pitchFamily="34" charset="0"/>
                  <a:cs typeface="Lato" panose="020F0502020204030203" pitchFamily="34" charset="0"/>
                </a:endParaRPr>
              </a:p>
            </p:txBody>
          </p:sp>
        </p:grpSp>
        <p:grpSp>
          <p:nvGrpSpPr>
            <p:cNvPr id="18" name="Group 17">
              <a:extLst>
                <a:ext uri="{FF2B5EF4-FFF2-40B4-BE49-F238E27FC236}">
                  <a16:creationId xmlns:a16="http://schemas.microsoft.com/office/drawing/2014/main" id="{CD1A4223-AE5D-D6AE-C10F-DB92310C83CF}"/>
                </a:ext>
              </a:extLst>
            </p:cNvPr>
            <p:cNvGrpSpPr/>
            <p:nvPr/>
          </p:nvGrpSpPr>
          <p:grpSpPr>
            <a:xfrm flipH="1">
              <a:off x="5573487" y="1126670"/>
              <a:ext cx="4811484" cy="5263497"/>
              <a:chOff x="489860" y="1126670"/>
              <a:chExt cx="4811484" cy="5263497"/>
            </a:xfrm>
          </p:grpSpPr>
          <p:sp>
            <p:nvSpPr>
              <p:cNvPr id="19" name="Rectangle: Top Corners Rounded 18">
                <a:extLst>
                  <a:ext uri="{FF2B5EF4-FFF2-40B4-BE49-F238E27FC236}">
                    <a16:creationId xmlns:a16="http://schemas.microsoft.com/office/drawing/2014/main" id="{C48060CE-61F5-52AD-BB3E-7C938E024C52}"/>
                  </a:ext>
                </a:extLst>
              </p:cNvPr>
              <p:cNvSpPr/>
              <p:nvPr/>
            </p:nvSpPr>
            <p:spPr>
              <a:xfrm rot="16200000">
                <a:off x="111454" y="1505076"/>
                <a:ext cx="5263497" cy="4506685"/>
              </a:xfrm>
              <a:prstGeom prst="round2SameRect">
                <a:avLst>
                  <a:gd name="adj1" fmla="val 8361"/>
                  <a:gd name="adj2" fmla="val 0"/>
                </a:avLst>
              </a:prstGeom>
              <a:solidFill>
                <a:schemeClr val="accent1">
                  <a:lumMod val="20000"/>
                  <a:lumOff val="80000"/>
                  <a:alpha val="38000"/>
                </a:schemeClr>
              </a:solid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Parallelogram 19">
                <a:extLst>
                  <a:ext uri="{FF2B5EF4-FFF2-40B4-BE49-F238E27FC236}">
                    <a16:creationId xmlns:a16="http://schemas.microsoft.com/office/drawing/2014/main" id="{7E825574-9E5F-61D0-26DD-599DDC6A7E7A}"/>
                  </a:ext>
                </a:extLst>
              </p:cNvPr>
              <p:cNvSpPr/>
              <p:nvPr/>
            </p:nvSpPr>
            <p:spPr>
              <a:xfrm>
                <a:off x="1066801" y="1485900"/>
                <a:ext cx="4234543" cy="502529"/>
              </a:xfrm>
              <a:prstGeom prst="parallelogram">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latin typeface="Lato" panose="020F0502020204030203" pitchFamily="34" charset="0"/>
                    <a:ea typeface="Lato" panose="020F0502020204030203" pitchFamily="34" charset="0"/>
                    <a:cs typeface="Lato" panose="020F0502020204030203" pitchFamily="34" charset="0"/>
                  </a:rPr>
                  <a:t>Needs</a:t>
                </a:r>
              </a:p>
            </p:txBody>
          </p:sp>
          <p:sp>
            <p:nvSpPr>
              <p:cNvPr id="22" name="TextBox 21">
                <a:extLst>
                  <a:ext uri="{FF2B5EF4-FFF2-40B4-BE49-F238E27FC236}">
                    <a16:creationId xmlns:a16="http://schemas.microsoft.com/office/drawing/2014/main" id="{B14F345D-658A-DB5D-E723-0069B59411E9}"/>
                  </a:ext>
                </a:extLst>
              </p:cNvPr>
              <p:cNvSpPr txBox="1"/>
              <p:nvPr/>
            </p:nvSpPr>
            <p:spPr>
              <a:xfrm>
                <a:off x="626727" y="2263562"/>
                <a:ext cx="4234544" cy="3379836"/>
              </a:xfrm>
              <a:prstGeom prst="rect">
                <a:avLst/>
              </a:prstGeom>
              <a:noFill/>
            </p:spPr>
            <p:txBody>
              <a:bodyPr wrap="square" rtlCol="0">
                <a:spAutoFit/>
              </a:bodyPr>
              <a:lstStyle/>
              <a:p>
                <a:pPr marL="285750" indent="-285750">
                  <a:lnSpc>
                    <a:spcPct val="150000"/>
                  </a:lnSpc>
                  <a:buBlip>
                    <a:blip r:embed="rId2"/>
                  </a:buBlip>
                </a:pPr>
                <a:r>
                  <a:rPr lang="en-US" sz="1200">
                    <a:latin typeface="Lato" panose="020F0502020204030203" pitchFamily="34" charset="0"/>
                    <a:ea typeface="Lato" panose="020F0502020204030203" pitchFamily="34" charset="0"/>
                    <a:cs typeface="Lato" panose="020F0502020204030203" pitchFamily="34" charset="0"/>
                  </a:rPr>
                  <a:t>Dedicated PODs with clearly defined roles and skill mix</a:t>
                </a:r>
              </a:p>
              <a:p>
                <a:pPr marL="285750" indent="-285750">
                  <a:lnSpc>
                    <a:spcPct val="150000"/>
                  </a:lnSpc>
                  <a:buBlip>
                    <a:blip r:embed="rId2"/>
                  </a:buBlip>
                </a:pPr>
                <a:r>
                  <a:rPr lang="en-US" sz="1200">
                    <a:latin typeface="Lato" panose="020F0502020204030203" pitchFamily="34" charset="0"/>
                    <a:ea typeface="Lato" panose="020F0502020204030203" pitchFamily="34" charset="0"/>
                    <a:cs typeface="Lato" panose="020F0502020204030203" pitchFamily="34" charset="0"/>
                  </a:rPr>
                  <a:t>Talent coverage across engineering, testing, DevOps, documentation, and AI/GenAI</a:t>
                </a:r>
              </a:p>
              <a:p>
                <a:pPr marL="285750" indent="-285750">
                  <a:lnSpc>
                    <a:spcPct val="150000"/>
                  </a:lnSpc>
                  <a:buBlip>
                    <a:blip r:embed="rId2"/>
                  </a:buBlip>
                </a:pPr>
                <a:r>
                  <a:rPr lang="en-US" sz="1200">
                    <a:latin typeface="Lato" panose="020F0502020204030203" pitchFamily="34" charset="0"/>
                    <a:ea typeface="Lato" panose="020F0502020204030203" pitchFamily="34" charset="0"/>
                    <a:cs typeface="Lato" panose="020F0502020204030203" pitchFamily="34" charset="0"/>
                  </a:rPr>
                  <a:t>Ability to ramp resources within defined timelines as outlined in the RFP</a:t>
                </a:r>
              </a:p>
              <a:p>
                <a:pPr marL="285750" indent="-285750">
                  <a:lnSpc>
                    <a:spcPct val="150000"/>
                  </a:lnSpc>
                  <a:buBlip>
                    <a:blip r:embed="rId2"/>
                  </a:buBlip>
                </a:pPr>
                <a:r>
                  <a:rPr lang="en-US" sz="1200">
                    <a:latin typeface="Lato" panose="020F0502020204030203" pitchFamily="34" charset="0"/>
                    <a:ea typeface="Lato" panose="020F0502020204030203" pitchFamily="34" charset="0"/>
                    <a:cs typeface="Lato" panose="020F0502020204030203" pitchFamily="34" charset="0"/>
                  </a:rPr>
                  <a:t>Delivery using Agile-based execution models</a:t>
                </a:r>
              </a:p>
              <a:p>
                <a:pPr marL="285750" indent="-285750">
                  <a:lnSpc>
                    <a:spcPct val="150000"/>
                  </a:lnSpc>
                  <a:buBlip>
                    <a:blip r:embed="rId2"/>
                  </a:buBlip>
                </a:pPr>
                <a:r>
                  <a:rPr lang="en-US" sz="1200">
                    <a:latin typeface="Lato" panose="020F0502020204030203" pitchFamily="34" charset="0"/>
                    <a:ea typeface="Lato" panose="020F0502020204030203" pitchFamily="34" charset="0"/>
                    <a:cs typeface="Lato" panose="020F0502020204030203" pitchFamily="34" charset="0"/>
                  </a:rPr>
                  <a:t>Transparent program and POD-level governance with defined KPIs</a:t>
                </a:r>
              </a:p>
              <a:p>
                <a:pPr marL="285750" indent="-285750">
                  <a:lnSpc>
                    <a:spcPct val="150000"/>
                  </a:lnSpc>
                  <a:buBlip>
                    <a:blip r:embed="rId2"/>
                  </a:buBlip>
                </a:pPr>
                <a:r>
                  <a:rPr lang="en-US" sz="1200">
                    <a:latin typeface="Lato" panose="020F0502020204030203" pitchFamily="34" charset="0"/>
                    <a:ea typeface="Lato" panose="020F0502020204030203" pitchFamily="34" charset="0"/>
                    <a:cs typeface="Lato" panose="020F0502020204030203" pitchFamily="34" charset="0"/>
                  </a:rPr>
                  <a:t>Commercial model aligned to capacity-based pricing constructs</a:t>
                </a:r>
              </a:p>
              <a:p>
                <a:pPr marL="285750" indent="-285750">
                  <a:lnSpc>
                    <a:spcPct val="150000"/>
                  </a:lnSpc>
                  <a:buBlip>
                    <a:blip r:embed="rId2"/>
                  </a:buBlip>
                </a:pPr>
                <a:r>
                  <a:rPr lang="en-US" sz="1200">
                    <a:latin typeface="Lato" panose="020F0502020204030203" pitchFamily="34" charset="0"/>
                    <a:ea typeface="Lato" panose="020F0502020204030203" pitchFamily="34" charset="0"/>
                    <a:cs typeface="Lato" panose="020F0502020204030203" pitchFamily="34" charset="0"/>
                  </a:rPr>
                  <a:t>Primary delivery from approved offshore locations, with flexibility for global support</a:t>
                </a:r>
                <a:endParaRPr lang="en-GB" sz="1200">
                  <a:latin typeface="Lato" panose="020F0502020204030203" pitchFamily="34" charset="0"/>
                  <a:ea typeface="Lato" panose="020F0502020204030203" pitchFamily="34" charset="0"/>
                  <a:cs typeface="Lato" panose="020F0502020204030203" pitchFamily="34" charset="0"/>
                </a:endParaRPr>
              </a:p>
            </p:txBody>
          </p:sp>
        </p:grpSp>
      </p:grpSp>
      <p:sp>
        <p:nvSpPr>
          <p:cNvPr id="4" name="TextBox 3">
            <a:extLst>
              <a:ext uri="{FF2B5EF4-FFF2-40B4-BE49-F238E27FC236}">
                <a16:creationId xmlns:a16="http://schemas.microsoft.com/office/drawing/2014/main" id="{7E55A40D-BF0A-43CD-21B7-E1EF40244B87}"/>
              </a:ext>
            </a:extLst>
          </p:cNvPr>
          <p:cNvSpPr txBox="1"/>
          <p:nvPr/>
        </p:nvSpPr>
        <p:spPr>
          <a:xfrm>
            <a:off x="334572" y="684559"/>
            <a:ext cx="11522856" cy="307777"/>
          </a:xfrm>
          <a:prstGeom prst="rect">
            <a:avLst/>
          </a:prstGeom>
          <a:noFill/>
        </p:spPr>
        <p:txBody>
          <a:bodyPr wrap="square">
            <a:spAutoFit/>
          </a:bodyPr>
          <a:lstStyle/>
          <a:p>
            <a:r>
              <a:rPr lang="en-IN" sz="1400">
                <a:latin typeface="Lato" panose="020F0502020204030203" pitchFamily="34" charset="0"/>
                <a:ea typeface="Lato" panose="020F0502020204030203" pitchFamily="34" charset="0"/>
                <a:cs typeface="Lato" panose="020F0502020204030203" pitchFamily="34" charset="0"/>
              </a:rPr>
              <a:t>Based on our understanding of the RFP, Deloitte’s key business objectives and needs are:</a:t>
            </a:r>
            <a:endParaRPr lang="en-US" sz="140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31335743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47804-9B81-F6FE-7AE9-B8992BDB703C}"/>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6E93C6AF-CB02-FBFA-58BF-A5FAEAE03C84}"/>
              </a:ext>
            </a:extLst>
          </p:cNvPr>
          <p:cNvPicPr>
            <a:picLocks noChangeAspect="1"/>
          </p:cNvPicPr>
          <p:nvPr/>
        </p:nvPicPr>
        <p:blipFill>
          <a:blip r:embed="rId3"/>
          <a:srcRect r="66459"/>
          <a:stretch>
            <a:fillRect/>
          </a:stretch>
        </p:blipFill>
        <p:spPr>
          <a:xfrm>
            <a:off x="4682210" y="496951"/>
            <a:ext cx="1631976" cy="1425089"/>
          </a:xfrm>
          <a:prstGeom prst="rect">
            <a:avLst/>
          </a:prstGeom>
        </p:spPr>
      </p:pic>
      <p:sp>
        <p:nvSpPr>
          <p:cNvPr id="2" name="Title 1">
            <a:extLst>
              <a:ext uri="{FF2B5EF4-FFF2-40B4-BE49-F238E27FC236}">
                <a16:creationId xmlns:a16="http://schemas.microsoft.com/office/drawing/2014/main" id="{8FE9B080-0221-F06E-D423-493E0CDF401D}"/>
              </a:ext>
            </a:extLst>
          </p:cNvPr>
          <p:cNvSpPr>
            <a:spLocks noGrp="1"/>
          </p:cNvSpPr>
          <p:nvPr>
            <p:ph type="title"/>
          </p:nvPr>
        </p:nvSpPr>
        <p:spPr/>
        <p:txBody>
          <a:bodyPr>
            <a:normAutofit/>
          </a:bodyPr>
          <a:lstStyle/>
          <a:p>
            <a:r>
              <a:rPr lang="en-US"/>
              <a:t>Our Understanding of the Requirements</a:t>
            </a:r>
            <a:endParaRPr lang="en-US" sz="2800" b="1">
              <a:solidFill>
                <a:srgbClr val="E44C25"/>
              </a:solidFill>
              <a:latin typeface="Roboto" panose="02000000000000000000" pitchFamily="2" charset="0"/>
              <a:ea typeface="Roboto" panose="02000000000000000000" pitchFamily="2" charset="0"/>
            </a:endParaRPr>
          </a:p>
        </p:txBody>
      </p:sp>
      <p:sp>
        <p:nvSpPr>
          <p:cNvPr id="6" name="Freeform: Shape 5">
            <a:extLst>
              <a:ext uri="{FF2B5EF4-FFF2-40B4-BE49-F238E27FC236}">
                <a16:creationId xmlns:a16="http://schemas.microsoft.com/office/drawing/2014/main" id="{7EDB8AD1-5577-9256-E427-29C7897EDC34}"/>
              </a:ext>
            </a:extLst>
          </p:cNvPr>
          <p:cNvSpPr/>
          <p:nvPr/>
        </p:nvSpPr>
        <p:spPr>
          <a:xfrm>
            <a:off x="479289" y="721617"/>
            <a:ext cx="3278123" cy="5801970"/>
          </a:xfrm>
          <a:custGeom>
            <a:avLst/>
            <a:gdLst>
              <a:gd name="connsiteX0" fmla="*/ 1762172 w 3278123"/>
              <a:gd name="connsiteY0" fmla="*/ 5755762 h 5801970"/>
              <a:gd name="connsiteX1" fmla="*/ 509337 w 3278123"/>
              <a:gd name="connsiteY1" fmla="*/ 5755762 h 5801970"/>
              <a:gd name="connsiteX2" fmla="*/ 46170 w 3278123"/>
              <a:gd name="connsiteY2" fmla="*/ 5292595 h 5801970"/>
              <a:gd name="connsiteX3" fmla="*/ 46170 w 3278123"/>
              <a:gd name="connsiteY3" fmla="*/ 1485496 h 5801970"/>
              <a:gd name="connsiteX4" fmla="*/ 506413 w 3278123"/>
              <a:gd name="connsiteY4" fmla="*/ 1025292 h 5801970"/>
              <a:gd name="connsiteX5" fmla="*/ 2757684 w 3278123"/>
              <a:gd name="connsiteY5" fmla="*/ 1025292 h 5801970"/>
              <a:gd name="connsiteX6" fmla="*/ 3278064 w 3278123"/>
              <a:gd name="connsiteY6" fmla="*/ 520610 h 5801970"/>
              <a:gd name="connsiteX7" fmla="*/ 2765456 w 3278123"/>
              <a:gd name="connsiteY7" fmla="*/ 0 h 5801970"/>
              <a:gd name="connsiteX8" fmla="*/ 512646 w 3278123"/>
              <a:gd name="connsiteY8" fmla="*/ 0 h 5801970"/>
              <a:gd name="connsiteX9" fmla="*/ 0 w 3278123"/>
              <a:gd name="connsiteY9" fmla="*/ 512646 h 5801970"/>
              <a:gd name="connsiteX10" fmla="*/ 0 w 3278123"/>
              <a:gd name="connsiteY10" fmla="*/ 512646 h 5801970"/>
              <a:gd name="connsiteX11" fmla="*/ 0 w 3278123"/>
              <a:gd name="connsiteY11" fmla="*/ 5292634 h 5801970"/>
              <a:gd name="connsiteX12" fmla="*/ 509337 w 3278123"/>
              <a:gd name="connsiteY12" fmla="*/ 5801971 h 5801970"/>
              <a:gd name="connsiteX13" fmla="*/ 1760903 w 3278123"/>
              <a:gd name="connsiteY13" fmla="*/ 5801971 h 5801970"/>
              <a:gd name="connsiteX14" fmla="*/ 1785257 w 3278123"/>
              <a:gd name="connsiteY14" fmla="*/ 5780117 h 5801970"/>
              <a:gd name="connsiteX15" fmla="*/ 1762211 w 3278123"/>
              <a:gd name="connsiteY15" fmla="*/ 5755800 h 5801970"/>
              <a:gd name="connsiteX16" fmla="*/ 512646 w 3278123"/>
              <a:gd name="connsiteY16" fmla="*/ 153901 h 5801970"/>
              <a:gd name="connsiteX17" fmla="*/ 2765456 w 3278123"/>
              <a:gd name="connsiteY17" fmla="*/ 153901 h 5801970"/>
              <a:gd name="connsiteX18" fmla="*/ 3124201 w 3278123"/>
              <a:gd name="connsiteY18" fmla="*/ 512646 h 5801970"/>
              <a:gd name="connsiteX19" fmla="*/ 2765456 w 3278123"/>
              <a:gd name="connsiteY19" fmla="*/ 871390 h 5801970"/>
              <a:gd name="connsiteX20" fmla="*/ 512646 w 3278123"/>
              <a:gd name="connsiteY20" fmla="*/ 871390 h 5801970"/>
              <a:gd name="connsiteX21" fmla="*/ 153902 w 3278123"/>
              <a:gd name="connsiteY21" fmla="*/ 512646 h 5801970"/>
              <a:gd name="connsiteX22" fmla="*/ 512646 w 3278123"/>
              <a:gd name="connsiteY22" fmla="*/ 153901 h 5801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278123" h="5801970">
                <a:moveTo>
                  <a:pt x="1762172" y="5755762"/>
                </a:moveTo>
                <a:lnTo>
                  <a:pt x="509337" y="5755762"/>
                </a:lnTo>
                <a:cubicBezTo>
                  <a:pt x="253553" y="5755762"/>
                  <a:pt x="46170" y="5548418"/>
                  <a:pt x="46170" y="5292595"/>
                </a:cubicBezTo>
                <a:lnTo>
                  <a:pt x="46170" y="1485496"/>
                </a:lnTo>
                <a:cubicBezTo>
                  <a:pt x="46170" y="1231327"/>
                  <a:pt x="252245" y="1025292"/>
                  <a:pt x="506413" y="1025292"/>
                </a:cubicBezTo>
                <a:lnTo>
                  <a:pt x="2757684" y="1025292"/>
                </a:lnTo>
                <a:cubicBezTo>
                  <a:pt x="3039016" y="1025292"/>
                  <a:pt x="3273754" y="801904"/>
                  <a:pt x="3278064" y="520610"/>
                </a:cubicBezTo>
                <a:cubicBezTo>
                  <a:pt x="3282411" y="234315"/>
                  <a:pt x="3050790" y="0"/>
                  <a:pt x="2765456" y="0"/>
                </a:cubicBezTo>
                <a:lnTo>
                  <a:pt x="512646" y="0"/>
                </a:lnTo>
                <a:cubicBezTo>
                  <a:pt x="229506" y="0"/>
                  <a:pt x="0" y="229506"/>
                  <a:pt x="0" y="512646"/>
                </a:cubicBezTo>
                <a:lnTo>
                  <a:pt x="0" y="512646"/>
                </a:lnTo>
                <a:lnTo>
                  <a:pt x="0" y="5292634"/>
                </a:lnTo>
                <a:cubicBezTo>
                  <a:pt x="0" y="5573927"/>
                  <a:pt x="228044" y="5801971"/>
                  <a:pt x="509337" y="5801971"/>
                </a:cubicBezTo>
                <a:lnTo>
                  <a:pt x="1760903" y="5801971"/>
                </a:lnTo>
                <a:cubicBezTo>
                  <a:pt x="1773407" y="5801971"/>
                  <a:pt x="1784603" y="5792621"/>
                  <a:pt x="1785257" y="5780117"/>
                </a:cubicBezTo>
                <a:cubicBezTo>
                  <a:pt x="1785950" y="5766804"/>
                  <a:pt x="1775369" y="5755800"/>
                  <a:pt x="1762211" y="5755800"/>
                </a:cubicBezTo>
                <a:close/>
                <a:moveTo>
                  <a:pt x="512646" y="153901"/>
                </a:moveTo>
                <a:lnTo>
                  <a:pt x="2765456" y="153901"/>
                </a:lnTo>
                <a:cubicBezTo>
                  <a:pt x="2963258" y="153901"/>
                  <a:pt x="3124201" y="314844"/>
                  <a:pt x="3124201" y="512646"/>
                </a:cubicBezTo>
                <a:cubicBezTo>
                  <a:pt x="3124201" y="710448"/>
                  <a:pt x="2963258" y="871390"/>
                  <a:pt x="2765456" y="871390"/>
                </a:cubicBezTo>
                <a:lnTo>
                  <a:pt x="512646" y="871390"/>
                </a:lnTo>
                <a:cubicBezTo>
                  <a:pt x="314844" y="871390"/>
                  <a:pt x="153902" y="710448"/>
                  <a:pt x="153902" y="512646"/>
                </a:cubicBezTo>
                <a:cubicBezTo>
                  <a:pt x="153902" y="314844"/>
                  <a:pt x="314844" y="153901"/>
                  <a:pt x="512646" y="153901"/>
                </a:cubicBezTo>
                <a:close/>
              </a:path>
            </a:pathLst>
          </a:custGeom>
          <a:solidFill>
            <a:srgbClr val="0070C0"/>
          </a:solidFill>
          <a:ln w="3846"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2A3CEB8E-D0A6-EE6A-33EA-D52F5BFA21FA}"/>
              </a:ext>
            </a:extLst>
          </p:cNvPr>
          <p:cNvSpPr/>
          <p:nvPr/>
        </p:nvSpPr>
        <p:spPr>
          <a:xfrm>
            <a:off x="633190" y="875518"/>
            <a:ext cx="2970298" cy="717488"/>
          </a:xfrm>
          <a:custGeom>
            <a:avLst/>
            <a:gdLst>
              <a:gd name="connsiteX0" fmla="*/ 358744 w 2970298"/>
              <a:gd name="connsiteY0" fmla="*/ 0 h 717488"/>
              <a:gd name="connsiteX1" fmla="*/ 2611555 w 2970298"/>
              <a:gd name="connsiteY1" fmla="*/ 0 h 717488"/>
              <a:gd name="connsiteX2" fmla="*/ 2970299 w 2970298"/>
              <a:gd name="connsiteY2" fmla="*/ 358744 h 717488"/>
              <a:gd name="connsiteX3" fmla="*/ 2611555 w 2970298"/>
              <a:gd name="connsiteY3" fmla="*/ 717489 h 717488"/>
              <a:gd name="connsiteX4" fmla="*/ 358744 w 2970298"/>
              <a:gd name="connsiteY4" fmla="*/ 717489 h 717488"/>
              <a:gd name="connsiteX5" fmla="*/ 0 w 2970298"/>
              <a:gd name="connsiteY5" fmla="*/ 358744 h 717488"/>
              <a:gd name="connsiteX6" fmla="*/ 358744 w 2970298"/>
              <a:gd name="connsiteY6" fmla="*/ 0 h 71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0298" h="717488">
                <a:moveTo>
                  <a:pt x="358744" y="0"/>
                </a:moveTo>
                <a:lnTo>
                  <a:pt x="2611555" y="0"/>
                </a:lnTo>
                <a:cubicBezTo>
                  <a:pt x="2809357" y="0"/>
                  <a:pt x="2970299" y="160942"/>
                  <a:pt x="2970299" y="358744"/>
                </a:cubicBezTo>
                <a:cubicBezTo>
                  <a:pt x="2970299" y="556546"/>
                  <a:pt x="2809357" y="717489"/>
                  <a:pt x="2611555" y="717489"/>
                </a:cubicBezTo>
                <a:lnTo>
                  <a:pt x="358744" y="717489"/>
                </a:lnTo>
                <a:cubicBezTo>
                  <a:pt x="160943" y="717489"/>
                  <a:pt x="0" y="556546"/>
                  <a:pt x="0" y="358744"/>
                </a:cubicBezTo>
                <a:cubicBezTo>
                  <a:pt x="0" y="160942"/>
                  <a:pt x="160943" y="0"/>
                  <a:pt x="358744" y="0"/>
                </a:cubicBezTo>
                <a:close/>
              </a:path>
            </a:pathLst>
          </a:custGeom>
          <a:solidFill>
            <a:srgbClr val="FFFFFF"/>
          </a:solidFill>
          <a:ln w="3846" cap="flat">
            <a:noFill/>
            <a:prstDash val="solid"/>
            <a:miter/>
          </a:ln>
        </p:spPr>
        <p:txBody>
          <a:bodyPr rtlCol="0" anchor="ctr"/>
          <a:lstStyle/>
          <a:p>
            <a:pPr algn="ctr"/>
            <a:r>
              <a:rPr lang="en-US" b="1">
                <a:solidFill>
                  <a:srgbClr val="0070C0"/>
                </a:solidFill>
                <a:latin typeface="Lato" panose="020F0502020204030203" pitchFamily="34" charset="0"/>
                <a:ea typeface="Lato" panose="020F0502020204030203" pitchFamily="34" charset="0"/>
                <a:cs typeface="Lato" panose="020F0502020204030203" pitchFamily="34" charset="0"/>
              </a:rPr>
              <a:t>Customer Asks</a:t>
            </a:r>
          </a:p>
        </p:txBody>
      </p:sp>
      <p:sp>
        <p:nvSpPr>
          <p:cNvPr id="8" name="TextBox 7">
            <a:extLst>
              <a:ext uri="{FF2B5EF4-FFF2-40B4-BE49-F238E27FC236}">
                <a16:creationId xmlns:a16="http://schemas.microsoft.com/office/drawing/2014/main" id="{D4A3F762-0359-FC05-0A40-42696901AF5E}"/>
              </a:ext>
            </a:extLst>
          </p:cNvPr>
          <p:cNvSpPr txBox="1"/>
          <p:nvPr/>
        </p:nvSpPr>
        <p:spPr>
          <a:xfrm>
            <a:off x="633190" y="1773037"/>
            <a:ext cx="11190948" cy="4554067"/>
          </a:xfrm>
          <a:prstGeom prst="rect">
            <a:avLst/>
          </a:prstGeom>
          <a:noFill/>
        </p:spPr>
        <p:txBody>
          <a:bodyPr wrap="square" rtlCol="0">
            <a:spAutoFit/>
          </a:bodyPr>
          <a:lstStyle/>
          <a:p>
            <a:pPr marL="285750" lvl="0" indent="-285750">
              <a:lnSpc>
                <a:spcPct val="150000"/>
              </a:lnSpc>
              <a:buBlip>
                <a:blip r:embed="rId4"/>
              </a:buBlip>
              <a:defRPr/>
            </a:pPr>
            <a:r>
              <a:rPr lang="en-US" sz="1300">
                <a:solidFill>
                  <a:prstClr val="black"/>
                </a:solidFill>
                <a:latin typeface="Lato" panose="020F0502020204030203" pitchFamily="34" charset="0"/>
                <a:ea typeface="Lato" panose="020F0502020204030203" pitchFamily="34" charset="0"/>
                <a:cs typeface="Lato" panose="020F0502020204030203" pitchFamily="34" charset="0"/>
              </a:rPr>
              <a:t>Capacity-based POD delivery model : Establish long-running, dedicated PODs to support Ascend platform initiatives across multiple workstreams.</a:t>
            </a:r>
          </a:p>
          <a:p>
            <a:pPr marL="285750" lvl="0" indent="-285750">
              <a:lnSpc>
                <a:spcPct val="150000"/>
              </a:lnSpc>
              <a:buBlip>
                <a:blip r:embed="rId4"/>
              </a:buBlip>
              <a:defRPr/>
            </a:pPr>
            <a:r>
              <a:rPr lang="en-US" sz="1300">
                <a:solidFill>
                  <a:prstClr val="black"/>
                </a:solidFill>
                <a:latin typeface="Lato" panose="020F0502020204030203" pitchFamily="34" charset="0"/>
                <a:ea typeface="Lato" panose="020F0502020204030203" pitchFamily="34" charset="0"/>
                <a:cs typeface="Lato" panose="020F0502020204030203" pitchFamily="34" charset="0"/>
              </a:rPr>
              <a:t>On-demand access to skilled talent : Provide experienced resources across engineering, testing, DevOps, documentation, and AI/GenAI roles aligned to Ascend technology needs.</a:t>
            </a:r>
          </a:p>
          <a:p>
            <a:pPr marL="285750" lvl="0" indent="-285750">
              <a:lnSpc>
                <a:spcPct val="150000"/>
              </a:lnSpc>
              <a:buBlip>
                <a:blip r:embed="rId4"/>
              </a:buBlip>
              <a:defRPr/>
            </a:pPr>
            <a:r>
              <a:rPr lang="en-US" sz="1300">
                <a:solidFill>
                  <a:prstClr val="black"/>
                </a:solidFill>
                <a:latin typeface="Lato" panose="020F0502020204030203" pitchFamily="34" charset="0"/>
                <a:ea typeface="Lato" panose="020F0502020204030203" pitchFamily="34" charset="0"/>
                <a:cs typeface="Lato" panose="020F0502020204030203" pitchFamily="34" charset="0"/>
              </a:rPr>
              <a:t>Rapid POD ramp-up and scalability : Ability to onboard and operationalize POD capacity within defined timelines, with flexibility to scale up or down based on program demand.</a:t>
            </a:r>
          </a:p>
          <a:p>
            <a:pPr marL="285750" lvl="0" indent="-285750">
              <a:lnSpc>
                <a:spcPct val="150000"/>
              </a:lnSpc>
              <a:buBlip>
                <a:blip r:embed="rId4"/>
              </a:buBlip>
              <a:defRPr/>
            </a:pPr>
            <a:r>
              <a:rPr lang="en-US" sz="1300">
                <a:solidFill>
                  <a:prstClr val="black"/>
                </a:solidFill>
                <a:latin typeface="Lato" panose="020F0502020204030203" pitchFamily="34" charset="0"/>
                <a:ea typeface="Lato" panose="020F0502020204030203" pitchFamily="34" charset="0"/>
                <a:cs typeface="Lato" panose="020F0502020204030203" pitchFamily="34" charset="0"/>
              </a:rPr>
              <a:t>Agile delivery aligned to Ascend practices : Execute work using Agile-based delivery models with predictable sprint cadence, release planning, and continuous improvement.</a:t>
            </a:r>
          </a:p>
          <a:p>
            <a:pPr marL="285750" lvl="0" indent="-285750">
              <a:lnSpc>
                <a:spcPct val="150000"/>
              </a:lnSpc>
              <a:buBlip>
                <a:blip r:embed="rId4"/>
              </a:buBlip>
              <a:defRPr/>
            </a:pPr>
            <a:r>
              <a:rPr lang="en-US" sz="1300">
                <a:solidFill>
                  <a:prstClr val="black"/>
                </a:solidFill>
                <a:latin typeface="Lato" panose="020F0502020204030203" pitchFamily="34" charset="0"/>
                <a:ea typeface="Lato" panose="020F0502020204030203" pitchFamily="34" charset="0"/>
                <a:cs typeface="Lato" panose="020F0502020204030203" pitchFamily="34" charset="0"/>
              </a:rPr>
              <a:t>Clear POD composition and role clarity : Define standard POD role structures while allowing flexibility in skill mix to address specialized requirements.</a:t>
            </a:r>
          </a:p>
          <a:p>
            <a:pPr marL="285750" lvl="0" indent="-285750">
              <a:lnSpc>
                <a:spcPct val="150000"/>
              </a:lnSpc>
              <a:buBlip>
                <a:blip r:embed="rId4"/>
              </a:buBlip>
              <a:defRPr/>
            </a:pPr>
            <a:r>
              <a:rPr lang="en-US" sz="1300">
                <a:solidFill>
                  <a:prstClr val="black"/>
                </a:solidFill>
                <a:latin typeface="Lato" panose="020F0502020204030203" pitchFamily="34" charset="0"/>
                <a:ea typeface="Lato" panose="020F0502020204030203" pitchFamily="34" charset="0"/>
                <a:cs typeface="Lato" panose="020F0502020204030203" pitchFamily="34" charset="0"/>
              </a:rPr>
              <a:t>Strong governance and reporting : Support centralized program governance and POD-level execution governance, including regular reporting on delivery metrics and performance indicators.</a:t>
            </a:r>
          </a:p>
          <a:p>
            <a:pPr marL="285750" lvl="0" indent="-285750">
              <a:lnSpc>
                <a:spcPct val="150000"/>
              </a:lnSpc>
              <a:buBlip>
                <a:blip r:embed="rId4"/>
              </a:buBlip>
              <a:defRPr/>
            </a:pPr>
            <a:r>
              <a:rPr lang="en-US" sz="1300">
                <a:solidFill>
                  <a:prstClr val="black"/>
                </a:solidFill>
                <a:latin typeface="Lato" panose="020F0502020204030203" pitchFamily="34" charset="0"/>
                <a:ea typeface="Lato" panose="020F0502020204030203" pitchFamily="34" charset="0"/>
                <a:cs typeface="Lato" panose="020F0502020204030203" pitchFamily="34" charset="0"/>
              </a:rPr>
              <a:t>Compliance, security, and confidentiality : Adhere to Deloitte’s security, confidentiality, and compliance requirements, including agreement to standard terms and conditions.</a:t>
            </a:r>
          </a:p>
          <a:p>
            <a:pPr marL="285750" lvl="0" indent="-285750">
              <a:lnSpc>
                <a:spcPct val="150000"/>
              </a:lnSpc>
              <a:buBlip>
                <a:blip r:embed="rId4"/>
              </a:buBlip>
              <a:defRPr/>
            </a:pPr>
            <a:r>
              <a:rPr lang="en-US" sz="1300">
                <a:solidFill>
                  <a:prstClr val="black"/>
                </a:solidFill>
                <a:latin typeface="Lato" panose="020F0502020204030203" pitchFamily="34" charset="0"/>
                <a:ea typeface="Lato" panose="020F0502020204030203" pitchFamily="34" charset="0"/>
                <a:cs typeface="Lato" panose="020F0502020204030203" pitchFamily="34" charset="0"/>
              </a:rPr>
              <a:t>Commercial alignment : Operate under a predictable, capacity-based commercial model aligned to Deloitte’s pricing and engagement constructs.</a:t>
            </a:r>
          </a:p>
          <a:p>
            <a:pPr marL="285750" lvl="0" indent="-285750">
              <a:lnSpc>
                <a:spcPct val="150000"/>
              </a:lnSpc>
              <a:buBlip>
                <a:blip r:embed="rId4"/>
              </a:buBlip>
              <a:defRPr/>
            </a:pPr>
            <a:endParaRPr kumimoji="0" lang="en-US" sz="1300" b="0"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endParaRPr>
          </a:p>
        </p:txBody>
      </p:sp>
      <p:pic>
        <p:nvPicPr>
          <p:cNvPr id="16" name="Picture 15">
            <a:extLst>
              <a:ext uri="{FF2B5EF4-FFF2-40B4-BE49-F238E27FC236}">
                <a16:creationId xmlns:a16="http://schemas.microsoft.com/office/drawing/2014/main" id="{54118980-A822-D511-4139-C521A2E5ECB7}"/>
              </a:ext>
            </a:extLst>
          </p:cNvPr>
          <p:cNvPicPr>
            <a:picLocks noChangeAspect="1"/>
          </p:cNvPicPr>
          <p:nvPr/>
        </p:nvPicPr>
        <p:blipFill>
          <a:blip r:embed="rId3"/>
          <a:srcRect l="34282" r="35002"/>
          <a:stretch>
            <a:fillRect/>
          </a:stretch>
        </p:blipFill>
        <p:spPr>
          <a:xfrm>
            <a:off x="7147458" y="496951"/>
            <a:ext cx="1494540" cy="1425089"/>
          </a:xfrm>
          <a:prstGeom prst="rect">
            <a:avLst/>
          </a:prstGeom>
        </p:spPr>
      </p:pic>
    </p:spTree>
    <p:extLst>
      <p:ext uri="{BB962C8B-B14F-4D97-AF65-F5344CB8AC3E}">
        <p14:creationId xmlns:p14="http://schemas.microsoft.com/office/powerpoint/2010/main" val="38936860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6D717-2095-17EA-7BAC-F80A7567C9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0581CD-8FB7-FD4E-18CD-017C205ADA6C}"/>
              </a:ext>
            </a:extLst>
          </p:cNvPr>
          <p:cNvSpPr>
            <a:spLocks noGrp="1"/>
          </p:cNvSpPr>
          <p:nvPr>
            <p:ph type="title"/>
          </p:nvPr>
        </p:nvSpPr>
        <p:spPr/>
        <p:txBody>
          <a:bodyPr/>
          <a:lstStyle/>
          <a:p>
            <a:r>
              <a:rPr lang="en-US"/>
              <a:t>Innominds Framework for Workforce Ramp up</a:t>
            </a:r>
            <a:endParaRPr lang="en-IN"/>
          </a:p>
        </p:txBody>
      </p:sp>
      <p:sp>
        <p:nvSpPr>
          <p:cNvPr id="7" name="Rectangle: Rounded Corners 6">
            <a:extLst>
              <a:ext uri="{FF2B5EF4-FFF2-40B4-BE49-F238E27FC236}">
                <a16:creationId xmlns:a16="http://schemas.microsoft.com/office/drawing/2014/main" id="{0A94106E-18EE-A381-9137-C8DE217EA4FC}"/>
              </a:ext>
            </a:extLst>
          </p:cNvPr>
          <p:cNvSpPr/>
          <p:nvPr/>
        </p:nvSpPr>
        <p:spPr>
          <a:xfrm>
            <a:off x="370114" y="811437"/>
            <a:ext cx="11430000" cy="403679"/>
          </a:xfrm>
          <a:prstGeom prst="roundRect">
            <a:avLst/>
          </a:prstGeom>
          <a:solidFill>
            <a:schemeClr val="tx2">
              <a:lumMod val="10000"/>
              <a:lumOff val="90000"/>
              <a:alpha val="62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rgbClr val="272525"/>
                </a:solidFill>
                <a:latin typeface="Lato" panose="020F0502020204030203" pitchFamily="34" charset="0"/>
                <a:ea typeface="Lato" panose="020F0502020204030203" pitchFamily="34" charset="0"/>
                <a:cs typeface="Lato" panose="020F0502020204030203" pitchFamily="34" charset="0"/>
              </a:rPr>
              <a:t>Our model blends continuous workforce readiness, structured training, and AI-led innovation to ensure Deloitte benefits from a future-ready talent pool.</a:t>
            </a:r>
            <a:endParaRPr lang="en-US" sz="1200" b="1">
              <a:latin typeface="Lato" panose="020F0502020204030203" pitchFamily="34" charset="0"/>
              <a:ea typeface="Lato" panose="020F0502020204030203" pitchFamily="34" charset="0"/>
              <a:cs typeface="Lato" panose="020F0502020204030203" pitchFamily="34" charset="0"/>
            </a:endParaRPr>
          </a:p>
        </p:txBody>
      </p:sp>
      <p:sp>
        <p:nvSpPr>
          <p:cNvPr id="28" name="Freeform: Shape 27">
            <a:extLst>
              <a:ext uri="{FF2B5EF4-FFF2-40B4-BE49-F238E27FC236}">
                <a16:creationId xmlns:a16="http://schemas.microsoft.com/office/drawing/2014/main" id="{98B171A0-3C4A-1C30-714B-4F469716086C}"/>
              </a:ext>
            </a:extLst>
          </p:cNvPr>
          <p:cNvSpPr/>
          <p:nvPr/>
        </p:nvSpPr>
        <p:spPr>
          <a:xfrm>
            <a:off x="428649" y="1387437"/>
            <a:ext cx="2633029" cy="2259729"/>
          </a:xfrm>
          <a:custGeom>
            <a:avLst/>
            <a:gdLst>
              <a:gd name="connsiteX0" fmla="*/ 2017404 w 2386905"/>
              <a:gd name="connsiteY0" fmla="*/ 39 h 2882953"/>
              <a:gd name="connsiteX1" fmla="*/ 399478 w 2386905"/>
              <a:gd name="connsiteY1" fmla="*/ 39 h 2882953"/>
              <a:gd name="connsiteX2" fmla="*/ 0 w 2386905"/>
              <a:gd name="connsiteY2" fmla="*/ 399518 h 2882953"/>
              <a:gd name="connsiteX3" fmla="*/ 0 w 2386905"/>
              <a:gd name="connsiteY3" fmla="*/ 2859940 h 2882953"/>
              <a:gd name="connsiteX4" fmla="*/ 23013 w 2386905"/>
              <a:gd name="connsiteY4" fmla="*/ 2882953 h 2882953"/>
              <a:gd name="connsiteX5" fmla="*/ 46027 w 2386905"/>
              <a:gd name="connsiteY5" fmla="*/ 2859940 h 2882953"/>
              <a:gd name="connsiteX6" fmla="*/ 46027 w 2386905"/>
              <a:gd name="connsiteY6" fmla="*/ 1122091 h 2882953"/>
              <a:gd name="connsiteX7" fmla="*/ 445505 w 2386905"/>
              <a:gd name="connsiteY7" fmla="*/ 722613 h 2882953"/>
              <a:gd name="connsiteX8" fmla="*/ 2025615 w 2386905"/>
              <a:gd name="connsiteY8" fmla="*/ 722613 h 2882953"/>
              <a:gd name="connsiteX9" fmla="*/ 2386842 w 2386905"/>
              <a:gd name="connsiteY9" fmla="*/ 368294 h 2882953"/>
              <a:gd name="connsiteX10" fmla="*/ 2017483 w 2386905"/>
              <a:gd name="connsiteY10" fmla="*/ 0 h 2882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86905" h="2882953">
                <a:moveTo>
                  <a:pt x="2017404" y="39"/>
                </a:moveTo>
                <a:lnTo>
                  <a:pt x="399478" y="39"/>
                </a:lnTo>
                <a:cubicBezTo>
                  <a:pt x="178857" y="39"/>
                  <a:pt x="0" y="178897"/>
                  <a:pt x="0" y="399518"/>
                </a:cubicBezTo>
                <a:lnTo>
                  <a:pt x="0" y="2859940"/>
                </a:lnTo>
                <a:cubicBezTo>
                  <a:pt x="0" y="2872650"/>
                  <a:pt x="10303" y="2882953"/>
                  <a:pt x="23013" y="2882953"/>
                </a:cubicBezTo>
                <a:cubicBezTo>
                  <a:pt x="35724" y="2882953"/>
                  <a:pt x="46027" y="2872650"/>
                  <a:pt x="46027" y="2859940"/>
                </a:cubicBezTo>
                <a:lnTo>
                  <a:pt x="46027" y="1122091"/>
                </a:lnTo>
                <a:cubicBezTo>
                  <a:pt x="46027" y="901471"/>
                  <a:pt x="224884" y="722613"/>
                  <a:pt x="445505" y="722613"/>
                </a:cubicBezTo>
                <a:lnTo>
                  <a:pt x="2025615" y="722613"/>
                </a:lnTo>
                <a:cubicBezTo>
                  <a:pt x="2222828" y="722613"/>
                  <a:pt x="2383132" y="564638"/>
                  <a:pt x="2386842" y="368294"/>
                </a:cubicBezTo>
                <a:cubicBezTo>
                  <a:pt x="2390672" y="165791"/>
                  <a:pt x="2220025" y="0"/>
                  <a:pt x="2017483" y="0"/>
                </a:cubicBezTo>
                <a:close/>
              </a:path>
            </a:pathLst>
          </a:custGeom>
          <a:solidFill>
            <a:schemeClr val="accent1">
              <a:lumMod val="20000"/>
              <a:lumOff val="80000"/>
            </a:schemeClr>
          </a:solidFill>
          <a:ln w="394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3F1C6D3D-9BBB-0DCD-478C-04DDBC4F5CC8}"/>
              </a:ext>
            </a:extLst>
          </p:cNvPr>
          <p:cNvSpPr/>
          <p:nvPr/>
        </p:nvSpPr>
        <p:spPr>
          <a:xfrm>
            <a:off x="3009007" y="1387437"/>
            <a:ext cx="2918115" cy="2259696"/>
          </a:xfrm>
          <a:custGeom>
            <a:avLst/>
            <a:gdLst>
              <a:gd name="connsiteX0" fmla="*/ 2275920 w 2645342"/>
              <a:gd name="connsiteY0" fmla="*/ 39 h 2882910"/>
              <a:gd name="connsiteX1" fmla="*/ 657955 w 2645342"/>
              <a:gd name="connsiteY1" fmla="*/ 39 h 2882910"/>
              <a:gd name="connsiteX2" fmla="*/ 258477 w 2645342"/>
              <a:gd name="connsiteY2" fmla="*/ 399518 h 2882910"/>
              <a:gd name="connsiteX3" fmla="*/ 258556 w 2645342"/>
              <a:gd name="connsiteY3" fmla="*/ 2730662 h 2882910"/>
              <a:gd name="connsiteX4" fmla="*/ 138317 w 2645342"/>
              <a:gd name="connsiteY4" fmla="*/ 2836058 h 2882910"/>
              <a:gd name="connsiteX5" fmla="*/ 46027 w 2645342"/>
              <a:gd name="connsiteY5" fmla="*/ 2726991 h 2882910"/>
              <a:gd name="connsiteX6" fmla="*/ 46027 w 2645342"/>
              <a:gd name="connsiteY6" fmla="*/ 983300 h 2882910"/>
              <a:gd name="connsiteX7" fmla="*/ 23013 w 2645342"/>
              <a:gd name="connsiteY7" fmla="*/ 960287 h 2882910"/>
              <a:gd name="connsiteX8" fmla="*/ 0 w 2645342"/>
              <a:gd name="connsiteY8" fmla="*/ 983300 h 2882910"/>
              <a:gd name="connsiteX9" fmla="*/ 0 w 2645342"/>
              <a:gd name="connsiteY9" fmla="*/ 2725254 h 2882910"/>
              <a:gd name="connsiteX10" fmla="*/ 141831 w 2645342"/>
              <a:gd name="connsiteY10" fmla="*/ 2882558 h 2882910"/>
              <a:gd name="connsiteX11" fmla="*/ 304543 w 2645342"/>
              <a:gd name="connsiteY11" fmla="*/ 2730623 h 2882910"/>
              <a:gd name="connsiteX12" fmla="*/ 304543 w 2645342"/>
              <a:gd name="connsiteY12" fmla="*/ 1122091 h 2882910"/>
              <a:gd name="connsiteX13" fmla="*/ 704021 w 2645342"/>
              <a:gd name="connsiteY13" fmla="*/ 722613 h 2882910"/>
              <a:gd name="connsiteX14" fmla="*/ 2284052 w 2645342"/>
              <a:gd name="connsiteY14" fmla="*/ 722613 h 2882910"/>
              <a:gd name="connsiteX15" fmla="*/ 2645279 w 2645342"/>
              <a:gd name="connsiteY15" fmla="*/ 368294 h 2882910"/>
              <a:gd name="connsiteX16" fmla="*/ 2275920 w 2645342"/>
              <a:gd name="connsiteY16" fmla="*/ 0 h 288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645342" h="2882910">
                <a:moveTo>
                  <a:pt x="2275920" y="39"/>
                </a:moveTo>
                <a:lnTo>
                  <a:pt x="657955" y="39"/>
                </a:lnTo>
                <a:cubicBezTo>
                  <a:pt x="437334" y="39"/>
                  <a:pt x="258477" y="178897"/>
                  <a:pt x="258477" y="399518"/>
                </a:cubicBezTo>
                <a:lnTo>
                  <a:pt x="258556" y="2730662"/>
                </a:lnTo>
                <a:cubicBezTo>
                  <a:pt x="258556" y="2793860"/>
                  <a:pt x="203094" y="2844348"/>
                  <a:pt x="138317" y="2836058"/>
                </a:cubicBezTo>
                <a:cubicBezTo>
                  <a:pt x="84751" y="2829190"/>
                  <a:pt x="46027" y="2780992"/>
                  <a:pt x="46027" y="2726991"/>
                </a:cubicBezTo>
                <a:lnTo>
                  <a:pt x="46027" y="983300"/>
                </a:lnTo>
                <a:cubicBezTo>
                  <a:pt x="46027" y="970590"/>
                  <a:pt x="35724" y="960287"/>
                  <a:pt x="23013" y="960287"/>
                </a:cubicBezTo>
                <a:cubicBezTo>
                  <a:pt x="10303" y="960287"/>
                  <a:pt x="0" y="970590"/>
                  <a:pt x="0" y="983300"/>
                </a:cubicBezTo>
                <a:lnTo>
                  <a:pt x="0" y="2725254"/>
                </a:lnTo>
                <a:cubicBezTo>
                  <a:pt x="0" y="2806294"/>
                  <a:pt x="60988" y="2877150"/>
                  <a:pt x="141831" y="2882558"/>
                </a:cubicBezTo>
                <a:cubicBezTo>
                  <a:pt x="230489" y="2888519"/>
                  <a:pt x="304543" y="2818058"/>
                  <a:pt x="304543" y="2730623"/>
                </a:cubicBezTo>
                <a:lnTo>
                  <a:pt x="304543" y="1122091"/>
                </a:lnTo>
                <a:cubicBezTo>
                  <a:pt x="304543" y="901471"/>
                  <a:pt x="483400" y="722613"/>
                  <a:pt x="704021" y="722613"/>
                </a:cubicBezTo>
                <a:lnTo>
                  <a:pt x="2284052" y="722613"/>
                </a:lnTo>
                <a:cubicBezTo>
                  <a:pt x="2481265" y="722613"/>
                  <a:pt x="2641569" y="564638"/>
                  <a:pt x="2645279" y="368294"/>
                </a:cubicBezTo>
                <a:cubicBezTo>
                  <a:pt x="2649109" y="165791"/>
                  <a:pt x="2478462" y="0"/>
                  <a:pt x="2275920" y="0"/>
                </a:cubicBezTo>
                <a:close/>
              </a:path>
            </a:pathLst>
          </a:custGeom>
          <a:solidFill>
            <a:schemeClr val="tx2">
              <a:lumMod val="10000"/>
              <a:lumOff val="90000"/>
            </a:schemeClr>
          </a:solidFill>
          <a:ln w="394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4206B70E-F769-C188-FA12-C32C8A79708E}"/>
              </a:ext>
            </a:extLst>
          </p:cNvPr>
          <p:cNvSpPr/>
          <p:nvPr/>
        </p:nvSpPr>
        <p:spPr>
          <a:xfrm>
            <a:off x="5927122" y="1387437"/>
            <a:ext cx="2918115" cy="2259696"/>
          </a:xfrm>
          <a:custGeom>
            <a:avLst/>
            <a:gdLst>
              <a:gd name="connsiteX0" fmla="*/ 2275920 w 2645342"/>
              <a:gd name="connsiteY0" fmla="*/ 39 h 2882910"/>
              <a:gd name="connsiteX1" fmla="*/ 657955 w 2645342"/>
              <a:gd name="connsiteY1" fmla="*/ 39 h 2882910"/>
              <a:gd name="connsiteX2" fmla="*/ 258477 w 2645342"/>
              <a:gd name="connsiteY2" fmla="*/ 399518 h 2882910"/>
              <a:gd name="connsiteX3" fmla="*/ 258556 w 2645342"/>
              <a:gd name="connsiteY3" fmla="*/ 2730662 h 2882910"/>
              <a:gd name="connsiteX4" fmla="*/ 138317 w 2645342"/>
              <a:gd name="connsiteY4" fmla="*/ 2836058 h 2882910"/>
              <a:gd name="connsiteX5" fmla="*/ 46027 w 2645342"/>
              <a:gd name="connsiteY5" fmla="*/ 2726991 h 2882910"/>
              <a:gd name="connsiteX6" fmla="*/ 46027 w 2645342"/>
              <a:gd name="connsiteY6" fmla="*/ 983300 h 2882910"/>
              <a:gd name="connsiteX7" fmla="*/ 23013 w 2645342"/>
              <a:gd name="connsiteY7" fmla="*/ 960287 h 2882910"/>
              <a:gd name="connsiteX8" fmla="*/ 0 w 2645342"/>
              <a:gd name="connsiteY8" fmla="*/ 983300 h 2882910"/>
              <a:gd name="connsiteX9" fmla="*/ 0 w 2645342"/>
              <a:gd name="connsiteY9" fmla="*/ 2725254 h 2882910"/>
              <a:gd name="connsiteX10" fmla="*/ 141831 w 2645342"/>
              <a:gd name="connsiteY10" fmla="*/ 2882558 h 2882910"/>
              <a:gd name="connsiteX11" fmla="*/ 304543 w 2645342"/>
              <a:gd name="connsiteY11" fmla="*/ 2730623 h 2882910"/>
              <a:gd name="connsiteX12" fmla="*/ 304543 w 2645342"/>
              <a:gd name="connsiteY12" fmla="*/ 1122091 h 2882910"/>
              <a:gd name="connsiteX13" fmla="*/ 704021 w 2645342"/>
              <a:gd name="connsiteY13" fmla="*/ 722613 h 2882910"/>
              <a:gd name="connsiteX14" fmla="*/ 2284052 w 2645342"/>
              <a:gd name="connsiteY14" fmla="*/ 722613 h 2882910"/>
              <a:gd name="connsiteX15" fmla="*/ 2645279 w 2645342"/>
              <a:gd name="connsiteY15" fmla="*/ 368294 h 2882910"/>
              <a:gd name="connsiteX16" fmla="*/ 2275920 w 2645342"/>
              <a:gd name="connsiteY16" fmla="*/ 0 h 288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645342" h="2882910">
                <a:moveTo>
                  <a:pt x="2275920" y="39"/>
                </a:moveTo>
                <a:lnTo>
                  <a:pt x="657955" y="39"/>
                </a:lnTo>
                <a:cubicBezTo>
                  <a:pt x="437334" y="39"/>
                  <a:pt x="258477" y="178897"/>
                  <a:pt x="258477" y="399518"/>
                </a:cubicBezTo>
                <a:lnTo>
                  <a:pt x="258556" y="2730662"/>
                </a:lnTo>
                <a:cubicBezTo>
                  <a:pt x="258556" y="2793860"/>
                  <a:pt x="203094" y="2844348"/>
                  <a:pt x="138317" y="2836058"/>
                </a:cubicBezTo>
                <a:cubicBezTo>
                  <a:pt x="84751" y="2829190"/>
                  <a:pt x="46027" y="2780992"/>
                  <a:pt x="46027" y="2726991"/>
                </a:cubicBezTo>
                <a:lnTo>
                  <a:pt x="46027" y="983300"/>
                </a:lnTo>
                <a:cubicBezTo>
                  <a:pt x="46027" y="970590"/>
                  <a:pt x="35724" y="960287"/>
                  <a:pt x="23013" y="960287"/>
                </a:cubicBezTo>
                <a:cubicBezTo>
                  <a:pt x="10303" y="960287"/>
                  <a:pt x="0" y="970590"/>
                  <a:pt x="0" y="983300"/>
                </a:cubicBezTo>
                <a:lnTo>
                  <a:pt x="0" y="2725254"/>
                </a:lnTo>
                <a:cubicBezTo>
                  <a:pt x="0" y="2806294"/>
                  <a:pt x="60988" y="2877150"/>
                  <a:pt x="141831" y="2882558"/>
                </a:cubicBezTo>
                <a:cubicBezTo>
                  <a:pt x="230489" y="2888519"/>
                  <a:pt x="304543" y="2818058"/>
                  <a:pt x="304543" y="2730623"/>
                </a:cubicBezTo>
                <a:lnTo>
                  <a:pt x="304543" y="1122091"/>
                </a:lnTo>
                <a:cubicBezTo>
                  <a:pt x="304543" y="901471"/>
                  <a:pt x="483400" y="722613"/>
                  <a:pt x="704021" y="722613"/>
                </a:cubicBezTo>
                <a:lnTo>
                  <a:pt x="2284052" y="722613"/>
                </a:lnTo>
                <a:cubicBezTo>
                  <a:pt x="2481265" y="722613"/>
                  <a:pt x="2641569" y="564638"/>
                  <a:pt x="2645279" y="368294"/>
                </a:cubicBezTo>
                <a:cubicBezTo>
                  <a:pt x="2649109" y="165791"/>
                  <a:pt x="2478462" y="0"/>
                  <a:pt x="2275920" y="0"/>
                </a:cubicBezTo>
                <a:close/>
              </a:path>
            </a:pathLst>
          </a:custGeom>
          <a:solidFill>
            <a:schemeClr val="accent1">
              <a:lumMod val="20000"/>
              <a:lumOff val="80000"/>
            </a:schemeClr>
          </a:solidFill>
          <a:ln w="394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C9248516-E299-51C7-EBBA-102516302850}"/>
              </a:ext>
            </a:extLst>
          </p:cNvPr>
          <p:cNvSpPr/>
          <p:nvPr/>
        </p:nvSpPr>
        <p:spPr>
          <a:xfrm>
            <a:off x="8845237" y="1387437"/>
            <a:ext cx="2918115" cy="2259696"/>
          </a:xfrm>
          <a:custGeom>
            <a:avLst/>
            <a:gdLst>
              <a:gd name="connsiteX0" fmla="*/ 2275920 w 2645342"/>
              <a:gd name="connsiteY0" fmla="*/ 39 h 2882910"/>
              <a:gd name="connsiteX1" fmla="*/ 657955 w 2645342"/>
              <a:gd name="connsiteY1" fmla="*/ 39 h 2882910"/>
              <a:gd name="connsiteX2" fmla="*/ 258477 w 2645342"/>
              <a:gd name="connsiteY2" fmla="*/ 399518 h 2882910"/>
              <a:gd name="connsiteX3" fmla="*/ 258556 w 2645342"/>
              <a:gd name="connsiteY3" fmla="*/ 2730662 h 2882910"/>
              <a:gd name="connsiteX4" fmla="*/ 138317 w 2645342"/>
              <a:gd name="connsiteY4" fmla="*/ 2836058 h 2882910"/>
              <a:gd name="connsiteX5" fmla="*/ 46027 w 2645342"/>
              <a:gd name="connsiteY5" fmla="*/ 2726991 h 2882910"/>
              <a:gd name="connsiteX6" fmla="*/ 46027 w 2645342"/>
              <a:gd name="connsiteY6" fmla="*/ 983300 h 2882910"/>
              <a:gd name="connsiteX7" fmla="*/ 23013 w 2645342"/>
              <a:gd name="connsiteY7" fmla="*/ 960287 h 2882910"/>
              <a:gd name="connsiteX8" fmla="*/ 0 w 2645342"/>
              <a:gd name="connsiteY8" fmla="*/ 983300 h 2882910"/>
              <a:gd name="connsiteX9" fmla="*/ 0 w 2645342"/>
              <a:gd name="connsiteY9" fmla="*/ 2725254 h 2882910"/>
              <a:gd name="connsiteX10" fmla="*/ 141831 w 2645342"/>
              <a:gd name="connsiteY10" fmla="*/ 2882558 h 2882910"/>
              <a:gd name="connsiteX11" fmla="*/ 304543 w 2645342"/>
              <a:gd name="connsiteY11" fmla="*/ 2730623 h 2882910"/>
              <a:gd name="connsiteX12" fmla="*/ 304543 w 2645342"/>
              <a:gd name="connsiteY12" fmla="*/ 1122091 h 2882910"/>
              <a:gd name="connsiteX13" fmla="*/ 704021 w 2645342"/>
              <a:gd name="connsiteY13" fmla="*/ 722613 h 2882910"/>
              <a:gd name="connsiteX14" fmla="*/ 2284052 w 2645342"/>
              <a:gd name="connsiteY14" fmla="*/ 722613 h 2882910"/>
              <a:gd name="connsiteX15" fmla="*/ 2645279 w 2645342"/>
              <a:gd name="connsiteY15" fmla="*/ 368294 h 2882910"/>
              <a:gd name="connsiteX16" fmla="*/ 2275920 w 2645342"/>
              <a:gd name="connsiteY16" fmla="*/ 0 h 288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645342" h="2882910">
                <a:moveTo>
                  <a:pt x="2275920" y="39"/>
                </a:moveTo>
                <a:lnTo>
                  <a:pt x="657955" y="39"/>
                </a:lnTo>
                <a:cubicBezTo>
                  <a:pt x="437334" y="39"/>
                  <a:pt x="258477" y="178897"/>
                  <a:pt x="258477" y="399518"/>
                </a:cubicBezTo>
                <a:lnTo>
                  <a:pt x="258556" y="2730662"/>
                </a:lnTo>
                <a:cubicBezTo>
                  <a:pt x="258556" y="2793860"/>
                  <a:pt x="203094" y="2844348"/>
                  <a:pt x="138317" y="2836058"/>
                </a:cubicBezTo>
                <a:cubicBezTo>
                  <a:pt x="84751" y="2829190"/>
                  <a:pt x="46027" y="2780992"/>
                  <a:pt x="46027" y="2726991"/>
                </a:cubicBezTo>
                <a:lnTo>
                  <a:pt x="46027" y="983300"/>
                </a:lnTo>
                <a:cubicBezTo>
                  <a:pt x="46027" y="970590"/>
                  <a:pt x="35724" y="960287"/>
                  <a:pt x="23013" y="960287"/>
                </a:cubicBezTo>
                <a:cubicBezTo>
                  <a:pt x="10303" y="960287"/>
                  <a:pt x="0" y="970590"/>
                  <a:pt x="0" y="983300"/>
                </a:cubicBezTo>
                <a:lnTo>
                  <a:pt x="0" y="2725254"/>
                </a:lnTo>
                <a:cubicBezTo>
                  <a:pt x="0" y="2806294"/>
                  <a:pt x="60988" y="2877150"/>
                  <a:pt x="141831" y="2882558"/>
                </a:cubicBezTo>
                <a:cubicBezTo>
                  <a:pt x="230489" y="2888519"/>
                  <a:pt x="304543" y="2818058"/>
                  <a:pt x="304543" y="2730623"/>
                </a:cubicBezTo>
                <a:lnTo>
                  <a:pt x="304543" y="1122091"/>
                </a:lnTo>
                <a:cubicBezTo>
                  <a:pt x="304543" y="901471"/>
                  <a:pt x="483400" y="722613"/>
                  <a:pt x="704021" y="722613"/>
                </a:cubicBezTo>
                <a:lnTo>
                  <a:pt x="2284052" y="722613"/>
                </a:lnTo>
                <a:cubicBezTo>
                  <a:pt x="2481265" y="722613"/>
                  <a:pt x="2641569" y="564638"/>
                  <a:pt x="2645279" y="368294"/>
                </a:cubicBezTo>
                <a:cubicBezTo>
                  <a:pt x="2649109" y="165791"/>
                  <a:pt x="2478462" y="0"/>
                  <a:pt x="2275920" y="0"/>
                </a:cubicBezTo>
                <a:close/>
              </a:path>
            </a:pathLst>
          </a:custGeom>
          <a:solidFill>
            <a:schemeClr val="tx2">
              <a:lumMod val="10000"/>
              <a:lumOff val="90000"/>
            </a:schemeClr>
          </a:solidFill>
          <a:ln w="394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5DA0A094-4ACF-C410-CA2D-AF32F5216AC1}"/>
              </a:ext>
            </a:extLst>
          </p:cNvPr>
          <p:cNvSpPr/>
          <p:nvPr/>
        </p:nvSpPr>
        <p:spPr>
          <a:xfrm>
            <a:off x="1887706" y="3999267"/>
            <a:ext cx="2633029" cy="2259729"/>
          </a:xfrm>
          <a:custGeom>
            <a:avLst/>
            <a:gdLst>
              <a:gd name="connsiteX0" fmla="*/ 2017404 w 2386905"/>
              <a:gd name="connsiteY0" fmla="*/ 39 h 2882953"/>
              <a:gd name="connsiteX1" fmla="*/ 399478 w 2386905"/>
              <a:gd name="connsiteY1" fmla="*/ 39 h 2882953"/>
              <a:gd name="connsiteX2" fmla="*/ 0 w 2386905"/>
              <a:gd name="connsiteY2" fmla="*/ 399518 h 2882953"/>
              <a:gd name="connsiteX3" fmla="*/ 0 w 2386905"/>
              <a:gd name="connsiteY3" fmla="*/ 2859940 h 2882953"/>
              <a:gd name="connsiteX4" fmla="*/ 23013 w 2386905"/>
              <a:gd name="connsiteY4" fmla="*/ 2882953 h 2882953"/>
              <a:gd name="connsiteX5" fmla="*/ 46027 w 2386905"/>
              <a:gd name="connsiteY5" fmla="*/ 2859940 h 2882953"/>
              <a:gd name="connsiteX6" fmla="*/ 46027 w 2386905"/>
              <a:gd name="connsiteY6" fmla="*/ 1122091 h 2882953"/>
              <a:gd name="connsiteX7" fmla="*/ 445505 w 2386905"/>
              <a:gd name="connsiteY7" fmla="*/ 722613 h 2882953"/>
              <a:gd name="connsiteX8" fmla="*/ 2025615 w 2386905"/>
              <a:gd name="connsiteY8" fmla="*/ 722613 h 2882953"/>
              <a:gd name="connsiteX9" fmla="*/ 2386842 w 2386905"/>
              <a:gd name="connsiteY9" fmla="*/ 368294 h 2882953"/>
              <a:gd name="connsiteX10" fmla="*/ 2017483 w 2386905"/>
              <a:gd name="connsiteY10" fmla="*/ 0 h 2882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86905" h="2882953">
                <a:moveTo>
                  <a:pt x="2017404" y="39"/>
                </a:moveTo>
                <a:lnTo>
                  <a:pt x="399478" y="39"/>
                </a:lnTo>
                <a:cubicBezTo>
                  <a:pt x="178857" y="39"/>
                  <a:pt x="0" y="178897"/>
                  <a:pt x="0" y="399518"/>
                </a:cubicBezTo>
                <a:lnTo>
                  <a:pt x="0" y="2859940"/>
                </a:lnTo>
                <a:cubicBezTo>
                  <a:pt x="0" y="2872650"/>
                  <a:pt x="10303" y="2882953"/>
                  <a:pt x="23013" y="2882953"/>
                </a:cubicBezTo>
                <a:cubicBezTo>
                  <a:pt x="35724" y="2882953"/>
                  <a:pt x="46027" y="2872650"/>
                  <a:pt x="46027" y="2859940"/>
                </a:cubicBezTo>
                <a:lnTo>
                  <a:pt x="46027" y="1122091"/>
                </a:lnTo>
                <a:cubicBezTo>
                  <a:pt x="46027" y="901471"/>
                  <a:pt x="224884" y="722613"/>
                  <a:pt x="445505" y="722613"/>
                </a:cubicBezTo>
                <a:lnTo>
                  <a:pt x="2025615" y="722613"/>
                </a:lnTo>
                <a:cubicBezTo>
                  <a:pt x="2222828" y="722613"/>
                  <a:pt x="2383132" y="564638"/>
                  <a:pt x="2386842" y="368294"/>
                </a:cubicBezTo>
                <a:cubicBezTo>
                  <a:pt x="2390672" y="165791"/>
                  <a:pt x="2220025" y="0"/>
                  <a:pt x="2017483" y="0"/>
                </a:cubicBezTo>
                <a:close/>
              </a:path>
            </a:pathLst>
          </a:custGeom>
          <a:solidFill>
            <a:schemeClr val="accent1">
              <a:lumMod val="20000"/>
              <a:lumOff val="80000"/>
            </a:schemeClr>
          </a:solidFill>
          <a:ln w="394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78901248-5CC9-AE9F-2ABF-9E403CAF795F}"/>
              </a:ext>
            </a:extLst>
          </p:cNvPr>
          <p:cNvSpPr/>
          <p:nvPr/>
        </p:nvSpPr>
        <p:spPr>
          <a:xfrm>
            <a:off x="4468064" y="3999267"/>
            <a:ext cx="2918115" cy="2259696"/>
          </a:xfrm>
          <a:custGeom>
            <a:avLst/>
            <a:gdLst>
              <a:gd name="connsiteX0" fmla="*/ 2275920 w 2645342"/>
              <a:gd name="connsiteY0" fmla="*/ 39 h 2882910"/>
              <a:gd name="connsiteX1" fmla="*/ 657955 w 2645342"/>
              <a:gd name="connsiteY1" fmla="*/ 39 h 2882910"/>
              <a:gd name="connsiteX2" fmla="*/ 258477 w 2645342"/>
              <a:gd name="connsiteY2" fmla="*/ 399518 h 2882910"/>
              <a:gd name="connsiteX3" fmla="*/ 258556 w 2645342"/>
              <a:gd name="connsiteY3" fmla="*/ 2730662 h 2882910"/>
              <a:gd name="connsiteX4" fmla="*/ 138317 w 2645342"/>
              <a:gd name="connsiteY4" fmla="*/ 2836058 h 2882910"/>
              <a:gd name="connsiteX5" fmla="*/ 46027 w 2645342"/>
              <a:gd name="connsiteY5" fmla="*/ 2726991 h 2882910"/>
              <a:gd name="connsiteX6" fmla="*/ 46027 w 2645342"/>
              <a:gd name="connsiteY6" fmla="*/ 983300 h 2882910"/>
              <a:gd name="connsiteX7" fmla="*/ 23013 w 2645342"/>
              <a:gd name="connsiteY7" fmla="*/ 960287 h 2882910"/>
              <a:gd name="connsiteX8" fmla="*/ 0 w 2645342"/>
              <a:gd name="connsiteY8" fmla="*/ 983300 h 2882910"/>
              <a:gd name="connsiteX9" fmla="*/ 0 w 2645342"/>
              <a:gd name="connsiteY9" fmla="*/ 2725254 h 2882910"/>
              <a:gd name="connsiteX10" fmla="*/ 141831 w 2645342"/>
              <a:gd name="connsiteY10" fmla="*/ 2882558 h 2882910"/>
              <a:gd name="connsiteX11" fmla="*/ 304543 w 2645342"/>
              <a:gd name="connsiteY11" fmla="*/ 2730623 h 2882910"/>
              <a:gd name="connsiteX12" fmla="*/ 304543 w 2645342"/>
              <a:gd name="connsiteY12" fmla="*/ 1122091 h 2882910"/>
              <a:gd name="connsiteX13" fmla="*/ 704021 w 2645342"/>
              <a:gd name="connsiteY13" fmla="*/ 722613 h 2882910"/>
              <a:gd name="connsiteX14" fmla="*/ 2284052 w 2645342"/>
              <a:gd name="connsiteY14" fmla="*/ 722613 h 2882910"/>
              <a:gd name="connsiteX15" fmla="*/ 2645279 w 2645342"/>
              <a:gd name="connsiteY15" fmla="*/ 368294 h 2882910"/>
              <a:gd name="connsiteX16" fmla="*/ 2275920 w 2645342"/>
              <a:gd name="connsiteY16" fmla="*/ 0 h 288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645342" h="2882910">
                <a:moveTo>
                  <a:pt x="2275920" y="39"/>
                </a:moveTo>
                <a:lnTo>
                  <a:pt x="657955" y="39"/>
                </a:lnTo>
                <a:cubicBezTo>
                  <a:pt x="437334" y="39"/>
                  <a:pt x="258477" y="178897"/>
                  <a:pt x="258477" y="399518"/>
                </a:cubicBezTo>
                <a:lnTo>
                  <a:pt x="258556" y="2730662"/>
                </a:lnTo>
                <a:cubicBezTo>
                  <a:pt x="258556" y="2793860"/>
                  <a:pt x="203094" y="2844348"/>
                  <a:pt x="138317" y="2836058"/>
                </a:cubicBezTo>
                <a:cubicBezTo>
                  <a:pt x="84751" y="2829190"/>
                  <a:pt x="46027" y="2780992"/>
                  <a:pt x="46027" y="2726991"/>
                </a:cubicBezTo>
                <a:lnTo>
                  <a:pt x="46027" y="983300"/>
                </a:lnTo>
                <a:cubicBezTo>
                  <a:pt x="46027" y="970590"/>
                  <a:pt x="35724" y="960287"/>
                  <a:pt x="23013" y="960287"/>
                </a:cubicBezTo>
                <a:cubicBezTo>
                  <a:pt x="10303" y="960287"/>
                  <a:pt x="0" y="970590"/>
                  <a:pt x="0" y="983300"/>
                </a:cubicBezTo>
                <a:lnTo>
                  <a:pt x="0" y="2725254"/>
                </a:lnTo>
                <a:cubicBezTo>
                  <a:pt x="0" y="2806294"/>
                  <a:pt x="60988" y="2877150"/>
                  <a:pt x="141831" y="2882558"/>
                </a:cubicBezTo>
                <a:cubicBezTo>
                  <a:pt x="230489" y="2888519"/>
                  <a:pt x="304543" y="2818058"/>
                  <a:pt x="304543" y="2730623"/>
                </a:cubicBezTo>
                <a:lnTo>
                  <a:pt x="304543" y="1122091"/>
                </a:lnTo>
                <a:cubicBezTo>
                  <a:pt x="304543" y="901471"/>
                  <a:pt x="483400" y="722613"/>
                  <a:pt x="704021" y="722613"/>
                </a:cubicBezTo>
                <a:lnTo>
                  <a:pt x="2284052" y="722613"/>
                </a:lnTo>
                <a:cubicBezTo>
                  <a:pt x="2481265" y="722613"/>
                  <a:pt x="2641569" y="564638"/>
                  <a:pt x="2645279" y="368294"/>
                </a:cubicBezTo>
                <a:cubicBezTo>
                  <a:pt x="2649109" y="165791"/>
                  <a:pt x="2478462" y="0"/>
                  <a:pt x="2275920" y="0"/>
                </a:cubicBezTo>
                <a:close/>
              </a:path>
            </a:pathLst>
          </a:custGeom>
          <a:solidFill>
            <a:schemeClr val="tx2">
              <a:lumMod val="10000"/>
              <a:lumOff val="90000"/>
            </a:schemeClr>
          </a:solidFill>
          <a:ln w="3944"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672B99D6-6B37-3AB9-7FE5-3FD6D65286B0}"/>
              </a:ext>
            </a:extLst>
          </p:cNvPr>
          <p:cNvSpPr/>
          <p:nvPr/>
        </p:nvSpPr>
        <p:spPr>
          <a:xfrm>
            <a:off x="7386179" y="3999267"/>
            <a:ext cx="2918115" cy="2259696"/>
          </a:xfrm>
          <a:custGeom>
            <a:avLst/>
            <a:gdLst>
              <a:gd name="connsiteX0" fmla="*/ 2275920 w 2645342"/>
              <a:gd name="connsiteY0" fmla="*/ 39 h 2882910"/>
              <a:gd name="connsiteX1" fmla="*/ 657955 w 2645342"/>
              <a:gd name="connsiteY1" fmla="*/ 39 h 2882910"/>
              <a:gd name="connsiteX2" fmla="*/ 258477 w 2645342"/>
              <a:gd name="connsiteY2" fmla="*/ 399518 h 2882910"/>
              <a:gd name="connsiteX3" fmla="*/ 258556 w 2645342"/>
              <a:gd name="connsiteY3" fmla="*/ 2730662 h 2882910"/>
              <a:gd name="connsiteX4" fmla="*/ 138317 w 2645342"/>
              <a:gd name="connsiteY4" fmla="*/ 2836058 h 2882910"/>
              <a:gd name="connsiteX5" fmla="*/ 46027 w 2645342"/>
              <a:gd name="connsiteY5" fmla="*/ 2726991 h 2882910"/>
              <a:gd name="connsiteX6" fmla="*/ 46027 w 2645342"/>
              <a:gd name="connsiteY6" fmla="*/ 983300 h 2882910"/>
              <a:gd name="connsiteX7" fmla="*/ 23013 w 2645342"/>
              <a:gd name="connsiteY7" fmla="*/ 960287 h 2882910"/>
              <a:gd name="connsiteX8" fmla="*/ 0 w 2645342"/>
              <a:gd name="connsiteY8" fmla="*/ 983300 h 2882910"/>
              <a:gd name="connsiteX9" fmla="*/ 0 w 2645342"/>
              <a:gd name="connsiteY9" fmla="*/ 2725254 h 2882910"/>
              <a:gd name="connsiteX10" fmla="*/ 141831 w 2645342"/>
              <a:gd name="connsiteY10" fmla="*/ 2882558 h 2882910"/>
              <a:gd name="connsiteX11" fmla="*/ 304543 w 2645342"/>
              <a:gd name="connsiteY11" fmla="*/ 2730623 h 2882910"/>
              <a:gd name="connsiteX12" fmla="*/ 304543 w 2645342"/>
              <a:gd name="connsiteY12" fmla="*/ 1122091 h 2882910"/>
              <a:gd name="connsiteX13" fmla="*/ 704021 w 2645342"/>
              <a:gd name="connsiteY13" fmla="*/ 722613 h 2882910"/>
              <a:gd name="connsiteX14" fmla="*/ 2284052 w 2645342"/>
              <a:gd name="connsiteY14" fmla="*/ 722613 h 2882910"/>
              <a:gd name="connsiteX15" fmla="*/ 2645279 w 2645342"/>
              <a:gd name="connsiteY15" fmla="*/ 368294 h 2882910"/>
              <a:gd name="connsiteX16" fmla="*/ 2275920 w 2645342"/>
              <a:gd name="connsiteY16" fmla="*/ 0 h 288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645342" h="2882910">
                <a:moveTo>
                  <a:pt x="2275920" y="39"/>
                </a:moveTo>
                <a:lnTo>
                  <a:pt x="657955" y="39"/>
                </a:lnTo>
                <a:cubicBezTo>
                  <a:pt x="437334" y="39"/>
                  <a:pt x="258477" y="178897"/>
                  <a:pt x="258477" y="399518"/>
                </a:cubicBezTo>
                <a:lnTo>
                  <a:pt x="258556" y="2730662"/>
                </a:lnTo>
                <a:cubicBezTo>
                  <a:pt x="258556" y="2793860"/>
                  <a:pt x="203094" y="2844348"/>
                  <a:pt x="138317" y="2836058"/>
                </a:cubicBezTo>
                <a:cubicBezTo>
                  <a:pt x="84751" y="2829190"/>
                  <a:pt x="46027" y="2780992"/>
                  <a:pt x="46027" y="2726991"/>
                </a:cubicBezTo>
                <a:lnTo>
                  <a:pt x="46027" y="983300"/>
                </a:lnTo>
                <a:cubicBezTo>
                  <a:pt x="46027" y="970590"/>
                  <a:pt x="35724" y="960287"/>
                  <a:pt x="23013" y="960287"/>
                </a:cubicBezTo>
                <a:cubicBezTo>
                  <a:pt x="10303" y="960287"/>
                  <a:pt x="0" y="970590"/>
                  <a:pt x="0" y="983300"/>
                </a:cubicBezTo>
                <a:lnTo>
                  <a:pt x="0" y="2725254"/>
                </a:lnTo>
                <a:cubicBezTo>
                  <a:pt x="0" y="2806294"/>
                  <a:pt x="60988" y="2877150"/>
                  <a:pt x="141831" y="2882558"/>
                </a:cubicBezTo>
                <a:cubicBezTo>
                  <a:pt x="230489" y="2888519"/>
                  <a:pt x="304543" y="2818058"/>
                  <a:pt x="304543" y="2730623"/>
                </a:cubicBezTo>
                <a:lnTo>
                  <a:pt x="304543" y="1122091"/>
                </a:lnTo>
                <a:cubicBezTo>
                  <a:pt x="304543" y="901471"/>
                  <a:pt x="483400" y="722613"/>
                  <a:pt x="704021" y="722613"/>
                </a:cubicBezTo>
                <a:lnTo>
                  <a:pt x="2284052" y="722613"/>
                </a:lnTo>
                <a:cubicBezTo>
                  <a:pt x="2481265" y="722613"/>
                  <a:pt x="2641569" y="564638"/>
                  <a:pt x="2645279" y="368294"/>
                </a:cubicBezTo>
                <a:cubicBezTo>
                  <a:pt x="2649109" y="165791"/>
                  <a:pt x="2478462" y="0"/>
                  <a:pt x="2275920" y="0"/>
                </a:cubicBezTo>
                <a:close/>
              </a:path>
            </a:pathLst>
          </a:custGeom>
          <a:solidFill>
            <a:schemeClr val="accent1">
              <a:lumMod val="20000"/>
              <a:lumOff val="80000"/>
            </a:schemeClr>
          </a:solidFill>
          <a:ln w="3944" cap="flat">
            <a:noFill/>
            <a:prstDash val="solid"/>
            <a:miter/>
          </a:ln>
        </p:spPr>
        <p:txBody>
          <a:bodyPr rtlCol="0" anchor="ctr"/>
          <a:lstStyle/>
          <a:p>
            <a:endParaRPr lang="en-US"/>
          </a:p>
        </p:txBody>
      </p:sp>
      <p:grpSp>
        <p:nvGrpSpPr>
          <p:cNvPr id="42" name="Group 41">
            <a:extLst>
              <a:ext uri="{FF2B5EF4-FFF2-40B4-BE49-F238E27FC236}">
                <a16:creationId xmlns:a16="http://schemas.microsoft.com/office/drawing/2014/main" id="{52D79C82-A167-FFC9-385A-803E56F4DABB}"/>
              </a:ext>
            </a:extLst>
          </p:cNvPr>
          <p:cNvGrpSpPr/>
          <p:nvPr/>
        </p:nvGrpSpPr>
        <p:grpSpPr>
          <a:xfrm>
            <a:off x="666181" y="1579705"/>
            <a:ext cx="2157963" cy="1808269"/>
            <a:chOff x="666181" y="1361538"/>
            <a:chExt cx="2157963" cy="2171075"/>
          </a:xfrm>
        </p:grpSpPr>
        <p:sp>
          <p:nvSpPr>
            <p:cNvPr id="38" name="TextBox 37">
              <a:extLst>
                <a:ext uri="{FF2B5EF4-FFF2-40B4-BE49-F238E27FC236}">
                  <a16:creationId xmlns:a16="http://schemas.microsoft.com/office/drawing/2014/main" id="{4AD01581-262D-20DF-8374-459F373E0CA2}"/>
                </a:ext>
              </a:extLst>
            </p:cNvPr>
            <p:cNvSpPr txBox="1"/>
            <p:nvPr/>
          </p:nvSpPr>
          <p:spPr>
            <a:xfrm>
              <a:off x="666181" y="1361538"/>
              <a:ext cx="2157963" cy="276999"/>
            </a:xfrm>
            <a:prstGeom prst="rect">
              <a:avLst/>
            </a:prstGeom>
            <a:noFill/>
          </p:spPr>
          <p:txBody>
            <a:bodyPr wrap="none" rtlCol="0">
              <a:spAutoFit/>
            </a:bodyPr>
            <a:lstStyle/>
            <a:p>
              <a:pPr algn="ctr"/>
              <a:r>
                <a:rPr lang="en-US" sz="1200" b="1">
                  <a:solidFill>
                    <a:srgbClr val="0070C0"/>
                  </a:solidFill>
                  <a:latin typeface="Lato" panose="020F0502020204030203" pitchFamily="34" charset="0"/>
                  <a:ea typeface="Lato" panose="020F0502020204030203" pitchFamily="34" charset="0"/>
                  <a:cs typeface="Lato" panose="020F0502020204030203" pitchFamily="34" charset="0"/>
                </a:rPr>
                <a:t>Bench Strength &amp; Re-Skilling</a:t>
              </a:r>
              <a:endParaRPr lang="en-US" sz="1200">
                <a:solidFill>
                  <a:srgbClr val="0070C0"/>
                </a:solidFill>
                <a:latin typeface="Lato" panose="020F0502020204030203" pitchFamily="34" charset="0"/>
                <a:ea typeface="Lato" panose="020F0502020204030203" pitchFamily="34" charset="0"/>
                <a:cs typeface="Lato" panose="020F0502020204030203" pitchFamily="34" charset="0"/>
              </a:endParaRPr>
            </a:p>
          </p:txBody>
        </p:sp>
        <p:sp>
          <p:nvSpPr>
            <p:cNvPr id="39" name="TextBox 38">
              <a:extLst>
                <a:ext uri="{FF2B5EF4-FFF2-40B4-BE49-F238E27FC236}">
                  <a16:creationId xmlns:a16="http://schemas.microsoft.com/office/drawing/2014/main" id="{27F66CA2-8449-FD34-A258-68B40B727190}"/>
                </a:ext>
              </a:extLst>
            </p:cNvPr>
            <p:cNvSpPr txBox="1"/>
            <p:nvPr/>
          </p:nvSpPr>
          <p:spPr>
            <a:xfrm>
              <a:off x="666181" y="2091453"/>
              <a:ext cx="2157963" cy="1441160"/>
            </a:xfrm>
            <a:prstGeom prst="rect">
              <a:avLst/>
            </a:prstGeom>
            <a:noFill/>
          </p:spPr>
          <p:txBody>
            <a:bodyPr wrap="square" rtlCol="0">
              <a:spAutoFit/>
            </a:bodyPr>
            <a:lstStyle/>
            <a:p>
              <a:r>
                <a:rPr lang="en-US" sz="1200">
                  <a:latin typeface="Lato" panose="020F0502020204030203" pitchFamily="34" charset="0"/>
                  <a:ea typeface="Lato" panose="020F0502020204030203" pitchFamily="34" charset="0"/>
                  <a:cs typeface="Lato" panose="020F0502020204030203" pitchFamily="34" charset="0"/>
                </a:rPr>
                <a:t>The Bench will be reskilled per demand through structured annual training calendars of Innominds academy and external partner programs.</a:t>
              </a:r>
            </a:p>
          </p:txBody>
        </p:sp>
      </p:grpSp>
      <p:grpSp>
        <p:nvGrpSpPr>
          <p:cNvPr id="43" name="Group 42">
            <a:extLst>
              <a:ext uri="{FF2B5EF4-FFF2-40B4-BE49-F238E27FC236}">
                <a16:creationId xmlns:a16="http://schemas.microsoft.com/office/drawing/2014/main" id="{5FE1D53E-E123-0FDC-3FB4-D558B3112D53}"/>
              </a:ext>
            </a:extLst>
          </p:cNvPr>
          <p:cNvGrpSpPr/>
          <p:nvPr/>
        </p:nvGrpSpPr>
        <p:grpSpPr>
          <a:xfrm>
            <a:off x="3435754" y="1579706"/>
            <a:ext cx="2622235" cy="2046586"/>
            <a:chOff x="513697" y="1361538"/>
            <a:chExt cx="2622235" cy="2457205"/>
          </a:xfrm>
        </p:grpSpPr>
        <p:sp>
          <p:nvSpPr>
            <p:cNvPr id="44" name="TextBox 43">
              <a:extLst>
                <a:ext uri="{FF2B5EF4-FFF2-40B4-BE49-F238E27FC236}">
                  <a16:creationId xmlns:a16="http://schemas.microsoft.com/office/drawing/2014/main" id="{DD543320-245F-88C4-F00A-5BC4A706B84C}"/>
                </a:ext>
              </a:extLst>
            </p:cNvPr>
            <p:cNvSpPr txBox="1"/>
            <p:nvPr/>
          </p:nvSpPr>
          <p:spPr>
            <a:xfrm>
              <a:off x="722794" y="1361538"/>
              <a:ext cx="1781257" cy="332575"/>
            </a:xfrm>
            <a:prstGeom prst="rect">
              <a:avLst/>
            </a:prstGeom>
            <a:noFill/>
          </p:spPr>
          <p:txBody>
            <a:bodyPr wrap="none" rtlCol="0">
              <a:spAutoFit/>
            </a:bodyPr>
            <a:lstStyle/>
            <a:p>
              <a:pPr algn="ctr"/>
              <a:r>
                <a:rPr lang="en-US" sz="1200" b="1">
                  <a:solidFill>
                    <a:srgbClr val="0070C0"/>
                  </a:solidFill>
                  <a:latin typeface="Lato" panose="020F0502020204030203" pitchFamily="34" charset="0"/>
                  <a:ea typeface="Lato" panose="020F0502020204030203" pitchFamily="34" charset="0"/>
                  <a:cs typeface="Lato" panose="020F0502020204030203" pitchFamily="34" charset="0"/>
                </a:rPr>
                <a:t>Dual Resourcing Model</a:t>
              </a:r>
              <a:endParaRPr lang="en-US" sz="1200">
                <a:solidFill>
                  <a:srgbClr val="0070C0"/>
                </a:solidFill>
                <a:latin typeface="Lato" panose="020F0502020204030203" pitchFamily="34" charset="0"/>
                <a:ea typeface="Lato" panose="020F0502020204030203" pitchFamily="34" charset="0"/>
                <a:cs typeface="Lato" panose="020F0502020204030203" pitchFamily="34" charset="0"/>
              </a:endParaRPr>
            </a:p>
          </p:txBody>
        </p:sp>
        <p:sp>
          <p:nvSpPr>
            <p:cNvPr id="45" name="TextBox 44">
              <a:extLst>
                <a:ext uri="{FF2B5EF4-FFF2-40B4-BE49-F238E27FC236}">
                  <a16:creationId xmlns:a16="http://schemas.microsoft.com/office/drawing/2014/main" id="{701E5B31-DC67-D90F-5422-BCF4CEBF51BA}"/>
                </a:ext>
              </a:extLst>
            </p:cNvPr>
            <p:cNvSpPr txBox="1"/>
            <p:nvPr/>
          </p:nvSpPr>
          <p:spPr>
            <a:xfrm>
              <a:off x="513697" y="1934152"/>
              <a:ext cx="2622235" cy="1884591"/>
            </a:xfrm>
            <a:prstGeom prst="rect">
              <a:avLst/>
            </a:prstGeom>
            <a:noFill/>
          </p:spPr>
          <p:txBody>
            <a:bodyPr wrap="square" lIns="91440" tIns="45720" rIns="91440" bIns="45720" rtlCol="0" anchor="t">
              <a:spAutoFit/>
            </a:bodyPr>
            <a:lstStyle/>
            <a:p>
              <a:r>
                <a:rPr lang="en-US" sz="1200">
                  <a:latin typeface="Lato"/>
                  <a:ea typeface="Lato"/>
                  <a:cs typeface="Lato"/>
                </a:rPr>
                <a:t>Innominds will adopt a Dual Resource Planning model, leveraging its internal resource pool with reskilling where needed, while also sourcing niche profiles from trusted vendors and partner ecosystems to ensure timely fulfillment of project requirements.</a:t>
              </a:r>
            </a:p>
          </p:txBody>
        </p:sp>
      </p:grpSp>
      <p:grpSp>
        <p:nvGrpSpPr>
          <p:cNvPr id="46" name="Group 45">
            <a:extLst>
              <a:ext uri="{FF2B5EF4-FFF2-40B4-BE49-F238E27FC236}">
                <a16:creationId xmlns:a16="http://schemas.microsoft.com/office/drawing/2014/main" id="{A9EBC62D-A805-62E0-1F20-DA972B1BDCED}"/>
              </a:ext>
            </a:extLst>
          </p:cNvPr>
          <p:cNvGrpSpPr/>
          <p:nvPr/>
        </p:nvGrpSpPr>
        <p:grpSpPr>
          <a:xfrm>
            <a:off x="6467960" y="1487369"/>
            <a:ext cx="2282271" cy="1838391"/>
            <a:chOff x="623846" y="1269204"/>
            <a:chExt cx="2282271" cy="2207244"/>
          </a:xfrm>
        </p:grpSpPr>
        <p:sp>
          <p:nvSpPr>
            <p:cNvPr id="47" name="TextBox 46">
              <a:extLst>
                <a:ext uri="{FF2B5EF4-FFF2-40B4-BE49-F238E27FC236}">
                  <a16:creationId xmlns:a16="http://schemas.microsoft.com/office/drawing/2014/main" id="{B43A0B4C-6E0A-0301-AA5E-F948EEF09FCC}"/>
                </a:ext>
              </a:extLst>
            </p:cNvPr>
            <p:cNvSpPr txBox="1"/>
            <p:nvPr/>
          </p:nvSpPr>
          <p:spPr>
            <a:xfrm>
              <a:off x="666181" y="1269204"/>
              <a:ext cx="2079985" cy="461665"/>
            </a:xfrm>
            <a:prstGeom prst="rect">
              <a:avLst/>
            </a:prstGeom>
            <a:noFill/>
          </p:spPr>
          <p:txBody>
            <a:bodyPr wrap="square" rtlCol="0">
              <a:spAutoFit/>
            </a:bodyPr>
            <a:lstStyle/>
            <a:p>
              <a:pPr algn="ctr"/>
              <a:r>
                <a:rPr lang="it-IT" sz="1200" b="1">
                  <a:solidFill>
                    <a:srgbClr val="0070C0"/>
                  </a:solidFill>
                  <a:latin typeface="Lato" panose="020F0502020204030203" pitchFamily="34" charset="0"/>
                  <a:ea typeface="Lato" panose="020F0502020204030203" pitchFamily="34" charset="0"/>
                  <a:cs typeface="Lato" panose="020F0502020204030203" pitchFamily="34" charset="0"/>
                </a:rPr>
                <a:t>AI Innovation Hub – AICOE (AI Center of Excellence)</a:t>
              </a:r>
              <a:endParaRPr lang="en-US" sz="1200">
                <a:solidFill>
                  <a:srgbClr val="0070C0"/>
                </a:solidFill>
                <a:latin typeface="Lato" panose="020F0502020204030203" pitchFamily="34" charset="0"/>
                <a:ea typeface="Lato" panose="020F0502020204030203" pitchFamily="34" charset="0"/>
                <a:cs typeface="Lato" panose="020F0502020204030203" pitchFamily="34" charset="0"/>
              </a:endParaRPr>
            </a:p>
          </p:txBody>
        </p:sp>
        <p:sp>
          <p:nvSpPr>
            <p:cNvPr id="48" name="TextBox 47">
              <a:extLst>
                <a:ext uri="{FF2B5EF4-FFF2-40B4-BE49-F238E27FC236}">
                  <a16:creationId xmlns:a16="http://schemas.microsoft.com/office/drawing/2014/main" id="{4A5AA255-334E-E662-3FD4-111D519D0DF3}"/>
                </a:ext>
              </a:extLst>
            </p:cNvPr>
            <p:cNvSpPr txBox="1"/>
            <p:nvPr/>
          </p:nvSpPr>
          <p:spPr>
            <a:xfrm>
              <a:off x="623846" y="2091453"/>
              <a:ext cx="2282271" cy="1384995"/>
            </a:xfrm>
            <a:prstGeom prst="rect">
              <a:avLst/>
            </a:prstGeom>
            <a:noFill/>
          </p:spPr>
          <p:txBody>
            <a:bodyPr wrap="square" rtlCol="0">
              <a:spAutoFit/>
            </a:bodyPr>
            <a:lstStyle/>
            <a:p>
              <a:r>
                <a:rPr lang="en-US" sz="1200">
                  <a:latin typeface="Lato" panose="020F0502020204030203" pitchFamily="34" charset="0"/>
                  <a:ea typeface="Lato" panose="020F0502020204030203" pitchFamily="34" charset="0"/>
                  <a:cs typeface="Lato" panose="020F0502020204030203" pitchFamily="34" charset="0"/>
                </a:rPr>
                <a:t>A dedicated horizontal team standardizes AI/automation adoption across engagements, driving predictive resourcing, intelligent candidate matching, SLA monitoring, and RPA-based onboarding/compliance.</a:t>
              </a:r>
            </a:p>
          </p:txBody>
        </p:sp>
      </p:grpSp>
      <p:grpSp>
        <p:nvGrpSpPr>
          <p:cNvPr id="49" name="Group 48">
            <a:extLst>
              <a:ext uri="{FF2B5EF4-FFF2-40B4-BE49-F238E27FC236}">
                <a16:creationId xmlns:a16="http://schemas.microsoft.com/office/drawing/2014/main" id="{B81C5EB7-3D71-1483-31CB-D13F220F6720}"/>
              </a:ext>
            </a:extLst>
          </p:cNvPr>
          <p:cNvGrpSpPr/>
          <p:nvPr/>
        </p:nvGrpSpPr>
        <p:grpSpPr>
          <a:xfrm>
            <a:off x="9432352" y="1579705"/>
            <a:ext cx="2157963" cy="1300070"/>
            <a:chOff x="666181" y="1361538"/>
            <a:chExt cx="2157963" cy="1560912"/>
          </a:xfrm>
        </p:grpSpPr>
        <p:sp>
          <p:nvSpPr>
            <p:cNvPr id="50" name="TextBox 49">
              <a:extLst>
                <a:ext uri="{FF2B5EF4-FFF2-40B4-BE49-F238E27FC236}">
                  <a16:creationId xmlns:a16="http://schemas.microsoft.com/office/drawing/2014/main" id="{715B359C-CEAE-A137-B4B9-928DD3C84142}"/>
                </a:ext>
              </a:extLst>
            </p:cNvPr>
            <p:cNvSpPr txBox="1"/>
            <p:nvPr/>
          </p:nvSpPr>
          <p:spPr>
            <a:xfrm>
              <a:off x="875372" y="1361538"/>
              <a:ext cx="1739579" cy="276999"/>
            </a:xfrm>
            <a:prstGeom prst="rect">
              <a:avLst/>
            </a:prstGeom>
            <a:noFill/>
          </p:spPr>
          <p:txBody>
            <a:bodyPr wrap="none" rtlCol="0">
              <a:spAutoFit/>
            </a:bodyPr>
            <a:lstStyle/>
            <a:p>
              <a:pPr algn="ctr"/>
              <a:r>
                <a:rPr lang="en-US" sz="1200" b="1">
                  <a:solidFill>
                    <a:srgbClr val="0070C0"/>
                  </a:solidFill>
                  <a:latin typeface="Lato" panose="020F0502020204030203" pitchFamily="34" charset="0"/>
                  <a:ea typeface="Lato" panose="020F0502020204030203" pitchFamily="34" charset="0"/>
                  <a:cs typeface="Lato" panose="020F0502020204030203" pitchFamily="34" charset="0"/>
                </a:rPr>
                <a:t>Standardized Practices</a:t>
              </a:r>
              <a:endParaRPr lang="en-US" sz="1200">
                <a:solidFill>
                  <a:srgbClr val="0070C0"/>
                </a:solidFill>
                <a:latin typeface="Lato" panose="020F0502020204030203" pitchFamily="34" charset="0"/>
                <a:ea typeface="Lato" panose="020F0502020204030203" pitchFamily="34" charset="0"/>
                <a:cs typeface="Lato" panose="020F0502020204030203" pitchFamily="34" charset="0"/>
              </a:endParaRPr>
            </a:p>
          </p:txBody>
        </p:sp>
        <p:sp>
          <p:nvSpPr>
            <p:cNvPr id="51" name="TextBox 50">
              <a:extLst>
                <a:ext uri="{FF2B5EF4-FFF2-40B4-BE49-F238E27FC236}">
                  <a16:creationId xmlns:a16="http://schemas.microsoft.com/office/drawing/2014/main" id="{350BC5CF-0096-2BBF-0FFF-A185FE438DCB}"/>
                </a:ext>
              </a:extLst>
            </p:cNvPr>
            <p:cNvSpPr txBox="1"/>
            <p:nvPr/>
          </p:nvSpPr>
          <p:spPr>
            <a:xfrm>
              <a:off x="666181" y="2091453"/>
              <a:ext cx="2157963" cy="830997"/>
            </a:xfrm>
            <a:prstGeom prst="rect">
              <a:avLst/>
            </a:prstGeom>
            <a:noFill/>
          </p:spPr>
          <p:txBody>
            <a:bodyPr wrap="square" rtlCol="0">
              <a:spAutoFit/>
            </a:bodyPr>
            <a:lstStyle/>
            <a:p>
              <a:r>
                <a:rPr lang="en-US" sz="1200">
                  <a:latin typeface="Lato" panose="020F0502020204030203" pitchFamily="34" charset="0"/>
                  <a:ea typeface="Lato" panose="020F0502020204030203" pitchFamily="34" charset="0"/>
                  <a:cs typeface="Lato" panose="020F0502020204030203" pitchFamily="34" charset="0"/>
                </a:rPr>
                <a:t>AICOE enforces consistent implementation, training, and compliance across all projects.</a:t>
              </a:r>
            </a:p>
          </p:txBody>
        </p:sp>
      </p:grpSp>
      <p:grpSp>
        <p:nvGrpSpPr>
          <p:cNvPr id="52" name="Group 51">
            <a:extLst>
              <a:ext uri="{FF2B5EF4-FFF2-40B4-BE49-F238E27FC236}">
                <a16:creationId xmlns:a16="http://schemas.microsoft.com/office/drawing/2014/main" id="{3056B6D9-F0E2-0EC1-9393-F85E715C5B66}"/>
              </a:ext>
            </a:extLst>
          </p:cNvPr>
          <p:cNvGrpSpPr/>
          <p:nvPr/>
        </p:nvGrpSpPr>
        <p:grpSpPr>
          <a:xfrm>
            <a:off x="2140438" y="4219039"/>
            <a:ext cx="2157963" cy="1607683"/>
            <a:chOff x="666181" y="1361538"/>
            <a:chExt cx="2157963" cy="1930244"/>
          </a:xfrm>
        </p:grpSpPr>
        <p:sp>
          <p:nvSpPr>
            <p:cNvPr id="53" name="TextBox 52">
              <a:extLst>
                <a:ext uri="{FF2B5EF4-FFF2-40B4-BE49-F238E27FC236}">
                  <a16:creationId xmlns:a16="http://schemas.microsoft.com/office/drawing/2014/main" id="{0A1D0C09-14ED-BB31-24E2-6B0ABD448911}"/>
                </a:ext>
              </a:extLst>
            </p:cNvPr>
            <p:cNvSpPr txBox="1"/>
            <p:nvPr/>
          </p:nvSpPr>
          <p:spPr>
            <a:xfrm>
              <a:off x="826481" y="1361538"/>
              <a:ext cx="1837362" cy="276999"/>
            </a:xfrm>
            <a:prstGeom prst="rect">
              <a:avLst/>
            </a:prstGeom>
            <a:noFill/>
          </p:spPr>
          <p:txBody>
            <a:bodyPr wrap="none" rtlCol="0">
              <a:spAutoFit/>
            </a:bodyPr>
            <a:lstStyle/>
            <a:p>
              <a:pPr algn="ctr"/>
              <a:r>
                <a:rPr lang="en-US" sz="1200" b="1">
                  <a:solidFill>
                    <a:srgbClr val="0070C0"/>
                  </a:solidFill>
                  <a:latin typeface="Lato" panose="020F0502020204030203" pitchFamily="34" charset="0"/>
                  <a:ea typeface="Lato" panose="020F0502020204030203" pitchFamily="34" charset="0"/>
                  <a:cs typeface="Lato" panose="020F0502020204030203" pitchFamily="34" charset="0"/>
                </a:rPr>
                <a:t>Case-Proven Innovation</a:t>
              </a:r>
              <a:endParaRPr lang="en-US" sz="1200">
                <a:solidFill>
                  <a:srgbClr val="0070C0"/>
                </a:solidFill>
                <a:latin typeface="Lato" panose="020F0502020204030203" pitchFamily="34" charset="0"/>
                <a:ea typeface="Lato" panose="020F0502020204030203" pitchFamily="34" charset="0"/>
                <a:cs typeface="Lato" panose="020F0502020204030203" pitchFamily="34" charset="0"/>
              </a:endParaRPr>
            </a:p>
          </p:txBody>
        </p:sp>
        <p:sp>
          <p:nvSpPr>
            <p:cNvPr id="54" name="TextBox 53">
              <a:extLst>
                <a:ext uri="{FF2B5EF4-FFF2-40B4-BE49-F238E27FC236}">
                  <a16:creationId xmlns:a16="http://schemas.microsoft.com/office/drawing/2014/main" id="{03677EDE-D4FA-35C9-60F1-B919BFF12D67}"/>
                </a:ext>
              </a:extLst>
            </p:cNvPr>
            <p:cNvSpPr txBox="1"/>
            <p:nvPr/>
          </p:nvSpPr>
          <p:spPr>
            <a:xfrm>
              <a:off x="666181" y="2091453"/>
              <a:ext cx="2157963" cy="1200329"/>
            </a:xfrm>
            <a:prstGeom prst="rect">
              <a:avLst/>
            </a:prstGeom>
            <a:noFill/>
          </p:spPr>
          <p:txBody>
            <a:bodyPr wrap="square" rtlCol="0">
              <a:spAutoFit/>
            </a:bodyPr>
            <a:lstStyle/>
            <a:p>
              <a:r>
                <a:rPr lang="en-US" sz="1200">
                  <a:latin typeface="Lato" panose="020F0502020204030203" pitchFamily="34" charset="0"/>
                  <a:ea typeface="Lato" panose="020F0502020204030203" pitchFamily="34" charset="0"/>
                  <a:cs typeface="Lato" panose="020F0502020204030203" pitchFamily="34" charset="0"/>
                </a:rPr>
                <a:t>With Hilti, Royal Enfield, and </a:t>
              </a:r>
              <a:r>
                <a:rPr lang="en-US" sz="1200" err="1">
                  <a:latin typeface="Lato" panose="020F0502020204030203" pitchFamily="34" charset="0"/>
                  <a:ea typeface="Lato" panose="020F0502020204030203" pitchFamily="34" charset="0"/>
                  <a:cs typeface="Lato" panose="020F0502020204030203" pitchFamily="34" charset="0"/>
                </a:rPr>
                <a:t>Skylo</a:t>
              </a:r>
              <a:r>
                <a:rPr lang="en-US" sz="1200">
                  <a:latin typeface="Lato" panose="020F0502020204030203" pitchFamily="34" charset="0"/>
                  <a:ea typeface="Lato" panose="020F0502020204030203" pitchFamily="34" charset="0"/>
                  <a:cs typeface="Lato" panose="020F0502020204030203" pitchFamily="34" charset="0"/>
                </a:rPr>
                <a:t>, we deployed flexible, AI-supported workforce models that reduced time-to-deploy by up to 40% and improved SLA compliance.</a:t>
              </a:r>
            </a:p>
          </p:txBody>
        </p:sp>
      </p:grpSp>
      <p:grpSp>
        <p:nvGrpSpPr>
          <p:cNvPr id="55" name="Group 54">
            <a:extLst>
              <a:ext uri="{FF2B5EF4-FFF2-40B4-BE49-F238E27FC236}">
                <a16:creationId xmlns:a16="http://schemas.microsoft.com/office/drawing/2014/main" id="{FA1BE32D-5E0A-6A48-B862-281F06572647}"/>
              </a:ext>
            </a:extLst>
          </p:cNvPr>
          <p:cNvGrpSpPr/>
          <p:nvPr/>
        </p:nvGrpSpPr>
        <p:grpSpPr>
          <a:xfrm>
            <a:off x="5062495" y="4219039"/>
            <a:ext cx="2157963" cy="1808270"/>
            <a:chOff x="666181" y="1361538"/>
            <a:chExt cx="2157963" cy="2171076"/>
          </a:xfrm>
        </p:grpSpPr>
        <p:sp>
          <p:nvSpPr>
            <p:cNvPr id="56" name="TextBox 55">
              <a:extLst>
                <a:ext uri="{FF2B5EF4-FFF2-40B4-BE49-F238E27FC236}">
                  <a16:creationId xmlns:a16="http://schemas.microsoft.com/office/drawing/2014/main" id="{31514E2D-FAB7-19F2-AC04-F2C901BE9948}"/>
                </a:ext>
              </a:extLst>
            </p:cNvPr>
            <p:cNvSpPr txBox="1"/>
            <p:nvPr/>
          </p:nvSpPr>
          <p:spPr>
            <a:xfrm>
              <a:off x="990378" y="1361538"/>
              <a:ext cx="1386918" cy="276999"/>
            </a:xfrm>
            <a:prstGeom prst="rect">
              <a:avLst/>
            </a:prstGeom>
            <a:noFill/>
          </p:spPr>
          <p:txBody>
            <a:bodyPr wrap="none" rtlCol="0">
              <a:spAutoFit/>
            </a:bodyPr>
            <a:lstStyle/>
            <a:p>
              <a:pPr algn="ctr"/>
              <a:r>
                <a:rPr lang="en-US" sz="1200" b="1">
                  <a:solidFill>
                    <a:srgbClr val="0070C0"/>
                  </a:solidFill>
                  <a:latin typeface="Lato" panose="020F0502020204030203" pitchFamily="34" charset="0"/>
                  <a:ea typeface="Lato" panose="020F0502020204030203" pitchFamily="34" charset="0"/>
                  <a:cs typeface="Lato" panose="020F0502020204030203" pitchFamily="34" charset="0"/>
                </a:rPr>
                <a:t>Future-Readiness</a:t>
              </a:r>
              <a:endParaRPr lang="en-US" sz="1200">
                <a:solidFill>
                  <a:srgbClr val="0070C0"/>
                </a:solidFill>
                <a:latin typeface="Lato" panose="020F0502020204030203" pitchFamily="34" charset="0"/>
                <a:ea typeface="Lato" panose="020F0502020204030203" pitchFamily="34" charset="0"/>
                <a:cs typeface="Lato" panose="020F0502020204030203" pitchFamily="34" charset="0"/>
              </a:endParaRPr>
            </a:p>
          </p:txBody>
        </p:sp>
        <p:sp>
          <p:nvSpPr>
            <p:cNvPr id="57" name="TextBox 56">
              <a:extLst>
                <a:ext uri="{FF2B5EF4-FFF2-40B4-BE49-F238E27FC236}">
                  <a16:creationId xmlns:a16="http://schemas.microsoft.com/office/drawing/2014/main" id="{F49223AC-86CB-816F-0EE6-6809E4772A74}"/>
                </a:ext>
              </a:extLst>
            </p:cNvPr>
            <p:cNvSpPr txBox="1"/>
            <p:nvPr/>
          </p:nvSpPr>
          <p:spPr>
            <a:xfrm>
              <a:off x="666181" y="2091454"/>
              <a:ext cx="2157963" cy="1441160"/>
            </a:xfrm>
            <a:prstGeom prst="rect">
              <a:avLst/>
            </a:prstGeom>
            <a:noFill/>
          </p:spPr>
          <p:txBody>
            <a:bodyPr wrap="square" rtlCol="0">
              <a:spAutoFit/>
            </a:bodyPr>
            <a:lstStyle/>
            <a:p>
              <a:r>
                <a:rPr lang="en-US" sz="1200">
                  <a:latin typeface="Lato" panose="020F0502020204030203" pitchFamily="34" charset="0"/>
                  <a:ea typeface="Lato" panose="020F0502020204030203" pitchFamily="34" charset="0"/>
                  <a:cs typeface="Lato" panose="020F0502020204030203" pitchFamily="34" charset="0"/>
                </a:rPr>
                <a:t>Roadmap includes generative AI, digital twins, and AR/VR-based training, aligned with Deloitte’s digital transformation and sustainability goals.</a:t>
              </a:r>
            </a:p>
          </p:txBody>
        </p:sp>
      </p:grpSp>
      <p:grpSp>
        <p:nvGrpSpPr>
          <p:cNvPr id="58" name="Group 57">
            <a:extLst>
              <a:ext uri="{FF2B5EF4-FFF2-40B4-BE49-F238E27FC236}">
                <a16:creationId xmlns:a16="http://schemas.microsoft.com/office/drawing/2014/main" id="{9029B8E7-75D0-ACB3-FDDB-7B4009A97636}"/>
              </a:ext>
            </a:extLst>
          </p:cNvPr>
          <p:cNvGrpSpPr/>
          <p:nvPr/>
        </p:nvGrpSpPr>
        <p:grpSpPr>
          <a:xfrm>
            <a:off x="7984552" y="4219039"/>
            <a:ext cx="2726991" cy="2177602"/>
            <a:chOff x="666181" y="1361538"/>
            <a:chExt cx="2726991" cy="2614507"/>
          </a:xfrm>
        </p:grpSpPr>
        <p:sp>
          <p:nvSpPr>
            <p:cNvPr id="59" name="TextBox 58">
              <a:extLst>
                <a:ext uri="{FF2B5EF4-FFF2-40B4-BE49-F238E27FC236}">
                  <a16:creationId xmlns:a16="http://schemas.microsoft.com/office/drawing/2014/main" id="{43EC63BC-B7E2-B5AF-4AB9-6A7567BA6C31}"/>
                </a:ext>
              </a:extLst>
            </p:cNvPr>
            <p:cNvSpPr txBox="1"/>
            <p:nvPr/>
          </p:nvSpPr>
          <p:spPr>
            <a:xfrm>
              <a:off x="802435" y="1361538"/>
              <a:ext cx="1885453" cy="332575"/>
            </a:xfrm>
            <a:prstGeom prst="rect">
              <a:avLst/>
            </a:prstGeom>
            <a:noFill/>
          </p:spPr>
          <p:txBody>
            <a:bodyPr wrap="none" rtlCol="0">
              <a:spAutoFit/>
            </a:bodyPr>
            <a:lstStyle/>
            <a:p>
              <a:pPr algn="ctr"/>
              <a:r>
                <a:rPr lang="en-US" sz="1200" b="1">
                  <a:solidFill>
                    <a:srgbClr val="0070C0"/>
                  </a:solidFill>
                  <a:latin typeface="Lato" panose="020F0502020204030203" pitchFamily="34" charset="0"/>
                  <a:ea typeface="Lato" panose="020F0502020204030203" pitchFamily="34" charset="0"/>
                  <a:cs typeface="Lato" panose="020F0502020204030203" pitchFamily="34" charset="0"/>
                </a:rPr>
                <a:t>Integration with Deloitte</a:t>
              </a:r>
              <a:endParaRPr lang="en-US" sz="1200">
                <a:solidFill>
                  <a:srgbClr val="0070C0"/>
                </a:solidFill>
                <a:latin typeface="Lato" panose="020F0502020204030203" pitchFamily="34" charset="0"/>
                <a:ea typeface="Lato" panose="020F0502020204030203" pitchFamily="34" charset="0"/>
                <a:cs typeface="Lato" panose="020F0502020204030203" pitchFamily="34" charset="0"/>
              </a:endParaRPr>
            </a:p>
          </p:txBody>
        </p:sp>
        <p:sp>
          <p:nvSpPr>
            <p:cNvPr id="60" name="TextBox 59">
              <a:extLst>
                <a:ext uri="{FF2B5EF4-FFF2-40B4-BE49-F238E27FC236}">
                  <a16:creationId xmlns:a16="http://schemas.microsoft.com/office/drawing/2014/main" id="{35B756BF-55CA-738A-4F0D-FC489421EE23}"/>
                </a:ext>
              </a:extLst>
            </p:cNvPr>
            <p:cNvSpPr txBox="1"/>
            <p:nvPr/>
          </p:nvSpPr>
          <p:spPr>
            <a:xfrm>
              <a:off x="666181" y="2091453"/>
              <a:ext cx="2726991" cy="1884592"/>
            </a:xfrm>
            <a:prstGeom prst="rect">
              <a:avLst/>
            </a:prstGeom>
            <a:noFill/>
          </p:spPr>
          <p:txBody>
            <a:bodyPr wrap="square" rtlCol="0">
              <a:spAutoFit/>
            </a:bodyPr>
            <a:lstStyle/>
            <a:p>
              <a:r>
                <a:rPr lang="en-US" sz="1200">
                  <a:latin typeface="Lato" panose="020F0502020204030203" pitchFamily="34" charset="0"/>
                  <a:ea typeface="Lato" panose="020F0502020204030203" pitchFamily="34" charset="0"/>
                  <a:cs typeface="Lato" panose="020F0502020204030203" pitchFamily="34" charset="0"/>
                </a:rPr>
                <a:t>Our platforms and processes are designed to interoperate flexibly. We will build or customize connectors and APIs as required to integrate with Deloitte’s ecosystem. Our approach is adaptive-first — tailoring integration methods to what is best for both Deloitte and Innominds.</a:t>
              </a:r>
            </a:p>
          </p:txBody>
        </p:sp>
      </p:grpSp>
      <p:cxnSp>
        <p:nvCxnSpPr>
          <p:cNvPr id="62" name="Straight Connector 61">
            <a:extLst>
              <a:ext uri="{FF2B5EF4-FFF2-40B4-BE49-F238E27FC236}">
                <a16:creationId xmlns:a16="http://schemas.microsoft.com/office/drawing/2014/main" id="{C00F90E3-D501-5D5D-38CE-3BC5E2B35142}"/>
              </a:ext>
            </a:extLst>
          </p:cNvPr>
          <p:cNvCxnSpPr>
            <a:cxnSpLocks/>
          </p:cNvCxnSpPr>
          <p:nvPr/>
        </p:nvCxnSpPr>
        <p:spPr>
          <a:xfrm>
            <a:off x="3168650" y="2339253"/>
            <a:ext cx="0" cy="1315007"/>
          </a:xfrm>
          <a:prstGeom prst="line">
            <a:avLst/>
          </a:prstGeom>
          <a:ln>
            <a:solidFill>
              <a:srgbClr val="00B0F0"/>
            </a:solidFill>
            <a:prstDash val="dash"/>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7347F479-FF50-2BFE-97C2-81D1E7D7A503}"/>
              </a:ext>
            </a:extLst>
          </p:cNvPr>
          <p:cNvCxnSpPr>
            <a:cxnSpLocks/>
          </p:cNvCxnSpPr>
          <p:nvPr/>
        </p:nvCxnSpPr>
        <p:spPr>
          <a:xfrm>
            <a:off x="6093883" y="2339253"/>
            <a:ext cx="0" cy="1315007"/>
          </a:xfrm>
          <a:prstGeom prst="line">
            <a:avLst/>
          </a:prstGeom>
          <a:ln>
            <a:solidFill>
              <a:srgbClr val="00B0F0"/>
            </a:solidFill>
            <a:prstDash val="dash"/>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9F1E3296-41E8-B2B8-A598-288C8C8CEA18}"/>
              </a:ext>
            </a:extLst>
          </p:cNvPr>
          <p:cNvCxnSpPr>
            <a:cxnSpLocks/>
          </p:cNvCxnSpPr>
          <p:nvPr/>
        </p:nvCxnSpPr>
        <p:spPr>
          <a:xfrm>
            <a:off x="9027583" y="2339253"/>
            <a:ext cx="0" cy="1315007"/>
          </a:xfrm>
          <a:prstGeom prst="line">
            <a:avLst/>
          </a:prstGeom>
          <a:ln>
            <a:solidFill>
              <a:srgbClr val="00B0F0"/>
            </a:solidFill>
            <a:prstDash val="dash"/>
          </a:ln>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98036030-5C3C-4699-AC6C-437AB6ECFBA2}"/>
              </a:ext>
            </a:extLst>
          </p:cNvPr>
          <p:cNvCxnSpPr>
            <a:cxnSpLocks/>
          </p:cNvCxnSpPr>
          <p:nvPr/>
        </p:nvCxnSpPr>
        <p:spPr>
          <a:xfrm>
            <a:off x="4624311" y="4948953"/>
            <a:ext cx="0" cy="1315007"/>
          </a:xfrm>
          <a:prstGeom prst="line">
            <a:avLst/>
          </a:prstGeom>
          <a:ln>
            <a:solidFill>
              <a:srgbClr val="00B0F0"/>
            </a:solidFill>
            <a:prstDash val="dash"/>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8E5B9E50-606C-DF58-75ED-5A880F57B652}"/>
              </a:ext>
            </a:extLst>
          </p:cNvPr>
          <p:cNvCxnSpPr>
            <a:cxnSpLocks/>
          </p:cNvCxnSpPr>
          <p:nvPr/>
        </p:nvCxnSpPr>
        <p:spPr>
          <a:xfrm>
            <a:off x="7558011" y="4948953"/>
            <a:ext cx="0" cy="1315007"/>
          </a:xfrm>
          <a:prstGeom prst="line">
            <a:avLst/>
          </a:prstGeom>
          <a:ln>
            <a:solidFill>
              <a:srgbClr val="00B0F0"/>
            </a:solidFill>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022615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5AA62-4B77-2FE3-4B97-D670F65FFE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B80EAC-CC74-EFF4-610B-EABF3A195533}"/>
              </a:ext>
            </a:extLst>
          </p:cNvPr>
          <p:cNvSpPr>
            <a:spLocks noGrp="1"/>
          </p:cNvSpPr>
          <p:nvPr>
            <p:ph type="title"/>
          </p:nvPr>
        </p:nvSpPr>
        <p:spPr/>
        <p:txBody>
          <a:bodyPr/>
          <a:lstStyle/>
          <a:p>
            <a:r>
              <a:rPr lang="en-US"/>
              <a:t>Ascend Platform Learning &amp; POD Enablement Strategy</a:t>
            </a:r>
            <a:endParaRPr lang="en-IN"/>
          </a:p>
        </p:txBody>
      </p:sp>
      <p:grpSp>
        <p:nvGrpSpPr>
          <p:cNvPr id="53" name="Group 52">
            <a:extLst>
              <a:ext uri="{FF2B5EF4-FFF2-40B4-BE49-F238E27FC236}">
                <a16:creationId xmlns:a16="http://schemas.microsoft.com/office/drawing/2014/main" id="{C4EBAA84-AE14-12F5-B4DD-EBE39DC33CE4}"/>
              </a:ext>
            </a:extLst>
          </p:cNvPr>
          <p:cNvGrpSpPr/>
          <p:nvPr/>
        </p:nvGrpSpPr>
        <p:grpSpPr>
          <a:xfrm>
            <a:off x="497258" y="1781261"/>
            <a:ext cx="11197484" cy="3927532"/>
            <a:chOff x="568554" y="1964141"/>
            <a:chExt cx="11197484" cy="3927532"/>
          </a:xfrm>
        </p:grpSpPr>
        <p:sp>
          <p:nvSpPr>
            <p:cNvPr id="20" name="Rectangle 19">
              <a:extLst>
                <a:ext uri="{FF2B5EF4-FFF2-40B4-BE49-F238E27FC236}">
                  <a16:creationId xmlns:a16="http://schemas.microsoft.com/office/drawing/2014/main" id="{6FB89C62-7693-2A68-6465-F3784BA7DEE0}"/>
                </a:ext>
              </a:extLst>
            </p:cNvPr>
            <p:cNvSpPr/>
            <p:nvPr/>
          </p:nvSpPr>
          <p:spPr>
            <a:xfrm>
              <a:off x="676199" y="2408396"/>
              <a:ext cx="2385046" cy="3478054"/>
            </a:xfrm>
            <a:prstGeom prst="rect">
              <a:avLst/>
            </a:prstGeom>
            <a:solidFill>
              <a:schemeClr val="bg1"/>
            </a:solid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1F4CAA27-BD85-7815-4129-A49E12BA316A}"/>
                </a:ext>
              </a:extLst>
            </p:cNvPr>
            <p:cNvSpPr txBox="1"/>
            <p:nvPr/>
          </p:nvSpPr>
          <p:spPr>
            <a:xfrm>
              <a:off x="758205" y="2743421"/>
              <a:ext cx="2385045" cy="2619628"/>
            </a:xfrm>
            <a:prstGeom prst="rect">
              <a:avLst/>
            </a:prstGeom>
            <a:noFill/>
          </p:spPr>
          <p:txBody>
            <a:bodyPr wrap="square" rtlCol="0">
              <a:spAutoFit/>
            </a:bodyPr>
            <a:lstStyle/>
            <a:p>
              <a:pPr marL="171450" indent="-171450">
                <a:lnSpc>
                  <a:spcPct val="130000"/>
                </a:lnSpc>
                <a:spcBef>
                  <a:spcPts val="300"/>
                </a:spcBef>
                <a:spcAft>
                  <a:spcPts val="300"/>
                </a:spcAft>
                <a:buBlip>
                  <a:blip r:embed="rId2"/>
                </a:buBlip>
                <a:defRPr/>
              </a:pPr>
              <a:r>
                <a:rPr kumimoji="0" lang="en-US" sz="1200" b="0"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Understand Ascend platform architecture, modules, APIs, and delivery workflows.</a:t>
              </a:r>
            </a:p>
            <a:p>
              <a:pPr marL="171450" indent="-171450">
                <a:lnSpc>
                  <a:spcPct val="130000"/>
                </a:lnSpc>
                <a:spcBef>
                  <a:spcPts val="300"/>
                </a:spcBef>
                <a:spcAft>
                  <a:spcPts val="300"/>
                </a:spcAft>
                <a:buBlip>
                  <a:blip r:embed="rId2"/>
                </a:buBlip>
                <a:defRPr/>
              </a:pPr>
              <a:r>
                <a:rPr kumimoji="0" lang="en-US" sz="1200" b="0"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Review Ascend operating model, security, compliance, and delivery standards.</a:t>
              </a:r>
            </a:p>
            <a:p>
              <a:pPr marL="171450" indent="-171450">
                <a:lnSpc>
                  <a:spcPct val="130000"/>
                </a:lnSpc>
                <a:spcBef>
                  <a:spcPts val="300"/>
                </a:spcBef>
                <a:spcAft>
                  <a:spcPts val="300"/>
                </a:spcAft>
                <a:buBlip>
                  <a:blip r:embed="rId2"/>
                </a:buBlip>
                <a:defRPr/>
              </a:pPr>
              <a:r>
                <a:rPr kumimoji="0" lang="en-US" sz="1200" b="0"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Align POD team to Ascend product roadmap, release cadence, and quality expectations.</a:t>
              </a:r>
            </a:p>
          </p:txBody>
        </p:sp>
        <p:sp>
          <p:nvSpPr>
            <p:cNvPr id="22" name="Rectangle: Rounded Corners 21">
              <a:extLst>
                <a:ext uri="{FF2B5EF4-FFF2-40B4-BE49-F238E27FC236}">
                  <a16:creationId xmlns:a16="http://schemas.microsoft.com/office/drawing/2014/main" id="{5E2579DF-9CC2-EE60-5E2A-598A64438168}"/>
                </a:ext>
              </a:extLst>
            </p:cNvPr>
            <p:cNvSpPr/>
            <p:nvPr/>
          </p:nvSpPr>
          <p:spPr>
            <a:xfrm>
              <a:off x="568554" y="1980358"/>
              <a:ext cx="2669240" cy="506281"/>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86717D43-7312-271A-60C0-12BBEA01F62A}"/>
                </a:ext>
              </a:extLst>
            </p:cNvPr>
            <p:cNvSpPr/>
            <p:nvPr/>
          </p:nvSpPr>
          <p:spPr>
            <a:xfrm>
              <a:off x="633904" y="1981498"/>
              <a:ext cx="504000" cy="50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b="1">
                <a:solidFill>
                  <a:srgbClr val="2F0EA2"/>
                </a:solidFill>
                <a:latin typeface="Lato" panose="020F0502020204030203" pitchFamily="34" charset="0"/>
                <a:ea typeface="Lato" panose="020F0502020204030203" pitchFamily="34" charset="0"/>
                <a:cs typeface="Lato" panose="020F0502020204030203" pitchFamily="34" charset="0"/>
              </a:endParaRPr>
            </a:p>
          </p:txBody>
        </p:sp>
        <p:sp>
          <p:nvSpPr>
            <p:cNvPr id="24" name="TextBox 23">
              <a:extLst>
                <a:ext uri="{FF2B5EF4-FFF2-40B4-BE49-F238E27FC236}">
                  <a16:creationId xmlns:a16="http://schemas.microsoft.com/office/drawing/2014/main" id="{05DB9071-9589-5B85-94C8-E73B1BB24906}"/>
                </a:ext>
              </a:extLst>
            </p:cNvPr>
            <p:cNvSpPr txBox="1"/>
            <p:nvPr/>
          </p:nvSpPr>
          <p:spPr>
            <a:xfrm>
              <a:off x="1101347" y="1966972"/>
              <a:ext cx="1922086" cy="523220"/>
            </a:xfrm>
            <a:prstGeom prst="rect">
              <a:avLst/>
            </a:prstGeom>
            <a:noFill/>
          </p:spPr>
          <p:txBody>
            <a:bodyPr wrap="square" rtlCol="0">
              <a:spAutoFit/>
            </a:bodyPr>
            <a:lstStyle/>
            <a:p>
              <a:pPr algn="ctr"/>
              <a:r>
                <a:rPr lang="en-US" sz="1400" b="1">
                  <a:solidFill>
                    <a:schemeClr val="bg1"/>
                  </a:solidFill>
                  <a:latin typeface="Lato" panose="020F0502020204030203" pitchFamily="34" charset="0"/>
                  <a:ea typeface="Lato" panose="020F0502020204030203" pitchFamily="34" charset="0"/>
                  <a:cs typeface="Lato" panose="020F0502020204030203" pitchFamily="34" charset="0"/>
                </a:rPr>
                <a:t>Ascend Platform &amp; Delivery Context</a:t>
              </a:r>
              <a:endParaRPr lang="en-US" sz="1400">
                <a:solidFill>
                  <a:schemeClr val="bg1"/>
                </a:solidFill>
                <a:latin typeface="Lato" panose="020F0502020204030203" pitchFamily="34" charset="0"/>
                <a:ea typeface="Lato" panose="020F0502020204030203" pitchFamily="34" charset="0"/>
                <a:cs typeface="Lato" panose="020F0502020204030203" pitchFamily="34" charset="0"/>
              </a:endParaRPr>
            </a:p>
          </p:txBody>
        </p:sp>
        <p:pic>
          <p:nvPicPr>
            <p:cNvPr id="7" name="Graphic 6">
              <a:extLst>
                <a:ext uri="{FF2B5EF4-FFF2-40B4-BE49-F238E27FC236}">
                  <a16:creationId xmlns:a16="http://schemas.microsoft.com/office/drawing/2014/main" id="{5DBB4C41-82E7-66C0-B9C5-DCA5BD3EF3F7}"/>
                </a:ext>
              </a:extLst>
            </p:cNvPr>
            <p:cNvPicPr>
              <a:picLocks noChangeAspect="1"/>
            </p:cNvPicPr>
            <p:nvPr/>
          </p:nvPicPr>
          <p:blipFill>
            <a:blip r:embed="rId3">
              <a:duotone>
                <a:schemeClr val="accent4">
                  <a:shade val="45000"/>
                  <a:satMod val="135000"/>
                </a:schemeClr>
                <a:prstClr val="white"/>
              </a:duotone>
            </a:blip>
            <a:srcRect/>
            <a:stretch/>
          </p:blipFill>
          <p:spPr>
            <a:xfrm>
              <a:off x="666638" y="2014232"/>
              <a:ext cx="438532" cy="438532"/>
            </a:xfrm>
            <a:prstGeom prst="rect">
              <a:avLst/>
            </a:prstGeom>
          </p:spPr>
        </p:pic>
        <p:sp>
          <p:nvSpPr>
            <p:cNvPr id="3" name="Rectangle 2">
              <a:extLst>
                <a:ext uri="{FF2B5EF4-FFF2-40B4-BE49-F238E27FC236}">
                  <a16:creationId xmlns:a16="http://schemas.microsoft.com/office/drawing/2014/main" id="{C7B7F13E-4528-EB79-B3CA-97FB8C8D4FDC}"/>
                </a:ext>
              </a:extLst>
            </p:cNvPr>
            <p:cNvSpPr/>
            <p:nvPr/>
          </p:nvSpPr>
          <p:spPr>
            <a:xfrm>
              <a:off x="3518947" y="2408396"/>
              <a:ext cx="2385046" cy="3478054"/>
            </a:xfrm>
            <a:prstGeom prst="rect">
              <a:avLst/>
            </a:prstGeom>
            <a:solidFill>
              <a:schemeClr val="bg1"/>
            </a:solid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38E20D2-AF64-32B1-5A96-71E436414A9C}"/>
                </a:ext>
              </a:extLst>
            </p:cNvPr>
            <p:cNvSpPr txBox="1"/>
            <p:nvPr/>
          </p:nvSpPr>
          <p:spPr>
            <a:xfrm>
              <a:off x="3600953" y="2743421"/>
              <a:ext cx="2385045" cy="2139496"/>
            </a:xfrm>
            <a:prstGeom prst="rect">
              <a:avLst/>
            </a:prstGeom>
            <a:noFill/>
          </p:spPr>
          <p:txBody>
            <a:bodyPr wrap="square" rtlCol="0">
              <a:spAutoFit/>
            </a:bodyPr>
            <a:lstStyle/>
            <a:p>
              <a:pPr marL="171450" indent="-171450">
                <a:lnSpc>
                  <a:spcPct val="130000"/>
                </a:lnSpc>
                <a:spcBef>
                  <a:spcPts val="300"/>
                </a:spcBef>
                <a:spcAft>
                  <a:spcPts val="300"/>
                </a:spcAft>
                <a:buBlip>
                  <a:blip r:embed="rId2"/>
                </a:buBlip>
                <a:defRPr/>
              </a:pPr>
              <a:r>
                <a:rPr kumimoji="0" lang="en-US" sz="1200" b="0"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Hands-on onboarding using Ascend reference use cases and delivery artifacts.</a:t>
              </a:r>
            </a:p>
            <a:p>
              <a:pPr marL="171450" indent="-171450">
                <a:lnSpc>
                  <a:spcPct val="130000"/>
                </a:lnSpc>
                <a:spcBef>
                  <a:spcPts val="300"/>
                </a:spcBef>
                <a:spcAft>
                  <a:spcPts val="300"/>
                </a:spcAft>
                <a:buBlip>
                  <a:blip r:embed="rId2"/>
                </a:buBlip>
                <a:defRPr/>
              </a:pPr>
              <a:r>
                <a:rPr kumimoji="0" lang="en-US" sz="1200" b="0"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Environment access setup and toolchain familiarization.</a:t>
              </a:r>
            </a:p>
            <a:p>
              <a:pPr marL="171450" indent="-171450">
                <a:lnSpc>
                  <a:spcPct val="130000"/>
                </a:lnSpc>
                <a:spcBef>
                  <a:spcPts val="300"/>
                </a:spcBef>
                <a:spcAft>
                  <a:spcPts val="300"/>
                </a:spcAft>
                <a:buBlip>
                  <a:blip r:embed="rId2"/>
                </a:buBlip>
                <a:defRPr/>
              </a:pPr>
              <a:r>
                <a:rPr kumimoji="0" lang="en-US" sz="1200" b="0"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Shadowing initial sprints to align with Ascend engineering and delivery practices..</a:t>
              </a:r>
            </a:p>
          </p:txBody>
        </p:sp>
        <p:sp>
          <p:nvSpPr>
            <p:cNvPr id="5" name="Rectangle: Rounded Corners 4">
              <a:extLst>
                <a:ext uri="{FF2B5EF4-FFF2-40B4-BE49-F238E27FC236}">
                  <a16:creationId xmlns:a16="http://schemas.microsoft.com/office/drawing/2014/main" id="{3F7BDE0E-CCB9-4C28-B425-111E19E4FF94}"/>
                </a:ext>
              </a:extLst>
            </p:cNvPr>
            <p:cNvSpPr/>
            <p:nvPr/>
          </p:nvSpPr>
          <p:spPr>
            <a:xfrm>
              <a:off x="3411302" y="1979337"/>
              <a:ext cx="2669240" cy="506281"/>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C25EE42-05B0-437A-1F69-4C3019D16B38}"/>
                </a:ext>
              </a:extLst>
            </p:cNvPr>
            <p:cNvSpPr txBox="1"/>
            <p:nvPr/>
          </p:nvSpPr>
          <p:spPr>
            <a:xfrm>
              <a:off x="4094712" y="1995055"/>
              <a:ext cx="1576948" cy="523220"/>
            </a:xfrm>
            <a:prstGeom prst="rect">
              <a:avLst/>
            </a:prstGeom>
            <a:noFill/>
          </p:spPr>
          <p:txBody>
            <a:bodyPr wrap="square" rtlCol="0">
              <a:spAutoFit/>
            </a:bodyPr>
            <a:lstStyle/>
            <a:p>
              <a:pPr algn="ctr"/>
              <a:r>
                <a:rPr lang="en-US" sz="1400" b="1">
                  <a:solidFill>
                    <a:schemeClr val="bg1"/>
                  </a:solidFill>
                  <a:latin typeface="Lato" panose="020F0502020204030203" pitchFamily="34" charset="0"/>
                  <a:ea typeface="Lato" panose="020F0502020204030203" pitchFamily="34" charset="0"/>
                  <a:cs typeface="Lato" panose="020F0502020204030203" pitchFamily="34" charset="0"/>
                </a:rPr>
                <a:t>In-Flight Delivery Enablement</a:t>
              </a:r>
              <a:endParaRPr lang="en-US" sz="140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0" name="Rectangle 9">
              <a:extLst>
                <a:ext uri="{FF2B5EF4-FFF2-40B4-BE49-F238E27FC236}">
                  <a16:creationId xmlns:a16="http://schemas.microsoft.com/office/drawing/2014/main" id="{2FE1780D-AD41-81A9-C044-369DDC2EDB74}"/>
                </a:ext>
              </a:extLst>
            </p:cNvPr>
            <p:cNvSpPr/>
            <p:nvPr/>
          </p:nvSpPr>
          <p:spPr>
            <a:xfrm>
              <a:off x="6361695" y="2413619"/>
              <a:ext cx="2385046" cy="3478054"/>
            </a:xfrm>
            <a:prstGeom prst="rect">
              <a:avLst/>
            </a:prstGeom>
            <a:solidFill>
              <a:schemeClr val="bg1"/>
            </a:solid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212B6A7-D2DF-95C6-6C8A-BD27BF9FA49C}"/>
                </a:ext>
              </a:extLst>
            </p:cNvPr>
            <p:cNvSpPr txBox="1"/>
            <p:nvPr/>
          </p:nvSpPr>
          <p:spPr>
            <a:xfrm>
              <a:off x="6443701" y="2748644"/>
              <a:ext cx="2385045" cy="2379562"/>
            </a:xfrm>
            <a:prstGeom prst="rect">
              <a:avLst/>
            </a:prstGeom>
            <a:noFill/>
          </p:spPr>
          <p:txBody>
            <a:bodyPr wrap="square" rtlCol="0">
              <a:spAutoFit/>
            </a:bodyPr>
            <a:lstStyle/>
            <a:p>
              <a:pPr marL="171450" indent="-171450">
                <a:lnSpc>
                  <a:spcPct val="130000"/>
                </a:lnSpc>
                <a:spcBef>
                  <a:spcPts val="300"/>
                </a:spcBef>
                <a:spcAft>
                  <a:spcPts val="300"/>
                </a:spcAft>
                <a:buBlip>
                  <a:blip r:embed="rId2"/>
                </a:buBlip>
                <a:defRPr/>
              </a:pPr>
              <a:r>
                <a:rPr kumimoji="0" lang="en-US" sz="1200" b="0"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Planned knowledge transfer sessions with Ascend product owners and SMEs.</a:t>
              </a:r>
            </a:p>
            <a:p>
              <a:pPr marL="171450" indent="-171450">
                <a:lnSpc>
                  <a:spcPct val="130000"/>
                </a:lnSpc>
                <a:spcBef>
                  <a:spcPts val="300"/>
                </a:spcBef>
                <a:spcAft>
                  <a:spcPts val="300"/>
                </a:spcAft>
                <a:buBlip>
                  <a:blip r:embed="rId2"/>
                </a:buBlip>
                <a:defRPr/>
              </a:pPr>
              <a:r>
                <a:rPr kumimoji="0" lang="en-US" sz="1200" b="0"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Documentation of functional flows, technical patterns, and delivery guidelines.</a:t>
              </a:r>
            </a:p>
            <a:p>
              <a:pPr marL="171450" indent="-171450">
                <a:lnSpc>
                  <a:spcPct val="130000"/>
                </a:lnSpc>
                <a:spcBef>
                  <a:spcPts val="300"/>
                </a:spcBef>
                <a:spcAft>
                  <a:spcPts val="300"/>
                </a:spcAft>
                <a:buBlip>
                  <a:blip r:embed="rId2"/>
                </a:buBlip>
                <a:defRPr/>
              </a:pPr>
              <a:r>
                <a:rPr kumimoji="0" lang="en-US" sz="1200" b="0"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Ongoing guidance to ensure consistency across POD members.</a:t>
              </a:r>
            </a:p>
          </p:txBody>
        </p:sp>
        <p:sp>
          <p:nvSpPr>
            <p:cNvPr id="12" name="Rectangle: Rounded Corners 11">
              <a:extLst>
                <a:ext uri="{FF2B5EF4-FFF2-40B4-BE49-F238E27FC236}">
                  <a16:creationId xmlns:a16="http://schemas.microsoft.com/office/drawing/2014/main" id="{FD6AEAA4-4451-FBD4-30D2-E9E027B238E5}"/>
                </a:ext>
              </a:extLst>
            </p:cNvPr>
            <p:cNvSpPr/>
            <p:nvPr/>
          </p:nvSpPr>
          <p:spPr>
            <a:xfrm>
              <a:off x="6254050" y="1984560"/>
              <a:ext cx="2669240" cy="506281"/>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95B43AB-C500-701C-E5D0-69A46370E0CB}"/>
                </a:ext>
              </a:extLst>
            </p:cNvPr>
            <p:cNvSpPr txBox="1"/>
            <p:nvPr/>
          </p:nvSpPr>
          <p:spPr>
            <a:xfrm>
              <a:off x="6892076" y="1964141"/>
              <a:ext cx="1815183" cy="523220"/>
            </a:xfrm>
            <a:prstGeom prst="rect">
              <a:avLst/>
            </a:prstGeom>
            <a:noFill/>
          </p:spPr>
          <p:txBody>
            <a:bodyPr wrap="square" rtlCol="0">
              <a:spAutoFit/>
            </a:bodyPr>
            <a:lstStyle/>
            <a:p>
              <a:pPr algn="ctr"/>
              <a:r>
                <a:rPr lang="en-US" sz="1400" b="1">
                  <a:solidFill>
                    <a:schemeClr val="bg1"/>
                  </a:solidFill>
                  <a:latin typeface="Lato" panose="020F0502020204030203" pitchFamily="34" charset="0"/>
                  <a:ea typeface="Lato" panose="020F0502020204030203" pitchFamily="34" charset="0"/>
                  <a:cs typeface="Lato" panose="020F0502020204030203" pitchFamily="34" charset="0"/>
                </a:rPr>
                <a:t>Structured Knowledge Transfer</a:t>
              </a:r>
              <a:endParaRPr lang="en-US" sz="140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6" name="Rectangle 15">
              <a:extLst>
                <a:ext uri="{FF2B5EF4-FFF2-40B4-BE49-F238E27FC236}">
                  <a16:creationId xmlns:a16="http://schemas.microsoft.com/office/drawing/2014/main" id="{BD82C767-3F37-EB60-0B9C-82C218251160}"/>
                </a:ext>
              </a:extLst>
            </p:cNvPr>
            <p:cNvSpPr/>
            <p:nvPr/>
          </p:nvSpPr>
          <p:spPr>
            <a:xfrm>
              <a:off x="9204443" y="2413619"/>
              <a:ext cx="2385046" cy="3478054"/>
            </a:xfrm>
            <a:prstGeom prst="rect">
              <a:avLst/>
            </a:prstGeom>
            <a:solidFill>
              <a:schemeClr val="bg1"/>
            </a:solid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42D8286-0F90-2733-95E1-F6B3A060E584}"/>
                </a:ext>
              </a:extLst>
            </p:cNvPr>
            <p:cNvSpPr txBox="1"/>
            <p:nvPr/>
          </p:nvSpPr>
          <p:spPr>
            <a:xfrm>
              <a:off x="9286449" y="2748644"/>
              <a:ext cx="2385045" cy="2619628"/>
            </a:xfrm>
            <a:prstGeom prst="rect">
              <a:avLst/>
            </a:prstGeom>
            <a:noFill/>
          </p:spPr>
          <p:txBody>
            <a:bodyPr wrap="square" rtlCol="0">
              <a:spAutoFit/>
            </a:bodyPr>
            <a:lstStyle/>
            <a:p>
              <a:pPr marL="171450" indent="-171450">
                <a:lnSpc>
                  <a:spcPct val="130000"/>
                </a:lnSpc>
                <a:spcBef>
                  <a:spcPts val="300"/>
                </a:spcBef>
                <a:spcAft>
                  <a:spcPts val="300"/>
                </a:spcAft>
                <a:buBlip>
                  <a:blip r:embed="rId2"/>
                </a:buBlip>
                <a:defRPr/>
              </a:pPr>
              <a:r>
                <a:rPr kumimoji="0" lang="en-US" sz="1200" b="0"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Create reusable delivery assets, templates, and accelerators aligned to Ascend.</a:t>
              </a:r>
            </a:p>
            <a:p>
              <a:pPr marL="171450" indent="-171450">
                <a:lnSpc>
                  <a:spcPct val="130000"/>
                </a:lnSpc>
                <a:spcBef>
                  <a:spcPts val="300"/>
                </a:spcBef>
                <a:spcAft>
                  <a:spcPts val="300"/>
                </a:spcAft>
                <a:buBlip>
                  <a:blip r:embed="rId2"/>
                </a:buBlip>
                <a:defRPr/>
              </a:pPr>
              <a:r>
                <a:rPr kumimoji="0" lang="en-US" sz="1200" b="0"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Maintain centralized documentation for onboarding and POD scaling.</a:t>
              </a:r>
            </a:p>
            <a:p>
              <a:pPr marL="171450" indent="-171450">
                <a:lnSpc>
                  <a:spcPct val="130000"/>
                </a:lnSpc>
                <a:spcBef>
                  <a:spcPts val="300"/>
                </a:spcBef>
                <a:spcAft>
                  <a:spcPts val="300"/>
                </a:spcAft>
                <a:buBlip>
                  <a:blip r:embed="rId2"/>
                </a:buBlip>
                <a:defRPr/>
              </a:pPr>
              <a:r>
                <a:rPr kumimoji="0" lang="en-US" sz="1200" b="0"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Enable faster ramp-up of additional PODs with minimal dependency on client teams..</a:t>
              </a:r>
            </a:p>
          </p:txBody>
        </p:sp>
        <p:sp>
          <p:nvSpPr>
            <p:cNvPr id="18" name="Rectangle: Rounded Corners 17">
              <a:extLst>
                <a:ext uri="{FF2B5EF4-FFF2-40B4-BE49-F238E27FC236}">
                  <a16:creationId xmlns:a16="http://schemas.microsoft.com/office/drawing/2014/main" id="{11CCCED4-406C-643F-022B-A2F1D4179990}"/>
                </a:ext>
              </a:extLst>
            </p:cNvPr>
            <p:cNvSpPr/>
            <p:nvPr/>
          </p:nvSpPr>
          <p:spPr>
            <a:xfrm>
              <a:off x="9096798" y="1984560"/>
              <a:ext cx="2669240" cy="506281"/>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1AD14C6A-A507-B6C7-A04A-E6CEAA9AA064}"/>
                </a:ext>
              </a:extLst>
            </p:cNvPr>
            <p:cNvSpPr txBox="1"/>
            <p:nvPr/>
          </p:nvSpPr>
          <p:spPr>
            <a:xfrm>
              <a:off x="9576684" y="1995055"/>
              <a:ext cx="2130501" cy="523220"/>
            </a:xfrm>
            <a:prstGeom prst="rect">
              <a:avLst/>
            </a:prstGeom>
            <a:noFill/>
          </p:spPr>
          <p:txBody>
            <a:bodyPr wrap="square" rtlCol="0">
              <a:spAutoFit/>
            </a:bodyPr>
            <a:lstStyle/>
            <a:p>
              <a:pPr algn="ctr"/>
              <a:r>
                <a:rPr lang="en-US" sz="1400" b="1">
                  <a:solidFill>
                    <a:schemeClr val="bg1"/>
                  </a:solidFill>
                  <a:latin typeface="Lato" panose="020F0502020204030203" pitchFamily="34" charset="0"/>
                  <a:ea typeface="Lato" panose="020F0502020204030203" pitchFamily="34" charset="0"/>
                  <a:cs typeface="Lato" panose="020F0502020204030203" pitchFamily="34" charset="0"/>
                </a:rPr>
                <a:t>Reusable POD Assets &amp; Continuity</a:t>
              </a:r>
              <a:endParaRPr lang="en-US" sz="140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45" name="Oval 44">
              <a:extLst>
                <a:ext uri="{FF2B5EF4-FFF2-40B4-BE49-F238E27FC236}">
                  <a16:creationId xmlns:a16="http://schemas.microsoft.com/office/drawing/2014/main" id="{63FC5E46-439A-2BC7-1D8B-28CB792F4418}"/>
                </a:ext>
              </a:extLst>
            </p:cNvPr>
            <p:cNvSpPr/>
            <p:nvPr/>
          </p:nvSpPr>
          <p:spPr>
            <a:xfrm>
              <a:off x="3461368" y="1973751"/>
              <a:ext cx="504000" cy="50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b="1">
                <a:solidFill>
                  <a:srgbClr val="2F0EA2"/>
                </a:solidFill>
                <a:latin typeface="Lato" panose="020F0502020204030203" pitchFamily="34" charset="0"/>
                <a:ea typeface="Lato" panose="020F0502020204030203" pitchFamily="34" charset="0"/>
                <a:cs typeface="Lato" panose="020F0502020204030203" pitchFamily="34" charset="0"/>
              </a:endParaRPr>
            </a:p>
          </p:txBody>
        </p:sp>
        <p:pic>
          <p:nvPicPr>
            <p:cNvPr id="46" name="Graphic 6">
              <a:extLst>
                <a:ext uri="{FF2B5EF4-FFF2-40B4-BE49-F238E27FC236}">
                  <a16:creationId xmlns:a16="http://schemas.microsoft.com/office/drawing/2014/main" id="{5A67E2CF-7453-1366-26B0-665C2B5FBD74}"/>
                </a:ext>
              </a:extLst>
            </p:cNvPr>
            <p:cNvPicPr>
              <a:picLocks noChangeAspect="1"/>
            </p:cNvPicPr>
            <p:nvPr/>
          </p:nvPicPr>
          <p:blipFill>
            <a:blip r:embed="rId4">
              <a:duotone>
                <a:schemeClr val="accent4">
                  <a:shade val="45000"/>
                  <a:satMod val="135000"/>
                </a:schemeClr>
                <a:prstClr val="white"/>
              </a:duotone>
            </a:blip>
            <a:srcRect/>
            <a:stretch/>
          </p:blipFill>
          <p:spPr>
            <a:xfrm>
              <a:off x="3494102" y="2006485"/>
              <a:ext cx="438532" cy="438532"/>
            </a:xfrm>
            <a:prstGeom prst="rect">
              <a:avLst/>
            </a:prstGeom>
          </p:spPr>
        </p:pic>
        <p:sp>
          <p:nvSpPr>
            <p:cNvPr id="47" name="Oval 46">
              <a:extLst>
                <a:ext uri="{FF2B5EF4-FFF2-40B4-BE49-F238E27FC236}">
                  <a16:creationId xmlns:a16="http://schemas.microsoft.com/office/drawing/2014/main" id="{F560B12F-F965-558D-9DAC-22E6FE62804A}"/>
                </a:ext>
              </a:extLst>
            </p:cNvPr>
            <p:cNvSpPr/>
            <p:nvPr/>
          </p:nvSpPr>
          <p:spPr>
            <a:xfrm>
              <a:off x="6313165" y="1988454"/>
              <a:ext cx="504000" cy="50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b="1">
                <a:solidFill>
                  <a:srgbClr val="2F0EA2"/>
                </a:solidFill>
                <a:latin typeface="Lato" panose="020F0502020204030203" pitchFamily="34" charset="0"/>
                <a:ea typeface="Lato" panose="020F0502020204030203" pitchFamily="34" charset="0"/>
                <a:cs typeface="Lato" panose="020F0502020204030203" pitchFamily="34" charset="0"/>
              </a:endParaRPr>
            </a:p>
          </p:txBody>
        </p:sp>
        <p:pic>
          <p:nvPicPr>
            <p:cNvPr id="48" name="Graphic 6">
              <a:extLst>
                <a:ext uri="{FF2B5EF4-FFF2-40B4-BE49-F238E27FC236}">
                  <a16:creationId xmlns:a16="http://schemas.microsoft.com/office/drawing/2014/main" id="{FE66BCB5-2A57-93B2-EEFA-F163A2559B97}"/>
                </a:ext>
              </a:extLst>
            </p:cNvPr>
            <p:cNvPicPr>
              <a:picLocks noChangeAspect="1"/>
            </p:cNvPicPr>
            <p:nvPr/>
          </p:nvPicPr>
          <p:blipFill>
            <a:blip r:embed="rId5">
              <a:duotone>
                <a:schemeClr val="accent4">
                  <a:shade val="45000"/>
                  <a:satMod val="135000"/>
                </a:schemeClr>
                <a:prstClr val="white"/>
              </a:duotone>
            </a:blip>
            <a:srcRect/>
            <a:stretch/>
          </p:blipFill>
          <p:spPr>
            <a:xfrm>
              <a:off x="6345899" y="2021188"/>
              <a:ext cx="438532" cy="438532"/>
            </a:xfrm>
            <a:prstGeom prst="rect">
              <a:avLst/>
            </a:prstGeom>
          </p:spPr>
        </p:pic>
        <p:sp>
          <p:nvSpPr>
            <p:cNvPr id="49" name="Oval 48">
              <a:extLst>
                <a:ext uri="{FF2B5EF4-FFF2-40B4-BE49-F238E27FC236}">
                  <a16:creationId xmlns:a16="http://schemas.microsoft.com/office/drawing/2014/main" id="{466734AF-7D65-4338-8ECC-540E32D913AA}"/>
                </a:ext>
              </a:extLst>
            </p:cNvPr>
            <p:cNvSpPr/>
            <p:nvPr/>
          </p:nvSpPr>
          <p:spPr>
            <a:xfrm>
              <a:off x="9156758" y="1988454"/>
              <a:ext cx="504000" cy="50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b="1">
                <a:solidFill>
                  <a:srgbClr val="2F0EA2"/>
                </a:solidFill>
                <a:latin typeface="Lato" panose="020F0502020204030203" pitchFamily="34" charset="0"/>
                <a:ea typeface="Lato" panose="020F0502020204030203" pitchFamily="34" charset="0"/>
                <a:cs typeface="Lato" panose="020F0502020204030203" pitchFamily="34" charset="0"/>
              </a:endParaRPr>
            </a:p>
          </p:txBody>
        </p:sp>
        <p:pic>
          <p:nvPicPr>
            <p:cNvPr id="50" name="Graphic 6">
              <a:extLst>
                <a:ext uri="{FF2B5EF4-FFF2-40B4-BE49-F238E27FC236}">
                  <a16:creationId xmlns:a16="http://schemas.microsoft.com/office/drawing/2014/main" id="{CEBBF317-0B78-AC5C-331E-BD9C9E0B5C47}"/>
                </a:ext>
              </a:extLst>
            </p:cNvPr>
            <p:cNvPicPr>
              <a:picLocks noChangeAspect="1"/>
            </p:cNvPicPr>
            <p:nvPr/>
          </p:nvPicPr>
          <p:blipFill>
            <a:blip r:embed="rId6">
              <a:duotone>
                <a:schemeClr val="accent4">
                  <a:shade val="45000"/>
                  <a:satMod val="135000"/>
                </a:schemeClr>
                <a:prstClr val="white"/>
              </a:duotone>
            </a:blip>
            <a:srcRect/>
            <a:stretch/>
          </p:blipFill>
          <p:spPr>
            <a:xfrm>
              <a:off x="9189492" y="2021188"/>
              <a:ext cx="438532" cy="438532"/>
            </a:xfrm>
            <a:prstGeom prst="rect">
              <a:avLst/>
            </a:prstGeom>
          </p:spPr>
        </p:pic>
      </p:grpSp>
      <p:sp>
        <p:nvSpPr>
          <p:cNvPr id="52" name="TextBox 51">
            <a:extLst>
              <a:ext uri="{FF2B5EF4-FFF2-40B4-BE49-F238E27FC236}">
                <a16:creationId xmlns:a16="http://schemas.microsoft.com/office/drawing/2014/main" id="{3B94EFC9-BC63-7D01-9CAD-6E352A748307}"/>
              </a:ext>
            </a:extLst>
          </p:cNvPr>
          <p:cNvSpPr txBox="1"/>
          <p:nvPr/>
        </p:nvSpPr>
        <p:spPr>
          <a:xfrm>
            <a:off x="686909" y="758098"/>
            <a:ext cx="10388761" cy="954107"/>
          </a:xfrm>
          <a:prstGeom prst="rect">
            <a:avLst/>
          </a:prstGeom>
          <a:noFill/>
        </p:spPr>
        <p:txBody>
          <a:bodyPr wrap="square">
            <a:spAutoFit/>
          </a:bodyPr>
          <a:lstStyle/>
          <a:p>
            <a:pPr algn="ctr"/>
            <a:r>
              <a:rPr lang="en-US" sz="1400" b="1">
                <a:solidFill>
                  <a:schemeClr val="accent4">
                    <a:lumMod val="75000"/>
                  </a:schemeClr>
                </a:solidFill>
                <a:latin typeface="Lato" panose="020F0502020204030203" pitchFamily="34" charset="0"/>
                <a:ea typeface="Lato" panose="020F0502020204030203" pitchFamily="34" charset="0"/>
                <a:cs typeface="Lato" panose="020F0502020204030203" pitchFamily="34" charset="0"/>
              </a:rPr>
              <a:t>To enable rapid POD ramp-up and sustained delivery, Innominds will implement a structured Ascend Platform Learning and Enablement approach.</a:t>
            </a:r>
          </a:p>
          <a:p>
            <a:pPr algn="ctr"/>
            <a:r>
              <a:rPr lang="en-US" sz="1400" b="1">
                <a:solidFill>
                  <a:schemeClr val="accent4">
                    <a:lumMod val="75000"/>
                  </a:schemeClr>
                </a:solidFill>
                <a:latin typeface="Lato" panose="020F0502020204030203" pitchFamily="34" charset="0"/>
                <a:ea typeface="Lato" panose="020F0502020204030203" pitchFamily="34" charset="0"/>
                <a:cs typeface="Lato" panose="020F0502020204030203" pitchFamily="34" charset="0"/>
              </a:rPr>
              <a:t>This ensures consistent understanding of Ascend architecture, workflows, delivery standards, and operating model, while enabling knowledge continuity and scalability across long-running PODs.</a:t>
            </a:r>
            <a:endParaRPr lang="en-IN" sz="1400" b="1">
              <a:solidFill>
                <a:schemeClr val="accent4">
                  <a:lumMod val="75000"/>
                </a:schemeClr>
              </a:solidFill>
              <a:latin typeface="Lato" panose="020F0502020204030203" pitchFamily="34" charset="0"/>
              <a:ea typeface="Lato" panose="020F0502020204030203" pitchFamily="34" charset="0"/>
              <a:cs typeface="Lato" panose="020F0502020204030203" pitchFamily="34" charset="0"/>
            </a:endParaRPr>
          </a:p>
        </p:txBody>
      </p:sp>
      <p:sp>
        <p:nvSpPr>
          <p:cNvPr id="6" name="Rectangle 5">
            <a:extLst>
              <a:ext uri="{FF2B5EF4-FFF2-40B4-BE49-F238E27FC236}">
                <a16:creationId xmlns:a16="http://schemas.microsoft.com/office/drawing/2014/main" id="{67A0FF92-B10E-FF1D-21C8-C6857422AD86}"/>
              </a:ext>
            </a:extLst>
          </p:cNvPr>
          <p:cNvSpPr/>
          <p:nvPr/>
        </p:nvSpPr>
        <p:spPr>
          <a:xfrm>
            <a:off x="571933" y="5964983"/>
            <a:ext cx="11063955" cy="52322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bg1"/>
                </a:solidFill>
                <a:latin typeface="Lato" panose="020F0502020204030203" pitchFamily="34" charset="0"/>
                <a:ea typeface="Lato" panose="020F0502020204030203" pitchFamily="34" charset="0"/>
                <a:cs typeface="Lato" panose="020F0502020204030203" pitchFamily="34" charset="0"/>
              </a:rPr>
              <a:t>This phased enablement approach supports the updated ramp-up plan by enabling parallel POD onboarding, faster scale-up, and consistent delivery quality across all Ascend PODs.</a:t>
            </a:r>
          </a:p>
        </p:txBody>
      </p:sp>
    </p:spTree>
    <p:extLst>
      <p:ext uri="{BB962C8B-B14F-4D97-AF65-F5344CB8AC3E}">
        <p14:creationId xmlns:p14="http://schemas.microsoft.com/office/powerpoint/2010/main" val="36636033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D6D7F-189F-D816-AF83-2E998126FD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FDDA37-AD23-F949-CCE3-AEADBCA50F43}"/>
              </a:ext>
            </a:extLst>
          </p:cNvPr>
          <p:cNvSpPr>
            <a:spLocks noGrp="1"/>
          </p:cNvSpPr>
          <p:nvPr>
            <p:ph type="title"/>
          </p:nvPr>
        </p:nvSpPr>
        <p:spPr/>
        <p:txBody>
          <a:bodyPr/>
          <a:lstStyle/>
          <a:p>
            <a:r>
              <a:rPr lang="en-US"/>
              <a:t>POD Formation and Phased Ramp-Up Strategy</a:t>
            </a:r>
            <a:endParaRPr lang="en-IN"/>
          </a:p>
        </p:txBody>
      </p:sp>
      <p:sp>
        <p:nvSpPr>
          <p:cNvPr id="3" name="Text 1">
            <a:extLst>
              <a:ext uri="{FF2B5EF4-FFF2-40B4-BE49-F238E27FC236}">
                <a16:creationId xmlns:a16="http://schemas.microsoft.com/office/drawing/2014/main" id="{0250A305-6A45-DA3F-5A70-27DCB0B24F6F}"/>
              </a:ext>
            </a:extLst>
          </p:cNvPr>
          <p:cNvSpPr/>
          <p:nvPr/>
        </p:nvSpPr>
        <p:spPr>
          <a:xfrm>
            <a:off x="418902" y="888879"/>
            <a:ext cx="11653355" cy="339779"/>
          </a:xfrm>
          <a:prstGeom prst="rect">
            <a:avLst/>
          </a:prstGeom>
          <a:noFill/>
          <a:ln/>
        </p:spPr>
        <p:txBody>
          <a:bodyPr wrap="square" lIns="0" tIns="0" rIns="0" bIns="0" rtlCol="0" anchor="t"/>
          <a:lstStyle/>
          <a:p>
            <a:pPr marL="0" indent="0" algn="l">
              <a:lnSpc>
                <a:spcPts val="2200"/>
              </a:lnSpc>
              <a:buNone/>
            </a:pPr>
            <a:r>
              <a:rPr lang="en-US" sz="1350" b="1">
                <a:solidFill>
                  <a:srgbClr val="272525"/>
                </a:solidFill>
                <a:latin typeface="Lato" panose="020F0502020204030203" pitchFamily="34" charset="0"/>
                <a:ea typeface="Lato" panose="020F0502020204030203" pitchFamily="34" charset="0"/>
                <a:cs typeface="Lato" panose="020F0502020204030203" pitchFamily="34" charset="0"/>
              </a:rPr>
              <a:t>Innominds  execution strategy is designed to deliver rapid, AI-infused scaling for the Ascend platform through a high-velocity, phased POD deployment model that integrates Deloitte-led orientation with immediate, full-lifecycle feature delivery.</a:t>
            </a:r>
          </a:p>
        </p:txBody>
      </p:sp>
      <p:grpSp>
        <p:nvGrpSpPr>
          <p:cNvPr id="18" name="Group 17">
            <a:extLst>
              <a:ext uri="{FF2B5EF4-FFF2-40B4-BE49-F238E27FC236}">
                <a16:creationId xmlns:a16="http://schemas.microsoft.com/office/drawing/2014/main" id="{CA372832-EFA1-765C-C7D8-3068630694FE}"/>
              </a:ext>
            </a:extLst>
          </p:cNvPr>
          <p:cNvGrpSpPr/>
          <p:nvPr/>
        </p:nvGrpSpPr>
        <p:grpSpPr>
          <a:xfrm>
            <a:off x="99524" y="1971921"/>
            <a:ext cx="11972733" cy="3507398"/>
            <a:chOff x="397457" y="449927"/>
            <a:chExt cx="12698453" cy="4206625"/>
          </a:xfrm>
        </p:grpSpPr>
        <p:sp>
          <p:nvSpPr>
            <p:cNvPr id="8" name="Rectangle: Rounded Corners 7">
              <a:extLst>
                <a:ext uri="{FF2B5EF4-FFF2-40B4-BE49-F238E27FC236}">
                  <a16:creationId xmlns:a16="http://schemas.microsoft.com/office/drawing/2014/main" id="{D389730E-E3E0-E4BC-2C1C-C35E54C1F8CE}"/>
                </a:ext>
              </a:extLst>
            </p:cNvPr>
            <p:cNvSpPr/>
            <p:nvPr/>
          </p:nvSpPr>
          <p:spPr>
            <a:xfrm>
              <a:off x="397457" y="449927"/>
              <a:ext cx="4153099" cy="4206625"/>
            </a:xfrm>
            <a:prstGeom prst="roundRect">
              <a:avLst>
                <a:gd name="adj" fmla="val 4993"/>
              </a:avLst>
            </a:prstGeom>
            <a:solidFill>
              <a:schemeClr val="bg1"/>
            </a:solid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C127490C-8D4E-819E-867F-1359841E725A}"/>
                </a:ext>
              </a:extLst>
            </p:cNvPr>
            <p:cNvSpPr/>
            <p:nvPr/>
          </p:nvSpPr>
          <p:spPr>
            <a:xfrm>
              <a:off x="4680857" y="476601"/>
              <a:ext cx="4153098" cy="4179951"/>
            </a:xfrm>
            <a:prstGeom prst="roundRect">
              <a:avLst>
                <a:gd name="adj" fmla="val 4993"/>
              </a:avLst>
            </a:prstGeom>
            <a:solidFill>
              <a:schemeClr val="bg1"/>
            </a:solid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5B43805A-3EC8-0DA7-F462-9BE3A06F5131}"/>
                </a:ext>
              </a:extLst>
            </p:cNvPr>
            <p:cNvSpPr/>
            <p:nvPr/>
          </p:nvSpPr>
          <p:spPr>
            <a:xfrm>
              <a:off x="8942812" y="476601"/>
              <a:ext cx="4153098" cy="4179951"/>
            </a:xfrm>
            <a:prstGeom prst="roundRect">
              <a:avLst>
                <a:gd name="adj" fmla="val 4993"/>
              </a:avLst>
            </a:prstGeom>
            <a:solidFill>
              <a:schemeClr val="bg1"/>
            </a:solid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Text 1">
            <a:extLst>
              <a:ext uri="{FF2B5EF4-FFF2-40B4-BE49-F238E27FC236}">
                <a16:creationId xmlns:a16="http://schemas.microsoft.com/office/drawing/2014/main" id="{E03C53B0-D41A-CC61-0291-94795E95F977}"/>
              </a:ext>
            </a:extLst>
          </p:cNvPr>
          <p:cNvSpPr/>
          <p:nvPr/>
        </p:nvSpPr>
        <p:spPr>
          <a:xfrm>
            <a:off x="721078" y="1971921"/>
            <a:ext cx="2672641" cy="300377"/>
          </a:xfrm>
          <a:prstGeom prst="rect">
            <a:avLst/>
          </a:prstGeom>
          <a:noFill/>
          <a:ln/>
        </p:spPr>
        <p:txBody>
          <a:bodyPr wrap="square" lIns="0" tIns="0" rIns="0" bIns="0" rtlCol="0" anchor="t"/>
          <a:lstStyle/>
          <a:p>
            <a:pPr marL="0" indent="0" algn="ctr">
              <a:lnSpc>
                <a:spcPts val="2200"/>
              </a:lnSpc>
              <a:buNone/>
            </a:pPr>
            <a:r>
              <a:rPr lang="en-US" sz="1200" b="1">
                <a:solidFill>
                  <a:srgbClr val="0070C0"/>
                </a:solidFill>
                <a:latin typeface="Lato" panose="020F0502020204030203" pitchFamily="34" charset="0"/>
                <a:ea typeface="Lato" panose="020F0502020204030203" pitchFamily="34" charset="0"/>
                <a:cs typeface="Lato" panose="020F0502020204030203" pitchFamily="34" charset="0"/>
              </a:rPr>
              <a:t>Foundation &amp; Deloitte-Led Enablement (January – Mid February)</a:t>
            </a:r>
          </a:p>
        </p:txBody>
      </p:sp>
      <p:sp>
        <p:nvSpPr>
          <p:cNvPr id="24" name="Text 1">
            <a:extLst>
              <a:ext uri="{FF2B5EF4-FFF2-40B4-BE49-F238E27FC236}">
                <a16:creationId xmlns:a16="http://schemas.microsoft.com/office/drawing/2014/main" id="{E7E7C355-185E-3C59-7EBC-3C62A3EF30B5}"/>
              </a:ext>
            </a:extLst>
          </p:cNvPr>
          <p:cNvSpPr/>
          <p:nvPr/>
        </p:nvSpPr>
        <p:spPr>
          <a:xfrm>
            <a:off x="201743" y="2804394"/>
            <a:ext cx="3670299" cy="3349229"/>
          </a:xfrm>
          <a:prstGeom prst="rect">
            <a:avLst/>
          </a:prstGeom>
          <a:noFill/>
          <a:ln/>
        </p:spPr>
        <p:txBody>
          <a:bodyPr wrap="square" lIns="0" tIns="0" rIns="0" bIns="0" rtlCol="0" anchor="t"/>
          <a:lstStyle/>
          <a:p>
            <a:pPr marL="171450" indent="-171450">
              <a:spcBef>
                <a:spcPts val="1200"/>
              </a:spcBef>
              <a:buClr>
                <a:srgbClr val="0070C0"/>
              </a:buClr>
              <a:buFont typeface="Wingdings" panose="05000000000000000000" pitchFamily="2" charset="2"/>
              <a:buChar char="Ø"/>
            </a:pPr>
            <a:r>
              <a:rPr lang="en-US" sz="1100">
                <a:latin typeface="Lato" panose="020F0502020204030203" pitchFamily="34" charset="0"/>
                <a:ea typeface="Lato" panose="020F0502020204030203" pitchFamily="34" charset="0"/>
                <a:cs typeface="Lato" panose="020F0502020204030203" pitchFamily="34" charset="0"/>
              </a:rPr>
              <a:t>Initial POD Activation: 2 PODs (20 resources) onboarded starting Jan 12, forming the core delivery team.</a:t>
            </a:r>
          </a:p>
          <a:p>
            <a:pPr marL="171450" indent="-171450">
              <a:spcBef>
                <a:spcPts val="1200"/>
              </a:spcBef>
              <a:buClr>
                <a:srgbClr val="0070C0"/>
              </a:buClr>
              <a:buFont typeface="Wingdings" panose="05000000000000000000" pitchFamily="2" charset="2"/>
              <a:buChar char="Ø"/>
            </a:pPr>
            <a:r>
              <a:rPr lang="en-US" sz="1100">
                <a:latin typeface="Lato" panose="020F0502020204030203" pitchFamily="34" charset="0"/>
                <a:ea typeface="Lato" panose="020F0502020204030203" pitchFamily="34" charset="0"/>
                <a:cs typeface="Lato" panose="020F0502020204030203" pitchFamily="34" charset="0"/>
              </a:rPr>
              <a:t>Deloitte-Led Platform Enablement: Initial PODs undergo Deloitte-led training and orientation covering Ascend architecture, security standards, tooling, and delivery processes.</a:t>
            </a:r>
          </a:p>
          <a:p>
            <a:pPr marL="171450" indent="-171450">
              <a:spcBef>
                <a:spcPts val="1200"/>
              </a:spcBef>
              <a:buClr>
                <a:srgbClr val="0070C0"/>
              </a:buClr>
              <a:buFont typeface="Wingdings" panose="05000000000000000000" pitchFamily="2" charset="2"/>
              <a:buChar char="Ø"/>
            </a:pPr>
            <a:r>
              <a:rPr lang="en-US" sz="1100">
                <a:latin typeface="Lato" panose="020F0502020204030203" pitchFamily="34" charset="0"/>
                <a:ea typeface="Lato" panose="020F0502020204030203" pitchFamily="34" charset="0"/>
                <a:cs typeface="Lato" panose="020F0502020204030203" pitchFamily="34" charset="0"/>
              </a:rPr>
              <a:t>Core Delivery Readiness: PODs participate in backlog grooming, sprint ceremonies, and early feature development under Deloitte guidance.</a:t>
            </a:r>
          </a:p>
          <a:p>
            <a:pPr marL="171450" indent="-171450">
              <a:spcBef>
                <a:spcPts val="1200"/>
              </a:spcBef>
              <a:buClr>
                <a:srgbClr val="0070C0"/>
              </a:buClr>
              <a:buFont typeface="Wingdings" panose="05000000000000000000" pitchFamily="2" charset="2"/>
              <a:buChar char="Ø"/>
            </a:pPr>
            <a:r>
              <a:rPr lang="en-US" sz="1100">
                <a:latin typeface="Lato" panose="020F0502020204030203" pitchFamily="34" charset="0"/>
                <a:ea typeface="Lato" panose="020F0502020204030203" pitchFamily="34" charset="0"/>
                <a:cs typeface="Lato" panose="020F0502020204030203" pitchFamily="34" charset="0"/>
              </a:rPr>
              <a:t>Knowledge Seeding: Learnings, documentation, and best practices captured to support downstream POD enablement.</a:t>
            </a:r>
          </a:p>
        </p:txBody>
      </p:sp>
      <p:sp>
        <p:nvSpPr>
          <p:cNvPr id="25" name="Text 1">
            <a:extLst>
              <a:ext uri="{FF2B5EF4-FFF2-40B4-BE49-F238E27FC236}">
                <a16:creationId xmlns:a16="http://schemas.microsoft.com/office/drawing/2014/main" id="{BEADAFE6-3640-1E7D-1CBD-C33B997B2C52}"/>
              </a:ext>
            </a:extLst>
          </p:cNvPr>
          <p:cNvSpPr/>
          <p:nvPr/>
        </p:nvSpPr>
        <p:spPr>
          <a:xfrm>
            <a:off x="4759679" y="2051309"/>
            <a:ext cx="2903642" cy="350164"/>
          </a:xfrm>
          <a:prstGeom prst="rect">
            <a:avLst/>
          </a:prstGeom>
          <a:noFill/>
          <a:ln/>
        </p:spPr>
        <p:txBody>
          <a:bodyPr wrap="square" lIns="0" tIns="0" rIns="0" bIns="0" rtlCol="0" anchor="t"/>
          <a:lstStyle/>
          <a:p>
            <a:pPr marL="0" indent="0" algn="ctr">
              <a:lnSpc>
                <a:spcPts val="2200"/>
              </a:lnSpc>
              <a:buNone/>
            </a:pPr>
            <a:r>
              <a:rPr lang="en-US" sz="1200" b="1">
                <a:solidFill>
                  <a:srgbClr val="0070C0"/>
                </a:solidFill>
                <a:latin typeface="Lato" panose="020F0502020204030203" pitchFamily="34" charset="0"/>
                <a:ea typeface="Lato" panose="020F0502020204030203" pitchFamily="34" charset="0"/>
                <a:cs typeface="Lato" panose="020F0502020204030203" pitchFamily="34" charset="0"/>
              </a:rPr>
              <a:t>Phased Scale-Up &amp; Train-the-Trainer Model (February)</a:t>
            </a:r>
          </a:p>
        </p:txBody>
      </p:sp>
      <p:sp>
        <p:nvSpPr>
          <p:cNvPr id="26" name="Text 1">
            <a:extLst>
              <a:ext uri="{FF2B5EF4-FFF2-40B4-BE49-F238E27FC236}">
                <a16:creationId xmlns:a16="http://schemas.microsoft.com/office/drawing/2014/main" id="{7D922DD2-04B6-97EC-7CEC-AEC760E09B1E}"/>
              </a:ext>
            </a:extLst>
          </p:cNvPr>
          <p:cNvSpPr/>
          <p:nvPr/>
        </p:nvSpPr>
        <p:spPr>
          <a:xfrm>
            <a:off x="4342849" y="2851394"/>
            <a:ext cx="3670299" cy="3107297"/>
          </a:xfrm>
          <a:prstGeom prst="rect">
            <a:avLst/>
          </a:prstGeom>
          <a:noFill/>
          <a:ln/>
        </p:spPr>
        <p:txBody>
          <a:bodyPr wrap="square" lIns="0" tIns="0" rIns="0" bIns="0" rtlCol="0" anchor="t"/>
          <a:lstStyle/>
          <a:p>
            <a:pPr marL="171450" indent="-171450">
              <a:spcBef>
                <a:spcPts val="1200"/>
              </a:spcBef>
              <a:buClr>
                <a:srgbClr val="0070C0"/>
              </a:buClr>
              <a:buFont typeface="Wingdings" panose="05000000000000000000" pitchFamily="2" charset="2"/>
              <a:buChar char="Ø"/>
            </a:pPr>
            <a:r>
              <a:rPr lang="en-US" sz="1100">
                <a:latin typeface="Lato" panose="020F0502020204030203" pitchFamily="34" charset="0"/>
                <a:ea typeface="Lato" panose="020F0502020204030203" pitchFamily="34" charset="0"/>
                <a:cs typeface="Lato" panose="020F0502020204030203" pitchFamily="34" charset="0"/>
              </a:rPr>
              <a:t>Incremental POD Expansion: +2 PODs added in early February, followed by +3 PODs by end of February.</a:t>
            </a:r>
          </a:p>
          <a:p>
            <a:pPr marL="171450" indent="-171450">
              <a:spcBef>
                <a:spcPts val="1200"/>
              </a:spcBef>
              <a:buClr>
                <a:srgbClr val="0070C0"/>
              </a:buClr>
              <a:buFont typeface="Wingdings" panose="05000000000000000000" pitchFamily="2" charset="2"/>
              <a:buChar char="Ø"/>
            </a:pPr>
            <a:r>
              <a:rPr lang="en-US" sz="1100">
                <a:latin typeface="Lato" panose="020F0502020204030203" pitchFamily="34" charset="0"/>
                <a:ea typeface="Lato" panose="020F0502020204030203" pitchFamily="34" charset="0"/>
                <a:cs typeface="Lato" panose="020F0502020204030203" pitchFamily="34" charset="0"/>
              </a:rPr>
              <a:t>Train-the-Trainer Execution: Initial Deloitte-enabled PODs act as knowledge anchors, accelerating onboarding of new PODs.</a:t>
            </a:r>
          </a:p>
          <a:p>
            <a:pPr marL="171450" indent="-171450">
              <a:spcBef>
                <a:spcPts val="1200"/>
              </a:spcBef>
              <a:buClr>
                <a:srgbClr val="0070C0"/>
              </a:buClr>
              <a:buFont typeface="Wingdings" panose="05000000000000000000" pitchFamily="2" charset="2"/>
              <a:buChar char="Ø"/>
            </a:pPr>
            <a:r>
              <a:rPr lang="en-US" sz="1100">
                <a:latin typeface="Lato" panose="020F0502020204030203" pitchFamily="34" charset="0"/>
                <a:ea typeface="Lato" panose="020F0502020204030203" pitchFamily="34" charset="0"/>
                <a:cs typeface="Lato" panose="020F0502020204030203" pitchFamily="34" charset="0"/>
              </a:rPr>
              <a:t>Standardized Delivery Practices: Consistent Agile ceremonies, DevOps pipelines, and quality controls applied across all PODs.</a:t>
            </a:r>
          </a:p>
          <a:p>
            <a:pPr marL="171450" indent="-171450">
              <a:spcBef>
                <a:spcPts val="1200"/>
              </a:spcBef>
              <a:buClr>
                <a:srgbClr val="0070C0"/>
              </a:buClr>
              <a:buFont typeface="Wingdings" panose="05000000000000000000" pitchFamily="2" charset="2"/>
              <a:buChar char="Ø"/>
            </a:pPr>
            <a:r>
              <a:rPr lang="en-US" sz="1100">
                <a:latin typeface="Lato" panose="020F0502020204030203" pitchFamily="34" charset="0"/>
                <a:ea typeface="Lato" panose="020F0502020204030203" pitchFamily="34" charset="0"/>
                <a:cs typeface="Lato" panose="020F0502020204030203" pitchFamily="34" charset="0"/>
              </a:rPr>
              <a:t>GenAI Adoption: PODs progressively leverage GenAI tools for code assistance, test automation, and defect triage.</a:t>
            </a:r>
          </a:p>
        </p:txBody>
      </p:sp>
      <p:sp>
        <p:nvSpPr>
          <p:cNvPr id="27" name="Text 1">
            <a:extLst>
              <a:ext uri="{FF2B5EF4-FFF2-40B4-BE49-F238E27FC236}">
                <a16:creationId xmlns:a16="http://schemas.microsoft.com/office/drawing/2014/main" id="{D66C663C-BFBC-D4DD-97F0-64666B4CE783}"/>
              </a:ext>
            </a:extLst>
          </p:cNvPr>
          <p:cNvSpPr/>
          <p:nvPr/>
        </p:nvSpPr>
        <p:spPr>
          <a:xfrm>
            <a:off x="8675425" y="2037988"/>
            <a:ext cx="3227128" cy="383015"/>
          </a:xfrm>
          <a:prstGeom prst="rect">
            <a:avLst/>
          </a:prstGeom>
          <a:noFill/>
          <a:ln/>
        </p:spPr>
        <p:txBody>
          <a:bodyPr wrap="square" lIns="0" tIns="0" rIns="0" bIns="0" rtlCol="0" anchor="t"/>
          <a:lstStyle/>
          <a:p>
            <a:pPr marL="0" indent="0" algn="ctr">
              <a:lnSpc>
                <a:spcPts val="2200"/>
              </a:lnSpc>
              <a:buNone/>
            </a:pPr>
            <a:r>
              <a:rPr lang="en-US" sz="1200" b="1">
                <a:solidFill>
                  <a:srgbClr val="0070C0"/>
                </a:solidFill>
                <a:latin typeface="Lato" panose="020F0502020204030203" pitchFamily="34" charset="0"/>
                <a:ea typeface="Lato" panose="020F0502020204030203" pitchFamily="34" charset="0"/>
                <a:cs typeface="Lato" panose="020F0502020204030203" pitchFamily="34" charset="0"/>
              </a:rPr>
              <a:t>Steady-State Delivery &amp; Velocity Optimization</a:t>
            </a:r>
          </a:p>
          <a:p>
            <a:pPr marL="0" indent="0" algn="ctr">
              <a:lnSpc>
                <a:spcPts val="2200"/>
              </a:lnSpc>
              <a:buNone/>
            </a:pPr>
            <a:r>
              <a:rPr lang="en-US" sz="1200" b="1">
                <a:solidFill>
                  <a:srgbClr val="0070C0"/>
                </a:solidFill>
                <a:latin typeface="Lato" panose="020F0502020204030203" pitchFamily="34" charset="0"/>
                <a:ea typeface="Lato" panose="020F0502020204030203" pitchFamily="34" charset="0"/>
                <a:cs typeface="Lato" panose="020F0502020204030203" pitchFamily="34" charset="0"/>
              </a:rPr>
              <a:t>(March Onwards))</a:t>
            </a:r>
          </a:p>
        </p:txBody>
      </p:sp>
      <p:sp>
        <p:nvSpPr>
          <p:cNvPr id="28" name="Text 1">
            <a:extLst>
              <a:ext uri="{FF2B5EF4-FFF2-40B4-BE49-F238E27FC236}">
                <a16:creationId xmlns:a16="http://schemas.microsoft.com/office/drawing/2014/main" id="{55B9D419-58D6-37F1-5BAB-3DD8D97341D0}"/>
              </a:ext>
            </a:extLst>
          </p:cNvPr>
          <p:cNvSpPr/>
          <p:nvPr/>
        </p:nvSpPr>
        <p:spPr>
          <a:xfrm>
            <a:off x="8279233" y="2891732"/>
            <a:ext cx="3670299" cy="3308891"/>
          </a:xfrm>
          <a:prstGeom prst="rect">
            <a:avLst/>
          </a:prstGeom>
          <a:noFill/>
          <a:ln/>
        </p:spPr>
        <p:txBody>
          <a:bodyPr wrap="square" lIns="0" tIns="0" rIns="0" bIns="0" rtlCol="0" anchor="t"/>
          <a:lstStyle/>
          <a:p>
            <a:pPr marL="171450" indent="-171450">
              <a:spcBef>
                <a:spcPts val="1200"/>
              </a:spcBef>
              <a:buClr>
                <a:srgbClr val="0070C0"/>
              </a:buClr>
              <a:buFont typeface="Wingdings" panose="05000000000000000000" pitchFamily="2" charset="2"/>
              <a:buChar char="Ø"/>
            </a:pPr>
            <a:r>
              <a:rPr lang="en-US" sz="1100">
                <a:latin typeface="Lato" panose="020F0502020204030203" pitchFamily="34" charset="0"/>
                <a:ea typeface="Lato" panose="020F0502020204030203" pitchFamily="34" charset="0"/>
                <a:cs typeface="Lato" panose="020F0502020204030203" pitchFamily="34" charset="0"/>
              </a:rPr>
              <a:t>Final POD Ramp-Up: +3 PODs onboarded by end of March, achieving planned delivery capacity.</a:t>
            </a:r>
          </a:p>
          <a:p>
            <a:pPr marL="171450" indent="-171450">
              <a:spcBef>
                <a:spcPts val="1200"/>
              </a:spcBef>
              <a:buClr>
                <a:srgbClr val="0070C0"/>
              </a:buClr>
              <a:buFont typeface="Wingdings" panose="05000000000000000000" pitchFamily="2" charset="2"/>
              <a:buChar char="Ø"/>
            </a:pPr>
            <a:r>
              <a:rPr lang="en-US" sz="1100">
                <a:latin typeface="Lato" panose="020F0502020204030203" pitchFamily="34" charset="0"/>
                <a:ea typeface="Lato" panose="020F0502020204030203" pitchFamily="34" charset="0"/>
                <a:cs typeface="Lato" panose="020F0502020204030203" pitchFamily="34" charset="0"/>
              </a:rPr>
              <a:t>End-to-End POD Ownership: PODs operate with full lifecycle responsibility within Deloitte governance.</a:t>
            </a:r>
          </a:p>
          <a:p>
            <a:pPr marL="171450" indent="-171450">
              <a:spcBef>
                <a:spcPts val="1200"/>
              </a:spcBef>
              <a:buClr>
                <a:srgbClr val="0070C0"/>
              </a:buClr>
              <a:buFont typeface="Wingdings" panose="05000000000000000000" pitchFamily="2" charset="2"/>
              <a:buChar char="Ø"/>
            </a:pPr>
            <a:r>
              <a:rPr lang="en-US" sz="1100">
                <a:latin typeface="Lato" panose="020F0502020204030203" pitchFamily="34" charset="0"/>
                <a:ea typeface="Lato" panose="020F0502020204030203" pitchFamily="34" charset="0"/>
                <a:cs typeface="Lato" panose="020F0502020204030203" pitchFamily="34" charset="0"/>
              </a:rPr>
              <a:t>Predictable Delivery Rhythm: Stable velocity, quality metrics, and readiness for quarterly release cycles.</a:t>
            </a:r>
          </a:p>
          <a:p>
            <a:pPr marL="171450" indent="-171450">
              <a:spcBef>
                <a:spcPts val="1200"/>
              </a:spcBef>
              <a:buClr>
                <a:srgbClr val="0070C0"/>
              </a:buClr>
              <a:buFont typeface="Wingdings" panose="05000000000000000000" pitchFamily="2" charset="2"/>
              <a:buChar char="Ø"/>
            </a:pPr>
            <a:r>
              <a:rPr lang="en-US" sz="1100">
                <a:latin typeface="Lato" panose="020F0502020204030203" pitchFamily="34" charset="0"/>
                <a:ea typeface="Lato" panose="020F0502020204030203" pitchFamily="34" charset="0"/>
                <a:cs typeface="Lato" panose="020F0502020204030203" pitchFamily="34" charset="0"/>
              </a:rPr>
              <a:t>Scalable &amp; Flexible Model: POD composition and capacity adjusted as Ascend roadmap evolves.</a:t>
            </a:r>
          </a:p>
        </p:txBody>
      </p:sp>
    </p:spTree>
    <p:extLst>
      <p:ext uri="{BB962C8B-B14F-4D97-AF65-F5344CB8AC3E}">
        <p14:creationId xmlns:p14="http://schemas.microsoft.com/office/powerpoint/2010/main" val="35040867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4" id="{1DE6188E-69DA-A14F-A49F-0BE1E18ADB6B}" vid="{5EB948F6-E585-C049-8399-ED2AA8E49B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_activity xmlns="cafaca3c-a3dd-4d3f-89ad-0cd9126724a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ED102E421FC3B45AEEC9A3D43DB7BE2" ma:contentTypeVersion="21" ma:contentTypeDescription="Create a new document." ma:contentTypeScope="" ma:versionID="efcaa136722f7b3349060e805db4100d">
  <xsd:schema xmlns:xsd="http://www.w3.org/2001/XMLSchema" xmlns:xs="http://www.w3.org/2001/XMLSchema" xmlns:p="http://schemas.microsoft.com/office/2006/metadata/properties" xmlns:ns1="http://schemas.microsoft.com/sharepoint/v3" xmlns:ns3="856716c4-77e4-4ad5-a2b8-b2dccf5d65df" xmlns:ns4="cafaca3c-a3dd-4d3f-89ad-0cd9126724a1" targetNamespace="http://schemas.microsoft.com/office/2006/metadata/properties" ma:root="true" ma:fieldsID="8622d9bdfc9a47c7d628cd48bce0fe89" ns1:_="" ns3:_="" ns4:_="">
    <xsd:import namespace="http://schemas.microsoft.com/sharepoint/v3"/>
    <xsd:import namespace="856716c4-77e4-4ad5-a2b8-b2dccf5d65df"/>
    <xsd:import namespace="cafaca3c-a3dd-4d3f-89ad-0cd9126724a1"/>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OCR" minOccurs="0"/>
                <xsd:element ref="ns4:MediaServiceLocation" minOccurs="0"/>
                <xsd:element ref="ns4:MediaServiceEventHashCode" minOccurs="0"/>
                <xsd:element ref="ns4:MediaServiceGenerationTime" minOccurs="0"/>
                <xsd:element ref="ns4:MediaServiceAutoKeyPoints" minOccurs="0"/>
                <xsd:element ref="ns4:MediaServiceKeyPoints" minOccurs="0"/>
                <xsd:element ref="ns1:_ip_UnifiedCompliancePolicyProperties" minOccurs="0"/>
                <xsd:element ref="ns1:_ip_UnifiedCompliancePolicyUIAction" minOccurs="0"/>
                <xsd:element ref="ns4:MediaLengthInSeconds" minOccurs="0"/>
                <xsd:element ref="ns4:_activity" minOccurs="0"/>
                <xsd:element ref="ns4:MediaServiceObjectDetectorVersions" minOccurs="0"/>
                <xsd:element ref="ns4:MediaServiceSystemTags" minOccurs="0"/>
                <xsd:element ref="ns4:MediaServiceSearchProperties" minOccurs="0"/>
                <xsd:element ref="ns4: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6716c4-77e4-4ad5-a2b8-b2dccf5d65df"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afaca3c-a3dd-4d3f-89ad-0cd9126724a1"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DateTaken" ma:index="13" nillable="true" ma:displayName="MediaServiceDateTaken" ma:description="" ma:hidden="true" ma:internalName="MediaServiceDateTaken" ma:readOnly="true">
      <xsd:simpleType>
        <xsd:restriction base="dms:Text"/>
      </xsd:simpleType>
    </xsd:element>
    <xsd:element name="MediaServiceAutoTags" ma:index="14" nillable="true" ma:displayName="MediaServiceAutoTags" ma:description="" ma:internalName="MediaServiceAutoTags"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MediaServiceLocation" ma:index="16" nillable="true" ma:displayName="MediaServiceLocation" ma:internalName="MediaServiceLocation"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3" nillable="true" ma:displayName="MediaLengthInSeconds" ma:hidden="true" ma:internalName="MediaLengthInSeconds" ma:readOnly="true">
      <xsd:simpleType>
        <xsd:restriction base="dms:Unknown"/>
      </xsd:simpleType>
    </xsd:element>
    <xsd:element name="_activity" ma:index="24" nillable="true" ma:displayName="_activity" ma:hidden="true" ma:internalName="_activity">
      <xsd:simpleType>
        <xsd:restriction base="dms:Note"/>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ystemTags" ma:index="26" nillable="true" ma:displayName="MediaServiceSystemTags" ma:hidden="true" ma:internalName="MediaServiceSystemTags" ma:readOnly="true">
      <xsd:simpleType>
        <xsd:restriction base="dms:Note"/>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0D99604-1732-4DF1-97C5-7E3D6D849FE5}">
  <ds:schemaRefs>
    <ds:schemaRef ds:uri="http://schemas.microsoft.com/office/infopath/2007/PartnerControls"/>
    <ds:schemaRef ds:uri="http://purl.org/dc/dcmitype/"/>
    <ds:schemaRef ds:uri="http://purl.org/dc/terms/"/>
    <ds:schemaRef ds:uri="http://schemas.microsoft.com/sharepoint/v3"/>
    <ds:schemaRef ds:uri="http://purl.org/dc/elements/1.1/"/>
    <ds:schemaRef ds:uri="856716c4-77e4-4ad5-a2b8-b2dccf5d65df"/>
    <ds:schemaRef ds:uri="http://www.w3.org/XML/1998/namespace"/>
    <ds:schemaRef ds:uri="http://schemas.microsoft.com/office/2006/documentManagement/types"/>
    <ds:schemaRef ds:uri="http://schemas.openxmlformats.org/package/2006/metadata/core-properties"/>
    <ds:schemaRef ds:uri="cafaca3c-a3dd-4d3f-89ad-0cd9126724a1"/>
    <ds:schemaRef ds:uri="http://schemas.microsoft.com/office/2006/metadata/properties"/>
  </ds:schemaRefs>
</ds:datastoreItem>
</file>

<file path=customXml/itemProps2.xml><?xml version="1.0" encoding="utf-8"?>
<ds:datastoreItem xmlns:ds="http://schemas.openxmlformats.org/officeDocument/2006/customXml" ds:itemID="{5FCA113D-8DEB-408B-9006-AC739901EE4C}">
  <ds:schemaRefs>
    <ds:schemaRef ds:uri="http://schemas.microsoft.com/sharepoint/v3/contenttype/forms"/>
  </ds:schemaRefs>
</ds:datastoreItem>
</file>

<file path=customXml/itemProps3.xml><?xml version="1.0" encoding="utf-8"?>
<ds:datastoreItem xmlns:ds="http://schemas.openxmlformats.org/officeDocument/2006/customXml" ds:itemID="{5A0D8775-8C6D-4935-BDAA-C6D431FCCF2D}">
  <ds:schemaRefs>
    <ds:schemaRef ds:uri="856716c4-77e4-4ad5-a2b8-b2dccf5d65df"/>
    <ds:schemaRef ds:uri="cafaca3c-a3dd-4d3f-89ad-0cd9126724a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46439914-63b7-464e-8327-9b13737ae8cf}" enabled="0" method="" siteId="{46439914-63b7-464e-8327-9b13737ae8cf}" removed="1"/>
</clbl:labelList>
</file>

<file path=docProps/app.xml><?xml version="1.0" encoding="utf-8"?>
<Properties xmlns="http://schemas.openxmlformats.org/officeDocument/2006/extended-properties" xmlns:vt="http://schemas.openxmlformats.org/officeDocument/2006/docPropsVTypes">
  <Template/>
  <TotalTime>105</TotalTime>
  <Words>7507</Words>
  <Application>Microsoft Office PowerPoint</Application>
  <PresentationFormat>Widescreen</PresentationFormat>
  <Paragraphs>970</Paragraphs>
  <Slides>43</Slides>
  <Notes>9</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Aptos</vt:lpstr>
      <vt:lpstr>Arial</vt:lpstr>
      <vt:lpstr>Lato</vt:lpstr>
      <vt:lpstr>Lato Light</vt:lpstr>
      <vt:lpstr>Poppins</vt:lpstr>
      <vt:lpstr>Roboto</vt:lpstr>
      <vt:lpstr>Wingdings</vt:lpstr>
      <vt:lpstr>Office Theme</vt:lpstr>
      <vt:lpstr>Innominds Proposal to Daikin Managed POD Engagement Model</vt:lpstr>
      <vt:lpstr>Agenda</vt:lpstr>
      <vt:lpstr>Current Engagement Landscape &amp; Key Challenges</vt:lpstr>
      <vt:lpstr>PowerPoint Presentation</vt:lpstr>
      <vt:lpstr>In Scope &amp; Out of scope Items</vt:lpstr>
      <vt:lpstr>Solution Overview</vt:lpstr>
      <vt:lpstr>Our Engagement Models</vt:lpstr>
      <vt:lpstr>Engagement Model – Managed Delivery Pod</vt:lpstr>
      <vt:lpstr>Ramp Up Plan </vt:lpstr>
      <vt:lpstr>Profiles Available for Immediate POD Ramp-Up</vt:lpstr>
      <vt:lpstr>Transition &amp; Knowledge Transfer Approach</vt:lpstr>
      <vt:lpstr>Governance Model</vt:lpstr>
      <vt:lpstr>Delivery Execution Coverage</vt:lpstr>
      <vt:lpstr>PowerPoint Presentation</vt:lpstr>
      <vt:lpstr>Agenda </vt:lpstr>
      <vt:lpstr> Executive Summary</vt:lpstr>
      <vt:lpstr>System Overview: TMM ECU in the BEV Platform </vt:lpstr>
      <vt:lpstr>TMM ECU V&amp;V &amp; DFMEA Overview</vt:lpstr>
      <vt:lpstr>V&amp;V Strategy: Product Design → EVT → DVT </vt:lpstr>
      <vt:lpstr>Quote Details</vt:lpstr>
      <vt:lpstr>Assumptions and Dependencies </vt:lpstr>
      <vt:lpstr>Executive Summary</vt:lpstr>
      <vt:lpstr>Business Rationale</vt:lpstr>
      <vt:lpstr>Integrated Talent Transition &amp; Continuity Model</vt:lpstr>
      <vt:lpstr>Transition Approach for New &amp; Replaced Resources</vt:lpstr>
      <vt:lpstr>Strategic Roadmap – India Build-Operate-Transfer (BOT) Model</vt:lpstr>
      <vt:lpstr>Delivery Governance &amp; Operating Model</vt:lpstr>
      <vt:lpstr>Transformation Fund &amp; Value Appreciation Model</vt:lpstr>
      <vt:lpstr>Benefits to Lantern Care</vt:lpstr>
      <vt:lpstr>Transition Approach for New or Changing Resources</vt:lpstr>
      <vt:lpstr>Our Proposition for Seamless Execution</vt:lpstr>
      <vt:lpstr>Strategic Roadmap – India Build-Operate-Transfer (BOT) Model</vt:lpstr>
      <vt:lpstr>Optional Services</vt:lpstr>
      <vt:lpstr>Technical Stack &amp; Key Tools</vt:lpstr>
      <vt:lpstr>Security By Design</vt:lpstr>
      <vt:lpstr>Usability Testing Approach</vt:lpstr>
      <vt:lpstr>Executive Summary</vt:lpstr>
      <vt:lpstr>POD Setup – Key Benefits for Deloitte</vt:lpstr>
      <vt:lpstr>Business Objectives &amp; Deloitte Needs</vt:lpstr>
      <vt:lpstr>Our Understanding of the Requirements</vt:lpstr>
      <vt:lpstr>Innominds Framework for Workforce Ramp up</vt:lpstr>
      <vt:lpstr>Ascend Platform Learning &amp; POD Enablement Strategy</vt:lpstr>
      <vt:lpstr>POD Formation and Phased Ramp-Up Strategy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Mohammed Saleemuddin</dc:creator>
  <cp:lastModifiedBy>Srinivasa Raghuram</cp:lastModifiedBy>
  <cp:revision>5</cp:revision>
  <dcterms:created xsi:type="dcterms:W3CDTF">2024-12-20T05:53:39Z</dcterms:created>
  <dcterms:modified xsi:type="dcterms:W3CDTF">2026-04-10T05:09:24Z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0x0101008ED102E421FC3B45AEEC9A3D43DB7BE2</vt:lpwstr>
  </property>
</Properties>
</file>