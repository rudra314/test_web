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48.svg" ContentType="image/sv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3"/>
  </p:notesMasterIdLst>
  <p:handoutMasterIdLst>
    <p:handoutMasterId r:id="rId64"/>
  </p:handoutMasterIdLst>
  <p:sldIdLst>
    <p:sldId id="2147479851" r:id="rId5"/>
    <p:sldId id="2147479895" r:id="rId6"/>
    <p:sldId id="2147479931" r:id="rId7"/>
    <p:sldId id="2147479896" r:id="rId8"/>
    <p:sldId id="2147479926" r:id="rId9"/>
    <p:sldId id="2147479944" r:id="rId10"/>
    <p:sldId id="2147479898" r:id="rId11"/>
    <p:sldId id="2147479899" r:id="rId12"/>
    <p:sldId id="2147479917" r:id="rId13"/>
    <p:sldId id="2147479921" r:id="rId14"/>
    <p:sldId id="2147479922" r:id="rId15"/>
    <p:sldId id="2147479923" r:id="rId16"/>
    <p:sldId id="2147479900" r:id="rId17"/>
    <p:sldId id="2147479947" r:id="rId18"/>
    <p:sldId id="2147479927" r:id="rId19"/>
    <p:sldId id="2147479946" r:id="rId20"/>
    <p:sldId id="2147479929" r:id="rId21"/>
    <p:sldId id="2147479939" r:id="rId22"/>
    <p:sldId id="2147479942" r:id="rId23"/>
    <p:sldId id="2147479941" r:id="rId24"/>
    <p:sldId id="2147479930" r:id="rId25"/>
    <p:sldId id="2147479860" r:id="rId26"/>
    <p:sldId id="2147479915" r:id="rId27"/>
    <p:sldId id="2147479919" r:id="rId28"/>
    <p:sldId id="2147479948" r:id="rId29"/>
    <p:sldId id="2147483647" r:id="rId30"/>
    <p:sldId id="2147479867" r:id="rId31"/>
    <p:sldId id="2147479854" r:id="rId32"/>
    <p:sldId id="2147483632" r:id="rId33"/>
    <p:sldId id="256" r:id="rId34"/>
    <p:sldId id="2147483636" r:id="rId35"/>
    <p:sldId id="2147483637" r:id="rId36"/>
    <p:sldId id="257" r:id="rId37"/>
    <p:sldId id="2147480590" r:id="rId38"/>
    <p:sldId id="2147480581" r:id="rId39"/>
    <p:sldId id="2147483634" r:id="rId40"/>
    <p:sldId id="2147483635" r:id="rId41"/>
    <p:sldId id="2147483443" r:id="rId42"/>
    <p:sldId id="258" r:id="rId43"/>
    <p:sldId id="2147483641" r:id="rId44"/>
    <p:sldId id="2147483549" r:id="rId45"/>
    <p:sldId id="260" r:id="rId46"/>
    <p:sldId id="2147480641" r:id="rId47"/>
    <p:sldId id="2147479858" r:id="rId48"/>
    <p:sldId id="2147479855" r:id="rId49"/>
    <p:sldId id="268" r:id="rId50"/>
    <p:sldId id="2147480529" r:id="rId51"/>
    <p:sldId id="2147483582" r:id="rId52"/>
    <p:sldId id="2147483563" r:id="rId53"/>
    <p:sldId id="2147483578" r:id="rId54"/>
    <p:sldId id="2147483474" r:id="rId55"/>
    <p:sldId id="2147483559" r:id="rId56"/>
    <p:sldId id="2147480333" r:id="rId57"/>
    <p:sldId id="2147480334" r:id="rId58"/>
    <p:sldId id="2147480337" r:id="rId59"/>
    <p:sldId id="2147480338" r:id="rId60"/>
    <p:sldId id="2147480347" r:id="rId61"/>
    <p:sldId id="214747985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8A5"/>
    <a:srgbClr val="0070C0"/>
    <a:srgbClr val="38C1F3"/>
    <a:srgbClr val="01B0F0"/>
    <a:srgbClr val="92D050"/>
    <a:srgbClr val="D6E4F7"/>
    <a:srgbClr val="85BED7"/>
    <a:srgbClr val="32BFF3"/>
    <a:srgbClr val="E8F0E7"/>
    <a:srgbClr val="276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60458-D36A-0849-BA3E-7ADF65BBF2AE}" v="951" dt="2026-03-09T10:33:40.568"/>
    <p1510:client id="{C62B02B8-BE09-45DB-B290-472EB6226DAF}" v="714" dt="2026-03-09T09:58:32.255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28" autoAdjust="0"/>
    <p:restoredTop sz="94704"/>
  </p:normalViewPr>
  <p:slideViewPr>
    <p:cSldViewPr snapToGrid="0">
      <p:cViewPr varScale="1">
        <p:scale>
          <a:sx n="59" d="100"/>
          <a:sy n="59" d="100"/>
        </p:scale>
        <p:origin x="7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6FE5A8-8BD1-4D6B-A966-35AA646B5187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1F51AFBA-DC54-44B4-9626-7194A531FEC8}">
      <dgm:prSet phldrT="[Text]" custT="1"/>
      <dgm:spPr>
        <a:xfrm>
          <a:off x="3676" y="245129"/>
          <a:ext cx="2139850" cy="855940"/>
        </a:xfrm>
        <a:solidFill>
          <a:srgbClr val="0070C0"/>
        </a:solidFill>
      </dgm:spPr>
      <dgm:t>
        <a:bodyPr/>
        <a:lstStyle/>
        <a:p>
          <a:r>
            <a:rPr lang="en-IN" sz="16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Plan &amp; Design</a:t>
          </a:r>
          <a:endParaRPr lang="en-US" sz="1600" b="1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87150CF0-929D-4336-83A1-1F77F5F5DB1C}" type="parTrans" cxnId="{144D4000-3408-4F06-8F06-FB7ECF3C6087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1B852863-EB7B-422F-9B6B-EE86E9979BF4}" type="sibTrans" cxnId="{144D4000-3408-4F06-8F06-FB7ECF3C6087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CA405F11-7D1B-4D07-AA52-0B8067591191}">
      <dgm:prSet phldrT="[Text]" custT="1"/>
      <dgm:spPr>
        <a:xfrm>
          <a:off x="1929541" y="245129"/>
          <a:ext cx="2139850" cy="855940"/>
        </a:xfrm>
        <a:solidFill>
          <a:srgbClr val="00B0F0"/>
        </a:solidFill>
      </dgm:spPr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Build &amp; Integrate</a:t>
          </a:r>
          <a:endParaRPr lang="en-US" sz="1600" b="1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F2239D0-E56B-43A1-A9EE-57FB10A12136}" type="parTrans" cxnId="{17D8D692-9F71-4306-A292-DA01FF8D224F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D95B2011-DFBA-4C7A-BDF7-E98977179A5E}" type="sibTrans" cxnId="{17D8D692-9F71-4306-A292-DA01FF8D224F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5A1D16D6-0F27-4A99-9F7D-805239B6E807}">
      <dgm:prSet phldrT="[Text]" custT="1"/>
      <dgm:spPr>
        <a:xfrm>
          <a:off x="5781273" y="245129"/>
          <a:ext cx="2139850" cy="855940"/>
        </a:xfrm>
        <a:solidFill>
          <a:srgbClr val="00B0F0"/>
        </a:solidFill>
      </dgm:spPr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Operate &amp; Optimize</a:t>
          </a:r>
          <a:endParaRPr lang="en-US" sz="1600" b="1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8C06C899-8CC7-4E85-8895-393BCDBD4D95}" type="parTrans" cxnId="{BB78A46F-C909-4B8D-B6F7-56CFC6618AA6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476DE7EC-5961-4C85-91F3-E8C552126222}" type="sibTrans" cxnId="{BB78A46F-C909-4B8D-B6F7-56CFC6618AA6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C7F95DDA-4E15-4ADA-B2D7-EF397FDEB33C}">
      <dgm:prSet custT="1"/>
      <dgm:spPr>
        <a:xfrm>
          <a:off x="3855407" y="245129"/>
          <a:ext cx="2139850" cy="855940"/>
        </a:xfrm>
        <a:solidFill>
          <a:srgbClr val="0070C0"/>
        </a:solidFill>
      </dgm:spPr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Deploy</a:t>
          </a:r>
          <a:endParaRPr lang="en-US" sz="1600" b="1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DEB911CA-2EC0-4E7A-BDA1-2B472636DC05}" type="parTrans" cxnId="{8DB57AC8-E9E2-453C-B1B2-6788D9B0979C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22DAA095-DA5D-4790-A9A8-B183073A9940}" type="sibTrans" cxnId="{8DB57AC8-E9E2-453C-B1B2-6788D9B0979C}">
      <dgm:prSet/>
      <dgm:spPr/>
      <dgm:t>
        <a:bodyPr/>
        <a:lstStyle/>
        <a:p>
          <a:endParaRPr lang="en-US" sz="1600" b="1">
            <a:latin typeface="Arial" pitchFamily="34" charset="0"/>
            <a:cs typeface="Arial" pitchFamily="34" charset="0"/>
          </a:endParaRPr>
        </a:p>
      </dgm:t>
    </dgm:pt>
    <dgm:pt modelId="{7BC1DB65-974A-4A23-AC53-0F1C8A61440F}" type="pres">
      <dgm:prSet presAssocID="{116FE5A8-8BD1-4D6B-A966-35AA646B5187}" presName="Name0" presStyleCnt="0">
        <dgm:presLayoutVars>
          <dgm:dir/>
          <dgm:animLvl val="lvl"/>
          <dgm:resizeHandles val="exact"/>
        </dgm:presLayoutVars>
      </dgm:prSet>
      <dgm:spPr/>
    </dgm:pt>
    <dgm:pt modelId="{9975C2CF-6A5C-470E-8317-59487B0F6FD4}" type="pres">
      <dgm:prSet presAssocID="{1F51AFBA-DC54-44B4-9626-7194A531FEC8}" presName="parTxOnly" presStyleLbl="node1" presStyleIdx="0" presStyleCnt="4" custLinFactNeighborY="1391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</dgm:pt>
    <dgm:pt modelId="{F8318D5F-46F9-4F3C-82C5-E22787568DA8}" type="pres">
      <dgm:prSet presAssocID="{1B852863-EB7B-422F-9B6B-EE86E9979BF4}" presName="parTxOnlySpace" presStyleCnt="0"/>
      <dgm:spPr/>
    </dgm:pt>
    <dgm:pt modelId="{F1754583-7EDC-41EE-86E3-6C81BE6DBDBD}" type="pres">
      <dgm:prSet presAssocID="{CA405F11-7D1B-4D07-AA52-0B8067591191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</dgm:pt>
    <dgm:pt modelId="{2DD8B4B7-E61D-4689-8281-CEC15C351386}" type="pres">
      <dgm:prSet presAssocID="{D95B2011-DFBA-4C7A-BDF7-E98977179A5E}" presName="parTxOnlySpace" presStyleCnt="0"/>
      <dgm:spPr/>
    </dgm:pt>
    <dgm:pt modelId="{28AC5F97-0EF0-4EE8-B90E-9EDF7065033A}" type="pres">
      <dgm:prSet presAssocID="{C7F95DDA-4E15-4ADA-B2D7-EF397FDEB33C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</dgm:pt>
    <dgm:pt modelId="{591CB413-F7E2-4613-AC27-7D8ECB21157C}" type="pres">
      <dgm:prSet presAssocID="{22DAA095-DA5D-4790-A9A8-B183073A9940}" presName="parTxOnlySpace" presStyleCnt="0"/>
      <dgm:spPr/>
    </dgm:pt>
    <dgm:pt modelId="{75487F5E-F239-45ED-A6D8-A0B2781D228B}" type="pres">
      <dgm:prSet presAssocID="{5A1D16D6-0F27-4A99-9F7D-805239B6E807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prstGeom prst="chevron">
          <a:avLst/>
        </a:prstGeom>
      </dgm:spPr>
    </dgm:pt>
  </dgm:ptLst>
  <dgm:cxnLst>
    <dgm:cxn modelId="{144D4000-3408-4F06-8F06-FB7ECF3C6087}" srcId="{116FE5A8-8BD1-4D6B-A966-35AA646B5187}" destId="{1F51AFBA-DC54-44B4-9626-7194A531FEC8}" srcOrd="0" destOrd="0" parTransId="{87150CF0-929D-4336-83A1-1F77F5F5DB1C}" sibTransId="{1B852863-EB7B-422F-9B6B-EE86E9979BF4}"/>
    <dgm:cxn modelId="{68A3606D-5361-48AE-AA82-B8CC37C7DE0B}" type="presOf" srcId="{C7F95DDA-4E15-4ADA-B2D7-EF397FDEB33C}" destId="{28AC5F97-0EF0-4EE8-B90E-9EDF7065033A}" srcOrd="0" destOrd="0" presId="urn:microsoft.com/office/officeart/2005/8/layout/chevron1"/>
    <dgm:cxn modelId="{BB78A46F-C909-4B8D-B6F7-56CFC6618AA6}" srcId="{116FE5A8-8BD1-4D6B-A966-35AA646B5187}" destId="{5A1D16D6-0F27-4A99-9F7D-805239B6E807}" srcOrd="3" destOrd="0" parTransId="{8C06C899-8CC7-4E85-8895-393BCDBD4D95}" sibTransId="{476DE7EC-5961-4C85-91F3-E8C552126222}"/>
    <dgm:cxn modelId="{23CBCF52-977E-4A72-A675-BBC2CC9FBEA8}" type="presOf" srcId="{CA405F11-7D1B-4D07-AA52-0B8067591191}" destId="{F1754583-7EDC-41EE-86E3-6C81BE6DBDBD}" srcOrd="0" destOrd="0" presId="urn:microsoft.com/office/officeart/2005/8/layout/chevron1"/>
    <dgm:cxn modelId="{1E6BF190-57D4-46F0-B432-35F3BD6EC4FD}" type="presOf" srcId="{1F51AFBA-DC54-44B4-9626-7194A531FEC8}" destId="{9975C2CF-6A5C-470E-8317-59487B0F6FD4}" srcOrd="0" destOrd="0" presId="urn:microsoft.com/office/officeart/2005/8/layout/chevron1"/>
    <dgm:cxn modelId="{17D8D692-9F71-4306-A292-DA01FF8D224F}" srcId="{116FE5A8-8BD1-4D6B-A966-35AA646B5187}" destId="{CA405F11-7D1B-4D07-AA52-0B8067591191}" srcOrd="1" destOrd="0" parTransId="{0F2239D0-E56B-43A1-A9EE-57FB10A12136}" sibTransId="{D95B2011-DFBA-4C7A-BDF7-E98977179A5E}"/>
    <dgm:cxn modelId="{1D69D794-AB77-456A-A7E8-E81B7C3D64CA}" type="presOf" srcId="{116FE5A8-8BD1-4D6B-A966-35AA646B5187}" destId="{7BC1DB65-974A-4A23-AC53-0F1C8A61440F}" srcOrd="0" destOrd="0" presId="urn:microsoft.com/office/officeart/2005/8/layout/chevron1"/>
    <dgm:cxn modelId="{8DB57AC8-E9E2-453C-B1B2-6788D9B0979C}" srcId="{116FE5A8-8BD1-4D6B-A966-35AA646B5187}" destId="{C7F95DDA-4E15-4ADA-B2D7-EF397FDEB33C}" srcOrd="2" destOrd="0" parTransId="{DEB911CA-2EC0-4E7A-BDA1-2B472636DC05}" sibTransId="{22DAA095-DA5D-4790-A9A8-B183073A9940}"/>
    <dgm:cxn modelId="{3EBB8EE1-6544-4F19-8F06-66CCEFB50D4D}" type="presOf" srcId="{5A1D16D6-0F27-4A99-9F7D-805239B6E807}" destId="{75487F5E-F239-45ED-A6D8-A0B2781D228B}" srcOrd="0" destOrd="0" presId="urn:microsoft.com/office/officeart/2005/8/layout/chevron1"/>
    <dgm:cxn modelId="{AE87908D-D7DF-40F7-A108-FCEC57AD489C}" type="presParOf" srcId="{7BC1DB65-974A-4A23-AC53-0F1C8A61440F}" destId="{9975C2CF-6A5C-470E-8317-59487B0F6FD4}" srcOrd="0" destOrd="0" presId="urn:microsoft.com/office/officeart/2005/8/layout/chevron1"/>
    <dgm:cxn modelId="{79B62D34-07C1-4F3D-8CAE-E72F52CED431}" type="presParOf" srcId="{7BC1DB65-974A-4A23-AC53-0F1C8A61440F}" destId="{F8318D5F-46F9-4F3C-82C5-E22787568DA8}" srcOrd="1" destOrd="0" presId="urn:microsoft.com/office/officeart/2005/8/layout/chevron1"/>
    <dgm:cxn modelId="{30313CC3-760C-45CB-9450-B2A3A3B34BB7}" type="presParOf" srcId="{7BC1DB65-974A-4A23-AC53-0F1C8A61440F}" destId="{F1754583-7EDC-41EE-86E3-6C81BE6DBDBD}" srcOrd="2" destOrd="0" presId="urn:microsoft.com/office/officeart/2005/8/layout/chevron1"/>
    <dgm:cxn modelId="{0D40AA15-38CB-430E-B120-75C405936862}" type="presParOf" srcId="{7BC1DB65-974A-4A23-AC53-0F1C8A61440F}" destId="{2DD8B4B7-E61D-4689-8281-CEC15C351386}" srcOrd="3" destOrd="0" presId="urn:microsoft.com/office/officeart/2005/8/layout/chevron1"/>
    <dgm:cxn modelId="{C063B3DA-F4F0-4772-AE3B-0C8C31C936E9}" type="presParOf" srcId="{7BC1DB65-974A-4A23-AC53-0F1C8A61440F}" destId="{28AC5F97-0EF0-4EE8-B90E-9EDF7065033A}" srcOrd="4" destOrd="0" presId="urn:microsoft.com/office/officeart/2005/8/layout/chevron1"/>
    <dgm:cxn modelId="{1999C477-6C6C-4A23-A763-151728574C27}" type="presParOf" srcId="{7BC1DB65-974A-4A23-AC53-0F1C8A61440F}" destId="{591CB413-F7E2-4613-AC27-7D8ECB21157C}" srcOrd="5" destOrd="0" presId="urn:microsoft.com/office/officeart/2005/8/layout/chevron1"/>
    <dgm:cxn modelId="{B14C2D22-516E-4B9A-B2E3-02A15A050648}" type="presParOf" srcId="{7BC1DB65-974A-4A23-AC53-0F1C8A61440F}" destId="{75487F5E-F239-45ED-A6D8-A0B2781D228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5C2CF-6A5C-470E-8317-59487B0F6FD4}">
      <dsp:nvSpPr>
        <dsp:cNvPr id="0" name=""/>
        <dsp:cNvSpPr/>
      </dsp:nvSpPr>
      <dsp:spPr>
        <a:xfrm>
          <a:off x="4896" y="0"/>
          <a:ext cx="2850140" cy="815061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Plan &amp; Design</a:t>
          </a:r>
          <a:endParaRPr lang="en-US" sz="1600" b="1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12427" y="0"/>
        <a:ext cx="2035079" cy="815061"/>
      </dsp:txXfrm>
    </dsp:sp>
    <dsp:sp modelId="{F1754583-7EDC-41EE-86E3-6C81BE6DBDBD}">
      <dsp:nvSpPr>
        <dsp:cNvPr id="0" name=""/>
        <dsp:cNvSpPr/>
      </dsp:nvSpPr>
      <dsp:spPr>
        <a:xfrm>
          <a:off x="2570022" y="0"/>
          <a:ext cx="2850140" cy="815061"/>
        </a:xfrm>
        <a:prstGeom prst="chevron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Build &amp; Integrate</a:t>
          </a:r>
          <a:endParaRPr lang="en-US" sz="1600" b="1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2977553" y="0"/>
        <a:ext cx="2035079" cy="815061"/>
      </dsp:txXfrm>
    </dsp:sp>
    <dsp:sp modelId="{28AC5F97-0EF0-4EE8-B90E-9EDF7065033A}">
      <dsp:nvSpPr>
        <dsp:cNvPr id="0" name=""/>
        <dsp:cNvSpPr/>
      </dsp:nvSpPr>
      <dsp:spPr>
        <a:xfrm>
          <a:off x="5135149" y="0"/>
          <a:ext cx="2850140" cy="815061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Deploy</a:t>
          </a:r>
          <a:endParaRPr lang="en-US" sz="1600" b="1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5542680" y="0"/>
        <a:ext cx="2035079" cy="815061"/>
      </dsp:txXfrm>
    </dsp:sp>
    <dsp:sp modelId="{75487F5E-F239-45ED-A6D8-A0B2781D228B}">
      <dsp:nvSpPr>
        <dsp:cNvPr id="0" name=""/>
        <dsp:cNvSpPr/>
      </dsp:nvSpPr>
      <dsp:spPr>
        <a:xfrm>
          <a:off x="7700276" y="0"/>
          <a:ext cx="2850140" cy="815061"/>
        </a:xfrm>
        <a:prstGeom prst="chevron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Operate &amp; Optimize</a:t>
          </a:r>
          <a:endParaRPr lang="en-US" sz="1600" b="1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8107807" y="0"/>
        <a:ext cx="2035079" cy="815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4BA2D-5304-4630-516F-6CAE57C939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B2AD0-DA34-455B-7B54-B4DA65C772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EC264-B674-BD4A-B559-45855B03B8C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63262-4DDB-14B7-A8CA-6F450CD0A9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14119-687B-5DE1-18AA-C6A412BD76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1988E-5F5E-B843-8EE4-7A7AF02E5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849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ABDF5-12DB-894D-81B5-27DC20258B7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31BF4-6DDD-9D40-9216-06665F8C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54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1BF4-6DDD-9D40-9216-06665F8CDD7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5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90709-C53F-4CD1-B125-30B405953B25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654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8E6FB-9A51-F31E-DDC5-0CD3F6D7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DF0AC-7E71-8C0A-FE01-3CFA48929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9A973-917B-E96B-2AB4-6D15B855C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95CA8-4E51-9595-9109-2FA7A872C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90709-C53F-4CD1-B125-30B405953B25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78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66D34-6BFD-5815-A4D9-36100712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C6CAC-4EEA-AEEC-F605-F858EB7A0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C2856-783F-76C4-E372-835B144D9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F4D65-9FA9-B830-30B4-79117BDA0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90709-C53F-4CD1-B125-30B405953B25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74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D0C0-7293-3999-92E3-0856D8C2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7E25F-EA25-4766-1543-C0F92523F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95412-BCE6-17FC-A90B-3B2548FEF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19B0C-9800-C311-CD49-C53BC9569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5CFB76-89F4-2F4D-9685-1AEA36C0C8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356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1BF4-6DDD-9D40-9216-06665F8CDD7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30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1BF4-6DDD-9D40-9216-06665F8CDD7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0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1A7A-8333-82DA-9923-D704DEEE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0E7AE-F264-38D4-47B6-3B19BEDF0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F2292-75DA-6D4A-B636-30CF5AC6E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0B85B-712B-EB0A-509C-48FBBEC5D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5CFB76-89F4-2F4D-9685-1AEA36C0C8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185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B97E-3109-A2BC-338F-07FF1E9F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00C69-1437-2F4B-8F69-AB736A924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AFEAF-AF71-11D5-B8F5-2A6774BDC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6D0A6-8F74-8B9E-80CC-6C49C9468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31BF4-6DDD-9D40-9216-06665F8CD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94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CF53-DE26-7C53-E0D6-BC1E9642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F01A6-6530-2A08-015F-D56B53711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E7D8E-4006-8AA0-E051-06D7CEE92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/>
              <a:t>Recommended Enhancements to Elevate the UX/UI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Streamline navigation and overall flow</a:t>
            </a:r>
            <a:r>
              <a:rPr lang="en-IN" sz="1600"/>
              <a:t> to create a smoother user journey.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Enhance data visualization capabilities</a:t>
            </a:r>
            <a:r>
              <a:rPr lang="en-IN" sz="1600"/>
              <a:t> to help users easily interpret key metrics and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Expand personalization and customization features</a:t>
            </a:r>
            <a:r>
              <a:rPr lang="en-IN" sz="1600"/>
              <a:t> to better engage individual user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Advance accessibility implementations</a:t>
            </a:r>
            <a:r>
              <a:rPr lang="en-IN" sz="1600"/>
              <a:t>, aligning with global best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Ensure a consistent, platform-optimized design language</a:t>
            </a:r>
            <a:r>
              <a:rPr lang="en-IN" sz="1600"/>
              <a:t> for a cohesive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Incorporate intuitive onboarding and contextual help</a:t>
            </a:r>
            <a:r>
              <a:rPr lang="en-IN" sz="1600"/>
              <a:t> to support user success.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/>
              <a:t>How Innominds Can Support This Modernization Journey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Conduct in-depth UX audits and user research</a:t>
            </a:r>
            <a:r>
              <a:rPr lang="en-IN" sz="1600"/>
              <a:t> to uncover key improvement areas and prioritize initiatives.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Design wireframes, prototypes, and high-fidelity interfaces</a:t>
            </a:r>
            <a:r>
              <a:rPr lang="en-IN" sz="1600"/>
              <a:t>, embedding accessibility from the outset.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Implement modern, responsive UI/UX</a:t>
            </a:r>
            <a:r>
              <a:rPr lang="en-IN" sz="1600"/>
              <a:t> using native frameworks to ensure seamless cross-platform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Facilitate usability testing with real users</a:t>
            </a:r>
            <a:r>
              <a:rPr lang="en-IN" sz="1600"/>
              <a:t>, validating design directions and refining experiences iteratively.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/>
              <a:t>Integrate analytics to monitor user behaviour</a:t>
            </a:r>
            <a:r>
              <a:rPr lang="en-IN" sz="1600"/>
              <a:t>, enabling data-driven continuous optimization.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666BF-1CD6-8A87-5454-D8AF55E4E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1BF4-6DDD-9D40-9216-06665F8CDD7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72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E580-CB81-EEA8-BB1F-57214228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316CC-5B42-D1F4-9252-48A7EDD34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4DB0A-15AF-F443-F803-7E1BD6065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9588F-026F-3358-59ED-A3D6582B9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A31BF4-6DDD-9D40-9216-06665F8CD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895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162D-5119-57B9-FF83-F388C859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6841F-00C5-8AB1-966C-92E0144B6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A2404-CE3E-8E2E-E31F-B4AA7F159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Raghu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7A1A5-DF99-B4E9-0761-B2C4171F5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121A41-F185-448B-A267-B664EFB4728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195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E5D1-22BA-AFA1-D24D-4A3DA8FA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A917-391D-D593-4BA4-886264CA7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416F7-631E-659A-7316-247BD4CB8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Raghu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B9D09-B883-2683-882F-47D07A53F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121A41-F185-448B-A267-B664EFB4728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251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nominds.com/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www.innominds.com/" TargetMode="Externa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32978E5-BDE2-3748-4070-28D03FD21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GB"/>
              <a:t>Click to edit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CE2DFD78-0FB9-640E-DC7D-8D1B378AFDFC}"/>
              </a:ext>
            </a:extLst>
          </p:cNvPr>
          <p:cNvSpPr txBox="1">
            <a:spLocks/>
          </p:cNvSpPr>
          <p:nvPr userDrawn="1"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IN">
                <a:cs typeface="Lato" panose="020F0502020204030203" pitchFamily="34" charset="0"/>
              </a:rPr>
              <a:t>Snapshot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3E7E0E-640B-A987-6337-67F7D150EF5E}"/>
              </a:ext>
            </a:extLst>
          </p:cNvPr>
          <p:cNvSpPr/>
          <p:nvPr userDrawn="1"/>
        </p:nvSpPr>
        <p:spPr>
          <a:xfrm>
            <a:off x="-1" y="984502"/>
            <a:ext cx="12220009" cy="2621213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itchFamily="34" charset="0"/>
              <a:ea typeface="Lato" pitchFamily="34" charset="-122"/>
              <a:cs typeface="Lato" panose="020F0502020204030203" pitchFamily="34" charset="0"/>
            </a:endParaRPr>
          </a:p>
        </p:txBody>
      </p:sp>
      <p:sp>
        <p:nvSpPr>
          <p:cNvPr id="42" name="Round Same-side Corner of Rectangle 41">
            <a:extLst>
              <a:ext uri="{FF2B5EF4-FFF2-40B4-BE49-F238E27FC236}">
                <a16:creationId xmlns:a16="http://schemas.microsoft.com/office/drawing/2014/main" id="{4E918716-ECE6-3683-0036-4BB5B871F1CA}"/>
              </a:ext>
            </a:extLst>
          </p:cNvPr>
          <p:cNvSpPr/>
          <p:nvPr userDrawn="1"/>
        </p:nvSpPr>
        <p:spPr>
          <a:xfrm rot="10800000">
            <a:off x="7598213" y="1180102"/>
            <a:ext cx="1837956" cy="1036182"/>
          </a:xfrm>
          <a:prstGeom prst="round2SameRect">
            <a:avLst>
              <a:gd name="adj1" fmla="val 938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3204" dist="77240" dir="5400000" algn="t" rotWithShape="0">
              <a:prstClr val="black">
                <a:alpha val="499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Round Same-side Corner of Rectangle 42">
            <a:extLst>
              <a:ext uri="{FF2B5EF4-FFF2-40B4-BE49-F238E27FC236}">
                <a16:creationId xmlns:a16="http://schemas.microsoft.com/office/drawing/2014/main" id="{FA18F5DF-221A-9BB6-3824-C81D9EE1D753}"/>
              </a:ext>
            </a:extLst>
          </p:cNvPr>
          <p:cNvSpPr/>
          <p:nvPr userDrawn="1"/>
        </p:nvSpPr>
        <p:spPr>
          <a:xfrm rot="10800000">
            <a:off x="9593959" y="1180102"/>
            <a:ext cx="1837957" cy="1036182"/>
          </a:xfrm>
          <a:prstGeom prst="round2SameRect">
            <a:avLst>
              <a:gd name="adj1" fmla="val 938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3204" dist="77240" dir="5400000" algn="t" rotWithShape="0">
              <a:prstClr val="black">
                <a:alpha val="499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ABC6C4-1BF9-BA52-408B-A92FFACF0ED6}"/>
              </a:ext>
            </a:extLst>
          </p:cNvPr>
          <p:cNvSpPr txBox="1"/>
          <p:nvPr userDrawn="1"/>
        </p:nvSpPr>
        <p:spPr>
          <a:xfrm>
            <a:off x="7742625" y="1345809"/>
            <a:ext cx="1549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100+</a:t>
            </a:r>
            <a:r>
              <a:rPr lang="en-US" sz="2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b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Releases/year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02931C-0654-7746-1071-291AA61381EA}"/>
              </a:ext>
            </a:extLst>
          </p:cNvPr>
          <p:cNvSpPr txBox="1"/>
          <p:nvPr userDrawn="1"/>
        </p:nvSpPr>
        <p:spPr>
          <a:xfrm>
            <a:off x="9877313" y="1359639"/>
            <a:ext cx="1271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60+</a:t>
            </a:r>
            <a:r>
              <a:rPr lang="en-US" sz="2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algn="ctr"/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Customers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5CB3B05-5525-1D1E-0EDE-0C1AA4D6E0A5}"/>
              </a:ext>
            </a:extLst>
          </p:cNvPr>
          <p:cNvGrpSpPr/>
          <p:nvPr userDrawn="1"/>
        </p:nvGrpSpPr>
        <p:grpSpPr>
          <a:xfrm>
            <a:off x="8596086" y="2347727"/>
            <a:ext cx="1837955" cy="1036182"/>
            <a:chOff x="8596086" y="2347727"/>
            <a:chExt cx="1837955" cy="1036182"/>
          </a:xfrm>
        </p:grpSpPr>
        <p:sp>
          <p:nvSpPr>
            <p:cNvPr id="47" name="Round Same-side Corner of Rectangle 46">
              <a:extLst>
                <a:ext uri="{FF2B5EF4-FFF2-40B4-BE49-F238E27FC236}">
                  <a16:creationId xmlns:a16="http://schemas.microsoft.com/office/drawing/2014/main" id="{03B0E5FA-6191-1679-BACB-B902D9636001}"/>
                </a:ext>
              </a:extLst>
            </p:cNvPr>
            <p:cNvSpPr/>
            <p:nvPr/>
          </p:nvSpPr>
          <p:spPr>
            <a:xfrm rot="10800000">
              <a:off x="8596086" y="2347727"/>
              <a:ext cx="1837955" cy="1036182"/>
            </a:xfrm>
            <a:prstGeom prst="round2SameRect">
              <a:avLst>
                <a:gd name="adj1" fmla="val 9389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63204" dist="77240" dir="5400000" algn="t" rotWithShape="0">
                <a:prstClr val="black">
                  <a:alpha val="499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344EC25-BA65-0506-D21E-8FE5DEE6CADD}"/>
                </a:ext>
              </a:extLst>
            </p:cNvPr>
            <p:cNvSpPr txBox="1"/>
            <p:nvPr/>
          </p:nvSpPr>
          <p:spPr>
            <a:xfrm>
              <a:off x="8721652" y="2526378"/>
              <a:ext cx="15847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6</a:t>
              </a:r>
            </a:p>
            <a:p>
              <a:pPr algn="ctr"/>
              <a:r>
                <a:rPr lang="en-US" sz="14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Delivery Centers</a:t>
              </a:r>
            </a:p>
          </p:txBody>
        </p:sp>
      </p:grp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8CCE70D7-A2DD-4FFE-B6A6-895CF51AC6C6}"/>
              </a:ext>
            </a:extLst>
          </p:cNvPr>
          <p:cNvSpPr txBox="1">
            <a:spLocks/>
          </p:cNvSpPr>
          <p:nvPr userDrawn="1"/>
        </p:nvSpPr>
        <p:spPr>
          <a:xfrm>
            <a:off x="1438254" y="1491707"/>
            <a:ext cx="4657746" cy="1606801"/>
          </a:xfr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400" b="1" baseline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Innominds</a:t>
            </a:r>
            <a:r>
              <a:rPr lang="en-IN" sz="180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is a differentiated Digital and Product Engineering services company. Over the decades we have been delivering innovation to ISVs, OEMs and Enterprises serving focused industry segments.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6D40AF-ECB7-85D7-E886-F9A3FB187F4F}"/>
              </a:ext>
            </a:extLst>
          </p:cNvPr>
          <p:cNvSpPr txBox="1"/>
          <p:nvPr userDrawn="1"/>
        </p:nvSpPr>
        <p:spPr>
          <a:xfrm>
            <a:off x="570196" y="3771402"/>
            <a:ext cx="1736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baseline="0">
                <a:solidFill>
                  <a:srgbClr val="0070C0"/>
                </a:solidFill>
                <a:latin typeface="Lato" panose="020F0502020204030203" pitchFamily="34" charset="0"/>
              </a:rPr>
              <a:t>Industry Focus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EDB64-2A0A-FF15-781C-44B3CB7D0A2F}"/>
              </a:ext>
            </a:extLst>
          </p:cNvPr>
          <p:cNvSpPr txBox="1"/>
          <p:nvPr userDrawn="1"/>
        </p:nvSpPr>
        <p:spPr>
          <a:xfrm>
            <a:off x="5230610" y="5862079"/>
            <a:ext cx="1711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Life Sciences</a:t>
            </a:r>
            <a:endParaRPr lang="en-US" sz="1600">
              <a:latin typeface="Lato" pitchFamily="34" charset="0"/>
              <a:ea typeface="Lato" pitchFamily="34" charset="-122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E1A00-DBC8-FB4C-21F2-C566D1BDCF1A}"/>
              </a:ext>
            </a:extLst>
          </p:cNvPr>
          <p:cNvSpPr txBox="1"/>
          <p:nvPr userDrawn="1"/>
        </p:nvSpPr>
        <p:spPr>
          <a:xfrm>
            <a:off x="2636744" y="5862079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Construction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9840-2EEE-21BE-2F2D-BF5CFCCDF75F}"/>
              </a:ext>
            </a:extLst>
          </p:cNvPr>
          <p:cNvSpPr txBox="1"/>
          <p:nvPr userDrawn="1"/>
        </p:nvSpPr>
        <p:spPr>
          <a:xfrm>
            <a:off x="7249384" y="5862079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Automotive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1E1C8E-5EA2-B258-631C-B4FEAE807627}"/>
              </a:ext>
            </a:extLst>
          </p:cNvPr>
          <p:cNvSpPr txBox="1"/>
          <p:nvPr userDrawn="1"/>
        </p:nvSpPr>
        <p:spPr>
          <a:xfrm>
            <a:off x="9515064" y="5862079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Logistics &amp; Transportation</a:t>
            </a: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AD2BE5-049E-5735-95C8-BBB97D7875B9}"/>
              </a:ext>
            </a:extLst>
          </p:cNvPr>
          <p:cNvCxnSpPr/>
          <p:nvPr userDrawn="1"/>
        </p:nvCxnSpPr>
        <p:spPr>
          <a:xfrm>
            <a:off x="648449" y="4120414"/>
            <a:ext cx="108925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F7AA830-6EBD-AF8D-106A-2FDF1FBF2C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29596" y="4323890"/>
            <a:ext cx="1711358" cy="1449548"/>
          </a:xfrm>
          <a:custGeom>
            <a:avLst/>
            <a:gdLst>
              <a:gd name="connsiteX0" fmla="*/ 83840 w 1711358"/>
              <a:gd name="connsiteY0" fmla="*/ 0 h 1417408"/>
              <a:gd name="connsiteX1" fmla="*/ 1627518 w 1711358"/>
              <a:gd name="connsiteY1" fmla="*/ 0 h 1417408"/>
              <a:gd name="connsiteX2" fmla="*/ 1711358 w 1711358"/>
              <a:gd name="connsiteY2" fmla="*/ 83840 h 1417408"/>
              <a:gd name="connsiteX3" fmla="*/ 1711358 w 1711358"/>
              <a:gd name="connsiteY3" fmla="*/ 1333568 h 1417408"/>
              <a:gd name="connsiteX4" fmla="*/ 1627518 w 1711358"/>
              <a:gd name="connsiteY4" fmla="*/ 1417408 h 1417408"/>
              <a:gd name="connsiteX5" fmla="*/ 83840 w 1711358"/>
              <a:gd name="connsiteY5" fmla="*/ 1417408 h 1417408"/>
              <a:gd name="connsiteX6" fmla="*/ 0 w 1711358"/>
              <a:gd name="connsiteY6" fmla="*/ 1333568 h 1417408"/>
              <a:gd name="connsiteX7" fmla="*/ 0 w 1711358"/>
              <a:gd name="connsiteY7" fmla="*/ 83840 h 1417408"/>
              <a:gd name="connsiteX8" fmla="*/ 83840 w 1711358"/>
              <a:gd name="connsiteY8" fmla="*/ 0 h 141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1358" h="1417408">
                <a:moveTo>
                  <a:pt x="83840" y="0"/>
                </a:moveTo>
                <a:lnTo>
                  <a:pt x="1627518" y="0"/>
                </a:lnTo>
                <a:cubicBezTo>
                  <a:pt x="1673822" y="0"/>
                  <a:pt x="1711358" y="37536"/>
                  <a:pt x="1711358" y="83840"/>
                </a:cubicBezTo>
                <a:lnTo>
                  <a:pt x="1711358" y="1333568"/>
                </a:lnTo>
                <a:cubicBezTo>
                  <a:pt x="1711358" y="1379872"/>
                  <a:pt x="1673822" y="1417408"/>
                  <a:pt x="1627518" y="1417408"/>
                </a:cubicBezTo>
                <a:lnTo>
                  <a:pt x="83840" y="1417408"/>
                </a:lnTo>
                <a:cubicBezTo>
                  <a:pt x="37536" y="1417408"/>
                  <a:pt x="0" y="1379872"/>
                  <a:pt x="0" y="1333568"/>
                </a:cubicBezTo>
                <a:lnTo>
                  <a:pt x="0" y="83840"/>
                </a:lnTo>
                <a:cubicBezTo>
                  <a:pt x="0" y="37536"/>
                  <a:pt x="37536" y="0"/>
                  <a:pt x="83840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321299" dist="173231" dir="2700000" algn="tl" rotWithShape="0">
              <a:prstClr val="black">
                <a:alpha val="30059"/>
              </a:prstClr>
            </a:outerShdw>
          </a:effectLst>
        </p:spPr>
      </p:pic>
      <p:sp>
        <p:nvSpPr>
          <p:cNvPr id="9" name="TextBox 47">
            <a:extLst>
              <a:ext uri="{FF2B5EF4-FFF2-40B4-BE49-F238E27FC236}">
                <a16:creationId xmlns:a16="http://schemas.microsoft.com/office/drawing/2014/main" id="{6BEFD6B1-8589-6EC6-FAD6-F7A3904EF7DA}"/>
              </a:ext>
            </a:extLst>
          </p:cNvPr>
          <p:cNvSpPr txBox="1"/>
          <p:nvPr userDrawn="1"/>
        </p:nvSpPr>
        <p:spPr>
          <a:xfrm>
            <a:off x="345738" y="5862079"/>
            <a:ext cx="22860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>
                <a:latin typeface="Lato"/>
                <a:ea typeface="Lato"/>
                <a:cs typeface="Lato"/>
              </a:rPr>
              <a:t>Software &amp;</a:t>
            </a:r>
            <a:r>
              <a:rPr lang="en-US"/>
              <a:t> </a:t>
            </a:r>
          </a:p>
          <a:p>
            <a:pPr algn="ctr"/>
            <a:r>
              <a:rPr lang="en-IN" sz="1600">
                <a:latin typeface="Lato"/>
                <a:ea typeface="Lato"/>
                <a:cs typeface="Lato"/>
              </a:rPr>
              <a:t>Hi-Tech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0B5B8A-B5A2-E907-A115-CC814BC862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8065" y="4313418"/>
            <a:ext cx="1711358" cy="1460025"/>
          </a:xfrm>
          <a:custGeom>
            <a:avLst/>
            <a:gdLst>
              <a:gd name="connsiteX0" fmla="*/ 83840 w 1711358"/>
              <a:gd name="connsiteY0" fmla="*/ 0 h 1417408"/>
              <a:gd name="connsiteX1" fmla="*/ 1627518 w 1711358"/>
              <a:gd name="connsiteY1" fmla="*/ 0 h 1417408"/>
              <a:gd name="connsiteX2" fmla="*/ 1711358 w 1711358"/>
              <a:gd name="connsiteY2" fmla="*/ 83840 h 1417408"/>
              <a:gd name="connsiteX3" fmla="*/ 1711358 w 1711358"/>
              <a:gd name="connsiteY3" fmla="*/ 1333568 h 1417408"/>
              <a:gd name="connsiteX4" fmla="*/ 1627518 w 1711358"/>
              <a:gd name="connsiteY4" fmla="*/ 1417408 h 1417408"/>
              <a:gd name="connsiteX5" fmla="*/ 83840 w 1711358"/>
              <a:gd name="connsiteY5" fmla="*/ 1417408 h 1417408"/>
              <a:gd name="connsiteX6" fmla="*/ 0 w 1711358"/>
              <a:gd name="connsiteY6" fmla="*/ 1333568 h 1417408"/>
              <a:gd name="connsiteX7" fmla="*/ 0 w 1711358"/>
              <a:gd name="connsiteY7" fmla="*/ 83840 h 1417408"/>
              <a:gd name="connsiteX8" fmla="*/ 83840 w 1711358"/>
              <a:gd name="connsiteY8" fmla="*/ 0 h 141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1358" h="1417408">
                <a:moveTo>
                  <a:pt x="83840" y="0"/>
                </a:moveTo>
                <a:lnTo>
                  <a:pt x="1627518" y="0"/>
                </a:lnTo>
                <a:cubicBezTo>
                  <a:pt x="1673822" y="0"/>
                  <a:pt x="1711358" y="37536"/>
                  <a:pt x="1711358" y="83840"/>
                </a:cubicBezTo>
                <a:lnTo>
                  <a:pt x="1711358" y="1333568"/>
                </a:lnTo>
                <a:cubicBezTo>
                  <a:pt x="1711358" y="1379872"/>
                  <a:pt x="1673822" y="1417408"/>
                  <a:pt x="1627518" y="1417408"/>
                </a:cubicBezTo>
                <a:lnTo>
                  <a:pt x="83840" y="1417408"/>
                </a:lnTo>
                <a:cubicBezTo>
                  <a:pt x="37536" y="1417408"/>
                  <a:pt x="0" y="1379872"/>
                  <a:pt x="0" y="1333568"/>
                </a:cubicBezTo>
                <a:lnTo>
                  <a:pt x="0" y="83840"/>
                </a:lnTo>
                <a:cubicBezTo>
                  <a:pt x="0" y="37536"/>
                  <a:pt x="37536" y="0"/>
                  <a:pt x="83840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321299" dist="173231" dir="2700000" algn="tl" rotWithShape="0">
              <a:prstClr val="black">
                <a:alpha val="30059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59AB81-0931-54AC-9160-05FF797FFD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6257" y="4319294"/>
            <a:ext cx="1711358" cy="1454145"/>
          </a:xfrm>
          <a:custGeom>
            <a:avLst/>
            <a:gdLst>
              <a:gd name="connsiteX0" fmla="*/ 83840 w 1711358"/>
              <a:gd name="connsiteY0" fmla="*/ 0 h 1417408"/>
              <a:gd name="connsiteX1" fmla="*/ 1627518 w 1711358"/>
              <a:gd name="connsiteY1" fmla="*/ 0 h 1417408"/>
              <a:gd name="connsiteX2" fmla="*/ 1711358 w 1711358"/>
              <a:gd name="connsiteY2" fmla="*/ 83840 h 1417408"/>
              <a:gd name="connsiteX3" fmla="*/ 1711358 w 1711358"/>
              <a:gd name="connsiteY3" fmla="*/ 1333568 h 1417408"/>
              <a:gd name="connsiteX4" fmla="*/ 1627518 w 1711358"/>
              <a:gd name="connsiteY4" fmla="*/ 1417408 h 1417408"/>
              <a:gd name="connsiteX5" fmla="*/ 83840 w 1711358"/>
              <a:gd name="connsiteY5" fmla="*/ 1417408 h 1417408"/>
              <a:gd name="connsiteX6" fmla="*/ 0 w 1711358"/>
              <a:gd name="connsiteY6" fmla="*/ 1333568 h 1417408"/>
              <a:gd name="connsiteX7" fmla="*/ 0 w 1711358"/>
              <a:gd name="connsiteY7" fmla="*/ 83840 h 1417408"/>
              <a:gd name="connsiteX8" fmla="*/ 83840 w 1711358"/>
              <a:gd name="connsiteY8" fmla="*/ 0 h 141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1358" h="1417408">
                <a:moveTo>
                  <a:pt x="83840" y="0"/>
                </a:moveTo>
                <a:lnTo>
                  <a:pt x="1627518" y="0"/>
                </a:lnTo>
                <a:cubicBezTo>
                  <a:pt x="1673822" y="0"/>
                  <a:pt x="1711358" y="37536"/>
                  <a:pt x="1711358" y="83840"/>
                </a:cubicBezTo>
                <a:lnTo>
                  <a:pt x="1711358" y="1333568"/>
                </a:lnTo>
                <a:cubicBezTo>
                  <a:pt x="1711358" y="1379872"/>
                  <a:pt x="1673822" y="1417408"/>
                  <a:pt x="1627518" y="1417408"/>
                </a:cubicBezTo>
                <a:lnTo>
                  <a:pt x="83840" y="1417408"/>
                </a:lnTo>
                <a:cubicBezTo>
                  <a:pt x="37536" y="1417408"/>
                  <a:pt x="0" y="1379872"/>
                  <a:pt x="0" y="1333568"/>
                </a:cubicBezTo>
                <a:lnTo>
                  <a:pt x="0" y="83840"/>
                </a:lnTo>
                <a:cubicBezTo>
                  <a:pt x="0" y="37536"/>
                  <a:pt x="37536" y="0"/>
                  <a:pt x="83840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321299" dist="173231" dir="2700000" algn="tl" rotWithShape="0">
              <a:prstClr val="black">
                <a:alpha val="30059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D6B573-7D96-A924-DB8D-C1D121B99AB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0602" y="4313417"/>
            <a:ext cx="1711358" cy="1460025"/>
          </a:xfrm>
          <a:custGeom>
            <a:avLst/>
            <a:gdLst>
              <a:gd name="connsiteX0" fmla="*/ 83840 w 1711358"/>
              <a:gd name="connsiteY0" fmla="*/ 0 h 1417408"/>
              <a:gd name="connsiteX1" fmla="*/ 1627518 w 1711358"/>
              <a:gd name="connsiteY1" fmla="*/ 0 h 1417408"/>
              <a:gd name="connsiteX2" fmla="*/ 1711358 w 1711358"/>
              <a:gd name="connsiteY2" fmla="*/ 83840 h 1417408"/>
              <a:gd name="connsiteX3" fmla="*/ 1711358 w 1711358"/>
              <a:gd name="connsiteY3" fmla="*/ 1333568 h 1417408"/>
              <a:gd name="connsiteX4" fmla="*/ 1627518 w 1711358"/>
              <a:gd name="connsiteY4" fmla="*/ 1417408 h 1417408"/>
              <a:gd name="connsiteX5" fmla="*/ 83840 w 1711358"/>
              <a:gd name="connsiteY5" fmla="*/ 1417408 h 1417408"/>
              <a:gd name="connsiteX6" fmla="*/ 0 w 1711358"/>
              <a:gd name="connsiteY6" fmla="*/ 1333568 h 1417408"/>
              <a:gd name="connsiteX7" fmla="*/ 0 w 1711358"/>
              <a:gd name="connsiteY7" fmla="*/ 83840 h 1417408"/>
              <a:gd name="connsiteX8" fmla="*/ 83840 w 1711358"/>
              <a:gd name="connsiteY8" fmla="*/ 0 h 141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1358" h="1417408">
                <a:moveTo>
                  <a:pt x="83840" y="0"/>
                </a:moveTo>
                <a:lnTo>
                  <a:pt x="1627518" y="0"/>
                </a:lnTo>
                <a:cubicBezTo>
                  <a:pt x="1673822" y="0"/>
                  <a:pt x="1711358" y="37536"/>
                  <a:pt x="1711358" y="83840"/>
                </a:cubicBezTo>
                <a:lnTo>
                  <a:pt x="1711358" y="1333568"/>
                </a:lnTo>
                <a:cubicBezTo>
                  <a:pt x="1711358" y="1379872"/>
                  <a:pt x="1673822" y="1417408"/>
                  <a:pt x="1627518" y="1417408"/>
                </a:cubicBezTo>
                <a:lnTo>
                  <a:pt x="83840" y="1417408"/>
                </a:lnTo>
                <a:cubicBezTo>
                  <a:pt x="37536" y="1417408"/>
                  <a:pt x="0" y="1379872"/>
                  <a:pt x="0" y="1333568"/>
                </a:cubicBezTo>
                <a:lnTo>
                  <a:pt x="0" y="83840"/>
                </a:lnTo>
                <a:cubicBezTo>
                  <a:pt x="0" y="37536"/>
                  <a:pt x="37536" y="0"/>
                  <a:pt x="83840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321299" dist="173231" dir="2700000" algn="tl" rotWithShape="0">
              <a:prstClr val="black">
                <a:alpha val="30059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681A1D-0FD3-71FC-40A4-542498EE35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73720" y="4313415"/>
            <a:ext cx="1711358" cy="1460025"/>
          </a:xfrm>
          <a:custGeom>
            <a:avLst/>
            <a:gdLst>
              <a:gd name="connsiteX0" fmla="*/ 83840 w 1711358"/>
              <a:gd name="connsiteY0" fmla="*/ 0 h 1417408"/>
              <a:gd name="connsiteX1" fmla="*/ 1627518 w 1711358"/>
              <a:gd name="connsiteY1" fmla="*/ 0 h 1417408"/>
              <a:gd name="connsiteX2" fmla="*/ 1711358 w 1711358"/>
              <a:gd name="connsiteY2" fmla="*/ 83840 h 1417408"/>
              <a:gd name="connsiteX3" fmla="*/ 1711358 w 1711358"/>
              <a:gd name="connsiteY3" fmla="*/ 1333568 h 1417408"/>
              <a:gd name="connsiteX4" fmla="*/ 1627518 w 1711358"/>
              <a:gd name="connsiteY4" fmla="*/ 1417408 h 1417408"/>
              <a:gd name="connsiteX5" fmla="*/ 83840 w 1711358"/>
              <a:gd name="connsiteY5" fmla="*/ 1417408 h 1417408"/>
              <a:gd name="connsiteX6" fmla="*/ 0 w 1711358"/>
              <a:gd name="connsiteY6" fmla="*/ 1333568 h 1417408"/>
              <a:gd name="connsiteX7" fmla="*/ 0 w 1711358"/>
              <a:gd name="connsiteY7" fmla="*/ 83840 h 1417408"/>
              <a:gd name="connsiteX8" fmla="*/ 83840 w 1711358"/>
              <a:gd name="connsiteY8" fmla="*/ 0 h 141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1358" h="1417408">
                <a:moveTo>
                  <a:pt x="83840" y="0"/>
                </a:moveTo>
                <a:lnTo>
                  <a:pt x="1627518" y="0"/>
                </a:lnTo>
                <a:cubicBezTo>
                  <a:pt x="1673822" y="0"/>
                  <a:pt x="1711358" y="37536"/>
                  <a:pt x="1711358" y="83840"/>
                </a:cubicBezTo>
                <a:lnTo>
                  <a:pt x="1711358" y="1333568"/>
                </a:lnTo>
                <a:cubicBezTo>
                  <a:pt x="1711358" y="1379872"/>
                  <a:pt x="1673822" y="1417408"/>
                  <a:pt x="1627518" y="1417408"/>
                </a:cubicBezTo>
                <a:lnTo>
                  <a:pt x="83840" y="1417408"/>
                </a:lnTo>
                <a:cubicBezTo>
                  <a:pt x="37536" y="1417408"/>
                  <a:pt x="0" y="1379872"/>
                  <a:pt x="0" y="1333568"/>
                </a:cubicBezTo>
                <a:lnTo>
                  <a:pt x="0" y="83840"/>
                </a:lnTo>
                <a:cubicBezTo>
                  <a:pt x="0" y="37536"/>
                  <a:pt x="37536" y="0"/>
                  <a:pt x="83840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321299" dist="173231" dir="2700000" algn="tl" rotWithShape="0">
              <a:prstClr val="black">
                <a:alpha val="30059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8753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>
            <a:extLst>
              <a:ext uri="{FF2B5EF4-FFF2-40B4-BE49-F238E27FC236}">
                <a16:creationId xmlns:a16="http://schemas.microsoft.com/office/drawing/2014/main" id="{B0D21CD0-21B7-9C0F-B910-B5608445EF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We Offer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EA417F-3A48-AEF4-D3C3-A7AE547E4C92}"/>
              </a:ext>
            </a:extLst>
          </p:cNvPr>
          <p:cNvGrpSpPr/>
          <p:nvPr userDrawn="1"/>
        </p:nvGrpSpPr>
        <p:grpSpPr>
          <a:xfrm>
            <a:off x="188452" y="1173780"/>
            <a:ext cx="11777058" cy="5131674"/>
            <a:chOff x="188452" y="1173780"/>
            <a:chExt cx="11777058" cy="513167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A682C2B-C8F6-7B65-9584-3A4A2A5764D8}"/>
                </a:ext>
              </a:extLst>
            </p:cNvPr>
            <p:cNvGrpSpPr/>
            <p:nvPr userDrawn="1"/>
          </p:nvGrpSpPr>
          <p:grpSpPr>
            <a:xfrm>
              <a:off x="188452" y="1173780"/>
              <a:ext cx="11777058" cy="5131674"/>
              <a:chOff x="252666" y="926970"/>
              <a:chExt cx="11777058" cy="5131674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45949C36-4015-154B-E19A-9550336E2A99}"/>
                  </a:ext>
                </a:extLst>
              </p:cNvPr>
              <p:cNvCxnSpPr/>
              <p:nvPr/>
            </p:nvCxnSpPr>
            <p:spPr>
              <a:xfrm flipH="1">
                <a:off x="3747295" y="2631896"/>
                <a:ext cx="867152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3B5EA2B-06F0-30BF-D40C-50711170897E}"/>
                  </a:ext>
                </a:extLst>
              </p:cNvPr>
              <p:cNvCxnSpPr/>
              <p:nvPr/>
            </p:nvCxnSpPr>
            <p:spPr>
              <a:xfrm flipH="1">
                <a:off x="3710719" y="3646880"/>
                <a:ext cx="1154179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E0FA4AD5-A41C-DE36-9C38-906240ED68B1}"/>
                  </a:ext>
                </a:extLst>
              </p:cNvPr>
              <p:cNvCxnSpPr/>
              <p:nvPr/>
            </p:nvCxnSpPr>
            <p:spPr>
              <a:xfrm flipH="1">
                <a:off x="3958943" y="4652720"/>
                <a:ext cx="716655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2AF696C-BF4A-F8CC-B99D-EC43BB9FE8A3}"/>
                  </a:ext>
                </a:extLst>
              </p:cNvPr>
              <p:cNvCxnSpPr/>
              <p:nvPr/>
            </p:nvCxnSpPr>
            <p:spPr>
              <a:xfrm flipH="1">
                <a:off x="4556527" y="5585408"/>
                <a:ext cx="1024633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B494D01-56C7-4FC4-E6AA-6D8C93417FBE}"/>
                  </a:ext>
                </a:extLst>
              </p:cNvPr>
              <p:cNvCxnSpPr/>
              <p:nvPr/>
            </p:nvCxnSpPr>
            <p:spPr>
              <a:xfrm flipH="1">
                <a:off x="4336064" y="1808936"/>
                <a:ext cx="1744976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19017CE-A8D9-C2B0-F278-6285845715E2}"/>
                  </a:ext>
                </a:extLst>
              </p:cNvPr>
              <p:cNvCxnSpPr/>
              <p:nvPr/>
            </p:nvCxnSpPr>
            <p:spPr>
              <a:xfrm>
                <a:off x="7470648" y="2624048"/>
                <a:ext cx="867152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24FF20B-E1A4-04CD-1D25-36CE89FA5252}"/>
                  </a:ext>
                </a:extLst>
              </p:cNvPr>
              <p:cNvCxnSpPr/>
              <p:nvPr/>
            </p:nvCxnSpPr>
            <p:spPr>
              <a:xfrm>
                <a:off x="7427719" y="3639032"/>
                <a:ext cx="1154179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DBDB3795-56A0-8EB5-0460-4DF89A79EA2F}"/>
                  </a:ext>
                </a:extLst>
              </p:cNvPr>
              <p:cNvCxnSpPr/>
              <p:nvPr/>
            </p:nvCxnSpPr>
            <p:spPr>
              <a:xfrm>
                <a:off x="7646481" y="4644872"/>
                <a:ext cx="716655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103957E-476E-129F-1E75-E52F5EC80044}"/>
                  </a:ext>
                </a:extLst>
              </p:cNvPr>
              <p:cNvCxnSpPr/>
              <p:nvPr/>
            </p:nvCxnSpPr>
            <p:spPr>
              <a:xfrm>
                <a:off x="6610842" y="5577560"/>
                <a:ext cx="1024633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2B3A3C2-6534-3F78-4AF4-C36B8CDAE561}"/>
                  </a:ext>
                </a:extLst>
              </p:cNvPr>
              <p:cNvCxnSpPr/>
              <p:nvPr/>
            </p:nvCxnSpPr>
            <p:spPr>
              <a:xfrm>
                <a:off x="6217920" y="1801088"/>
                <a:ext cx="1744976" cy="0"/>
              </a:xfrm>
              <a:prstGeom prst="straightConnector1">
                <a:avLst/>
              </a:prstGeom>
              <a:ln w="635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41B447-0753-0895-7EC5-D8DFC292A4A1}"/>
                  </a:ext>
                </a:extLst>
              </p:cNvPr>
              <p:cNvSpPr txBox="1"/>
              <p:nvPr/>
            </p:nvSpPr>
            <p:spPr>
              <a:xfrm>
                <a:off x="843280" y="1613580"/>
                <a:ext cx="347399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b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Scalable Product Engineering</a:t>
                </a:r>
              </a:p>
              <a:p>
                <a:pPr algn="r"/>
                <a:r>
                  <a:rPr lang="en-US" sz="10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 reliable extended engineering team specializing in adaptable &amp; efficient development of products &amp; solutions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113C6E-8D3A-8716-93CC-C61F3BEF656D}"/>
                  </a:ext>
                </a:extLst>
              </p:cNvPr>
              <p:cNvSpPr txBox="1"/>
              <p:nvPr/>
            </p:nvSpPr>
            <p:spPr>
              <a:xfrm>
                <a:off x="765552" y="2444083"/>
                <a:ext cx="297259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b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New Product Introduction</a:t>
                </a:r>
              </a:p>
              <a:p>
                <a:r>
                  <a:rPr lang="en-US" sz="10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Premium services to develop an innovative solution using Device-to-Cloud (D2C) technology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2C880B-155A-A704-CEB4-CF58D8BD78DD}"/>
                  </a:ext>
                </a:extLst>
              </p:cNvPr>
              <p:cNvSpPr txBox="1"/>
              <p:nvPr/>
            </p:nvSpPr>
            <p:spPr>
              <a:xfrm>
                <a:off x="389965" y="3462847"/>
                <a:ext cx="328722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Technology Modernization</a:t>
                </a:r>
              </a:p>
              <a:p>
                <a:pPr algn="r"/>
                <a:r>
                  <a:rPr 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Reducing accumulated software issues and improving code quality to enhance long-term efficiency and maintainability</a:t>
                </a:r>
              </a:p>
              <a:p>
                <a:pPr algn="r"/>
                <a:endPara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itchFamily="34" charset="0"/>
                  <a:ea typeface="Lato" pitchFamily="34" charset="-122"/>
                  <a:cs typeface="Lato" panose="020F0502020204030203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8650E2-3727-8D7C-E716-21E81E25BA16}"/>
                  </a:ext>
                </a:extLst>
              </p:cNvPr>
              <p:cNvSpPr txBox="1"/>
              <p:nvPr/>
            </p:nvSpPr>
            <p:spPr>
              <a:xfrm>
                <a:off x="252666" y="4477593"/>
                <a:ext cx="37090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b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Product Sustenance &amp; Support</a:t>
                </a:r>
              </a:p>
              <a:p>
                <a:pPr algn="r"/>
                <a:r>
                  <a:rPr lang="en-US" sz="10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Ongoing assistance &amp; maintenance are provided for products to ensure their continuous operation and customer satisfaction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1745DB-276C-300B-E85C-1A59ED205123}"/>
                  </a:ext>
                </a:extLst>
              </p:cNvPr>
              <p:cNvSpPr txBox="1"/>
              <p:nvPr/>
            </p:nvSpPr>
            <p:spPr>
              <a:xfrm>
                <a:off x="1249680" y="5412313"/>
                <a:ext cx="330127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Modern Enterprise Data Platform</a:t>
                </a:r>
              </a:p>
              <a:p>
                <a:pPr algn="r"/>
                <a:r>
                  <a:rPr 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Data engineering solution that unifies and blends data </a:t>
                </a:r>
              </a:p>
              <a:p>
                <a:pPr algn="r"/>
                <a:r>
                  <a:rPr 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from multiple systems for managing and analyzing data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131896-C8AC-A7BE-8489-7F865A542D8F}"/>
                  </a:ext>
                </a:extLst>
              </p:cNvPr>
              <p:cNvSpPr txBox="1"/>
              <p:nvPr/>
            </p:nvSpPr>
            <p:spPr>
              <a:xfrm>
                <a:off x="7981422" y="1613580"/>
                <a:ext cx="3509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Enterprise Al</a:t>
                </a:r>
              </a:p>
              <a:p>
                <a:r>
                  <a:rPr lang="en-US" sz="10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 integration of advanced ML, NLP, computer vision, and other Al techniques into existing business operations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892374A-0130-97C2-7147-A071BD55C511}"/>
                  </a:ext>
                </a:extLst>
              </p:cNvPr>
              <p:cNvSpPr txBox="1"/>
              <p:nvPr/>
            </p:nvSpPr>
            <p:spPr>
              <a:xfrm>
                <a:off x="8365232" y="2444083"/>
                <a:ext cx="3664492" cy="800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Al-powered Quality Engineering</a:t>
                </a:r>
              </a:p>
              <a:p>
                <a:r>
                  <a:rPr lang="en-US" sz="10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Comprehensive Al and Script Less approach leveraging Al-led best practices and frameworks to support functional and non-functional testing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80089E-FAD6-50A4-D139-0D5F7EE063EB}"/>
                  </a:ext>
                </a:extLst>
              </p:cNvPr>
              <p:cNvSpPr txBox="1"/>
              <p:nvPr/>
            </p:nvSpPr>
            <p:spPr>
              <a:xfrm>
                <a:off x="8596827" y="3462847"/>
                <a:ext cx="297259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Cloud Solutions</a:t>
                </a:r>
              </a:p>
              <a:p>
                <a:r>
                  <a:rPr 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Provide solutions covering assessment, execution and operation aspects of clients' Cloud systems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3A3573-2009-EDF1-D486-C0639E6CCB20}"/>
                  </a:ext>
                </a:extLst>
              </p:cNvPr>
              <p:cNvSpPr txBox="1"/>
              <p:nvPr/>
            </p:nvSpPr>
            <p:spPr>
              <a:xfrm>
                <a:off x="8365232" y="4477593"/>
                <a:ext cx="357015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User Experience Modernization</a:t>
                </a:r>
              </a:p>
              <a:p>
                <a:r>
                  <a:rPr 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Provides a solution to update and enhance the interactions and engagements between a company and its customers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EECB2F-B813-1AA2-59B8-94A0454F7EAD}"/>
                  </a:ext>
                </a:extLst>
              </p:cNvPr>
              <p:cNvSpPr txBox="1"/>
              <p:nvPr/>
            </p:nvSpPr>
            <p:spPr>
              <a:xfrm>
                <a:off x="7635475" y="5412313"/>
                <a:ext cx="36644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Enterprise Security Services</a:t>
                </a:r>
              </a:p>
              <a:p>
                <a:r>
                  <a:rPr 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Comprehensive and specialized security solutions designed to protect businesses and their digital assets from cyber threats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F14A5E-F5DB-60C7-3BC2-DFA15CC0A5DE}"/>
                  </a:ext>
                </a:extLst>
              </p:cNvPr>
              <p:cNvSpPr txBox="1"/>
              <p:nvPr/>
            </p:nvSpPr>
            <p:spPr>
              <a:xfrm>
                <a:off x="2107169" y="926970"/>
                <a:ext cx="34739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000" b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Product Development</a:t>
                </a:r>
                <a:endParaRPr lang="en-US" sz="2000">
                  <a:solidFill>
                    <a:schemeClr val="tx2">
                      <a:lumMod val="75000"/>
                      <a:lumOff val="25000"/>
                    </a:schemeClr>
                  </a:solidFill>
                  <a:latin typeface="Lato" pitchFamily="34" charset="0"/>
                  <a:ea typeface="Lato" pitchFamily="34" charset="-122"/>
                  <a:cs typeface="Lato" panose="020F0502020204030203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E79B68-672D-8236-7F99-2F6DB669206A}"/>
                  </a:ext>
                </a:extLst>
              </p:cNvPr>
              <p:cNvSpPr txBox="1"/>
              <p:nvPr/>
            </p:nvSpPr>
            <p:spPr>
              <a:xfrm>
                <a:off x="6610842" y="926970"/>
                <a:ext cx="350938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Enterprise Transformation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1D8744-E89B-2BEC-4E46-2B26C39A2A21}"/>
                  </a:ext>
                </a:extLst>
              </p:cNvPr>
              <p:cNvSpPr/>
              <p:nvPr/>
            </p:nvSpPr>
            <p:spPr>
              <a:xfrm>
                <a:off x="2997843" y="1327080"/>
                <a:ext cx="2476982" cy="28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3F7756F-3350-1220-802A-D9F96732E8A6}"/>
                  </a:ext>
                </a:extLst>
              </p:cNvPr>
              <p:cNvSpPr/>
              <p:nvPr/>
            </p:nvSpPr>
            <p:spPr>
              <a:xfrm>
                <a:off x="6701741" y="1327080"/>
                <a:ext cx="2988000" cy="28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57950BE-1AFD-13AC-E0D0-C9A3B4C410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51563" y="2765076"/>
              <a:ext cx="2387600" cy="2387600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5A72BE-36F1-9A38-97B2-CAF324FB3583}"/>
                </a:ext>
              </a:extLst>
            </p:cNvPr>
            <p:cNvGrpSpPr/>
            <p:nvPr userDrawn="1"/>
          </p:nvGrpSpPr>
          <p:grpSpPr>
            <a:xfrm>
              <a:off x="4053218" y="1972983"/>
              <a:ext cx="3998324" cy="4005654"/>
              <a:chOff x="4044751" y="2771788"/>
              <a:chExt cx="3998324" cy="4005654"/>
            </a:xfrm>
          </p:grpSpPr>
          <p:pic>
            <p:nvPicPr>
              <p:cNvPr id="6" name="Picture 5" descr="A circular chart with icons&#10;&#10;Description automatically generated">
                <a:extLst>
                  <a:ext uri="{FF2B5EF4-FFF2-40B4-BE49-F238E27FC236}">
                    <a16:creationId xmlns:a16="http://schemas.microsoft.com/office/drawing/2014/main" id="{15EDED41-3E95-271B-F7E7-CBC3F50928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044751" y="2771788"/>
                <a:ext cx="3998324" cy="3998324"/>
              </a:xfrm>
              <a:prstGeom prst="rect">
                <a:avLst/>
              </a:prstGeom>
            </p:spPr>
          </p:pic>
          <p:pic>
            <p:nvPicPr>
              <p:cNvPr id="7" name="Picture 6" descr="A circular chart with icons&#10;&#10;Description automatically generated">
                <a:extLst>
                  <a:ext uri="{FF2B5EF4-FFF2-40B4-BE49-F238E27FC236}">
                    <a16:creationId xmlns:a16="http://schemas.microsoft.com/office/drawing/2014/main" id="{1C9E06FE-18A9-A3C5-8028-DD097904EED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119000"/>
                        </a14:imgEffect>
                        <a14:imgEffect>
                          <a14:brightnessContrast bright="-12000" contras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49794" r="-1"/>
              <a:stretch/>
            </p:blipFill>
            <p:spPr>
              <a:xfrm>
                <a:off x="6022494" y="2779118"/>
                <a:ext cx="2007400" cy="399832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6847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ing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B0024A-9614-80DE-0794-78C7F1378174}"/>
              </a:ext>
            </a:extLst>
          </p:cNvPr>
          <p:cNvGrpSpPr/>
          <p:nvPr userDrawn="1"/>
        </p:nvGrpSpPr>
        <p:grpSpPr>
          <a:xfrm>
            <a:off x="0" y="0"/>
            <a:ext cx="12223750" cy="6857999"/>
            <a:chOff x="0" y="0"/>
            <a:chExt cx="12223750" cy="6857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BE671D-9870-263A-E0D3-E56DEA457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223750" cy="6857999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EA6BB84-E896-62F6-7AD1-87809924E7EF}"/>
                </a:ext>
              </a:extLst>
            </p:cNvPr>
            <p:cNvCxnSpPr/>
            <p:nvPr userDrawn="1"/>
          </p:nvCxnSpPr>
          <p:spPr>
            <a:xfrm>
              <a:off x="631847" y="3894732"/>
              <a:ext cx="1044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3ECB4D66-474B-FB51-D508-69B1446DC7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916" y="2079992"/>
            <a:ext cx="10926134" cy="1684461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>
              <a:lnSpc>
                <a:spcPts val="6000"/>
              </a:lnSpc>
              <a:spcBef>
                <a:spcPts val="0"/>
              </a:spcBef>
            </a:pPr>
            <a:r>
              <a:rPr lang="en-IN"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Engineering Intelligence. Responsibly.</a:t>
            </a:r>
            <a:endParaRPr lang="en-IN" sz="6000">
              <a:solidFill>
                <a:schemeClr val="bg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A8618D4-6545-62D2-0759-EC9B8ED783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916" y="4175200"/>
            <a:ext cx="10926134" cy="4939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en-US" sz="1800" b="0" i="0" kern="12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1pPr>
          </a:lstStyle>
          <a:p>
            <a:r>
              <a:rPr lang="en-IN" b="0" i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From Connected Device to Cloud &amp; Cognition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AB63863C-D67F-66A2-D2D8-7C3E191DAA2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7717" y="6192748"/>
            <a:ext cx="2568575" cy="3499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Feb 2026</a:t>
            </a:r>
          </a:p>
        </p:txBody>
      </p:sp>
      <p:pic>
        <p:nvPicPr>
          <p:cNvPr id="6" name="Picture 5" descr="A black and orange logo&#10;&#10;Description automatically generated">
            <a:extLst>
              <a:ext uri="{FF2B5EF4-FFF2-40B4-BE49-F238E27FC236}">
                <a16:creationId xmlns:a16="http://schemas.microsoft.com/office/drawing/2014/main" id="{7877BD8D-6073-07B4-9687-477E5DB34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847" y="490253"/>
            <a:ext cx="1583479" cy="4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DDD043-AE20-5187-3989-D98F839F09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23750" cy="68579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C4CA14-A785-75D4-AB32-9C0DA12B4835}"/>
              </a:ext>
            </a:extLst>
          </p:cNvPr>
          <p:cNvCxnSpPr/>
          <p:nvPr userDrawn="1"/>
        </p:nvCxnSpPr>
        <p:spPr>
          <a:xfrm>
            <a:off x="631847" y="3824399"/>
            <a:ext cx="10445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3AA7655-ED19-2A01-3B4B-23255402F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24" y="2796366"/>
            <a:ext cx="10926134" cy="712372"/>
          </a:xfrm>
        </p:spPr>
        <p:txBody>
          <a:bodyPr anchor="ctr">
            <a:noAutofit/>
          </a:bodyPr>
          <a:lstStyle>
            <a:lvl1pPr>
              <a:defRPr lang="en-US" sz="3800" b="1" kern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4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Addr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view of the earth from space&#10;&#10;Description automatically generated">
            <a:extLst>
              <a:ext uri="{FF2B5EF4-FFF2-40B4-BE49-F238E27FC236}">
                <a16:creationId xmlns:a16="http://schemas.microsoft.com/office/drawing/2014/main" id="{F1006E14-0FC4-2269-524F-585C0150B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36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10987F3-83EF-DC6F-5151-1E308804CE6B}"/>
              </a:ext>
            </a:extLst>
          </p:cNvPr>
          <p:cNvSpPr/>
          <p:nvPr userDrawn="1"/>
        </p:nvSpPr>
        <p:spPr>
          <a:xfrm>
            <a:off x="0" y="2443795"/>
            <a:ext cx="12192000" cy="4414205"/>
          </a:xfrm>
          <a:prstGeom prst="rect">
            <a:avLst/>
          </a:prstGeom>
          <a:solidFill>
            <a:srgbClr val="231F20">
              <a:alpha val="8962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A02F4A01-8760-28F2-A39E-53BB3AADB43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54101329"/>
              </p:ext>
            </p:extLst>
          </p:nvPr>
        </p:nvGraphicFramePr>
        <p:xfrm>
          <a:off x="436970" y="2569683"/>
          <a:ext cx="11239299" cy="340601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5790">
                  <a:extLst>
                    <a:ext uri="{9D8B030D-6E8A-4147-A177-3AD203B41FA5}">
                      <a16:colId xmlns:a16="http://schemas.microsoft.com/office/drawing/2014/main" val="3255110237"/>
                    </a:ext>
                  </a:extLst>
                </a:gridCol>
                <a:gridCol w="2033412">
                  <a:extLst>
                    <a:ext uri="{9D8B030D-6E8A-4147-A177-3AD203B41FA5}">
                      <a16:colId xmlns:a16="http://schemas.microsoft.com/office/drawing/2014/main" val="2346764135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5034395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4340368"/>
                    </a:ext>
                  </a:extLst>
                </a:gridCol>
                <a:gridCol w="2497945">
                  <a:extLst>
                    <a:ext uri="{9D8B030D-6E8A-4147-A177-3AD203B41FA5}">
                      <a16:colId xmlns:a16="http://schemas.microsoft.com/office/drawing/2014/main" val="1412817352"/>
                    </a:ext>
                  </a:extLst>
                </a:gridCol>
                <a:gridCol w="2312673">
                  <a:extLst>
                    <a:ext uri="{9D8B030D-6E8A-4147-A177-3AD203B41FA5}">
                      <a16:colId xmlns:a16="http://schemas.microsoft.com/office/drawing/2014/main" val="2605474041"/>
                    </a:ext>
                  </a:extLst>
                </a:gridCol>
                <a:gridCol w="1955799">
                  <a:extLst>
                    <a:ext uri="{9D8B030D-6E8A-4147-A177-3AD203B41FA5}">
                      <a16:colId xmlns:a16="http://schemas.microsoft.com/office/drawing/2014/main" val="2979945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>
                          <a:schemeClr val="accent4"/>
                        </a:buClr>
                      </a:pPr>
                      <a:r>
                        <a:rPr lang="en-US" sz="1400" b="1" kern="1200">
                          <a:solidFill>
                            <a:srgbClr val="FFC000"/>
                          </a:solidFill>
                        </a:rPr>
                        <a:t>NORTH AMERICA</a:t>
                      </a:r>
                      <a:endParaRPr lang="en-IN" sz="1400" b="1" kern="1200">
                        <a:solidFill>
                          <a:srgbClr val="FFC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rgbClr val="FFC000"/>
                          </a:solidFill>
                        </a:rPr>
                        <a:t>EUROPE</a:t>
                      </a:r>
                      <a:endParaRPr lang="en-IN" sz="1400" b="1" kern="1200">
                        <a:solidFill>
                          <a:srgbClr val="FFC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>
                          <a:schemeClr val="accent4"/>
                        </a:buClr>
                      </a:pPr>
                      <a:endParaRPr lang="en-IN" sz="100" b="1" kern="1200">
                        <a:solidFill>
                          <a:srgbClr val="FFC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>
                          <a:schemeClr val="accent4"/>
                        </a:buClr>
                      </a:pPr>
                      <a:endParaRPr lang="en-IN" sz="1400" b="1" kern="1200">
                        <a:solidFill>
                          <a:srgbClr val="FFC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>
                          <a:schemeClr val="accent4"/>
                        </a:buClr>
                      </a:pPr>
                      <a:r>
                        <a:rPr lang="en-US" sz="1400" b="1" kern="1200">
                          <a:solidFill>
                            <a:srgbClr val="FFC000"/>
                          </a:solidFill>
                        </a:rPr>
                        <a:t>ASIA</a:t>
                      </a:r>
                      <a:endParaRPr lang="en-IN" sz="1400" b="1" kern="1200">
                        <a:solidFill>
                          <a:srgbClr val="FFC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endParaRPr lang="en-IN" sz="160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endParaRPr lang="en-IN" sz="160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199074"/>
                  </a:ext>
                </a:extLst>
              </a:tr>
              <a:tr h="433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San Jose (HQ), USA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fr-F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99 Almaden Boulevard,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Suite 710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San Jose, CA 95113,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USA.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Phone: 408-434-6463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Fax: 408-434-7061</a:t>
                      </a:r>
                      <a:endParaRPr kumimoji="0" lang="fr-F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Munich, Germany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Innominds Software GmbH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Carl-</a:t>
                      </a:r>
                      <a:r>
                        <a:rPr kumimoji="0" lang="en-US" sz="1200" b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Meuth</a:t>
                      </a: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-Str.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85716 </a:t>
                      </a:r>
                      <a:r>
                        <a:rPr kumimoji="0" lang="en-US" sz="1200" b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Unterschleissheim</a:t>
                      </a:r>
                      <a:endParaRPr kumimoji="0" lang="en-US" sz="12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Hyderabad, India</a:t>
                      </a:r>
                      <a:endParaRPr kumimoji="0" lang="en-US" sz="12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4th Floor, </a:t>
                      </a:r>
                      <a:r>
                        <a:rPr kumimoji="0" lang="en-US" sz="1200" b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Waverock</a:t>
                      </a: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SEZ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Road #2, Financial District 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Hyderabad – 500 008,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Telangana, India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Phone: +91 40 66126300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Bengaluru, India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3rd floor, Anand Bhavan</a:t>
                      </a:r>
                      <a:b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#9, </a:t>
                      </a:r>
                      <a:r>
                        <a:rPr kumimoji="0" lang="en-IN" sz="1200" b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Netkallappa</a:t>
                      </a: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circle, Basavanagudi, Bengaluru 560 004, Karnataka, India</a:t>
                      </a:r>
                      <a:b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Phone: +91 80 40447400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Pune, India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507, 5th Floor, </a:t>
                      </a:r>
                      <a:b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V18 Building, </a:t>
                      </a:r>
                      <a:r>
                        <a:rPr kumimoji="0" lang="en-IN" sz="1200" b="0" u="none" strike="noStrike" kern="1200" cap="none" spc="0" normalizeH="0" baseline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Balewadi</a:t>
                      </a:r>
                      <a: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High Street, </a:t>
                      </a:r>
                      <a:r>
                        <a:rPr kumimoji="0" lang="en-IN" sz="1200" b="0" u="none" strike="noStrike" kern="1200" cap="none" spc="0" normalizeH="0" baseline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Baner</a:t>
                      </a:r>
                      <a: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Pune – 411045 India</a:t>
                      </a:r>
                      <a:endParaRPr kumimoji="0" lang="en-US" sz="12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417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1" u="none" strike="noStrike" kern="1200" cap="none" spc="0" normalizeH="0" baseline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Toronto, Canada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82 Peter St #500, Toronto, ON M5V 2G5, Canada</a:t>
                      </a:r>
                      <a:endParaRPr kumimoji="0" lang="en-US" sz="1200" b="0" u="none" strike="noStrike" kern="1200" cap="none" spc="0" normalizeH="0" baseline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Kala Jyothi building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Survey #185, Kondapur </a:t>
                      </a:r>
                      <a:b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Hyderabad – 500 133,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Telangana, India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Phone: +91 40 46126700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4th Floor, Akshay Tech Park,</a:t>
                      </a:r>
                      <a:b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KIADB Export Promotion Industrial Area, Whitefield,</a:t>
                      </a:r>
                      <a:b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IN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Bengaluru 560066, Karnataka, India</a:t>
                      </a:r>
                      <a:endParaRPr kumimoji="0" lang="en-I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A524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Lato" panose="020F050202020403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133770"/>
                  </a:ext>
                </a:extLst>
              </a:tr>
            </a:tbl>
          </a:graphicData>
        </a:graphic>
      </p:graphicFrame>
      <p:sp>
        <p:nvSpPr>
          <p:cNvPr id="17" name="TextBox 16">
            <a:hlinkClick r:id="rId3"/>
            <a:extLst>
              <a:ext uri="{FF2B5EF4-FFF2-40B4-BE49-F238E27FC236}">
                <a16:creationId xmlns:a16="http://schemas.microsoft.com/office/drawing/2014/main" id="{DAF392CB-C709-E23C-36AC-DA84F095871E}"/>
              </a:ext>
            </a:extLst>
          </p:cNvPr>
          <p:cNvSpPr txBox="1"/>
          <p:nvPr userDrawn="1"/>
        </p:nvSpPr>
        <p:spPr>
          <a:xfrm>
            <a:off x="515731" y="6338857"/>
            <a:ext cx="1584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300">
                <a:solidFill>
                  <a:srgbClr val="FDD065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hlinkClick r:id="rId4" tooltip="Original URL:&#10;http://www.innominds.com/&#10;&#10;Click to follow link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www.innominds.com</a:t>
            </a:r>
            <a:endParaRPr lang="en-IN" sz="1300">
              <a:solidFill>
                <a:srgbClr val="FDD065"/>
              </a:solidFill>
              <a:effectLst/>
              <a:latin typeface="Lato" panose="020F0502020204030203" pitchFamily="34" charset="0"/>
              <a:ea typeface="Calibri" panose="020F0502020204030204" pitchFamily="34" charset="0"/>
            </a:endParaRPr>
          </a:p>
        </p:txBody>
      </p:sp>
      <p:sp>
        <p:nvSpPr>
          <p:cNvPr id="18" name="Slide Number Placeholder 13">
            <a:extLst>
              <a:ext uri="{FF2B5EF4-FFF2-40B4-BE49-F238E27FC236}">
                <a16:creationId xmlns:a16="http://schemas.microsoft.com/office/drawing/2014/main" id="{EDAB3CCB-DC37-A61D-195F-345AC96A90A7}"/>
              </a:ext>
            </a:extLst>
          </p:cNvPr>
          <p:cNvSpPr txBox="1">
            <a:spLocks/>
          </p:cNvSpPr>
          <p:nvPr userDrawn="1"/>
        </p:nvSpPr>
        <p:spPr>
          <a:xfrm>
            <a:off x="9293507" y="6356350"/>
            <a:ext cx="2743200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378142-906B-1040-8F06-9AFB26CB07A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AE9312-5EAA-2151-670E-C3F2D3B781F0}"/>
              </a:ext>
            </a:extLst>
          </p:cNvPr>
          <p:cNvCxnSpPr/>
          <p:nvPr userDrawn="1"/>
        </p:nvCxnSpPr>
        <p:spPr>
          <a:xfrm>
            <a:off x="515731" y="4758267"/>
            <a:ext cx="17949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5DC5C9-416C-57B4-9B6F-46EC040468F7}"/>
              </a:ext>
            </a:extLst>
          </p:cNvPr>
          <p:cNvSpPr txBox="1"/>
          <p:nvPr userDrawn="1"/>
        </p:nvSpPr>
        <p:spPr>
          <a:xfrm>
            <a:off x="436970" y="436383"/>
            <a:ext cx="23428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Connect with us</a:t>
            </a:r>
            <a:endParaRPr lang="en-US" sz="2000"/>
          </a:p>
        </p:txBody>
      </p:sp>
      <p:pic>
        <p:nvPicPr>
          <p:cNvPr id="3" name="Picture 2" descr="A black and orange logo&#10;&#10;Description automatically generated">
            <a:extLst>
              <a:ext uri="{FF2B5EF4-FFF2-40B4-BE49-F238E27FC236}">
                <a16:creationId xmlns:a16="http://schemas.microsoft.com/office/drawing/2014/main" id="{E6590E76-536C-35FC-D080-9CA97BF34B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32875" y="529684"/>
            <a:ext cx="1043394" cy="28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6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E93DD9A5-158B-4D2D-B172-91B2B86769B9}"/>
              </a:ext>
            </a:extLst>
          </p:cNvPr>
          <p:cNvSpPr txBox="1">
            <a:spLocks/>
          </p:cNvSpPr>
          <p:nvPr userDrawn="1"/>
        </p:nvSpPr>
        <p:spPr>
          <a:xfrm>
            <a:off x="9476815" y="660200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2378142-906B-1040-8F06-9AFB26CB07A2}" type="slidenum">
              <a:rPr lang="en-US" sz="800" smtClean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en-US" sz="80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 descr="A black background with yellow and orange text&#10;&#10;Description automatically generated">
            <a:extLst>
              <a:ext uri="{FF2B5EF4-FFF2-40B4-BE49-F238E27FC236}">
                <a16:creationId xmlns:a16="http://schemas.microsoft.com/office/drawing/2014/main" id="{7D6ADC23-50EF-C719-40CB-ADA126A0DB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89301" y="98779"/>
            <a:ext cx="814592" cy="157915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4CE34F9-7AAE-3926-5EAD-08C1C0D9632E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200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© 2024. All Rights Reserved - Confidential</a:t>
            </a: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6657DC0F-9303-65D6-3359-4100518E04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624" y="223246"/>
            <a:ext cx="10515600" cy="523220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34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100000">
              <a:schemeClr val="bg1">
                <a:lumMod val="9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CCB08035-89B2-E7EE-74B9-F30882B4C877}"/>
              </a:ext>
            </a:extLst>
          </p:cNvPr>
          <p:cNvSpPr txBox="1">
            <a:spLocks/>
          </p:cNvSpPr>
          <p:nvPr userDrawn="1"/>
        </p:nvSpPr>
        <p:spPr>
          <a:xfrm>
            <a:off x="11039347" y="6602011"/>
            <a:ext cx="1160791" cy="255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2378142-906B-1040-8F06-9AFB26CB07A2}" type="slidenum">
              <a:rPr lang="en-US" sz="800" smtClean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en-US" sz="80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11E4304-1B2F-DD80-1FD0-9E9ED15BD8C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2011"/>
            <a:ext cx="4114800" cy="255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© 2026. All Rights Reserved - Confidential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F67FE1F-BBEA-30F1-1B0A-A358BD14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3" name="Picture 2" descr="A black and orange logo&#10;&#10;Description automatically generated">
            <a:extLst>
              <a:ext uri="{FF2B5EF4-FFF2-40B4-BE49-F238E27FC236}">
                <a16:creationId xmlns:a16="http://schemas.microsoft.com/office/drawing/2014/main" id="{B0BF8A5E-7D87-739C-221B-BCFE0990701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289301" y="101188"/>
            <a:ext cx="814592" cy="2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8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2" r:id="rId4"/>
    <p:sldLayoutId id="2147483650" r:id="rId5"/>
    <p:sldLayoutId id="2147483663" r:id="rId6"/>
    <p:sldLayoutId id="2147483664" r:id="rId7"/>
    <p:sldLayoutId id="2147483665" r:id="rId8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rgbClr val="E44C2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31.png"/><Relationship Id="rId18" Type="http://schemas.openxmlformats.org/officeDocument/2006/relationships/image" Target="../media/image36.jpeg"/><Relationship Id="rId26" Type="http://schemas.openxmlformats.org/officeDocument/2006/relationships/image" Target="../media/image44.png"/><Relationship Id="rId3" Type="http://schemas.openxmlformats.org/officeDocument/2006/relationships/image" Target="../media/image25.png"/><Relationship Id="rId21" Type="http://schemas.openxmlformats.org/officeDocument/2006/relationships/image" Target="../media/image39.png"/><Relationship Id="rId7" Type="http://schemas.openxmlformats.org/officeDocument/2006/relationships/image" Target="../media/image27.png"/><Relationship Id="rId12" Type="http://schemas.openxmlformats.org/officeDocument/2006/relationships/image" Target="../media/image30.svg"/><Relationship Id="rId17" Type="http://schemas.openxmlformats.org/officeDocument/2006/relationships/image" Target="../media/image35.png"/><Relationship Id="rId25" Type="http://schemas.openxmlformats.org/officeDocument/2006/relationships/image" Target="../media/image43.svg"/><Relationship Id="rId2" Type="http://schemas.openxmlformats.org/officeDocument/2006/relationships/image" Target="../media/image24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5" Type="http://schemas.openxmlformats.org/officeDocument/2006/relationships/image" Target="../media/image26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svg"/><Relationship Id="rId10" Type="http://schemas.microsoft.com/office/2007/relationships/hdphoto" Target="../media/hdphoto5.wdp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microsoft.com/office/2007/relationships/hdphoto" Target="../media/hdphoto2.wdp"/><Relationship Id="rId9" Type="http://schemas.openxmlformats.org/officeDocument/2006/relationships/image" Target="../media/image28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13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12" Type="http://schemas.microsoft.com/office/2007/relationships/hdphoto" Target="../media/hdphoto10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56.png"/><Relationship Id="rId5" Type="http://schemas.openxmlformats.org/officeDocument/2006/relationships/image" Target="../media/image53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55.png"/><Relationship Id="rId14" Type="http://schemas.microsoft.com/office/2007/relationships/hdphoto" Target="../media/hdphoto11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4.wdp"/><Relationship Id="rId13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2" Type="http://schemas.microsoft.com/office/2007/relationships/hdphoto" Target="../media/hdphoto16.wdp"/><Relationship Id="rId2" Type="http://schemas.openxmlformats.org/officeDocument/2006/relationships/image" Target="../media/image24.png"/><Relationship Id="rId16" Type="http://schemas.microsoft.com/office/2007/relationships/hdphoto" Target="../media/hdphoto18.wdp"/><Relationship Id="rId1" Type="http://schemas.openxmlformats.org/officeDocument/2006/relationships/slideLayout" Target="../slideLayouts/slideLayout1.xml"/><Relationship Id="rId6" Type="http://schemas.microsoft.com/office/2007/relationships/hdphoto" Target="../media/hdphoto13.wdp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10" Type="http://schemas.microsoft.com/office/2007/relationships/hdphoto" Target="../media/hdphoto15.wdp"/><Relationship Id="rId4" Type="http://schemas.microsoft.com/office/2007/relationships/hdphoto" Target="../media/hdphoto12.wdp"/><Relationship Id="rId9" Type="http://schemas.openxmlformats.org/officeDocument/2006/relationships/image" Target="../media/image61.png"/><Relationship Id="rId14" Type="http://schemas.microsoft.com/office/2007/relationships/hdphoto" Target="../media/hdphoto17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svg"/><Relationship Id="rId14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1.wdp"/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0.wdp"/><Relationship Id="rId5" Type="http://schemas.openxmlformats.org/officeDocument/2006/relationships/image" Target="../media/image82.png"/><Relationship Id="rId4" Type="http://schemas.microsoft.com/office/2007/relationships/hdphoto" Target="../media/hdphoto19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jpeg"/><Relationship Id="rId5" Type="http://schemas.openxmlformats.org/officeDocument/2006/relationships/image" Target="../media/image86.jpeg"/><Relationship Id="rId10" Type="http://schemas.openxmlformats.org/officeDocument/2006/relationships/image" Target="../media/image91.png"/><Relationship Id="rId4" Type="http://schemas.openxmlformats.org/officeDocument/2006/relationships/image" Target="../media/image85.jpe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microsoft.com/office/2007/relationships/hdphoto" Target="../media/hdphoto22.wdp"/><Relationship Id="rId4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microsoft.com/office/2007/relationships/hdphoto" Target="../media/hdphoto23.wdp"/><Relationship Id="rId7" Type="http://schemas.openxmlformats.org/officeDocument/2006/relationships/image" Target="../media/image12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4.wdp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microsoft.com/office/2007/relationships/hdphoto" Target="../media/hdphoto30.wdp"/><Relationship Id="rId3" Type="http://schemas.microsoft.com/office/2007/relationships/hdphoto" Target="../media/hdphoto25.wdp"/><Relationship Id="rId7" Type="http://schemas.microsoft.com/office/2007/relationships/hdphoto" Target="../media/hdphoto27.wdp"/><Relationship Id="rId12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microsoft.com/office/2007/relationships/hdphoto" Target="../media/hdphoto29.wdp"/><Relationship Id="rId5" Type="http://schemas.microsoft.com/office/2007/relationships/hdphoto" Target="../media/hdphoto26.wdp"/><Relationship Id="rId15" Type="http://schemas.microsoft.com/office/2007/relationships/hdphoto" Target="../media/hdphoto31.wdp"/><Relationship Id="rId10" Type="http://schemas.openxmlformats.org/officeDocument/2006/relationships/image" Target="../media/image126.png"/><Relationship Id="rId4" Type="http://schemas.openxmlformats.org/officeDocument/2006/relationships/image" Target="../media/image123.png"/><Relationship Id="rId9" Type="http://schemas.microsoft.com/office/2007/relationships/hdphoto" Target="../media/hdphoto28.wdp"/><Relationship Id="rId14" Type="http://schemas.openxmlformats.org/officeDocument/2006/relationships/image" Target="../media/image1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svg"/><Relationship Id="rId18" Type="http://schemas.openxmlformats.org/officeDocument/2006/relationships/image" Target="../media/image144.png"/><Relationship Id="rId3" Type="http://schemas.openxmlformats.org/officeDocument/2006/relationships/hyperlink" Target="https://depositphotos.com/vectors/devsecops.html" TargetMode="External"/><Relationship Id="rId21" Type="http://schemas.openxmlformats.org/officeDocument/2006/relationships/image" Target="../media/image147.png"/><Relationship Id="rId7" Type="http://schemas.openxmlformats.org/officeDocument/2006/relationships/image" Target="../media/image133.sv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2" Type="http://schemas.openxmlformats.org/officeDocument/2006/relationships/image" Target="../media/image129.png"/><Relationship Id="rId16" Type="http://schemas.openxmlformats.org/officeDocument/2006/relationships/image" Target="../media/image142.png"/><Relationship Id="rId20" Type="http://schemas.openxmlformats.org/officeDocument/2006/relationships/image" Target="../media/image14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svg"/><Relationship Id="rId24" Type="http://schemas.openxmlformats.org/officeDocument/2006/relationships/image" Target="../media/image150.png"/><Relationship Id="rId5" Type="http://schemas.openxmlformats.org/officeDocument/2006/relationships/image" Target="../media/image131.svg"/><Relationship Id="rId15" Type="http://schemas.openxmlformats.org/officeDocument/2006/relationships/image" Target="../media/image141.svg"/><Relationship Id="rId23" Type="http://schemas.openxmlformats.org/officeDocument/2006/relationships/image" Target="../media/image149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4" Type="http://schemas.openxmlformats.org/officeDocument/2006/relationships/image" Target="../media/image130.png"/><Relationship Id="rId9" Type="http://schemas.openxmlformats.org/officeDocument/2006/relationships/image" Target="../media/image135.svg"/><Relationship Id="rId14" Type="http://schemas.openxmlformats.org/officeDocument/2006/relationships/image" Target="../media/image140.png"/><Relationship Id="rId22" Type="http://schemas.openxmlformats.org/officeDocument/2006/relationships/image" Target="../media/image14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10" Type="http://schemas.openxmlformats.org/officeDocument/2006/relationships/image" Target="../media/image160.jpe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jpg"/><Relationship Id="rId13" Type="http://schemas.openxmlformats.org/officeDocument/2006/relationships/image" Target="../media/image172.jpg"/><Relationship Id="rId18" Type="http://schemas.openxmlformats.org/officeDocument/2006/relationships/image" Target="../media/image177.jpg"/><Relationship Id="rId3" Type="http://schemas.openxmlformats.org/officeDocument/2006/relationships/image" Target="../media/image162.png"/><Relationship Id="rId21" Type="http://schemas.openxmlformats.org/officeDocument/2006/relationships/image" Target="../media/image79.png"/><Relationship Id="rId7" Type="http://schemas.openxmlformats.org/officeDocument/2006/relationships/image" Target="../media/image166.jpg"/><Relationship Id="rId12" Type="http://schemas.openxmlformats.org/officeDocument/2006/relationships/image" Target="../media/image171.jpg"/><Relationship Id="rId17" Type="http://schemas.openxmlformats.org/officeDocument/2006/relationships/image" Target="../media/image176.jpg"/><Relationship Id="rId2" Type="http://schemas.openxmlformats.org/officeDocument/2006/relationships/image" Target="../media/image161.png"/><Relationship Id="rId16" Type="http://schemas.openxmlformats.org/officeDocument/2006/relationships/image" Target="../media/image175.jpg"/><Relationship Id="rId20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jpg"/><Relationship Id="rId11" Type="http://schemas.openxmlformats.org/officeDocument/2006/relationships/image" Target="../media/image170.jpg"/><Relationship Id="rId5" Type="http://schemas.openxmlformats.org/officeDocument/2006/relationships/image" Target="../media/image164.jpg"/><Relationship Id="rId15" Type="http://schemas.openxmlformats.org/officeDocument/2006/relationships/image" Target="../media/image174.jpg"/><Relationship Id="rId10" Type="http://schemas.openxmlformats.org/officeDocument/2006/relationships/image" Target="../media/image169.jpg"/><Relationship Id="rId19" Type="http://schemas.openxmlformats.org/officeDocument/2006/relationships/image" Target="../media/image178.png"/><Relationship Id="rId4" Type="http://schemas.openxmlformats.org/officeDocument/2006/relationships/image" Target="../media/image163.png"/><Relationship Id="rId9" Type="http://schemas.openxmlformats.org/officeDocument/2006/relationships/image" Target="../media/image168.jpg"/><Relationship Id="rId14" Type="http://schemas.openxmlformats.org/officeDocument/2006/relationships/image" Target="../media/image173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hdphoto" Target="../media/hdphoto34.wdp"/><Relationship Id="rId13" Type="http://schemas.openxmlformats.org/officeDocument/2006/relationships/image" Target="../media/image203.png"/><Relationship Id="rId18" Type="http://schemas.openxmlformats.org/officeDocument/2006/relationships/image" Target="../media/image208.svg"/><Relationship Id="rId3" Type="http://schemas.openxmlformats.org/officeDocument/2006/relationships/image" Target="../media/image197.png"/><Relationship Id="rId7" Type="http://schemas.openxmlformats.org/officeDocument/2006/relationships/image" Target="../media/image199.png"/><Relationship Id="rId12" Type="http://schemas.openxmlformats.org/officeDocument/2006/relationships/image" Target="../media/image202.svg"/><Relationship Id="rId17" Type="http://schemas.openxmlformats.org/officeDocument/2006/relationships/image" Target="../media/image207.png"/><Relationship Id="rId2" Type="http://schemas.openxmlformats.org/officeDocument/2006/relationships/image" Target="../media/image196.png"/><Relationship Id="rId16" Type="http://schemas.openxmlformats.org/officeDocument/2006/relationships/image" Target="../media/image206.svg"/><Relationship Id="rId20" Type="http://schemas.openxmlformats.org/officeDocument/2006/relationships/image" Target="../media/image210.svg"/><Relationship Id="rId1" Type="http://schemas.openxmlformats.org/officeDocument/2006/relationships/slideLayout" Target="../slideLayouts/slideLayout1.xml"/><Relationship Id="rId6" Type="http://schemas.microsoft.com/office/2007/relationships/hdphoto" Target="../media/hdphoto33.wdp"/><Relationship Id="rId11" Type="http://schemas.openxmlformats.org/officeDocument/2006/relationships/image" Target="../media/image201.png"/><Relationship Id="rId5" Type="http://schemas.openxmlformats.org/officeDocument/2006/relationships/image" Target="../media/image198.png"/><Relationship Id="rId15" Type="http://schemas.openxmlformats.org/officeDocument/2006/relationships/image" Target="../media/image205.png"/><Relationship Id="rId10" Type="http://schemas.microsoft.com/office/2007/relationships/hdphoto" Target="../media/hdphoto35.wdp"/><Relationship Id="rId19" Type="http://schemas.openxmlformats.org/officeDocument/2006/relationships/image" Target="../media/image209.png"/><Relationship Id="rId4" Type="http://schemas.microsoft.com/office/2007/relationships/hdphoto" Target="../media/hdphoto32.wdp"/><Relationship Id="rId9" Type="http://schemas.openxmlformats.org/officeDocument/2006/relationships/image" Target="../media/image200.png"/><Relationship Id="rId14" Type="http://schemas.openxmlformats.org/officeDocument/2006/relationships/image" Target="../media/image204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6.wdp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13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12" Type="http://schemas.microsoft.com/office/2007/relationships/hdphoto" Target="../media/hdphoto10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56.png"/><Relationship Id="rId5" Type="http://schemas.openxmlformats.org/officeDocument/2006/relationships/image" Target="../media/image53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55.png"/><Relationship Id="rId14" Type="http://schemas.microsoft.com/office/2007/relationships/hdphoto" Target="../media/hdphoto11.wdp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hdphoto" Target="../media/hdphoto14.wdp"/><Relationship Id="rId13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2" Type="http://schemas.microsoft.com/office/2007/relationships/hdphoto" Target="../media/hdphoto16.wdp"/><Relationship Id="rId2" Type="http://schemas.openxmlformats.org/officeDocument/2006/relationships/image" Target="../media/image24.png"/><Relationship Id="rId16" Type="http://schemas.microsoft.com/office/2007/relationships/hdphoto" Target="../media/hdphoto18.wdp"/><Relationship Id="rId1" Type="http://schemas.openxmlformats.org/officeDocument/2006/relationships/slideLayout" Target="../slideLayouts/slideLayout1.xml"/><Relationship Id="rId6" Type="http://schemas.microsoft.com/office/2007/relationships/hdphoto" Target="../media/hdphoto13.wdp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10" Type="http://schemas.microsoft.com/office/2007/relationships/hdphoto" Target="../media/hdphoto15.wdp"/><Relationship Id="rId4" Type="http://schemas.microsoft.com/office/2007/relationships/hdphoto" Target="../media/hdphoto12.wdp"/><Relationship Id="rId9" Type="http://schemas.openxmlformats.org/officeDocument/2006/relationships/image" Target="../media/image61.png"/><Relationship Id="rId14" Type="http://schemas.microsoft.com/office/2007/relationships/hdphoto" Target="../media/hdphoto17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39.wdp"/><Relationship Id="rId3" Type="http://schemas.openxmlformats.org/officeDocument/2006/relationships/image" Target="../media/image212.png"/><Relationship Id="rId7" Type="http://schemas.openxmlformats.org/officeDocument/2006/relationships/image" Target="../media/image215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8.wdp"/><Relationship Id="rId5" Type="http://schemas.openxmlformats.org/officeDocument/2006/relationships/image" Target="../media/image214.png"/><Relationship Id="rId4" Type="http://schemas.microsoft.com/office/2007/relationships/hdphoto" Target="../media/hdphoto37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hdphoto" Target="../media/hdphoto42.wdp"/><Relationship Id="rId13" Type="http://schemas.microsoft.com/office/2007/relationships/hdphoto" Target="../media/hdphoto44.wdp"/><Relationship Id="rId3" Type="http://schemas.openxmlformats.org/officeDocument/2006/relationships/image" Target="../media/image221.png"/><Relationship Id="rId7" Type="http://schemas.openxmlformats.org/officeDocument/2006/relationships/image" Target="../media/image223.png"/><Relationship Id="rId12" Type="http://schemas.openxmlformats.org/officeDocument/2006/relationships/image" Target="../media/image226.png"/><Relationship Id="rId17" Type="http://schemas.microsoft.com/office/2007/relationships/hdphoto" Target="../media/hdphoto46.wdp"/><Relationship Id="rId2" Type="http://schemas.openxmlformats.org/officeDocument/2006/relationships/image" Target="../media/image220.png"/><Relationship Id="rId16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1.wdp"/><Relationship Id="rId11" Type="http://schemas.openxmlformats.org/officeDocument/2006/relationships/image" Target="../media/image225.png"/><Relationship Id="rId5" Type="http://schemas.openxmlformats.org/officeDocument/2006/relationships/image" Target="../media/image222.png"/><Relationship Id="rId15" Type="http://schemas.microsoft.com/office/2007/relationships/hdphoto" Target="../media/hdphoto45.wdp"/><Relationship Id="rId10" Type="http://schemas.microsoft.com/office/2007/relationships/hdphoto" Target="../media/hdphoto43.wdp"/><Relationship Id="rId4" Type="http://schemas.microsoft.com/office/2007/relationships/hdphoto" Target="../media/hdphoto40.wdp"/><Relationship Id="rId9" Type="http://schemas.openxmlformats.org/officeDocument/2006/relationships/image" Target="../media/image224.png"/><Relationship Id="rId14" Type="http://schemas.openxmlformats.org/officeDocument/2006/relationships/image" Target="../media/image2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47.wdp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10" Type="http://schemas.openxmlformats.org/officeDocument/2006/relationships/image" Target="../media/image237.png"/><Relationship Id="rId4" Type="http://schemas.openxmlformats.org/officeDocument/2006/relationships/image" Target="../media/image231.jpeg"/><Relationship Id="rId9" Type="http://schemas.openxmlformats.org/officeDocument/2006/relationships/image" Target="../media/image2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8.png"/><Relationship Id="rId3" Type="http://schemas.openxmlformats.org/officeDocument/2006/relationships/image" Target="../media/image238.png"/><Relationship Id="rId7" Type="http://schemas.openxmlformats.org/officeDocument/2006/relationships/image" Target="../media/image242.jpeg"/><Relationship Id="rId12" Type="http://schemas.openxmlformats.org/officeDocument/2006/relationships/image" Target="../media/image247.tiff"/><Relationship Id="rId17" Type="http://schemas.openxmlformats.org/officeDocument/2006/relationships/image" Target="../media/image252.tif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1.jpeg"/><Relationship Id="rId11" Type="http://schemas.openxmlformats.org/officeDocument/2006/relationships/image" Target="../media/image246.png"/><Relationship Id="rId5" Type="http://schemas.openxmlformats.org/officeDocument/2006/relationships/image" Target="../media/image240.png"/><Relationship Id="rId15" Type="http://schemas.openxmlformats.org/officeDocument/2006/relationships/image" Target="../media/image250.tiff"/><Relationship Id="rId10" Type="http://schemas.openxmlformats.org/officeDocument/2006/relationships/image" Target="../media/image245.tiff"/><Relationship Id="rId4" Type="http://schemas.openxmlformats.org/officeDocument/2006/relationships/image" Target="../media/image239.jpeg"/><Relationship Id="rId9" Type="http://schemas.openxmlformats.org/officeDocument/2006/relationships/image" Target="../media/image244.png"/><Relationship Id="rId14" Type="http://schemas.openxmlformats.org/officeDocument/2006/relationships/image" Target="../media/image249.tif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sv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6.svg"/><Relationship Id="rId5" Type="http://schemas.openxmlformats.org/officeDocument/2006/relationships/image" Target="../media/image255.png"/><Relationship Id="rId4" Type="http://schemas.openxmlformats.org/officeDocument/2006/relationships/image" Target="../media/image254.svg"/><Relationship Id="rId9" Type="http://schemas.openxmlformats.org/officeDocument/2006/relationships/image" Target="../media/image2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9.wdp"/><Relationship Id="rId5" Type="http://schemas.openxmlformats.org/officeDocument/2006/relationships/image" Target="../media/image265.png"/><Relationship Id="rId4" Type="http://schemas.microsoft.com/office/2007/relationships/hdphoto" Target="../media/hdphoto48.wdp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hdphoto" Target="../media/hdphoto50.wdp"/><Relationship Id="rId13" Type="http://schemas.openxmlformats.org/officeDocument/2006/relationships/image" Target="../media/image273.png"/><Relationship Id="rId3" Type="http://schemas.openxmlformats.org/officeDocument/2006/relationships/image" Target="../media/image266.png"/><Relationship Id="rId7" Type="http://schemas.openxmlformats.org/officeDocument/2006/relationships/image" Target="../media/image270.png"/><Relationship Id="rId12" Type="http://schemas.microsoft.com/office/2007/relationships/hdphoto" Target="../media/hdphoto5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9.png"/><Relationship Id="rId11" Type="http://schemas.openxmlformats.org/officeDocument/2006/relationships/image" Target="../media/image272.png"/><Relationship Id="rId5" Type="http://schemas.openxmlformats.org/officeDocument/2006/relationships/image" Target="../media/image268.png"/><Relationship Id="rId10" Type="http://schemas.microsoft.com/office/2007/relationships/hdphoto" Target="../media/hdphoto51.wdp"/><Relationship Id="rId4" Type="http://schemas.openxmlformats.org/officeDocument/2006/relationships/image" Target="../media/image267.png"/><Relationship Id="rId9" Type="http://schemas.openxmlformats.org/officeDocument/2006/relationships/image" Target="../media/image271.png"/><Relationship Id="rId14" Type="http://schemas.microsoft.com/office/2007/relationships/hdphoto" Target="../media/hdphoto53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5.svg"/><Relationship Id="rId4" Type="http://schemas.openxmlformats.org/officeDocument/2006/relationships/image" Target="../media/image27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jpeg"/><Relationship Id="rId3" Type="http://schemas.openxmlformats.org/officeDocument/2006/relationships/image" Target="../media/image276.jpeg"/><Relationship Id="rId7" Type="http://schemas.openxmlformats.org/officeDocument/2006/relationships/image" Target="../media/image28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9.jpeg"/><Relationship Id="rId5" Type="http://schemas.openxmlformats.org/officeDocument/2006/relationships/image" Target="../media/image278.jpeg"/><Relationship Id="rId4" Type="http://schemas.openxmlformats.org/officeDocument/2006/relationships/image" Target="../media/image277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jpeg"/><Relationship Id="rId13" Type="http://schemas.openxmlformats.org/officeDocument/2006/relationships/image" Target="../media/image293.png"/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12" Type="http://schemas.openxmlformats.org/officeDocument/2006/relationships/image" Target="../media/image292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6.png"/><Relationship Id="rId11" Type="http://schemas.openxmlformats.org/officeDocument/2006/relationships/image" Target="../media/image291.png"/><Relationship Id="rId5" Type="http://schemas.openxmlformats.org/officeDocument/2006/relationships/image" Target="../media/image285.png"/><Relationship Id="rId10" Type="http://schemas.openxmlformats.org/officeDocument/2006/relationships/image" Target="../media/image290.png"/><Relationship Id="rId4" Type="http://schemas.openxmlformats.org/officeDocument/2006/relationships/image" Target="../media/image284.png"/><Relationship Id="rId9" Type="http://schemas.openxmlformats.org/officeDocument/2006/relationships/image" Target="../media/image289.png"/><Relationship Id="rId14" Type="http://schemas.openxmlformats.org/officeDocument/2006/relationships/image" Target="../media/image29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54.wdp"/><Relationship Id="rId4" Type="http://schemas.openxmlformats.org/officeDocument/2006/relationships/image" Target="../media/image29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4" Type="http://schemas.openxmlformats.org/officeDocument/2006/relationships/image" Target="../media/image30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microsoft.com/office/2007/relationships/hdphoto" Target="../media/hdphoto55.wdp"/><Relationship Id="rId7" Type="http://schemas.microsoft.com/office/2007/relationships/hdphoto" Target="../media/hdphoto57.wdp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8.png"/><Relationship Id="rId11" Type="http://schemas.microsoft.com/office/2007/relationships/hdphoto" Target="../media/hdphoto58.wdp"/><Relationship Id="rId5" Type="http://schemas.microsoft.com/office/2007/relationships/hdphoto" Target="../media/hdphoto56.wdp"/><Relationship Id="rId10" Type="http://schemas.openxmlformats.org/officeDocument/2006/relationships/image" Target="../media/image311.png"/><Relationship Id="rId4" Type="http://schemas.openxmlformats.org/officeDocument/2006/relationships/image" Target="../media/image307.png"/><Relationship Id="rId9" Type="http://schemas.openxmlformats.org/officeDocument/2006/relationships/image" Target="../media/image310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59.wdp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png"/><Relationship Id="rId3" Type="http://schemas.openxmlformats.org/officeDocument/2006/relationships/image" Target="../media/image314.png"/><Relationship Id="rId7" Type="http://schemas.openxmlformats.org/officeDocument/2006/relationships/image" Target="../media/image318.svg"/><Relationship Id="rId2" Type="http://schemas.openxmlformats.org/officeDocument/2006/relationships/image" Target="../media/image31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7.png"/><Relationship Id="rId11" Type="http://schemas.microsoft.com/office/2007/relationships/hdphoto" Target="../media/hdphoto59.wdp"/><Relationship Id="rId5" Type="http://schemas.openxmlformats.org/officeDocument/2006/relationships/image" Target="../media/image316.png"/><Relationship Id="rId10" Type="http://schemas.openxmlformats.org/officeDocument/2006/relationships/image" Target="../media/image312.png"/><Relationship Id="rId4" Type="http://schemas.openxmlformats.org/officeDocument/2006/relationships/image" Target="../media/image315.png"/><Relationship Id="rId9" Type="http://schemas.openxmlformats.org/officeDocument/2006/relationships/image" Target="../media/image320.svg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60.wdp"/><Relationship Id="rId7" Type="http://schemas.microsoft.com/office/2007/relationships/hdphoto" Target="../media/hdphoto62.wdp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3.png"/><Relationship Id="rId5" Type="http://schemas.microsoft.com/office/2007/relationships/hdphoto" Target="../media/hdphoto61.wdp"/><Relationship Id="rId4" Type="http://schemas.openxmlformats.org/officeDocument/2006/relationships/image" Target="../media/image32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1803-05DB-FBB5-945F-C6128B1D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717" y="2693294"/>
            <a:ext cx="11189463" cy="1215765"/>
          </a:xfrm>
        </p:spPr>
        <p:txBody>
          <a:bodyPr/>
          <a:lstStyle/>
          <a:p>
            <a:r>
              <a:rPr lang="en-US" sz="3600" dirty="0"/>
              <a:t>Innominds Engineering Partnership for Next-Generation Connected Fitness Platforms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41234-53C2-DFF3-550F-2FDC50AC46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1" dirty="0"/>
              <a:t>Android Console | Embedded Systems | Edge AI | Connected Devices | Cloud Analytics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C7F91-BAD3-9C63-23BD-7306E4D6DE9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Mar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45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2F51-36CA-EB8F-0054-E78910E18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Precor Product Architecture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AA6CEF-3F3D-9774-D481-19DFE0C8E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205" y="695845"/>
            <a:ext cx="11621590" cy="5748454"/>
          </a:xfrm>
          <a:prstGeom prst="rect">
            <a:avLst/>
          </a:prstGeom>
        </p:spPr>
      </p:pic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E3253B59-0801-2C2F-20F8-CE1A4410831A}"/>
              </a:ext>
            </a:extLst>
          </p:cNvPr>
          <p:cNvSpPr/>
          <p:nvPr/>
        </p:nvSpPr>
        <p:spPr>
          <a:xfrm>
            <a:off x="11802776" y="1905000"/>
            <a:ext cx="208038" cy="29718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854A81-512A-6027-32E3-B53D45BE067B}"/>
              </a:ext>
            </a:extLst>
          </p:cNvPr>
          <p:cNvSpPr/>
          <p:nvPr/>
        </p:nvSpPr>
        <p:spPr>
          <a:xfrm>
            <a:off x="11815261" y="577637"/>
            <a:ext cx="170364" cy="170364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C68D7A-5CD2-17D7-7DB9-147683672AF8}"/>
              </a:ext>
            </a:extLst>
          </p:cNvPr>
          <p:cNvSpPr/>
          <p:nvPr/>
        </p:nvSpPr>
        <p:spPr>
          <a:xfrm>
            <a:off x="206375" y="4978187"/>
            <a:ext cx="170364" cy="170364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81B73A1D-91ED-37B0-CDE8-8F39AF7B8C8E}"/>
              </a:ext>
            </a:extLst>
          </p:cNvPr>
          <p:cNvSpPr/>
          <p:nvPr/>
        </p:nvSpPr>
        <p:spPr>
          <a:xfrm>
            <a:off x="376739" y="876300"/>
            <a:ext cx="6457198" cy="5760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DBF0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Precor Connected Fitness Console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C726E2-E342-19B2-9F51-75D4027512EE}"/>
              </a:ext>
            </a:extLst>
          </p:cNvPr>
          <p:cNvCxnSpPr>
            <a:cxnSpLocks/>
          </p:cNvCxnSpPr>
          <p:nvPr/>
        </p:nvCxnSpPr>
        <p:spPr>
          <a:xfrm>
            <a:off x="673100" y="1778273"/>
            <a:ext cx="0" cy="2291474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9C2DD7-5590-B889-2F26-BC1360207532}"/>
              </a:ext>
            </a:extLst>
          </p:cNvPr>
          <p:cNvSpPr txBox="1"/>
          <p:nvPr/>
        </p:nvSpPr>
        <p:spPr>
          <a:xfrm>
            <a:off x="871706" y="1892959"/>
            <a:ext cx="596223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Android based touchscreen console</a:t>
            </a:r>
          </a:p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Embedded compute module </a:t>
            </a:r>
          </a:p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 integration from fitness equipment</a:t>
            </a:r>
          </a:p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Connectivity (</a:t>
            </a:r>
            <a:r>
              <a:rPr lang="en-IN" sz="1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WiFi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/ Bluetooth / Cloud platform)</a:t>
            </a:r>
          </a:p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interface for workout programs and entertainment</a:t>
            </a:r>
          </a:p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collection for performance analytics and personalization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E8DBA0D-4E23-EFF8-B91B-A384DD12ACCD}"/>
              </a:ext>
            </a:extLst>
          </p:cNvPr>
          <p:cNvGrpSpPr/>
          <p:nvPr/>
        </p:nvGrpSpPr>
        <p:grpSpPr>
          <a:xfrm>
            <a:off x="871706" y="4830285"/>
            <a:ext cx="10060917" cy="508570"/>
            <a:chOff x="604422" y="1700447"/>
            <a:chExt cx="10060917" cy="508570"/>
          </a:xfrm>
        </p:grpSpPr>
        <p:sp>
          <p:nvSpPr>
            <p:cNvPr id="65" name="Google Shape;493;p22">
              <a:extLst>
                <a:ext uri="{FF2B5EF4-FFF2-40B4-BE49-F238E27FC236}">
                  <a16:creationId xmlns:a16="http://schemas.microsoft.com/office/drawing/2014/main" id="{7609FECC-80DE-187B-54C7-8BB30A7A9ABB}"/>
                </a:ext>
              </a:extLst>
            </p:cNvPr>
            <p:cNvSpPr/>
            <p:nvPr/>
          </p:nvSpPr>
          <p:spPr>
            <a:xfrm>
              <a:off x="611455" y="1700447"/>
              <a:ext cx="10053884" cy="50857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Google Shape;497;p22">
              <a:extLst>
                <a:ext uri="{FF2B5EF4-FFF2-40B4-BE49-F238E27FC236}">
                  <a16:creationId xmlns:a16="http://schemas.microsoft.com/office/drawing/2014/main" id="{C59E805E-10C5-1377-2671-539E06866033}"/>
                </a:ext>
              </a:extLst>
            </p:cNvPr>
            <p:cNvSpPr txBox="1"/>
            <p:nvPr/>
          </p:nvSpPr>
          <p:spPr>
            <a:xfrm>
              <a:off x="604422" y="1729161"/>
              <a:ext cx="10053884" cy="451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Fira Sans"/>
                </a:rPr>
                <a:t>Engineering opportunities</a:t>
              </a:r>
              <a:endParaRPr sz="1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Fira San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B12424C-83A7-9351-F376-4D0409DE33C9}"/>
              </a:ext>
            </a:extLst>
          </p:cNvPr>
          <p:cNvGrpSpPr/>
          <p:nvPr/>
        </p:nvGrpSpPr>
        <p:grpSpPr>
          <a:xfrm>
            <a:off x="906542" y="5385805"/>
            <a:ext cx="9991245" cy="667376"/>
            <a:chOff x="639804" y="2255967"/>
            <a:chExt cx="9991245" cy="667376"/>
          </a:xfrm>
        </p:grpSpPr>
        <p:sp>
          <p:nvSpPr>
            <p:cNvPr id="68" name="Google Shape;494;p22">
              <a:extLst>
                <a:ext uri="{FF2B5EF4-FFF2-40B4-BE49-F238E27FC236}">
                  <a16:creationId xmlns:a16="http://schemas.microsoft.com/office/drawing/2014/main" id="{A5208770-F643-971D-DDBC-291C4768F064}"/>
                </a:ext>
              </a:extLst>
            </p:cNvPr>
            <p:cNvSpPr/>
            <p:nvPr/>
          </p:nvSpPr>
          <p:spPr>
            <a:xfrm>
              <a:off x="639804" y="2255967"/>
              <a:ext cx="1837032" cy="6673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360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Google Shape;496;p22">
              <a:extLst>
                <a:ext uri="{FF2B5EF4-FFF2-40B4-BE49-F238E27FC236}">
                  <a16:creationId xmlns:a16="http://schemas.microsoft.com/office/drawing/2014/main" id="{9458CF13-0A0D-0A06-6D07-E68A5BC54A9C}"/>
                </a:ext>
              </a:extLst>
            </p:cNvPr>
            <p:cNvSpPr txBox="1"/>
            <p:nvPr/>
          </p:nvSpPr>
          <p:spPr>
            <a:xfrm>
              <a:off x="731520" y="2316046"/>
              <a:ext cx="1620630" cy="54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b="1" dirty="0">
                  <a:solidFill>
                    <a:srgbClr val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Fira Sans"/>
                </a:rPr>
                <a:t>Android platform optimization</a:t>
              </a:r>
              <a:endParaRPr sz="1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Fira Sans"/>
              </a:endParaRPr>
            </a:p>
          </p:txBody>
        </p:sp>
        <p:sp>
          <p:nvSpPr>
            <p:cNvPr id="70" name="Google Shape;500;p22">
              <a:extLst>
                <a:ext uri="{FF2B5EF4-FFF2-40B4-BE49-F238E27FC236}">
                  <a16:creationId xmlns:a16="http://schemas.microsoft.com/office/drawing/2014/main" id="{11D4A753-CB2F-F3C3-F863-277564FB4D61}"/>
                </a:ext>
              </a:extLst>
            </p:cNvPr>
            <p:cNvSpPr/>
            <p:nvPr/>
          </p:nvSpPr>
          <p:spPr>
            <a:xfrm>
              <a:off x="4629867" y="2255967"/>
              <a:ext cx="1837032" cy="6673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360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Google Shape;502;p22">
              <a:extLst>
                <a:ext uri="{FF2B5EF4-FFF2-40B4-BE49-F238E27FC236}">
                  <a16:creationId xmlns:a16="http://schemas.microsoft.com/office/drawing/2014/main" id="{95E53919-4551-078B-D8B2-B7A79B801A53}"/>
                </a:ext>
              </a:extLst>
            </p:cNvPr>
            <p:cNvSpPr txBox="1"/>
            <p:nvPr/>
          </p:nvSpPr>
          <p:spPr>
            <a:xfrm>
              <a:off x="4721583" y="2316046"/>
              <a:ext cx="1620630" cy="54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b="1" dirty="0">
                  <a:solidFill>
                    <a:srgbClr val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Fira Sans"/>
                </a:rPr>
                <a:t>AI based workout personalization</a:t>
              </a:r>
              <a:endParaRPr sz="1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Fira Sans"/>
              </a:endParaRPr>
            </a:p>
          </p:txBody>
        </p:sp>
        <p:sp>
          <p:nvSpPr>
            <p:cNvPr id="72" name="Google Shape;506;p22">
              <a:extLst>
                <a:ext uri="{FF2B5EF4-FFF2-40B4-BE49-F238E27FC236}">
                  <a16:creationId xmlns:a16="http://schemas.microsoft.com/office/drawing/2014/main" id="{117D0D30-9AE2-C9EA-EC3E-E8A9DA180385}"/>
                </a:ext>
              </a:extLst>
            </p:cNvPr>
            <p:cNvSpPr/>
            <p:nvPr/>
          </p:nvSpPr>
          <p:spPr>
            <a:xfrm>
              <a:off x="2623405" y="2255967"/>
              <a:ext cx="1837032" cy="6673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360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Google Shape;508;p22">
              <a:extLst>
                <a:ext uri="{FF2B5EF4-FFF2-40B4-BE49-F238E27FC236}">
                  <a16:creationId xmlns:a16="http://schemas.microsoft.com/office/drawing/2014/main" id="{4C7FD6E8-F6B8-1EF6-519E-7D97BC42CDCD}"/>
                </a:ext>
              </a:extLst>
            </p:cNvPr>
            <p:cNvSpPr txBox="1"/>
            <p:nvPr/>
          </p:nvSpPr>
          <p:spPr>
            <a:xfrm>
              <a:off x="2715121" y="2316046"/>
              <a:ext cx="1620630" cy="54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b="1" dirty="0">
                  <a:solidFill>
                    <a:srgbClr val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Fira Sans"/>
                </a:rPr>
                <a:t>Sensor and device integration</a:t>
              </a:r>
              <a:endParaRPr sz="1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Fira Sans"/>
              </a:endParaRPr>
            </a:p>
          </p:txBody>
        </p:sp>
        <p:sp>
          <p:nvSpPr>
            <p:cNvPr id="74" name="Google Shape;512;p22">
              <a:extLst>
                <a:ext uri="{FF2B5EF4-FFF2-40B4-BE49-F238E27FC236}">
                  <a16:creationId xmlns:a16="http://schemas.microsoft.com/office/drawing/2014/main" id="{D25DA94F-7553-673F-D3CE-FB7C9F5459E5}"/>
                </a:ext>
              </a:extLst>
            </p:cNvPr>
            <p:cNvSpPr/>
            <p:nvPr/>
          </p:nvSpPr>
          <p:spPr>
            <a:xfrm>
              <a:off x="6700503" y="2255967"/>
              <a:ext cx="1837032" cy="6673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360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5" name="Google Shape;514;p22">
              <a:extLst>
                <a:ext uri="{FF2B5EF4-FFF2-40B4-BE49-F238E27FC236}">
                  <a16:creationId xmlns:a16="http://schemas.microsoft.com/office/drawing/2014/main" id="{F857B688-A3BA-A176-C134-BD6F2BF42AE6}"/>
                </a:ext>
              </a:extLst>
            </p:cNvPr>
            <p:cNvSpPr txBox="1"/>
            <p:nvPr/>
          </p:nvSpPr>
          <p:spPr>
            <a:xfrm>
              <a:off x="6792219" y="2316046"/>
              <a:ext cx="1620630" cy="54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b="1" dirty="0">
                  <a:solidFill>
                    <a:schemeClr val="l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Fira Sans"/>
                </a:rPr>
                <a:t>Cloud telemetry and analytics</a:t>
              </a:r>
              <a:endParaRPr sz="12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Fira Sans"/>
              </a:endParaRPr>
            </a:p>
          </p:txBody>
        </p:sp>
        <p:sp>
          <p:nvSpPr>
            <p:cNvPr id="76" name="Google Shape;518;p22">
              <a:extLst>
                <a:ext uri="{FF2B5EF4-FFF2-40B4-BE49-F238E27FC236}">
                  <a16:creationId xmlns:a16="http://schemas.microsoft.com/office/drawing/2014/main" id="{C61E6A2C-8B0D-7A1B-1640-97C3BC3D3453}"/>
                </a:ext>
              </a:extLst>
            </p:cNvPr>
            <p:cNvSpPr/>
            <p:nvPr/>
          </p:nvSpPr>
          <p:spPr>
            <a:xfrm>
              <a:off x="8794017" y="2255967"/>
              <a:ext cx="1837032" cy="6673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36000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Google Shape;520;p22">
              <a:extLst>
                <a:ext uri="{FF2B5EF4-FFF2-40B4-BE49-F238E27FC236}">
                  <a16:creationId xmlns:a16="http://schemas.microsoft.com/office/drawing/2014/main" id="{4914D229-9278-DB38-4EB8-8077EE727453}"/>
                </a:ext>
              </a:extLst>
            </p:cNvPr>
            <p:cNvSpPr txBox="1"/>
            <p:nvPr/>
          </p:nvSpPr>
          <p:spPr>
            <a:xfrm>
              <a:off x="8885733" y="2316046"/>
              <a:ext cx="1620630" cy="54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 b="1" dirty="0">
                  <a:solidFill>
                    <a:schemeClr val="l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Fira Sans"/>
                </a:rPr>
                <a:t>Next-generation console innovation</a:t>
              </a:r>
              <a:endParaRPr sz="12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Fira Sans"/>
              </a:endParaRPr>
            </a:p>
          </p:txBody>
        </p:sp>
      </p:grpSp>
      <p:pic>
        <p:nvPicPr>
          <p:cNvPr id="79" name="Picture 78">
            <a:extLst>
              <a:ext uri="{FF2B5EF4-FFF2-40B4-BE49-F238E27FC236}">
                <a16:creationId xmlns:a16="http://schemas.microsoft.com/office/drawing/2014/main" id="{88571972-2114-178D-4421-70F9DD54D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45" y="1778273"/>
            <a:ext cx="2903142" cy="24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07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EB2DCB-8176-DC25-D214-A27AA7767B0B}"/>
              </a:ext>
            </a:extLst>
          </p:cNvPr>
          <p:cNvSpPr>
            <a:spLocks noGrp="1"/>
          </p:cNvSpPr>
          <p:nvPr/>
        </p:nvSpPr>
        <p:spPr>
          <a:xfrm>
            <a:off x="333494" y="249366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Innominds Engineering Capabilities for Precor Connected Fitness Platforms</a:t>
            </a:r>
            <a:endParaRPr lang="en-IN" dirty="0"/>
          </a:p>
        </p:txBody>
      </p:sp>
      <p:sp>
        <p:nvSpPr>
          <p:cNvPr id="24" name="Rectangle: Top Corners One Rounded and One Snipped 23">
            <a:extLst>
              <a:ext uri="{FF2B5EF4-FFF2-40B4-BE49-F238E27FC236}">
                <a16:creationId xmlns:a16="http://schemas.microsoft.com/office/drawing/2014/main" id="{3DFB4E38-5787-ACF3-CECB-62F119CFDF83}"/>
              </a:ext>
            </a:extLst>
          </p:cNvPr>
          <p:cNvSpPr/>
          <p:nvPr/>
        </p:nvSpPr>
        <p:spPr>
          <a:xfrm>
            <a:off x="625217" y="882930"/>
            <a:ext cx="10950058" cy="1155657"/>
          </a:xfrm>
          <a:prstGeom prst="snipRoundRect">
            <a:avLst>
              <a:gd name="adj1" fmla="val 16667"/>
              <a:gd name="adj2" fmla="val 5000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TextBox 47">
            <a:extLst>
              <a:ext uri="{FF2B5EF4-FFF2-40B4-BE49-F238E27FC236}">
                <a16:creationId xmlns:a16="http://schemas.microsoft.com/office/drawing/2014/main" id="{2CEBA390-B198-CB5D-CB81-37FFFE1F81E5}"/>
              </a:ext>
            </a:extLst>
          </p:cNvPr>
          <p:cNvSpPr txBox="1"/>
          <p:nvPr/>
        </p:nvSpPr>
        <p:spPr>
          <a:xfrm>
            <a:off x="905381" y="976692"/>
            <a:ext cx="10212740" cy="984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enable connected fitness product companies to design, sustain, and innovate Android-based equipment consoles, embedded platforms, and intelligent fitness experiences through integrated hardware, software, AI, and cloud engineering.</a:t>
            </a:r>
          </a:p>
          <a:p>
            <a:pPr marL="171450" indent="-171450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existing product sustenance to next-generation fitness innovation, Innominds helps accelerate feature development, improve device intelligence, and enable data-driven fitness ecosystems across connected equipment platforms.</a:t>
            </a:r>
            <a:endParaRPr lang="en-IN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6B59E147-7FC9-0613-9725-6C18E4AF142C}"/>
              </a:ext>
            </a:extLst>
          </p:cNvPr>
          <p:cNvSpPr txBox="1"/>
          <p:nvPr/>
        </p:nvSpPr>
        <p:spPr>
          <a:xfrm>
            <a:off x="391684" y="2212410"/>
            <a:ext cx="4071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Connected Fitness Engineering Lifecycle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6CF3D5-3AD0-885E-BB6E-60EBAEEA255F}"/>
              </a:ext>
            </a:extLst>
          </p:cNvPr>
          <p:cNvGrpSpPr/>
          <p:nvPr/>
        </p:nvGrpSpPr>
        <p:grpSpPr>
          <a:xfrm>
            <a:off x="559131" y="2707979"/>
            <a:ext cx="11338778" cy="3298784"/>
            <a:chOff x="536643" y="1793052"/>
            <a:chExt cx="14119212" cy="410769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99B9C33-8979-6F55-37C8-CE24826028AA}"/>
                </a:ext>
              </a:extLst>
            </p:cNvPr>
            <p:cNvGrpSpPr/>
            <p:nvPr/>
          </p:nvGrpSpPr>
          <p:grpSpPr>
            <a:xfrm>
              <a:off x="536643" y="1793052"/>
              <a:ext cx="2817942" cy="4107695"/>
              <a:chOff x="2279877" y="797141"/>
              <a:chExt cx="2817942" cy="4107695"/>
            </a:xfrm>
          </p:grpSpPr>
          <p:pic>
            <p:nvPicPr>
              <p:cNvPr id="5" name="Graphic 3">
                <a:extLst>
                  <a:ext uri="{FF2B5EF4-FFF2-40B4-BE49-F238E27FC236}">
                    <a16:creationId xmlns:a16="http://schemas.microsoft.com/office/drawing/2014/main" id="{EBDC0AA9-C4AF-58AB-551E-ABFAFE244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79877" y="1253542"/>
                <a:ext cx="2687312" cy="2429871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19E2123-9FFB-C069-9408-45DF1A265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6509" r="16509"/>
              <a:stretch/>
            </p:blipFill>
            <p:spPr>
              <a:xfrm>
                <a:off x="2648615" y="797141"/>
                <a:ext cx="1155658" cy="115565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25400">
                <a:solidFill>
                  <a:schemeClr val="bg1"/>
                </a:solidFill>
              </a:ln>
              <a:effectLst/>
            </p:spPr>
          </p:pic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6BF9E3C8-E4DC-193B-1685-D9CE3627E3E4}"/>
                  </a:ext>
                </a:extLst>
              </p:cNvPr>
              <p:cNvSpPr txBox="1"/>
              <p:nvPr/>
            </p:nvSpPr>
            <p:spPr>
              <a:xfrm>
                <a:off x="2653959" y="2502653"/>
                <a:ext cx="2182600" cy="84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Sustain &amp; Optimize</a:t>
                </a:r>
              </a:p>
              <a:p>
                <a:pPr algn="ctr"/>
                <a:r>
                  <a:rPr lang="en-GB" sz="12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(Android Platform Engineering)</a:t>
                </a:r>
              </a:p>
            </p:txBody>
          </p:sp>
          <p:sp>
            <p:nvSpPr>
              <p:cNvPr id="8" name="TextBox 47">
                <a:extLst>
                  <a:ext uri="{FF2B5EF4-FFF2-40B4-BE49-F238E27FC236}">
                    <a16:creationId xmlns:a16="http://schemas.microsoft.com/office/drawing/2014/main" id="{5B26335C-B299-C4EA-B94F-2C50EF529319}"/>
                  </a:ext>
                </a:extLst>
              </p:cNvPr>
              <p:cNvSpPr txBox="1"/>
              <p:nvPr/>
            </p:nvSpPr>
            <p:spPr>
              <a:xfrm>
                <a:off x="2410508" y="3812229"/>
                <a:ext cx="2687311" cy="109260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Android OS optimization, upgrades, and performance tuning</a:t>
                </a:r>
              </a:p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Platform stability, testing automation, and OTA lifecycle support</a:t>
                </a:r>
                <a:endParaRPr lang="en-IN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FE0703-8375-04F6-C493-6D733BC4DCC4}"/>
                </a:ext>
              </a:extLst>
            </p:cNvPr>
            <p:cNvGrpSpPr/>
            <p:nvPr/>
          </p:nvGrpSpPr>
          <p:grpSpPr>
            <a:xfrm>
              <a:off x="3356043" y="1793052"/>
              <a:ext cx="2687312" cy="3923029"/>
              <a:chOff x="2279877" y="797141"/>
              <a:chExt cx="2687312" cy="3923029"/>
            </a:xfrm>
          </p:grpSpPr>
          <p:pic>
            <p:nvPicPr>
              <p:cNvPr id="10" name="Graphic 8">
                <a:extLst>
                  <a:ext uri="{FF2B5EF4-FFF2-40B4-BE49-F238E27FC236}">
                    <a16:creationId xmlns:a16="http://schemas.microsoft.com/office/drawing/2014/main" id="{2B8B1E3F-DE5E-EDC1-6D25-0CA5D0D5BC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79877" y="1253542"/>
                <a:ext cx="2687311" cy="2429872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11AFE9E-81C3-2742-815A-216B1E91F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4070" r="14070"/>
              <a:stretch/>
            </p:blipFill>
            <p:spPr>
              <a:xfrm>
                <a:off x="2648615" y="797141"/>
                <a:ext cx="1155658" cy="115565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25400">
                <a:solidFill>
                  <a:schemeClr val="bg1"/>
                </a:solidFill>
              </a:ln>
              <a:effectLst/>
            </p:spPr>
          </p:pic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8F750116-8590-3659-AC12-7D23D27DFE37}"/>
                  </a:ext>
                </a:extLst>
              </p:cNvPr>
              <p:cNvSpPr txBox="1"/>
              <p:nvPr/>
            </p:nvSpPr>
            <p:spPr>
              <a:xfrm>
                <a:off x="2679244" y="2502654"/>
                <a:ext cx="2112523" cy="852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Prototype &amp; Validate</a:t>
                </a:r>
              </a:p>
              <a:p>
                <a:pPr algn="ctr"/>
                <a:r>
                  <a:rPr lang="en-GB" sz="105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(POC Engineering)</a:t>
                </a:r>
              </a:p>
            </p:txBody>
          </p:sp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5DC793FB-D348-3E0E-FCA1-D04A86974BD6}"/>
                  </a:ext>
                </a:extLst>
              </p:cNvPr>
              <p:cNvSpPr txBox="1"/>
              <p:nvPr/>
            </p:nvSpPr>
            <p:spPr>
              <a:xfrm>
                <a:off x="2410509" y="3812229"/>
                <a:ext cx="2556680" cy="9079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Rapid POC development for new device capabilities</a:t>
                </a:r>
              </a:p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Feature validation, feasibility testing, and device integration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7630B7-E956-5C99-3C37-009C9CDD6FD8}"/>
                </a:ext>
              </a:extLst>
            </p:cNvPr>
            <p:cNvGrpSpPr/>
            <p:nvPr/>
          </p:nvGrpSpPr>
          <p:grpSpPr>
            <a:xfrm>
              <a:off x="6175443" y="1793052"/>
              <a:ext cx="2817942" cy="3923029"/>
              <a:chOff x="2279877" y="797141"/>
              <a:chExt cx="2817942" cy="3923029"/>
            </a:xfrm>
          </p:grpSpPr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3DD5492-C921-8C88-6474-C8ACB7A1CD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79877" y="1253542"/>
                <a:ext cx="2687311" cy="242987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BDEA229-EB0E-4A99-E445-4FE3E5201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6881" r="6881"/>
              <a:stretch/>
            </p:blipFill>
            <p:spPr>
              <a:xfrm>
                <a:off x="2648615" y="797141"/>
                <a:ext cx="1155658" cy="115565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25400">
                <a:solidFill>
                  <a:schemeClr val="bg1"/>
                </a:solidFill>
              </a:ln>
              <a:effectLst/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8E5E74-2F3E-20E2-FFB8-24F0EDBCCEF1}"/>
                  </a:ext>
                </a:extLst>
              </p:cNvPr>
              <p:cNvSpPr txBox="1"/>
              <p:nvPr/>
            </p:nvSpPr>
            <p:spPr>
              <a:xfrm>
                <a:off x="2562872" y="2502654"/>
                <a:ext cx="2347642" cy="852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Intelligent Fitness Experiences</a:t>
                </a:r>
              </a:p>
              <a:p>
                <a:pPr algn="ctr"/>
                <a:r>
                  <a:rPr lang="en-GB" sz="105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(Edge AI &amp; Personalization)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6C38E9-EEE2-74C2-5807-41786329109F}"/>
                  </a:ext>
                </a:extLst>
              </p:cNvPr>
              <p:cNvSpPr txBox="1"/>
              <p:nvPr/>
            </p:nvSpPr>
            <p:spPr>
              <a:xfrm>
                <a:off x="2410508" y="3812229"/>
                <a:ext cx="2687311" cy="9079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Edge AI for workout analysis and activity recognition</a:t>
                </a:r>
              </a:p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Personalized coaching with real-time performance insights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4862CFD-6A64-C0EC-8913-9A7A1213C453}"/>
                </a:ext>
              </a:extLst>
            </p:cNvPr>
            <p:cNvGrpSpPr/>
            <p:nvPr/>
          </p:nvGrpSpPr>
          <p:grpSpPr>
            <a:xfrm>
              <a:off x="8994843" y="1793052"/>
              <a:ext cx="2817942" cy="3923029"/>
              <a:chOff x="2279877" y="797141"/>
              <a:chExt cx="2817942" cy="3923029"/>
            </a:xfrm>
          </p:grpSpPr>
          <p:pic>
            <p:nvPicPr>
              <p:cNvPr id="20" name="Graphic 18">
                <a:extLst>
                  <a:ext uri="{FF2B5EF4-FFF2-40B4-BE49-F238E27FC236}">
                    <a16:creationId xmlns:a16="http://schemas.microsoft.com/office/drawing/2014/main" id="{256E0547-DBAB-7053-F673-E5E3CED266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79877" y="1253542"/>
                <a:ext cx="2687312" cy="242987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162527B-AA1E-979F-9865-4F0D6C5C7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709" r="1709"/>
              <a:stretch/>
            </p:blipFill>
            <p:spPr>
              <a:xfrm>
                <a:off x="2648615" y="797141"/>
                <a:ext cx="1155658" cy="115565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25400">
                <a:solidFill>
                  <a:schemeClr val="bg1"/>
                </a:solidFill>
              </a:ln>
              <a:effectLst/>
            </p:spPr>
          </p:pic>
          <p:sp>
            <p:nvSpPr>
              <p:cNvPr id="22" name="TextBox 20">
                <a:extLst>
                  <a:ext uri="{FF2B5EF4-FFF2-40B4-BE49-F238E27FC236}">
                    <a16:creationId xmlns:a16="http://schemas.microsoft.com/office/drawing/2014/main" id="{AA520FA9-0494-7713-7D4C-1DBFB414D029}"/>
                  </a:ext>
                </a:extLst>
              </p:cNvPr>
              <p:cNvSpPr txBox="1"/>
              <p:nvPr/>
            </p:nvSpPr>
            <p:spPr>
              <a:xfrm>
                <a:off x="2577532" y="2502654"/>
                <a:ext cx="2323650" cy="84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Connected Data &amp; Insights</a:t>
                </a:r>
              </a:p>
              <a:p>
                <a:pPr algn="ctr"/>
                <a:r>
                  <a:rPr lang="en-GB" sz="10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(Cloud, Data &amp; AI Platforms)</a:t>
                </a:r>
              </a:p>
            </p:txBody>
          </p:sp>
          <p:sp>
            <p:nvSpPr>
              <p:cNvPr id="23" name="TextBox 21">
                <a:extLst>
                  <a:ext uri="{FF2B5EF4-FFF2-40B4-BE49-F238E27FC236}">
                    <a16:creationId xmlns:a16="http://schemas.microsoft.com/office/drawing/2014/main" id="{F9532335-7E44-31D3-D1C1-2BE357EDB0E5}"/>
                  </a:ext>
                </a:extLst>
              </p:cNvPr>
              <p:cNvSpPr txBox="1"/>
              <p:nvPr/>
            </p:nvSpPr>
            <p:spPr>
              <a:xfrm>
                <a:off x="2410508" y="3812229"/>
                <a:ext cx="2687311" cy="9079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Cloud telemetry and fitness data collection</a:t>
                </a:r>
              </a:p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Analytics dashboards and AI-driven equipment insights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96839-63C6-7E58-5224-9F7BFCF071AD}"/>
                </a:ext>
              </a:extLst>
            </p:cNvPr>
            <p:cNvGrpSpPr/>
            <p:nvPr/>
          </p:nvGrpSpPr>
          <p:grpSpPr>
            <a:xfrm>
              <a:off x="11837913" y="1793800"/>
              <a:ext cx="2817942" cy="3923029"/>
              <a:chOff x="2180865" y="797141"/>
              <a:chExt cx="2817942" cy="3923029"/>
            </a:xfrm>
          </p:grpSpPr>
          <p:pic>
            <p:nvPicPr>
              <p:cNvPr id="28" name="Graphic 18">
                <a:extLst>
                  <a:ext uri="{FF2B5EF4-FFF2-40B4-BE49-F238E27FC236}">
                    <a16:creationId xmlns:a16="http://schemas.microsoft.com/office/drawing/2014/main" id="{560298C5-BB31-A7FE-C2C7-A31DBA225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80865" y="1253542"/>
                <a:ext cx="2687312" cy="2429872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B8D7144E-38FE-2CBE-7483-2D455A678C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15000" r="15000"/>
              <a:stretch/>
            </p:blipFill>
            <p:spPr>
              <a:xfrm>
                <a:off x="2549603" y="797141"/>
                <a:ext cx="1155658" cy="115565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 w="25400">
                <a:solidFill>
                  <a:schemeClr val="bg1"/>
                </a:solidFill>
              </a:ln>
              <a:effectLst/>
            </p:spPr>
          </p:pic>
          <p:sp>
            <p:nvSpPr>
              <p:cNvPr id="30" name="TextBox 20">
                <a:extLst>
                  <a:ext uri="{FF2B5EF4-FFF2-40B4-BE49-F238E27FC236}">
                    <a16:creationId xmlns:a16="http://schemas.microsoft.com/office/drawing/2014/main" id="{E979A4DD-1E19-7BF3-BA2D-B1620624EE63}"/>
                  </a:ext>
                </a:extLst>
              </p:cNvPr>
              <p:cNvSpPr txBox="1"/>
              <p:nvPr/>
            </p:nvSpPr>
            <p:spPr>
              <a:xfrm>
                <a:off x="2706796" y="2501905"/>
                <a:ext cx="1831913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Flexible Engineering Engagement</a:t>
                </a:r>
              </a:p>
            </p:txBody>
          </p:sp>
          <p:sp>
            <p:nvSpPr>
              <p:cNvPr id="31" name="TextBox 21">
                <a:extLst>
                  <a:ext uri="{FF2B5EF4-FFF2-40B4-BE49-F238E27FC236}">
                    <a16:creationId xmlns:a16="http://schemas.microsoft.com/office/drawing/2014/main" id="{23BC4032-04BF-063D-BCDF-C0737A3348E7}"/>
                  </a:ext>
                </a:extLst>
              </p:cNvPr>
              <p:cNvSpPr txBox="1"/>
              <p:nvPr/>
            </p:nvSpPr>
            <p:spPr>
              <a:xfrm>
                <a:off x="2311496" y="3812229"/>
                <a:ext cx="2687311" cy="9079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Dedicated cross-domain engineering PODs</a:t>
                </a:r>
              </a:p>
              <a:p>
                <a:pPr marL="171450" indent="-171450">
                  <a:spcBef>
                    <a:spcPts val="600"/>
                  </a:spcBef>
                  <a:buClr>
                    <a:srgbClr val="0070C0"/>
                  </a:buClr>
                  <a:buFont typeface="Wingdings" panose="05000000000000000000" pitchFamily="2" charset="2"/>
                  <a:buChar char="Ø"/>
                </a:pPr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Scalable offshore delivery for ongoing and new initiatives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776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0306-45F9-967B-3338-FAF5E29A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Innominds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A8DFC0-2AA1-42BA-3D6B-36A9190F2156}"/>
              </a:ext>
            </a:extLst>
          </p:cNvPr>
          <p:cNvGrpSpPr/>
          <p:nvPr/>
        </p:nvGrpSpPr>
        <p:grpSpPr>
          <a:xfrm>
            <a:off x="478971" y="750360"/>
            <a:ext cx="11431623" cy="1620951"/>
            <a:chOff x="478971" y="670350"/>
            <a:chExt cx="11431623" cy="162095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2673624-D8AF-4741-ED13-E0CEA1E2AA87}"/>
                </a:ext>
              </a:extLst>
            </p:cNvPr>
            <p:cNvGrpSpPr/>
            <p:nvPr/>
          </p:nvGrpSpPr>
          <p:grpSpPr>
            <a:xfrm>
              <a:off x="9941230" y="1032657"/>
              <a:ext cx="1969364" cy="1040274"/>
              <a:chOff x="9931605" y="1032657"/>
              <a:chExt cx="1969364" cy="1040274"/>
            </a:xfrm>
          </p:grpSpPr>
          <p:sp>
            <p:nvSpPr>
              <p:cNvPr id="49" name="Rectangle: Top Corners Rounded 48">
                <a:extLst>
                  <a:ext uri="{FF2B5EF4-FFF2-40B4-BE49-F238E27FC236}">
                    <a16:creationId xmlns:a16="http://schemas.microsoft.com/office/drawing/2014/main" id="{A30F539E-4E0F-9965-FE35-A150EAE0571D}"/>
                  </a:ext>
                </a:extLst>
              </p:cNvPr>
              <p:cNvSpPr/>
              <p:nvPr/>
            </p:nvSpPr>
            <p:spPr>
              <a:xfrm flipV="1">
                <a:off x="9931605" y="1032657"/>
                <a:ext cx="1936343" cy="1040274"/>
              </a:xfrm>
              <a:prstGeom prst="round2SameRect">
                <a:avLst>
                  <a:gd name="adj1" fmla="val 13542"/>
                  <a:gd name="adj2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  <a:effectLst>
                <a:outerShdw dist="50800" dir="16200000" algn="t" rotWithShape="0">
                  <a:srgbClr val="00B0F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EA99920-FAA9-00DD-BC97-CDF524B85F08}"/>
                  </a:ext>
                </a:extLst>
              </p:cNvPr>
              <p:cNvSpPr txBox="1"/>
              <p:nvPr/>
            </p:nvSpPr>
            <p:spPr>
              <a:xfrm>
                <a:off x="9931605" y="1098310"/>
                <a:ext cx="1969364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Innominds:</a:t>
                </a:r>
              </a:p>
              <a:p>
                <a:pPr algn="ctr"/>
                <a:r>
                  <a:rPr lang="en-US" sz="1200" b="1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Delivering Value Across Connected Device and Platform Engineering</a:t>
                </a:r>
              </a:p>
            </p:txBody>
          </p:sp>
        </p:grp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ADC05EAF-4DCE-70FD-675B-C4F34940B082}"/>
                </a:ext>
              </a:extLst>
            </p:cNvPr>
            <p:cNvSpPr/>
            <p:nvPr/>
          </p:nvSpPr>
          <p:spPr>
            <a:xfrm>
              <a:off x="478971" y="670350"/>
              <a:ext cx="9462259" cy="1620951"/>
            </a:xfrm>
            <a:prstGeom prst="round2SameRect">
              <a:avLst>
                <a:gd name="adj1" fmla="val 13542"/>
                <a:gd name="adj2" fmla="val 0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dir="5400000" algn="t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C19BD75-92BD-0599-8452-A9D3A44A7351}"/>
                </a:ext>
              </a:extLst>
            </p:cNvPr>
            <p:cNvSpPr txBox="1"/>
            <p:nvPr/>
          </p:nvSpPr>
          <p:spPr>
            <a:xfrm>
              <a:off x="631872" y="789979"/>
              <a:ext cx="9260890" cy="1426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800"/>
                </a:spcAft>
                <a:buBlip>
                  <a:blip r:embed="rId2"/>
                </a:buBlip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End-to-end engineering expertise across hardware, embedded systems, Android platforms, Edge AI, and cloud-connected devices.</a:t>
              </a:r>
            </a:p>
            <a:p>
              <a:pPr marL="285750" indent="-285750">
                <a:spcAft>
                  <a:spcPts val="800"/>
                </a:spcAft>
                <a:buBlip>
                  <a:blip r:embed="rId2"/>
                </a:buBlip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Strong experience in Android-based device platforms, including tablets, kiosks, and touchscreen console systems.</a:t>
              </a:r>
            </a:p>
            <a:p>
              <a:pPr marL="285750" indent="-285750">
                <a:spcAft>
                  <a:spcPts val="800"/>
                </a:spcAft>
                <a:buBlip>
                  <a:blip r:embed="rId2"/>
                </a:buBlip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Proven capabilities in sensor integration, device connectivity, and real-time data processing.</a:t>
              </a:r>
            </a:p>
            <a:p>
              <a:pPr marL="285750" indent="-285750">
                <a:spcAft>
                  <a:spcPts val="800"/>
                </a:spcAft>
                <a:buBlip>
                  <a:blip r:embed="rId2"/>
                </a:buBlip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Expertise in Edge AI enablement for intelligent device experiences and personalization.</a:t>
              </a:r>
            </a:p>
            <a:p>
              <a:pPr marL="285750" indent="-285750">
                <a:spcAft>
                  <a:spcPts val="800"/>
                </a:spcAft>
                <a:buBlip>
                  <a:blip r:embed="rId2"/>
                </a:buBlip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Ability to support the full product lifecycle from PoC and engineering to production and sustaining support.</a:t>
              </a:r>
            </a:p>
          </p:txBody>
        </p:sp>
      </p:grp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D478BA1-6296-3E83-08B5-15F8589657C8}"/>
              </a:ext>
            </a:extLst>
          </p:cNvPr>
          <p:cNvSpPr/>
          <p:nvPr/>
        </p:nvSpPr>
        <p:spPr>
          <a:xfrm>
            <a:off x="239485" y="4780421"/>
            <a:ext cx="2937640" cy="1484159"/>
          </a:xfrm>
          <a:custGeom>
            <a:avLst/>
            <a:gdLst>
              <a:gd name="connsiteX0" fmla="*/ 2038433 w 2265213"/>
              <a:gd name="connsiteY0" fmla="*/ 226781 h 1084554"/>
              <a:gd name="connsiteX1" fmla="*/ 264041 w 2265213"/>
              <a:gd name="connsiteY1" fmla="*/ 307032 h 1084554"/>
              <a:gd name="connsiteX2" fmla="*/ 0 w 2265213"/>
              <a:gd name="connsiteY2" fmla="*/ 42902 h 1084554"/>
              <a:gd name="connsiteX3" fmla="*/ 0 w 2265213"/>
              <a:gd name="connsiteY3" fmla="*/ 898974 h 1084554"/>
              <a:gd name="connsiteX4" fmla="*/ 185581 w 2265213"/>
              <a:gd name="connsiteY4" fmla="*/ 1084555 h 1084554"/>
              <a:gd name="connsiteX5" fmla="*/ 2079633 w 2265213"/>
              <a:gd name="connsiteY5" fmla="*/ 1084555 h 1084554"/>
              <a:gd name="connsiteX6" fmla="*/ 2265214 w 2265213"/>
              <a:gd name="connsiteY6" fmla="*/ 898974 h 1084554"/>
              <a:gd name="connsiteX7" fmla="*/ 2265214 w 2265213"/>
              <a:gd name="connsiteY7" fmla="*/ 0 h 1084554"/>
              <a:gd name="connsiteX8" fmla="*/ 2038433 w 2265213"/>
              <a:gd name="connsiteY8" fmla="*/ 226781 h 108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5213" h="1084554">
                <a:moveTo>
                  <a:pt x="2038433" y="226781"/>
                </a:moveTo>
                <a:lnTo>
                  <a:pt x="264041" y="307032"/>
                </a:lnTo>
                <a:lnTo>
                  <a:pt x="0" y="42902"/>
                </a:lnTo>
                <a:lnTo>
                  <a:pt x="0" y="898974"/>
                </a:lnTo>
                <a:cubicBezTo>
                  <a:pt x="0" y="1001437"/>
                  <a:pt x="83117" y="1084555"/>
                  <a:pt x="185581" y="1084555"/>
                </a:cubicBezTo>
                <a:lnTo>
                  <a:pt x="2079633" y="1084555"/>
                </a:lnTo>
                <a:cubicBezTo>
                  <a:pt x="2182097" y="1084555"/>
                  <a:pt x="2265214" y="1001437"/>
                  <a:pt x="2265214" y="898974"/>
                </a:cubicBezTo>
                <a:lnTo>
                  <a:pt x="2265214" y="0"/>
                </a:lnTo>
                <a:lnTo>
                  <a:pt x="2038433" y="226781"/>
                </a:lnTo>
                <a:close/>
              </a:path>
            </a:pathLst>
          </a:custGeom>
          <a:solidFill>
            <a:srgbClr val="00B0F0"/>
          </a:solidFill>
          <a:ln w="89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CED189C-DDD3-9922-67BF-5E4DDCC6FADD}"/>
              </a:ext>
            </a:extLst>
          </p:cNvPr>
          <p:cNvSpPr/>
          <p:nvPr/>
        </p:nvSpPr>
        <p:spPr>
          <a:xfrm>
            <a:off x="424634" y="3696433"/>
            <a:ext cx="2567343" cy="2506122"/>
          </a:xfrm>
          <a:custGeom>
            <a:avLst/>
            <a:gdLst>
              <a:gd name="connsiteX0" fmla="*/ 1827594 w 1979677"/>
              <a:gd name="connsiteY0" fmla="*/ 0 h 1979677"/>
              <a:gd name="connsiteX1" fmla="*/ 1979677 w 1979677"/>
              <a:gd name="connsiteY1" fmla="*/ 152083 h 1979677"/>
              <a:gd name="connsiteX2" fmla="*/ 1979677 w 1979677"/>
              <a:gd name="connsiteY2" fmla="*/ 1827594 h 1979677"/>
              <a:gd name="connsiteX3" fmla="*/ 1827594 w 1979677"/>
              <a:gd name="connsiteY3" fmla="*/ 1979677 h 1979677"/>
              <a:gd name="connsiteX4" fmla="*/ 152083 w 1979677"/>
              <a:gd name="connsiteY4" fmla="*/ 1979677 h 1979677"/>
              <a:gd name="connsiteX5" fmla="*/ 0 w 1979677"/>
              <a:gd name="connsiteY5" fmla="*/ 1827594 h 1979677"/>
              <a:gd name="connsiteX6" fmla="*/ 0 w 1979677"/>
              <a:gd name="connsiteY6" fmla="*/ 152083 h 1979677"/>
              <a:gd name="connsiteX7" fmla="*/ 152083 w 1979677"/>
              <a:gd name="connsiteY7" fmla="*/ 0 h 197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79677" h="1979677">
                <a:moveTo>
                  <a:pt x="1827594" y="0"/>
                </a:moveTo>
                <a:cubicBezTo>
                  <a:pt x="1911588" y="0"/>
                  <a:pt x="1979677" y="68090"/>
                  <a:pt x="1979677" y="152083"/>
                </a:cubicBezTo>
                <a:lnTo>
                  <a:pt x="1979677" y="1827594"/>
                </a:lnTo>
                <a:cubicBezTo>
                  <a:pt x="1979677" y="1911587"/>
                  <a:pt x="1911588" y="1979677"/>
                  <a:pt x="1827594" y="1979677"/>
                </a:cubicBezTo>
                <a:lnTo>
                  <a:pt x="152083" y="1979677"/>
                </a:lnTo>
                <a:cubicBezTo>
                  <a:pt x="68090" y="1979677"/>
                  <a:pt x="0" y="1911587"/>
                  <a:pt x="0" y="1827594"/>
                </a:cubicBezTo>
                <a:lnTo>
                  <a:pt x="0" y="152083"/>
                </a:lnTo>
                <a:cubicBezTo>
                  <a:pt x="0" y="68090"/>
                  <a:pt x="68090" y="0"/>
                  <a:pt x="152083" y="0"/>
                </a:cubicBezTo>
                <a:close/>
              </a:path>
            </a:pathLst>
          </a:custGeom>
          <a:solidFill>
            <a:srgbClr val="FFFFFF"/>
          </a:solidFill>
          <a:ln w="8952" cap="flat">
            <a:solidFill>
              <a:srgbClr val="4EA6E6"/>
            </a:solidFill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4F9BDDE-D228-1A0A-AA5B-AC834F6255D6}"/>
              </a:ext>
            </a:extLst>
          </p:cNvPr>
          <p:cNvSpPr/>
          <p:nvPr/>
        </p:nvSpPr>
        <p:spPr>
          <a:xfrm>
            <a:off x="3177010" y="3696433"/>
            <a:ext cx="2937640" cy="1142696"/>
          </a:xfrm>
          <a:custGeom>
            <a:avLst/>
            <a:gdLst>
              <a:gd name="connsiteX0" fmla="*/ 226781 w 2265213"/>
              <a:gd name="connsiteY0" fmla="*/ 816752 h 1080792"/>
              <a:gd name="connsiteX1" fmla="*/ 2001173 w 2265213"/>
              <a:gd name="connsiteY1" fmla="*/ 816752 h 1080792"/>
              <a:gd name="connsiteX2" fmla="*/ 2265214 w 2265213"/>
              <a:gd name="connsiteY2" fmla="*/ 1080793 h 1080792"/>
              <a:gd name="connsiteX3" fmla="*/ 2265214 w 2265213"/>
              <a:gd name="connsiteY3" fmla="*/ 185581 h 1080792"/>
              <a:gd name="connsiteX4" fmla="*/ 2079633 w 2265213"/>
              <a:gd name="connsiteY4" fmla="*/ 0 h 1080792"/>
              <a:gd name="connsiteX5" fmla="*/ 185581 w 2265213"/>
              <a:gd name="connsiteY5" fmla="*/ 0 h 1080792"/>
              <a:gd name="connsiteX6" fmla="*/ 0 w 2265213"/>
              <a:gd name="connsiteY6" fmla="*/ 185581 h 1080792"/>
              <a:gd name="connsiteX7" fmla="*/ 0 w 2265213"/>
              <a:gd name="connsiteY7" fmla="*/ 1043444 h 1080792"/>
              <a:gd name="connsiteX8" fmla="*/ 226781 w 2265213"/>
              <a:gd name="connsiteY8" fmla="*/ 816663 h 1080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5213" h="1080792">
                <a:moveTo>
                  <a:pt x="226781" y="816752"/>
                </a:moveTo>
                <a:lnTo>
                  <a:pt x="2001173" y="816752"/>
                </a:lnTo>
                <a:lnTo>
                  <a:pt x="2265214" y="1080793"/>
                </a:lnTo>
                <a:lnTo>
                  <a:pt x="2265214" y="185581"/>
                </a:lnTo>
                <a:cubicBezTo>
                  <a:pt x="2265214" y="83117"/>
                  <a:pt x="2182097" y="0"/>
                  <a:pt x="2079633" y="0"/>
                </a:cubicBezTo>
                <a:lnTo>
                  <a:pt x="185581" y="0"/>
                </a:lnTo>
                <a:cubicBezTo>
                  <a:pt x="83117" y="0"/>
                  <a:pt x="0" y="83117"/>
                  <a:pt x="0" y="185581"/>
                </a:cubicBezTo>
                <a:lnTo>
                  <a:pt x="0" y="1043444"/>
                </a:lnTo>
                <a:lnTo>
                  <a:pt x="226781" y="816663"/>
                </a:lnTo>
                <a:close/>
              </a:path>
            </a:pathLst>
          </a:custGeom>
          <a:solidFill>
            <a:srgbClr val="0070C0"/>
          </a:solidFill>
          <a:ln w="89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A3CA7C1-F0F0-58D2-67DA-21EA91D78BC7}"/>
              </a:ext>
            </a:extLst>
          </p:cNvPr>
          <p:cNvSpPr/>
          <p:nvPr/>
        </p:nvSpPr>
        <p:spPr>
          <a:xfrm rot="10800000">
            <a:off x="3362273" y="3775040"/>
            <a:ext cx="2567343" cy="2489539"/>
          </a:xfrm>
          <a:custGeom>
            <a:avLst/>
            <a:gdLst>
              <a:gd name="connsiteX0" fmla="*/ 1827594 w 1979677"/>
              <a:gd name="connsiteY0" fmla="*/ 0 h 1979677"/>
              <a:gd name="connsiteX1" fmla="*/ 1979678 w 1979677"/>
              <a:gd name="connsiteY1" fmla="*/ 152083 h 1979677"/>
              <a:gd name="connsiteX2" fmla="*/ 1979678 w 1979677"/>
              <a:gd name="connsiteY2" fmla="*/ 1827594 h 1979677"/>
              <a:gd name="connsiteX3" fmla="*/ 1827594 w 1979677"/>
              <a:gd name="connsiteY3" fmla="*/ 1979677 h 1979677"/>
              <a:gd name="connsiteX4" fmla="*/ 152083 w 1979677"/>
              <a:gd name="connsiteY4" fmla="*/ 1979677 h 1979677"/>
              <a:gd name="connsiteX5" fmla="*/ 0 w 1979677"/>
              <a:gd name="connsiteY5" fmla="*/ 1827594 h 1979677"/>
              <a:gd name="connsiteX6" fmla="*/ 0 w 1979677"/>
              <a:gd name="connsiteY6" fmla="*/ 152083 h 1979677"/>
              <a:gd name="connsiteX7" fmla="*/ 152083 w 1979677"/>
              <a:gd name="connsiteY7" fmla="*/ 0 h 197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79677" h="1979677">
                <a:moveTo>
                  <a:pt x="1827594" y="0"/>
                </a:moveTo>
                <a:cubicBezTo>
                  <a:pt x="1911588" y="0"/>
                  <a:pt x="1979678" y="68090"/>
                  <a:pt x="1979678" y="152083"/>
                </a:cubicBezTo>
                <a:lnTo>
                  <a:pt x="1979678" y="1827594"/>
                </a:lnTo>
                <a:cubicBezTo>
                  <a:pt x="1979678" y="1911588"/>
                  <a:pt x="1911588" y="1979677"/>
                  <a:pt x="1827594" y="1979677"/>
                </a:cubicBezTo>
                <a:lnTo>
                  <a:pt x="152083" y="1979677"/>
                </a:lnTo>
                <a:cubicBezTo>
                  <a:pt x="68090" y="1979677"/>
                  <a:pt x="0" y="1911588"/>
                  <a:pt x="0" y="1827594"/>
                </a:cubicBezTo>
                <a:lnTo>
                  <a:pt x="0" y="152083"/>
                </a:lnTo>
                <a:cubicBezTo>
                  <a:pt x="0" y="68090"/>
                  <a:pt x="68090" y="0"/>
                  <a:pt x="152083" y="0"/>
                </a:cubicBezTo>
                <a:close/>
              </a:path>
            </a:pathLst>
          </a:custGeom>
          <a:solidFill>
            <a:srgbClr val="FFFFFF"/>
          </a:solidFill>
          <a:ln w="8952" cap="flat">
            <a:solidFill>
              <a:srgbClr val="1F69B3"/>
            </a:solidFill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019F4BE-7C4B-0436-66E2-BE454C3CA1C5}"/>
              </a:ext>
            </a:extLst>
          </p:cNvPr>
          <p:cNvSpPr/>
          <p:nvPr/>
        </p:nvSpPr>
        <p:spPr>
          <a:xfrm>
            <a:off x="6110005" y="4780543"/>
            <a:ext cx="2937640" cy="1484159"/>
          </a:xfrm>
          <a:custGeom>
            <a:avLst/>
            <a:gdLst>
              <a:gd name="connsiteX0" fmla="*/ 2038433 w 2265213"/>
              <a:gd name="connsiteY0" fmla="*/ 226692 h 1084554"/>
              <a:gd name="connsiteX1" fmla="*/ 264041 w 2265213"/>
              <a:gd name="connsiteY1" fmla="*/ 306943 h 1084554"/>
              <a:gd name="connsiteX2" fmla="*/ 0 w 2265213"/>
              <a:gd name="connsiteY2" fmla="*/ 42902 h 1084554"/>
              <a:gd name="connsiteX3" fmla="*/ 0 w 2265213"/>
              <a:gd name="connsiteY3" fmla="*/ 898974 h 1084554"/>
              <a:gd name="connsiteX4" fmla="*/ 185581 w 2265213"/>
              <a:gd name="connsiteY4" fmla="*/ 1084555 h 1084554"/>
              <a:gd name="connsiteX5" fmla="*/ 2079633 w 2265213"/>
              <a:gd name="connsiteY5" fmla="*/ 1084555 h 1084554"/>
              <a:gd name="connsiteX6" fmla="*/ 2265214 w 2265213"/>
              <a:gd name="connsiteY6" fmla="*/ 898974 h 1084554"/>
              <a:gd name="connsiteX7" fmla="*/ 2265214 w 2265213"/>
              <a:gd name="connsiteY7" fmla="*/ 0 h 1084554"/>
              <a:gd name="connsiteX8" fmla="*/ 2038433 w 2265213"/>
              <a:gd name="connsiteY8" fmla="*/ 226781 h 108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5213" h="1084554">
                <a:moveTo>
                  <a:pt x="2038433" y="226692"/>
                </a:moveTo>
                <a:lnTo>
                  <a:pt x="264041" y="306943"/>
                </a:lnTo>
                <a:lnTo>
                  <a:pt x="0" y="42902"/>
                </a:lnTo>
                <a:lnTo>
                  <a:pt x="0" y="898974"/>
                </a:lnTo>
                <a:cubicBezTo>
                  <a:pt x="0" y="1001438"/>
                  <a:pt x="83117" y="1084555"/>
                  <a:pt x="185581" y="1084555"/>
                </a:cubicBezTo>
                <a:lnTo>
                  <a:pt x="2079633" y="1084555"/>
                </a:lnTo>
                <a:cubicBezTo>
                  <a:pt x="2182096" y="1084555"/>
                  <a:pt x="2265214" y="1001438"/>
                  <a:pt x="2265214" y="898974"/>
                </a:cubicBezTo>
                <a:lnTo>
                  <a:pt x="2265214" y="0"/>
                </a:lnTo>
                <a:lnTo>
                  <a:pt x="2038433" y="226781"/>
                </a:lnTo>
                <a:close/>
              </a:path>
            </a:pathLst>
          </a:custGeom>
          <a:solidFill>
            <a:srgbClr val="00B0F0"/>
          </a:solidFill>
          <a:ln w="89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6554735-DEA1-AEC5-8F32-B945F826AD12}"/>
              </a:ext>
            </a:extLst>
          </p:cNvPr>
          <p:cNvSpPr/>
          <p:nvPr/>
        </p:nvSpPr>
        <p:spPr>
          <a:xfrm>
            <a:off x="6295153" y="3696433"/>
            <a:ext cx="2567343" cy="2506122"/>
          </a:xfrm>
          <a:custGeom>
            <a:avLst/>
            <a:gdLst>
              <a:gd name="connsiteX0" fmla="*/ 1827595 w 1979677"/>
              <a:gd name="connsiteY0" fmla="*/ 0 h 1979677"/>
              <a:gd name="connsiteX1" fmla="*/ 1979678 w 1979677"/>
              <a:gd name="connsiteY1" fmla="*/ 152083 h 1979677"/>
              <a:gd name="connsiteX2" fmla="*/ 1979678 w 1979677"/>
              <a:gd name="connsiteY2" fmla="*/ 1827594 h 1979677"/>
              <a:gd name="connsiteX3" fmla="*/ 1827595 w 1979677"/>
              <a:gd name="connsiteY3" fmla="*/ 1979677 h 1979677"/>
              <a:gd name="connsiteX4" fmla="*/ 152083 w 1979677"/>
              <a:gd name="connsiteY4" fmla="*/ 1979677 h 1979677"/>
              <a:gd name="connsiteX5" fmla="*/ 0 w 1979677"/>
              <a:gd name="connsiteY5" fmla="*/ 1827594 h 1979677"/>
              <a:gd name="connsiteX6" fmla="*/ 0 w 1979677"/>
              <a:gd name="connsiteY6" fmla="*/ 152083 h 1979677"/>
              <a:gd name="connsiteX7" fmla="*/ 152083 w 1979677"/>
              <a:gd name="connsiteY7" fmla="*/ 0 h 197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79677" h="1979677">
                <a:moveTo>
                  <a:pt x="1827595" y="0"/>
                </a:moveTo>
                <a:cubicBezTo>
                  <a:pt x="1911588" y="0"/>
                  <a:pt x="1979678" y="68090"/>
                  <a:pt x="1979678" y="152083"/>
                </a:cubicBezTo>
                <a:lnTo>
                  <a:pt x="1979678" y="1827594"/>
                </a:lnTo>
                <a:cubicBezTo>
                  <a:pt x="1979678" y="1911587"/>
                  <a:pt x="1911587" y="1979677"/>
                  <a:pt x="1827595" y="1979677"/>
                </a:cubicBezTo>
                <a:lnTo>
                  <a:pt x="152083" y="1979677"/>
                </a:lnTo>
                <a:cubicBezTo>
                  <a:pt x="68090" y="1979677"/>
                  <a:pt x="0" y="1911587"/>
                  <a:pt x="0" y="1827594"/>
                </a:cubicBezTo>
                <a:lnTo>
                  <a:pt x="0" y="152083"/>
                </a:lnTo>
                <a:cubicBezTo>
                  <a:pt x="0" y="68090"/>
                  <a:pt x="68091" y="0"/>
                  <a:pt x="152083" y="0"/>
                </a:cubicBezTo>
                <a:close/>
              </a:path>
            </a:pathLst>
          </a:custGeom>
          <a:solidFill>
            <a:srgbClr val="FFFFFF"/>
          </a:solidFill>
          <a:ln w="8952" cap="flat">
            <a:solidFill>
              <a:srgbClr val="4EA6E6"/>
            </a:solidFill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A9915AC-904A-7EAE-A2F5-5CE5AA903E42}"/>
              </a:ext>
            </a:extLst>
          </p:cNvPr>
          <p:cNvSpPr/>
          <p:nvPr/>
        </p:nvSpPr>
        <p:spPr>
          <a:xfrm>
            <a:off x="9047530" y="3696433"/>
            <a:ext cx="2937640" cy="1142696"/>
          </a:xfrm>
          <a:custGeom>
            <a:avLst/>
            <a:gdLst>
              <a:gd name="connsiteX0" fmla="*/ 226781 w 2265213"/>
              <a:gd name="connsiteY0" fmla="*/ 816752 h 1080792"/>
              <a:gd name="connsiteX1" fmla="*/ 2001173 w 2265213"/>
              <a:gd name="connsiteY1" fmla="*/ 816752 h 1080792"/>
              <a:gd name="connsiteX2" fmla="*/ 2265214 w 2265213"/>
              <a:gd name="connsiteY2" fmla="*/ 1080793 h 1080792"/>
              <a:gd name="connsiteX3" fmla="*/ 2265214 w 2265213"/>
              <a:gd name="connsiteY3" fmla="*/ 185581 h 1080792"/>
              <a:gd name="connsiteX4" fmla="*/ 2079633 w 2265213"/>
              <a:gd name="connsiteY4" fmla="*/ 0 h 1080792"/>
              <a:gd name="connsiteX5" fmla="*/ 185581 w 2265213"/>
              <a:gd name="connsiteY5" fmla="*/ 0 h 1080792"/>
              <a:gd name="connsiteX6" fmla="*/ 0 w 2265213"/>
              <a:gd name="connsiteY6" fmla="*/ 185581 h 1080792"/>
              <a:gd name="connsiteX7" fmla="*/ 0 w 2265213"/>
              <a:gd name="connsiteY7" fmla="*/ 1043444 h 1080792"/>
              <a:gd name="connsiteX8" fmla="*/ 226781 w 2265213"/>
              <a:gd name="connsiteY8" fmla="*/ 816663 h 1080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5213" h="1080792">
                <a:moveTo>
                  <a:pt x="226781" y="816752"/>
                </a:moveTo>
                <a:lnTo>
                  <a:pt x="2001173" y="816752"/>
                </a:lnTo>
                <a:lnTo>
                  <a:pt x="2265214" y="1080793"/>
                </a:lnTo>
                <a:lnTo>
                  <a:pt x="2265214" y="185581"/>
                </a:lnTo>
                <a:cubicBezTo>
                  <a:pt x="2265214" y="83117"/>
                  <a:pt x="2182097" y="0"/>
                  <a:pt x="2079633" y="0"/>
                </a:cubicBezTo>
                <a:lnTo>
                  <a:pt x="185581" y="0"/>
                </a:lnTo>
                <a:cubicBezTo>
                  <a:pt x="83118" y="0"/>
                  <a:pt x="0" y="83117"/>
                  <a:pt x="0" y="185581"/>
                </a:cubicBezTo>
                <a:lnTo>
                  <a:pt x="0" y="1043444"/>
                </a:lnTo>
                <a:lnTo>
                  <a:pt x="226781" y="816663"/>
                </a:lnTo>
                <a:close/>
              </a:path>
            </a:pathLst>
          </a:custGeom>
          <a:solidFill>
            <a:srgbClr val="0070C0"/>
          </a:solidFill>
          <a:ln w="89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F1E88301-44FC-7BBB-780E-FCEA1704EF95}"/>
              </a:ext>
            </a:extLst>
          </p:cNvPr>
          <p:cNvSpPr/>
          <p:nvPr/>
        </p:nvSpPr>
        <p:spPr>
          <a:xfrm rot="10800000">
            <a:off x="9232676" y="3775040"/>
            <a:ext cx="2567343" cy="2489539"/>
          </a:xfrm>
          <a:custGeom>
            <a:avLst/>
            <a:gdLst>
              <a:gd name="connsiteX0" fmla="*/ 1827594 w 1979677"/>
              <a:gd name="connsiteY0" fmla="*/ 0 h 1979677"/>
              <a:gd name="connsiteX1" fmla="*/ 1979677 w 1979677"/>
              <a:gd name="connsiteY1" fmla="*/ 152083 h 1979677"/>
              <a:gd name="connsiteX2" fmla="*/ 1979677 w 1979677"/>
              <a:gd name="connsiteY2" fmla="*/ 1827594 h 1979677"/>
              <a:gd name="connsiteX3" fmla="*/ 1827594 w 1979677"/>
              <a:gd name="connsiteY3" fmla="*/ 1979677 h 1979677"/>
              <a:gd name="connsiteX4" fmla="*/ 152083 w 1979677"/>
              <a:gd name="connsiteY4" fmla="*/ 1979677 h 1979677"/>
              <a:gd name="connsiteX5" fmla="*/ 0 w 1979677"/>
              <a:gd name="connsiteY5" fmla="*/ 1827594 h 1979677"/>
              <a:gd name="connsiteX6" fmla="*/ 0 w 1979677"/>
              <a:gd name="connsiteY6" fmla="*/ 152083 h 1979677"/>
              <a:gd name="connsiteX7" fmla="*/ 152083 w 1979677"/>
              <a:gd name="connsiteY7" fmla="*/ 0 h 197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79677" h="1979677">
                <a:moveTo>
                  <a:pt x="1827594" y="0"/>
                </a:moveTo>
                <a:cubicBezTo>
                  <a:pt x="1911588" y="0"/>
                  <a:pt x="1979677" y="68090"/>
                  <a:pt x="1979677" y="152083"/>
                </a:cubicBezTo>
                <a:lnTo>
                  <a:pt x="1979677" y="1827594"/>
                </a:lnTo>
                <a:cubicBezTo>
                  <a:pt x="1979677" y="1911588"/>
                  <a:pt x="1911587" y="1979677"/>
                  <a:pt x="1827594" y="1979677"/>
                </a:cubicBezTo>
                <a:lnTo>
                  <a:pt x="152083" y="1979677"/>
                </a:lnTo>
                <a:cubicBezTo>
                  <a:pt x="68090" y="1979677"/>
                  <a:pt x="0" y="1911588"/>
                  <a:pt x="0" y="1827594"/>
                </a:cubicBezTo>
                <a:lnTo>
                  <a:pt x="0" y="152083"/>
                </a:lnTo>
                <a:cubicBezTo>
                  <a:pt x="0" y="68090"/>
                  <a:pt x="68090" y="0"/>
                  <a:pt x="152083" y="0"/>
                </a:cubicBezTo>
                <a:close/>
              </a:path>
            </a:pathLst>
          </a:custGeom>
          <a:solidFill>
            <a:srgbClr val="FFFFFF"/>
          </a:solidFill>
          <a:ln w="8952" cap="flat">
            <a:solidFill>
              <a:srgbClr val="1F69B3"/>
            </a:solidFill>
            <a:prstDash val="solid"/>
            <a:miter/>
          </a:ln>
        </p:spPr>
        <p:txBody>
          <a:bodyPr rtlCol="0" anchor="ctr"/>
          <a:lstStyle/>
          <a:p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841354-72BA-7945-35FF-1B0C87DB4891}"/>
              </a:ext>
            </a:extLst>
          </p:cNvPr>
          <p:cNvSpPr txBox="1"/>
          <p:nvPr/>
        </p:nvSpPr>
        <p:spPr>
          <a:xfrm>
            <a:off x="400650" y="4290364"/>
            <a:ext cx="264103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Extensive experience delivering connected device platforms across hardware, embedded, and Android ecosystems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Cross-functional PODs covering device engineering, platform development, QA, and DevOps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FF05C1-E06A-4B14-DC1A-D802DB00DC78}"/>
              </a:ext>
            </a:extLst>
          </p:cNvPr>
          <p:cNvSpPr txBox="1"/>
          <p:nvPr/>
        </p:nvSpPr>
        <p:spPr>
          <a:xfrm>
            <a:off x="3419710" y="4290364"/>
            <a:ext cx="246349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 engineering teams for Android, embedded systems, Edge AI, and connected devices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Structured onboarding enabling pods to become productive within 30 days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AFB411-B008-5591-53DD-AD437FFD1808}"/>
              </a:ext>
            </a:extLst>
          </p:cNvPr>
          <p:cNvSpPr txBox="1"/>
          <p:nvPr/>
        </p:nvSpPr>
        <p:spPr>
          <a:xfrm>
            <a:off x="6345183" y="4290364"/>
            <a:ext cx="246349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Agile delivery aligned with product development cadence and release cycles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Transparent reporting on velocity, quality, and platform stability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211AC7-9E11-6929-7FC4-5FB5AC9C713A}"/>
              </a:ext>
            </a:extLst>
          </p:cNvPr>
          <p:cNvSpPr txBox="1"/>
          <p:nvPr/>
        </p:nvSpPr>
        <p:spPr>
          <a:xfrm>
            <a:off x="9280802" y="4290364"/>
            <a:ext cx="246349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Ability to scale engineering PODs based on product roadmap needs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Flexible offshore, hybrid, and onsite engagement models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6BE1DD-F440-62E5-7E5E-E2652652FB62}"/>
              </a:ext>
            </a:extLst>
          </p:cNvPr>
          <p:cNvSpPr txBox="1"/>
          <p:nvPr/>
        </p:nvSpPr>
        <p:spPr>
          <a:xfrm>
            <a:off x="489424" y="3867805"/>
            <a:ext cx="2463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Proven Expertise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39EAEC-74CA-9BC6-E12C-DADFB1CF297F}"/>
              </a:ext>
            </a:extLst>
          </p:cNvPr>
          <p:cNvSpPr txBox="1"/>
          <p:nvPr/>
        </p:nvSpPr>
        <p:spPr>
          <a:xfrm>
            <a:off x="3415459" y="3867805"/>
            <a:ext cx="2463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Rapid Ramp-Up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419AFC-F370-825F-8728-5AB0045920C7}"/>
              </a:ext>
            </a:extLst>
          </p:cNvPr>
          <p:cNvSpPr txBox="1"/>
          <p:nvPr/>
        </p:nvSpPr>
        <p:spPr>
          <a:xfrm>
            <a:off x="6345183" y="3867805"/>
            <a:ext cx="2463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Delivery &amp; Governance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536CF8-1489-CADE-BD79-DA9C1D0BD90D}"/>
              </a:ext>
            </a:extLst>
          </p:cNvPr>
          <p:cNvSpPr txBox="1"/>
          <p:nvPr/>
        </p:nvSpPr>
        <p:spPr>
          <a:xfrm>
            <a:off x="9292462" y="3867805"/>
            <a:ext cx="2463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Scalable Engagement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DDE0E6F-69B6-651E-B273-E6B885E7E950}"/>
              </a:ext>
            </a:extLst>
          </p:cNvPr>
          <p:cNvGrpSpPr/>
          <p:nvPr/>
        </p:nvGrpSpPr>
        <p:grpSpPr>
          <a:xfrm>
            <a:off x="1364431" y="6184875"/>
            <a:ext cx="9501602" cy="692362"/>
            <a:chOff x="1364431" y="6104865"/>
            <a:chExt cx="9501602" cy="692362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64C86F2-EE83-1BB7-9356-9F16E64702E7}"/>
                </a:ext>
              </a:extLst>
            </p:cNvPr>
            <p:cNvSpPr/>
            <p:nvPr/>
          </p:nvSpPr>
          <p:spPr>
            <a:xfrm>
              <a:off x="1364431" y="6104866"/>
              <a:ext cx="699248" cy="692361"/>
            </a:xfrm>
            <a:custGeom>
              <a:avLst/>
              <a:gdLst>
                <a:gd name="connsiteX0" fmla="*/ 863058 w 863058"/>
                <a:gd name="connsiteY0" fmla="*/ 431529 h 863057"/>
                <a:gd name="connsiteX1" fmla="*/ 431529 w 863058"/>
                <a:gd name="connsiteY1" fmla="*/ 863058 h 863057"/>
                <a:gd name="connsiteX2" fmla="*/ 0 w 863058"/>
                <a:gd name="connsiteY2" fmla="*/ 431529 h 863057"/>
                <a:gd name="connsiteX3" fmla="*/ 431529 w 863058"/>
                <a:gd name="connsiteY3" fmla="*/ 0 h 863057"/>
                <a:gd name="connsiteX4" fmla="*/ 863058 w 863058"/>
                <a:gd name="connsiteY4" fmla="*/ 431529 h 86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058" h="863057">
                  <a:moveTo>
                    <a:pt x="863058" y="431529"/>
                  </a:moveTo>
                  <a:cubicBezTo>
                    <a:pt x="863058" y="669856"/>
                    <a:pt x="669856" y="863058"/>
                    <a:pt x="431529" y="863058"/>
                  </a:cubicBezTo>
                  <a:cubicBezTo>
                    <a:pt x="193202" y="863058"/>
                    <a:pt x="0" y="669856"/>
                    <a:pt x="0" y="431529"/>
                  </a:cubicBezTo>
                  <a:cubicBezTo>
                    <a:pt x="0" y="193202"/>
                    <a:pt x="193202" y="0"/>
                    <a:pt x="431529" y="0"/>
                  </a:cubicBezTo>
                  <a:cubicBezTo>
                    <a:pt x="669856" y="0"/>
                    <a:pt x="863058" y="193202"/>
                    <a:pt x="863058" y="431529"/>
                  </a:cubicBezTo>
                  <a:close/>
                </a:path>
              </a:pathLst>
            </a:custGeom>
            <a:solidFill>
              <a:srgbClr val="00B0F0"/>
            </a:solidFill>
            <a:ln w="89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75A686A-DA4E-234F-5FCB-EB13E914B6E3}"/>
                </a:ext>
              </a:extLst>
            </p:cNvPr>
            <p:cNvSpPr/>
            <p:nvPr/>
          </p:nvSpPr>
          <p:spPr>
            <a:xfrm>
              <a:off x="4296264" y="6104866"/>
              <a:ext cx="699248" cy="692361"/>
            </a:xfrm>
            <a:custGeom>
              <a:avLst/>
              <a:gdLst>
                <a:gd name="connsiteX0" fmla="*/ 863058 w 863058"/>
                <a:gd name="connsiteY0" fmla="*/ 431529 h 863057"/>
                <a:gd name="connsiteX1" fmla="*/ 431529 w 863058"/>
                <a:gd name="connsiteY1" fmla="*/ 863058 h 863057"/>
                <a:gd name="connsiteX2" fmla="*/ 0 w 863058"/>
                <a:gd name="connsiteY2" fmla="*/ 431529 h 863057"/>
                <a:gd name="connsiteX3" fmla="*/ 431529 w 863058"/>
                <a:gd name="connsiteY3" fmla="*/ 0 h 863057"/>
                <a:gd name="connsiteX4" fmla="*/ 863058 w 863058"/>
                <a:gd name="connsiteY4" fmla="*/ 431529 h 86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058" h="863057">
                  <a:moveTo>
                    <a:pt x="863058" y="431529"/>
                  </a:moveTo>
                  <a:cubicBezTo>
                    <a:pt x="863058" y="669856"/>
                    <a:pt x="669856" y="863058"/>
                    <a:pt x="431529" y="863058"/>
                  </a:cubicBezTo>
                  <a:cubicBezTo>
                    <a:pt x="193202" y="863058"/>
                    <a:pt x="0" y="669856"/>
                    <a:pt x="0" y="431529"/>
                  </a:cubicBezTo>
                  <a:cubicBezTo>
                    <a:pt x="0" y="193202"/>
                    <a:pt x="193202" y="0"/>
                    <a:pt x="431529" y="0"/>
                  </a:cubicBezTo>
                  <a:cubicBezTo>
                    <a:pt x="669856" y="0"/>
                    <a:pt x="863058" y="193202"/>
                    <a:pt x="863058" y="431529"/>
                  </a:cubicBezTo>
                  <a:close/>
                </a:path>
              </a:pathLst>
            </a:custGeom>
            <a:solidFill>
              <a:srgbClr val="0070C0"/>
            </a:solidFill>
            <a:ln w="89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3A716C3-FE6C-4CE5-A1C2-80911CA97D81}"/>
                </a:ext>
              </a:extLst>
            </p:cNvPr>
            <p:cNvSpPr/>
            <p:nvPr/>
          </p:nvSpPr>
          <p:spPr>
            <a:xfrm>
              <a:off x="10166785" y="6104866"/>
              <a:ext cx="699248" cy="692361"/>
            </a:xfrm>
            <a:custGeom>
              <a:avLst/>
              <a:gdLst>
                <a:gd name="connsiteX0" fmla="*/ 863058 w 863058"/>
                <a:gd name="connsiteY0" fmla="*/ 431529 h 863057"/>
                <a:gd name="connsiteX1" fmla="*/ 431529 w 863058"/>
                <a:gd name="connsiteY1" fmla="*/ 863058 h 863057"/>
                <a:gd name="connsiteX2" fmla="*/ 0 w 863058"/>
                <a:gd name="connsiteY2" fmla="*/ 431529 h 863057"/>
                <a:gd name="connsiteX3" fmla="*/ 431529 w 863058"/>
                <a:gd name="connsiteY3" fmla="*/ 0 h 863057"/>
                <a:gd name="connsiteX4" fmla="*/ 863058 w 863058"/>
                <a:gd name="connsiteY4" fmla="*/ 431529 h 86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058" h="863057">
                  <a:moveTo>
                    <a:pt x="863058" y="431529"/>
                  </a:moveTo>
                  <a:cubicBezTo>
                    <a:pt x="863058" y="669856"/>
                    <a:pt x="669856" y="863058"/>
                    <a:pt x="431529" y="863058"/>
                  </a:cubicBezTo>
                  <a:cubicBezTo>
                    <a:pt x="193202" y="863058"/>
                    <a:pt x="0" y="669856"/>
                    <a:pt x="0" y="431529"/>
                  </a:cubicBezTo>
                  <a:cubicBezTo>
                    <a:pt x="0" y="193202"/>
                    <a:pt x="193202" y="0"/>
                    <a:pt x="431529" y="0"/>
                  </a:cubicBezTo>
                  <a:cubicBezTo>
                    <a:pt x="669856" y="0"/>
                    <a:pt x="863058" y="193202"/>
                    <a:pt x="863058" y="431529"/>
                  </a:cubicBezTo>
                  <a:close/>
                </a:path>
              </a:pathLst>
            </a:custGeom>
            <a:solidFill>
              <a:srgbClr val="0070C0"/>
            </a:solidFill>
            <a:ln w="89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86BF7AF-ED9C-9214-E2B2-DA1E58F75D08}"/>
                </a:ext>
              </a:extLst>
            </p:cNvPr>
            <p:cNvSpPr/>
            <p:nvPr/>
          </p:nvSpPr>
          <p:spPr>
            <a:xfrm>
              <a:off x="7229143" y="6104865"/>
              <a:ext cx="699248" cy="692362"/>
            </a:xfrm>
            <a:custGeom>
              <a:avLst/>
              <a:gdLst>
                <a:gd name="connsiteX0" fmla="*/ 863058 w 863058"/>
                <a:gd name="connsiteY0" fmla="*/ 431529 h 863057"/>
                <a:gd name="connsiteX1" fmla="*/ 431529 w 863058"/>
                <a:gd name="connsiteY1" fmla="*/ 863058 h 863057"/>
                <a:gd name="connsiteX2" fmla="*/ 0 w 863058"/>
                <a:gd name="connsiteY2" fmla="*/ 431529 h 863057"/>
                <a:gd name="connsiteX3" fmla="*/ 431529 w 863058"/>
                <a:gd name="connsiteY3" fmla="*/ 0 h 863057"/>
                <a:gd name="connsiteX4" fmla="*/ 863058 w 863058"/>
                <a:gd name="connsiteY4" fmla="*/ 431529 h 86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058" h="863057">
                  <a:moveTo>
                    <a:pt x="863058" y="431529"/>
                  </a:moveTo>
                  <a:cubicBezTo>
                    <a:pt x="863058" y="669856"/>
                    <a:pt x="669856" y="863058"/>
                    <a:pt x="431529" y="863058"/>
                  </a:cubicBezTo>
                  <a:cubicBezTo>
                    <a:pt x="193202" y="863058"/>
                    <a:pt x="0" y="669856"/>
                    <a:pt x="0" y="431529"/>
                  </a:cubicBezTo>
                  <a:cubicBezTo>
                    <a:pt x="0" y="193202"/>
                    <a:pt x="193202" y="0"/>
                    <a:pt x="431529" y="0"/>
                  </a:cubicBezTo>
                  <a:cubicBezTo>
                    <a:pt x="669856" y="0"/>
                    <a:pt x="863058" y="193202"/>
                    <a:pt x="863058" y="431529"/>
                  </a:cubicBezTo>
                  <a:close/>
                </a:path>
              </a:pathLst>
            </a:custGeom>
            <a:solidFill>
              <a:srgbClr val="00B0F0"/>
            </a:solidFill>
            <a:ln w="89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8FA24CE-EC8A-A230-5C9C-3A9868653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89654" y="6219531"/>
              <a:ext cx="463030" cy="46303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C3BF6A3-5B05-79B3-F32D-ED2E72197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7345413" y="6219531"/>
              <a:ext cx="463030" cy="46303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865C029-26CE-9BD1-7D69-7AD5EBD3E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4409132" y="6219531"/>
              <a:ext cx="463030" cy="46303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01FDBA4-6CC9-6FB9-C4DC-15D3B2EC6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0264891" y="6219531"/>
              <a:ext cx="463030" cy="463030"/>
            </a:xfrm>
            <a:prstGeom prst="rect">
              <a:avLst/>
            </a:prstGeom>
          </p:spPr>
        </p:pic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1A1E4D42-DB04-7328-D24F-75C72E52B1FE}"/>
              </a:ext>
            </a:extLst>
          </p:cNvPr>
          <p:cNvSpPr/>
          <p:nvPr/>
        </p:nvSpPr>
        <p:spPr>
          <a:xfrm>
            <a:off x="698500" y="2728306"/>
            <a:ext cx="10795000" cy="6082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7593727-0C08-3C56-BD67-DA3683F39753}"/>
              </a:ext>
            </a:extLst>
          </p:cNvPr>
          <p:cNvSpPr/>
          <p:nvPr/>
        </p:nvSpPr>
        <p:spPr>
          <a:xfrm>
            <a:off x="899160" y="2495709"/>
            <a:ext cx="10393680" cy="1073458"/>
          </a:xfrm>
          <a:prstGeom prst="rect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B6278952-C03B-EC40-7CA7-BF286688ED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19789" b="19789"/>
          <a:stretch/>
        </p:blipFill>
        <p:spPr>
          <a:xfrm>
            <a:off x="7328442" y="2665253"/>
            <a:ext cx="925839" cy="235307"/>
          </a:xfrm>
          <a:prstGeom prst="rect">
            <a:avLst/>
          </a:prstGeom>
        </p:spPr>
      </p:pic>
      <p:pic>
        <p:nvPicPr>
          <p:cNvPr id="79" name="Picture 78" descr="A logo with green arrows&#10;&#10;AI-generated content may be incorrect.">
            <a:extLst>
              <a:ext uri="{FF2B5EF4-FFF2-40B4-BE49-F238E27FC236}">
                <a16:creationId xmlns:a16="http://schemas.microsoft.com/office/drawing/2014/main" id="{7542FF2F-D3D1-700B-9258-53D34D1FD85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6303" b="16303"/>
          <a:stretch>
            <a:fillRect/>
          </a:stretch>
        </p:blipFill>
        <p:spPr>
          <a:xfrm>
            <a:off x="2299541" y="3125013"/>
            <a:ext cx="709838" cy="309748"/>
          </a:xfrm>
          <a:prstGeom prst="rect">
            <a:avLst/>
          </a:prstGeom>
        </p:spPr>
      </p:pic>
      <p:pic>
        <p:nvPicPr>
          <p:cNvPr id="80" name="Picture 7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DEFE8FA-34A9-39E2-D1FA-21DB0F2441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1132" y="3177000"/>
            <a:ext cx="902035" cy="31923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82F56AB-FAC8-0E0D-1DBA-15E90C8587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2916" y="3205077"/>
            <a:ext cx="1058849" cy="149620"/>
          </a:xfrm>
          <a:prstGeom prst="rect">
            <a:avLst/>
          </a:prstGeom>
        </p:spPr>
      </p:pic>
      <p:pic>
        <p:nvPicPr>
          <p:cNvPr id="82" name="Picture 81" descr="A blue and white sign&#10;&#10;AI-generated content may be incorrect.">
            <a:extLst>
              <a:ext uri="{FF2B5EF4-FFF2-40B4-BE49-F238E27FC236}">
                <a16:creationId xmlns:a16="http://schemas.microsoft.com/office/drawing/2014/main" id="{C7F50D33-6F02-94A9-F93A-CFD2877B49E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0429" y="3119894"/>
            <a:ext cx="791465" cy="319986"/>
          </a:xfrm>
          <a:prstGeom prst="rect">
            <a:avLst/>
          </a:prstGeom>
        </p:spPr>
      </p:pic>
      <p:pic>
        <p:nvPicPr>
          <p:cNvPr id="83" name="Picture 8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5B9B2D8-DE0A-B16A-371D-65B3F3B262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89258" y="2688077"/>
            <a:ext cx="1034498" cy="189658"/>
          </a:xfrm>
          <a:prstGeom prst="rect">
            <a:avLst/>
          </a:prstGeom>
        </p:spPr>
      </p:pic>
      <p:pic>
        <p:nvPicPr>
          <p:cNvPr id="84" name="Picture 83" descr="A blue and white logo&#10;&#10;AI-generated content may be incorrect.">
            <a:extLst>
              <a:ext uri="{FF2B5EF4-FFF2-40B4-BE49-F238E27FC236}">
                <a16:creationId xmlns:a16="http://schemas.microsoft.com/office/drawing/2014/main" id="{5329C2F2-9789-687F-0677-94E276C00E1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74671" y="3158994"/>
            <a:ext cx="1034497" cy="241786"/>
          </a:xfrm>
          <a:prstGeom prst="rect">
            <a:avLst/>
          </a:prstGeom>
        </p:spPr>
      </p:pic>
      <p:pic>
        <p:nvPicPr>
          <p:cNvPr id="85" name="Picture 84" descr="A black and grey sign&#10;&#10;AI-generated content may be incorrect.">
            <a:extLst>
              <a:ext uri="{FF2B5EF4-FFF2-40B4-BE49-F238E27FC236}">
                <a16:creationId xmlns:a16="http://schemas.microsoft.com/office/drawing/2014/main" id="{CEF96B5C-60FF-9743-611E-9CAD8FF8D1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67472" y="2647130"/>
            <a:ext cx="1112924" cy="271553"/>
          </a:xfrm>
          <a:prstGeom prst="rect">
            <a:avLst/>
          </a:prstGeom>
        </p:spPr>
      </p:pic>
      <p:pic>
        <p:nvPicPr>
          <p:cNvPr id="86" name="Picture 85" descr="A blue and black logo&#10;&#10;AI-generated content may be incorrect.">
            <a:extLst>
              <a:ext uri="{FF2B5EF4-FFF2-40B4-BE49-F238E27FC236}">
                <a16:creationId xmlns:a16="http://schemas.microsoft.com/office/drawing/2014/main" id="{D869D828-6D74-A273-FDF9-F4292B792B4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86898" y="2670967"/>
            <a:ext cx="952672" cy="223878"/>
          </a:xfrm>
          <a:prstGeom prst="rect">
            <a:avLst/>
          </a:prstGeom>
        </p:spPr>
      </p:pic>
      <p:pic>
        <p:nvPicPr>
          <p:cNvPr id="87" name="Picture 86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1D264B0D-85AD-2843-7357-5645BD6AE36F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4228" t="36284" r="14283" b="34652"/>
          <a:stretch>
            <a:fillRect/>
          </a:stretch>
        </p:blipFill>
        <p:spPr>
          <a:xfrm>
            <a:off x="2401941" y="2714060"/>
            <a:ext cx="648109" cy="137693"/>
          </a:xfrm>
          <a:prstGeom prst="rect">
            <a:avLst/>
          </a:prstGeom>
        </p:spPr>
      </p:pic>
      <p:sp>
        <p:nvSpPr>
          <p:cNvPr id="88" name="AutoShape 2" descr="Azure Data Factory, Azure Databricks, and Azure SQL Server: A Focus on  Change Data Capture and Medallion Architecture">
            <a:extLst>
              <a:ext uri="{FF2B5EF4-FFF2-40B4-BE49-F238E27FC236}">
                <a16:creationId xmlns:a16="http://schemas.microsoft.com/office/drawing/2014/main" id="{9E626169-C57A-C489-3CF0-5E70BBDD5C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717" y="31274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AA4FD665-DF27-A059-DB4F-3EC92C118FD9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528852" y="2662166"/>
            <a:ext cx="707494" cy="24147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0D4BF0A-E905-A5C3-5036-B95F2F7A6A63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039746" y="2696081"/>
            <a:ext cx="1041903" cy="17365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623FE24-3E37-977B-ECD4-F0D7398ECE7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091773" y="3228504"/>
            <a:ext cx="851036" cy="102766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11E39B90-5FB9-1B8B-762A-D10B5125731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24078" y="3174210"/>
            <a:ext cx="808656" cy="211354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EA8AF14-BCF4-01C0-FC37-EAC27A44017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9417832" y="2690129"/>
            <a:ext cx="474929" cy="264286"/>
          </a:xfrm>
          <a:prstGeom prst="rect">
            <a:avLst/>
          </a:prstGeom>
        </p:spPr>
      </p:pic>
      <p:pic>
        <p:nvPicPr>
          <p:cNvPr id="94" name="Picture 92">
            <a:extLst>
              <a:ext uri="{FF2B5EF4-FFF2-40B4-BE49-F238E27FC236}">
                <a16:creationId xmlns:a16="http://schemas.microsoft.com/office/drawing/2014/main" id="{C07FA03E-240A-E75B-921E-165506E6DBC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9466301" y="3222830"/>
            <a:ext cx="474929" cy="159576"/>
          </a:xfrm>
          <a:prstGeom prst="rect">
            <a:avLst/>
          </a:prstGeom>
        </p:spPr>
      </p:pic>
      <p:pic>
        <p:nvPicPr>
          <p:cNvPr id="96" name="Picture 92">
            <a:extLst>
              <a:ext uri="{FF2B5EF4-FFF2-40B4-BE49-F238E27FC236}">
                <a16:creationId xmlns:a16="http://schemas.microsoft.com/office/drawing/2014/main" id="{0AC922A7-1277-F2EF-515D-270A2CD1929F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10345079" y="2714956"/>
            <a:ext cx="474929" cy="21463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6422E31-ED14-7828-2F39-27DF1D4F3C6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89501" y="3159768"/>
            <a:ext cx="851036" cy="2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8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1EA663D-721B-79C4-8C58-0572DE090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IN" dirty="0"/>
              <a:t>Application Capabilities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B56142-85E5-9785-4F04-BA718A541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5090" y="5766700"/>
            <a:ext cx="4439711" cy="568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859" tIns="54429" rIns="108859" bIns="54429" numCol="1" anchor="t" anchorCtr="0" compatLnSpc="1">
            <a:prstTxWarp prst="textNoShape">
              <a:avLst/>
            </a:prstTxWarp>
          </a:bodyPr>
          <a:lstStyle/>
          <a:p>
            <a:pPr marL="408230" indent="-408230" fontAlgn="base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/>
            </a:pPr>
            <a:r>
              <a:rPr lang="en-US" sz="1400" kern="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 (Programming Language)</a:t>
            </a:r>
          </a:p>
          <a:p>
            <a:pPr marL="408230" indent="-408230" fontAlgn="base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/>
            </a:pPr>
            <a:r>
              <a:rPr lang="en-US" sz="1400" kern="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Version Upgrades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A6449E-17C0-956F-7861-521223BF5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3079" y="5759956"/>
            <a:ext cx="3897086" cy="582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859" tIns="54429" rIns="108859" bIns="54429" numCol="1" anchor="t" anchorCtr="0" compatLnSpc="1">
            <a:prstTxWarp prst="textNoShape">
              <a:avLst/>
            </a:prstTxWarp>
          </a:bodyPr>
          <a:lstStyle/>
          <a:p>
            <a:pPr marL="408230" indent="-408230" fontAlgn="base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/>
            </a:pPr>
            <a:r>
              <a:rPr lang="en-US" sz="1400" kern="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Database</a:t>
            </a:r>
          </a:p>
          <a:p>
            <a:pPr marL="408230" indent="-408230" fontAlgn="base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/>
            </a:pPr>
            <a:r>
              <a:rPr lang="en-US" sz="1400" kern="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Platform (OS, Middleware)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0AEC8-6692-8811-DDA5-2C46259D167A}"/>
              </a:ext>
            </a:extLst>
          </p:cNvPr>
          <p:cNvSpPr txBox="1"/>
          <p:nvPr/>
        </p:nvSpPr>
        <p:spPr>
          <a:xfrm>
            <a:off x="824843" y="5881887"/>
            <a:ext cx="2333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8230" indent="-40823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Migration Elements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89923D6-E972-1848-5039-1CAFD66A4306}"/>
              </a:ext>
            </a:extLst>
          </p:cNvPr>
          <p:cNvGrpSpPr/>
          <p:nvPr/>
        </p:nvGrpSpPr>
        <p:grpSpPr>
          <a:xfrm>
            <a:off x="654783" y="1816101"/>
            <a:ext cx="10892522" cy="3772398"/>
            <a:chOff x="654783" y="1816101"/>
            <a:chExt cx="10892522" cy="37723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C33BD8-087C-3B97-A660-2247D479394F}"/>
                </a:ext>
              </a:extLst>
            </p:cNvPr>
            <p:cNvSpPr/>
            <p:nvPr/>
          </p:nvSpPr>
          <p:spPr>
            <a:xfrm>
              <a:off x="654783" y="1816101"/>
              <a:ext cx="10892522" cy="377239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1088614">
                <a:defRPr/>
              </a:pPr>
              <a:endParaRPr lang="en-US" sz="1765" kern="0">
                <a:solidFill>
                  <a:sysClr val="window" lastClr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2CBCE0E-EF9A-45FC-07C4-B27D12197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375" y="3251902"/>
              <a:ext cx="10540466" cy="70008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408230" indent="-408230"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buFontTx/>
                <a:buChar char="•"/>
                <a:defRPr/>
              </a:pPr>
              <a:endParaRPr lang="en-US" sz="1177" b="1" kern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2AC6F4DC-4DD3-9DAB-91B2-035E10DEA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375" y="4008377"/>
              <a:ext cx="10540466" cy="64800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1088614">
                <a:defRPr/>
              </a:pPr>
              <a:endParaRPr lang="en-US" sz="1765" b="1" kern="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CB5B72-A704-DD25-2B2F-9C538B79B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26" y="3444980"/>
              <a:ext cx="1233030" cy="3139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408230" indent="-408230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defRPr/>
              </a:pPr>
              <a:r>
                <a:rPr lang="en-US" sz="1600" b="1" kern="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Application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D23139-82A5-4C17-0229-CA4CB25AD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26" y="4161768"/>
              <a:ext cx="1647791" cy="4801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08230" indent="-408230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defRPr/>
              </a:pPr>
              <a:r>
                <a:rPr lang="en-US" sz="1400" b="1" kern="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Experience, Logic &amp; Analytics</a:t>
              </a:r>
            </a:p>
          </p:txBody>
        </p:sp>
        <p:sp>
          <p:nvSpPr>
            <p:cNvPr id="13" name="AutoShape 9">
              <a:extLst>
                <a:ext uri="{FF2B5EF4-FFF2-40B4-BE49-F238E27FC236}">
                  <a16:creationId xmlns:a16="http://schemas.microsoft.com/office/drawing/2014/main" id="{630032F1-A03B-4D85-8BFD-AEA96846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219" y="3333659"/>
              <a:ext cx="1213522" cy="53657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defRPr/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Cloud Applications</a:t>
              </a:r>
            </a:p>
          </p:txBody>
        </p:sp>
        <p:sp>
          <p:nvSpPr>
            <p:cNvPr id="14" name="AutoShape 10">
              <a:extLst>
                <a:ext uri="{FF2B5EF4-FFF2-40B4-BE49-F238E27FC236}">
                  <a16:creationId xmlns:a16="http://schemas.microsoft.com/office/drawing/2014/main" id="{5B292E47-3A24-AF2C-94B9-1A77FBA7A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368" y="4041272"/>
              <a:ext cx="1004321" cy="5349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UX Research &amp; UI Design</a:t>
              </a:r>
            </a:p>
          </p:txBody>
        </p:sp>
        <p:sp>
          <p:nvSpPr>
            <p:cNvPr id="15" name="AutoShape 12">
              <a:extLst>
                <a:ext uri="{FF2B5EF4-FFF2-40B4-BE49-F238E27FC236}">
                  <a16:creationId xmlns:a16="http://schemas.microsoft.com/office/drawing/2014/main" id="{CB53C92B-20BB-A6B0-A1D3-C2F8176C5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485" y="3334453"/>
              <a:ext cx="1213522" cy="5349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On‑Premise Applications</a:t>
              </a:r>
            </a:p>
          </p:txBody>
        </p:sp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126EDBDA-B093-8D11-B75E-BC0294BF0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824" y="4041271"/>
              <a:ext cx="1004322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Backend &amp; API Services</a:t>
              </a:r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15269062-3E25-FF9D-8E99-A66F0B315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751" y="3334452"/>
              <a:ext cx="1213523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Hybrid Applications</a:t>
              </a:r>
            </a:p>
          </p:txBody>
        </p:sp>
        <p:sp>
          <p:nvSpPr>
            <p:cNvPr id="18" name="AutoShape 15">
              <a:extLst>
                <a:ext uri="{FF2B5EF4-FFF2-40B4-BE49-F238E27FC236}">
                  <a16:creationId xmlns:a16="http://schemas.microsoft.com/office/drawing/2014/main" id="{213679ED-4802-508F-7739-92B35918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596" y="4041272"/>
              <a:ext cx="1004321" cy="5349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Frontend Engineering</a:t>
              </a:r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39E3E13B-EED3-38EF-18B5-B8EE80715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018" y="3334452"/>
              <a:ext cx="1213523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Mobile Apps</a:t>
              </a:r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789FC799-0E06-75B3-5F9E-A401F4183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8053" y="4041271"/>
              <a:ext cx="1004322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Edge Analytics</a:t>
              </a:r>
            </a:p>
          </p:txBody>
        </p:sp>
        <p:sp>
          <p:nvSpPr>
            <p:cNvPr id="21" name="AutoShape 20">
              <a:extLst>
                <a:ext uri="{FF2B5EF4-FFF2-40B4-BE49-F238E27FC236}">
                  <a16:creationId xmlns:a16="http://schemas.microsoft.com/office/drawing/2014/main" id="{B4E56ACD-57E3-97F5-F09A-CCD3F083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1285" y="3334453"/>
              <a:ext cx="1213522" cy="5349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Web Applications</a:t>
              </a:r>
            </a:p>
          </p:txBody>
        </p:sp>
        <p:sp>
          <p:nvSpPr>
            <p:cNvPr id="22" name="AutoShape 21">
              <a:extLst>
                <a:ext uri="{FF2B5EF4-FFF2-40B4-BE49-F238E27FC236}">
                  <a16:creationId xmlns:a16="http://schemas.microsoft.com/office/drawing/2014/main" id="{71D40AFE-0747-C7A1-D6A0-2716F7F0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2282" y="4041271"/>
              <a:ext cx="1004321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Platform &amp; Product Analytics</a:t>
              </a:r>
            </a:p>
          </p:txBody>
        </p:sp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9206D93F-6114-5C52-37DF-F8DC5CC89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6510" y="4041271"/>
              <a:ext cx="1004322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Dashboard &amp; BI Analytics</a:t>
              </a:r>
            </a:p>
          </p:txBody>
        </p:sp>
        <p:sp>
          <p:nvSpPr>
            <p:cNvPr id="24" name="AutoShape 25">
              <a:extLst>
                <a:ext uri="{FF2B5EF4-FFF2-40B4-BE49-F238E27FC236}">
                  <a16:creationId xmlns:a16="http://schemas.microsoft.com/office/drawing/2014/main" id="{B8721C1D-CB78-DFB0-B936-C4E3E0593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4551" y="3334453"/>
              <a:ext cx="1213523" cy="5349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Desktop &amp; Thick‑Client Apps</a:t>
              </a:r>
            </a:p>
          </p:txBody>
        </p:sp>
        <p:sp>
          <p:nvSpPr>
            <p:cNvPr id="25" name="Rectangle 35">
              <a:extLst>
                <a:ext uri="{FF2B5EF4-FFF2-40B4-BE49-F238E27FC236}">
                  <a16:creationId xmlns:a16="http://schemas.microsoft.com/office/drawing/2014/main" id="{8EB2C412-BD3B-3CB8-C74F-661E3DA5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375" y="2832865"/>
              <a:ext cx="10527741" cy="33972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marL="408230" indent="-408230"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defRPr/>
              </a:pPr>
              <a:r>
                <a:rPr lang="en-US" sz="1600" b="1" kern="0" dirty="0">
                  <a:solidFill>
                    <a:prstClr val="whit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Program Management, Change Management and Communication</a:t>
              </a:r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404E3BB6-2684-7440-151F-741C92A5C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25" y="4708753"/>
              <a:ext cx="10527741" cy="339725"/>
            </a:xfrm>
            <a:prstGeom prst="rect">
              <a:avLst/>
            </a:prstGeom>
            <a:solidFill>
              <a:srgbClr val="00B0F0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408230" indent="-408230"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defRPr/>
              </a:pPr>
              <a:r>
                <a:rPr lang="en-US" sz="1600" b="1" kern="0" dirty="0">
                  <a:solidFill>
                    <a:sysClr val="window" lastClr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Project Management, Release Management</a:t>
              </a:r>
            </a:p>
          </p:txBody>
        </p:sp>
        <p:graphicFrame>
          <p:nvGraphicFramePr>
            <p:cNvPr id="27" name="Diagram 26">
              <a:extLst>
                <a:ext uri="{FF2B5EF4-FFF2-40B4-BE49-F238E27FC236}">
                  <a16:creationId xmlns:a16="http://schemas.microsoft.com/office/drawing/2014/main" id="{2CED162A-33BD-4E0F-44B5-5B3D8740545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74256151"/>
                </p:ext>
              </p:extLst>
            </p:nvPr>
          </p:nvGraphicFramePr>
          <p:xfrm>
            <a:off x="677644" y="1937125"/>
            <a:ext cx="10555313" cy="81506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28" name="Rectangle 36">
              <a:extLst>
                <a:ext uri="{FF2B5EF4-FFF2-40B4-BE49-F238E27FC236}">
                  <a16:creationId xmlns:a16="http://schemas.microsoft.com/office/drawing/2014/main" id="{59085F7F-8C7F-66D3-7567-705164BB0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25" y="5131029"/>
              <a:ext cx="10527741" cy="339725"/>
            </a:xfrm>
            <a:prstGeom prst="rect">
              <a:avLst/>
            </a:prstGeom>
            <a:solidFill>
              <a:srgbClr val="00B0F0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408230" indent="-408230"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  <a:defRPr/>
              </a:pPr>
              <a:r>
                <a:rPr lang="en-US" sz="1600" b="1" kern="0" dirty="0">
                  <a:solidFill>
                    <a:sysClr val="window" lastClr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Governance Framework</a:t>
              </a:r>
            </a:p>
          </p:txBody>
        </p:sp>
        <p:sp>
          <p:nvSpPr>
            <p:cNvPr id="29" name="AutoShape 25">
              <a:extLst>
                <a:ext uri="{FF2B5EF4-FFF2-40B4-BE49-F238E27FC236}">
                  <a16:creationId xmlns:a16="http://schemas.microsoft.com/office/drawing/2014/main" id="{61584B22-23E0-4D20-F160-F410EFE58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7816" y="3334453"/>
              <a:ext cx="1213523" cy="5349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Edge &amp; Device Applications</a:t>
              </a:r>
            </a:p>
          </p:txBody>
        </p:sp>
        <p:sp>
          <p:nvSpPr>
            <p:cNvPr id="30" name="AutoShape 21">
              <a:extLst>
                <a:ext uri="{FF2B5EF4-FFF2-40B4-BE49-F238E27FC236}">
                  <a16:creationId xmlns:a16="http://schemas.microsoft.com/office/drawing/2014/main" id="{6FF9288E-0909-1D9B-EFBA-38CCB7330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739" y="4041271"/>
              <a:ext cx="1004321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AI &amp; Intelligent Features</a:t>
              </a:r>
            </a:p>
          </p:txBody>
        </p:sp>
        <p:sp>
          <p:nvSpPr>
            <p:cNvPr id="31" name="AutoShape 23">
              <a:extLst>
                <a:ext uri="{FF2B5EF4-FFF2-40B4-BE49-F238E27FC236}">
                  <a16:creationId xmlns:a16="http://schemas.microsoft.com/office/drawing/2014/main" id="{4D2A3043-E29A-FFA0-D8EB-D7D06CDE4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4965" y="4041271"/>
              <a:ext cx="1156373" cy="5349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anchor="ctr"/>
            <a:lstStyle/>
            <a:p>
              <a:pPr algn="ctr" defTabSz="1088614">
                <a:lnSpc>
                  <a:spcPct val="90000"/>
                </a:lnSpc>
                <a:spcBef>
                  <a:spcPct val="40000"/>
                </a:spcBef>
                <a:spcAft>
                  <a:spcPct val="10000"/>
                </a:spcAft>
              </a:pPr>
              <a:r>
                <a:rPr lang="en-US" sz="1079" kern="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Monitoring, Observability &amp; FinOps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2C9BF04-0298-DB4C-A197-5992BBEBD79F}"/>
              </a:ext>
            </a:extLst>
          </p:cNvPr>
          <p:cNvSpPr txBox="1"/>
          <p:nvPr/>
        </p:nvSpPr>
        <p:spPr>
          <a:xfrm>
            <a:off x="531024" y="787018"/>
            <a:ext cx="110391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Innominds designs and builds applications across cloud, on‑premise, and hybrid environments, covering mobile, web, desktop, and edge solutions end‑to‑end.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UX and frontend to backend, analytics, AI, and FinOps‑driven operations, we deliver full‑stack application capabilities aligned to business outcomes.</a:t>
            </a: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0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00FB07-24CF-F4C8-1CAA-3069F31D7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IN" dirty="0"/>
              <a:t>Innominds Capabilities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057C4D-112D-AA66-BC85-6EC92CF451CF}"/>
              </a:ext>
            </a:extLst>
          </p:cNvPr>
          <p:cNvGrpSpPr/>
          <p:nvPr/>
        </p:nvGrpSpPr>
        <p:grpSpPr>
          <a:xfrm>
            <a:off x="349039" y="1258313"/>
            <a:ext cx="11729497" cy="5039203"/>
            <a:chOff x="1244980" y="717970"/>
            <a:chExt cx="9900843" cy="425358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CBC9734-F688-070D-4FFC-53800C6DB21C}"/>
                </a:ext>
              </a:extLst>
            </p:cNvPr>
            <p:cNvSpPr/>
            <p:nvPr/>
          </p:nvSpPr>
          <p:spPr>
            <a:xfrm>
              <a:off x="6105884" y="2861358"/>
              <a:ext cx="1205085" cy="1386254"/>
            </a:xfrm>
            <a:custGeom>
              <a:avLst/>
              <a:gdLst>
                <a:gd name="connsiteX0" fmla="*/ 1205086 w 1205085"/>
                <a:gd name="connsiteY0" fmla="*/ 695764 h 1386254"/>
                <a:gd name="connsiteX1" fmla="*/ 0 w 1205085"/>
                <a:gd name="connsiteY1" fmla="*/ 1386255 h 1386254"/>
                <a:gd name="connsiteX2" fmla="*/ 0 w 1205085"/>
                <a:gd name="connsiteY2" fmla="*/ 0 h 1386254"/>
                <a:gd name="connsiteX3" fmla="*/ 1205086 w 1205085"/>
                <a:gd name="connsiteY3" fmla="*/ 695764 h 1386254"/>
                <a:gd name="connsiteX4" fmla="*/ 1205086 w 1205085"/>
                <a:gd name="connsiteY4" fmla="*/ 695764 h 138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5085" h="1386254">
                  <a:moveTo>
                    <a:pt x="1205086" y="695764"/>
                  </a:moveTo>
                  <a:cubicBezTo>
                    <a:pt x="961222" y="1107945"/>
                    <a:pt x="512730" y="1384891"/>
                    <a:pt x="0" y="1386255"/>
                  </a:cubicBezTo>
                  <a:lnTo>
                    <a:pt x="0" y="0"/>
                  </a:lnTo>
                  <a:lnTo>
                    <a:pt x="1205086" y="695764"/>
                  </a:lnTo>
                  <a:lnTo>
                    <a:pt x="1205086" y="695764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259E1A2-1CD6-E4A9-CA87-EC0CFB70A2D0}"/>
                </a:ext>
              </a:extLst>
            </p:cNvPr>
            <p:cNvSpPr/>
            <p:nvPr/>
          </p:nvSpPr>
          <p:spPr>
            <a:xfrm>
              <a:off x="4889891" y="2861358"/>
              <a:ext cx="1195943" cy="1386174"/>
            </a:xfrm>
            <a:custGeom>
              <a:avLst/>
              <a:gdLst>
                <a:gd name="connsiteX0" fmla="*/ 1195943 w 1195943"/>
                <a:gd name="connsiteY0" fmla="*/ 1386174 h 1386174"/>
                <a:gd name="connsiteX1" fmla="*/ 0 w 1195943"/>
                <a:gd name="connsiteY1" fmla="*/ 690471 h 1386174"/>
                <a:gd name="connsiteX2" fmla="*/ 1195943 w 1195943"/>
                <a:gd name="connsiteY2" fmla="*/ 0 h 1386174"/>
                <a:gd name="connsiteX3" fmla="*/ 1195943 w 1195943"/>
                <a:gd name="connsiteY3" fmla="*/ 1386174 h 1386174"/>
                <a:gd name="connsiteX4" fmla="*/ 1195943 w 1195943"/>
                <a:gd name="connsiteY4" fmla="*/ 1386174 h 138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943" h="1386174">
                  <a:moveTo>
                    <a:pt x="1195943" y="1386174"/>
                  </a:moveTo>
                  <a:cubicBezTo>
                    <a:pt x="686060" y="1380380"/>
                    <a:pt x="241137" y="1102231"/>
                    <a:pt x="0" y="690471"/>
                  </a:cubicBezTo>
                  <a:lnTo>
                    <a:pt x="1195943" y="0"/>
                  </a:lnTo>
                  <a:lnTo>
                    <a:pt x="1195943" y="1386174"/>
                  </a:lnTo>
                  <a:lnTo>
                    <a:pt x="1195943" y="1386174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1301BE-6835-6FB0-93CF-5F94F5D81FC2}"/>
                </a:ext>
              </a:extLst>
            </p:cNvPr>
            <p:cNvSpPr/>
            <p:nvPr/>
          </p:nvSpPr>
          <p:spPr>
            <a:xfrm>
              <a:off x="6115929" y="2148211"/>
              <a:ext cx="1389703" cy="1391567"/>
            </a:xfrm>
            <a:custGeom>
              <a:avLst/>
              <a:gdLst>
                <a:gd name="connsiteX0" fmla="*/ 1205126 w 1389703"/>
                <a:gd name="connsiteY0" fmla="*/ 0 h 1391567"/>
                <a:gd name="connsiteX1" fmla="*/ 1389703 w 1389703"/>
                <a:gd name="connsiteY1" fmla="*/ 695784 h 1391567"/>
                <a:gd name="connsiteX2" fmla="*/ 1205126 w 1389703"/>
                <a:gd name="connsiteY2" fmla="*/ 1391568 h 1391567"/>
                <a:gd name="connsiteX3" fmla="*/ 0 w 1389703"/>
                <a:gd name="connsiteY3" fmla="*/ 695784 h 1391567"/>
                <a:gd name="connsiteX4" fmla="*/ 1205126 w 1389703"/>
                <a:gd name="connsiteY4" fmla="*/ 0 h 1391567"/>
                <a:gd name="connsiteX5" fmla="*/ 1205126 w 1389703"/>
                <a:gd name="connsiteY5" fmla="*/ 0 h 139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9703" h="1391567">
                  <a:moveTo>
                    <a:pt x="1205126" y="0"/>
                  </a:moveTo>
                  <a:cubicBezTo>
                    <a:pt x="1322557" y="205148"/>
                    <a:pt x="1389703" y="442697"/>
                    <a:pt x="1389703" y="695784"/>
                  </a:cubicBezTo>
                  <a:cubicBezTo>
                    <a:pt x="1389703" y="948871"/>
                    <a:pt x="1322577" y="1186419"/>
                    <a:pt x="1205126" y="1391568"/>
                  </a:cubicBezTo>
                  <a:lnTo>
                    <a:pt x="0" y="695784"/>
                  </a:lnTo>
                  <a:lnTo>
                    <a:pt x="1205126" y="0"/>
                  </a:lnTo>
                  <a:lnTo>
                    <a:pt x="1205126" y="0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DACE4D-ABA7-447D-5C9A-FA95CB0D95BC}"/>
                </a:ext>
              </a:extLst>
            </p:cNvPr>
            <p:cNvSpPr/>
            <p:nvPr/>
          </p:nvSpPr>
          <p:spPr>
            <a:xfrm>
              <a:off x="4698337" y="2153524"/>
              <a:ext cx="1377472" cy="1380941"/>
            </a:xfrm>
            <a:custGeom>
              <a:avLst/>
              <a:gdLst>
                <a:gd name="connsiteX0" fmla="*/ 1377473 w 1377472"/>
                <a:gd name="connsiteY0" fmla="*/ 690471 h 1380941"/>
                <a:gd name="connsiteX1" fmla="*/ 181550 w 1377472"/>
                <a:gd name="connsiteY1" fmla="*/ 1380941 h 1380941"/>
                <a:gd name="connsiteX2" fmla="*/ 0 w 1377472"/>
                <a:gd name="connsiteY2" fmla="*/ 690471 h 1380941"/>
                <a:gd name="connsiteX3" fmla="*/ 181550 w 1377472"/>
                <a:gd name="connsiteY3" fmla="*/ 0 h 1380941"/>
                <a:gd name="connsiteX4" fmla="*/ 1377473 w 1377472"/>
                <a:gd name="connsiteY4" fmla="*/ 690471 h 1380941"/>
                <a:gd name="connsiteX5" fmla="*/ 1377473 w 1377472"/>
                <a:gd name="connsiteY5" fmla="*/ 690471 h 1380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7472" h="1380941">
                  <a:moveTo>
                    <a:pt x="1377473" y="690471"/>
                  </a:moveTo>
                  <a:lnTo>
                    <a:pt x="181550" y="1380941"/>
                  </a:lnTo>
                  <a:cubicBezTo>
                    <a:pt x="65984" y="1177036"/>
                    <a:pt x="0" y="941392"/>
                    <a:pt x="0" y="690471"/>
                  </a:cubicBezTo>
                  <a:cubicBezTo>
                    <a:pt x="0" y="439549"/>
                    <a:pt x="65984" y="203905"/>
                    <a:pt x="181550" y="0"/>
                  </a:cubicBezTo>
                  <a:lnTo>
                    <a:pt x="1377473" y="690471"/>
                  </a:lnTo>
                  <a:lnTo>
                    <a:pt x="1377473" y="690471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9D3C32E-C0F6-79F1-3B68-A271AB3823F4}"/>
                </a:ext>
              </a:extLst>
            </p:cNvPr>
            <p:cNvSpPr/>
            <p:nvPr/>
          </p:nvSpPr>
          <p:spPr>
            <a:xfrm>
              <a:off x="4889891" y="1440457"/>
              <a:ext cx="1195943" cy="1386174"/>
            </a:xfrm>
            <a:custGeom>
              <a:avLst/>
              <a:gdLst>
                <a:gd name="connsiteX0" fmla="*/ 1195943 w 1195943"/>
                <a:gd name="connsiteY0" fmla="*/ 1386174 h 1386174"/>
                <a:gd name="connsiteX1" fmla="*/ 0 w 1195943"/>
                <a:gd name="connsiteY1" fmla="*/ 695704 h 1386174"/>
                <a:gd name="connsiteX2" fmla="*/ 1195943 w 1195943"/>
                <a:gd name="connsiteY2" fmla="*/ 0 h 1386174"/>
                <a:gd name="connsiteX3" fmla="*/ 1195943 w 1195943"/>
                <a:gd name="connsiteY3" fmla="*/ 1386174 h 1386174"/>
                <a:gd name="connsiteX4" fmla="*/ 1195943 w 1195943"/>
                <a:gd name="connsiteY4" fmla="*/ 1386174 h 138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943" h="1386174">
                  <a:moveTo>
                    <a:pt x="1195943" y="1386174"/>
                  </a:moveTo>
                  <a:lnTo>
                    <a:pt x="0" y="695704"/>
                  </a:lnTo>
                  <a:cubicBezTo>
                    <a:pt x="241078" y="283964"/>
                    <a:pt x="686060" y="5734"/>
                    <a:pt x="1195943" y="0"/>
                  </a:cubicBezTo>
                  <a:lnTo>
                    <a:pt x="1195943" y="1386174"/>
                  </a:lnTo>
                  <a:lnTo>
                    <a:pt x="1195943" y="1386174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0108D9-C765-2EFC-6AA8-C5180F67C999}"/>
                </a:ext>
              </a:extLst>
            </p:cNvPr>
            <p:cNvSpPr/>
            <p:nvPr/>
          </p:nvSpPr>
          <p:spPr>
            <a:xfrm>
              <a:off x="6105884" y="1440377"/>
              <a:ext cx="1205085" cy="1386254"/>
            </a:xfrm>
            <a:custGeom>
              <a:avLst/>
              <a:gdLst>
                <a:gd name="connsiteX0" fmla="*/ 0 w 1205085"/>
                <a:gd name="connsiteY0" fmla="*/ 0 h 1386254"/>
                <a:gd name="connsiteX1" fmla="*/ 1205086 w 1205085"/>
                <a:gd name="connsiteY1" fmla="*/ 690491 h 1386254"/>
                <a:gd name="connsiteX2" fmla="*/ 0 w 1205085"/>
                <a:gd name="connsiteY2" fmla="*/ 1386255 h 1386254"/>
                <a:gd name="connsiteX3" fmla="*/ 0 w 1205085"/>
                <a:gd name="connsiteY3" fmla="*/ 0 h 1386254"/>
                <a:gd name="connsiteX4" fmla="*/ 0 w 1205085"/>
                <a:gd name="connsiteY4" fmla="*/ 0 h 138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5085" h="1386254">
                  <a:moveTo>
                    <a:pt x="0" y="0"/>
                  </a:moveTo>
                  <a:cubicBezTo>
                    <a:pt x="512831" y="1404"/>
                    <a:pt x="961342" y="278390"/>
                    <a:pt x="1205086" y="690491"/>
                  </a:cubicBezTo>
                  <a:lnTo>
                    <a:pt x="0" y="138625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B98F90-153B-132A-E47E-81FD1C068099}"/>
                </a:ext>
              </a:extLst>
            </p:cNvPr>
            <p:cNvSpPr/>
            <p:nvPr/>
          </p:nvSpPr>
          <p:spPr>
            <a:xfrm>
              <a:off x="5200180" y="1942221"/>
              <a:ext cx="1803568" cy="1803548"/>
            </a:xfrm>
            <a:custGeom>
              <a:avLst/>
              <a:gdLst>
                <a:gd name="connsiteX0" fmla="*/ 901794 w 1803568"/>
                <a:gd name="connsiteY0" fmla="*/ 0 h 1803548"/>
                <a:gd name="connsiteX1" fmla="*/ 1803569 w 1803568"/>
                <a:gd name="connsiteY1" fmla="*/ 901774 h 1803548"/>
                <a:gd name="connsiteX2" fmla="*/ 901794 w 1803568"/>
                <a:gd name="connsiteY2" fmla="*/ 1803548 h 1803548"/>
                <a:gd name="connsiteX3" fmla="*/ 0 w 1803568"/>
                <a:gd name="connsiteY3" fmla="*/ 901774 h 1803548"/>
                <a:gd name="connsiteX4" fmla="*/ 901794 w 1803568"/>
                <a:gd name="connsiteY4" fmla="*/ 0 h 1803548"/>
                <a:gd name="connsiteX5" fmla="*/ 901794 w 1803568"/>
                <a:gd name="connsiteY5" fmla="*/ 0 h 180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3568" h="1803548">
                  <a:moveTo>
                    <a:pt x="901794" y="0"/>
                  </a:moveTo>
                  <a:cubicBezTo>
                    <a:pt x="1399508" y="0"/>
                    <a:pt x="1803569" y="404081"/>
                    <a:pt x="1803569" y="901774"/>
                  </a:cubicBezTo>
                  <a:cubicBezTo>
                    <a:pt x="1803569" y="1399467"/>
                    <a:pt x="1399488" y="1803548"/>
                    <a:pt x="901794" y="1803548"/>
                  </a:cubicBezTo>
                  <a:cubicBezTo>
                    <a:pt x="404101" y="1803548"/>
                    <a:pt x="0" y="1399467"/>
                    <a:pt x="0" y="901774"/>
                  </a:cubicBezTo>
                  <a:cubicBezTo>
                    <a:pt x="0" y="404081"/>
                    <a:pt x="404081" y="0"/>
                    <a:pt x="901794" y="0"/>
                  </a:cubicBezTo>
                  <a:lnTo>
                    <a:pt x="901794" y="0"/>
                  </a:lnTo>
                  <a:close/>
                </a:path>
              </a:pathLst>
            </a:custGeom>
            <a:solidFill>
              <a:srgbClr val="FFFFFF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1795AA-39AF-1D2F-4AD6-2FF1D5D506FD}"/>
                </a:ext>
              </a:extLst>
            </p:cNvPr>
            <p:cNvSpPr/>
            <p:nvPr/>
          </p:nvSpPr>
          <p:spPr>
            <a:xfrm>
              <a:off x="6424313" y="717970"/>
              <a:ext cx="4683224" cy="1314334"/>
            </a:xfrm>
            <a:custGeom>
              <a:avLst/>
              <a:gdLst>
                <a:gd name="connsiteX0" fmla="*/ 20 w 4522424"/>
                <a:gd name="connsiteY0" fmla="*/ 585130 h 1306677"/>
                <a:gd name="connsiteX1" fmla="*/ 20 w 4522424"/>
                <a:gd name="connsiteY1" fmla="*/ 165570 h 1306677"/>
                <a:gd name="connsiteX2" fmla="*/ 165590 w 4522424"/>
                <a:gd name="connsiteY2" fmla="*/ 0 h 1306677"/>
                <a:gd name="connsiteX3" fmla="*/ 4356855 w 4522424"/>
                <a:gd name="connsiteY3" fmla="*/ 0 h 1306677"/>
                <a:gd name="connsiteX4" fmla="*/ 4522425 w 4522424"/>
                <a:gd name="connsiteY4" fmla="*/ 165570 h 1306677"/>
                <a:gd name="connsiteX5" fmla="*/ 4522425 w 4522424"/>
                <a:gd name="connsiteY5" fmla="*/ 1141107 h 1306677"/>
                <a:gd name="connsiteX6" fmla="*/ 4356855 w 4522424"/>
                <a:gd name="connsiteY6" fmla="*/ 1306677 h 1306677"/>
                <a:gd name="connsiteX7" fmla="*/ 1017481 w 4522424"/>
                <a:gd name="connsiteY7" fmla="*/ 1306677 h 1306677"/>
                <a:gd name="connsiteX8" fmla="*/ 0 w 4522424"/>
                <a:gd name="connsiteY8" fmla="*/ 585110 h 1306677"/>
                <a:gd name="connsiteX9" fmla="*/ 0 w 4522424"/>
                <a:gd name="connsiteY9" fmla="*/ 585110 h 130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24" h="1306677">
                  <a:moveTo>
                    <a:pt x="20" y="585130"/>
                  </a:moveTo>
                  <a:lnTo>
                    <a:pt x="20" y="165570"/>
                  </a:lnTo>
                  <a:cubicBezTo>
                    <a:pt x="20" y="74124"/>
                    <a:pt x="74144" y="0"/>
                    <a:pt x="165590" y="0"/>
                  </a:cubicBezTo>
                  <a:lnTo>
                    <a:pt x="4356855" y="0"/>
                  </a:lnTo>
                  <a:cubicBezTo>
                    <a:pt x="4448302" y="0"/>
                    <a:pt x="4522425" y="74144"/>
                    <a:pt x="4522425" y="165570"/>
                  </a:cubicBezTo>
                  <a:lnTo>
                    <a:pt x="4522425" y="1141107"/>
                  </a:lnTo>
                  <a:cubicBezTo>
                    <a:pt x="4522425" y="1232554"/>
                    <a:pt x="4448281" y="1306677"/>
                    <a:pt x="4356855" y="1306677"/>
                  </a:cubicBezTo>
                  <a:lnTo>
                    <a:pt x="1017481" y="1306677"/>
                  </a:lnTo>
                  <a:cubicBezTo>
                    <a:pt x="796133" y="942335"/>
                    <a:pt x="430426" y="675273"/>
                    <a:pt x="0" y="585110"/>
                  </a:cubicBezTo>
                  <a:lnTo>
                    <a:pt x="0" y="58511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421BD23-DDD7-7BB4-80DC-2B7AD8039B43}"/>
                </a:ext>
              </a:extLst>
            </p:cNvPr>
            <p:cNvSpPr/>
            <p:nvPr/>
          </p:nvSpPr>
          <p:spPr>
            <a:xfrm>
              <a:off x="7525922" y="2190596"/>
              <a:ext cx="3581614" cy="1306717"/>
            </a:xfrm>
            <a:custGeom>
              <a:avLst/>
              <a:gdLst>
                <a:gd name="connsiteX0" fmla="*/ 0 w 3420815"/>
                <a:gd name="connsiteY0" fmla="*/ 40 h 1306717"/>
                <a:gd name="connsiteX1" fmla="*/ 3255245 w 3420815"/>
                <a:gd name="connsiteY1" fmla="*/ 40 h 1306717"/>
                <a:gd name="connsiteX2" fmla="*/ 3420816 w 3420815"/>
                <a:gd name="connsiteY2" fmla="*/ 165610 h 1306717"/>
                <a:gd name="connsiteX3" fmla="*/ 3420816 w 3420815"/>
                <a:gd name="connsiteY3" fmla="*/ 1141147 h 1306717"/>
                <a:gd name="connsiteX4" fmla="*/ 3255245 w 3420815"/>
                <a:gd name="connsiteY4" fmla="*/ 1306718 h 1306717"/>
                <a:gd name="connsiteX5" fmla="*/ 0 w 3420815"/>
                <a:gd name="connsiteY5" fmla="*/ 1306718 h 1306717"/>
                <a:gd name="connsiteX6" fmla="*/ 142573 w 3420815"/>
                <a:gd name="connsiteY6" fmla="*/ 653359 h 1306717"/>
                <a:gd name="connsiteX7" fmla="*/ 0 w 3420815"/>
                <a:gd name="connsiteY7" fmla="*/ 0 h 1306717"/>
                <a:gd name="connsiteX8" fmla="*/ 0 w 3420815"/>
                <a:gd name="connsiteY8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0815" h="1306717">
                  <a:moveTo>
                    <a:pt x="0" y="40"/>
                  </a:moveTo>
                  <a:lnTo>
                    <a:pt x="3255245" y="40"/>
                  </a:lnTo>
                  <a:cubicBezTo>
                    <a:pt x="3346692" y="40"/>
                    <a:pt x="3420816" y="74164"/>
                    <a:pt x="3420816" y="165610"/>
                  </a:cubicBezTo>
                  <a:lnTo>
                    <a:pt x="3420816" y="1141147"/>
                  </a:lnTo>
                  <a:cubicBezTo>
                    <a:pt x="3420816" y="1232594"/>
                    <a:pt x="3346672" y="1306718"/>
                    <a:pt x="3255245" y="1306718"/>
                  </a:cubicBezTo>
                  <a:lnTo>
                    <a:pt x="0" y="1306718"/>
                  </a:lnTo>
                  <a:cubicBezTo>
                    <a:pt x="91507" y="1107885"/>
                    <a:pt x="142573" y="886536"/>
                    <a:pt x="142573" y="653359"/>
                  </a:cubicBezTo>
                  <a:cubicBezTo>
                    <a:pt x="142573" y="420181"/>
                    <a:pt x="91527" y="19883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22112F0-14B4-688B-4F50-72CA178F847B}"/>
                </a:ext>
              </a:extLst>
            </p:cNvPr>
            <p:cNvSpPr/>
            <p:nvPr/>
          </p:nvSpPr>
          <p:spPr>
            <a:xfrm>
              <a:off x="6424333" y="3655646"/>
              <a:ext cx="4721490" cy="1315905"/>
            </a:xfrm>
            <a:custGeom>
              <a:avLst/>
              <a:gdLst>
                <a:gd name="connsiteX0" fmla="*/ 1017461 w 4522404"/>
                <a:gd name="connsiteY0" fmla="*/ 20 h 1306717"/>
                <a:gd name="connsiteX1" fmla="*/ 4356834 w 4522404"/>
                <a:gd name="connsiteY1" fmla="*/ 20 h 1306717"/>
                <a:gd name="connsiteX2" fmla="*/ 4522405 w 4522404"/>
                <a:gd name="connsiteY2" fmla="*/ 165590 h 1306717"/>
                <a:gd name="connsiteX3" fmla="*/ 4522405 w 4522404"/>
                <a:gd name="connsiteY3" fmla="*/ 1141127 h 1306717"/>
                <a:gd name="connsiteX4" fmla="*/ 4356834 w 4522404"/>
                <a:gd name="connsiteY4" fmla="*/ 1306718 h 1306717"/>
                <a:gd name="connsiteX5" fmla="*/ 165570 w 4522404"/>
                <a:gd name="connsiteY5" fmla="*/ 1306718 h 1306717"/>
                <a:gd name="connsiteX6" fmla="*/ 0 w 4522404"/>
                <a:gd name="connsiteY6" fmla="*/ 1141127 h 1306717"/>
                <a:gd name="connsiteX7" fmla="*/ 0 w 4522404"/>
                <a:gd name="connsiteY7" fmla="*/ 721568 h 1306717"/>
                <a:gd name="connsiteX8" fmla="*/ 1017481 w 4522404"/>
                <a:gd name="connsiteY8" fmla="*/ 0 h 1306717"/>
                <a:gd name="connsiteX9" fmla="*/ 1017481 w 4522404"/>
                <a:gd name="connsiteY9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04" h="1306717">
                  <a:moveTo>
                    <a:pt x="1017461" y="20"/>
                  </a:moveTo>
                  <a:lnTo>
                    <a:pt x="4356834" y="20"/>
                  </a:lnTo>
                  <a:cubicBezTo>
                    <a:pt x="4448282" y="20"/>
                    <a:pt x="4522405" y="74144"/>
                    <a:pt x="4522405" y="165590"/>
                  </a:cubicBezTo>
                  <a:lnTo>
                    <a:pt x="4522405" y="1141127"/>
                  </a:lnTo>
                  <a:cubicBezTo>
                    <a:pt x="4522405" y="1232574"/>
                    <a:pt x="4448261" y="1306718"/>
                    <a:pt x="4356834" y="1306718"/>
                  </a:cubicBezTo>
                  <a:lnTo>
                    <a:pt x="165570" y="1306718"/>
                  </a:lnTo>
                  <a:cubicBezTo>
                    <a:pt x="74124" y="1306718"/>
                    <a:pt x="0" y="1232594"/>
                    <a:pt x="0" y="1141127"/>
                  </a:cubicBezTo>
                  <a:lnTo>
                    <a:pt x="0" y="721568"/>
                  </a:lnTo>
                  <a:cubicBezTo>
                    <a:pt x="430446" y="631384"/>
                    <a:pt x="796153" y="364302"/>
                    <a:pt x="1017481" y="0"/>
                  </a:cubicBezTo>
                  <a:lnTo>
                    <a:pt x="1017481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9FCFC8C-68D2-4CFD-D3BF-66FBB271BB36}"/>
                </a:ext>
              </a:extLst>
            </p:cNvPr>
            <p:cNvSpPr/>
            <p:nvPr/>
          </p:nvSpPr>
          <p:spPr>
            <a:xfrm>
              <a:off x="1244980" y="725626"/>
              <a:ext cx="4522445" cy="1306677"/>
            </a:xfrm>
            <a:custGeom>
              <a:avLst/>
              <a:gdLst>
                <a:gd name="connsiteX0" fmla="*/ 4522425 w 4522445"/>
                <a:gd name="connsiteY0" fmla="*/ 585130 h 1306677"/>
                <a:gd name="connsiteX1" fmla="*/ 4522425 w 4522445"/>
                <a:gd name="connsiteY1" fmla="*/ 165570 h 1306677"/>
                <a:gd name="connsiteX2" fmla="*/ 4356835 w 4522445"/>
                <a:gd name="connsiteY2" fmla="*/ 0 h 1306677"/>
                <a:gd name="connsiteX3" fmla="*/ 165590 w 4522445"/>
                <a:gd name="connsiteY3" fmla="*/ 0 h 1306677"/>
                <a:gd name="connsiteX4" fmla="*/ 0 w 4522445"/>
                <a:gd name="connsiteY4" fmla="*/ 165570 h 1306677"/>
                <a:gd name="connsiteX5" fmla="*/ 0 w 4522445"/>
                <a:gd name="connsiteY5" fmla="*/ 1141107 h 1306677"/>
                <a:gd name="connsiteX6" fmla="*/ 165590 w 4522445"/>
                <a:gd name="connsiteY6" fmla="*/ 1306677 h 1306677"/>
                <a:gd name="connsiteX7" fmla="*/ 3504964 w 4522445"/>
                <a:gd name="connsiteY7" fmla="*/ 1306677 h 1306677"/>
                <a:gd name="connsiteX8" fmla="*/ 4522445 w 4522445"/>
                <a:gd name="connsiteY8" fmla="*/ 585110 h 1306677"/>
                <a:gd name="connsiteX9" fmla="*/ 4522445 w 4522445"/>
                <a:gd name="connsiteY9" fmla="*/ 585110 h 130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45" h="1306677">
                  <a:moveTo>
                    <a:pt x="4522425" y="585130"/>
                  </a:moveTo>
                  <a:lnTo>
                    <a:pt x="4522425" y="165570"/>
                  </a:lnTo>
                  <a:cubicBezTo>
                    <a:pt x="4522425" y="74124"/>
                    <a:pt x="4448301" y="0"/>
                    <a:pt x="4356835" y="0"/>
                  </a:cubicBezTo>
                  <a:lnTo>
                    <a:pt x="165590" y="0"/>
                  </a:lnTo>
                  <a:cubicBezTo>
                    <a:pt x="74144" y="0"/>
                    <a:pt x="0" y="74144"/>
                    <a:pt x="0" y="165570"/>
                  </a:cubicBezTo>
                  <a:lnTo>
                    <a:pt x="0" y="1141107"/>
                  </a:lnTo>
                  <a:cubicBezTo>
                    <a:pt x="0" y="1232554"/>
                    <a:pt x="74144" y="1306677"/>
                    <a:pt x="165590" y="1306677"/>
                  </a:cubicBezTo>
                  <a:lnTo>
                    <a:pt x="3504964" y="1306677"/>
                  </a:lnTo>
                  <a:cubicBezTo>
                    <a:pt x="3726313" y="942335"/>
                    <a:pt x="4092019" y="675273"/>
                    <a:pt x="4522445" y="585110"/>
                  </a:cubicBezTo>
                  <a:lnTo>
                    <a:pt x="4522445" y="58511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9F73230-22D8-E088-D9AE-CCF5BE09F01E}"/>
                </a:ext>
              </a:extLst>
            </p:cNvPr>
            <p:cNvSpPr/>
            <p:nvPr/>
          </p:nvSpPr>
          <p:spPr>
            <a:xfrm>
              <a:off x="1244980" y="2190596"/>
              <a:ext cx="3420835" cy="1306717"/>
            </a:xfrm>
            <a:custGeom>
              <a:avLst/>
              <a:gdLst>
                <a:gd name="connsiteX0" fmla="*/ 3420816 w 3420835"/>
                <a:gd name="connsiteY0" fmla="*/ 40 h 1306717"/>
                <a:gd name="connsiteX1" fmla="*/ 165590 w 3420835"/>
                <a:gd name="connsiteY1" fmla="*/ 40 h 1306717"/>
                <a:gd name="connsiteX2" fmla="*/ 0 w 3420835"/>
                <a:gd name="connsiteY2" fmla="*/ 165610 h 1306717"/>
                <a:gd name="connsiteX3" fmla="*/ 0 w 3420835"/>
                <a:gd name="connsiteY3" fmla="*/ 1141147 h 1306717"/>
                <a:gd name="connsiteX4" fmla="*/ 165590 w 3420835"/>
                <a:gd name="connsiteY4" fmla="*/ 1306718 h 1306717"/>
                <a:gd name="connsiteX5" fmla="*/ 3420836 w 3420835"/>
                <a:gd name="connsiteY5" fmla="*/ 1306718 h 1306717"/>
                <a:gd name="connsiteX6" fmla="*/ 3278262 w 3420835"/>
                <a:gd name="connsiteY6" fmla="*/ 653359 h 1306717"/>
                <a:gd name="connsiteX7" fmla="*/ 3420836 w 3420835"/>
                <a:gd name="connsiteY7" fmla="*/ 0 h 1306717"/>
                <a:gd name="connsiteX8" fmla="*/ 3420836 w 3420835"/>
                <a:gd name="connsiteY8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0835" h="1306717">
                  <a:moveTo>
                    <a:pt x="3420816" y="40"/>
                  </a:moveTo>
                  <a:lnTo>
                    <a:pt x="165590" y="40"/>
                  </a:lnTo>
                  <a:cubicBezTo>
                    <a:pt x="74144" y="40"/>
                    <a:pt x="0" y="74164"/>
                    <a:pt x="0" y="165610"/>
                  </a:cubicBezTo>
                  <a:lnTo>
                    <a:pt x="0" y="1141147"/>
                  </a:lnTo>
                  <a:cubicBezTo>
                    <a:pt x="0" y="1232594"/>
                    <a:pt x="74144" y="1306718"/>
                    <a:pt x="165590" y="1306718"/>
                  </a:cubicBezTo>
                  <a:lnTo>
                    <a:pt x="3420836" y="1306718"/>
                  </a:lnTo>
                  <a:cubicBezTo>
                    <a:pt x="3329329" y="1107885"/>
                    <a:pt x="3278262" y="886536"/>
                    <a:pt x="3278262" y="653359"/>
                  </a:cubicBezTo>
                  <a:cubicBezTo>
                    <a:pt x="3278262" y="420181"/>
                    <a:pt x="3329329" y="198833"/>
                    <a:pt x="3420836" y="0"/>
                  </a:cubicBezTo>
                  <a:lnTo>
                    <a:pt x="3420836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9CA2C5-F47B-FA75-B9FC-768747E13C28}"/>
                </a:ext>
              </a:extLst>
            </p:cNvPr>
            <p:cNvSpPr/>
            <p:nvPr/>
          </p:nvSpPr>
          <p:spPr>
            <a:xfrm>
              <a:off x="1244980" y="3655646"/>
              <a:ext cx="4522445" cy="1306717"/>
            </a:xfrm>
            <a:custGeom>
              <a:avLst/>
              <a:gdLst>
                <a:gd name="connsiteX0" fmla="*/ 3504944 w 4522445"/>
                <a:gd name="connsiteY0" fmla="*/ 20 h 1306717"/>
                <a:gd name="connsiteX1" fmla="*/ 165590 w 4522445"/>
                <a:gd name="connsiteY1" fmla="*/ 20 h 1306717"/>
                <a:gd name="connsiteX2" fmla="*/ 0 w 4522445"/>
                <a:gd name="connsiteY2" fmla="*/ 165590 h 1306717"/>
                <a:gd name="connsiteX3" fmla="*/ 0 w 4522445"/>
                <a:gd name="connsiteY3" fmla="*/ 1141127 h 1306717"/>
                <a:gd name="connsiteX4" fmla="*/ 165590 w 4522445"/>
                <a:gd name="connsiteY4" fmla="*/ 1306718 h 1306717"/>
                <a:gd name="connsiteX5" fmla="*/ 4356855 w 4522445"/>
                <a:gd name="connsiteY5" fmla="*/ 1306718 h 1306717"/>
                <a:gd name="connsiteX6" fmla="*/ 4522445 w 4522445"/>
                <a:gd name="connsiteY6" fmla="*/ 1141127 h 1306717"/>
                <a:gd name="connsiteX7" fmla="*/ 4522445 w 4522445"/>
                <a:gd name="connsiteY7" fmla="*/ 721568 h 1306717"/>
                <a:gd name="connsiteX8" fmla="*/ 3504964 w 4522445"/>
                <a:gd name="connsiteY8" fmla="*/ 0 h 1306717"/>
                <a:gd name="connsiteX9" fmla="*/ 3504964 w 4522445"/>
                <a:gd name="connsiteY9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45" h="1306717">
                  <a:moveTo>
                    <a:pt x="3504944" y="20"/>
                  </a:moveTo>
                  <a:lnTo>
                    <a:pt x="165590" y="20"/>
                  </a:lnTo>
                  <a:cubicBezTo>
                    <a:pt x="74144" y="20"/>
                    <a:pt x="0" y="74144"/>
                    <a:pt x="0" y="165590"/>
                  </a:cubicBezTo>
                  <a:lnTo>
                    <a:pt x="0" y="1141127"/>
                  </a:lnTo>
                  <a:cubicBezTo>
                    <a:pt x="0" y="1232574"/>
                    <a:pt x="74144" y="1306718"/>
                    <a:pt x="165590" y="1306718"/>
                  </a:cubicBezTo>
                  <a:lnTo>
                    <a:pt x="4356855" y="1306718"/>
                  </a:lnTo>
                  <a:cubicBezTo>
                    <a:pt x="4448301" y="1306718"/>
                    <a:pt x="4522445" y="1232594"/>
                    <a:pt x="4522445" y="1141127"/>
                  </a:cubicBezTo>
                  <a:lnTo>
                    <a:pt x="4522445" y="721568"/>
                  </a:lnTo>
                  <a:cubicBezTo>
                    <a:pt x="4091999" y="631384"/>
                    <a:pt x="3726293" y="364302"/>
                    <a:pt x="3504964" y="0"/>
                  </a:cubicBezTo>
                  <a:lnTo>
                    <a:pt x="3504964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62724C-02F4-04AB-DEE5-9CE74E793807}"/>
                </a:ext>
              </a:extLst>
            </p:cNvPr>
            <p:cNvSpPr txBox="1"/>
            <p:nvPr/>
          </p:nvSpPr>
          <p:spPr>
            <a:xfrm>
              <a:off x="1386113" y="778894"/>
              <a:ext cx="3169098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End-to-End Android Stack Ownership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4C3B3D-EDBB-AFCE-30DF-51C6FE05A1D9}"/>
                </a:ext>
              </a:extLst>
            </p:cNvPr>
            <p:cNvSpPr txBox="1"/>
            <p:nvPr/>
          </p:nvSpPr>
          <p:spPr>
            <a:xfrm>
              <a:off x="1386113" y="1100101"/>
              <a:ext cx="3185369" cy="649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BSP, Kernel, Drivers, HAL (HIDL → AIDL), Framework,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SystemUI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/Launcher, Apps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Proven Android upgrades from android 12 onwards  to </a:t>
              </a:r>
              <a:endPara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     android 16 (A12–A16) on Qualcomm IoT platforms</a:t>
              </a:r>
              <a:endPara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5A7065-8F82-FA1D-B466-80423182FD4D}"/>
                </a:ext>
              </a:extLst>
            </p:cNvPr>
            <p:cNvSpPr txBox="1"/>
            <p:nvPr/>
          </p:nvSpPr>
          <p:spPr>
            <a:xfrm>
              <a:off x="7485973" y="761612"/>
              <a:ext cx="3134866" cy="25979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Qualcomm and MTK Platform Expertise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649DC1-5FE7-4861-142C-AA94BA31A872}"/>
                </a:ext>
              </a:extLst>
            </p:cNvPr>
            <p:cNvSpPr txBox="1"/>
            <p:nvPr/>
          </p:nvSpPr>
          <p:spPr>
            <a:xfrm>
              <a:off x="7485973" y="1073402"/>
              <a:ext cx="3611124" cy="792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Hands-on experience with Qualcomm chipsets: MSM8909, QCM6125, QCS2290/4490, QCM8550, QCS8250, MDM9x07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Expertise in Qualcomm LA Android environments and MTK Android/kernel bring-up (MT6765, MT6769, NTN)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Strong understanding of QSSI, vendor, and firmware alignment</a:t>
              </a:r>
              <a:endPara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EE79AA-A7D7-E86E-81FE-51335D2EBF75}"/>
                </a:ext>
              </a:extLst>
            </p:cNvPr>
            <p:cNvSpPr txBox="1"/>
            <p:nvPr/>
          </p:nvSpPr>
          <p:spPr>
            <a:xfrm>
              <a:off x="1386113" y="3717085"/>
              <a:ext cx="2785374" cy="25979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Kernel &amp; Driver Expertise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2E892E-B006-E4F0-6F82-9F1C56B17C1B}"/>
                </a:ext>
              </a:extLst>
            </p:cNvPr>
            <p:cNvSpPr txBox="1"/>
            <p:nvPr/>
          </p:nvSpPr>
          <p:spPr>
            <a:xfrm>
              <a:off x="1386112" y="3928611"/>
              <a:ext cx="4649333" cy="935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Linux kernel upgrades 3.x → 6.x</a:t>
              </a: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Driver development &amp; integration for: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Display, Touch and Camera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Wifi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, BT and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Sesnors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Audio amplifiers (internal &amp; external), Fuel gauge and Charger ICs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Other custom peripherals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401B7D-356D-32DD-FB48-B23BCEBDE471}"/>
                </a:ext>
              </a:extLst>
            </p:cNvPr>
            <p:cNvSpPr txBox="1"/>
            <p:nvPr/>
          </p:nvSpPr>
          <p:spPr>
            <a:xfrm>
              <a:off x="1326771" y="2292726"/>
              <a:ext cx="3052884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HAL &amp; Framework Migration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99AB49-73FA-F47A-1B9D-FBE9B690C7F2}"/>
                </a:ext>
              </a:extLst>
            </p:cNvPr>
            <p:cNvSpPr txBox="1"/>
            <p:nvPr/>
          </p:nvSpPr>
          <p:spPr>
            <a:xfrm>
              <a:off x="1342085" y="2547843"/>
              <a:ext cx="2427177" cy="792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OEM HAL redesign and migration from HIDL to AIDL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Framework services, overlays, adaptation for Android 16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Treble and Mainline compliance readiness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E6DD8C-92BF-8D6B-D3C6-7DE007F462FC}"/>
                </a:ext>
              </a:extLst>
            </p:cNvPr>
            <p:cNvSpPr txBox="1"/>
            <p:nvPr/>
          </p:nvSpPr>
          <p:spPr>
            <a:xfrm>
              <a:off x="7753003" y="2276799"/>
              <a:ext cx="3052884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OTA &amp; Platform Stability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515ABC-B80C-59A4-61DB-7D10D9B0DB1D}"/>
                </a:ext>
              </a:extLst>
            </p:cNvPr>
            <p:cNvSpPr txBox="1"/>
            <p:nvPr/>
          </p:nvSpPr>
          <p:spPr>
            <a:xfrm>
              <a:off x="7552052" y="3758813"/>
              <a:ext cx="3238859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Quality &amp; Delivery Excellence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34A393-73DC-A06E-5A61-097C6C7CDBF5}"/>
                </a:ext>
              </a:extLst>
            </p:cNvPr>
            <p:cNvSpPr txBox="1"/>
            <p:nvPr/>
          </p:nvSpPr>
          <p:spPr>
            <a:xfrm>
              <a:off x="7552052" y="4067874"/>
              <a:ext cx="3138525" cy="792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SLA compliance, defect triage, and RCA (5-Why)</a:t>
              </a: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CI/CD, Gerrit-based development, structured release management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GMS Testing and Certification,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System and Integration Testing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C7A6CD-5580-D61F-55BF-61D35A614E37}"/>
                </a:ext>
              </a:extLst>
            </p:cNvPr>
            <p:cNvSpPr txBox="1"/>
            <p:nvPr/>
          </p:nvSpPr>
          <p:spPr>
            <a:xfrm>
              <a:off x="7753002" y="2555289"/>
              <a:ext cx="3354534" cy="506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OTA enablement for Android 12- Android 14  - Android 16</a:t>
              </a: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Performance tuning, boot stability, regression handling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CTS / VTS / STS subset execution and analysis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A36BB4E-C022-1B11-3761-CED71A4852A7}"/>
                </a:ext>
              </a:extLst>
            </p:cNvPr>
            <p:cNvGrpSpPr/>
            <p:nvPr/>
          </p:nvGrpSpPr>
          <p:grpSpPr>
            <a:xfrm>
              <a:off x="5001431" y="1400718"/>
              <a:ext cx="723173" cy="723173"/>
              <a:chOff x="5011241" y="1400718"/>
              <a:chExt cx="723173" cy="723173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9157DCE-FD7D-8FE1-3952-65D46135896B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03ACCE6D-23FD-E0B9-3BF2-8DA59783B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068468" y="1445828"/>
                <a:ext cx="608718" cy="608718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4BEF6D6-DA4E-D15B-544B-5EB2C0AD61F5}"/>
                </a:ext>
              </a:extLst>
            </p:cNvPr>
            <p:cNvGrpSpPr/>
            <p:nvPr/>
          </p:nvGrpSpPr>
          <p:grpSpPr>
            <a:xfrm>
              <a:off x="6432162" y="1400716"/>
              <a:ext cx="723173" cy="723173"/>
              <a:chOff x="5011241" y="1400718"/>
              <a:chExt cx="723173" cy="723173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5706E16-A1DE-CD82-0B24-0C52B0A46081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59697FA3-8544-3188-3A77-3A5722406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72591" y="1564509"/>
                <a:ext cx="448245" cy="448243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D123DE0-32BC-8F85-959E-1AA0F64473FA}"/>
                </a:ext>
              </a:extLst>
            </p:cNvPr>
            <p:cNvGrpSpPr/>
            <p:nvPr/>
          </p:nvGrpSpPr>
          <p:grpSpPr>
            <a:xfrm>
              <a:off x="7007809" y="2474531"/>
              <a:ext cx="723173" cy="723173"/>
              <a:chOff x="5011241" y="1400718"/>
              <a:chExt cx="723173" cy="723173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EB406AE-AD74-A4A8-2442-969D4F95F2E4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CAAE862D-B40B-E681-1590-A3E2667D2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29835" y="1501788"/>
                <a:ext cx="485749" cy="485749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61FB3D5-96BF-19B3-5764-5C7517531413}"/>
                </a:ext>
              </a:extLst>
            </p:cNvPr>
            <p:cNvGrpSpPr/>
            <p:nvPr/>
          </p:nvGrpSpPr>
          <p:grpSpPr>
            <a:xfrm>
              <a:off x="6432162" y="3579097"/>
              <a:ext cx="723173" cy="723173"/>
              <a:chOff x="5011241" y="1400718"/>
              <a:chExt cx="723173" cy="723173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AA1F3C0-6794-1A7D-75EC-AB4411735DA8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A3B2347F-439A-DB85-2B91-9BF2E4C51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14045" y="1522818"/>
                <a:ext cx="478971" cy="478971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DB1F23D-208E-6C13-86BF-2C166A410347}"/>
                </a:ext>
              </a:extLst>
            </p:cNvPr>
            <p:cNvGrpSpPr/>
            <p:nvPr/>
          </p:nvGrpSpPr>
          <p:grpSpPr>
            <a:xfrm>
              <a:off x="5001431" y="3579097"/>
              <a:ext cx="723173" cy="723173"/>
              <a:chOff x="5011241" y="1400718"/>
              <a:chExt cx="723173" cy="723173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EEC8965-8459-E061-D813-C274690AFE1D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CD2282E6-7F9B-C3D4-84EE-EAAB12547A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28118" y="1514420"/>
                <a:ext cx="492595" cy="492593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782B6A3-C58D-9903-FF25-3CCB766C7C3B}"/>
                </a:ext>
              </a:extLst>
            </p:cNvPr>
            <p:cNvGrpSpPr/>
            <p:nvPr/>
          </p:nvGrpSpPr>
          <p:grpSpPr>
            <a:xfrm>
              <a:off x="4438999" y="2474531"/>
              <a:ext cx="723173" cy="723173"/>
              <a:chOff x="5011241" y="1400718"/>
              <a:chExt cx="723173" cy="723173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4FB1704-4BF4-8200-66D0-8CE75FF08D23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79A18307-3D5F-8AB3-7997-E3671B3DBA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23693" y="1553416"/>
                <a:ext cx="478971" cy="478971"/>
              </a:xfrm>
              <a:prstGeom prst="rect">
                <a:avLst/>
              </a:prstGeom>
            </p:spPr>
          </p:pic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050EDC7-6BA1-83B9-B060-CAAADBE7BCE5}"/>
              </a:ext>
            </a:extLst>
          </p:cNvPr>
          <p:cNvSpPr txBox="1"/>
          <p:nvPr/>
        </p:nvSpPr>
        <p:spPr>
          <a:xfrm>
            <a:off x="3046906" y="68182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Android Platform Engineering</a:t>
            </a:r>
          </a:p>
        </p:txBody>
      </p:sp>
    </p:spTree>
    <p:extLst>
      <p:ext uri="{BB962C8B-B14F-4D97-AF65-F5344CB8AC3E}">
        <p14:creationId xmlns:p14="http://schemas.microsoft.com/office/powerpoint/2010/main" val="415301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0F45-8E93-C474-241A-EBAAE857E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DB21-5C25-8DE2-CBA2-A5A19B17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IN" dirty="0">
                <a:latin typeface="Roboto"/>
                <a:ea typeface="Roboto"/>
                <a:cs typeface="Roboto"/>
              </a:rPr>
              <a:t>Our Approach to bring-up Android on New device / Upgrades</a:t>
            </a:r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950E66-6C05-F24C-C95E-6B8667D57886}"/>
              </a:ext>
            </a:extLst>
          </p:cNvPr>
          <p:cNvGrpSpPr/>
          <p:nvPr/>
        </p:nvGrpSpPr>
        <p:grpSpPr>
          <a:xfrm>
            <a:off x="285205" y="721617"/>
            <a:ext cx="11718376" cy="4997540"/>
            <a:chOff x="97970" y="1155886"/>
            <a:chExt cx="14010121" cy="4204783"/>
          </a:xfrm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794FA59C-F4A4-6495-9F6A-CF70F6670BFC}"/>
                </a:ext>
              </a:extLst>
            </p:cNvPr>
            <p:cNvSpPr/>
            <p:nvPr/>
          </p:nvSpPr>
          <p:spPr>
            <a:xfrm>
              <a:off x="248276" y="1155886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AC422538-775C-B68B-A80A-3AE67023CE3D}"/>
                </a:ext>
              </a:extLst>
            </p:cNvPr>
            <p:cNvSpPr/>
            <p:nvPr/>
          </p:nvSpPr>
          <p:spPr>
            <a:xfrm>
              <a:off x="189224" y="1271817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5" y="459843"/>
                    <a:pt x="672633" y="356905"/>
                    <a:pt x="672633" y="229922"/>
                  </a:cubicBezTo>
                  <a:cubicBezTo>
                    <a:pt x="672633" y="102938"/>
                    <a:pt x="569695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A62FCD-0A33-4590-AEF8-9E956864262A}"/>
                </a:ext>
              </a:extLst>
            </p:cNvPr>
            <p:cNvSpPr txBox="1"/>
            <p:nvPr/>
          </p:nvSpPr>
          <p:spPr>
            <a:xfrm>
              <a:off x="247960" y="2047090"/>
              <a:ext cx="1794399" cy="297797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Fetch Qualcomm Android  baseline for targeted Android version.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Confirm vendor API level 32 (per Customer) and vendor image model with  QSSI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Analyse Customer Android deltas (Peripherals, HAL overlays, patches, apps)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Identify mandatory deltas for Android/Treble compliance</a:t>
              </a:r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B02A4886-AC9F-B9CB-0C72-896570B84187}"/>
                </a:ext>
              </a:extLst>
            </p:cNvPr>
            <p:cNvSpPr/>
            <p:nvPr/>
          </p:nvSpPr>
          <p:spPr>
            <a:xfrm>
              <a:off x="97971" y="1734196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Freeform: Shape 13">
              <a:extLst>
                <a:ext uri="{FF2B5EF4-FFF2-40B4-BE49-F238E27FC236}">
                  <a16:creationId xmlns:a16="http://schemas.microsoft.com/office/drawing/2014/main" id="{996C90EE-6BB4-5701-D271-E1A24B40A375}"/>
                </a:ext>
              </a:extLst>
            </p:cNvPr>
            <p:cNvSpPr/>
            <p:nvPr/>
          </p:nvSpPr>
          <p:spPr>
            <a:xfrm>
              <a:off x="97970" y="1269266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4485B9EE-6186-CF1A-FD2A-DC5C136A406F}"/>
                </a:ext>
              </a:extLst>
            </p:cNvPr>
            <p:cNvSpPr/>
            <p:nvPr/>
          </p:nvSpPr>
          <p:spPr>
            <a:xfrm>
              <a:off x="2258300" y="1162579"/>
              <a:ext cx="1794101" cy="4156065"/>
            </a:xfrm>
            <a:custGeom>
              <a:avLst/>
              <a:gdLst>
                <a:gd name="connsiteX0" fmla="*/ 1685400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0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0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0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278C6E9-11C0-0564-9918-AF7AD24755BC}"/>
                </a:ext>
              </a:extLst>
            </p:cNvPr>
            <p:cNvSpPr/>
            <p:nvPr/>
          </p:nvSpPr>
          <p:spPr>
            <a:xfrm>
              <a:off x="2199249" y="1278510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5" y="459843"/>
                    <a:pt x="672633" y="356905"/>
                    <a:pt x="672633" y="229922"/>
                  </a:cubicBezTo>
                  <a:cubicBezTo>
                    <a:pt x="672633" y="102938"/>
                    <a:pt x="569695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Freeform: Shape 16">
              <a:extLst>
                <a:ext uri="{FF2B5EF4-FFF2-40B4-BE49-F238E27FC236}">
                  <a16:creationId xmlns:a16="http://schemas.microsoft.com/office/drawing/2014/main" id="{A9997B5D-68C3-FA27-2207-798D6129A607}"/>
                </a:ext>
              </a:extLst>
            </p:cNvPr>
            <p:cNvSpPr/>
            <p:nvPr/>
          </p:nvSpPr>
          <p:spPr>
            <a:xfrm>
              <a:off x="2107979" y="1740889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21F5968D-0F3E-C797-DCDE-35A866CD0EDF}"/>
                </a:ext>
              </a:extLst>
            </p:cNvPr>
            <p:cNvSpPr/>
            <p:nvPr/>
          </p:nvSpPr>
          <p:spPr>
            <a:xfrm>
              <a:off x="2107995" y="1275959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Freeform: Shape 18">
              <a:extLst>
                <a:ext uri="{FF2B5EF4-FFF2-40B4-BE49-F238E27FC236}">
                  <a16:creationId xmlns:a16="http://schemas.microsoft.com/office/drawing/2014/main" id="{0F764C5C-B618-79EE-24FC-DC80EA7507CA}"/>
                </a:ext>
              </a:extLst>
            </p:cNvPr>
            <p:cNvSpPr/>
            <p:nvPr/>
          </p:nvSpPr>
          <p:spPr>
            <a:xfrm>
              <a:off x="4268309" y="1169271"/>
              <a:ext cx="1794101" cy="4156065"/>
            </a:xfrm>
            <a:custGeom>
              <a:avLst/>
              <a:gdLst>
                <a:gd name="connsiteX0" fmla="*/ 1685400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0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0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0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4" name="Freeform: Shape 19">
              <a:extLst>
                <a:ext uri="{FF2B5EF4-FFF2-40B4-BE49-F238E27FC236}">
                  <a16:creationId xmlns:a16="http://schemas.microsoft.com/office/drawing/2014/main" id="{4B187653-C232-D7FA-6671-DF07B6480002}"/>
                </a:ext>
              </a:extLst>
            </p:cNvPr>
            <p:cNvSpPr/>
            <p:nvPr/>
          </p:nvSpPr>
          <p:spPr>
            <a:xfrm>
              <a:off x="4209258" y="1285218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5" y="459843"/>
                    <a:pt x="672633" y="356905"/>
                    <a:pt x="672633" y="229922"/>
                  </a:cubicBezTo>
                  <a:cubicBezTo>
                    <a:pt x="672633" y="102938"/>
                    <a:pt x="569695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E25A6F65-C840-6BCC-067D-798D987A7CAA}"/>
                </a:ext>
              </a:extLst>
            </p:cNvPr>
            <p:cNvSpPr/>
            <p:nvPr/>
          </p:nvSpPr>
          <p:spPr>
            <a:xfrm>
              <a:off x="4118004" y="1747597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cubicBezTo>
                    <a:pt x="149990" y="0"/>
                    <a:pt x="16" y="189"/>
                    <a:pt x="16" y="189"/>
                  </a:cubicBez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Freeform: Shape 21">
              <a:extLst>
                <a:ext uri="{FF2B5EF4-FFF2-40B4-BE49-F238E27FC236}">
                  <a16:creationId xmlns:a16="http://schemas.microsoft.com/office/drawing/2014/main" id="{B58F1655-37B7-6C3B-FEFF-98FF97D388EC}"/>
                </a:ext>
              </a:extLst>
            </p:cNvPr>
            <p:cNvSpPr/>
            <p:nvPr/>
          </p:nvSpPr>
          <p:spPr>
            <a:xfrm>
              <a:off x="4118004" y="1282651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7" name="Freeform: Shape 22">
              <a:extLst>
                <a:ext uri="{FF2B5EF4-FFF2-40B4-BE49-F238E27FC236}">
                  <a16:creationId xmlns:a16="http://schemas.microsoft.com/office/drawing/2014/main" id="{AF26C485-0181-C398-3F90-51E06BCE45A7}"/>
                </a:ext>
              </a:extLst>
            </p:cNvPr>
            <p:cNvSpPr/>
            <p:nvPr/>
          </p:nvSpPr>
          <p:spPr>
            <a:xfrm>
              <a:off x="6278318" y="1175979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2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2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2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2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8" name="Freeform: Shape 23">
              <a:extLst>
                <a:ext uri="{FF2B5EF4-FFF2-40B4-BE49-F238E27FC236}">
                  <a16:creationId xmlns:a16="http://schemas.microsoft.com/office/drawing/2014/main" id="{C1923717-DFCB-6BC7-B4B2-A3B3EADE55CD}"/>
                </a:ext>
              </a:extLst>
            </p:cNvPr>
            <p:cNvSpPr/>
            <p:nvPr/>
          </p:nvSpPr>
          <p:spPr>
            <a:xfrm>
              <a:off x="6219283" y="1291911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9" name="Freeform: Shape 24">
              <a:extLst>
                <a:ext uri="{FF2B5EF4-FFF2-40B4-BE49-F238E27FC236}">
                  <a16:creationId xmlns:a16="http://schemas.microsoft.com/office/drawing/2014/main" id="{A2BD718E-A03F-B37B-1330-3D4081DECE22}"/>
                </a:ext>
              </a:extLst>
            </p:cNvPr>
            <p:cNvSpPr/>
            <p:nvPr/>
          </p:nvSpPr>
          <p:spPr>
            <a:xfrm>
              <a:off x="6128013" y="1754289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AC9E8995-4CBC-14E1-9C9D-5915272C8359}"/>
                </a:ext>
              </a:extLst>
            </p:cNvPr>
            <p:cNvSpPr/>
            <p:nvPr/>
          </p:nvSpPr>
          <p:spPr>
            <a:xfrm>
              <a:off x="6128029" y="1289344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4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09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4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09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1" name="Freeform: Shape 26">
              <a:extLst>
                <a:ext uri="{FF2B5EF4-FFF2-40B4-BE49-F238E27FC236}">
                  <a16:creationId xmlns:a16="http://schemas.microsoft.com/office/drawing/2014/main" id="{A10B876B-23D5-7FD3-B3B8-931852F57B2D}"/>
                </a:ext>
              </a:extLst>
            </p:cNvPr>
            <p:cNvSpPr/>
            <p:nvPr/>
          </p:nvSpPr>
          <p:spPr>
            <a:xfrm>
              <a:off x="8288343" y="1182672"/>
              <a:ext cx="1794101" cy="4156065"/>
            </a:xfrm>
            <a:custGeom>
              <a:avLst/>
              <a:gdLst>
                <a:gd name="connsiteX0" fmla="*/ 1685400 w 1794101"/>
                <a:gd name="connsiteY0" fmla="*/ 0 h 1794100"/>
                <a:gd name="connsiteX1" fmla="*/ 1794101 w 1794101"/>
                <a:gd name="connsiteY1" fmla="*/ 108701 h 1794100"/>
                <a:gd name="connsiteX2" fmla="*/ 1794101 w 1794101"/>
                <a:gd name="connsiteY2" fmla="*/ 1685400 h 1794100"/>
                <a:gd name="connsiteX3" fmla="*/ 1685400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0" y="0"/>
                  </a:moveTo>
                  <a:cubicBezTo>
                    <a:pt x="1745434" y="0"/>
                    <a:pt x="1794101" y="48667"/>
                    <a:pt x="1794101" y="108701"/>
                  </a:cubicBezTo>
                  <a:lnTo>
                    <a:pt x="1794101" y="1685400"/>
                  </a:lnTo>
                  <a:cubicBezTo>
                    <a:pt x="1794101" y="1745434"/>
                    <a:pt x="1745434" y="1794101"/>
                    <a:pt x="1685400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2" name="Freeform: Shape 27">
              <a:extLst>
                <a:ext uri="{FF2B5EF4-FFF2-40B4-BE49-F238E27FC236}">
                  <a16:creationId xmlns:a16="http://schemas.microsoft.com/office/drawing/2014/main" id="{6DAB06B1-E091-ECED-875E-AD5B87545EB2}"/>
                </a:ext>
              </a:extLst>
            </p:cNvPr>
            <p:cNvSpPr/>
            <p:nvPr/>
          </p:nvSpPr>
          <p:spPr>
            <a:xfrm>
              <a:off x="8229292" y="1298603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3" name="Freeform: Shape 28">
              <a:extLst>
                <a:ext uri="{FF2B5EF4-FFF2-40B4-BE49-F238E27FC236}">
                  <a16:creationId xmlns:a16="http://schemas.microsoft.com/office/drawing/2014/main" id="{A8ADF160-A62D-98D8-36F9-27298BC2F868}"/>
                </a:ext>
              </a:extLst>
            </p:cNvPr>
            <p:cNvSpPr/>
            <p:nvPr/>
          </p:nvSpPr>
          <p:spPr>
            <a:xfrm>
              <a:off x="8138038" y="1760982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3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3" y="107316"/>
                    <a:pt x="149503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4" name="Freeform: Shape 29">
              <a:extLst>
                <a:ext uri="{FF2B5EF4-FFF2-40B4-BE49-F238E27FC236}">
                  <a16:creationId xmlns:a16="http://schemas.microsoft.com/office/drawing/2014/main" id="{D437493E-177D-D514-1688-AF71FB0D9ACB}"/>
                </a:ext>
              </a:extLst>
            </p:cNvPr>
            <p:cNvSpPr/>
            <p:nvPr/>
          </p:nvSpPr>
          <p:spPr>
            <a:xfrm>
              <a:off x="8138038" y="1296052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2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4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2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5" name="Freeform: Shape 30">
              <a:extLst>
                <a:ext uri="{FF2B5EF4-FFF2-40B4-BE49-F238E27FC236}">
                  <a16:creationId xmlns:a16="http://schemas.microsoft.com/office/drawing/2014/main" id="{C33BDE25-5324-CE28-E44A-A6DFB99AE994}"/>
                </a:ext>
              </a:extLst>
            </p:cNvPr>
            <p:cNvSpPr/>
            <p:nvPr/>
          </p:nvSpPr>
          <p:spPr>
            <a:xfrm>
              <a:off x="10298352" y="1189364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2 w 1794101"/>
                <a:gd name="connsiteY4" fmla="*/ 1794101 h 1794100"/>
                <a:gd name="connsiteX5" fmla="*/ 1 w 1794101"/>
                <a:gd name="connsiteY5" fmla="*/ 1685400 h 1794100"/>
                <a:gd name="connsiteX6" fmla="*/ 1 w 1794101"/>
                <a:gd name="connsiteY6" fmla="*/ 108702 h 1794100"/>
                <a:gd name="connsiteX7" fmla="*/ 108702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2" y="1794101"/>
                  </a:lnTo>
                  <a:cubicBezTo>
                    <a:pt x="48668" y="1794101"/>
                    <a:pt x="1" y="1745434"/>
                    <a:pt x="1" y="1685400"/>
                  </a:cubicBezTo>
                  <a:lnTo>
                    <a:pt x="1" y="108702"/>
                  </a:lnTo>
                  <a:cubicBezTo>
                    <a:pt x="1" y="48667"/>
                    <a:pt x="48668" y="0"/>
                    <a:pt x="108702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6" name="Freeform: Shape 31">
              <a:extLst>
                <a:ext uri="{FF2B5EF4-FFF2-40B4-BE49-F238E27FC236}">
                  <a16:creationId xmlns:a16="http://schemas.microsoft.com/office/drawing/2014/main" id="{4C5D8433-5D08-056D-160D-9BD162180A5B}"/>
                </a:ext>
              </a:extLst>
            </p:cNvPr>
            <p:cNvSpPr/>
            <p:nvPr/>
          </p:nvSpPr>
          <p:spPr>
            <a:xfrm>
              <a:off x="10239317" y="1305296"/>
              <a:ext cx="672632" cy="459843"/>
            </a:xfrm>
            <a:custGeom>
              <a:avLst/>
              <a:gdLst>
                <a:gd name="connsiteX0" fmla="*/ 442710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0 w 672632"/>
                <a:gd name="connsiteY3" fmla="*/ 459843 h 459843"/>
                <a:gd name="connsiteX4" fmla="*/ 672633 w 672632"/>
                <a:gd name="connsiteY4" fmla="*/ 229922 h 459843"/>
                <a:gd name="connsiteX5" fmla="*/ 442710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0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0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0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7" name="Freeform: Shape 32">
              <a:extLst>
                <a:ext uri="{FF2B5EF4-FFF2-40B4-BE49-F238E27FC236}">
                  <a16:creationId xmlns:a16="http://schemas.microsoft.com/office/drawing/2014/main" id="{9EBE8453-E821-73C5-CC4C-31D23E050D78}"/>
                </a:ext>
              </a:extLst>
            </p:cNvPr>
            <p:cNvSpPr/>
            <p:nvPr/>
          </p:nvSpPr>
          <p:spPr>
            <a:xfrm>
              <a:off x="10148047" y="1767674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5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0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5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5182E611-FE25-0B53-3B26-8D450F867036}"/>
                </a:ext>
              </a:extLst>
            </p:cNvPr>
            <p:cNvSpPr/>
            <p:nvPr/>
          </p:nvSpPr>
          <p:spPr>
            <a:xfrm>
              <a:off x="10148047" y="1302745"/>
              <a:ext cx="767586" cy="465118"/>
            </a:xfrm>
            <a:custGeom>
              <a:avLst/>
              <a:gdLst>
                <a:gd name="connsiteX0" fmla="*/ 535146 w 767586"/>
                <a:gd name="connsiteY0" fmla="*/ 16 h 465118"/>
                <a:gd name="connsiteX1" fmla="*/ 103284 w 767586"/>
                <a:gd name="connsiteY1" fmla="*/ 362 h 465118"/>
                <a:gd name="connsiteX2" fmla="*/ 0 w 767586"/>
                <a:gd name="connsiteY2" fmla="*/ 103725 h 465118"/>
                <a:gd name="connsiteX3" fmla="*/ 0 w 767586"/>
                <a:gd name="connsiteY3" fmla="*/ 465119 h 465118"/>
                <a:gd name="connsiteX4" fmla="*/ 146431 w 767586"/>
                <a:gd name="connsiteY4" fmla="*/ 464930 h 465118"/>
                <a:gd name="connsiteX5" fmla="*/ 532910 w 767586"/>
                <a:gd name="connsiteY5" fmla="*/ 464930 h 465118"/>
                <a:gd name="connsiteX6" fmla="*/ 767587 w 767586"/>
                <a:gd name="connsiteY6" fmla="*/ 232583 h 465118"/>
                <a:gd name="connsiteX7" fmla="*/ 535129 w 767586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6" h="465118">
                  <a:moveTo>
                    <a:pt x="535146" y="16"/>
                  </a:moveTo>
                  <a:lnTo>
                    <a:pt x="103284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29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E349195-1FA0-8F8B-465A-42CCB5849B95}"/>
                </a:ext>
              </a:extLst>
            </p:cNvPr>
            <p:cNvSpPr txBox="1"/>
            <p:nvPr/>
          </p:nvSpPr>
          <p:spPr>
            <a:xfrm>
              <a:off x="2257969" y="2047090"/>
              <a:ext cx="1794399" cy="2602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Integrate Qualcomm-provided Non-HLOS 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Peripheral driver development/porting for:</a:t>
              </a: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       Displays</a:t>
              </a: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        Camera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        Internal   &amp;  external amplifiers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    Other Peripherals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Bring-up &amp; hardware verification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999E17-D9D6-0587-0565-B68187B4C253}"/>
                </a:ext>
              </a:extLst>
            </p:cNvPr>
            <p:cNvSpPr txBox="1"/>
            <p:nvPr/>
          </p:nvSpPr>
          <p:spPr>
            <a:xfrm>
              <a:off x="4267960" y="2047090"/>
              <a:ext cx="1794399" cy="18385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Redesign OEM HALs to AIDL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Adapt Android-provided HALs to Android APIs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Treble compliance and Mainline considerations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HAL migration within existing architecture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30AB11-05C3-EBA6-76C9-DAF464F290DE}"/>
                </a:ext>
              </a:extLst>
            </p:cNvPr>
            <p:cNvSpPr txBox="1"/>
            <p:nvPr/>
          </p:nvSpPr>
          <p:spPr>
            <a:xfrm>
              <a:off x="6278168" y="2047090"/>
              <a:ext cx="1794399" cy="1980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Rebase framework services, patches, overlays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Migrate 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SystemUI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Launcher, custom  apps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Maintain functional parity with Android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Ensure startup stability + regression cycles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C5E8674-2B20-5A72-6EAE-59A87BFF5664}"/>
                </a:ext>
              </a:extLst>
            </p:cNvPr>
            <p:cNvSpPr txBox="1"/>
            <p:nvPr/>
          </p:nvSpPr>
          <p:spPr>
            <a:xfrm>
              <a:off x="8288028" y="2047090"/>
              <a:ext cx="1794399" cy="1980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Validate Android basic use cases(system testing)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Validate inter-domain communication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CTS/VTS/STS subset testing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Sanity test report along with every build release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5DE027E-0013-DADA-EF97-7793270143A4}"/>
                </a:ext>
              </a:extLst>
            </p:cNvPr>
            <p:cNvSpPr txBox="1"/>
            <p:nvPr/>
          </p:nvSpPr>
          <p:spPr>
            <a:xfrm>
              <a:off x="10298202" y="2047090"/>
              <a:ext cx="1794399" cy="20586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Preparation for GMS/Operator certification/ any specific certification requested by OEM.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Extectuing Tests suite.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Reporting to dev team as well re run for some of test cases.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30C3DD-CF62-F1EE-AAE5-D2820C686761}"/>
                </a:ext>
              </a:extLst>
            </p:cNvPr>
            <p:cNvSpPr txBox="1"/>
            <p:nvPr/>
          </p:nvSpPr>
          <p:spPr>
            <a:xfrm>
              <a:off x="781389" y="1275857"/>
              <a:ext cx="1261062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Baseline Ingestion &amp; Delta Analysis</a:t>
              </a:r>
              <a:endPara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86C731D-450F-E26D-A773-F82FA4E556BA}"/>
                </a:ext>
              </a:extLst>
            </p:cNvPr>
            <p:cNvSpPr txBox="1"/>
            <p:nvPr/>
          </p:nvSpPr>
          <p:spPr>
            <a:xfrm>
              <a:off x="2791415" y="1275857"/>
              <a:ext cx="1261062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BSP, Non-HLOS &amp; Kernel Migration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786999D-8B59-F423-B7C0-BEF6F89873BF}"/>
                </a:ext>
              </a:extLst>
            </p:cNvPr>
            <p:cNvSpPr txBox="1"/>
            <p:nvPr/>
          </p:nvSpPr>
          <p:spPr>
            <a:xfrm>
              <a:off x="4801441" y="1275857"/>
              <a:ext cx="126106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HAL Migration (HIDL → AIDL)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B0D5E2-63D2-58AD-D93F-4B6AFC73F4A2}"/>
                </a:ext>
              </a:extLst>
            </p:cNvPr>
            <p:cNvSpPr txBox="1"/>
            <p:nvPr/>
          </p:nvSpPr>
          <p:spPr>
            <a:xfrm>
              <a:off x="6811467" y="1275857"/>
              <a:ext cx="126106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Framework, </a:t>
              </a:r>
              <a:r>
                <a:rPr kumimoji="0" lang="en-IN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SystemUI</a:t>
              </a: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Apps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158ED22-E28E-DA48-3898-14248E742995}"/>
                </a:ext>
              </a:extLst>
            </p:cNvPr>
            <p:cNvSpPr txBox="1"/>
            <p:nvPr/>
          </p:nvSpPr>
          <p:spPr>
            <a:xfrm>
              <a:off x="8811868" y="1275857"/>
              <a:ext cx="1261062" cy="3625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Platform QA &amp; Verification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AA7517-D40B-79AB-B949-FEFD24233A89}"/>
                </a:ext>
              </a:extLst>
            </p:cNvPr>
            <p:cNvSpPr txBox="1"/>
            <p:nvPr/>
          </p:nvSpPr>
          <p:spPr>
            <a:xfrm>
              <a:off x="10831520" y="1275857"/>
              <a:ext cx="1261062" cy="36253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Certification Support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D0D0882-7F7D-479D-B4BF-4A2E6578E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9200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4497" y="1311194"/>
              <a:ext cx="520063" cy="38108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FD96145-8DBA-6341-6DE6-B7A2B8907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215743" y="1311194"/>
              <a:ext cx="548151" cy="401669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3EFB23E-C98D-31F3-76E8-70F0A31F7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42495" y="1328217"/>
              <a:ext cx="524919" cy="384646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75DF642-1F79-ACA5-D484-FE95E70D1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20449" y="1328218"/>
              <a:ext cx="524919" cy="38464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D982558-3D7E-1364-D7CB-0980DD5D5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8217127" y="1334505"/>
              <a:ext cx="491285" cy="3600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DF5D11C-4F42-7F7D-3577-5C2C44D5C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244561" y="1352088"/>
              <a:ext cx="522497" cy="382870"/>
            </a:xfrm>
            <a:prstGeom prst="rect">
              <a:avLst/>
            </a:prstGeom>
          </p:spPr>
        </p:pic>
        <p:sp>
          <p:nvSpPr>
            <p:cNvPr id="46" name="Freeform: Shape 30">
              <a:extLst>
                <a:ext uri="{FF2B5EF4-FFF2-40B4-BE49-F238E27FC236}">
                  <a16:creationId xmlns:a16="http://schemas.microsoft.com/office/drawing/2014/main" id="{BC8E6DCD-492A-6438-06D5-91C6BA1D5C69}"/>
                </a:ext>
              </a:extLst>
            </p:cNvPr>
            <p:cNvSpPr/>
            <p:nvPr/>
          </p:nvSpPr>
          <p:spPr>
            <a:xfrm>
              <a:off x="12313842" y="1204604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2 w 1794101"/>
                <a:gd name="connsiteY4" fmla="*/ 1794101 h 1794100"/>
                <a:gd name="connsiteX5" fmla="*/ 1 w 1794101"/>
                <a:gd name="connsiteY5" fmla="*/ 1685400 h 1794100"/>
                <a:gd name="connsiteX6" fmla="*/ 1 w 1794101"/>
                <a:gd name="connsiteY6" fmla="*/ 108702 h 1794100"/>
                <a:gd name="connsiteX7" fmla="*/ 108702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2" y="1794101"/>
                  </a:lnTo>
                  <a:cubicBezTo>
                    <a:pt x="48668" y="1794101"/>
                    <a:pt x="1" y="1745434"/>
                    <a:pt x="1" y="1685400"/>
                  </a:cubicBezTo>
                  <a:lnTo>
                    <a:pt x="1" y="108702"/>
                  </a:lnTo>
                  <a:cubicBezTo>
                    <a:pt x="1" y="48667"/>
                    <a:pt x="48668" y="0"/>
                    <a:pt x="108702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7" name="Freeform: Shape 31">
              <a:extLst>
                <a:ext uri="{FF2B5EF4-FFF2-40B4-BE49-F238E27FC236}">
                  <a16:creationId xmlns:a16="http://schemas.microsoft.com/office/drawing/2014/main" id="{1F95E83E-5F29-274B-4D0B-9A4F42BF34AF}"/>
                </a:ext>
              </a:extLst>
            </p:cNvPr>
            <p:cNvSpPr/>
            <p:nvPr/>
          </p:nvSpPr>
          <p:spPr>
            <a:xfrm>
              <a:off x="12254807" y="1320536"/>
              <a:ext cx="672632" cy="459843"/>
            </a:xfrm>
            <a:custGeom>
              <a:avLst/>
              <a:gdLst>
                <a:gd name="connsiteX0" fmla="*/ 442710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0 w 672632"/>
                <a:gd name="connsiteY3" fmla="*/ 459843 h 459843"/>
                <a:gd name="connsiteX4" fmla="*/ 672633 w 672632"/>
                <a:gd name="connsiteY4" fmla="*/ 229922 h 459843"/>
                <a:gd name="connsiteX5" fmla="*/ 442710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0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0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0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8" name="Freeform: Shape 32">
              <a:extLst>
                <a:ext uri="{FF2B5EF4-FFF2-40B4-BE49-F238E27FC236}">
                  <a16:creationId xmlns:a16="http://schemas.microsoft.com/office/drawing/2014/main" id="{1D9CE8AF-A062-B043-35ED-40B84F26B1E6}"/>
                </a:ext>
              </a:extLst>
            </p:cNvPr>
            <p:cNvSpPr/>
            <p:nvPr/>
          </p:nvSpPr>
          <p:spPr>
            <a:xfrm>
              <a:off x="12163537" y="1782914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5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0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5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9" name="Freeform: Shape 33">
              <a:extLst>
                <a:ext uri="{FF2B5EF4-FFF2-40B4-BE49-F238E27FC236}">
                  <a16:creationId xmlns:a16="http://schemas.microsoft.com/office/drawing/2014/main" id="{B499286A-4829-C0D2-3B0C-D431EB6D8036}"/>
                </a:ext>
              </a:extLst>
            </p:cNvPr>
            <p:cNvSpPr/>
            <p:nvPr/>
          </p:nvSpPr>
          <p:spPr>
            <a:xfrm>
              <a:off x="12163537" y="1317985"/>
              <a:ext cx="767586" cy="465118"/>
            </a:xfrm>
            <a:custGeom>
              <a:avLst/>
              <a:gdLst>
                <a:gd name="connsiteX0" fmla="*/ 535146 w 767586"/>
                <a:gd name="connsiteY0" fmla="*/ 16 h 465118"/>
                <a:gd name="connsiteX1" fmla="*/ 103284 w 767586"/>
                <a:gd name="connsiteY1" fmla="*/ 362 h 465118"/>
                <a:gd name="connsiteX2" fmla="*/ 0 w 767586"/>
                <a:gd name="connsiteY2" fmla="*/ 103725 h 465118"/>
                <a:gd name="connsiteX3" fmla="*/ 0 w 767586"/>
                <a:gd name="connsiteY3" fmla="*/ 465119 h 465118"/>
                <a:gd name="connsiteX4" fmla="*/ 146431 w 767586"/>
                <a:gd name="connsiteY4" fmla="*/ 464930 h 465118"/>
                <a:gd name="connsiteX5" fmla="*/ 532910 w 767586"/>
                <a:gd name="connsiteY5" fmla="*/ 464930 h 465118"/>
                <a:gd name="connsiteX6" fmla="*/ 767587 w 767586"/>
                <a:gd name="connsiteY6" fmla="*/ 232583 h 465118"/>
                <a:gd name="connsiteX7" fmla="*/ 535129 w 767586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6" h="465118">
                  <a:moveTo>
                    <a:pt x="535146" y="16"/>
                  </a:moveTo>
                  <a:lnTo>
                    <a:pt x="103284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29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DAAD1D-1B87-7E6E-8C5E-5C5FC8D68D95}"/>
                </a:ext>
              </a:extLst>
            </p:cNvPr>
            <p:cNvSpPr txBox="1"/>
            <p:nvPr/>
          </p:nvSpPr>
          <p:spPr>
            <a:xfrm>
              <a:off x="12313692" y="2062330"/>
              <a:ext cx="1794399" cy="106171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Weekly progress reports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Bug tracking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Compliance (Severity SLAs + 5-Why RCA)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A6260B-B214-C763-7BF3-DFA5D7CB32C5}"/>
                </a:ext>
              </a:extLst>
            </p:cNvPr>
            <p:cNvSpPr txBox="1"/>
            <p:nvPr/>
          </p:nvSpPr>
          <p:spPr>
            <a:xfrm>
              <a:off x="12847010" y="1275857"/>
              <a:ext cx="126106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Governance &amp; Quality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7188850-7C89-D53E-7F77-7DDE7DD7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2260051" y="1355898"/>
              <a:ext cx="522497" cy="38287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9ECA438-C0F3-F97C-C04B-39AA12D7CC87}"/>
              </a:ext>
            </a:extLst>
          </p:cNvPr>
          <p:cNvSpPr txBox="1"/>
          <p:nvPr/>
        </p:nvSpPr>
        <p:spPr>
          <a:xfrm>
            <a:off x="1492420" y="5934411"/>
            <a:ext cx="9421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approach ensures a production-ready, stable, compliant Android platform</a:t>
            </a:r>
          </a:p>
        </p:txBody>
      </p:sp>
    </p:spTree>
    <p:extLst>
      <p:ext uri="{BB962C8B-B14F-4D97-AF65-F5344CB8AC3E}">
        <p14:creationId xmlns:p14="http://schemas.microsoft.com/office/powerpoint/2010/main" val="350726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289B048-82FC-555C-4259-D882500AAAE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623060" y="1539025"/>
            <a:ext cx="1694834" cy="1390857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7430977-3DD2-2AE2-D897-E5F96B47022B}"/>
              </a:ext>
            </a:extLst>
          </p:cNvPr>
          <p:cNvCxnSpPr>
            <a:cxnSpLocks/>
          </p:cNvCxnSpPr>
          <p:nvPr/>
        </p:nvCxnSpPr>
        <p:spPr>
          <a:xfrm>
            <a:off x="1957724" y="4238208"/>
            <a:ext cx="1360170" cy="1258250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26AAB9-27E6-5D48-9EA9-3A1F03CA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Systems &amp; Sensor Integration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3D8DC5-8529-CA49-43AE-658C98659C18}"/>
              </a:ext>
            </a:extLst>
          </p:cNvPr>
          <p:cNvCxnSpPr>
            <a:cxnSpLocks/>
          </p:cNvCxnSpPr>
          <p:nvPr/>
        </p:nvCxnSpPr>
        <p:spPr>
          <a:xfrm>
            <a:off x="0" y="3024103"/>
            <a:ext cx="221128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770BE-A692-8D68-807E-39514BCCADCE}"/>
              </a:ext>
            </a:extLst>
          </p:cNvPr>
          <p:cNvCxnSpPr/>
          <p:nvPr/>
        </p:nvCxnSpPr>
        <p:spPr>
          <a:xfrm>
            <a:off x="0" y="3300328"/>
            <a:ext cx="6572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EE21B4-C6F2-BDDD-440F-AABF387C99F3}"/>
              </a:ext>
            </a:extLst>
          </p:cNvPr>
          <p:cNvCxnSpPr/>
          <p:nvPr/>
        </p:nvCxnSpPr>
        <p:spPr>
          <a:xfrm>
            <a:off x="0" y="3576553"/>
            <a:ext cx="6572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48DC77-70EA-32BF-ECC9-B7BE408316C0}"/>
              </a:ext>
            </a:extLst>
          </p:cNvPr>
          <p:cNvCxnSpPr/>
          <p:nvPr/>
        </p:nvCxnSpPr>
        <p:spPr>
          <a:xfrm>
            <a:off x="0" y="3852778"/>
            <a:ext cx="6572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601E1D-B9C4-66DB-780D-54F3CBBEF352}"/>
              </a:ext>
            </a:extLst>
          </p:cNvPr>
          <p:cNvCxnSpPr/>
          <p:nvPr/>
        </p:nvCxnSpPr>
        <p:spPr>
          <a:xfrm>
            <a:off x="0" y="4129003"/>
            <a:ext cx="6572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B7C286E-2DB7-DD91-9CEA-FC66151F01FB}"/>
              </a:ext>
            </a:extLst>
          </p:cNvPr>
          <p:cNvSpPr/>
          <p:nvPr/>
        </p:nvSpPr>
        <p:spPr>
          <a:xfrm>
            <a:off x="3317894" y="1089025"/>
            <a:ext cx="4945996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Fira Sans"/>
                <a:cs typeface="Fira Sans"/>
                <a:sym typeface="Fira Sans"/>
              </a:rPr>
              <a:t>Camera Integration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Fira Sans"/>
                <a:cs typeface="Fira Sans"/>
                <a:sym typeface="Fira Sans"/>
              </a:rPr>
              <a:t>Interfaces -MIPI-CSI, GMSL, USB.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Fira Sans"/>
                <a:cs typeface="Fira Sans"/>
                <a:sym typeface="Fira San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Fira Sans"/>
                <a:cs typeface="Fira Sans"/>
                <a:sym typeface="Fira Sans"/>
              </a:rPr>
              <a:t>Camera enablement for workout monitoring, posture analysis, and video-based training experiences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FBD6BF-B446-E60A-83A1-C3D6525087FE}"/>
              </a:ext>
            </a:extLst>
          </p:cNvPr>
          <p:cNvSpPr/>
          <p:nvPr/>
        </p:nvSpPr>
        <p:spPr>
          <a:xfrm>
            <a:off x="3317894" y="2124103"/>
            <a:ext cx="4945996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  <a:sym typeface="Fira Sans"/>
              </a:rPr>
              <a:t>Audio Integration </a:t>
            </a:r>
          </a:p>
          <a:p>
            <a:pPr>
              <a:spcBef>
                <a:spcPts val="60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Interfaces – I2S, Audio codecs, speakers, microphones Audio optimization for guided workouts, media streaming, and voice interaction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B2AADD-F48B-A843-21AB-A2A7ECE1C6A0}"/>
              </a:ext>
            </a:extLst>
          </p:cNvPr>
          <p:cNvSpPr/>
          <p:nvPr/>
        </p:nvSpPr>
        <p:spPr>
          <a:xfrm>
            <a:off x="3317894" y="3159181"/>
            <a:ext cx="4945996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  <a:sym typeface="Fira Sans"/>
              </a:rPr>
              <a:t>Display integration</a:t>
            </a:r>
          </a:p>
          <a:p>
            <a: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Interfaces – MIPI-DSI, HDMI, </a:t>
            </a:r>
            <a:r>
              <a:rPr lang="en-IN" sz="1200" dirty="0" err="1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eDP</a:t>
            </a:r>
            <a:r>
              <a:rPr lang="en-IN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 - 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High-resolution touchscreen integration for interactive fitness consoles and media experiences</a:t>
            </a:r>
            <a:endParaRPr lang="en-IN" sz="1200" dirty="0">
              <a:solidFill>
                <a:prstClr val="black"/>
              </a:solidFill>
              <a:latin typeface="Lato" panose="020F0502020204030203" pitchFamily="34" charset="0"/>
              <a:sym typeface="Fira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1EA95B-BA5C-DB8E-802D-3C8EBC3C2D12}"/>
              </a:ext>
            </a:extLst>
          </p:cNvPr>
          <p:cNvSpPr/>
          <p:nvPr/>
        </p:nvSpPr>
        <p:spPr>
          <a:xfrm>
            <a:off x="3317893" y="4194259"/>
            <a:ext cx="4945996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  <a:sym typeface="Fira Sans"/>
              </a:rPr>
              <a:t>Sensors</a:t>
            </a:r>
          </a:p>
          <a:p>
            <a: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Motion sensors, heart rate monitors, cadence sensors, resistance/load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sensorsReal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-time acquisition and processing of workout and equipment telemetry</a:t>
            </a:r>
            <a:endParaRPr lang="en-IN" sz="1200" dirty="0">
              <a:solidFill>
                <a:prstClr val="black"/>
              </a:solidFill>
              <a:latin typeface="Lato" panose="020F0502020204030203" pitchFamily="34" charset="0"/>
              <a:sym typeface="Fira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26B75E-B7CA-5F24-80D6-AF8A57A82AAD}"/>
              </a:ext>
            </a:extLst>
          </p:cNvPr>
          <p:cNvSpPr/>
          <p:nvPr/>
        </p:nvSpPr>
        <p:spPr>
          <a:xfrm>
            <a:off x="3317894" y="5229338"/>
            <a:ext cx="4945996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  <a:sym typeface="Fira Sans"/>
              </a:rPr>
              <a:t>Connectivity &amp; I/O Integration</a:t>
            </a:r>
          </a:p>
          <a:p>
            <a: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Bluetooth, Wi-Fi, USB, and peripheral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integrationsIntegration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sym typeface="Fira Sans"/>
              </a:rPr>
              <a:t> with wearables, accessories, and external fitness devices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B5BFE6-64C0-D8F5-476E-FAF6A581CAE4}"/>
              </a:ext>
            </a:extLst>
          </p:cNvPr>
          <p:cNvSpPr/>
          <p:nvPr/>
        </p:nvSpPr>
        <p:spPr>
          <a:xfrm>
            <a:off x="269366" y="2814641"/>
            <a:ext cx="1941916" cy="14976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Peripherals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D7BBC85-42C5-FB84-DF88-A2F03513AC34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211282" y="2574103"/>
            <a:ext cx="1106612" cy="558804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E14923D-E49D-9FE2-684E-2A73128A1E5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211282" y="4059180"/>
            <a:ext cx="1106611" cy="585079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4370E5-C14A-2A72-AF9C-E8371A42C6F2}"/>
              </a:ext>
            </a:extLst>
          </p:cNvPr>
          <p:cNvCxnSpPr>
            <a:cxnSpLocks/>
          </p:cNvCxnSpPr>
          <p:nvPr/>
        </p:nvCxnSpPr>
        <p:spPr>
          <a:xfrm flipV="1">
            <a:off x="2186324" y="3609181"/>
            <a:ext cx="1080000" cy="1"/>
          </a:xfrm>
          <a:prstGeom prst="straightConnector1">
            <a:avLst/>
          </a:prstGeom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8D5E41A-A9D9-A90E-E0E6-E4094F5A8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1494" y="4358002"/>
            <a:ext cx="358205" cy="54226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535DFC2-0D6E-7C74-FF67-876F67788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0345" y="5469084"/>
            <a:ext cx="420503" cy="42050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2724B1C-E896-C553-E87A-FDB5CF4B4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2297" y="3385478"/>
            <a:ext cx="536599" cy="44740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C51527A-F0D0-7639-A927-08C0C59BCE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1732" y="2333003"/>
            <a:ext cx="417728" cy="47155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8020F87-9227-BB4B-E5A4-D96DF9D625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85040" y="1319745"/>
            <a:ext cx="434659" cy="369532"/>
          </a:xfrm>
          <a:prstGeom prst="rect">
            <a:avLst/>
          </a:prstGeom>
        </p:spPr>
      </p:pic>
      <p:sp>
        <p:nvSpPr>
          <p:cNvPr id="52" name="Rectangle: Top Corners One Rounded and One Snipped 51">
            <a:extLst>
              <a:ext uri="{FF2B5EF4-FFF2-40B4-BE49-F238E27FC236}">
                <a16:creationId xmlns:a16="http://schemas.microsoft.com/office/drawing/2014/main" id="{0D3A00A4-E63C-A12B-9455-A23B15CC1FF4}"/>
              </a:ext>
            </a:extLst>
          </p:cNvPr>
          <p:cNvSpPr/>
          <p:nvPr/>
        </p:nvSpPr>
        <p:spPr>
          <a:xfrm>
            <a:off x="8577728" y="920767"/>
            <a:ext cx="3080872" cy="1161761"/>
          </a:xfrm>
          <a:prstGeom prst="snip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>
            <a:outerShdw dist="508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C93573-DB67-12E2-33EF-10483F881DA9}"/>
              </a:ext>
            </a:extLst>
          </p:cNvPr>
          <p:cNvSpPr txBox="1"/>
          <p:nvPr/>
        </p:nvSpPr>
        <p:spPr>
          <a:xfrm>
            <a:off x="8710085" y="928366"/>
            <a:ext cx="267419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Video / Audio Input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Fira Sans"/>
                <a:cs typeface="Fira Sans"/>
                <a:sym typeface="Fira Sans"/>
              </a:rPr>
              <a:t>Cameras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Fira Sans"/>
                <a:cs typeface="Fira Sans"/>
                <a:sym typeface="Fira Sans"/>
              </a:rPr>
              <a:t>: surround, rear.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Fira Sans"/>
                <a:cs typeface="Fira Sans"/>
                <a:sym typeface="Fira Sans"/>
              </a:rPr>
              <a:t>Tuners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Fira Sans"/>
                <a:cs typeface="Fira Sans"/>
                <a:sym typeface="Fira Sans"/>
              </a:rPr>
              <a:t>: AM/FM, digital radio.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Fira Sans"/>
                <a:cs typeface="Fira Sans"/>
                <a:sym typeface="Fira Sans"/>
              </a:rPr>
              <a:t>Microphones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Fira Sans"/>
                <a:cs typeface="Fira Sans"/>
                <a:sym typeface="Fira Sans"/>
              </a:rPr>
              <a:t>: voice recognition, hands-free.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4B879FC-73F8-818A-5DC3-70B554BDBB5A}"/>
              </a:ext>
            </a:extLst>
          </p:cNvPr>
          <p:cNvGrpSpPr/>
          <p:nvPr/>
        </p:nvGrpSpPr>
        <p:grpSpPr>
          <a:xfrm>
            <a:off x="11418923" y="796238"/>
            <a:ext cx="380584" cy="364024"/>
            <a:chOff x="3130549" y="882650"/>
            <a:chExt cx="793751" cy="66675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A7AFF8F-0471-AACD-F10C-7040F7AF8385}"/>
                </a:ext>
              </a:extLst>
            </p:cNvPr>
            <p:cNvSpPr/>
            <p:nvPr/>
          </p:nvSpPr>
          <p:spPr>
            <a:xfrm>
              <a:off x="3130549" y="882650"/>
              <a:ext cx="793751" cy="666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5927151-6DC5-E013-0D55-3496992CE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42268" y="1084213"/>
              <a:ext cx="409923" cy="263622"/>
            </a:xfrm>
            <a:prstGeom prst="rect">
              <a:avLst/>
            </a:prstGeom>
          </p:spPr>
        </p:pic>
      </p:grpSp>
      <p:sp>
        <p:nvSpPr>
          <p:cNvPr id="62" name="Rectangle: Top Corners One Rounded and One Snipped 61">
            <a:extLst>
              <a:ext uri="{FF2B5EF4-FFF2-40B4-BE49-F238E27FC236}">
                <a16:creationId xmlns:a16="http://schemas.microsoft.com/office/drawing/2014/main" id="{0A69C670-7D6D-44EC-6FF6-16F8C0B1FAC2}"/>
              </a:ext>
            </a:extLst>
          </p:cNvPr>
          <p:cNvSpPr/>
          <p:nvPr/>
        </p:nvSpPr>
        <p:spPr>
          <a:xfrm>
            <a:off x="8577728" y="2345119"/>
            <a:ext cx="3080872" cy="1161761"/>
          </a:xfrm>
          <a:prstGeom prst="snip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>
            <a:outerShdw dist="508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1BFD99-7803-A9C5-433B-A54D1CB2112D}"/>
              </a:ext>
            </a:extLst>
          </p:cNvPr>
          <p:cNvSpPr txBox="1"/>
          <p:nvPr/>
        </p:nvSpPr>
        <p:spPr>
          <a:xfrm>
            <a:off x="8710085" y="2352718"/>
            <a:ext cx="26741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Video / Audio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Displays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main, sub, touch panels.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Amplifiers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&amp; Speakers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multi-channel audio.</a:t>
            </a:r>
          </a:p>
        </p:txBody>
      </p:sp>
      <p:sp>
        <p:nvSpPr>
          <p:cNvPr id="77" name="Rectangle: Top Corners One Rounded and One Snipped 76">
            <a:extLst>
              <a:ext uri="{FF2B5EF4-FFF2-40B4-BE49-F238E27FC236}">
                <a16:creationId xmlns:a16="http://schemas.microsoft.com/office/drawing/2014/main" id="{A67D5178-A1E6-3F98-7A4D-84B1B1124688}"/>
              </a:ext>
            </a:extLst>
          </p:cNvPr>
          <p:cNvSpPr/>
          <p:nvPr/>
        </p:nvSpPr>
        <p:spPr>
          <a:xfrm>
            <a:off x="8570013" y="3723942"/>
            <a:ext cx="3080872" cy="1161761"/>
          </a:xfrm>
          <a:prstGeom prst="snip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>
            <a:outerShdw dist="508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874E15-718B-0CBC-79B4-829EBE9274B8}"/>
              </a:ext>
            </a:extLst>
          </p:cNvPr>
          <p:cNvSpPr txBox="1"/>
          <p:nvPr/>
        </p:nvSpPr>
        <p:spPr>
          <a:xfrm>
            <a:off x="8702370" y="3731541"/>
            <a:ext cx="2769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Data Communication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External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Wi-Fi, Bluetooth, USB, NFC.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Internal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CAN, LIN, Ethernet, IVI-specific networks.</a:t>
            </a:r>
          </a:p>
        </p:txBody>
      </p:sp>
      <p:sp>
        <p:nvSpPr>
          <p:cNvPr id="82" name="Rectangle: Top Corners One Rounded and One Snipped 81">
            <a:extLst>
              <a:ext uri="{FF2B5EF4-FFF2-40B4-BE49-F238E27FC236}">
                <a16:creationId xmlns:a16="http://schemas.microsoft.com/office/drawing/2014/main" id="{328EDBB4-01A5-6F07-0FD3-D3ABD3FF8DBD}"/>
              </a:ext>
            </a:extLst>
          </p:cNvPr>
          <p:cNvSpPr/>
          <p:nvPr/>
        </p:nvSpPr>
        <p:spPr>
          <a:xfrm>
            <a:off x="8570013" y="5148294"/>
            <a:ext cx="3080872" cy="1161761"/>
          </a:xfrm>
          <a:prstGeom prst="snip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>
            <a:outerShdw dist="508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E58AAF-BCB5-DBF7-3471-CA466C29AC6B}"/>
              </a:ext>
            </a:extLst>
          </p:cNvPr>
          <p:cNvSpPr txBox="1"/>
          <p:nvPr/>
        </p:nvSpPr>
        <p:spPr>
          <a:xfrm>
            <a:off x="8702370" y="5155893"/>
            <a:ext cx="279371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Other Devices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Human input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touch panels, steering switches, controllers.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Navigation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GPS, gyroscope, accelerometers.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Storage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: USB/SD media playback.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9E646CE-0B4C-CAC3-0E04-DDA3CFAC0F96}"/>
              </a:ext>
            </a:extLst>
          </p:cNvPr>
          <p:cNvGrpSpPr/>
          <p:nvPr/>
        </p:nvGrpSpPr>
        <p:grpSpPr>
          <a:xfrm>
            <a:off x="11392816" y="2186348"/>
            <a:ext cx="381600" cy="363600"/>
            <a:chOff x="3143928" y="3887691"/>
            <a:chExt cx="697081" cy="66675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C789220B-3227-8D1B-948C-116C241AECD0}"/>
                </a:ext>
              </a:extLst>
            </p:cNvPr>
            <p:cNvSpPr/>
            <p:nvPr/>
          </p:nvSpPr>
          <p:spPr>
            <a:xfrm>
              <a:off x="3143928" y="3887691"/>
              <a:ext cx="697081" cy="666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1F84F061-3D6B-FEED-860D-0E68429CC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88561" y="3987028"/>
              <a:ext cx="442894" cy="442894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517FA92-D994-3ACD-C9A0-C83F60338531}"/>
              </a:ext>
            </a:extLst>
          </p:cNvPr>
          <p:cNvGrpSpPr/>
          <p:nvPr/>
        </p:nvGrpSpPr>
        <p:grpSpPr>
          <a:xfrm>
            <a:off x="11427911" y="3615417"/>
            <a:ext cx="381600" cy="363600"/>
            <a:chOff x="1056651" y="4649103"/>
            <a:chExt cx="697081" cy="66675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87889AB-B497-D167-C9A9-181523BF61AA}"/>
                </a:ext>
              </a:extLst>
            </p:cNvPr>
            <p:cNvSpPr/>
            <p:nvPr/>
          </p:nvSpPr>
          <p:spPr>
            <a:xfrm>
              <a:off x="1056651" y="4649103"/>
              <a:ext cx="697081" cy="666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EF02432-4CD6-4B45-6E4A-000CDD89B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81190" y="4752294"/>
              <a:ext cx="396000" cy="3960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05004C4-4C84-93EA-2F34-68BE99D26DD2}"/>
              </a:ext>
            </a:extLst>
          </p:cNvPr>
          <p:cNvGrpSpPr/>
          <p:nvPr/>
        </p:nvGrpSpPr>
        <p:grpSpPr>
          <a:xfrm>
            <a:off x="11447479" y="5047538"/>
            <a:ext cx="381600" cy="363600"/>
            <a:chOff x="8313739" y="3841906"/>
            <a:chExt cx="697081" cy="66675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C9085CD-A618-F426-AA11-76571DE89CD3}"/>
                </a:ext>
              </a:extLst>
            </p:cNvPr>
            <p:cNvSpPr/>
            <p:nvPr/>
          </p:nvSpPr>
          <p:spPr>
            <a:xfrm>
              <a:off x="8313739" y="3841906"/>
              <a:ext cx="697081" cy="666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825B348-5A88-F70C-505D-9ADC94E2F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56279" y="399528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038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6571-5CDA-7DE5-3B81-8ADC4335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0CE6-C9DB-8939-CCEA-B02E6299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US" dirty="0"/>
              <a:t>Functional Coverage &amp; Code Coverage Testing Strategies</a:t>
            </a:r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76866C2-E251-7DB4-E593-92C419465A3A}"/>
              </a:ext>
            </a:extLst>
          </p:cNvPr>
          <p:cNvSpPr/>
          <p:nvPr/>
        </p:nvSpPr>
        <p:spPr>
          <a:xfrm>
            <a:off x="479289" y="1087377"/>
            <a:ext cx="3278123" cy="5302256"/>
          </a:xfrm>
          <a:custGeom>
            <a:avLst/>
            <a:gdLst>
              <a:gd name="connsiteX0" fmla="*/ 1762172 w 3278123"/>
              <a:gd name="connsiteY0" fmla="*/ 5755762 h 5801970"/>
              <a:gd name="connsiteX1" fmla="*/ 509337 w 3278123"/>
              <a:gd name="connsiteY1" fmla="*/ 5755762 h 5801970"/>
              <a:gd name="connsiteX2" fmla="*/ 46170 w 3278123"/>
              <a:gd name="connsiteY2" fmla="*/ 5292595 h 5801970"/>
              <a:gd name="connsiteX3" fmla="*/ 46170 w 3278123"/>
              <a:gd name="connsiteY3" fmla="*/ 1485496 h 5801970"/>
              <a:gd name="connsiteX4" fmla="*/ 506413 w 3278123"/>
              <a:gd name="connsiteY4" fmla="*/ 1025292 h 5801970"/>
              <a:gd name="connsiteX5" fmla="*/ 2757684 w 3278123"/>
              <a:gd name="connsiteY5" fmla="*/ 1025292 h 5801970"/>
              <a:gd name="connsiteX6" fmla="*/ 3278064 w 3278123"/>
              <a:gd name="connsiteY6" fmla="*/ 520610 h 5801970"/>
              <a:gd name="connsiteX7" fmla="*/ 2765456 w 3278123"/>
              <a:gd name="connsiteY7" fmla="*/ 0 h 5801970"/>
              <a:gd name="connsiteX8" fmla="*/ 512646 w 3278123"/>
              <a:gd name="connsiteY8" fmla="*/ 0 h 5801970"/>
              <a:gd name="connsiteX9" fmla="*/ 0 w 3278123"/>
              <a:gd name="connsiteY9" fmla="*/ 512646 h 5801970"/>
              <a:gd name="connsiteX10" fmla="*/ 0 w 3278123"/>
              <a:gd name="connsiteY10" fmla="*/ 512646 h 5801970"/>
              <a:gd name="connsiteX11" fmla="*/ 0 w 3278123"/>
              <a:gd name="connsiteY11" fmla="*/ 5292634 h 5801970"/>
              <a:gd name="connsiteX12" fmla="*/ 509337 w 3278123"/>
              <a:gd name="connsiteY12" fmla="*/ 5801971 h 5801970"/>
              <a:gd name="connsiteX13" fmla="*/ 1760903 w 3278123"/>
              <a:gd name="connsiteY13" fmla="*/ 5801971 h 5801970"/>
              <a:gd name="connsiteX14" fmla="*/ 1785257 w 3278123"/>
              <a:gd name="connsiteY14" fmla="*/ 5780117 h 5801970"/>
              <a:gd name="connsiteX15" fmla="*/ 1762211 w 3278123"/>
              <a:gd name="connsiteY15" fmla="*/ 5755800 h 5801970"/>
              <a:gd name="connsiteX16" fmla="*/ 512646 w 3278123"/>
              <a:gd name="connsiteY16" fmla="*/ 153901 h 5801970"/>
              <a:gd name="connsiteX17" fmla="*/ 2765456 w 3278123"/>
              <a:gd name="connsiteY17" fmla="*/ 153901 h 5801970"/>
              <a:gd name="connsiteX18" fmla="*/ 3124201 w 3278123"/>
              <a:gd name="connsiteY18" fmla="*/ 512646 h 5801970"/>
              <a:gd name="connsiteX19" fmla="*/ 2765456 w 3278123"/>
              <a:gd name="connsiteY19" fmla="*/ 871390 h 5801970"/>
              <a:gd name="connsiteX20" fmla="*/ 512646 w 3278123"/>
              <a:gd name="connsiteY20" fmla="*/ 871390 h 5801970"/>
              <a:gd name="connsiteX21" fmla="*/ 153902 w 3278123"/>
              <a:gd name="connsiteY21" fmla="*/ 512646 h 5801970"/>
              <a:gd name="connsiteX22" fmla="*/ 512646 w 3278123"/>
              <a:gd name="connsiteY22" fmla="*/ 153901 h 580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278123" h="5801970">
                <a:moveTo>
                  <a:pt x="1762172" y="5755762"/>
                </a:moveTo>
                <a:lnTo>
                  <a:pt x="509337" y="5755762"/>
                </a:lnTo>
                <a:cubicBezTo>
                  <a:pt x="253553" y="5755762"/>
                  <a:pt x="46170" y="5548418"/>
                  <a:pt x="46170" y="5292595"/>
                </a:cubicBezTo>
                <a:lnTo>
                  <a:pt x="46170" y="1485496"/>
                </a:lnTo>
                <a:cubicBezTo>
                  <a:pt x="46170" y="1231327"/>
                  <a:pt x="252245" y="1025292"/>
                  <a:pt x="506413" y="1025292"/>
                </a:cubicBezTo>
                <a:lnTo>
                  <a:pt x="2757684" y="1025292"/>
                </a:lnTo>
                <a:cubicBezTo>
                  <a:pt x="3039016" y="1025292"/>
                  <a:pt x="3273754" y="801904"/>
                  <a:pt x="3278064" y="520610"/>
                </a:cubicBezTo>
                <a:cubicBezTo>
                  <a:pt x="3282411" y="234315"/>
                  <a:pt x="3050790" y="0"/>
                  <a:pt x="2765456" y="0"/>
                </a:cubicBezTo>
                <a:lnTo>
                  <a:pt x="512646" y="0"/>
                </a:lnTo>
                <a:cubicBezTo>
                  <a:pt x="229506" y="0"/>
                  <a:pt x="0" y="229506"/>
                  <a:pt x="0" y="512646"/>
                </a:cubicBezTo>
                <a:lnTo>
                  <a:pt x="0" y="512646"/>
                </a:lnTo>
                <a:lnTo>
                  <a:pt x="0" y="5292634"/>
                </a:lnTo>
                <a:cubicBezTo>
                  <a:pt x="0" y="5573927"/>
                  <a:pt x="228044" y="5801971"/>
                  <a:pt x="509337" y="5801971"/>
                </a:cubicBezTo>
                <a:lnTo>
                  <a:pt x="1760903" y="5801971"/>
                </a:lnTo>
                <a:cubicBezTo>
                  <a:pt x="1773407" y="5801971"/>
                  <a:pt x="1784603" y="5792621"/>
                  <a:pt x="1785257" y="5780117"/>
                </a:cubicBezTo>
                <a:cubicBezTo>
                  <a:pt x="1785950" y="5766804"/>
                  <a:pt x="1775369" y="5755800"/>
                  <a:pt x="1762211" y="5755800"/>
                </a:cubicBezTo>
                <a:close/>
                <a:moveTo>
                  <a:pt x="512646" y="153901"/>
                </a:moveTo>
                <a:lnTo>
                  <a:pt x="2765456" y="153901"/>
                </a:lnTo>
                <a:cubicBezTo>
                  <a:pt x="2963258" y="153901"/>
                  <a:pt x="3124201" y="314844"/>
                  <a:pt x="3124201" y="512646"/>
                </a:cubicBezTo>
                <a:cubicBezTo>
                  <a:pt x="3124201" y="710448"/>
                  <a:pt x="2963258" y="871390"/>
                  <a:pt x="2765456" y="871390"/>
                </a:cubicBezTo>
                <a:lnTo>
                  <a:pt x="512646" y="871390"/>
                </a:lnTo>
                <a:cubicBezTo>
                  <a:pt x="314844" y="871390"/>
                  <a:pt x="153902" y="710448"/>
                  <a:pt x="153902" y="512646"/>
                </a:cubicBezTo>
                <a:cubicBezTo>
                  <a:pt x="153902" y="314844"/>
                  <a:pt x="314844" y="153901"/>
                  <a:pt x="512646" y="153901"/>
                </a:cubicBezTo>
                <a:close/>
              </a:path>
            </a:pathLst>
          </a:custGeom>
          <a:solidFill>
            <a:srgbClr val="0070C0"/>
          </a:solidFill>
          <a:ln w="38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E19654-3BF9-1450-89EF-95D5421B77E0}"/>
              </a:ext>
            </a:extLst>
          </p:cNvPr>
          <p:cNvSpPr/>
          <p:nvPr/>
        </p:nvSpPr>
        <p:spPr>
          <a:xfrm>
            <a:off x="633190" y="1208620"/>
            <a:ext cx="2970298" cy="717488"/>
          </a:xfrm>
          <a:custGeom>
            <a:avLst/>
            <a:gdLst>
              <a:gd name="connsiteX0" fmla="*/ 358744 w 2970298"/>
              <a:gd name="connsiteY0" fmla="*/ 0 h 717488"/>
              <a:gd name="connsiteX1" fmla="*/ 2611555 w 2970298"/>
              <a:gd name="connsiteY1" fmla="*/ 0 h 717488"/>
              <a:gd name="connsiteX2" fmla="*/ 2970299 w 2970298"/>
              <a:gd name="connsiteY2" fmla="*/ 358744 h 717488"/>
              <a:gd name="connsiteX3" fmla="*/ 2611555 w 2970298"/>
              <a:gd name="connsiteY3" fmla="*/ 717489 h 717488"/>
              <a:gd name="connsiteX4" fmla="*/ 358744 w 2970298"/>
              <a:gd name="connsiteY4" fmla="*/ 717489 h 717488"/>
              <a:gd name="connsiteX5" fmla="*/ 0 w 2970298"/>
              <a:gd name="connsiteY5" fmla="*/ 358744 h 717488"/>
              <a:gd name="connsiteX6" fmla="*/ 358744 w 2970298"/>
              <a:gd name="connsiteY6" fmla="*/ 0 h 717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0298" h="717488">
                <a:moveTo>
                  <a:pt x="358744" y="0"/>
                </a:moveTo>
                <a:lnTo>
                  <a:pt x="2611555" y="0"/>
                </a:lnTo>
                <a:cubicBezTo>
                  <a:pt x="2809357" y="0"/>
                  <a:pt x="2970299" y="160942"/>
                  <a:pt x="2970299" y="358744"/>
                </a:cubicBezTo>
                <a:cubicBezTo>
                  <a:pt x="2970299" y="556546"/>
                  <a:pt x="2809357" y="717489"/>
                  <a:pt x="2611555" y="717489"/>
                </a:cubicBezTo>
                <a:lnTo>
                  <a:pt x="358744" y="717489"/>
                </a:lnTo>
                <a:cubicBezTo>
                  <a:pt x="160943" y="717489"/>
                  <a:pt x="0" y="556546"/>
                  <a:pt x="0" y="358744"/>
                </a:cubicBezTo>
                <a:cubicBezTo>
                  <a:pt x="0" y="160942"/>
                  <a:pt x="160943" y="0"/>
                  <a:pt x="358744" y="0"/>
                </a:cubicBezTo>
                <a:close/>
              </a:path>
            </a:pathLst>
          </a:custGeom>
          <a:solidFill>
            <a:srgbClr val="FFFFFF"/>
          </a:solidFill>
          <a:ln w="38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FC Milestone Test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25146-4DED-AB5E-3221-88DF004A46B2}"/>
              </a:ext>
            </a:extLst>
          </p:cNvPr>
          <p:cNvSpPr txBox="1"/>
          <p:nvPr/>
        </p:nvSpPr>
        <p:spPr>
          <a:xfrm>
            <a:off x="734109" y="2287800"/>
            <a:ext cx="4329382" cy="374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Sanity Checks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Release Sanity (RS), AU Sanity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Stability Testing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Back2Back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reboot, alpaca reset, LPM, S2D – 1000 iterations each)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Stress Testing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APStress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(ACF_LPM &amp; ACF_S2D – 250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each)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F9ED5">
                  <a:lumMod val="75000"/>
                </a:srgbClr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 Validation: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L1 Testing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across Audio, Video, Platform, Camera, Display, GFX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L2 Testing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concurrency 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 Suites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(TS): CTS, ATS, VTS, CTS-on-GSI, 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Standard benchmarks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Monkey Testing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50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6380E13-5C37-0017-6104-2098AC9676B2}"/>
              </a:ext>
            </a:extLst>
          </p:cNvPr>
          <p:cNvSpPr/>
          <p:nvPr/>
        </p:nvSpPr>
        <p:spPr>
          <a:xfrm>
            <a:off x="6627137" y="1087377"/>
            <a:ext cx="3278123" cy="5302256"/>
          </a:xfrm>
          <a:custGeom>
            <a:avLst/>
            <a:gdLst>
              <a:gd name="connsiteX0" fmla="*/ 1762172 w 3278123"/>
              <a:gd name="connsiteY0" fmla="*/ 5755762 h 5801970"/>
              <a:gd name="connsiteX1" fmla="*/ 509337 w 3278123"/>
              <a:gd name="connsiteY1" fmla="*/ 5755762 h 5801970"/>
              <a:gd name="connsiteX2" fmla="*/ 46170 w 3278123"/>
              <a:gd name="connsiteY2" fmla="*/ 5292595 h 5801970"/>
              <a:gd name="connsiteX3" fmla="*/ 46170 w 3278123"/>
              <a:gd name="connsiteY3" fmla="*/ 1485496 h 5801970"/>
              <a:gd name="connsiteX4" fmla="*/ 506413 w 3278123"/>
              <a:gd name="connsiteY4" fmla="*/ 1025292 h 5801970"/>
              <a:gd name="connsiteX5" fmla="*/ 2757684 w 3278123"/>
              <a:gd name="connsiteY5" fmla="*/ 1025292 h 5801970"/>
              <a:gd name="connsiteX6" fmla="*/ 3278064 w 3278123"/>
              <a:gd name="connsiteY6" fmla="*/ 520610 h 5801970"/>
              <a:gd name="connsiteX7" fmla="*/ 2765456 w 3278123"/>
              <a:gd name="connsiteY7" fmla="*/ 0 h 5801970"/>
              <a:gd name="connsiteX8" fmla="*/ 512646 w 3278123"/>
              <a:gd name="connsiteY8" fmla="*/ 0 h 5801970"/>
              <a:gd name="connsiteX9" fmla="*/ 0 w 3278123"/>
              <a:gd name="connsiteY9" fmla="*/ 512646 h 5801970"/>
              <a:gd name="connsiteX10" fmla="*/ 0 w 3278123"/>
              <a:gd name="connsiteY10" fmla="*/ 512646 h 5801970"/>
              <a:gd name="connsiteX11" fmla="*/ 0 w 3278123"/>
              <a:gd name="connsiteY11" fmla="*/ 5292634 h 5801970"/>
              <a:gd name="connsiteX12" fmla="*/ 509337 w 3278123"/>
              <a:gd name="connsiteY12" fmla="*/ 5801971 h 5801970"/>
              <a:gd name="connsiteX13" fmla="*/ 1760903 w 3278123"/>
              <a:gd name="connsiteY13" fmla="*/ 5801971 h 5801970"/>
              <a:gd name="connsiteX14" fmla="*/ 1785257 w 3278123"/>
              <a:gd name="connsiteY14" fmla="*/ 5780117 h 5801970"/>
              <a:gd name="connsiteX15" fmla="*/ 1762211 w 3278123"/>
              <a:gd name="connsiteY15" fmla="*/ 5755800 h 5801970"/>
              <a:gd name="connsiteX16" fmla="*/ 512646 w 3278123"/>
              <a:gd name="connsiteY16" fmla="*/ 153901 h 5801970"/>
              <a:gd name="connsiteX17" fmla="*/ 2765456 w 3278123"/>
              <a:gd name="connsiteY17" fmla="*/ 153901 h 5801970"/>
              <a:gd name="connsiteX18" fmla="*/ 3124201 w 3278123"/>
              <a:gd name="connsiteY18" fmla="*/ 512646 h 5801970"/>
              <a:gd name="connsiteX19" fmla="*/ 2765456 w 3278123"/>
              <a:gd name="connsiteY19" fmla="*/ 871390 h 5801970"/>
              <a:gd name="connsiteX20" fmla="*/ 512646 w 3278123"/>
              <a:gd name="connsiteY20" fmla="*/ 871390 h 5801970"/>
              <a:gd name="connsiteX21" fmla="*/ 153902 w 3278123"/>
              <a:gd name="connsiteY21" fmla="*/ 512646 h 5801970"/>
              <a:gd name="connsiteX22" fmla="*/ 512646 w 3278123"/>
              <a:gd name="connsiteY22" fmla="*/ 153901 h 580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278123" h="5801970">
                <a:moveTo>
                  <a:pt x="1762172" y="5755762"/>
                </a:moveTo>
                <a:lnTo>
                  <a:pt x="509337" y="5755762"/>
                </a:lnTo>
                <a:cubicBezTo>
                  <a:pt x="253553" y="5755762"/>
                  <a:pt x="46170" y="5548418"/>
                  <a:pt x="46170" y="5292595"/>
                </a:cubicBezTo>
                <a:lnTo>
                  <a:pt x="46170" y="1485496"/>
                </a:lnTo>
                <a:cubicBezTo>
                  <a:pt x="46170" y="1231327"/>
                  <a:pt x="252245" y="1025292"/>
                  <a:pt x="506413" y="1025292"/>
                </a:cubicBezTo>
                <a:lnTo>
                  <a:pt x="2757684" y="1025292"/>
                </a:lnTo>
                <a:cubicBezTo>
                  <a:pt x="3039016" y="1025292"/>
                  <a:pt x="3273754" y="801904"/>
                  <a:pt x="3278064" y="520610"/>
                </a:cubicBezTo>
                <a:cubicBezTo>
                  <a:pt x="3282411" y="234315"/>
                  <a:pt x="3050790" y="0"/>
                  <a:pt x="2765456" y="0"/>
                </a:cubicBezTo>
                <a:lnTo>
                  <a:pt x="512646" y="0"/>
                </a:lnTo>
                <a:cubicBezTo>
                  <a:pt x="229506" y="0"/>
                  <a:pt x="0" y="229506"/>
                  <a:pt x="0" y="512646"/>
                </a:cubicBezTo>
                <a:lnTo>
                  <a:pt x="0" y="512646"/>
                </a:lnTo>
                <a:lnTo>
                  <a:pt x="0" y="5292634"/>
                </a:lnTo>
                <a:cubicBezTo>
                  <a:pt x="0" y="5573927"/>
                  <a:pt x="228044" y="5801971"/>
                  <a:pt x="509337" y="5801971"/>
                </a:cubicBezTo>
                <a:lnTo>
                  <a:pt x="1760903" y="5801971"/>
                </a:lnTo>
                <a:cubicBezTo>
                  <a:pt x="1773407" y="5801971"/>
                  <a:pt x="1784603" y="5792621"/>
                  <a:pt x="1785257" y="5780117"/>
                </a:cubicBezTo>
                <a:cubicBezTo>
                  <a:pt x="1785950" y="5766804"/>
                  <a:pt x="1775369" y="5755800"/>
                  <a:pt x="1762211" y="5755800"/>
                </a:cubicBezTo>
                <a:close/>
                <a:moveTo>
                  <a:pt x="512646" y="153901"/>
                </a:moveTo>
                <a:lnTo>
                  <a:pt x="2765456" y="153901"/>
                </a:lnTo>
                <a:cubicBezTo>
                  <a:pt x="2963258" y="153901"/>
                  <a:pt x="3124201" y="314844"/>
                  <a:pt x="3124201" y="512646"/>
                </a:cubicBezTo>
                <a:cubicBezTo>
                  <a:pt x="3124201" y="710448"/>
                  <a:pt x="2963258" y="871390"/>
                  <a:pt x="2765456" y="871390"/>
                </a:cubicBezTo>
                <a:lnTo>
                  <a:pt x="512646" y="871390"/>
                </a:lnTo>
                <a:cubicBezTo>
                  <a:pt x="314844" y="871390"/>
                  <a:pt x="153902" y="710448"/>
                  <a:pt x="153902" y="512646"/>
                </a:cubicBezTo>
                <a:cubicBezTo>
                  <a:pt x="153902" y="314844"/>
                  <a:pt x="314844" y="153901"/>
                  <a:pt x="512646" y="153901"/>
                </a:cubicBezTo>
                <a:close/>
              </a:path>
            </a:pathLst>
          </a:custGeom>
          <a:solidFill>
            <a:srgbClr val="0070C0"/>
          </a:solidFill>
          <a:ln w="38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C2F29B9-C0D2-BB79-9169-4B1A5DC46AC5}"/>
              </a:ext>
            </a:extLst>
          </p:cNvPr>
          <p:cNvSpPr/>
          <p:nvPr/>
        </p:nvSpPr>
        <p:spPr>
          <a:xfrm>
            <a:off x="6781038" y="1208620"/>
            <a:ext cx="2970298" cy="717488"/>
          </a:xfrm>
          <a:custGeom>
            <a:avLst/>
            <a:gdLst>
              <a:gd name="connsiteX0" fmla="*/ 358744 w 2970298"/>
              <a:gd name="connsiteY0" fmla="*/ 0 h 717488"/>
              <a:gd name="connsiteX1" fmla="*/ 2611555 w 2970298"/>
              <a:gd name="connsiteY1" fmla="*/ 0 h 717488"/>
              <a:gd name="connsiteX2" fmla="*/ 2970299 w 2970298"/>
              <a:gd name="connsiteY2" fmla="*/ 358744 h 717488"/>
              <a:gd name="connsiteX3" fmla="*/ 2611555 w 2970298"/>
              <a:gd name="connsiteY3" fmla="*/ 717489 h 717488"/>
              <a:gd name="connsiteX4" fmla="*/ 358744 w 2970298"/>
              <a:gd name="connsiteY4" fmla="*/ 717489 h 717488"/>
              <a:gd name="connsiteX5" fmla="*/ 0 w 2970298"/>
              <a:gd name="connsiteY5" fmla="*/ 358744 h 717488"/>
              <a:gd name="connsiteX6" fmla="*/ 358744 w 2970298"/>
              <a:gd name="connsiteY6" fmla="*/ 0 h 717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0298" h="717488">
                <a:moveTo>
                  <a:pt x="358744" y="0"/>
                </a:moveTo>
                <a:lnTo>
                  <a:pt x="2611555" y="0"/>
                </a:lnTo>
                <a:cubicBezTo>
                  <a:pt x="2809357" y="0"/>
                  <a:pt x="2970299" y="160942"/>
                  <a:pt x="2970299" y="358744"/>
                </a:cubicBezTo>
                <a:cubicBezTo>
                  <a:pt x="2970299" y="556546"/>
                  <a:pt x="2809357" y="717489"/>
                  <a:pt x="2611555" y="717489"/>
                </a:cubicBezTo>
                <a:lnTo>
                  <a:pt x="358744" y="717489"/>
                </a:lnTo>
                <a:cubicBezTo>
                  <a:pt x="160943" y="717489"/>
                  <a:pt x="0" y="556546"/>
                  <a:pt x="0" y="358744"/>
                </a:cubicBezTo>
                <a:cubicBezTo>
                  <a:pt x="0" y="160942"/>
                  <a:pt x="160943" y="0"/>
                  <a:pt x="358744" y="0"/>
                </a:cubicBezTo>
                <a:close/>
              </a:path>
            </a:pathLst>
          </a:custGeom>
          <a:solidFill>
            <a:srgbClr val="FFFFFF"/>
          </a:solidFill>
          <a:ln w="38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CS Milestone Test 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330A9-6A9D-4C91-C8C8-337032600980}"/>
              </a:ext>
            </a:extLst>
          </p:cNvPr>
          <p:cNvSpPr txBox="1"/>
          <p:nvPr/>
        </p:nvSpPr>
        <p:spPr>
          <a:xfrm>
            <a:off x="6881957" y="2287800"/>
            <a:ext cx="4329382" cy="370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Sanity Checks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Release Sanity (RS), AU Sanity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Stability Testing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Back2Back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reboot, alpaca reset, LPM, S2D – 1000 iterations each)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Stress Testing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APStress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(ACF_LPM &amp; ACF_S2D – 250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each)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 Validation: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L1 Testing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across Audio, Video, Platform, Camera, Display, GFX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L4 Testing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100 iterations per use case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 Suites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(TS): CTS, ATS, VTS, CTS-on-GSI, 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Standard benchmarks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Monkey Testing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50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62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EB75-3CB7-F311-5C4F-04320459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11089-B473-444C-2E9A-27F2971BA7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341" y="894504"/>
            <a:ext cx="4016971" cy="5481501"/>
          </a:xfrm>
          <a:prstGeom prst="roundRect">
            <a:avLst>
              <a:gd name="adj" fmla="val 7688"/>
            </a:avLst>
          </a:prstGeom>
        </p:spPr>
      </p:pic>
      <p:sp>
        <p:nvSpPr>
          <p:cNvPr id="4" name="Rounded Rectangle 18">
            <a:extLst>
              <a:ext uri="{FF2B5EF4-FFF2-40B4-BE49-F238E27FC236}">
                <a16:creationId xmlns:a16="http://schemas.microsoft.com/office/drawing/2014/main" id="{49AF9D09-1C05-9FA2-EBCA-7E2887024416}"/>
              </a:ext>
            </a:extLst>
          </p:cNvPr>
          <p:cNvSpPr/>
          <p:nvPr/>
        </p:nvSpPr>
        <p:spPr>
          <a:xfrm>
            <a:off x="292343" y="894505"/>
            <a:ext cx="4026277" cy="5481501"/>
          </a:xfrm>
          <a:prstGeom prst="roundRect">
            <a:avLst>
              <a:gd name="adj" fmla="val 8153"/>
            </a:avLst>
          </a:prstGeom>
          <a:solidFill>
            <a:schemeClr val="tx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8C4954-D9A4-A28B-591A-181D33701CC2}"/>
              </a:ext>
            </a:extLst>
          </p:cNvPr>
          <p:cNvGrpSpPr/>
          <p:nvPr/>
        </p:nvGrpSpPr>
        <p:grpSpPr>
          <a:xfrm>
            <a:off x="4443508" y="2419468"/>
            <a:ext cx="2368739" cy="3956543"/>
            <a:chOff x="3560638" y="2755799"/>
            <a:chExt cx="2368739" cy="395654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91A5FB8-2442-0A50-280C-471A81212BF0}"/>
                </a:ext>
              </a:extLst>
            </p:cNvPr>
            <p:cNvSpPr/>
            <p:nvPr/>
          </p:nvSpPr>
          <p:spPr>
            <a:xfrm>
              <a:off x="3560638" y="2755799"/>
              <a:ext cx="2368739" cy="3956543"/>
            </a:xfrm>
            <a:prstGeom prst="roundRect">
              <a:avLst>
                <a:gd name="adj" fmla="val 14091"/>
              </a:avLst>
            </a:prstGeom>
            <a:solidFill>
              <a:schemeClr val="bg1">
                <a:alpha val="67000"/>
              </a:schemeClr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69F7F8-B5A2-CF66-CFDF-B5F1C9DD5124}"/>
                </a:ext>
              </a:extLst>
            </p:cNvPr>
            <p:cNvSpPr txBox="1"/>
            <p:nvPr/>
          </p:nvSpPr>
          <p:spPr>
            <a:xfrm>
              <a:off x="3707487" y="3546900"/>
              <a:ext cx="2148685" cy="230832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Eco-system of PCB fab houses &amp; EMS in India, Indonesia, China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Design Testing covering FCT, EVT, DVT &amp; Pre-compliance.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System Testing covering Functionality, Performance, Stability, Reliability &amp; Pre-Compliance.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0D0F0A-5C87-87C0-FA25-BB5B8E0C3BC2}"/>
                </a:ext>
              </a:extLst>
            </p:cNvPr>
            <p:cNvSpPr txBox="1"/>
            <p:nvPr/>
          </p:nvSpPr>
          <p:spPr>
            <a:xfrm>
              <a:off x="3707487" y="2905195"/>
              <a:ext cx="2073203" cy="58477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Roboto" panose="02000000000000000000" pitchFamily="2" charset="0"/>
                  <a:cs typeface="+mn-cs"/>
                </a:rPr>
                <a:t>Prototyping &amp;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Roboto" panose="02000000000000000000" pitchFamily="2" charset="0"/>
                  <a:cs typeface="+mn-cs"/>
                </a:rPr>
                <a:t>Testing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25786A1-5333-B2D8-89E6-62AA18D293CA}"/>
              </a:ext>
            </a:extLst>
          </p:cNvPr>
          <p:cNvGrpSpPr/>
          <p:nvPr/>
        </p:nvGrpSpPr>
        <p:grpSpPr>
          <a:xfrm>
            <a:off x="6931645" y="2419486"/>
            <a:ext cx="2368739" cy="3956557"/>
            <a:chOff x="6563784" y="2755817"/>
            <a:chExt cx="2368739" cy="3956557"/>
          </a:xfrm>
        </p:grpSpPr>
        <p:sp>
          <p:nvSpPr>
            <p:cNvPr id="10" name="Rounded Rectangle 100">
              <a:extLst>
                <a:ext uri="{FF2B5EF4-FFF2-40B4-BE49-F238E27FC236}">
                  <a16:creationId xmlns:a16="http://schemas.microsoft.com/office/drawing/2014/main" id="{4FB3898F-E1E9-055D-83D8-61927BE407D7}"/>
                </a:ext>
              </a:extLst>
            </p:cNvPr>
            <p:cNvSpPr/>
            <p:nvPr/>
          </p:nvSpPr>
          <p:spPr>
            <a:xfrm>
              <a:off x="6563784" y="2755817"/>
              <a:ext cx="2368739" cy="3956557"/>
            </a:xfrm>
            <a:prstGeom prst="roundRect">
              <a:avLst>
                <a:gd name="adj" fmla="val 14091"/>
              </a:avLst>
            </a:prstGeom>
            <a:solidFill>
              <a:schemeClr val="bg1">
                <a:alpha val="67000"/>
              </a:schemeClr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5C8457-1521-7397-DEC6-CFB87A75894A}"/>
                </a:ext>
              </a:extLst>
            </p:cNvPr>
            <p:cNvSpPr txBox="1"/>
            <p:nvPr/>
          </p:nvSpPr>
          <p:spPr>
            <a:xfrm>
              <a:off x="6663559" y="3546900"/>
              <a:ext cx="2186897" cy="193899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Eco-system of accredited labs in India &amp; China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Environmental: Temp, Humidity, Drop, Shock, Vibration, Input Protection &amp; Chemical.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Certification: CE/CB, FCC/IC, UL, TEC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91A4F7-2EC3-2543-F88B-7E73AC0BA36F}"/>
                </a:ext>
              </a:extLst>
            </p:cNvPr>
            <p:cNvSpPr txBox="1"/>
            <p:nvPr/>
          </p:nvSpPr>
          <p:spPr>
            <a:xfrm>
              <a:off x="6663559" y="2920939"/>
              <a:ext cx="2186897" cy="58477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Roboto" panose="02000000000000000000" pitchFamily="2" charset="0"/>
                  <a:cs typeface="+mn-cs"/>
                </a:rPr>
                <a:t>Compliance &amp;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Roboto" panose="02000000000000000000" pitchFamily="2" charset="0"/>
                  <a:cs typeface="+mn-cs"/>
                </a:rPr>
                <a:t>Certification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7E44FE-1D3F-9D2B-E5AA-4E0CF639168A}"/>
              </a:ext>
            </a:extLst>
          </p:cNvPr>
          <p:cNvGrpSpPr/>
          <p:nvPr/>
        </p:nvGrpSpPr>
        <p:grpSpPr>
          <a:xfrm>
            <a:off x="9434579" y="2419486"/>
            <a:ext cx="2368739" cy="3956564"/>
            <a:chOff x="9560699" y="2755817"/>
            <a:chExt cx="2368739" cy="3956564"/>
          </a:xfrm>
        </p:grpSpPr>
        <p:sp>
          <p:nvSpPr>
            <p:cNvPr id="14" name="Rounded Rectangle 2">
              <a:extLst>
                <a:ext uri="{FF2B5EF4-FFF2-40B4-BE49-F238E27FC236}">
                  <a16:creationId xmlns:a16="http://schemas.microsoft.com/office/drawing/2014/main" id="{17805D7B-97E0-A3CF-03E7-F61B91EFBC95}"/>
                </a:ext>
              </a:extLst>
            </p:cNvPr>
            <p:cNvSpPr/>
            <p:nvPr/>
          </p:nvSpPr>
          <p:spPr>
            <a:xfrm>
              <a:off x="9560699" y="2755817"/>
              <a:ext cx="2368739" cy="3956564"/>
            </a:xfrm>
            <a:prstGeom prst="roundRect">
              <a:avLst>
                <a:gd name="adj" fmla="val 14091"/>
              </a:avLst>
            </a:prstGeom>
            <a:solidFill>
              <a:schemeClr val="bg1">
                <a:alpha val="67000"/>
              </a:schemeClr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A5047F-60C0-C7A8-43E1-FA72B44F8645}"/>
                </a:ext>
              </a:extLst>
            </p:cNvPr>
            <p:cNvSpPr txBox="1"/>
            <p:nvPr/>
          </p:nvSpPr>
          <p:spPr>
            <a:xfrm>
              <a:off x="9666987" y="3546900"/>
              <a:ext cx="2163559" cy="304698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Partnership with SIIX, Japan, EMS with global footprint – Japan, SGP/Indo, Thailand, Philippines, Mexico, EU.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Specializing in Automotive, Industrial, Medtech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In-house: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Sourcing, Purchasing &amp; Inventory.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SMT, Box Build, QC/QA. 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Shipment Logistics, Servicing, Repair, RMA.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ISO certified for different domains.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203B5E-835C-C235-29FF-425D0CFBCB8C}"/>
                </a:ext>
              </a:extLst>
            </p:cNvPr>
            <p:cNvSpPr txBox="1"/>
            <p:nvPr/>
          </p:nvSpPr>
          <p:spPr>
            <a:xfrm>
              <a:off x="9694608" y="2905195"/>
              <a:ext cx="2135938" cy="58477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Roboto" panose="02000000000000000000" pitchFamily="2" charset="0"/>
                  <a:cs typeface="+mn-cs"/>
                </a:rPr>
                <a:t>Manufacturing &amp; Fulfillment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15B5E4-C56E-05DE-9D1F-D310A51CD878}"/>
              </a:ext>
            </a:extLst>
          </p:cNvPr>
          <p:cNvCxnSpPr>
            <a:cxnSpLocks/>
          </p:cNvCxnSpPr>
          <p:nvPr/>
        </p:nvCxnSpPr>
        <p:spPr>
          <a:xfrm>
            <a:off x="5627877" y="2238806"/>
            <a:ext cx="4991071" cy="0"/>
          </a:xfrm>
          <a:prstGeom prst="line">
            <a:avLst/>
          </a:prstGeom>
          <a:ln w="25400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890B4B2-72FE-D1EF-DE1C-A7EED190F00C}"/>
              </a:ext>
            </a:extLst>
          </p:cNvPr>
          <p:cNvSpPr/>
          <p:nvPr/>
        </p:nvSpPr>
        <p:spPr>
          <a:xfrm>
            <a:off x="7696130" y="984638"/>
            <a:ext cx="839769" cy="839769"/>
          </a:xfrm>
          <a:prstGeom prst="ellipse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EC2FD2-0607-5DE5-D111-C30D9A6AF752}"/>
              </a:ext>
            </a:extLst>
          </p:cNvPr>
          <p:cNvSpPr/>
          <p:nvPr/>
        </p:nvSpPr>
        <p:spPr>
          <a:xfrm>
            <a:off x="7605998" y="894506"/>
            <a:ext cx="1020032" cy="1020032"/>
          </a:xfrm>
          <a:prstGeom prst="ellipse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06CC9D-779F-3134-7F7E-FE8FAA1126ED}"/>
              </a:ext>
            </a:extLst>
          </p:cNvPr>
          <p:cNvSpPr/>
          <p:nvPr/>
        </p:nvSpPr>
        <p:spPr>
          <a:xfrm>
            <a:off x="10199064" y="984638"/>
            <a:ext cx="839769" cy="839769"/>
          </a:xfrm>
          <a:prstGeom prst="ellipse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F17DFE-A015-99E0-DD62-34D312CF2997}"/>
              </a:ext>
            </a:extLst>
          </p:cNvPr>
          <p:cNvSpPr/>
          <p:nvPr/>
        </p:nvSpPr>
        <p:spPr>
          <a:xfrm>
            <a:off x="10108932" y="894506"/>
            <a:ext cx="1020032" cy="1020032"/>
          </a:xfrm>
          <a:prstGeom prst="ellipse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6B8361-B265-7698-74CC-CA1367008E7E}"/>
              </a:ext>
            </a:extLst>
          </p:cNvPr>
          <p:cNvCxnSpPr>
            <a:cxnSpLocks/>
          </p:cNvCxnSpPr>
          <p:nvPr/>
        </p:nvCxnSpPr>
        <p:spPr>
          <a:xfrm>
            <a:off x="5627877" y="1914538"/>
            <a:ext cx="0" cy="324268"/>
          </a:xfrm>
          <a:prstGeom prst="straightConnector1">
            <a:avLst/>
          </a:prstGeom>
          <a:ln w="25400">
            <a:solidFill>
              <a:schemeClr val="tx2">
                <a:lumMod val="75000"/>
                <a:lumOff val="25000"/>
              </a:schemeClr>
            </a:solidFill>
            <a:prstDash val="sysDot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DF258B-71DF-A974-C7C1-92D4D54D5E9B}"/>
              </a:ext>
            </a:extLst>
          </p:cNvPr>
          <p:cNvCxnSpPr>
            <a:cxnSpLocks/>
          </p:cNvCxnSpPr>
          <p:nvPr/>
        </p:nvCxnSpPr>
        <p:spPr>
          <a:xfrm>
            <a:off x="8116014" y="1914538"/>
            <a:ext cx="0" cy="324268"/>
          </a:xfrm>
          <a:prstGeom prst="straightConnector1">
            <a:avLst/>
          </a:prstGeom>
          <a:ln w="25400">
            <a:solidFill>
              <a:schemeClr val="tx2">
                <a:lumMod val="75000"/>
                <a:lumOff val="25000"/>
              </a:schemeClr>
            </a:solidFill>
            <a:prstDash val="sysDot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50D0CE-7D52-B473-DC0F-7BCC13B228E7}"/>
              </a:ext>
            </a:extLst>
          </p:cNvPr>
          <p:cNvCxnSpPr>
            <a:cxnSpLocks/>
          </p:cNvCxnSpPr>
          <p:nvPr/>
        </p:nvCxnSpPr>
        <p:spPr>
          <a:xfrm>
            <a:off x="10618948" y="1914538"/>
            <a:ext cx="0" cy="324268"/>
          </a:xfrm>
          <a:prstGeom prst="straightConnector1">
            <a:avLst/>
          </a:prstGeom>
          <a:ln w="25400">
            <a:solidFill>
              <a:schemeClr val="tx2">
                <a:lumMod val="75000"/>
                <a:lumOff val="25000"/>
              </a:schemeClr>
            </a:solidFill>
            <a:prstDash val="sysDot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439F8A4D-B75D-E3F2-F964-5E3CF76289D1}"/>
              </a:ext>
            </a:extLst>
          </p:cNvPr>
          <p:cNvSpPr/>
          <p:nvPr/>
        </p:nvSpPr>
        <p:spPr>
          <a:xfrm>
            <a:off x="5207993" y="984638"/>
            <a:ext cx="839769" cy="839769"/>
          </a:xfrm>
          <a:prstGeom prst="ellipse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5C3200-0484-DBF7-10EC-AC49EF2E9ED3}"/>
              </a:ext>
            </a:extLst>
          </p:cNvPr>
          <p:cNvSpPr/>
          <p:nvPr/>
        </p:nvSpPr>
        <p:spPr>
          <a:xfrm>
            <a:off x="5117861" y="894506"/>
            <a:ext cx="1020032" cy="1020032"/>
          </a:xfrm>
          <a:prstGeom prst="ellipse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C9120A-B274-07DA-6284-C2AD6EDEB1AE}"/>
              </a:ext>
            </a:extLst>
          </p:cNvPr>
          <p:cNvSpPr txBox="1"/>
          <p:nvPr/>
        </p:nvSpPr>
        <p:spPr>
          <a:xfrm>
            <a:off x="404425" y="1555217"/>
            <a:ext cx="378364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Hardware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(in-house):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Design - PAD, Schematics, Board Design – multi-layer/HDI, Sourcing, BoM &amp; Costing, Fab &amp; Assembly, Bring-up, FCT, EVT, DVT &amp; Pre-compliance, Manufacturing &amp; QA.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Industrial/Mech Design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(in-house &amp; partners):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 factor concepts, Detailed ME – 3D, Rapid Prototypes, DFMEA, 2D details, Tooling, T0-thru-MP.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Antenna Design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 partners):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COTS / Custom, Cellular/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WiFi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/BT/BLE/RFID/NFC, Chip/Flex/LDS technologies, Robust process (simulate, prototype, verify, manufacture)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Software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(in-house):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Linux/Win-IoT/Android/RTOS, Embedded system/kernel level, Applications, Cloud Orchestration - OTA  Authentication/Provisioning/Management/Updates, Cybersecurity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Edge Computing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Science, Model identification / design, Data preparation, ML-Ops (Training/ Deployment / Performance / Model Update)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5099C-6E3E-0E83-90AA-B213F605C262}"/>
              </a:ext>
            </a:extLst>
          </p:cNvPr>
          <p:cNvSpPr txBox="1"/>
          <p:nvPr/>
        </p:nvSpPr>
        <p:spPr>
          <a:xfrm>
            <a:off x="404425" y="1129816"/>
            <a:ext cx="34327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9" name="Picture 2" descr="Unit testing ">
            <a:extLst>
              <a:ext uri="{FF2B5EF4-FFF2-40B4-BE49-F238E27FC236}">
                <a16:creationId xmlns:a16="http://schemas.microsoft.com/office/drawing/2014/main" id="{DB7C788A-69B6-FB73-AFAD-F2770B6A2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75249" y="1156334"/>
            <a:ext cx="471621" cy="471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Compliance ">
            <a:extLst>
              <a:ext uri="{FF2B5EF4-FFF2-40B4-BE49-F238E27FC236}">
                <a16:creationId xmlns:a16="http://schemas.microsoft.com/office/drawing/2014/main" id="{0914728C-6982-84AE-5D00-61B8DF4AB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0540" y="1141414"/>
            <a:ext cx="526215" cy="52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Manufacturing ">
            <a:extLst>
              <a:ext uri="{FF2B5EF4-FFF2-40B4-BE49-F238E27FC236}">
                <a16:creationId xmlns:a16="http://schemas.microsoft.com/office/drawing/2014/main" id="{B26A96FA-75AB-845D-9FE5-5E2E27978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97766" y="1167581"/>
            <a:ext cx="477382" cy="47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6C46A940-62B4-0A5B-4422-C78833499649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44C25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Hardware Capabilities – New Product Initiative (NPI)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44C25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70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8912-A174-C610-F93A-DEC45583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39E7-D338-301C-71E6-66CDDEE5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>
            <a:normAutofit/>
          </a:bodyPr>
          <a:lstStyle/>
          <a:p>
            <a:r>
              <a:rPr lang="en-US" dirty="0"/>
              <a:t>New Product (NPI) Development Process</a:t>
            </a:r>
            <a:endParaRPr lang="en-US" sz="2800" b="1" dirty="0">
              <a:solidFill>
                <a:srgbClr val="E44C2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angle: Top Corners Rounded 67">
            <a:extLst>
              <a:ext uri="{FF2B5EF4-FFF2-40B4-BE49-F238E27FC236}">
                <a16:creationId xmlns:a16="http://schemas.microsoft.com/office/drawing/2014/main" id="{BDA47102-15AF-4740-4A7F-0E8A6E1F1F3A}"/>
              </a:ext>
            </a:extLst>
          </p:cNvPr>
          <p:cNvSpPr/>
          <p:nvPr/>
        </p:nvSpPr>
        <p:spPr>
          <a:xfrm>
            <a:off x="285205" y="894443"/>
            <a:ext cx="11621590" cy="3124200"/>
          </a:xfrm>
          <a:prstGeom prst="round2SameRect">
            <a:avLst>
              <a:gd name="adj1" fmla="val 1074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A3E888-17AC-96C2-AC38-8E6F496F0A11}"/>
              </a:ext>
            </a:extLst>
          </p:cNvPr>
          <p:cNvGrpSpPr/>
          <p:nvPr/>
        </p:nvGrpSpPr>
        <p:grpSpPr>
          <a:xfrm>
            <a:off x="297809" y="1082659"/>
            <a:ext cx="11168658" cy="2707384"/>
            <a:chOff x="524776" y="721616"/>
            <a:chExt cx="11168658" cy="2707384"/>
          </a:xfrm>
        </p:grpSpPr>
        <p:sp>
          <p:nvSpPr>
            <p:cNvPr id="5" name="Rectangle: Rounded Corners 2">
              <a:extLst>
                <a:ext uri="{FF2B5EF4-FFF2-40B4-BE49-F238E27FC236}">
                  <a16:creationId xmlns:a16="http://schemas.microsoft.com/office/drawing/2014/main" id="{649A32F0-506B-17C2-406A-6F67FF7AE661}"/>
                </a:ext>
              </a:extLst>
            </p:cNvPr>
            <p:cNvSpPr/>
            <p:nvPr/>
          </p:nvSpPr>
          <p:spPr>
            <a:xfrm>
              <a:off x="980661" y="721616"/>
              <a:ext cx="1806082" cy="576001"/>
            </a:xfrm>
            <a:prstGeom prst="roundRect">
              <a:avLst/>
            </a:prstGeom>
            <a:solidFill>
              <a:srgbClr val="D7EEF9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Requirements</a:t>
              </a:r>
            </a:p>
          </p:txBody>
        </p:sp>
        <p:sp>
          <p:nvSpPr>
            <p:cNvPr id="6" name="Rectangle: Rounded Corners 3">
              <a:extLst>
                <a:ext uri="{FF2B5EF4-FFF2-40B4-BE49-F238E27FC236}">
                  <a16:creationId xmlns:a16="http://schemas.microsoft.com/office/drawing/2014/main" id="{BB767BFE-E124-A08C-4FB5-E3864F33EC4B}"/>
                </a:ext>
              </a:extLst>
            </p:cNvPr>
            <p:cNvSpPr/>
            <p:nvPr/>
          </p:nvSpPr>
          <p:spPr>
            <a:xfrm>
              <a:off x="3421743" y="721616"/>
              <a:ext cx="2318657" cy="576001"/>
            </a:xfrm>
            <a:prstGeom prst="roundRect">
              <a:avLst/>
            </a:prstGeom>
            <a:solidFill>
              <a:schemeClr val="tx2">
                <a:lumMod val="25000"/>
                <a:lumOff val="75000"/>
                <a:alpha val="24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Architecture / PoC</a:t>
              </a:r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08F7DA19-D489-D3A2-526D-33E96B30CB6C}"/>
                </a:ext>
              </a:extLst>
            </p:cNvPr>
            <p:cNvSpPr/>
            <p:nvPr/>
          </p:nvSpPr>
          <p:spPr>
            <a:xfrm>
              <a:off x="6375400" y="721616"/>
              <a:ext cx="2318657" cy="576001"/>
            </a:xfrm>
            <a:prstGeom prst="roundRect">
              <a:avLst/>
            </a:prstGeom>
            <a:solidFill>
              <a:srgbClr val="D7EEF9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Detailed Design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(Sch/BoM)</a:t>
              </a:r>
            </a:p>
          </p:txBody>
        </p:sp>
        <p:sp>
          <p:nvSpPr>
            <p:cNvPr id="8" name="Rectangle: Rounded Corners 5">
              <a:extLst>
                <a:ext uri="{FF2B5EF4-FFF2-40B4-BE49-F238E27FC236}">
                  <a16:creationId xmlns:a16="http://schemas.microsoft.com/office/drawing/2014/main" id="{8D089D19-F2EE-786F-8C45-0CDDB2DF8007}"/>
                </a:ext>
              </a:extLst>
            </p:cNvPr>
            <p:cNvSpPr/>
            <p:nvPr/>
          </p:nvSpPr>
          <p:spPr>
            <a:xfrm>
              <a:off x="9329057" y="721616"/>
              <a:ext cx="2318657" cy="576001"/>
            </a:xfrm>
            <a:prstGeom prst="roundRect">
              <a:avLst/>
            </a:prstGeom>
            <a:solidFill>
              <a:schemeClr val="tx2">
                <a:lumMod val="25000"/>
                <a:lumOff val="75000"/>
                <a:alpha val="24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Layout/ Simulation / Reviews / Gerber</a:t>
              </a:r>
            </a:p>
          </p:txBody>
        </p:sp>
        <p:sp>
          <p:nvSpPr>
            <p:cNvPr id="9" name="Rectangle: Rounded Corners 6">
              <a:extLst>
                <a:ext uri="{FF2B5EF4-FFF2-40B4-BE49-F238E27FC236}">
                  <a16:creationId xmlns:a16="http://schemas.microsoft.com/office/drawing/2014/main" id="{0E792001-270F-E0C7-9A40-6AB0D005BA9A}"/>
                </a:ext>
              </a:extLst>
            </p:cNvPr>
            <p:cNvSpPr/>
            <p:nvPr/>
          </p:nvSpPr>
          <p:spPr>
            <a:xfrm>
              <a:off x="952500" y="1810190"/>
              <a:ext cx="2318657" cy="576001"/>
            </a:xfrm>
            <a:prstGeom prst="roundRect">
              <a:avLst/>
            </a:prstGeom>
            <a:solidFill>
              <a:schemeClr val="tx2">
                <a:lumMod val="25000"/>
                <a:lumOff val="75000"/>
                <a:alpha val="24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Performance / Pre-compliance / Parametric Verification Tests</a:t>
              </a:r>
            </a:p>
          </p:txBody>
        </p:sp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230FC2A5-E671-7CB2-4A91-4C90D8E9257B}"/>
                </a:ext>
              </a:extLst>
            </p:cNvPr>
            <p:cNvSpPr/>
            <p:nvPr/>
          </p:nvSpPr>
          <p:spPr>
            <a:xfrm>
              <a:off x="3926770" y="1810190"/>
              <a:ext cx="2318657" cy="576001"/>
            </a:xfrm>
            <a:prstGeom prst="roundRect">
              <a:avLst/>
            </a:prstGeom>
            <a:solidFill>
              <a:srgbClr val="D7EEF9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Bring up &amp; Functional Tests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6E7A2708-5867-B209-0BF3-C5F22665DDE5}"/>
                </a:ext>
              </a:extLst>
            </p:cNvPr>
            <p:cNvSpPr/>
            <p:nvPr/>
          </p:nvSpPr>
          <p:spPr>
            <a:xfrm>
              <a:off x="6901040" y="1810190"/>
              <a:ext cx="1558472" cy="576001"/>
            </a:xfrm>
            <a:prstGeom prst="roundRect">
              <a:avLst/>
            </a:prstGeom>
            <a:solidFill>
              <a:schemeClr val="tx2">
                <a:lumMod val="25000"/>
                <a:lumOff val="75000"/>
                <a:alpha val="24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SMT/Box Build</a:t>
              </a:r>
            </a:p>
          </p:txBody>
        </p:sp>
        <p:sp>
          <p:nvSpPr>
            <p:cNvPr id="12" name="Rectangle: Rounded Corners 9">
              <a:extLst>
                <a:ext uri="{FF2B5EF4-FFF2-40B4-BE49-F238E27FC236}">
                  <a16:creationId xmlns:a16="http://schemas.microsoft.com/office/drawing/2014/main" id="{43FFD1F8-6E53-CA1F-6954-1D833ABC8C4A}"/>
                </a:ext>
              </a:extLst>
            </p:cNvPr>
            <p:cNvSpPr/>
            <p:nvPr/>
          </p:nvSpPr>
          <p:spPr>
            <a:xfrm>
              <a:off x="9115124" y="1810190"/>
              <a:ext cx="2162476" cy="576001"/>
            </a:xfrm>
            <a:prstGeom prst="roundRect">
              <a:avLst/>
            </a:prstGeom>
            <a:solidFill>
              <a:srgbClr val="D7EEF9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Fab / Procurement</a:t>
              </a:r>
            </a:p>
          </p:txBody>
        </p:sp>
        <p:sp>
          <p:nvSpPr>
            <p:cNvPr id="13" name="Rectangle: Rounded Corners 10">
              <a:extLst>
                <a:ext uri="{FF2B5EF4-FFF2-40B4-BE49-F238E27FC236}">
                  <a16:creationId xmlns:a16="http://schemas.microsoft.com/office/drawing/2014/main" id="{7FB51B92-FAAD-D002-1533-E941DA90D317}"/>
                </a:ext>
              </a:extLst>
            </p:cNvPr>
            <p:cNvSpPr/>
            <p:nvPr/>
          </p:nvSpPr>
          <p:spPr>
            <a:xfrm>
              <a:off x="1589702" y="2852999"/>
              <a:ext cx="2062146" cy="576001"/>
            </a:xfrm>
            <a:prstGeom prst="roundRect">
              <a:avLst/>
            </a:prstGeom>
            <a:solidFill>
              <a:srgbClr val="D7EEF9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Pilot Build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313502B-621C-7B7C-D4E2-8F4110669E0F}"/>
                </a:ext>
              </a:extLst>
            </p:cNvPr>
            <p:cNvSpPr/>
            <p:nvPr/>
          </p:nvSpPr>
          <p:spPr>
            <a:xfrm>
              <a:off x="4511785" y="2852999"/>
              <a:ext cx="2657397" cy="576001"/>
            </a:xfrm>
            <a:prstGeom prst="roundRect">
              <a:avLst/>
            </a:prstGeom>
            <a:solidFill>
              <a:schemeClr val="tx2">
                <a:lumMod val="25000"/>
                <a:lumOff val="75000"/>
                <a:alpha val="24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Field Tests / Certification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2AE885B-0D94-2012-4C30-9E08E32638B4}"/>
                </a:ext>
              </a:extLst>
            </p:cNvPr>
            <p:cNvSpPr/>
            <p:nvPr/>
          </p:nvSpPr>
          <p:spPr>
            <a:xfrm>
              <a:off x="8029120" y="2852999"/>
              <a:ext cx="2459265" cy="576001"/>
            </a:xfrm>
            <a:prstGeom prst="roundRect">
              <a:avLst/>
            </a:prstGeom>
            <a:solidFill>
              <a:srgbClr val="D7EEF9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Production Enablement</a:t>
              </a:r>
            </a:p>
          </p:txBody>
        </p:sp>
        <p:sp>
          <p:nvSpPr>
            <p:cNvPr id="16" name="Arrow: Striped Right 20">
              <a:extLst>
                <a:ext uri="{FF2B5EF4-FFF2-40B4-BE49-F238E27FC236}">
                  <a16:creationId xmlns:a16="http://schemas.microsoft.com/office/drawing/2014/main" id="{9EB5F3C2-D726-1217-6C16-728D1A698AD6}"/>
                </a:ext>
              </a:extLst>
            </p:cNvPr>
            <p:cNvSpPr/>
            <p:nvPr/>
          </p:nvSpPr>
          <p:spPr>
            <a:xfrm>
              <a:off x="2927350" y="908293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Arrow: Striped Right 22">
              <a:extLst>
                <a:ext uri="{FF2B5EF4-FFF2-40B4-BE49-F238E27FC236}">
                  <a16:creationId xmlns:a16="http://schemas.microsoft.com/office/drawing/2014/main" id="{80082D97-91DC-AFE2-7C50-C429B8060DE1}"/>
                </a:ext>
              </a:extLst>
            </p:cNvPr>
            <p:cNvSpPr/>
            <p:nvPr/>
          </p:nvSpPr>
          <p:spPr>
            <a:xfrm>
              <a:off x="5885239" y="908293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Arrow: Striped Right 24">
              <a:extLst>
                <a:ext uri="{FF2B5EF4-FFF2-40B4-BE49-F238E27FC236}">
                  <a16:creationId xmlns:a16="http://schemas.microsoft.com/office/drawing/2014/main" id="{E534728E-88F9-C194-50B6-BB278D553565}"/>
                </a:ext>
              </a:extLst>
            </p:cNvPr>
            <p:cNvSpPr/>
            <p:nvPr/>
          </p:nvSpPr>
          <p:spPr>
            <a:xfrm>
              <a:off x="8834663" y="908293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Arrow: Striped Right 27">
              <a:extLst>
                <a:ext uri="{FF2B5EF4-FFF2-40B4-BE49-F238E27FC236}">
                  <a16:creationId xmlns:a16="http://schemas.microsoft.com/office/drawing/2014/main" id="{F7514E81-FCDA-D7F7-97E0-AD956A064FD4}"/>
                </a:ext>
              </a:extLst>
            </p:cNvPr>
            <p:cNvSpPr/>
            <p:nvPr/>
          </p:nvSpPr>
          <p:spPr>
            <a:xfrm rot="10800000">
              <a:off x="8620663" y="1995904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Arrow: Striped Right 29">
              <a:extLst>
                <a:ext uri="{FF2B5EF4-FFF2-40B4-BE49-F238E27FC236}">
                  <a16:creationId xmlns:a16="http://schemas.microsoft.com/office/drawing/2014/main" id="{652DCD39-0A37-E61F-E00B-08E20923E952}"/>
                </a:ext>
              </a:extLst>
            </p:cNvPr>
            <p:cNvSpPr/>
            <p:nvPr/>
          </p:nvSpPr>
          <p:spPr>
            <a:xfrm rot="10800000">
              <a:off x="6394429" y="1995904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Arrow: Striped Right 30">
              <a:extLst>
                <a:ext uri="{FF2B5EF4-FFF2-40B4-BE49-F238E27FC236}">
                  <a16:creationId xmlns:a16="http://schemas.microsoft.com/office/drawing/2014/main" id="{F63742BA-BAC5-869D-F01A-733B94F5924F}"/>
                </a:ext>
              </a:extLst>
            </p:cNvPr>
            <p:cNvSpPr/>
            <p:nvPr/>
          </p:nvSpPr>
          <p:spPr>
            <a:xfrm rot="10800000">
              <a:off x="3432309" y="1995904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Arrow: Striped Right 37">
              <a:extLst>
                <a:ext uri="{FF2B5EF4-FFF2-40B4-BE49-F238E27FC236}">
                  <a16:creationId xmlns:a16="http://schemas.microsoft.com/office/drawing/2014/main" id="{418A44ED-D4C2-54BA-22A3-2A8332B484D8}"/>
                </a:ext>
              </a:extLst>
            </p:cNvPr>
            <p:cNvSpPr/>
            <p:nvPr/>
          </p:nvSpPr>
          <p:spPr>
            <a:xfrm>
              <a:off x="3926770" y="3039675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Arrow: Striped Right 42">
              <a:extLst>
                <a:ext uri="{FF2B5EF4-FFF2-40B4-BE49-F238E27FC236}">
                  <a16:creationId xmlns:a16="http://schemas.microsoft.com/office/drawing/2014/main" id="{EE4369B7-AF3A-E8C2-2A38-188B786616C9}"/>
                </a:ext>
              </a:extLst>
            </p:cNvPr>
            <p:cNvSpPr/>
            <p:nvPr/>
          </p:nvSpPr>
          <p:spPr>
            <a:xfrm>
              <a:off x="7422258" y="3039675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16D1EF0-2CEF-3664-CBE6-6F972E80A9D1}"/>
                </a:ext>
              </a:extLst>
            </p:cNvPr>
            <p:cNvGrpSpPr/>
            <p:nvPr/>
          </p:nvGrpSpPr>
          <p:grpSpPr>
            <a:xfrm>
              <a:off x="11334296" y="1702255"/>
              <a:ext cx="359138" cy="459993"/>
              <a:chOff x="11334296" y="1647825"/>
              <a:chExt cx="359138" cy="459993"/>
            </a:xfrm>
          </p:grpSpPr>
          <p:sp>
            <p:nvSpPr>
              <p:cNvPr id="30" name="Arrow: Striped Right 47">
                <a:extLst>
                  <a:ext uri="{FF2B5EF4-FFF2-40B4-BE49-F238E27FC236}">
                    <a16:creationId xmlns:a16="http://schemas.microsoft.com/office/drawing/2014/main" id="{BC804018-B129-90A7-A4B0-A49D52300A93}"/>
                  </a:ext>
                </a:extLst>
              </p:cNvPr>
              <p:cNvSpPr/>
              <p:nvPr/>
            </p:nvSpPr>
            <p:spPr>
              <a:xfrm rot="10800000">
                <a:off x="11334296" y="1905171"/>
                <a:ext cx="353786" cy="202647"/>
              </a:xfrm>
              <a:prstGeom prst="stripedRightArrow">
                <a:avLst>
                  <a:gd name="adj1" fmla="val 35883"/>
                  <a:gd name="adj2" fmla="val 54235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92B6A0A-860A-52AC-7C5A-2F162D85B718}"/>
                  </a:ext>
                </a:extLst>
              </p:cNvPr>
              <p:cNvSpPr/>
              <p:nvPr/>
            </p:nvSpPr>
            <p:spPr>
              <a:xfrm>
                <a:off x="11623676" y="1647825"/>
                <a:ext cx="69758" cy="39497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309965C-A94C-7D55-C62A-64C515FCE79F}"/>
                </a:ext>
              </a:extLst>
            </p:cNvPr>
            <p:cNvGrpSpPr/>
            <p:nvPr/>
          </p:nvGrpSpPr>
          <p:grpSpPr>
            <a:xfrm flipH="1">
              <a:off x="960069" y="2780368"/>
              <a:ext cx="359138" cy="459993"/>
              <a:chOff x="11334296" y="1647825"/>
              <a:chExt cx="359138" cy="459993"/>
            </a:xfrm>
          </p:grpSpPr>
          <p:sp>
            <p:nvSpPr>
              <p:cNvPr id="28" name="Arrow: Striped Right 54">
                <a:extLst>
                  <a:ext uri="{FF2B5EF4-FFF2-40B4-BE49-F238E27FC236}">
                    <a16:creationId xmlns:a16="http://schemas.microsoft.com/office/drawing/2014/main" id="{566952FF-9FE8-171E-9AF8-BEE61315662F}"/>
                  </a:ext>
                </a:extLst>
              </p:cNvPr>
              <p:cNvSpPr/>
              <p:nvPr/>
            </p:nvSpPr>
            <p:spPr>
              <a:xfrm rot="10800000">
                <a:off x="11334296" y="1905171"/>
                <a:ext cx="353786" cy="202647"/>
              </a:xfrm>
              <a:prstGeom prst="stripedRightArrow">
                <a:avLst>
                  <a:gd name="adj1" fmla="val 35883"/>
                  <a:gd name="adj2" fmla="val 54235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4075339-C24A-71D2-56D7-36B767652629}"/>
                  </a:ext>
                </a:extLst>
              </p:cNvPr>
              <p:cNvSpPr/>
              <p:nvPr/>
            </p:nvSpPr>
            <p:spPr>
              <a:xfrm>
                <a:off x="11623676" y="1647825"/>
                <a:ext cx="69758" cy="39497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411B10E-89C6-152C-81DB-7356226025F7}"/>
                </a:ext>
              </a:extLst>
            </p:cNvPr>
            <p:cNvSpPr/>
            <p:nvPr/>
          </p:nvSpPr>
          <p:spPr>
            <a:xfrm>
              <a:off x="10788013" y="3011125"/>
              <a:ext cx="229238" cy="229236"/>
            </a:xfrm>
            <a:prstGeom prst="ellipse">
              <a:avLst/>
            </a:prstGeom>
            <a:solidFill>
              <a:srgbClr val="00B0F0"/>
            </a:solidFill>
            <a:ln w="698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Arrow: Striped Right 68">
              <a:extLst>
                <a:ext uri="{FF2B5EF4-FFF2-40B4-BE49-F238E27FC236}">
                  <a16:creationId xmlns:a16="http://schemas.microsoft.com/office/drawing/2014/main" id="{02938C85-A5B0-881F-C6D7-84336549D06F}"/>
                </a:ext>
              </a:extLst>
            </p:cNvPr>
            <p:cNvSpPr/>
            <p:nvPr/>
          </p:nvSpPr>
          <p:spPr>
            <a:xfrm>
              <a:off x="524776" y="902061"/>
              <a:ext cx="353786" cy="202647"/>
            </a:xfrm>
            <a:prstGeom prst="stripedRightArrow">
              <a:avLst>
                <a:gd name="adj1" fmla="val 35883"/>
                <a:gd name="adj2" fmla="val 54235"/>
              </a:avLst>
            </a:prstGeom>
            <a:solidFill>
              <a:srgbClr val="00B0F0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32" name="Rectangle: Rounded Corners 75">
            <a:extLst>
              <a:ext uri="{FF2B5EF4-FFF2-40B4-BE49-F238E27FC236}">
                <a16:creationId xmlns:a16="http://schemas.microsoft.com/office/drawing/2014/main" id="{3E960B3B-7590-7AA6-379F-357B7BB1A946}"/>
              </a:ext>
            </a:extLst>
          </p:cNvPr>
          <p:cNvSpPr/>
          <p:nvPr/>
        </p:nvSpPr>
        <p:spPr>
          <a:xfrm>
            <a:off x="1695450" y="5219700"/>
            <a:ext cx="8801100" cy="368964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2F6B92-2F07-2B70-7671-EA073CE026C8}"/>
              </a:ext>
            </a:extLst>
          </p:cNvPr>
          <p:cNvGrpSpPr/>
          <p:nvPr/>
        </p:nvGrpSpPr>
        <p:grpSpPr>
          <a:xfrm>
            <a:off x="2254993" y="4610100"/>
            <a:ext cx="7682015" cy="1461164"/>
            <a:chOff x="1092239" y="4368800"/>
            <a:chExt cx="7682015" cy="1461164"/>
          </a:xfrm>
        </p:grpSpPr>
        <p:sp>
          <p:nvSpPr>
            <p:cNvPr id="34" name="Rectangle: Top Corners One Rounded and One Snipped 71">
              <a:extLst>
                <a:ext uri="{FF2B5EF4-FFF2-40B4-BE49-F238E27FC236}">
                  <a16:creationId xmlns:a16="http://schemas.microsoft.com/office/drawing/2014/main" id="{F4BAAA59-676F-8539-4A4D-0AF7B77E197A}"/>
                </a:ext>
              </a:extLst>
            </p:cNvPr>
            <p:cNvSpPr/>
            <p:nvPr/>
          </p:nvSpPr>
          <p:spPr>
            <a:xfrm>
              <a:off x="1092239" y="4368800"/>
              <a:ext cx="2113101" cy="1461164"/>
            </a:xfrm>
            <a:prstGeom prst="snipRoundRect">
              <a:avLst>
                <a:gd name="adj1" fmla="val 16667"/>
                <a:gd name="adj2" fmla="val 27966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Ensures Quality by Design &amp; Quality by Testing</a:t>
              </a:r>
            </a:p>
          </p:txBody>
        </p:sp>
        <p:sp>
          <p:nvSpPr>
            <p:cNvPr id="35" name="Rectangle: Top Corners One Rounded and One Snipped 72">
              <a:extLst>
                <a:ext uri="{FF2B5EF4-FFF2-40B4-BE49-F238E27FC236}">
                  <a16:creationId xmlns:a16="http://schemas.microsoft.com/office/drawing/2014/main" id="{514DA8BD-C25A-CFA5-A9CB-BADCECCB4D10}"/>
                </a:ext>
              </a:extLst>
            </p:cNvPr>
            <p:cNvSpPr/>
            <p:nvPr/>
          </p:nvSpPr>
          <p:spPr>
            <a:xfrm>
              <a:off x="3876696" y="4368800"/>
              <a:ext cx="2113101" cy="1461164"/>
            </a:xfrm>
            <a:prstGeom prst="snipRoundRect">
              <a:avLst>
                <a:gd name="adj1" fmla="val 16667"/>
                <a:gd name="adj2" fmla="val 27966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Reduces errors and accelerates time-to-market</a:t>
              </a:r>
            </a:p>
          </p:txBody>
        </p:sp>
        <p:sp>
          <p:nvSpPr>
            <p:cNvPr id="36" name="Rectangle: Top Corners One Rounded and One Snipped 73">
              <a:extLst>
                <a:ext uri="{FF2B5EF4-FFF2-40B4-BE49-F238E27FC236}">
                  <a16:creationId xmlns:a16="http://schemas.microsoft.com/office/drawing/2014/main" id="{A684812D-8EBD-264F-CFAB-7607542C4BDB}"/>
                </a:ext>
              </a:extLst>
            </p:cNvPr>
            <p:cNvSpPr/>
            <p:nvPr/>
          </p:nvSpPr>
          <p:spPr>
            <a:xfrm>
              <a:off x="6661153" y="4368800"/>
              <a:ext cx="2113101" cy="1461164"/>
            </a:xfrm>
            <a:prstGeom prst="snipRoundRect">
              <a:avLst>
                <a:gd name="adj1" fmla="val 16667"/>
                <a:gd name="adj2" fmla="val 27966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Improves product durability &amp; reliability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9515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9E54-D0F2-60A5-B4AB-E1A92591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DCE71B3-D9CE-57EF-C442-60D15678EDFA}"/>
              </a:ext>
            </a:extLst>
          </p:cNvPr>
          <p:cNvCxnSpPr>
            <a:cxnSpLocks/>
          </p:cNvCxnSpPr>
          <p:nvPr/>
        </p:nvCxnSpPr>
        <p:spPr bwMode="gray">
          <a:xfrm>
            <a:off x="600116" y="1674498"/>
            <a:ext cx="11063800" cy="0"/>
          </a:xfrm>
          <a:prstGeom prst="line">
            <a:avLst/>
          </a:prstGeom>
          <a:noFill/>
          <a:ln w="19050" cap="flat" cmpd="sng" algn="ctr">
            <a:solidFill>
              <a:srgbClr val="00B0F0"/>
            </a:solidFill>
            <a:prstDash val="dash"/>
            <a:miter lim="800000"/>
            <a:tailEnd type="none"/>
          </a:ln>
          <a:effectLst/>
        </p:spPr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E3F808D-5C10-D80F-86DE-245657D5FAB4}"/>
              </a:ext>
            </a:extLst>
          </p:cNvPr>
          <p:cNvGrpSpPr/>
          <p:nvPr/>
        </p:nvGrpSpPr>
        <p:grpSpPr>
          <a:xfrm>
            <a:off x="1672170" y="1120877"/>
            <a:ext cx="1916389" cy="5002727"/>
            <a:chOff x="600115" y="1105111"/>
            <a:chExt cx="1916389" cy="5002727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B2E71E7-A77A-EFFD-D6ED-B0BF3811D938}"/>
                </a:ext>
              </a:extLst>
            </p:cNvPr>
            <p:cNvGrpSpPr/>
            <p:nvPr/>
          </p:nvGrpSpPr>
          <p:grpSpPr>
            <a:xfrm rot="10800000">
              <a:off x="600115" y="3097864"/>
              <a:ext cx="1916385" cy="202998"/>
              <a:chOff x="600117" y="5699810"/>
              <a:chExt cx="1916385" cy="276446"/>
            </a:xfrm>
            <a:solidFill>
              <a:srgbClr val="499CD4"/>
            </a:solidFill>
          </p:grpSpPr>
          <p:sp>
            <p:nvSpPr>
              <p:cNvPr id="62" name="Rectangular Callout 60">
                <a:extLst>
                  <a:ext uri="{FF2B5EF4-FFF2-40B4-BE49-F238E27FC236}">
                    <a16:creationId xmlns:a16="http://schemas.microsoft.com/office/drawing/2014/main" id="{E950005A-A89C-68AE-F1AB-E340520AB68A}"/>
                  </a:ext>
                </a:extLst>
              </p:cNvPr>
              <p:cNvSpPr/>
              <p:nvPr/>
            </p:nvSpPr>
            <p:spPr>
              <a:xfrm>
                <a:off x="1158949" y="5699810"/>
                <a:ext cx="1357553" cy="276446"/>
              </a:xfrm>
              <a:prstGeom prst="wedgeRectCallout">
                <a:avLst>
                  <a:gd name="adj1" fmla="val -20833"/>
                  <a:gd name="adj2" fmla="val 12788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54ED320-2151-7807-574F-DA265E787591}"/>
                  </a:ext>
                </a:extLst>
              </p:cNvPr>
              <p:cNvSpPr/>
              <p:nvPr/>
            </p:nvSpPr>
            <p:spPr>
              <a:xfrm>
                <a:off x="600117" y="5699810"/>
                <a:ext cx="984428" cy="2764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4887560-20E3-3B07-5990-D059AA8611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0592" y="1105111"/>
              <a:ext cx="1095435" cy="109670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9D75C3A-F350-5C24-D5C2-BE272EB7904D}"/>
                </a:ext>
              </a:extLst>
            </p:cNvPr>
            <p:cNvSpPr/>
            <p:nvPr/>
          </p:nvSpPr>
          <p:spPr>
            <a:xfrm>
              <a:off x="600116" y="3199363"/>
              <a:ext cx="1916388" cy="290847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DA37777-50DB-DBF2-BC5B-E64D58B7630A}"/>
                </a:ext>
              </a:extLst>
            </p:cNvPr>
            <p:cNvSpPr txBox="1"/>
            <p:nvPr/>
          </p:nvSpPr>
          <p:spPr>
            <a:xfrm>
              <a:off x="729874" y="2383523"/>
              <a:ext cx="1679616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Compute &amp; Connectivity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A48F3A2-0F22-BC8C-00AF-59DE52C012E5}"/>
                </a:ext>
              </a:extLst>
            </p:cNvPr>
            <p:cNvSpPr txBox="1"/>
            <p:nvPr/>
          </p:nvSpPr>
          <p:spPr>
            <a:xfrm>
              <a:off x="751140" y="3227550"/>
              <a:ext cx="1661750" cy="28007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MPU,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uC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SoCs, SOMs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ARM Cortex series &amp; Intel Atom x86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Well supported by Sales &amp; FAEs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WiFi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BT/BLE, UWB,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NBIoT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LTE-M, DECT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Chip down &amp; pre-certified modules (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Quectel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).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Development &amp; Commercialization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A24A4BC-C326-78F5-7FF8-8783DBCAB447}"/>
                </a:ext>
              </a:extLst>
            </p:cNvPr>
            <p:cNvSpPr/>
            <p:nvPr/>
          </p:nvSpPr>
          <p:spPr>
            <a:xfrm rot="10800000">
              <a:off x="600436" y="6062118"/>
              <a:ext cx="1916064" cy="45719"/>
            </a:xfrm>
            <a:prstGeom prst="rect">
              <a:avLst/>
            </a:prstGeom>
            <a:solidFill>
              <a:srgbClr val="499C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EBE768-944E-44DF-AAFA-BDCDBE685A97}"/>
              </a:ext>
            </a:extLst>
          </p:cNvPr>
          <p:cNvGrpSpPr/>
          <p:nvPr/>
        </p:nvGrpSpPr>
        <p:grpSpPr>
          <a:xfrm>
            <a:off x="3933682" y="1120877"/>
            <a:ext cx="1922585" cy="5002727"/>
            <a:chOff x="2861627" y="1105111"/>
            <a:chExt cx="1922585" cy="5002727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BF974E1-3B05-4170-F229-22A1092B93E4}"/>
                </a:ext>
              </a:extLst>
            </p:cNvPr>
            <p:cNvGrpSpPr/>
            <p:nvPr/>
          </p:nvGrpSpPr>
          <p:grpSpPr>
            <a:xfrm rot="10800000">
              <a:off x="2867827" y="3097864"/>
              <a:ext cx="1916385" cy="202998"/>
              <a:chOff x="600117" y="5699810"/>
              <a:chExt cx="1916385" cy="276446"/>
            </a:xfrm>
            <a:solidFill>
              <a:srgbClr val="3080C3"/>
            </a:solidFill>
          </p:grpSpPr>
          <p:sp>
            <p:nvSpPr>
              <p:cNvPr id="71" name="Rectangular Callout 65">
                <a:extLst>
                  <a:ext uri="{FF2B5EF4-FFF2-40B4-BE49-F238E27FC236}">
                    <a16:creationId xmlns:a16="http://schemas.microsoft.com/office/drawing/2014/main" id="{A8D6D24E-CC79-7F0A-1847-AE20C4E402B9}"/>
                  </a:ext>
                </a:extLst>
              </p:cNvPr>
              <p:cNvSpPr/>
              <p:nvPr/>
            </p:nvSpPr>
            <p:spPr>
              <a:xfrm>
                <a:off x="1158949" y="5699810"/>
                <a:ext cx="1357553" cy="276446"/>
              </a:xfrm>
              <a:prstGeom prst="wedgeRectCallout">
                <a:avLst>
                  <a:gd name="adj1" fmla="val -20833"/>
                  <a:gd name="adj2" fmla="val 12788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1EC67E9-A65C-0C1C-B369-A130C4AB6B79}"/>
                  </a:ext>
                </a:extLst>
              </p:cNvPr>
              <p:cNvSpPr/>
              <p:nvPr/>
            </p:nvSpPr>
            <p:spPr>
              <a:xfrm>
                <a:off x="600117" y="5699810"/>
                <a:ext cx="984428" cy="2764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1F03419-EEB2-7A8C-4785-0425BDB0C2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76529" y="1105111"/>
              <a:ext cx="1095435" cy="109670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58D3203-2192-EA58-66F1-858CCEE01B40}"/>
                </a:ext>
              </a:extLst>
            </p:cNvPr>
            <p:cNvSpPr/>
            <p:nvPr/>
          </p:nvSpPr>
          <p:spPr>
            <a:xfrm>
              <a:off x="2866052" y="3199363"/>
              <a:ext cx="1916388" cy="290847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CD8C6E-B5A3-7F0B-0658-F563564111A5}"/>
                </a:ext>
              </a:extLst>
            </p:cNvPr>
            <p:cNvSpPr txBox="1"/>
            <p:nvPr/>
          </p:nvSpPr>
          <p:spPr>
            <a:xfrm>
              <a:off x="3057611" y="2383522"/>
              <a:ext cx="1554536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Manufacturing &amp; Fulfillment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C4FADDD-63CB-6F6B-6B71-78BD052A1FFC}"/>
                </a:ext>
              </a:extLst>
            </p:cNvPr>
            <p:cNvSpPr txBox="1"/>
            <p:nvPr/>
          </p:nvSpPr>
          <p:spPr>
            <a:xfrm>
              <a:off x="3032341" y="3402361"/>
              <a:ext cx="1679614" cy="23237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  <a:defRPr sz="1100">
                  <a:solidFill>
                    <a:schemeClr val="tx2"/>
                  </a:solidFill>
                </a:defRPr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SIIX is our Partner EMS with Global footprint 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Sourcing, Inventory, Manufacturing (SMT &amp; Box Build), Logistics, Support, Servicing &amp; Repair, ID, Tooling &amp; Molding.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Subsidiaries in Robotics &amp; Energy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BC8FB65-A509-626C-89AD-81BDBF05A461}"/>
                </a:ext>
              </a:extLst>
            </p:cNvPr>
            <p:cNvSpPr/>
            <p:nvPr/>
          </p:nvSpPr>
          <p:spPr>
            <a:xfrm rot="10800000">
              <a:off x="2861627" y="6062118"/>
              <a:ext cx="1916064" cy="45719"/>
            </a:xfrm>
            <a:prstGeom prst="rect">
              <a:avLst/>
            </a:prstGeom>
            <a:solidFill>
              <a:srgbClr val="3080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A609DBC-CE50-F241-D755-F78D91BE54CF}"/>
              </a:ext>
            </a:extLst>
          </p:cNvPr>
          <p:cNvGrpSpPr/>
          <p:nvPr/>
        </p:nvGrpSpPr>
        <p:grpSpPr>
          <a:xfrm>
            <a:off x="6201962" y="1120877"/>
            <a:ext cx="1927106" cy="5002727"/>
            <a:chOff x="5129907" y="1105111"/>
            <a:chExt cx="1927106" cy="500272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37C6EAE-3326-48CA-C205-85FFE5023B58}"/>
                </a:ext>
              </a:extLst>
            </p:cNvPr>
            <p:cNvGrpSpPr/>
            <p:nvPr/>
          </p:nvGrpSpPr>
          <p:grpSpPr>
            <a:xfrm rot="10800000">
              <a:off x="5135539" y="3097864"/>
              <a:ext cx="1916385" cy="202998"/>
              <a:chOff x="600117" y="5699810"/>
              <a:chExt cx="1916385" cy="276446"/>
            </a:xfrm>
            <a:solidFill>
              <a:srgbClr val="1F69B3"/>
            </a:solidFill>
          </p:grpSpPr>
          <p:sp>
            <p:nvSpPr>
              <p:cNvPr id="80" name="Rectangular Callout 68">
                <a:extLst>
                  <a:ext uri="{FF2B5EF4-FFF2-40B4-BE49-F238E27FC236}">
                    <a16:creationId xmlns:a16="http://schemas.microsoft.com/office/drawing/2014/main" id="{D8DEFA3A-3EAD-F0F1-300F-2E6D669BFEA5}"/>
                  </a:ext>
                </a:extLst>
              </p:cNvPr>
              <p:cNvSpPr/>
              <p:nvPr/>
            </p:nvSpPr>
            <p:spPr>
              <a:xfrm>
                <a:off x="1158949" y="5699810"/>
                <a:ext cx="1357553" cy="276446"/>
              </a:xfrm>
              <a:prstGeom prst="wedgeRectCallout">
                <a:avLst>
                  <a:gd name="adj1" fmla="val -20833"/>
                  <a:gd name="adj2" fmla="val 12788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A0D12F7-2E6B-EBBF-3F3F-73268611CDDD}"/>
                  </a:ext>
                </a:extLst>
              </p:cNvPr>
              <p:cNvSpPr/>
              <p:nvPr/>
            </p:nvSpPr>
            <p:spPr>
              <a:xfrm>
                <a:off x="600117" y="5699810"/>
                <a:ext cx="984428" cy="2764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1F35E4C-9C8F-0252-D5DD-F59B6EE000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2466" y="1105111"/>
              <a:ext cx="1095435" cy="109670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364E985-5238-452A-B021-5AF5CB97A808}"/>
                </a:ext>
              </a:extLst>
            </p:cNvPr>
            <p:cNvSpPr/>
            <p:nvPr/>
          </p:nvSpPr>
          <p:spPr>
            <a:xfrm>
              <a:off x="5131989" y="3199363"/>
              <a:ext cx="1925024" cy="290847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F72B7DD-B1C3-B431-751C-BAF8F64FB8AB}"/>
                </a:ext>
              </a:extLst>
            </p:cNvPr>
            <p:cNvSpPr txBox="1"/>
            <p:nvPr/>
          </p:nvSpPr>
          <p:spPr>
            <a:xfrm>
              <a:off x="5230791" y="2383524"/>
              <a:ext cx="1740051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 Lab, Compliance &amp; Certification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491F63B-769D-5D5A-92E1-B95839F89E9D}"/>
                </a:ext>
              </a:extLst>
            </p:cNvPr>
            <p:cNvSpPr txBox="1"/>
            <p:nvPr/>
          </p:nvSpPr>
          <p:spPr>
            <a:xfrm>
              <a:off x="5280501" y="3402361"/>
              <a:ext cx="1633437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  <a:defRPr sz="1100">
                  <a:solidFill>
                    <a:schemeClr val="tx2"/>
                  </a:solidFill>
                </a:defRPr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TUV-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Rheinland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Blr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STS Lab, SZ 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332189F-0420-91E2-5108-9EDEC5A83C2D}"/>
                </a:ext>
              </a:extLst>
            </p:cNvPr>
            <p:cNvSpPr/>
            <p:nvPr/>
          </p:nvSpPr>
          <p:spPr>
            <a:xfrm rot="10800000">
              <a:off x="5129907" y="6062118"/>
              <a:ext cx="1916064" cy="45719"/>
            </a:xfrm>
            <a:prstGeom prst="rect">
              <a:avLst/>
            </a:prstGeom>
            <a:solidFill>
              <a:srgbClr val="1F69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3C3D440-28F7-0249-5556-60FAE3282E35}"/>
              </a:ext>
            </a:extLst>
          </p:cNvPr>
          <p:cNvGrpSpPr/>
          <p:nvPr/>
        </p:nvGrpSpPr>
        <p:grpSpPr>
          <a:xfrm>
            <a:off x="8469980" y="1112733"/>
            <a:ext cx="1927021" cy="5010871"/>
            <a:chOff x="7397925" y="1096967"/>
            <a:chExt cx="1927021" cy="501087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04B45EA-8646-0114-A860-E9F744E27BCA}"/>
                </a:ext>
              </a:extLst>
            </p:cNvPr>
            <p:cNvGrpSpPr/>
            <p:nvPr/>
          </p:nvGrpSpPr>
          <p:grpSpPr>
            <a:xfrm rot="10800000">
              <a:off x="7403251" y="3097864"/>
              <a:ext cx="1916385" cy="202998"/>
              <a:chOff x="600117" y="5699810"/>
              <a:chExt cx="1916385" cy="276446"/>
            </a:xfrm>
            <a:solidFill>
              <a:srgbClr val="03509C"/>
            </a:solidFill>
          </p:grpSpPr>
          <p:sp>
            <p:nvSpPr>
              <p:cNvPr id="89" name="Rectangular Callout 71">
                <a:extLst>
                  <a:ext uri="{FF2B5EF4-FFF2-40B4-BE49-F238E27FC236}">
                    <a16:creationId xmlns:a16="http://schemas.microsoft.com/office/drawing/2014/main" id="{70A0520A-E16E-0A90-C29B-8953C20713E1}"/>
                  </a:ext>
                </a:extLst>
              </p:cNvPr>
              <p:cNvSpPr/>
              <p:nvPr/>
            </p:nvSpPr>
            <p:spPr>
              <a:xfrm>
                <a:off x="1158949" y="5699810"/>
                <a:ext cx="1357553" cy="276446"/>
              </a:xfrm>
              <a:prstGeom prst="wedgeRectCallout">
                <a:avLst>
                  <a:gd name="adj1" fmla="val -20833"/>
                  <a:gd name="adj2" fmla="val 12788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066EA8F-0487-D400-8CA0-2A205097D9D5}"/>
                  </a:ext>
                </a:extLst>
              </p:cNvPr>
              <p:cNvSpPr/>
              <p:nvPr/>
            </p:nvSpPr>
            <p:spPr>
              <a:xfrm>
                <a:off x="600117" y="5699810"/>
                <a:ext cx="984428" cy="2764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64CD410-56F7-232E-82F8-A8DAC52309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09511" y="1096967"/>
              <a:ext cx="1095435" cy="109670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6D6FFBC-66E9-4F9A-C965-783A35BB5BDC}"/>
                </a:ext>
              </a:extLst>
            </p:cNvPr>
            <p:cNvSpPr/>
            <p:nvPr/>
          </p:nvSpPr>
          <p:spPr>
            <a:xfrm>
              <a:off x="7397925" y="3199363"/>
              <a:ext cx="1916388" cy="290847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496C86A-8846-1858-42F6-FD7D22D6847E}"/>
                </a:ext>
              </a:extLst>
            </p:cNvPr>
            <p:cNvSpPr txBox="1"/>
            <p:nvPr/>
          </p:nvSpPr>
          <p:spPr>
            <a:xfrm>
              <a:off x="7418316" y="2383523"/>
              <a:ext cx="190663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Cloud &amp; AI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A001858-8661-5A4D-98AF-1328736D869C}"/>
                </a:ext>
              </a:extLst>
            </p:cNvPr>
            <p:cNvSpPr txBox="1"/>
            <p:nvPr/>
          </p:nvSpPr>
          <p:spPr>
            <a:xfrm>
              <a:off x="7539023" y="3402361"/>
              <a:ext cx="1671708" cy="18312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  <a:defRPr sz="1100">
                  <a:solidFill>
                    <a:schemeClr val="tx2"/>
                  </a:solidFill>
                </a:defRPr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Microsoft Solution Partner for Data &amp; AI (Azure),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Digital &amp; App Innovation, Infrastructure (Azure)​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AWS integration – Device &amp; Cloud – capability. 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D9E174F-E74A-9DC4-CFAE-AC83B6A88907}"/>
                </a:ext>
              </a:extLst>
            </p:cNvPr>
            <p:cNvSpPr/>
            <p:nvPr/>
          </p:nvSpPr>
          <p:spPr>
            <a:xfrm rot="10800000">
              <a:off x="7398186" y="6062118"/>
              <a:ext cx="1916064" cy="45719"/>
            </a:xfrm>
            <a:prstGeom prst="rect">
              <a:avLst/>
            </a:prstGeom>
            <a:solidFill>
              <a:srgbClr val="0350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91" name="Title 1">
            <a:extLst>
              <a:ext uri="{FF2B5EF4-FFF2-40B4-BE49-F238E27FC236}">
                <a16:creationId xmlns:a16="http://schemas.microsoft.com/office/drawing/2014/main" id="{68348FF3-92F8-D24D-EA28-9B99F8000BEA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44C25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Our Connected Device Eco-system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44C25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A849BFF-8215-300C-2C8F-6DA97B6AFF0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622" y="2002963"/>
            <a:ext cx="607007" cy="110995"/>
          </a:xfrm>
          <a:prstGeom prst="rect">
            <a:avLst/>
          </a:prstGeom>
        </p:spPr>
      </p:pic>
      <p:pic>
        <p:nvPicPr>
          <p:cNvPr id="93" name="Picture 8">
            <a:extLst>
              <a:ext uri="{FF2B5EF4-FFF2-40B4-BE49-F238E27FC236}">
                <a16:creationId xmlns:a16="http://schemas.microsoft.com/office/drawing/2014/main" id="{FEA14064-EEA8-9648-C81C-C1AA62DD5B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518"/>
          <a:stretch>
            <a:fillRect/>
          </a:stretch>
        </p:blipFill>
        <p:spPr bwMode="auto">
          <a:xfrm>
            <a:off x="4660613" y="1240089"/>
            <a:ext cx="528075" cy="31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16" descr="download (2)-1">
            <a:extLst>
              <a:ext uri="{FF2B5EF4-FFF2-40B4-BE49-F238E27FC236}">
                <a16:creationId xmlns:a16="http://schemas.microsoft.com/office/drawing/2014/main" id="{8C5174BD-9638-73D3-1ABC-5D7A362E9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203531" y="1878129"/>
            <a:ext cx="480303" cy="28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94" descr="A close-up of a business card&#10;&#10;Description automatically generated">
            <a:extLst>
              <a:ext uri="{FF2B5EF4-FFF2-40B4-BE49-F238E27FC236}">
                <a16:creationId xmlns:a16="http://schemas.microsoft.com/office/drawing/2014/main" id="{329BF5CB-F7ED-585E-904B-9B5A2B762A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70656" y="1300504"/>
            <a:ext cx="946051" cy="299322"/>
          </a:xfrm>
          <a:prstGeom prst="rect">
            <a:avLst/>
          </a:prstGeom>
        </p:spPr>
      </p:pic>
      <p:pic>
        <p:nvPicPr>
          <p:cNvPr id="96" name="Picture 2" descr="TÜV Rheinland – Logos Download">
            <a:extLst>
              <a:ext uri="{FF2B5EF4-FFF2-40B4-BE49-F238E27FC236}">
                <a16:creationId xmlns:a16="http://schemas.microsoft.com/office/drawing/2014/main" id="{C24155E9-BF9E-44B3-9773-A6A2C9DDF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6898" y="1247719"/>
            <a:ext cx="479315" cy="41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07BDE923-D005-B07E-424A-D8DAC6A1A8C4}"/>
              </a:ext>
            </a:extLst>
          </p:cNvPr>
          <p:cNvSpPr txBox="1"/>
          <p:nvPr/>
        </p:nvSpPr>
        <p:spPr>
          <a:xfrm>
            <a:off x="8927189" y="1572274"/>
            <a:ext cx="9895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 Premise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8" name="Picture 2" descr="zettaone header logo">
            <a:extLst>
              <a:ext uri="{FF2B5EF4-FFF2-40B4-BE49-F238E27FC236}">
                <a16:creationId xmlns:a16="http://schemas.microsoft.com/office/drawing/2014/main" id="{B3732D2F-AC4C-6F3D-2A8A-9B1B5E8D3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10978" y="1579532"/>
            <a:ext cx="953075" cy="23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4">
            <a:extLst>
              <a:ext uri="{FF2B5EF4-FFF2-40B4-BE49-F238E27FC236}">
                <a16:creationId xmlns:a16="http://schemas.microsoft.com/office/drawing/2014/main" id="{3B9E06F5-32EA-DC6E-8BD9-88BF845E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13697" y="1833557"/>
            <a:ext cx="619599" cy="21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6">
            <a:extLst>
              <a:ext uri="{FF2B5EF4-FFF2-40B4-BE49-F238E27FC236}">
                <a16:creationId xmlns:a16="http://schemas.microsoft.com/office/drawing/2014/main" id="{C162C584-1FDA-15F8-07BF-E460489E3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44216" y="1252610"/>
            <a:ext cx="819708" cy="22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8">
            <a:extLst>
              <a:ext uri="{FF2B5EF4-FFF2-40B4-BE49-F238E27FC236}">
                <a16:creationId xmlns:a16="http://schemas.microsoft.com/office/drawing/2014/main" id="{C0314A92-D1CA-9742-54EB-8B9B479915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84978" y="1478823"/>
            <a:ext cx="372465" cy="22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39A3768-140F-C9FD-2C3D-60B8C62FF1F2}"/>
              </a:ext>
            </a:extLst>
          </p:cNvPr>
          <p:cNvSpPr txBox="1"/>
          <p:nvPr/>
        </p:nvSpPr>
        <p:spPr>
          <a:xfrm>
            <a:off x="7045101" y="1664533"/>
            <a:ext cx="5890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Shenzhen STS Test Service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704BA9C3-5DE3-CD83-A562-309CD0A719E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60065" y="1707575"/>
            <a:ext cx="333666" cy="29725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9A8BBA0-89D8-7DFD-ACD5-698D5C3539F3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0364" y="1485792"/>
            <a:ext cx="525545" cy="228067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9C970682-A80A-3B2F-9C04-32A85D0C207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3683" y="1707619"/>
            <a:ext cx="498765" cy="24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56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F364-E9F8-D539-6C20-6DACB9C0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Fitness Equipment System Architecture</a:t>
            </a:r>
            <a:endParaRPr lang="en-IN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9A480D1-82AC-282F-18B1-75E5E1361C82}"/>
              </a:ext>
            </a:extLst>
          </p:cNvPr>
          <p:cNvSpPr/>
          <p:nvPr/>
        </p:nvSpPr>
        <p:spPr>
          <a:xfrm>
            <a:off x="182880" y="822960"/>
            <a:ext cx="26060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3B9F72A-2D68-F4ED-6533-03E00BC817E3}"/>
              </a:ext>
            </a:extLst>
          </p:cNvPr>
          <p:cNvSpPr/>
          <p:nvPr/>
        </p:nvSpPr>
        <p:spPr>
          <a:xfrm>
            <a:off x="182880" y="822960"/>
            <a:ext cx="2606040" cy="475488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en-IN" sz="14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96AE84-50C1-DD44-861F-2E6B05854116}"/>
              </a:ext>
            </a:extLst>
          </p:cNvPr>
          <p:cNvSpPr/>
          <p:nvPr/>
        </p:nvSpPr>
        <p:spPr>
          <a:xfrm>
            <a:off x="182880" y="8778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Sensors &amp; Inputs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9305CCA-8A1C-0161-7DFA-F990751A9D69}"/>
              </a:ext>
            </a:extLst>
          </p:cNvPr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EEF5FC"/>
          </a:solidFill>
          <a:ln w="12700">
            <a:solidFill>
              <a:srgbClr val="C8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ADAB2D7-C48C-2A40-8A3F-5A869CB9F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508760"/>
            <a:ext cx="384048" cy="38404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F12AF9A7-041A-9974-039A-61E53DB16E6C}"/>
              </a:ext>
            </a:extLst>
          </p:cNvPr>
          <p:cNvSpPr/>
          <p:nvPr/>
        </p:nvSpPr>
        <p:spPr>
          <a:xfrm>
            <a:off x="960120" y="15270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Heart Rate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82C8E24-C294-0027-406C-7CFCE07CCF9E}"/>
              </a:ext>
            </a:extLst>
          </p:cNvPr>
          <p:cNvSpPr/>
          <p:nvPr/>
        </p:nvSpPr>
        <p:spPr>
          <a:xfrm>
            <a:off x="365760" y="2377440"/>
            <a:ext cx="502920" cy="502920"/>
          </a:xfrm>
          <a:prstGeom prst="ellipse">
            <a:avLst/>
          </a:prstGeom>
          <a:solidFill>
            <a:srgbClr val="EEF5FC"/>
          </a:solidFill>
          <a:ln w="12700">
            <a:solidFill>
              <a:srgbClr val="C8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28637587-CB5E-5133-D032-7EC73763F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23160"/>
            <a:ext cx="384048" cy="38404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C6A9A49D-4EA2-7212-6983-2D5CD27F3978}"/>
              </a:ext>
            </a:extLst>
          </p:cNvPr>
          <p:cNvSpPr/>
          <p:nvPr/>
        </p:nvSpPr>
        <p:spPr>
          <a:xfrm>
            <a:off x="960120" y="24414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Motion &amp;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Load Sensors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6C47ADFC-FE1E-3CC2-223E-A4F4CAE0A946}"/>
              </a:ext>
            </a:extLst>
          </p:cNvPr>
          <p:cNvSpPr/>
          <p:nvPr/>
        </p:nvSpPr>
        <p:spPr>
          <a:xfrm>
            <a:off x="365760" y="3291840"/>
            <a:ext cx="502920" cy="502920"/>
          </a:xfrm>
          <a:prstGeom prst="ellipse">
            <a:avLst/>
          </a:prstGeom>
          <a:solidFill>
            <a:srgbClr val="EEF5FC"/>
          </a:solidFill>
          <a:ln w="12700">
            <a:solidFill>
              <a:srgbClr val="C8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25A35F10-D560-520B-D25E-A2161AD6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37560"/>
            <a:ext cx="384048" cy="384048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4E25C581-4DC6-CA59-FB16-5D762D7762FD}"/>
              </a:ext>
            </a:extLst>
          </p:cNvPr>
          <p:cNvSpPr/>
          <p:nvPr/>
        </p:nvSpPr>
        <p:spPr>
          <a:xfrm>
            <a:off x="960120" y="33558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Input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DA4EDE7E-8329-C0CF-2611-96BE084D2BCD}"/>
              </a:ext>
            </a:extLst>
          </p:cNvPr>
          <p:cNvSpPr/>
          <p:nvPr/>
        </p:nvSpPr>
        <p:spPr>
          <a:xfrm>
            <a:off x="365760" y="4206240"/>
            <a:ext cx="502920" cy="502920"/>
          </a:xfrm>
          <a:prstGeom prst="ellipse">
            <a:avLst/>
          </a:prstGeom>
          <a:solidFill>
            <a:srgbClr val="EEF5FC"/>
          </a:solidFill>
          <a:ln w="12700">
            <a:solidFill>
              <a:srgbClr val="C8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C7F62CEE-1FCE-4E0E-EBF6-83472EA4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4251960"/>
            <a:ext cx="384048" cy="384048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9F6CB85A-599F-563C-5E7A-5C809700ECBF}"/>
              </a:ext>
            </a:extLst>
          </p:cNvPr>
          <p:cNvSpPr/>
          <p:nvPr/>
        </p:nvSpPr>
        <p:spPr>
          <a:xfrm>
            <a:off x="960120" y="42702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Camera Module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7B2073FA-7C74-FBC7-DA65-78DCFBB91444}"/>
              </a:ext>
            </a:extLst>
          </p:cNvPr>
          <p:cNvSpPr/>
          <p:nvPr/>
        </p:nvSpPr>
        <p:spPr>
          <a:xfrm>
            <a:off x="182880" y="5532120"/>
            <a:ext cx="2606040" cy="411480"/>
          </a:xfrm>
          <a:prstGeom prst="rect">
            <a:avLst/>
          </a:prstGeom>
          <a:solidFill>
            <a:srgbClr val="EEF5FC"/>
          </a:solidFill>
          <a:ln w="12700">
            <a:solidFill>
              <a:srgbClr val="C8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AD1AC1FB-2053-D14D-4DEE-6FA529E62E2D}"/>
              </a:ext>
            </a:extLst>
          </p:cNvPr>
          <p:cNvSpPr/>
          <p:nvPr/>
        </p:nvSpPr>
        <p:spPr>
          <a:xfrm>
            <a:off x="274320" y="5550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Equipment Data &amp; Inputs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12D42B93-114B-A8B7-22E5-CC1468ADC3F2}"/>
              </a:ext>
            </a:extLst>
          </p:cNvPr>
          <p:cNvSpPr/>
          <p:nvPr/>
        </p:nvSpPr>
        <p:spPr>
          <a:xfrm>
            <a:off x="3063240" y="822960"/>
            <a:ext cx="51892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F0690AF4-EF17-B3F5-D6D9-66362E4F35A6}"/>
              </a:ext>
            </a:extLst>
          </p:cNvPr>
          <p:cNvSpPr/>
          <p:nvPr/>
        </p:nvSpPr>
        <p:spPr>
          <a:xfrm>
            <a:off x="3063240" y="822960"/>
            <a:ext cx="5189220" cy="475488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en-IN" sz="14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324BA525-489A-6EEB-F2DE-1D24AB2923D7}"/>
              </a:ext>
            </a:extLst>
          </p:cNvPr>
          <p:cNvSpPr/>
          <p:nvPr/>
        </p:nvSpPr>
        <p:spPr>
          <a:xfrm>
            <a:off x="3063240" y="877824"/>
            <a:ext cx="5189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Smart Console &amp; Edge AI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4D47BC3-8189-92D3-7B85-1BCB5B7DAD14}"/>
              </a:ext>
            </a:extLst>
          </p:cNvPr>
          <p:cNvGrpSpPr/>
          <p:nvPr/>
        </p:nvGrpSpPr>
        <p:grpSpPr>
          <a:xfrm>
            <a:off x="3742704" y="4343400"/>
            <a:ext cx="822960" cy="845213"/>
            <a:chOff x="3520440" y="4251960"/>
            <a:chExt cx="822960" cy="845213"/>
          </a:xfrm>
        </p:grpSpPr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C2309AB5-3BBE-0130-67DE-0805D0AE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03320" y="4251960"/>
              <a:ext cx="457200" cy="457200"/>
            </a:xfrm>
            <a:prstGeom prst="rect">
              <a:avLst/>
            </a:prstGeom>
          </p:spPr>
        </p:pic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541BE00D-2483-D4D2-86B2-FC7AE28FB4E5}"/>
                </a:ext>
              </a:extLst>
            </p:cNvPr>
            <p:cNvSpPr/>
            <p:nvPr/>
          </p:nvSpPr>
          <p:spPr>
            <a:xfrm>
              <a:off x="3520440" y="4736592"/>
              <a:ext cx="822960" cy="36058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3A5C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AI/ML Inference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5B9E739-8084-99A1-5236-FDC8B3B4CEE9}"/>
              </a:ext>
            </a:extLst>
          </p:cNvPr>
          <p:cNvGrpSpPr/>
          <p:nvPr/>
        </p:nvGrpSpPr>
        <p:grpSpPr>
          <a:xfrm>
            <a:off x="5066679" y="4343400"/>
            <a:ext cx="929640" cy="932676"/>
            <a:chOff x="5166360" y="4251960"/>
            <a:chExt cx="929640" cy="932676"/>
          </a:xfrm>
        </p:grpSpPr>
        <p:pic>
          <p:nvPicPr>
            <p:cNvPr id="28" name="Image 6" descr="preencoded.png">
              <a:extLst>
                <a:ext uri="{FF2B5EF4-FFF2-40B4-BE49-F238E27FC236}">
                  <a16:creationId xmlns:a16="http://schemas.microsoft.com/office/drawing/2014/main" id="{47A16C93-9187-952F-562D-F0DF8A215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02580" y="4251960"/>
              <a:ext cx="457200" cy="457200"/>
            </a:xfrm>
            <a:prstGeom prst="rect">
              <a:avLst/>
            </a:prstGeom>
          </p:spPr>
        </p:pic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3C172107-3C42-00DC-BD48-71945E1F297F}"/>
                </a:ext>
              </a:extLst>
            </p:cNvPr>
            <p:cNvSpPr/>
            <p:nvPr/>
          </p:nvSpPr>
          <p:spPr>
            <a:xfrm>
              <a:off x="5166360" y="4736591"/>
              <a:ext cx="929640" cy="4480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1A3A5C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Media &amp; Workouts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1FB404C-EC35-9800-B0FD-19F2541B7D41}"/>
              </a:ext>
            </a:extLst>
          </p:cNvPr>
          <p:cNvGrpSpPr/>
          <p:nvPr/>
        </p:nvGrpSpPr>
        <p:grpSpPr>
          <a:xfrm>
            <a:off x="6497334" y="4343400"/>
            <a:ext cx="1120140" cy="864700"/>
            <a:chOff x="6275070" y="4251960"/>
            <a:chExt cx="1120140" cy="864700"/>
          </a:xfrm>
        </p:grpSpPr>
        <p:pic>
          <p:nvPicPr>
            <p:cNvPr id="30" name="Image 7" descr="preencoded.png">
              <a:extLst>
                <a:ext uri="{FF2B5EF4-FFF2-40B4-BE49-F238E27FC236}">
                  <a16:creationId xmlns:a16="http://schemas.microsoft.com/office/drawing/2014/main" id="{36230B2A-5E48-2A35-F9B1-BF508A02F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06540" y="4251960"/>
              <a:ext cx="457200" cy="457200"/>
            </a:xfrm>
            <a:prstGeom prst="rect">
              <a:avLst/>
            </a:prstGeom>
          </p:spPr>
        </p:pic>
        <p:sp>
          <p:nvSpPr>
            <p:cNvPr id="31" name="Text 20">
              <a:extLst>
                <a:ext uri="{FF2B5EF4-FFF2-40B4-BE49-F238E27FC236}">
                  <a16:creationId xmlns:a16="http://schemas.microsoft.com/office/drawing/2014/main" id="{ACAB4A91-9408-59CB-E0B5-925A8E22832C}"/>
                </a:ext>
              </a:extLst>
            </p:cNvPr>
            <p:cNvSpPr/>
            <p:nvPr/>
          </p:nvSpPr>
          <p:spPr>
            <a:xfrm>
              <a:off x="6275070" y="4736591"/>
              <a:ext cx="1120140" cy="3800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1A3A5C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Local Storage</a:t>
              </a:r>
            </a:p>
            <a:p>
              <a:pPr algn="ctr"/>
              <a:r>
                <a:rPr lang="en-US" sz="1200" dirty="0">
                  <a:solidFill>
                    <a:srgbClr val="1A3A5C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&amp; Processing</a:t>
              </a:r>
            </a:p>
          </p:txBody>
        </p:sp>
      </p:grpSp>
      <p:sp>
        <p:nvSpPr>
          <p:cNvPr id="32" name="Shape 21">
            <a:extLst>
              <a:ext uri="{FF2B5EF4-FFF2-40B4-BE49-F238E27FC236}">
                <a16:creationId xmlns:a16="http://schemas.microsoft.com/office/drawing/2014/main" id="{5080BAEF-FA43-6D50-5FB8-4677FB38CBE8}"/>
              </a:ext>
            </a:extLst>
          </p:cNvPr>
          <p:cNvSpPr/>
          <p:nvPr/>
        </p:nvSpPr>
        <p:spPr>
          <a:xfrm>
            <a:off x="3246120" y="4160520"/>
            <a:ext cx="4874722" cy="0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2136E922-E3CC-4D57-5323-2FF49A50FFB8}"/>
              </a:ext>
            </a:extLst>
          </p:cNvPr>
          <p:cNvSpPr/>
          <p:nvPr/>
        </p:nvSpPr>
        <p:spPr>
          <a:xfrm>
            <a:off x="3246120" y="5504688"/>
            <a:ext cx="4874722" cy="3474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B3773B90-0A9A-F318-60C9-A4230CB91D62}"/>
              </a:ext>
            </a:extLst>
          </p:cNvPr>
          <p:cNvSpPr/>
          <p:nvPr/>
        </p:nvSpPr>
        <p:spPr>
          <a:xfrm>
            <a:off x="3246120" y="5513832"/>
            <a:ext cx="48747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Android OS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61E2C843-3F99-D21A-428B-1AC4B365C797}"/>
              </a:ext>
            </a:extLst>
          </p:cNvPr>
          <p:cNvSpPr/>
          <p:nvPr/>
        </p:nvSpPr>
        <p:spPr>
          <a:xfrm>
            <a:off x="9372600" y="82296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626BC244-5B29-E878-A5F6-8EB3FA7604B9}"/>
              </a:ext>
            </a:extLst>
          </p:cNvPr>
          <p:cNvSpPr/>
          <p:nvPr/>
        </p:nvSpPr>
        <p:spPr>
          <a:xfrm>
            <a:off x="9372600" y="822960"/>
            <a:ext cx="2606040" cy="475488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en-IN" sz="14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874BDF37-E2F0-CB3B-63F8-50A0EE4CA66A}"/>
              </a:ext>
            </a:extLst>
          </p:cNvPr>
          <p:cNvSpPr/>
          <p:nvPr/>
        </p:nvSpPr>
        <p:spPr>
          <a:xfrm>
            <a:off x="9372600" y="8778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&amp; Connectivity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8" name="Image 8" descr="preencoded.png">
            <a:extLst>
              <a:ext uri="{FF2B5EF4-FFF2-40B4-BE49-F238E27FC236}">
                <a16:creationId xmlns:a16="http://schemas.microsoft.com/office/drawing/2014/main" id="{7D995216-F4FD-0408-EC0C-97A4564ECD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480" y="1517904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0FCCCD5E-FA35-F1A5-D955-B451F6BCFD97}"/>
              </a:ext>
            </a:extLst>
          </p:cNvPr>
          <p:cNvSpPr/>
          <p:nvPr/>
        </p:nvSpPr>
        <p:spPr>
          <a:xfrm>
            <a:off x="10058400" y="1536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Wi-Fi &amp; Bluetooth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0" name="Image 9" descr="preencoded.png">
            <a:extLst>
              <a:ext uri="{FF2B5EF4-FFF2-40B4-BE49-F238E27FC236}">
                <a16:creationId xmlns:a16="http://schemas.microsoft.com/office/drawing/2014/main" id="{F8A5923E-B636-2C3E-55DD-689AB2A190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5480" y="2093976"/>
            <a:ext cx="384048" cy="384048"/>
          </a:xfrm>
          <a:prstGeom prst="rect">
            <a:avLst/>
          </a:prstGeom>
        </p:spPr>
      </p:pic>
      <p:sp>
        <p:nvSpPr>
          <p:cNvPr id="41" name="Text 28">
            <a:extLst>
              <a:ext uri="{FF2B5EF4-FFF2-40B4-BE49-F238E27FC236}">
                <a16:creationId xmlns:a16="http://schemas.microsoft.com/office/drawing/2014/main" id="{539CC0BB-5540-4641-0A7E-740DE0BE8ED0}"/>
              </a:ext>
            </a:extLst>
          </p:cNvPr>
          <p:cNvSpPr/>
          <p:nvPr/>
        </p:nvSpPr>
        <p:spPr>
          <a:xfrm>
            <a:off x="10058400" y="2112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Services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160C28DB-C96A-6513-5E89-43FFAA353A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5480" y="2750058"/>
            <a:ext cx="384048" cy="384048"/>
          </a:xfrm>
          <a:prstGeom prst="rect">
            <a:avLst/>
          </a:prstGeom>
        </p:spPr>
      </p:pic>
      <p:sp>
        <p:nvSpPr>
          <p:cNvPr id="43" name="Text 29">
            <a:extLst>
              <a:ext uri="{FF2B5EF4-FFF2-40B4-BE49-F238E27FC236}">
                <a16:creationId xmlns:a16="http://schemas.microsoft.com/office/drawing/2014/main" id="{954C57C0-BDFB-001E-E2C4-2D54439A2B03}"/>
              </a:ext>
            </a:extLst>
          </p:cNvPr>
          <p:cNvSpPr/>
          <p:nvPr/>
        </p:nvSpPr>
        <p:spPr>
          <a:xfrm>
            <a:off x="10086602" y="276834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OTA Updates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41B0A9D1-2F38-065D-363E-D14599005B6A}"/>
              </a:ext>
            </a:extLst>
          </p:cNvPr>
          <p:cNvSpPr/>
          <p:nvPr/>
        </p:nvSpPr>
        <p:spPr>
          <a:xfrm>
            <a:off x="9372600" y="35204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687EC961-1BBE-1856-47DF-00512CF8BDF0}"/>
              </a:ext>
            </a:extLst>
          </p:cNvPr>
          <p:cNvSpPr/>
          <p:nvPr/>
        </p:nvSpPr>
        <p:spPr>
          <a:xfrm>
            <a:off x="9372600" y="3520440"/>
            <a:ext cx="2606040" cy="475488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1904EC1D-DF4C-390E-E0C1-35772A2929BB}"/>
              </a:ext>
            </a:extLst>
          </p:cNvPr>
          <p:cNvSpPr/>
          <p:nvPr/>
        </p:nvSpPr>
        <p:spPr>
          <a:xfrm>
            <a:off x="9372600" y="35753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Wearables &amp; Apps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7" name="Image 11">
            <a:extLst>
              <a:ext uri="{FF2B5EF4-FFF2-40B4-BE49-F238E27FC236}">
                <a16:creationId xmlns:a16="http://schemas.microsoft.com/office/drawing/2014/main" id="{B7FF9C29-C034-350C-6BC5-4E3329CFE3B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75008" y="4242816"/>
            <a:ext cx="344992" cy="384048"/>
          </a:xfrm>
          <a:prstGeom prst="rect">
            <a:avLst/>
          </a:prstGeom>
        </p:spPr>
      </p:pic>
      <p:sp>
        <p:nvSpPr>
          <p:cNvPr id="48" name="Text 33">
            <a:extLst>
              <a:ext uri="{FF2B5EF4-FFF2-40B4-BE49-F238E27FC236}">
                <a16:creationId xmlns:a16="http://schemas.microsoft.com/office/drawing/2014/main" id="{F82E9645-96B1-B998-AC66-7F2612EE9F8A}"/>
              </a:ext>
            </a:extLst>
          </p:cNvPr>
          <p:cNvSpPr/>
          <p:nvPr/>
        </p:nvSpPr>
        <p:spPr>
          <a:xfrm>
            <a:off x="10058400" y="4261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Fitness Trackers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E5105033-CA09-F2BC-F0AA-7184D1E0BA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5480" y="4974336"/>
            <a:ext cx="384048" cy="384048"/>
          </a:xfrm>
          <a:prstGeom prst="rect">
            <a:avLst/>
          </a:prstGeom>
        </p:spPr>
      </p:pic>
      <p:sp>
        <p:nvSpPr>
          <p:cNvPr id="50" name="Text 34">
            <a:extLst>
              <a:ext uri="{FF2B5EF4-FFF2-40B4-BE49-F238E27FC236}">
                <a16:creationId xmlns:a16="http://schemas.microsoft.com/office/drawing/2014/main" id="{0F643792-A2E8-C6CC-7C30-F68117998C9C}"/>
              </a:ext>
            </a:extLst>
          </p:cNvPr>
          <p:cNvSpPr/>
          <p:nvPr/>
        </p:nvSpPr>
        <p:spPr>
          <a:xfrm>
            <a:off x="10058400" y="49926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Mobile Apps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Shape 35">
            <a:extLst>
              <a:ext uri="{FF2B5EF4-FFF2-40B4-BE49-F238E27FC236}">
                <a16:creationId xmlns:a16="http://schemas.microsoft.com/office/drawing/2014/main" id="{19C19376-D22F-D837-FB32-A141CDA344D0}"/>
              </a:ext>
            </a:extLst>
          </p:cNvPr>
          <p:cNvSpPr/>
          <p:nvPr/>
        </p:nvSpPr>
        <p:spPr>
          <a:xfrm>
            <a:off x="2788920" y="1828800"/>
            <a:ext cx="274320" cy="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36">
            <a:extLst>
              <a:ext uri="{FF2B5EF4-FFF2-40B4-BE49-F238E27FC236}">
                <a16:creationId xmlns:a16="http://schemas.microsoft.com/office/drawing/2014/main" id="{F4DFCC2C-36A4-CE34-7C67-A5C4EE834CDF}"/>
              </a:ext>
            </a:extLst>
          </p:cNvPr>
          <p:cNvSpPr/>
          <p:nvPr/>
        </p:nvSpPr>
        <p:spPr>
          <a:xfrm>
            <a:off x="2788920" y="2651760"/>
            <a:ext cx="274320" cy="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37">
            <a:extLst>
              <a:ext uri="{FF2B5EF4-FFF2-40B4-BE49-F238E27FC236}">
                <a16:creationId xmlns:a16="http://schemas.microsoft.com/office/drawing/2014/main" id="{2FEE3480-8DE8-55CC-F724-5AF6596EA778}"/>
              </a:ext>
            </a:extLst>
          </p:cNvPr>
          <p:cNvSpPr/>
          <p:nvPr/>
        </p:nvSpPr>
        <p:spPr>
          <a:xfrm>
            <a:off x="2788920" y="3474720"/>
            <a:ext cx="274320" cy="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38">
            <a:extLst>
              <a:ext uri="{FF2B5EF4-FFF2-40B4-BE49-F238E27FC236}">
                <a16:creationId xmlns:a16="http://schemas.microsoft.com/office/drawing/2014/main" id="{06FDE1C2-DF0B-1FC8-D906-D65CD64DA4BE}"/>
              </a:ext>
            </a:extLst>
          </p:cNvPr>
          <p:cNvSpPr/>
          <p:nvPr/>
        </p:nvSpPr>
        <p:spPr>
          <a:xfrm>
            <a:off x="2788920" y="4297680"/>
            <a:ext cx="274320" cy="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39">
            <a:extLst>
              <a:ext uri="{FF2B5EF4-FFF2-40B4-BE49-F238E27FC236}">
                <a16:creationId xmlns:a16="http://schemas.microsoft.com/office/drawing/2014/main" id="{F5A07358-B982-3C0B-F3A4-CBFD574B19E5}"/>
              </a:ext>
            </a:extLst>
          </p:cNvPr>
          <p:cNvSpPr/>
          <p:nvPr/>
        </p:nvSpPr>
        <p:spPr>
          <a:xfrm>
            <a:off x="8286750" y="2377440"/>
            <a:ext cx="1080000" cy="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40">
            <a:extLst>
              <a:ext uri="{FF2B5EF4-FFF2-40B4-BE49-F238E27FC236}">
                <a16:creationId xmlns:a16="http://schemas.microsoft.com/office/drawing/2014/main" id="{D8B511D2-ABD0-071C-E5D1-AF2A556BBDE6}"/>
              </a:ext>
            </a:extLst>
          </p:cNvPr>
          <p:cNvSpPr/>
          <p:nvPr/>
        </p:nvSpPr>
        <p:spPr>
          <a:xfrm>
            <a:off x="8286750" y="3017520"/>
            <a:ext cx="1080000" cy="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42">
            <a:extLst>
              <a:ext uri="{FF2B5EF4-FFF2-40B4-BE49-F238E27FC236}">
                <a16:creationId xmlns:a16="http://schemas.microsoft.com/office/drawing/2014/main" id="{FCF00B37-DD6C-6477-7F62-87CF1B1A7898}"/>
              </a:ext>
            </a:extLst>
          </p:cNvPr>
          <p:cNvSpPr/>
          <p:nvPr/>
        </p:nvSpPr>
        <p:spPr>
          <a:xfrm>
            <a:off x="5623560" y="5902452"/>
            <a:ext cx="0" cy="324000"/>
          </a:xfrm>
          <a:prstGeom prst="line">
            <a:avLst/>
          </a:prstGeom>
          <a:noFill/>
          <a:ln w="22860">
            <a:solidFill>
              <a:srgbClr val="00B0F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45">
            <a:extLst>
              <a:ext uri="{FF2B5EF4-FFF2-40B4-BE49-F238E27FC236}">
                <a16:creationId xmlns:a16="http://schemas.microsoft.com/office/drawing/2014/main" id="{5723CF1D-8BB9-50E1-955E-54A314BE33FE}"/>
              </a:ext>
            </a:extLst>
          </p:cNvPr>
          <p:cNvSpPr/>
          <p:nvPr/>
        </p:nvSpPr>
        <p:spPr>
          <a:xfrm>
            <a:off x="3909061" y="6206491"/>
            <a:ext cx="3257548" cy="342282"/>
          </a:xfrm>
          <a:prstGeom prst="rect">
            <a:avLst/>
          </a:prstGeom>
          <a:noFill/>
          <a:ln>
            <a:solidFill>
              <a:srgbClr val="0F58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Sync &amp; Analytics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68C8B796-D77E-A087-7810-20129188F4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7382" y="1563636"/>
            <a:ext cx="3124636" cy="2248214"/>
          </a:xfrm>
          <a:prstGeom prst="rect">
            <a:avLst/>
          </a:prstGeom>
        </p:spPr>
      </p:pic>
      <p:sp>
        <p:nvSpPr>
          <p:cNvPr id="69" name="Shape 21">
            <a:extLst>
              <a:ext uri="{FF2B5EF4-FFF2-40B4-BE49-F238E27FC236}">
                <a16:creationId xmlns:a16="http://schemas.microsoft.com/office/drawing/2014/main" id="{FDDB0FE3-C3C1-0A3B-4B58-607E25107A16}"/>
              </a:ext>
            </a:extLst>
          </p:cNvPr>
          <p:cNvSpPr/>
          <p:nvPr/>
        </p:nvSpPr>
        <p:spPr>
          <a:xfrm flipV="1">
            <a:off x="365760" y="2167128"/>
            <a:ext cx="2103120" cy="19812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F55107AA-1566-AE95-8097-01158F03F5AE}"/>
              </a:ext>
            </a:extLst>
          </p:cNvPr>
          <p:cNvSpPr/>
          <p:nvPr/>
        </p:nvSpPr>
        <p:spPr>
          <a:xfrm flipV="1">
            <a:off x="434340" y="3081528"/>
            <a:ext cx="2103120" cy="19812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A1774361-2DB7-FACD-3A0B-F2781DCFAD98}"/>
              </a:ext>
            </a:extLst>
          </p:cNvPr>
          <p:cNvSpPr/>
          <p:nvPr/>
        </p:nvSpPr>
        <p:spPr>
          <a:xfrm flipV="1">
            <a:off x="365760" y="3950207"/>
            <a:ext cx="2103120" cy="19812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45">
            <a:extLst>
              <a:ext uri="{FF2B5EF4-FFF2-40B4-BE49-F238E27FC236}">
                <a16:creationId xmlns:a16="http://schemas.microsoft.com/office/drawing/2014/main" id="{B2A634FF-E207-3C27-D855-3D797962D434}"/>
              </a:ext>
            </a:extLst>
          </p:cNvPr>
          <p:cNvSpPr/>
          <p:nvPr/>
        </p:nvSpPr>
        <p:spPr>
          <a:xfrm>
            <a:off x="8298180" y="2527195"/>
            <a:ext cx="1062990" cy="317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Sync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&amp; Analytics</a:t>
            </a:r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61F952AD-D8A2-B871-BB2E-A187B6A3238D}"/>
              </a:ext>
            </a:extLst>
          </p:cNvPr>
          <p:cNvSpPr/>
          <p:nvPr/>
        </p:nvSpPr>
        <p:spPr>
          <a:xfrm>
            <a:off x="9624059" y="1988058"/>
            <a:ext cx="2124489" cy="25908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21">
            <a:extLst>
              <a:ext uri="{FF2B5EF4-FFF2-40B4-BE49-F238E27FC236}">
                <a16:creationId xmlns:a16="http://schemas.microsoft.com/office/drawing/2014/main" id="{76CF8FBE-2C53-101D-65C3-16FEFF55BBAB}"/>
              </a:ext>
            </a:extLst>
          </p:cNvPr>
          <p:cNvSpPr/>
          <p:nvPr/>
        </p:nvSpPr>
        <p:spPr>
          <a:xfrm>
            <a:off x="9709413" y="2605278"/>
            <a:ext cx="2103119" cy="28194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51CBCF-451D-2C70-D2F5-3B705C2D3EC0}"/>
              </a:ext>
            </a:extLst>
          </p:cNvPr>
          <p:cNvSpPr/>
          <p:nvPr/>
        </p:nvSpPr>
        <p:spPr>
          <a:xfrm>
            <a:off x="9624059" y="4800600"/>
            <a:ext cx="2113804" cy="9144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E31DEF6-DF0D-4130-CF30-65ECEAA37335}"/>
              </a:ext>
            </a:extLst>
          </p:cNvPr>
          <p:cNvCxnSpPr>
            <a:cxnSpLocks/>
            <a:stCxn id="5" idx="2"/>
            <a:endCxn id="61" idx="1"/>
          </p:cNvCxnSpPr>
          <p:nvPr/>
        </p:nvCxnSpPr>
        <p:spPr>
          <a:xfrm rot="16200000" flipH="1">
            <a:off x="2480464" y="4949035"/>
            <a:ext cx="434032" cy="2423161"/>
          </a:xfrm>
          <a:prstGeom prst="bentConnector2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4531D130-6F02-A892-A216-8902C76018A1}"/>
              </a:ext>
            </a:extLst>
          </p:cNvPr>
          <p:cNvCxnSpPr>
            <a:stCxn id="61" idx="3"/>
            <a:endCxn id="44" idx="2"/>
          </p:cNvCxnSpPr>
          <p:nvPr/>
        </p:nvCxnSpPr>
        <p:spPr>
          <a:xfrm flipV="1">
            <a:off x="7166609" y="5852160"/>
            <a:ext cx="3509011" cy="525472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419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ECD0-2588-BCAD-EDA0-50903DCF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E4BE57E-F760-A778-32F4-3160B5CEA941}"/>
              </a:ext>
            </a:extLst>
          </p:cNvPr>
          <p:cNvSpPr/>
          <p:nvPr/>
        </p:nvSpPr>
        <p:spPr>
          <a:xfrm>
            <a:off x="524692" y="4990010"/>
            <a:ext cx="11142617" cy="796834"/>
          </a:xfrm>
          <a:prstGeom prst="roundRect">
            <a:avLst/>
          </a:prstGeom>
          <a:solidFill>
            <a:schemeClr val="tx2">
              <a:lumMod val="10000"/>
              <a:lumOff val="90000"/>
              <a:alpha val="61000"/>
            </a:scheme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8791F-1112-8973-5E70-63F9E406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Proof-of-Concept Development Framework</a:t>
            </a:r>
            <a:br>
              <a:rPr lang="en-IN" dirty="0"/>
            </a:br>
            <a:endParaRPr lang="en-IN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1525A9C-9168-361A-604B-615E12C59E3C}"/>
              </a:ext>
            </a:extLst>
          </p:cNvPr>
          <p:cNvSpPr txBox="1"/>
          <p:nvPr/>
        </p:nvSpPr>
        <p:spPr>
          <a:xfrm>
            <a:off x="2510287" y="843692"/>
            <a:ext cx="7171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Innominds follows a structured Proof-of-Concept framework to rapidly validate ideas, technologies, and business value before full-scale product development.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88C0AF-5F02-6AAF-EF41-41AE509AB74A}"/>
              </a:ext>
            </a:extLst>
          </p:cNvPr>
          <p:cNvGrpSpPr/>
          <p:nvPr/>
        </p:nvGrpSpPr>
        <p:grpSpPr>
          <a:xfrm>
            <a:off x="682854" y="1617226"/>
            <a:ext cx="10826293" cy="4065115"/>
            <a:chOff x="171754" y="2662256"/>
            <a:chExt cx="10826293" cy="40651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EC3F0A-5124-FA62-6F7A-E52558A66D7F}"/>
                </a:ext>
              </a:extLst>
            </p:cNvPr>
            <p:cNvGrpSpPr/>
            <p:nvPr/>
          </p:nvGrpSpPr>
          <p:grpSpPr>
            <a:xfrm>
              <a:off x="171754" y="2662256"/>
              <a:ext cx="3495471" cy="4065115"/>
              <a:chOff x="171754" y="2662256"/>
              <a:chExt cx="3495471" cy="406511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3EC3D61-C5D8-C89F-907E-220255C93C26}"/>
                  </a:ext>
                </a:extLst>
              </p:cNvPr>
              <p:cNvSpPr/>
              <p:nvPr/>
            </p:nvSpPr>
            <p:spPr>
              <a:xfrm>
                <a:off x="182909" y="3139916"/>
                <a:ext cx="3469206" cy="3587455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13">
                <a:extLst>
                  <a:ext uri="{FF2B5EF4-FFF2-40B4-BE49-F238E27FC236}">
                    <a16:creationId xmlns:a16="http://schemas.microsoft.com/office/drawing/2014/main" id="{9CEEA469-7779-B560-82FF-450E74B0BD32}"/>
                  </a:ext>
                </a:extLst>
              </p:cNvPr>
              <p:cNvSpPr/>
              <p:nvPr/>
            </p:nvSpPr>
            <p:spPr>
              <a:xfrm>
                <a:off x="171754" y="2662256"/>
                <a:ext cx="3495471" cy="71701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FAD4DEB-084D-3645-75A9-BE8A61CBB7F6}"/>
                  </a:ext>
                </a:extLst>
              </p:cNvPr>
              <p:cNvSpPr/>
              <p:nvPr/>
            </p:nvSpPr>
            <p:spPr>
              <a:xfrm>
                <a:off x="209567" y="2690877"/>
                <a:ext cx="662500" cy="6625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rgbClr val="2F0EA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F6BCE3-37FC-CDC9-A2C4-D76379DB6043}"/>
                  </a:ext>
                </a:extLst>
              </p:cNvPr>
              <p:cNvSpPr txBox="1"/>
              <p:nvPr/>
            </p:nvSpPr>
            <p:spPr>
              <a:xfrm>
                <a:off x="1204408" y="2765424"/>
                <a:ext cx="15317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Situational Awareness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86DF188-6E4E-5B09-B608-FEECE2D81F7F}"/>
                </a:ext>
              </a:extLst>
            </p:cNvPr>
            <p:cNvGrpSpPr/>
            <p:nvPr/>
          </p:nvGrpSpPr>
          <p:grpSpPr>
            <a:xfrm>
              <a:off x="3837165" y="2662256"/>
              <a:ext cx="3495471" cy="4065115"/>
              <a:chOff x="171754" y="2662256"/>
              <a:chExt cx="3495471" cy="406511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1FB9896-1CDE-8F5E-D971-E25A6B3A24E0}"/>
                  </a:ext>
                </a:extLst>
              </p:cNvPr>
              <p:cNvSpPr/>
              <p:nvPr/>
            </p:nvSpPr>
            <p:spPr>
              <a:xfrm>
                <a:off x="182909" y="3139916"/>
                <a:ext cx="3469206" cy="3587455"/>
              </a:xfrm>
              <a:prstGeom prst="rect">
                <a:avLst/>
              </a:prstGeom>
              <a:solidFill>
                <a:schemeClr val="bg1">
                  <a:alpha val="60161"/>
                </a:schemeClr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21">
                <a:extLst>
                  <a:ext uri="{FF2B5EF4-FFF2-40B4-BE49-F238E27FC236}">
                    <a16:creationId xmlns:a16="http://schemas.microsoft.com/office/drawing/2014/main" id="{3897A24C-0D3D-31C8-4B2B-FF856D429E97}"/>
                  </a:ext>
                </a:extLst>
              </p:cNvPr>
              <p:cNvSpPr/>
              <p:nvPr/>
            </p:nvSpPr>
            <p:spPr>
              <a:xfrm>
                <a:off x="171754" y="2662256"/>
                <a:ext cx="3495471" cy="71701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3109A5B-C2DD-6D35-57CC-9CC6391F39B8}"/>
                  </a:ext>
                </a:extLst>
              </p:cNvPr>
              <p:cNvSpPr/>
              <p:nvPr/>
            </p:nvSpPr>
            <p:spPr>
              <a:xfrm>
                <a:off x="209567" y="2690877"/>
                <a:ext cx="662500" cy="6625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rgbClr val="2F0EA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0BE709A-4A88-5C9D-3C53-F2EE702BCDC7}"/>
                  </a:ext>
                </a:extLst>
              </p:cNvPr>
              <p:cNvSpPr txBox="1"/>
              <p:nvPr/>
            </p:nvSpPr>
            <p:spPr>
              <a:xfrm>
                <a:off x="1217108" y="2873146"/>
                <a:ext cx="153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PoC Activation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70213DE-162E-1C54-DF68-A190FC5FD29E}"/>
                </a:ext>
              </a:extLst>
            </p:cNvPr>
            <p:cNvGrpSpPr/>
            <p:nvPr/>
          </p:nvGrpSpPr>
          <p:grpSpPr>
            <a:xfrm>
              <a:off x="7502576" y="2662256"/>
              <a:ext cx="3495471" cy="4065115"/>
              <a:chOff x="171754" y="2662256"/>
              <a:chExt cx="3495471" cy="406511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1357EBC-5A19-607F-9507-72EB73EF7EAD}"/>
                  </a:ext>
                </a:extLst>
              </p:cNvPr>
              <p:cNvSpPr/>
              <p:nvPr/>
            </p:nvSpPr>
            <p:spPr>
              <a:xfrm>
                <a:off x="182909" y="3139916"/>
                <a:ext cx="3469206" cy="3587455"/>
              </a:xfrm>
              <a:prstGeom prst="rect">
                <a:avLst/>
              </a:prstGeom>
              <a:solidFill>
                <a:schemeClr val="bg1">
                  <a:alpha val="60161"/>
                </a:schemeClr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38">
                <a:extLst>
                  <a:ext uri="{FF2B5EF4-FFF2-40B4-BE49-F238E27FC236}">
                    <a16:creationId xmlns:a16="http://schemas.microsoft.com/office/drawing/2014/main" id="{523ED714-C193-2D2B-CA6E-C8FE4F7DEB81}"/>
                  </a:ext>
                </a:extLst>
              </p:cNvPr>
              <p:cNvSpPr/>
              <p:nvPr/>
            </p:nvSpPr>
            <p:spPr>
              <a:xfrm>
                <a:off x="171754" y="2662256"/>
                <a:ext cx="3495471" cy="71701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52119C5-35B0-50BF-F243-D0E271A6AA2B}"/>
                  </a:ext>
                </a:extLst>
              </p:cNvPr>
              <p:cNvSpPr/>
              <p:nvPr/>
            </p:nvSpPr>
            <p:spPr>
              <a:xfrm>
                <a:off x="209567" y="2690877"/>
                <a:ext cx="662500" cy="6625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rgbClr val="2F0EA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15EEEB-24A4-663D-B2FF-54518EA234C3}"/>
                  </a:ext>
                </a:extLst>
              </p:cNvPr>
              <p:cNvSpPr txBox="1"/>
              <p:nvPr/>
            </p:nvSpPr>
            <p:spPr>
              <a:xfrm>
                <a:off x="1140908" y="2873146"/>
                <a:ext cx="20819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Concept Proving</a:t>
                </a:r>
              </a:p>
            </p:txBody>
          </p:sp>
        </p:grp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9F6A813-DCC8-30BB-5441-19E84AE10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298845" y="2765424"/>
              <a:ext cx="483944" cy="48394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B32856-BB7F-29E4-D7F0-5EB441157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3967934" y="2791002"/>
              <a:ext cx="463888" cy="46388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BC4C34-82B5-0F81-6966-14DC5FB2D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7650138" y="2815851"/>
              <a:ext cx="431598" cy="431598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410BEE4-1E7E-4863-8CBD-F801E289830F}"/>
              </a:ext>
            </a:extLst>
          </p:cNvPr>
          <p:cNvSpPr txBox="1"/>
          <p:nvPr/>
        </p:nvSpPr>
        <p:spPr>
          <a:xfrm>
            <a:off x="764327" y="2414533"/>
            <a:ext cx="33312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the Opportunity</a:t>
            </a: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D8988B-C8C8-14B9-B09E-513424F08327}"/>
              </a:ext>
            </a:extLst>
          </p:cNvPr>
          <p:cNvSpPr txBox="1"/>
          <p:nvPr/>
        </p:nvSpPr>
        <p:spPr>
          <a:xfrm>
            <a:off x="698282" y="2814608"/>
            <a:ext cx="34842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Need &amp; Market Awareness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identification and validation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Market research and opportunity analysis</a:t>
            </a: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Technology Awareness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Evaluate emerging technologies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concept gaps and adoption feasibility</a:t>
            </a: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Value Exploration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validation of the problem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Prioritize business value and impact</a:t>
            </a: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Outcome: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Clear understanding of problem, market need, and technology feasibility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AE6115-04E2-96F7-31C7-4877144C44AD}"/>
              </a:ext>
            </a:extLst>
          </p:cNvPr>
          <p:cNvSpPr txBox="1"/>
          <p:nvPr/>
        </p:nvSpPr>
        <p:spPr>
          <a:xfrm>
            <a:off x="4432055" y="2414533"/>
            <a:ext cx="33312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Turning the Idea into a Working Prototype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A24AFF-C500-0FC0-5BA0-F6757A0602E9}"/>
              </a:ext>
            </a:extLst>
          </p:cNvPr>
          <p:cNvSpPr txBox="1"/>
          <p:nvPr/>
        </p:nvSpPr>
        <p:spPr>
          <a:xfrm>
            <a:off x="4344961" y="2814608"/>
            <a:ext cx="34842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 Planning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Define PoC scope and objectives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success metrics and validation criteria</a:t>
            </a: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Rapid Prototyping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 high-fidelity prototype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 rapid development iterations</a:t>
            </a: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Outcome: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functional prototype demonstrating the core concept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8F6B1-5BFE-A958-6823-F2787C93C996}"/>
              </a:ext>
            </a:extLst>
          </p:cNvPr>
          <p:cNvSpPr txBox="1"/>
          <p:nvPr/>
        </p:nvSpPr>
        <p:spPr>
          <a:xfrm>
            <a:off x="8092406" y="2414533"/>
            <a:ext cx="33312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Validating Value and Business Potential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473D92-6D64-F0D9-4C38-CF6C7D768B04}"/>
              </a:ext>
            </a:extLst>
          </p:cNvPr>
          <p:cNvSpPr txBox="1"/>
          <p:nvPr/>
        </p:nvSpPr>
        <p:spPr>
          <a:xfrm>
            <a:off x="8032438" y="2814608"/>
            <a:ext cx="34842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Testing &amp; Validation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Functional PoC testing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Validate business value and technical feasibility</a:t>
            </a: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Demonstrations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Stakeholder demos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Collect iterative customer feedback</a:t>
            </a: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endParaRPr lang="en-US" sz="12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Clr>
                <a:srgbClr val="00B0F0"/>
              </a:buClr>
            </a:pPr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Outcome:</a:t>
            </a:r>
          </a:p>
          <a:p>
            <a:pPr marL="171450" indent="-17145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Validated concept ready for product development or scaling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E2F31B-5A07-03CC-49B0-D4EEBC51D43F}"/>
              </a:ext>
            </a:extLst>
          </p:cNvPr>
          <p:cNvSpPr txBox="1"/>
          <p:nvPr/>
        </p:nvSpPr>
        <p:spPr>
          <a:xfrm>
            <a:off x="1170616" y="6056833"/>
            <a:ext cx="9850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Business Need Insight    </a:t>
            </a:r>
            <a:r>
              <a:rPr lang="en-US" sz="14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|</a:t>
            </a: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Market Intelligence    </a:t>
            </a:r>
            <a:r>
              <a:rPr lang="en-US" sz="14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| </a:t>
            </a: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Technology Landscape    </a:t>
            </a:r>
            <a:r>
              <a:rPr lang="en-US" sz="14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|</a:t>
            </a: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Engineering Expertise</a:t>
            </a:r>
          </a:p>
        </p:txBody>
      </p:sp>
    </p:spTree>
    <p:extLst>
      <p:ext uri="{BB962C8B-B14F-4D97-AF65-F5344CB8AC3E}">
        <p14:creationId xmlns:p14="http://schemas.microsoft.com/office/powerpoint/2010/main" val="697566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04C04F-C571-281A-D358-38B5BCD87AE4}"/>
              </a:ext>
            </a:extLst>
          </p:cNvPr>
          <p:cNvSpPr/>
          <p:nvPr/>
        </p:nvSpPr>
        <p:spPr>
          <a:xfrm>
            <a:off x="2737153" y="3249095"/>
            <a:ext cx="8568500" cy="539301"/>
          </a:xfrm>
          <a:prstGeom prst="rect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34E46D-BE4B-592F-E5B8-0CB23A56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>
            <a:normAutofit/>
          </a:bodyPr>
          <a:lstStyle/>
          <a:p>
            <a:r>
              <a:rPr lang="en-US" dirty="0"/>
              <a:t>Design Thinking based AI/ML Development Approach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06CCA0-6A98-13EF-DB1A-DDA72972333E}"/>
              </a:ext>
            </a:extLst>
          </p:cNvPr>
          <p:cNvGrpSpPr/>
          <p:nvPr/>
        </p:nvGrpSpPr>
        <p:grpSpPr>
          <a:xfrm>
            <a:off x="2727685" y="895998"/>
            <a:ext cx="1578420" cy="2157418"/>
            <a:chOff x="2727685" y="721617"/>
            <a:chExt cx="1578420" cy="215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9E63AE9-BFD5-50D1-604F-B49E35EC411C}"/>
                </a:ext>
              </a:extLst>
            </p:cNvPr>
            <p:cNvGrpSpPr/>
            <p:nvPr/>
          </p:nvGrpSpPr>
          <p:grpSpPr>
            <a:xfrm>
              <a:off x="2928014" y="721617"/>
              <a:ext cx="1178386" cy="1178386"/>
              <a:chOff x="1646110" y="2579716"/>
              <a:chExt cx="1178386" cy="1178386"/>
            </a:xfrm>
          </p:grpSpPr>
          <p:sp>
            <p:nvSpPr>
              <p:cNvPr id="9" name="Teardrop 8">
                <a:extLst>
                  <a:ext uri="{FF2B5EF4-FFF2-40B4-BE49-F238E27FC236}">
                    <a16:creationId xmlns:a16="http://schemas.microsoft.com/office/drawing/2014/main" id="{803C52EC-5282-2DFB-92FC-7957A8058455}"/>
                  </a:ext>
                </a:extLst>
              </p:cNvPr>
              <p:cNvSpPr/>
              <p:nvPr/>
            </p:nvSpPr>
            <p:spPr>
              <a:xfrm rot="8100000">
                <a:off x="1646110" y="2579716"/>
                <a:ext cx="1178386" cy="1178386"/>
              </a:xfrm>
              <a:prstGeom prst="teardrop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82843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292EC99-A303-A775-1723-D5D2B78AF148}"/>
                  </a:ext>
                </a:extLst>
              </p:cNvPr>
              <p:cNvSpPr/>
              <p:nvPr/>
            </p:nvSpPr>
            <p:spPr>
              <a:xfrm>
                <a:off x="1817132" y="2750738"/>
                <a:ext cx="836342" cy="836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11" name="Picture 4" descr="Empathy - Free user icons">
                <a:extLst>
                  <a:ext uri="{FF2B5EF4-FFF2-40B4-BE49-F238E27FC236}">
                    <a16:creationId xmlns:a16="http://schemas.microsoft.com/office/drawing/2014/main" id="{E3546E26-A540-50B1-A0BE-9A65FD0C4D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4991" y="2889000"/>
                <a:ext cx="540000" cy="5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783607-04F6-CAE8-575A-4D18CD6B291D}"/>
                </a:ext>
              </a:extLst>
            </p:cNvPr>
            <p:cNvSpPr txBox="1"/>
            <p:nvPr/>
          </p:nvSpPr>
          <p:spPr>
            <a:xfrm>
              <a:off x="2783877" y="2183594"/>
              <a:ext cx="1466036" cy="30777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 defTabSz="1828434"/>
              <a:r>
                <a:rPr lang="en-US" sz="14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EMPATHIZE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4D5BB4-2157-88F8-B877-7F00E6FBB9DF}"/>
                </a:ext>
              </a:extLst>
            </p:cNvPr>
            <p:cNvSpPr txBox="1"/>
            <p:nvPr/>
          </p:nvSpPr>
          <p:spPr>
            <a:xfrm>
              <a:off x="2727685" y="2478925"/>
              <a:ext cx="15784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Understand the user thoroughly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7D06AE-310E-4626-975B-45BA3F8707AB}"/>
              </a:ext>
            </a:extLst>
          </p:cNvPr>
          <p:cNvGrpSpPr/>
          <p:nvPr/>
        </p:nvGrpSpPr>
        <p:grpSpPr>
          <a:xfrm>
            <a:off x="4435689" y="895998"/>
            <a:ext cx="1588514" cy="2311306"/>
            <a:chOff x="4345405" y="721617"/>
            <a:chExt cx="1588514" cy="231130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F1D07F-5B52-EB1D-E1F6-8668122B1BAF}"/>
                </a:ext>
              </a:extLst>
            </p:cNvPr>
            <p:cNvGrpSpPr/>
            <p:nvPr/>
          </p:nvGrpSpPr>
          <p:grpSpPr>
            <a:xfrm>
              <a:off x="4550781" y="721617"/>
              <a:ext cx="1178386" cy="1178386"/>
              <a:chOff x="3263037" y="2579716"/>
              <a:chExt cx="1178386" cy="1178386"/>
            </a:xfrm>
          </p:grpSpPr>
          <p:sp>
            <p:nvSpPr>
              <p:cNvPr id="16" name="Teardrop 15">
                <a:extLst>
                  <a:ext uri="{FF2B5EF4-FFF2-40B4-BE49-F238E27FC236}">
                    <a16:creationId xmlns:a16="http://schemas.microsoft.com/office/drawing/2014/main" id="{B032E423-5433-3C6B-2EAE-045A42176D71}"/>
                  </a:ext>
                </a:extLst>
              </p:cNvPr>
              <p:cNvSpPr/>
              <p:nvPr/>
            </p:nvSpPr>
            <p:spPr>
              <a:xfrm rot="8100000">
                <a:off x="3263037" y="2579716"/>
                <a:ext cx="1178386" cy="1178386"/>
              </a:xfrm>
              <a:prstGeom prst="teardrop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82843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FDD31F3-849B-13BB-4D22-883C2BFAD2D6}"/>
                  </a:ext>
                </a:extLst>
              </p:cNvPr>
              <p:cNvSpPr/>
              <p:nvPr/>
            </p:nvSpPr>
            <p:spPr>
              <a:xfrm>
                <a:off x="3434059" y="2750738"/>
                <a:ext cx="836342" cy="836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18" name="Picture 6">
                <a:extLst>
                  <a:ext uri="{FF2B5EF4-FFF2-40B4-BE49-F238E27FC236}">
                    <a16:creationId xmlns:a16="http://schemas.microsoft.com/office/drawing/2014/main" id="{9DCDE0D6-E468-2636-1F5F-FE4A18002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/>
            </p:blipFill>
            <p:spPr bwMode="auto">
              <a:xfrm>
                <a:off x="3581918" y="2898909"/>
                <a:ext cx="540000" cy="5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665534-4656-B6F7-ABC4-1BF3FAE13DF3}"/>
                </a:ext>
              </a:extLst>
            </p:cNvPr>
            <p:cNvSpPr txBox="1"/>
            <p:nvPr/>
          </p:nvSpPr>
          <p:spPr>
            <a:xfrm>
              <a:off x="4345405" y="2183594"/>
              <a:ext cx="1588514" cy="30777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 defTabSz="1828434"/>
              <a:r>
                <a:rPr lang="en-US" sz="14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DEFINE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A60871-E9C4-91CE-D257-69A46A3278A2}"/>
                </a:ext>
              </a:extLst>
            </p:cNvPr>
            <p:cNvSpPr txBox="1"/>
            <p:nvPr/>
          </p:nvSpPr>
          <p:spPr>
            <a:xfrm>
              <a:off x="4350452" y="2478925"/>
              <a:ext cx="15784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Identify the right problem &amp; define the use case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5158D1-6035-04E0-2E09-B190E8CE6353}"/>
              </a:ext>
            </a:extLst>
          </p:cNvPr>
          <p:cNvGrpSpPr/>
          <p:nvPr/>
        </p:nvGrpSpPr>
        <p:grpSpPr>
          <a:xfrm>
            <a:off x="6153787" y="895998"/>
            <a:ext cx="1578420" cy="2311306"/>
            <a:chOff x="5973219" y="721617"/>
            <a:chExt cx="1578420" cy="231130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9D0D61E-F639-0C26-2A52-648FE5F07CBE}"/>
                </a:ext>
              </a:extLst>
            </p:cNvPr>
            <p:cNvGrpSpPr/>
            <p:nvPr/>
          </p:nvGrpSpPr>
          <p:grpSpPr>
            <a:xfrm>
              <a:off x="6156428" y="721617"/>
              <a:ext cx="1178386" cy="1178386"/>
              <a:chOff x="4656939" y="2579716"/>
              <a:chExt cx="1178386" cy="1178386"/>
            </a:xfrm>
          </p:grpSpPr>
          <p:sp>
            <p:nvSpPr>
              <p:cNvPr id="23" name="Teardrop 22">
                <a:extLst>
                  <a:ext uri="{FF2B5EF4-FFF2-40B4-BE49-F238E27FC236}">
                    <a16:creationId xmlns:a16="http://schemas.microsoft.com/office/drawing/2014/main" id="{A96976B7-2975-3603-006D-DAE399FF5C3B}"/>
                  </a:ext>
                </a:extLst>
              </p:cNvPr>
              <p:cNvSpPr/>
              <p:nvPr/>
            </p:nvSpPr>
            <p:spPr>
              <a:xfrm rot="8100000">
                <a:off x="4656939" y="2579716"/>
                <a:ext cx="1178386" cy="1178386"/>
              </a:xfrm>
              <a:prstGeom prst="teardrop">
                <a:avLst/>
              </a:pr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82843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DBEBB89-3461-D795-F7EF-3F94C572FD68}"/>
                  </a:ext>
                </a:extLst>
              </p:cNvPr>
              <p:cNvSpPr/>
              <p:nvPr/>
            </p:nvSpPr>
            <p:spPr>
              <a:xfrm>
                <a:off x="4827961" y="2750738"/>
                <a:ext cx="836342" cy="836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25" name="Picture 6" descr="Design thinking - Free art and design icons">
                <a:extLst>
                  <a:ext uri="{FF2B5EF4-FFF2-40B4-BE49-F238E27FC236}">
                    <a16:creationId xmlns:a16="http://schemas.microsoft.com/office/drawing/2014/main" id="{AFCF4F34-2D8D-A560-31A2-09EB7A2834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100000"/>
                        </a14:imgEffect>
                        <a14:imgEffect>
                          <a14:colorTemperature colorTemp="1500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0705" y="2889000"/>
                <a:ext cx="540000" cy="5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17BB1E3-0A61-B418-7E05-0B708C281838}"/>
                </a:ext>
              </a:extLst>
            </p:cNvPr>
            <p:cNvSpPr txBox="1"/>
            <p:nvPr/>
          </p:nvSpPr>
          <p:spPr>
            <a:xfrm>
              <a:off x="6007176" y="2183594"/>
              <a:ext cx="1466036" cy="30777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 defTabSz="1828434"/>
              <a:r>
                <a:rPr lang="en-US" sz="14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IDEATE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6713C-D09A-F9A4-2AED-8A8C31093F25}"/>
                </a:ext>
              </a:extLst>
            </p:cNvPr>
            <p:cNvSpPr txBox="1"/>
            <p:nvPr/>
          </p:nvSpPr>
          <p:spPr>
            <a:xfrm>
              <a:off x="5973219" y="2478925"/>
              <a:ext cx="15784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Come up with as many ideas as possible to solve the problem statement.</a:t>
              </a:r>
              <a:endParaRPr lang="en-US" sz="1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F93CB4-316A-EF1E-497C-841CD36A468D}"/>
              </a:ext>
            </a:extLst>
          </p:cNvPr>
          <p:cNvGrpSpPr/>
          <p:nvPr/>
        </p:nvGrpSpPr>
        <p:grpSpPr>
          <a:xfrm>
            <a:off x="7861791" y="895998"/>
            <a:ext cx="1578420" cy="2311306"/>
            <a:chOff x="7595986" y="721617"/>
            <a:chExt cx="1578420" cy="231130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7C7F727-CC37-7140-4472-CBDF6AAC6B6B}"/>
                </a:ext>
              </a:extLst>
            </p:cNvPr>
            <p:cNvGrpSpPr/>
            <p:nvPr/>
          </p:nvGrpSpPr>
          <p:grpSpPr>
            <a:xfrm>
              <a:off x="7748950" y="721617"/>
              <a:ext cx="1178386" cy="1178386"/>
              <a:chOff x="6096000" y="2579716"/>
              <a:chExt cx="1178386" cy="1178386"/>
            </a:xfrm>
          </p:grpSpPr>
          <p:sp>
            <p:nvSpPr>
              <p:cNvPr id="30" name="Teardrop 29">
                <a:extLst>
                  <a:ext uri="{FF2B5EF4-FFF2-40B4-BE49-F238E27FC236}">
                    <a16:creationId xmlns:a16="http://schemas.microsoft.com/office/drawing/2014/main" id="{760CE076-D212-FB2F-E5AF-76B1819ACBEA}"/>
                  </a:ext>
                </a:extLst>
              </p:cNvPr>
              <p:cNvSpPr/>
              <p:nvPr/>
            </p:nvSpPr>
            <p:spPr>
              <a:xfrm rot="8100000">
                <a:off x="6096000" y="2579716"/>
                <a:ext cx="1178386" cy="1178386"/>
              </a:xfrm>
              <a:prstGeom prst="teardrop">
                <a:avLst/>
              </a:pr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82843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8BC4929-EF70-517C-7E64-0C1D9860523B}"/>
                  </a:ext>
                </a:extLst>
              </p:cNvPr>
              <p:cNvSpPr/>
              <p:nvPr/>
            </p:nvSpPr>
            <p:spPr>
              <a:xfrm>
                <a:off x="6267022" y="2750738"/>
                <a:ext cx="836342" cy="836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32" name="Picture 6">
                <a:extLst>
                  <a:ext uri="{FF2B5EF4-FFF2-40B4-BE49-F238E27FC236}">
                    <a16:creationId xmlns:a16="http://schemas.microsoft.com/office/drawing/2014/main" id="{EA474C15-7D34-61FE-6335-4CDB664518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/>
            </p:blipFill>
            <p:spPr bwMode="auto">
              <a:xfrm>
                <a:off x="6415193" y="2898909"/>
                <a:ext cx="540000" cy="5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5595CB-AFF9-AFE6-0A42-D9A77B40FE0B}"/>
                </a:ext>
              </a:extLst>
            </p:cNvPr>
            <p:cNvSpPr txBox="1"/>
            <p:nvPr/>
          </p:nvSpPr>
          <p:spPr>
            <a:xfrm>
              <a:off x="7605125" y="2183594"/>
              <a:ext cx="1466036" cy="30777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 defTabSz="1828434"/>
              <a:r>
                <a:rPr lang="en-US" sz="14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PROTOTYPE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96A99-2CB9-AEE7-75EC-9A49881E9048}"/>
                </a:ext>
              </a:extLst>
            </p:cNvPr>
            <p:cNvSpPr txBox="1"/>
            <p:nvPr/>
          </p:nvSpPr>
          <p:spPr>
            <a:xfrm>
              <a:off x="7595986" y="2478925"/>
              <a:ext cx="15784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Build a sample model to Learn Fast, Cheap and Early</a:t>
              </a:r>
              <a:endParaRPr lang="en-US" sz="1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1AAF9A-431E-7F1F-9A04-04D4E933E99B}"/>
              </a:ext>
            </a:extLst>
          </p:cNvPr>
          <p:cNvGrpSpPr/>
          <p:nvPr/>
        </p:nvGrpSpPr>
        <p:grpSpPr>
          <a:xfrm>
            <a:off x="9569792" y="895998"/>
            <a:ext cx="1578420" cy="2157418"/>
            <a:chOff x="9218752" y="721617"/>
            <a:chExt cx="1578420" cy="21574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BD31E48-EA27-175B-F6A8-61A77191CC00}"/>
                </a:ext>
              </a:extLst>
            </p:cNvPr>
            <p:cNvGrpSpPr/>
            <p:nvPr/>
          </p:nvGrpSpPr>
          <p:grpSpPr>
            <a:xfrm>
              <a:off x="9418769" y="721617"/>
              <a:ext cx="1178386" cy="1178386"/>
              <a:chOff x="7824439" y="2579716"/>
              <a:chExt cx="1178386" cy="1178386"/>
            </a:xfrm>
          </p:grpSpPr>
          <p:sp>
            <p:nvSpPr>
              <p:cNvPr id="37" name="Teardrop 36">
                <a:extLst>
                  <a:ext uri="{FF2B5EF4-FFF2-40B4-BE49-F238E27FC236}">
                    <a16:creationId xmlns:a16="http://schemas.microsoft.com/office/drawing/2014/main" id="{7A0B5BEA-DD20-3961-A89B-94805B5718C6}"/>
                  </a:ext>
                </a:extLst>
              </p:cNvPr>
              <p:cNvSpPr/>
              <p:nvPr/>
            </p:nvSpPr>
            <p:spPr>
              <a:xfrm rot="8100000">
                <a:off x="7824439" y="2579716"/>
                <a:ext cx="1178386" cy="1178386"/>
              </a:xfrm>
              <a:prstGeom prst="teardrop">
                <a:avLst/>
              </a:pr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82843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90B5EBF-BB52-6979-408D-E91A2BA073D0}"/>
                  </a:ext>
                </a:extLst>
              </p:cNvPr>
              <p:cNvSpPr/>
              <p:nvPr/>
            </p:nvSpPr>
            <p:spPr>
              <a:xfrm>
                <a:off x="7995461" y="2750738"/>
                <a:ext cx="836342" cy="836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39" name="Picture 6">
                <a:extLst>
                  <a:ext uri="{FF2B5EF4-FFF2-40B4-BE49-F238E27FC236}">
                    <a16:creationId xmlns:a16="http://schemas.microsoft.com/office/drawing/2014/main" id="{A95A1749-999E-71F4-C3FF-2FE8DD7825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/>
            </p:blipFill>
            <p:spPr bwMode="auto">
              <a:xfrm>
                <a:off x="8144911" y="2900872"/>
                <a:ext cx="540000" cy="5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393C012-B5C8-DBCB-177C-EFADABBC4DEC}"/>
                </a:ext>
              </a:extLst>
            </p:cNvPr>
            <p:cNvSpPr txBox="1"/>
            <p:nvPr/>
          </p:nvSpPr>
          <p:spPr>
            <a:xfrm>
              <a:off x="9275405" y="2183594"/>
              <a:ext cx="1466036" cy="30777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 defTabSz="1828434"/>
              <a:r>
                <a:rPr lang="en-US" sz="14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TEST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CC00A7-5773-5885-9A7C-E73CFCF7A45C}"/>
                </a:ext>
              </a:extLst>
            </p:cNvPr>
            <p:cNvSpPr txBox="1"/>
            <p:nvPr/>
          </p:nvSpPr>
          <p:spPr>
            <a:xfrm>
              <a:off x="9218752" y="2478925"/>
              <a:ext cx="15784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Collect feedback from users to refine</a:t>
              </a:r>
              <a:endParaRPr lang="en-US" sz="1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40" name="Shape 4574">
            <a:extLst>
              <a:ext uri="{FF2B5EF4-FFF2-40B4-BE49-F238E27FC236}">
                <a16:creationId xmlns:a16="http://schemas.microsoft.com/office/drawing/2014/main" id="{B3997E50-DE72-B17F-57CE-292B9B94D112}"/>
              </a:ext>
            </a:extLst>
          </p:cNvPr>
          <p:cNvSpPr/>
          <p:nvPr/>
        </p:nvSpPr>
        <p:spPr>
          <a:xfrm>
            <a:off x="4070904" y="927225"/>
            <a:ext cx="599986" cy="14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27" extrusionOk="0">
                <a:moveTo>
                  <a:pt x="0" y="20427"/>
                </a:moveTo>
                <a:cubicBezTo>
                  <a:pt x="3482" y="5935"/>
                  <a:pt x="7623" y="-1173"/>
                  <a:pt x="11805" y="158"/>
                </a:cubicBezTo>
                <a:cubicBezTo>
                  <a:pt x="15304" y="1271"/>
                  <a:pt x="18690" y="8276"/>
                  <a:pt x="21600" y="20427"/>
                </a:cubicBezTo>
              </a:path>
            </a:pathLst>
          </a:custGeom>
          <a:noFill/>
          <a:ln w="381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400000"/>
            <a:tailEnd type="triangle" w="lg" len="lg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688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Shape 4574">
            <a:extLst>
              <a:ext uri="{FF2B5EF4-FFF2-40B4-BE49-F238E27FC236}">
                <a16:creationId xmlns:a16="http://schemas.microsoft.com/office/drawing/2014/main" id="{4FA7BC49-BB2F-1473-2117-E79D3D16358E}"/>
              </a:ext>
            </a:extLst>
          </p:cNvPr>
          <p:cNvSpPr/>
          <p:nvPr/>
        </p:nvSpPr>
        <p:spPr>
          <a:xfrm>
            <a:off x="5789002" y="927225"/>
            <a:ext cx="599986" cy="14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27" extrusionOk="0">
                <a:moveTo>
                  <a:pt x="0" y="20427"/>
                </a:moveTo>
                <a:cubicBezTo>
                  <a:pt x="3482" y="5935"/>
                  <a:pt x="7623" y="-1173"/>
                  <a:pt x="11805" y="158"/>
                </a:cubicBezTo>
                <a:cubicBezTo>
                  <a:pt x="15304" y="1271"/>
                  <a:pt x="18690" y="8276"/>
                  <a:pt x="21600" y="20427"/>
                </a:cubicBezTo>
              </a:path>
            </a:pathLst>
          </a:custGeom>
          <a:noFill/>
          <a:ln w="381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400000"/>
            <a:tailEnd type="triangle" w="lg" len="lg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688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2" name="Shape 4574">
            <a:extLst>
              <a:ext uri="{FF2B5EF4-FFF2-40B4-BE49-F238E27FC236}">
                <a16:creationId xmlns:a16="http://schemas.microsoft.com/office/drawing/2014/main" id="{6F79FBA8-5728-DA6D-C5F0-E2FB92BAC901}"/>
              </a:ext>
            </a:extLst>
          </p:cNvPr>
          <p:cNvSpPr/>
          <p:nvPr/>
        </p:nvSpPr>
        <p:spPr>
          <a:xfrm>
            <a:off x="7497006" y="927225"/>
            <a:ext cx="599986" cy="14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27" extrusionOk="0">
                <a:moveTo>
                  <a:pt x="0" y="20427"/>
                </a:moveTo>
                <a:cubicBezTo>
                  <a:pt x="3482" y="5935"/>
                  <a:pt x="7623" y="-1173"/>
                  <a:pt x="11805" y="158"/>
                </a:cubicBezTo>
                <a:cubicBezTo>
                  <a:pt x="15304" y="1271"/>
                  <a:pt x="18690" y="8276"/>
                  <a:pt x="21600" y="20427"/>
                </a:cubicBezTo>
              </a:path>
            </a:pathLst>
          </a:custGeom>
          <a:noFill/>
          <a:ln w="381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400000"/>
            <a:tailEnd type="triangle" w="lg" len="lg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688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Shape 4574">
            <a:extLst>
              <a:ext uri="{FF2B5EF4-FFF2-40B4-BE49-F238E27FC236}">
                <a16:creationId xmlns:a16="http://schemas.microsoft.com/office/drawing/2014/main" id="{E83EA4E4-2C58-AB96-5CD5-053A29BC33AE}"/>
              </a:ext>
            </a:extLst>
          </p:cNvPr>
          <p:cNvSpPr/>
          <p:nvPr/>
        </p:nvSpPr>
        <p:spPr>
          <a:xfrm>
            <a:off x="9205010" y="927225"/>
            <a:ext cx="599986" cy="14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427" extrusionOk="0">
                <a:moveTo>
                  <a:pt x="0" y="20427"/>
                </a:moveTo>
                <a:cubicBezTo>
                  <a:pt x="3482" y="5935"/>
                  <a:pt x="7623" y="-1173"/>
                  <a:pt x="11805" y="158"/>
                </a:cubicBezTo>
                <a:cubicBezTo>
                  <a:pt x="15304" y="1271"/>
                  <a:pt x="18690" y="8276"/>
                  <a:pt x="21600" y="20427"/>
                </a:cubicBezTo>
              </a:path>
            </a:pathLst>
          </a:custGeom>
          <a:noFill/>
          <a:ln w="381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400000"/>
            <a:tailEnd type="triangle" w="lg" len="lg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688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C5C5F2-A89E-2BC3-5D28-372EACF11DD0}"/>
              </a:ext>
            </a:extLst>
          </p:cNvPr>
          <p:cNvSpPr/>
          <p:nvPr/>
        </p:nvSpPr>
        <p:spPr>
          <a:xfrm>
            <a:off x="2732273" y="3868961"/>
            <a:ext cx="8568500" cy="2061814"/>
          </a:xfrm>
          <a:prstGeom prst="rect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E51DC85-EE12-8CCB-EB2C-79A9C9D20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928748"/>
              </p:ext>
            </p:extLst>
          </p:nvPr>
        </p:nvGraphicFramePr>
        <p:xfrm>
          <a:off x="2762301" y="3908422"/>
          <a:ext cx="8449038" cy="5486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08173">
                  <a:extLst>
                    <a:ext uri="{9D8B030D-6E8A-4147-A177-3AD203B41FA5}">
                      <a16:colId xmlns:a16="http://schemas.microsoft.com/office/drawing/2014/main" val="889152492"/>
                    </a:ext>
                  </a:extLst>
                </a:gridCol>
                <a:gridCol w="1408173">
                  <a:extLst>
                    <a:ext uri="{9D8B030D-6E8A-4147-A177-3AD203B41FA5}">
                      <a16:colId xmlns:a16="http://schemas.microsoft.com/office/drawing/2014/main" val="436042209"/>
                    </a:ext>
                  </a:extLst>
                </a:gridCol>
                <a:gridCol w="1408173">
                  <a:extLst>
                    <a:ext uri="{9D8B030D-6E8A-4147-A177-3AD203B41FA5}">
                      <a16:colId xmlns:a16="http://schemas.microsoft.com/office/drawing/2014/main" val="2443425262"/>
                    </a:ext>
                  </a:extLst>
                </a:gridCol>
                <a:gridCol w="1408173">
                  <a:extLst>
                    <a:ext uri="{9D8B030D-6E8A-4147-A177-3AD203B41FA5}">
                      <a16:colId xmlns:a16="http://schemas.microsoft.com/office/drawing/2014/main" val="3675388490"/>
                    </a:ext>
                  </a:extLst>
                </a:gridCol>
                <a:gridCol w="1408173">
                  <a:extLst>
                    <a:ext uri="{9D8B030D-6E8A-4147-A177-3AD203B41FA5}">
                      <a16:colId xmlns:a16="http://schemas.microsoft.com/office/drawing/2014/main" val="2833482313"/>
                    </a:ext>
                  </a:extLst>
                </a:gridCol>
                <a:gridCol w="1408173">
                  <a:extLst>
                    <a:ext uri="{9D8B030D-6E8A-4147-A177-3AD203B41FA5}">
                      <a16:colId xmlns:a16="http://schemas.microsoft.com/office/drawing/2014/main" val="3971617417"/>
                    </a:ext>
                  </a:extLst>
                </a:gridCol>
              </a:tblGrid>
              <a:tr h="13088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Sprint 0</a:t>
                      </a:r>
                      <a:endParaRPr lang="en-IN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Sprint 1</a:t>
                      </a:r>
                      <a:endParaRPr lang="en-IN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Sprint 2</a:t>
                      </a:r>
                      <a:endParaRPr lang="en-IN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0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Wk1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Wk2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Wk3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Wk4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Wk5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Wk6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289397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7A075630-609D-B557-F9C4-0F75B2B7450D}"/>
              </a:ext>
            </a:extLst>
          </p:cNvPr>
          <p:cNvSpPr txBox="1"/>
          <p:nvPr/>
        </p:nvSpPr>
        <p:spPr>
          <a:xfrm>
            <a:off x="2799508" y="4451860"/>
            <a:ext cx="1271396" cy="289674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Analysis</a:t>
            </a:r>
            <a:endParaRPr lang="en-IN" sz="1200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BF7800-40C5-0109-36A7-89655A7FE70A}"/>
              </a:ext>
            </a:extLst>
          </p:cNvPr>
          <p:cNvSpPr txBox="1"/>
          <p:nvPr/>
        </p:nvSpPr>
        <p:spPr>
          <a:xfrm>
            <a:off x="4467672" y="4736007"/>
            <a:ext cx="760820" cy="289674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pPr algn="ctr"/>
            <a:r>
              <a:rPr lang="en-US" sz="120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Design</a:t>
            </a:r>
            <a:endParaRPr lang="en-IN" sz="120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99506B-77EA-2A03-710F-56EB4BDA803F}"/>
              </a:ext>
            </a:extLst>
          </p:cNvPr>
          <p:cNvSpPr txBox="1"/>
          <p:nvPr/>
        </p:nvSpPr>
        <p:spPr>
          <a:xfrm>
            <a:off x="6063503" y="5041989"/>
            <a:ext cx="2718117" cy="289674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Development &amp; Testing</a:t>
            </a:r>
            <a:endParaRPr lang="en-IN" sz="1200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7AEE47-FDAC-0CE0-CE33-D2D7823579E8}"/>
              </a:ext>
            </a:extLst>
          </p:cNvPr>
          <p:cNvSpPr txBox="1"/>
          <p:nvPr/>
        </p:nvSpPr>
        <p:spPr>
          <a:xfrm>
            <a:off x="9817937" y="5192876"/>
            <a:ext cx="1310494" cy="534548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Deployment &amp; UAT</a:t>
            </a:r>
            <a:endParaRPr lang="en-IN" sz="1200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C78D312-BFB3-102F-3241-A28D023EB10A}"/>
              </a:ext>
            </a:extLst>
          </p:cNvPr>
          <p:cNvCxnSpPr>
            <a:cxnSpLocks/>
          </p:cNvCxnSpPr>
          <p:nvPr/>
        </p:nvCxnSpPr>
        <p:spPr>
          <a:xfrm>
            <a:off x="2762301" y="4759525"/>
            <a:ext cx="1399391" cy="0"/>
          </a:xfrm>
          <a:prstGeom prst="line">
            <a:avLst/>
          </a:prstGeom>
          <a:ln w="79375">
            <a:solidFill>
              <a:schemeClr val="accent5">
                <a:lumMod val="20000"/>
                <a:lumOff val="80000"/>
              </a:schemeClr>
            </a:solidFill>
            <a:tailEnd type="oval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1A4AA7-A20B-5FA2-A29E-DC57D73858ED}"/>
              </a:ext>
            </a:extLst>
          </p:cNvPr>
          <p:cNvCxnSpPr>
            <a:cxnSpLocks/>
          </p:cNvCxnSpPr>
          <p:nvPr/>
        </p:nvCxnSpPr>
        <p:spPr>
          <a:xfrm>
            <a:off x="4137592" y="5054512"/>
            <a:ext cx="1362354" cy="0"/>
          </a:xfrm>
          <a:prstGeom prst="line">
            <a:avLst/>
          </a:prstGeom>
          <a:ln w="793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7BF220-FA68-E49B-E403-770C0BBE2665}"/>
              </a:ext>
            </a:extLst>
          </p:cNvPr>
          <p:cNvCxnSpPr>
            <a:cxnSpLocks/>
          </p:cNvCxnSpPr>
          <p:nvPr/>
        </p:nvCxnSpPr>
        <p:spPr>
          <a:xfrm>
            <a:off x="5499946" y="5351841"/>
            <a:ext cx="4305050" cy="0"/>
          </a:xfrm>
          <a:prstGeom prst="line">
            <a:avLst/>
          </a:prstGeom>
          <a:ln w="79375">
            <a:solidFill>
              <a:srgbClr val="92D050"/>
            </a:solidFill>
            <a:tailEnd type="oval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CC00774-327C-2FE3-0D85-EA6663D3C046}"/>
              </a:ext>
            </a:extLst>
          </p:cNvPr>
          <p:cNvCxnSpPr>
            <a:cxnSpLocks/>
          </p:cNvCxnSpPr>
          <p:nvPr/>
        </p:nvCxnSpPr>
        <p:spPr>
          <a:xfrm>
            <a:off x="9804996" y="5769215"/>
            <a:ext cx="1287485" cy="0"/>
          </a:xfrm>
          <a:prstGeom prst="line">
            <a:avLst/>
          </a:prstGeom>
          <a:ln w="79375">
            <a:solidFill>
              <a:schemeClr val="bg2">
                <a:lumMod val="50000"/>
              </a:schemeClr>
            </a:solidFill>
            <a:tailEnd type="oval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0FA305E-82CF-3F1A-9928-D92598A3F186}"/>
              </a:ext>
            </a:extLst>
          </p:cNvPr>
          <p:cNvSpPr txBox="1"/>
          <p:nvPr/>
        </p:nvSpPr>
        <p:spPr>
          <a:xfrm>
            <a:off x="2727685" y="6093906"/>
            <a:ext cx="1708004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Activities</a:t>
            </a:r>
            <a:endParaRPr lang="en-IN" sz="1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1C6E13-975D-8734-66FF-95F62C473828}"/>
              </a:ext>
            </a:extLst>
          </p:cNvPr>
          <p:cNvSpPr txBox="1"/>
          <p:nvPr/>
        </p:nvSpPr>
        <p:spPr>
          <a:xfrm>
            <a:off x="4542205" y="5993395"/>
            <a:ext cx="1546790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Preparation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EDA and Model Analysis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EE19E7-A66E-99CD-EBFB-64A009512AC6}"/>
              </a:ext>
            </a:extLst>
          </p:cNvPr>
          <p:cNvSpPr txBox="1"/>
          <p:nvPr/>
        </p:nvSpPr>
        <p:spPr>
          <a:xfrm>
            <a:off x="9437193" y="5993395"/>
            <a:ext cx="1858993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Deployment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UAT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CF9D0A-482D-B232-4501-0FA792E06740}"/>
              </a:ext>
            </a:extLst>
          </p:cNvPr>
          <p:cNvSpPr txBox="1"/>
          <p:nvPr/>
        </p:nvSpPr>
        <p:spPr>
          <a:xfrm>
            <a:off x="6133561" y="5993395"/>
            <a:ext cx="3168000" cy="64800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numCol="2" rtlCol="0" anchor="t">
            <a:sp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Training and Evaluation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Selection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Fine-Tuning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Testing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Feedback Collection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Refinement</a:t>
            </a:r>
          </a:p>
        </p:txBody>
      </p:sp>
      <p:sp>
        <p:nvSpPr>
          <p:cNvPr id="58" name="Rounded Rectangle 33">
            <a:extLst>
              <a:ext uri="{FF2B5EF4-FFF2-40B4-BE49-F238E27FC236}">
                <a16:creationId xmlns:a16="http://schemas.microsoft.com/office/drawing/2014/main" id="{731DDC4E-941B-358C-969E-8E8422DF96BB}"/>
              </a:ext>
            </a:extLst>
          </p:cNvPr>
          <p:cNvSpPr/>
          <p:nvPr/>
        </p:nvSpPr>
        <p:spPr>
          <a:xfrm>
            <a:off x="463675" y="927225"/>
            <a:ext cx="2072278" cy="2126191"/>
          </a:xfrm>
          <a:prstGeom prst="roundRect">
            <a:avLst>
              <a:gd name="adj" fmla="val 9196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Design thinking and Agile based, incremental and adaptive development approach</a:t>
            </a:r>
          </a:p>
        </p:txBody>
      </p:sp>
      <p:sp>
        <p:nvSpPr>
          <p:cNvPr id="59" name="Rounded Rectangle 34">
            <a:extLst>
              <a:ext uri="{FF2B5EF4-FFF2-40B4-BE49-F238E27FC236}">
                <a16:creationId xmlns:a16="http://schemas.microsoft.com/office/drawing/2014/main" id="{A3DCA036-37A9-8D09-0F3C-6529BCA4B120}"/>
              </a:ext>
            </a:extLst>
          </p:cNvPr>
          <p:cNvSpPr/>
          <p:nvPr/>
        </p:nvSpPr>
        <p:spPr>
          <a:xfrm>
            <a:off x="404486" y="3271954"/>
            <a:ext cx="2072278" cy="2658821"/>
          </a:xfrm>
          <a:prstGeom prst="roundRect">
            <a:avLst>
              <a:gd name="adj" fmla="val 52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Agile delivery model with two weeks sprints</a:t>
            </a:r>
          </a:p>
          <a:p>
            <a:endParaRPr lang="en-US" sz="14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Daily stand-ups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Weekly show &amp; tells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 of sprint retrospective</a:t>
            </a:r>
          </a:p>
        </p:txBody>
      </p:sp>
      <p:sp>
        <p:nvSpPr>
          <p:cNvPr id="60" name="Freeform 322">
            <a:extLst>
              <a:ext uri="{FF2B5EF4-FFF2-40B4-BE49-F238E27FC236}">
                <a16:creationId xmlns:a16="http://schemas.microsoft.com/office/drawing/2014/main" id="{A2ACBC12-6D63-F5EF-F9FF-BED9432FB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890" y="3110917"/>
            <a:ext cx="1886123" cy="294614"/>
          </a:xfrm>
          <a:custGeom>
            <a:avLst/>
            <a:gdLst>
              <a:gd name="T0" fmla="*/ 3324 w 3857"/>
              <a:gd name="T1" fmla="*/ 0 h 713"/>
              <a:gd name="T2" fmla="*/ 3324 w 3857"/>
              <a:gd name="T3" fmla="*/ 0 h 713"/>
              <a:gd name="T4" fmla="*/ 0 w 3857"/>
              <a:gd name="T5" fmla="*/ 0 h 713"/>
              <a:gd name="T6" fmla="*/ 0 w 3857"/>
              <a:gd name="T7" fmla="*/ 712 h 713"/>
              <a:gd name="T8" fmla="*/ 3324 w 3857"/>
              <a:gd name="T9" fmla="*/ 712 h 713"/>
              <a:gd name="T10" fmla="*/ 3856 w 3857"/>
              <a:gd name="T11" fmla="*/ 356 h 713"/>
              <a:gd name="T12" fmla="*/ 3324 w 3857"/>
              <a:gd name="T13" fmla="*/ 0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57" h="713">
                <a:moveTo>
                  <a:pt x="3324" y="0"/>
                </a:moveTo>
                <a:lnTo>
                  <a:pt x="3324" y="0"/>
                </a:lnTo>
                <a:lnTo>
                  <a:pt x="0" y="0"/>
                </a:lnTo>
                <a:lnTo>
                  <a:pt x="0" y="712"/>
                </a:lnTo>
                <a:lnTo>
                  <a:pt x="3324" y="712"/>
                </a:lnTo>
                <a:lnTo>
                  <a:pt x="3856" y="356"/>
                </a:lnTo>
                <a:lnTo>
                  <a:pt x="3324" y="0"/>
                </a:lnTo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DM Sans" pitchFamily="2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FBFE14-23C6-A8DD-E91B-DAF76A3D073D}"/>
              </a:ext>
            </a:extLst>
          </p:cNvPr>
          <p:cNvSpPr txBox="1"/>
          <p:nvPr/>
        </p:nvSpPr>
        <p:spPr>
          <a:xfrm>
            <a:off x="2499203" y="3070968"/>
            <a:ext cx="1696358" cy="2927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000" b="1" spc="-15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Design Thinking Workshop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301F3E-2E91-0482-EF23-21F980262348}"/>
              </a:ext>
            </a:extLst>
          </p:cNvPr>
          <p:cNvSpPr txBox="1"/>
          <p:nvPr/>
        </p:nvSpPr>
        <p:spPr>
          <a:xfrm>
            <a:off x="9787550" y="3318690"/>
            <a:ext cx="15120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00B0F0"/>
              </a:buClr>
            </a:pPr>
            <a:r>
              <a:rPr lang="en-US" sz="1000" b="1" u="sng" dirty="0">
                <a:latin typeface="Lato"/>
                <a:ea typeface="Lato"/>
                <a:cs typeface="Lato"/>
              </a:rPr>
              <a:t>Continued throughout the engagement.</a:t>
            </a:r>
            <a:endParaRPr lang="en-GB" sz="1000" b="1" u="sng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3320FBB-4C4B-3C22-E8B4-D8B290400ED2}"/>
              </a:ext>
            </a:extLst>
          </p:cNvPr>
          <p:cNvGrpSpPr/>
          <p:nvPr/>
        </p:nvGrpSpPr>
        <p:grpSpPr>
          <a:xfrm>
            <a:off x="4282759" y="3331898"/>
            <a:ext cx="5467529" cy="373694"/>
            <a:chOff x="4126907" y="3410016"/>
            <a:chExt cx="5467529" cy="37369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552B322-0EB8-EE06-2F6E-D0582F1BD109}"/>
                </a:ext>
              </a:extLst>
            </p:cNvPr>
            <p:cNvSpPr/>
            <p:nvPr/>
          </p:nvSpPr>
          <p:spPr>
            <a:xfrm>
              <a:off x="5261017" y="3561528"/>
              <a:ext cx="4320000" cy="8436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DF1CDA6-380B-1E50-73C8-451CA8AEA0DA}"/>
                </a:ext>
              </a:extLst>
            </p:cNvPr>
            <p:cNvSpPr/>
            <p:nvPr/>
          </p:nvSpPr>
          <p:spPr>
            <a:xfrm>
              <a:off x="4126907" y="3423710"/>
              <a:ext cx="1512000" cy="36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Use cases identification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3AC3C6A-9BA2-3558-C3EC-80B5B8ABEC6E}"/>
                </a:ext>
              </a:extLst>
            </p:cNvPr>
            <p:cNvSpPr/>
            <p:nvPr/>
          </p:nvSpPr>
          <p:spPr>
            <a:xfrm>
              <a:off x="6104672" y="3423710"/>
              <a:ext cx="1512000" cy="36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Prioritization for implementation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7D622AB-C702-DFD8-BBE8-7A20A40204DB}"/>
                </a:ext>
              </a:extLst>
            </p:cNvPr>
            <p:cNvSpPr/>
            <p:nvPr/>
          </p:nvSpPr>
          <p:spPr>
            <a:xfrm>
              <a:off x="8082436" y="3410016"/>
              <a:ext cx="1512000" cy="36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Requirements elaboration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6721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3598-56B8-DB5E-051E-D2A52B5E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Innominds Edge AI capabilities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FAD6FB-A722-88B6-677D-D70925D6356C}"/>
              </a:ext>
            </a:extLst>
          </p:cNvPr>
          <p:cNvSpPr/>
          <p:nvPr/>
        </p:nvSpPr>
        <p:spPr>
          <a:xfrm>
            <a:off x="372134" y="2211573"/>
            <a:ext cx="2115504" cy="3264196"/>
          </a:xfrm>
          <a:prstGeom prst="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8207B-3796-7DC6-0D06-FD13E50F8F24}"/>
              </a:ext>
            </a:extLst>
          </p:cNvPr>
          <p:cNvSpPr txBox="1"/>
          <p:nvPr/>
        </p:nvSpPr>
        <p:spPr>
          <a:xfrm>
            <a:off x="746013" y="2881198"/>
            <a:ext cx="14686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Edge AI Platforms &amp; Devices</a:t>
            </a:r>
            <a:endParaRPr lang="en-US" sz="14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E2C7F-5C6E-71A2-A81F-2A6ADA60B4C3}"/>
              </a:ext>
            </a:extLst>
          </p:cNvPr>
          <p:cNvSpPr txBox="1"/>
          <p:nvPr/>
        </p:nvSpPr>
        <p:spPr>
          <a:xfrm>
            <a:off x="372134" y="3772344"/>
            <a:ext cx="19807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iDhi Edge AI platform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Qualcomm / NVIDIA Jetson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5G / Wi-Fi 6 connectivity</a:t>
            </a:r>
            <a:endParaRPr lang="en-US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2B19B9-2E79-23A5-0802-D8A7F3FC6335}"/>
              </a:ext>
            </a:extLst>
          </p:cNvPr>
          <p:cNvSpPr/>
          <p:nvPr/>
        </p:nvSpPr>
        <p:spPr>
          <a:xfrm>
            <a:off x="2652908" y="2211573"/>
            <a:ext cx="2115504" cy="3264196"/>
          </a:xfrm>
          <a:prstGeom prst="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0E08C-812F-11DA-4E01-DCC7A88A0F5A}"/>
              </a:ext>
            </a:extLst>
          </p:cNvPr>
          <p:cNvSpPr txBox="1"/>
          <p:nvPr/>
        </p:nvSpPr>
        <p:spPr>
          <a:xfrm>
            <a:off x="3026787" y="2988920"/>
            <a:ext cx="1468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On-Device Intelligence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DCCE5-1752-9E76-A6DC-D4C998AB2777}"/>
              </a:ext>
            </a:extLst>
          </p:cNvPr>
          <p:cNvSpPr txBox="1"/>
          <p:nvPr/>
        </p:nvSpPr>
        <p:spPr>
          <a:xfrm>
            <a:off x="2652908" y="3772344"/>
            <a:ext cx="198071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Pose &amp; activity recognition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Vision / video analytics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 fusion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0ECF9-9BEF-2966-FD1F-E9E17CC7F71B}"/>
              </a:ext>
            </a:extLst>
          </p:cNvPr>
          <p:cNvSpPr/>
          <p:nvPr/>
        </p:nvSpPr>
        <p:spPr>
          <a:xfrm>
            <a:off x="4933685" y="2211574"/>
            <a:ext cx="2115504" cy="3264196"/>
          </a:xfrm>
          <a:prstGeom prst="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87D85-7620-09DC-2639-EEF93930BFFB}"/>
              </a:ext>
            </a:extLst>
          </p:cNvPr>
          <p:cNvSpPr txBox="1"/>
          <p:nvPr/>
        </p:nvSpPr>
        <p:spPr>
          <a:xfrm>
            <a:off x="5307564" y="2988920"/>
            <a:ext cx="1468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Edge-to-Cloud Architecture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56324-8E09-A1B3-D789-B37B8F15FF43}"/>
              </a:ext>
            </a:extLst>
          </p:cNvPr>
          <p:cNvSpPr txBox="1"/>
          <p:nvPr/>
        </p:nvSpPr>
        <p:spPr>
          <a:xfrm>
            <a:off x="4933685" y="3772345"/>
            <a:ext cx="19807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Secure device onboarding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 &amp; APIs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Hybrid edge / cloud workflows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8FCB71-BC67-A470-AED8-63B03AE3C0C3}"/>
              </a:ext>
            </a:extLst>
          </p:cNvPr>
          <p:cNvSpPr/>
          <p:nvPr/>
        </p:nvSpPr>
        <p:spPr>
          <a:xfrm>
            <a:off x="7256990" y="2211574"/>
            <a:ext cx="2115504" cy="3264196"/>
          </a:xfrm>
          <a:prstGeom prst="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32B2DF-BC65-17AA-380B-DD7F9996F1AE}"/>
              </a:ext>
            </a:extLst>
          </p:cNvPr>
          <p:cNvSpPr txBox="1"/>
          <p:nvPr/>
        </p:nvSpPr>
        <p:spPr>
          <a:xfrm>
            <a:off x="7630869" y="2988920"/>
            <a:ext cx="1468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err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MLOps</a:t>
            </a:r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&amp; Model Lifecycle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70348-01A6-1BD0-9DD3-8373D0E86177}"/>
              </a:ext>
            </a:extLst>
          </p:cNvPr>
          <p:cNvSpPr txBox="1"/>
          <p:nvPr/>
        </p:nvSpPr>
        <p:spPr>
          <a:xfrm>
            <a:off x="7256990" y="3772345"/>
            <a:ext cx="198071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pipelines &amp; retraining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monitoring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OTA model updates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C2C3B-414A-856A-AFD4-31988032C81C}"/>
              </a:ext>
            </a:extLst>
          </p:cNvPr>
          <p:cNvSpPr/>
          <p:nvPr/>
        </p:nvSpPr>
        <p:spPr>
          <a:xfrm>
            <a:off x="9729152" y="2232839"/>
            <a:ext cx="2115504" cy="3264196"/>
          </a:xfrm>
          <a:prstGeom prst="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85DCE-8B7B-C0F0-5D8F-EC636680F4F4}"/>
              </a:ext>
            </a:extLst>
          </p:cNvPr>
          <p:cNvSpPr txBox="1"/>
          <p:nvPr/>
        </p:nvSpPr>
        <p:spPr>
          <a:xfrm>
            <a:off x="10103031" y="2988920"/>
            <a:ext cx="1468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Industry Use Cases</a:t>
            </a:r>
            <a:endParaRPr lang="en-US" sz="14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4C5607-16DF-4C3F-089B-24B2CF79D333}"/>
              </a:ext>
            </a:extLst>
          </p:cNvPr>
          <p:cNvSpPr txBox="1"/>
          <p:nvPr/>
        </p:nvSpPr>
        <p:spPr>
          <a:xfrm>
            <a:off x="9729152" y="3793610"/>
            <a:ext cx="19807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Smart fitness consoles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Industrial vision &amp; safety</a:t>
            </a:r>
          </a:p>
          <a:p>
            <a:pPr marL="171450" indent="-171450"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MedTech &amp; patient monitoring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DBD146-CA93-34D1-D631-1BA9AB933A20}"/>
              </a:ext>
            </a:extLst>
          </p:cNvPr>
          <p:cNvSpPr txBox="1"/>
          <p:nvPr/>
        </p:nvSpPr>
        <p:spPr>
          <a:xfrm>
            <a:off x="1362490" y="5906692"/>
            <a:ext cx="9718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chip to cloud to cognition – engineering edge AI solutions for real-time experiences</a:t>
            </a:r>
            <a:endParaRPr lang="en-US" sz="1400" dirty="0">
              <a:solidFill>
                <a:srgbClr val="00B0F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F946C8-6DD8-4EA4-0991-47E0D2CB1880}"/>
              </a:ext>
            </a:extLst>
          </p:cNvPr>
          <p:cNvSpPr txBox="1"/>
          <p:nvPr/>
        </p:nvSpPr>
        <p:spPr>
          <a:xfrm>
            <a:off x="2169137" y="818244"/>
            <a:ext cx="76153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B0F0"/>
              </a:buClr>
            </a:pP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Innominds delivers end‑to‑end Edge AI, combining on‑device intelligence, edge–cloud integration, and </a:t>
            </a:r>
            <a:r>
              <a:rPr lang="en-US" sz="140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MLOps</a:t>
            </a: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power secure, real‑time experiences across devices and industries.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3D0AF9A8-403A-A262-06D2-2D507E8D1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49470" y="1615873"/>
            <a:ext cx="1143000" cy="110254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C72691F-77C0-BC7A-F0B6-AB0F9C2E8C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7575" y="1614853"/>
            <a:ext cx="1143000" cy="110458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C012DC-5A9E-DEDF-144F-3659835AC4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31460" y="1623982"/>
            <a:ext cx="1143000" cy="108632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A244D97-F068-A752-E898-1FC9A167463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752639" y="1595643"/>
            <a:ext cx="1143000" cy="1143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56C12D0-98D9-089C-AB73-13AE6662C18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0246724" y="1621041"/>
            <a:ext cx="1143000" cy="111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50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6189-3740-5573-DBA6-B38719876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AI–Driven Personalized Fitness System Features</a:t>
            </a:r>
            <a:endParaRPr lang="en-IN" dirty="0"/>
          </a:p>
        </p:txBody>
      </p:sp>
      <p:sp>
        <p:nvSpPr>
          <p:cNvPr id="123" name="Round Same-side Corner of Rectangle 79">
            <a:extLst>
              <a:ext uri="{FF2B5EF4-FFF2-40B4-BE49-F238E27FC236}">
                <a16:creationId xmlns:a16="http://schemas.microsoft.com/office/drawing/2014/main" id="{785E88E5-2314-7458-36C5-F4E96716116C}"/>
              </a:ext>
            </a:extLst>
          </p:cNvPr>
          <p:cNvSpPr/>
          <p:nvPr/>
        </p:nvSpPr>
        <p:spPr>
          <a:xfrm rot="10800000">
            <a:off x="135132" y="3459318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 Same-side Corner of Rectangle 65">
            <a:extLst>
              <a:ext uri="{FF2B5EF4-FFF2-40B4-BE49-F238E27FC236}">
                <a16:creationId xmlns:a16="http://schemas.microsoft.com/office/drawing/2014/main" id="{DE4ADE87-7AA0-0156-737D-0C9B5F0F1662}"/>
              </a:ext>
            </a:extLst>
          </p:cNvPr>
          <p:cNvSpPr/>
          <p:nvPr/>
        </p:nvSpPr>
        <p:spPr>
          <a:xfrm>
            <a:off x="135134" y="1941536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DB460E-03DC-692F-6FAD-83184A5A0111}"/>
              </a:ext>
            </a:extLst>
          </p:cNvPr>
          <p:cNvSpPr txBox="1"/>
          <p:nvPr/>
        </p:nvSpPr>
        <p:spPr>
          <a:xfrm>
            <a:off x="189281" y="2762150"/>
            <a:ext cx="1521904" cy="276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Profile &amp; Goals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87B7E65-61A9-CCEF-7CCF-C98E6A42F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063" y="2142423"/>
            <a:ext cx="500991" cy="500991"/>
          </a:xfrm>
          <a:prstGeom prst="rect">
            <a:avLst/>
          </a:prstGeom>
        </p:spPr>
      </p:pic>
      <p:sp>
        <p:nvSpPr>
          <p:cNvPr id="127" name="Round Same-side Corner of Rectangle 79">
            <a:extLst>
              <a:ext uri="{FF2B5EF4-FFF2-40B4-BE49-F238E27FC236}">
                <a16:creationId xmlns:a16="http://schemas.microsoft.com/office/drawing/2014/main" id="{3AD5301D-BF81-631C-4535-D8F7C91B401D}"/>
              </a:ext>
            </a:extLst>
          </p:cNvPr>
          <p:cNvSpPr/>
          <p:nvPr/>
        </p:nvSpPr>
        <p:spPr>
          <a:xfrm rot="10800000">
            <a:off x="1864106" y="3486178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ound Same-side Corner of Rectangle 65">
            <a:extLst>
              <a:ext uri="{FF2B5EF4-FFF2-40B4-BE49-F238E27FC236}">
                <a16:creationId xmlns:a16="http://schemas.microsoft.com/office/drawing/2014/main" id="{315AC2D4-AE36-BAF8-767A-C6271E6B4E26}"/>
              </a:ext>
            </a:extLst>
          </p:cNvPr>
          <p:cNvSpPr/>
          <p:nvPr/>
        </p:nvSpPr>
        <p:spPr>
          <a:xfrm>
            <a:off x="1864108" y="1968396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5C36548-1908-2F17-5705-9819776323F2}"/>
              </a:ext>
            </a:extLst>
          </p:cNvPr>
          <p:cNvSpPr txBox="1"/>
          <p:nvPr/>
        </p:nvSpPr>
        <p:spPr>
          <a:xfrm>
            <a:off x="1892129" y="2789010"/>
            <a:ext cx="1521904" cy="276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Devices &amp; Sensors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2D4C790E-9FC5-3003-9F67-3D814B87E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410038" y="2142423"/>
            <a:ext cx="500991" cy="500991"/>
          </a:xfrm>
          <a:prstGeom prst="rect">
            <a:avLst/>
          </a:prstGeom>
        </p:spPr>
      </p:pic>
      <p:sp>
        <p:nvSpPr>
          <p:cNvPr id="134" name="Round Same-side Corner of Rectangle 79">
            <a:extLst>
              <a:ext uri="{FF2B5EF4-FFF2-40B4-BE49-F238E27FC236}">
                <a16:creationId xmlns:a16="http://schemas.microsoft.com/office/drawing/2014/main" id="{699D33C6-6BB8-8EAD-EDFB-DEA6CA55300C}"/>
              </a:ext>
            </a:extLst>
          </p:cNvPr>
          <p:cNvSpPr/>
          <p:nvPr/>
        </p:nvSpPr>
        <p:spPr>
          <a:xfrm rot="10800000">
            <a:off x="3577700" y="3486178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ound Same-side Corner of Rectangle 65">
            <a:extLst>
              <a:ext uri="{FF2B5EF4-FFF2-40B4-BE49-F238E27FC236}">
                <a16:creationId xmlns:a16="http://schemas.microsoft.com/office/drawing/2014/main" id="{E56E084F-7FDF-AF32-115F-FA58E2B36FAD}"/>
              </a:ext>
            </a:extLst>
          </p:cNvPr>
          <p:cNvSpPr/>
          <p:nvPr/>
        </p:nvSpPr>
        <p:spPr>
          <a:xfrm>
            <a:off x="3577702" y="1968396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D347F04-EA05-E7AB-BADB-B819091040EC}"/>
              </a:ext>
            </a:extLst>
          </p:cNvPr>
          <p:cNvSpPr txBox="1"/>
          <p:nvPr/>
        </p:nvSpPr>
        <p:spPr>
          <a:xfrm>
            <a:off x="3605723" y="2789010"/>
            <a:ext cx="1521904" cy="276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Edge AI Engine</a:t>
            </a: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9F7EDCFE-1E41-D4FB-7A39-B909CB1F5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123632" y="2142423"/>
            <a:ext cx="500991" cy="500991"/>
          </a:xfrm>
          <a:prstGeom prst="rect">
            <a:avLst/>
          </a:prstGeom>
        </p:spPr>
      </p:pic>
      <p:sp>
        <p:nvSpPr>
          <p:cNvPr id="141" name="Round Same-side Corner of Rectangle 79">
            <a:extLst>
              <a:ext uri="{FF2B5EF4-FFF2-40B4-BE49-F238E27FC236}">
                <a16:creationId xmlns:a16="http://schemas.microsoft.com/office/drawing/2014/main" id="{0880A227-817E-FF95-8567-7A788931343B}"/>
              </a:ext>
            </a:extLst>
          </p:cNvPr>
          <p:cNvSpPr/>
          <p:nvPr/>
        </p:nvSpPr>
        <p:spPr>
          <a:xfrm rot="10800000">
            <a:off x="5306675" y="3513038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ound Same-side Corner of Rectangle 65">
            <a:extLst>
              <a:ext uri="{FF2B5EF4-FFF2-40B4-BE49-F238E27FC236}">
                <a16:creationId xmlns:a16="http://schemas.microsoft.com/office/drawing/2014/main" id="{A08530C5-DDDE-8AEE-5A2C-F8514F4BF79A}"/>
              </a:ext>
            </a:extLst>
          </p:cNvPr>
          <p:cNvSpPr/>
          <p:nvPr/>
        </p:nvSpPr>
        <p:spPr>
          <a:xfrm>
            <a:off x="5306676" y="1995256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4CCD002-B330-13FA-6869-D0981ED371AF}"/>
              </a:ext>
            </a:extLst>
          </p:cNvPr>
          <p:cNvSpPr txBox="1"/>
          <p:nvPr/>
        </p:nvSpPr>
        <p:spPr>
          <a:xfrm>
            <a:off x="5334697" y="2815870"/>
            <a:ext cx="1521904" cy="4616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Personalization Service (Cloud)</a:t>
            </a:r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B534B6DB-F77F-645C-0BA1-6DBCB34D05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852606" y="2142423"/>
            <a:ext cx="500991" cy="500991"/>
          </a:xfrm>
          <a:prstGeom prst="rect">
            <a:avLst/>
          </a:prstGeom>
        </p:spPr>
      </p:pic>
      <p:sp>
        <p:nvSpPr>
          <p:cNvPr id="148" name="Round Same-side Corner of Rectangle 79">
            <a:extLst>
              <a:ext uri="{FF2B5EF4-FFF2-40B4-BE49-F238E27FC236}">
                <a16:creationId xmlns:a16="http://schemas.microsoft.com/office/drawing/2014/main" id="{ADD6A864-162A-87AA-0919-F55B9508965F}"/>
              </a:ext>
            </a:extLst>
          </p:cNvPr>
          <p:cNvSpPr/>
          <p:nvPr/>
        </p:nvSpPr>
        <p:spPr>
          <a:xfrm rot="10800000">
            <a:off x="7005336" y="3516467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ound Same-side Corner of Rectangle 65">
            <a:extLst>
              <a:ext uri="{FF2B5EF4-FFF2-40B4-BE49-F238E27FC236}">
                <a16:creationId xmlns:a16="http://schemas.microsoft.com/office/drawing/2014/main" id="{B30A649C-EB96-8362-AA7C-2BD424998EDE}"/>
              </a:ext>
            </a:extLst>
          </p:cNvPr>
          <p:cNvSpPr/>
          <p:nvPr/>
        </p:nvSpPr>
        <p:spPr>
          <a:xfrm>
            <a:off x="7005338" y="1998685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5E8F66F-33B9-BF43-6DE2-B584362E1A7A}"/>
              </a:ext>
            </a:extLst>
          </p:cNvPr>
          <p:cNvSpPr txBox="1"/>
          <p:nvPr/>
        </p:nvSpPr>
        <p:spPr>
          <a:xfrm>
            <a:off x="7033359" y="2819299"/>
            <a:ext cx="1521904" cy="4616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 Guidance UI</a:t>
            </a: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21387A88-099C-CFAC-A263-FF3CFB3B68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551268" y="2142423"/>
            <a:ext cx="500991" cy="500991"/>
          </a:xfrm>
          <a:prstGeom prst="rect">
            <a:avLst/>
          </a:prstGeom>
        </p:spPr>
      </p:pic>
      <p:sp>
        <p:nvSpPr>
          <p:cNvPr id="155" name="Round Same-side Corner of Rectangle 79">
            <a:extLst>
              <a:ext uri="{FF2B5EF4-FFF2-40B4-BE49-F238E27FC236}">
                <a16:creationId xmlns:a16="http://schemas.microsoft.com/office/drawing/2014/main" id="{C4FA4B43-2C88-AAA5-949F-01AC557BA6FC}"/>
              </a:ext>
            </a:extLst>
          </p:cNvPr>
          <p:cNvSpPr/>
          <p:nvPr/>
        </p:nvSpPr>
        <p:spPr>
          <a:xfrm rot="10800000">
            <a:off x="8718930" y="3516467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ound Same-side Corner of Rectangle 65">
            <a:extLst>
              <a:ext uri="{FF2B5EF4-FFF2-40B4-BE49-F238E27FC236}">
                <a16:creationId xmlns:a16="http://schemas.microsoft.com/office/drawing/2014/main" id="{6F58742C-D70C-49C4-2759-11C35D7F37F3}"/>
              </a:ext>
            </a:extLst>
          </p:cNvPr>
          <p:cNvSpPr/>
          <p:nvPr/>
        </p:nvSpPr>
        <p:spPr>
          <a:xfrm>
            <a:off x="8718932" y="1998685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78A6B34-F885-F5FD-37A0-83AEA492A33F}"/>
              </a:ext>
            </a:extLst>
          </p:cNvPr>
          <p:cNvSpPr txBox="1"/>
          <p:nvPr/>
        </p:nvSpPr>
        <p:spPr>
          <a:xfrm>
            <a:off x="8746952" y="2819299"/>
            <a:ext cx="1521904" cy="4616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Analytics &amp; History Store</a:t>
            </a: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665247AB-99A2-2BB8-FCC9-4B0BCC06EC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264861" y="2142423"/>
            <a:ext cx="500991" cy="500991"/>
          </a:xfrm>
          <a:prstGeom prst="rect">
            <a:avLst/>
          </a:prstGeom>
        </p:spPr>
      </p:pic>
      <p:sp>
        <p:nvSpPr>
          <p:cNvPr id="162" name="Round Same-side Corner of Rectangle 79">
            <a:extLst>
              <a:ext uri="{FF2B5EF4-FFF2-40B4-BE49-F238E27FC236}">
                <a16:creationId xmlns:a16="http://schemas.microsoft.com/office/drawing/2014/main" id="{B769307A-8D4B-14AE-E413-D4AF04CEC66F}"/>
              </a:ext>
            </a:extLst>
          </p:cNvPr>
          <p:cNvSpPr/>
          <p:nvPr/>
        </p:nvSpPr>
        <p:spPr>
          <a:xfrm rot="10800000">
            <a:off x="10447904" y="3543327"/>
            <a:ext cx="1633602" cy="2419131"/>
          </a:xfrm>
          <a:prstGeom prst="round2SameRect">
            <a:avLst>
              <a:gd name="adj1" fmla="val 9554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ound Same-side Corner of Rectangle 65">
            <a:extLst>
              <a:ext uri="{FF2B5EF4-FFF2-40B4-BE49-F238E27FC236}">
                <a16:creationId xmlns:a16="http://schemas.microsoft.com/office/drawing/2014/main" id="{2487DAC3-C866-304F-74EE-3AE2E71A2567}"/>
              </a:ext>
            </a:extLst>
          </p:cNvPr>
          <p:cNvSpPr/>
          <p:nvPr/>
        </p:nvSpPr>
        <p:spPr>
          <a:xfrm>
            <a:off x="10447906" y="2025545"/>
            <a:ext cx="1633602" cy="1490922"/>
          </a:xfrm>
          <a:prstGeom prst="round2Same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E5611B8-F6F2-864F-5521-BF42A2A2A8F0}"/>
              </a:ext>
            </a:extLst>
          </p:cNvPr>
          <p:cNvSpPr txBox="1"/>
          <p:nvPr/>
        </p:nvSpPr>
        <p:spPr>
          <a:xfrm>
            <a:off x="10475927" y="2846159"/>
            <a:ext cx="1521904" cy="4616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Continuous Learning Loop</a:t>
            </a: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E915F303-8708-027C-FB1F-0FCE255D79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993836" y="2142423"/>
            <a:ext cx="500991" cy="500991"/>
          </a:xfrm>
          <a:prstGeom prst="rect">
            <a:avLst/>
          </a:prstGeom>
        </p:spPr>
      </p:pic>
      <p:sp>
        <p:nvSpPr>
          <p:cNvPr id="81" name="Freeform 45">
            <a:extLst>
              <a:ext uri="{FF2B5EF4-FFF2-40B4-BE49-F238E27FC236}">
                <a16:creationId xmlns:a16="http://schemas.microsoft.com/office/drawing/2014/main" id="{D0EA1C34-6C56-6493-1122-73EA2F6D047B}"/>
              </a:ext>
            </a:extLst>
          </p:cNvPr>
          <p:cNvSpPr/>
          <p:nvPr/>
        </p:nvSpPr>
        <p:spPr>
          <a:xfrm>
            <a:off x="131870" y="3478535"/>
            <a:ext cx="11949638" cy="347672"/>
          </a:xfrm>
          <a:custGeom>
            <a:avLst/>
            <a:gdLst>
              <a:gd name="connsiteX0" fmla="*/ 0 w 2476500"/>
              <a:gd name="connsiteY0" fmla="*/ 0 h 990600"/>
              <a:gd name="connsiteX1" fmla="*/ 2476500 w 2476500"/>
              <a:gd name="connsiteY1" fmla="*/ 0 h 990600"/>
              <a:gd name="connsiteX2" fmla="*/ 2476500 w 2476500"/>
              <a:gd name="connsiteY2" fmla="*/ 990600 h 990600"/>
              <a:gd name="connsiteX3" fmla="*/ 0 w 2476500"/>
              <a:gd name="connsiteY3" fmla="*/ 990600 h 990600"/>
              <a:gd name="connsiteX4" fmla="*/ 0 w 2476500"/>
              <a:gd name="connsiteY4" fmla="*/ 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0" h="990600">
                <a:moveTo>
                  <a:pt x="0" y="0"/>
                </a:moveTo>
                <a:lnTo>
                  <a:pt x="2476500" y="0"/>
                </a:lnTo>
                <a:lnTo>
                  <a:pt x="24765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10000"/>
              <a:lumOff val="90000"/>
              <a:alpha val="65959"/>
            </a:schemeClr>
          </a:solidFill>
          <a:ln>
            <a:noFill/>
          </a:ln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2928" tIns="178816" rIns="312928" bIns="178816" numCol="1" spcCol="1270" anchor="ctr" anchorCtr="0">
            <a:noAutofit/>
          </a:bodyPr>
          <a:lstStyle/>
          <a:p>
            <a:pPr marL="0" marR="0" lvl="0" indent="0" algn="ctr" defTabSz="195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146099C-E10F-22FF-7816-A3DC62560929}"/>
              </a:ext>
            </a:extLst>
          </p:cNvPr>
          <p:cNvSpPr txBox="1"/>
          <p:nvPr/>
        </p:nvSpPr>
        <p:spPr>
          <a:xfrm>
            <a:off x="170905" y="3989819"/>
            <a:ext cx="1609236" cy="10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Fitness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 goals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Age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Workout history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F6D6CEB-3E9C-D589-F31F-07CB97677B03}"/>
              </a:ext>
            </a:extLst>
          </p:cNvPr>
          <p:cNvSpPr txBox="1"/>
          <p:nvPr/>
        </p:nvSpPr>
        <p:spPr>
          <a:xfrm>
            <a:off x="1884788" y="3989819"/>
            <a:ext cx="1587585" cy="1394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Motion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Heart rate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Cadence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Camera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E74C2D8-6500-21AF-885A-DDF192523CB4}"/>
              </a:ext>
            </a:extLst>
          </p:cNvPr>
          <p:cNvSpPr txBox="1"/>
          <p:nvPr/>
        </p:nvSpPr>
        <p:spPr>
          <a:xfrm>
            <a:off x="3605723" y="3989819"/>
            <a:ext cx="1580244" cy="159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Activity recognition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Pose </a:t>
            </a: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estimation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Workout pattern analysis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DCF4287-6134-9DF9-3088-14506FCEC2F0}"/>
              </a:ext>
            </a:extLst>
          </p:cNvPr>
          <p:cNvSpPr txBox="1"/>
          <p:nvPr/>
        </p:nvSpPr>
        <p:spPr>
          <a:xfrm>
            <a:off x="5306672" y="3989819"/>
            <a:ext cx="1595623" cy="18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Training plan generator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Exercise recommender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Adaptive difficulty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BCADD8D-1BB3-7B61-C766-DC4D2DD216CC}"/>
              </a:ext>
            </a:extLst>
          </p:cNvPr>
          <p:cNvSpPr txBox="1"/>
          <p:nvPr/>
        </p:nvSpPr>
        <p:spPr>
          <a:xfrm>
            <a:off x="7029223" y="3989819"/>
            <a:ext cx="1609715" cy="10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Instructions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Form feedback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Rep counting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7AAAB43-E173-FE3A-862F-64738A7227BA}"/>
              </a:ext>
            </a:extLst>
          </p:cNvPr>
          <p:cNvSpPr txBox="1"/>
          <p:nvPr/>
        </p:nvSpPr>
        <p:spPr>
          <a:xfrm>
            <a:off x="8720246" y="3989819"/>
            <a:ext cx="1607649" cy="10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History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Calories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Progress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89BDB6D-2F27-2580-A4E7-365AC973B330}"/>
              </a:ext>
            </a:extLst>
          </p:cNvPr>
          <p:cNvSpPr txBox="1"/>
          <p:nvPr/>
        </p:nvSpPr>
        <p:spPr>
          <a:xfrm>
            <a:off x="10465792" y="3989819"/>
            <a:ext cx="1591077" cy="686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sz="1200" dirty="0">
                <a:latin typeface="Lato"/>
                <a:ea typeface="Lato"/>
                <a:cs typeface="Lato"/>
                <a:sym typeface="Fira Sans"/>
              </a:rPr>
              <a:t>Model updates</a:t>
            </a:r>
          </a:p>
          <a:p>
            <a:pPr marL="182563" marR="0" lvl="0" indent="-18256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/>
                <a:ea typeface="Lato"/>
                <a:cs typeface="Lato"/>
                <a:sym typeface="Fira Sans"/>
              </a:rPr>
              <a:t>Tuning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/>
              <a:ea typeface="Fira Sans"/>
              <a:cs typeface="Fira Sans"/>
              <a:sym typeface="Fira Sans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E68A367-7A50-56D0-EBAB-1D655C916606}"/>
              </a:ext>
            </a:extLst>
          </p:cNvPr>
          <p:cNvSpPr txBox="1"/>
          <p:nvPr/>
        </p:nvSpPr>
        <p:spPr>
          <a:xfrm>
            <a:off x="868681" y="847409"/>
            <a:ext cx="1049274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architecture shows how edge AI and cloud services work together to deliver a fully personalized fitness experience, from user profiles and sensor data to adaptive training plans.</a:t>
            </a:r>
          </a:p>
          <a:p>
            <a:pPr marL="285750" indent="-285750">
              <a:spcAft>
                <a:spcPts val="600"/>
              </a:spcAft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enables real-time on-device guidance while continuously learning from workout history and performance analytics to refine recommendations over time.</a:t>
            </a: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1" name="Rectangle 2">
            <a:extLst>
              <a:ext uri="{FF2B5EF4-FFF2-40B4-BE49-F238E27FC236}">
                <a16:creationId xmlns:a16="http://schemas.microsoft.com/office/drawing/2014/main" id="{5BD98810-F3BA-22D9-B670-42F76ECA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29" y="6222894"/>
            <a:ext cx="1132874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Enabling Precor to deliver real‑time, edge‑powered workout personalization that keeps every user on the optimal path to their fitness goals.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551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94C459A-2A8C-485B-9125-2A01FD22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IN" dirty="0"/>
              <a:t>Innominds Cloud services</a:t>
            </a: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27187F65-A210-AB5D-6C10-655C8D26BDA5}"/>
              </a:ext>
            </a:extLst>
          </p:cNvPr>
          <p:cNvSpPr/>
          <p:nvPr/>
        </p:nvSpPr>
        <p:spPr>
          <a:xfrm>
            <a:off x="3450036" y="728788"/>
            <a:ext cx="8576312" cy="4985550"/>
          </a:xfrm>
          <a:prstGeom prst="roundRect">
            <a:avLst>
              <a:gd name="adj" fmla="val 763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BF7DCD-8EF9-A056-90D7-45478AB11621}"/>
              </a:ext>
            </a:extLst>
          </p:cNvPr>
          <p:cNvSpPr/>
          <p:nvPr/>
        </p:nvSpPr>
        <p:spPr>
          <a:xfrm>
            <a:off x="6043405" y="1062842"/>
            <a:ext cx="2694814" cy="2194560"/>
          </a:xfrm>
          <a:prstGeom prst="roundRect">
            <a:avLst>
              <a:gd name="adj" fmla="val 7639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30C429D2-1A89-DB68-EA52-C0934C23DC4A}"/>
              </a:ext>
            </a:extLst>
          </p:cNvPr>
          <p:cNvSpPr/>
          <p:nvPr/>
        </p:nvSpPr>
        <p:spPr>
          <a:xfrm>
            <a:off x="6058668" y="3490081"/>
            <a:ext cx="2694814" cy="1976966"/>
          </a:xfrm>
          <a:prstGeom prst="roundRect">
            <a:avLst>
              <a:gd name="adj" fmla="val 7639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14B06F32-B099-7616-4062-805B8AAFED41}"/>
              </a:ext>
            </a:extLst>
          </p:cNvPr>
          <p:cNvSpPr/>
          <p:nvPr/>
        </p:nvSpPr>
        <p:spPr>
          <a:xfrm>
            <a:off x="224589" y="728788"/>
            <a:ext cx="3048000" cy="4969508"/>
          </a:xfrm>
          <a:prstGeom prst="roundRect">
            <a:avLst>
              <a:gd name="adj" fmla="val 763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8DC64EB1-E589-2071-1CC0-492FE1F78418}"/>
              </a:ext>
            </a:extLst>
          </p:cNvPr>
          <p:cNvSpPr/>
          <p:nvPr/>
        </p:nvSpPr>
        <p:spPr>
          <a:xfrm>
            <a:off x="8946686" y="1023646"/>
            <a:ext cx="2694814" cy="2194560"/>
          </a:xfrm>
          <a:prstGeom prst="roundRect">
            <a:avLst>
              <a:gd name="adj" fmla="val 7639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FCD0D-5694-133C-0A4A-DF8660CB56B1}"/>
              </a:ext>
            </a:extLst>
          </p:cNvPr>
          <p:cNvSpPr txBox="1"/>
          <p:nvPr/>
        </p:nvSpPr>
        <p:spPr>
          <a:xfrm>
            <a:off x="9097121" y="1856558"/>
            <a:ext cx="2520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SecOps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44C25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</a:b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E44C25"/>
              </a:solidFill>
              <a:effectLst/>
              <a:uLnTx/>
              <a:uFillTx/>
              <a:latin typeface="Lato" panose="020F0502020204030203" pitchFamily="34" charset="77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Implement robust Continuous Integration &amp; Continuous Deployment pipelines.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C10E8-F76B-08E0-8C83-88FC64E1E01F}"/>
              </a:ext>
            </a:extLst>
          </p:cNvPr>
          <p:cNvSpPr txBox="1"/>
          <p:nvPr/>
        </p:nvSpPr>
        <p:spPr>
          <a:xfrm>
            <a:off x="6104788" y="1772451"/>
            <a:ext cx="268628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DevOps &amp; Automation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44C25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</a:b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E44C25"/>
              </a:solidFill>
              <a:effectLst/>
              <a:uLnTx/>
              <a:uFillTx/>
              <a:latin typeface="Lato" panose="020F0502020204030203" pitchFamily="34" charset="77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Ecosystem expertise: GitHub, GitLab,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ArgoCD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, etc. </a:t>
            </a:r>
            <a:r>
              <a: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77"/>
                <a:cs typeface="Poppins" panose="00000500000000000000" pitchFamily="2" charset="0"/>
              </a:rPr>
              <a:t>Define, provision, and manage infrastructure with Terraform, </a:t>
            </a:r>
            <a:r>
              <a:rPr lang="en-US" sz="1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77"/>
                <a:cs typeface="Poppins" panose="00000500000000000000" pitchFamily="2" charset="0"/>
              </a:rPr>
              <a:t>Pulumi</a:t>
            </a:r>
            <a:r>
              <a: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" panose="020F0502020204030203" pitchFamily="34" charset="77"/>
                <a:cs typeface="Poppins" panose="00000500000000000000" pitchFamily="2" charset="0"/>
              </a:rPr>
              <a:t> etc.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05733-FF08-F40C-2D92-E0E0DEFA2A42}"/>
              </a:ext>
            </a:extLst>
          </p:cNvPr>
          <p:cNvSpPr txBox="1"/>
          <p:nvPr/>
        </p:nvSpPr>
        <p:spPr>
          <a:xfrm>
            <a:off x="6194484" y="4229507"/>
            <a:ext cx="2520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FinOps &amp; cloud cost optimization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Cost visibility, chargeback models, Intelligent rightsizing, policy enforcement for cost controls</a:t>
            </a:r>
          </a:p>
        </p:txBody>
      </p:sp>
      <p:pic>
        <p:nvPicPr>
          <p:cNvPr id="12" name="Graphic 21">
            <a:extLst>
              <a:ext uri="{FF2B5EF4-FFF2-40B4-BE49-F238E27FC236}">
                <a16:creationId xmlns:a16="http://schemas.microsoft.com/office/drawing/2014/main" id="{DE0AEC68-E445-C803-C429-D82DD07E69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206657" y="1281334"/>
            <a:ext cx="639649" cy="36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481C908-5C45-A4D2-856D-1AA67824D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206" y="1314069"/>
            <a:ext cx="360688" cy="35861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63187C8-4C97-59DB-708B-D651BDE604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1920" y="3761334"/>
            <a:ext cx="318561" cy="318561"/>
          </a:xfrm>
          <a:prstGeom prst="rect">
            <a:avLst/>
          </a:prstGeom>
        </p:spPr>
      </p:pic>
      <p:sp>
        <p:nvSpPr>
          <p:cNvPr id="15" name="Rounded Rectangle 25">
            <a:extLst>
              <a:ext uri="{FF2B5EF4-FFF2-40B4-BE49-F238E27FC236}">
                <a16:creationId xmlns:a16="http://schemas.microsoft.com/office/drawing/2014/main" id="{662C4E63-8DBD-B96B-F326-293A60BE9DC2}"/>
              </a:ext>
            </a:extLst>
          </p:cNvPr>
          <p:cNvSpPr/>
          <p:nvPr/>
        </p:nvSpPr>
        <p:spPr>
          <a:xfrm>
            <a:off x="8878505" y="3490081"/>
            <a:ext cx="2694814" cy="1976966"/>
          </a:xfrm>
          <a:prstGeom prst="roundRect">
            <a:avLst>
              <a:gd name="adj" fmla="val 7639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8F2B4-A790-BABD-FFAC-20BBCC5543C6}"/>
              </a:ext>
            </a:extLst>
          </p:cNvPr>
          <p:cNvSpPr txBox="1"/>
          <p:nvPr/>
        </p:nvSpPr>
        <p:spPr>
          <a:xfrm>
            <a:off x="9028940" y="4229507"/>
            <a:ext cx="2520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CloudOps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 – SRE &amp; Observability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Implement SRE principles for reliability, scalability, and high availability.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A7DD97B-6B7E-0C81-F6F2-B5E67BB376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9703" y="3746175"/>
            <a:ext cx="363189" cy="3631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D58D17-530B-0812-85C5-0B84998C0BFC}"/>
              </a:ext>
            </a:extLst>
          </p:cNvPr>
          <p:cNvSpPr txBox="1"/>
          <p:nvPr/>
        </p:nvSpPr>
        <p:spPr>
          <a:xfrm>
            <a:off x="3675871" y="1898584"/>
            <a:ext cx="1826571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Cloud Managed services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44C25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</a:b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E44C25"/>
              </a:solidFill>
              <a:effectLst/>
              <a:uLnTx/>
              <a:uFillTx/>
              <a:latin typeface="Lato" panose="020F0502020204030203" pitchFamily="34" charset="77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End-to-end cloud operations with AI-driven automation &amp; proactive incident management.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CE9012B-4031-ED78-5E01-716E6CEE94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97448" y="1304549"/>
            <a:ext cx="399508" cy="397623"/>
          </a:xfrm>
          <a:prstGeom prst="rect">
            <a:avLst/>
          </a:prstGeom>
        </p:spPr>
      </p:pic>
      <p:sp>
        <p:nvSpPr>
          <p:cNvPr id="20" name="Rounded Rectangle 29">
            <a:extLst>
              <a:ext uri="{FF2B5EF4-FFF2-40B4-BE49-F238E27FC236}">
                <a16:creationId xmlns:a16="http://schemas.microsoft.com/office/drawing/2014/main" id="{ADD17B66-4C89-D5E7-EC2D-532AA2B07BC6}"/>
              </a:ext>
            </a:extLst>
          </p:cNvPr>
          <p:cNvSpPr/>
          <p:nvPr/>
        </p:nvSpPr>
        <p:spPr>
          <a:xfrm>
            <a:off x="362009" y="1322351"/>
            <a:ext cx="2694814" cy="1976966"/>
          </a:xfrm>
          <a:prstGeom prst="roundRect">
            <a:avLst>
              <a:gd name="adj" fmla="val 7639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7A85AE-315F-D2BA-D82E-8ECC797C2A35}"/>
              </a:ext>
            </a:extLst>
          </p:cNvPr>
          <p:cNvSpPr txBox="1"/>
          <p:nvPr/>
        </p:nvSpPr>
        <p:spPr>
          <a:xfrm>
            <a:off x="513416" y="1994834"/>
            <a:ext cx="2520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Cloud-native application development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Build &amp; deploy scalable, resilient, and secure cloud-native applications.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A23FA30-66D5-5EC0-1457-B8F290151A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930" y="1400821"/>
            <a:ext cx="397578" cy="397578"/>
          </a:xfrm>
          <a:prstGeom prst="rect">
            <a:avLst/>
          </a:prstGeom>
        </p:spPr>
      </p:pic>
      <p:sp>
        <p:nvSpPr>
          <p:cNvPr id="23" name="Rounded Rectangle 30">
            <a:extLst>
              <a:ext uri="{FF2B5EF4-FFF2-40B4-BE49-F238E27FC236}">
                <a16:creationId xmlns:a16="http://schemas.microsoft.com/office/drawing/2014/main" id="{C652E7A7-42B0-6FC6-B024-B63B8FE5468F}"/>
              </a:ext>
            </a:extLst>
          </p:cNvPr>
          <p:cNvSpPr/>
          <p:nvPr/>
        </p:nvSpPr>
        <p:spPr>
          <a:xfrm>
            <a:off x="370031" y="3512100"/>
            <a:ext cx="2694814" cy="1976966"/>
          </a:xfrm>
          <a:prstGeom prst="roundRect">
            <a:avLst>
              <a:gd name="adj" fmla="val 7639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E5031E-6042-204B-DDFA-E4BC3FBED96C}"/>
              </a:ext>
            </a:extLst>
          </p:cNvPr>
          <p:cNvSpPr txBox="1"/>
          <p:nvPr/>
        </p:nvSpPr>
        <p:spPr>
          <a:xfrm>
            <a:off x="464056" y="4234974"/>
            <a:ext cx="2520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Cloud migration &amp; modernization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Seamless migration strategies: Re-host, Re-platform, Refactor, Retire, Retain, or Replace.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5824723F-1306-6818-28F4-7C92DC061C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1686" y="3640939"/>
            <a:ext cx="397623" cy="39762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821BA1-4B00-ADFF-65A9-E4F08710F295}"/>
              </a:ext>
            </a:extLst>
          </p:cNvPr>
          <p:cNvSpPr txBox="1"/>
          <p:nvPr/>
        </p:nvSpPr>
        <p:spPr>
          <a:xfrm>
            <a:off x="347136" y="831784"/>
            <a:ext cx="2652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Poppins" panose="00000500000000000000" pitchFamily="2" charset="0"/>
              </a:rPr>
              <a:t>Cloud Transformation Services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77"/>
              <a:ea typeface="+mn-ea"/>
              <a:cs typeface="Poppins" panose="00000500000000000000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EF2BD6-C5B1-4461-8CF9-5A401EE7677F}"/>
              </a:ext>
            </a:extLst>
          </p:cNvPr>
          <p:cNvSpPr/>
          <p:nvPr/>
        </p:nvSpPr>
        <p:spPr>
          <a:xfrm>
            <a:off x="1833161" y="5881086"/>
            <a:ext cx="1970904" cy="33464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ADF0453-6858-F46E-F272-C02F16B8294E}"/>
              </a:ext>
            </a:extLst>
          </p:cNvPr>
          <p:cNvGrpSpPr/>
          <p:nvPr/>
        </p:nvGrpSpPr>
        <p:grpSpPr>
          <a:xfrm>
            <a:off x="571686" y="6293249"/>
            <a:ext cx="4493855" cy="296998"/>
            <a:chOff x="571686" y="6314213"/>
            <a:chExt cx="4493855" cy="296998"/>
          </a:xfrm>
        </p:grpSpPr>
        <p:pic>
          <p:nvPicPr>
            <p:cNvPr id="29" name="Picture 2" descr="Trimble Logo, symbol, meaning, history ...">
              <a:extLst>
                <a:ext uri="{FF2B5EF4-FFF2-40B4-BE49-F238E27FC236}">
                  <a16:creationId xmlns:a16="http://schemas.microsoft.com/office/drawing/2014/main" id="{7943CE2E-631A-78FC-B74C-0CA403864E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6283" b="22260"/>
            <a:stretch/>
          </p:blipFill>
          <p:spPr bwMode="auto">
            <a:xfrm>
              <a:off x="2950883" y="6314213"/>
              <a:ext cx="1030684" cy="296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4" descr="Oshkosh Corporation Unveils Refreshed ...">
              <a:extLst>
                <a:ext uri="{FF2B5EF4-FFF2-40B4-BE49-F238E27FC236}">
                  <a16:creationId xmlns:a16="http://schemas.microsoft.com/office/drawing/2014/main" id="{BA1F41DD-E34E-5AD1-09F9-6591E0303C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0795" b="21233"/>
            <a:stretch/>
          </p:blipFill>
          <p:spPr bwMode="auto">
            <a:xfrm>
              <a:off x="571686" y="6314213"/>
              <a:ext cx="983507" cy="296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6" descr="Bullitt Group - Wikipedia">
              <a:extLst>
                <a:ext uri="{FF2B5EF4-FFF2-40B4-BE49-F238E27FC236}">
                  <a16:creationId xmlns:a16="http://schemas.microsoft.com/office/drawing/2014/main" id="{4A49D618-92AD-1716-32F2-5CF96797B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6397" y="6314213"/>
              <a:ext cx="1133282" cy="296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8" descr="Cradlepoint-logo-full-color - NEWCOM ...">
              <a:extLst>
                <a:ext uri="{FF2B5EF4-FFF2-40B4-BE49-F238E27FC236}">
                  <a16:creationId xmlns:a16="http://schemas.microsoft.com/office/drawing/2014/main" id="{CB1AF96C-9F0B-DE07-A53C-99F5468935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2771" y="6314213"/>
              <a:ext cx="952770" cy="296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2B5C57-2F9D-74A9-5360-4C7BBA9A18F4}"/>
              </a:ext>
            </a:extLst>
          </p:cNvPr>
          <p:cNvGrpSpPr/>
          <p:nvPr/>
        </p:nvGrpSpPr>
        <p:grpSpPr>
          <a:xfrm>
            <a:off x="7247863" y="6239743"/>
            <a:ext cx="3985138" cy="404011"/>
            <a:chOff x="7019936" y="6044487"/>
            <a:chExt cx="4553383" cy="528920"/>
          </a:xfrm>
        </p:grpSpPr>
        <p:pic>
          <p:nvPicPr>
            <p:cNvPr id="34" name="Picture 16" descr="download (2)-1">
              <a:extLst>
                <a:ext uri="{FF2B5EF4-FFF2-40B4-BE49-F238E27FC236}">
                  <a16:creationId xmlns:a16="http://schemas.microsoft.com/office/drawing/2014/main" id="{81751A3A-AFC6-C34D-CEFD-21B88B90B2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021478" y="6165327"/>
              <a:ext cx="480303" cy="287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9BEED99-110F-B3BC-6206-0BD2A62F2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438540" y="6173267"/>
              <a:ext cx="1134779" cy="271361"/>
            </a:xfrm>
            <a:prstGeom prst="rect">
              <a:avLst/>
            </a:prstGeom>
          </p:spPr>
        </p:pic>
        <p:pic>
          <p:nvPicPr>
            <p:cNvPr id="36" name="Picture 10" descr="GCP Google Cloud Platform | Design &amp; Optimisation by Pendulum IT">
              <a:extLst>
                <a:ext uri="{FF2B5EF4-FFF2-40B4-BE49-F238E27FC236}">
                  <a16:creationId xmlns:a16="http://schemas.microsoft.com/office/drawing/2014/main" id="{BA285893-4B2B-B6D6-2442-AD7E85AF02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6931" t="8261" r="8134" b="8212"/>
            <a:stretch/>
          </p:blipFill>
          <p:spPr bwMode="auto">
            <a:xfrm>
              <a:off x="7019936" y="6044487"/>
              <a:ext cx="571450" cy="528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2" descr="Microsoft Azure (Windows Azure) Logo ...">
              <a:extLst>
                <a:ext uri="{FF2B5EF4-FFF2-40B4-BE49-F238E27FC236}">
                  <a16:creationId xmlns:a16="http://schemas.microsoft.com/office/drawing/2014/main" id="{8908056F-5C69-88DE-5DC2-6093EBB09A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216" t="31873" r="9277" b="31547"/>
            <a:stretch/>
          </p:blipFill>
          <p:spPr bwMode="auto">
            <a:xfrm>
              <a:off x="7665277" y="6119790"/>
              <a:ext cx="1282311" cy="378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4">
              <a:extLst>
                <a:ext uri="{FF2B5EF4-FFF2-40B4-BE49-F238E27FC236}">
                  <a16:creationId xmlns:a16="http://schemas.microsoft.com/office/drawing/2014/main" id="{90357B52-C71B-7C31-401B-857C598E8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5671" y="6101522"/>
              <a:ext cx="788978" cy="414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E571A5D-9CF3-B06B-15E2-80D9A24463D7}"/>
              </a:ext>
            </a:extLst>
          </p:cNvPr>
          <p:cNvSpPr/>
          <p:nvPr/>
        </p:nvSpPr>
        <p:spPr>
          <a:xfrm>
            <a:off x="8254982" y="5831499"/>
            <a:ext cx="1970904" cy="33464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rPr>
              <a:t>Technology Partners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175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124736-A817-CBED-2966-296B9EA0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IN" dirty="0"/>
              <a:t>Data &amp; BI Offerings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D52FE-93CD-A8F1-3A35-7733B9493C9E}"/>
              </a:ext>
            </a:extLst>
          </p:cNvPr>
          <p:cNvSpPr/>
          <p:nvPr/>
        </p:nvSpPr>
        <p:spPr>
          <a:xfrm>
            <a:off x="0" y="721617"/>
            <a:ext cx="12192000" cy="1411983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2B2A7C-9D71-DFB6-4B9D-22CA086B1E69}"/>
              </a:ext>
            </a:extLst>
          </p:cNvPr>
          <p:cNvGrpSpPr/>
          <p:nvPr/>
        </p:nvGrpSpPr>
        <p:grpSpPr>
          <a:xfrm>
            <a:off x="346165" y="900893"/>
            <a:ext cx="11502501" cy="1019158"/>
            <a:chOff x="346165" y="900893"/>
            <a:chExt cx="11502501" cy="101915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FE4EC7-346D-F67B-7A6F-58920CA0B80D}"/>
                </a:ext>
              </a:extLst>
            </p:cNvPr>
            <p:cNvSpPr txBox="1"/>
            <p:nvPr/>
          </p:nvSpPr>
          <p:spPr>
            <a:xfrm>
              <a:off x="4259797" y="900893"/>
              <a:ext cx="172212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 Light" panose="020F0302020204030203" pitchFamily="34" charset="77"/>
                  <a:ea typeface="+mn-ea"/>
                  <a:cs typeface="+mn-cs"/>
                </a:rPr>
                <a:t>50+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Administrators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BAE174-1C70-18A6-C4CC-EF7886545945}"/>
                </a:ext>
              </a:extLst>
            </p:cNvPr>
            <p:cNvSpPr txBox="1"/>
            <p:nvPr/>
          </p:nvSpPr>
          <p:spPr>
            <a:xfrm>
              <a:off x="6210517" y="900893"/>
              <a:ext cx="1722120" cy="984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 Light" panose="020F0302020204030203" pitchFamily="34" charset="77"/>
                  <a:ea typeface="+mn-ea"/>
                  <a:cs typeface="+mn-cs"/>
                </a:rPr>
                <a:t>100+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Certified Associates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11D179-14D5-099E-27D9-17BC751E1CE9}"/>
                </a:ext>
              </a:extLst>
            </p:cNvPr>
            <p:cNvSpPr txBox="1"/>
            <p:nvPr/>
          </p:nvSpPr>
          <p:spPr>
            <a:xfrm>
              <a:off x="8161237" y="900893"/>
              <a:ext cx="1722120" cy="984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 Light" panose="020F0302020204030203" pitchFamily="34" charset="77"/>
                  <a:ea typeface="+mn-ea"/>
                  <a:cs typeface="+mn-cs"/>
                </a:rPr>
                <a:t>15+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Ongoing Engagements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E7F461-5CA4-E197-1C37-D1937A845A15}"/>
                </a:ext>
              </a:extLst>
            </p:cNvPr>
            <p:cNvSpPr txBox="1"/>
            <p:nvPr/>
          </p:nvSpPr>
          <p:spPr>
            <a:xfrm>
              <a:off x="346165" y="900893"/>
              <a:ext cx="1722120" cy="984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 Light" panose="020F0302020204030203" pitchFamily="34" charset="77"/>
                  <a:ea typeface="Lato" panose="020F0502020204030203" pitchFamily="34" charset="0"/>
                  <a:cs typeface="Lato" panose="020F0502020204030203" pitchFamily="34" charset="0"/>
                </a:rPr>
                <a:t>25+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Architects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Consultants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FF8BE9-662A-1FC5-F18E-B7FCDB97BA37}"/>
                </a:ext>
              </a:extLst>
            </p:cNvPr>
            <p:cNvSpPr txBox="1"/>
            <p:nvPr/>
          </p:nvSpPr>
          <p:spPr>
            <a:xfrm>
              <a:off x="2296885" y="900893"/>
              <a:ext cx="1722120" cy="984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 Light" panose="020F0302020204030203" pitchFamily="34" charset="77"/>
                  <a:ea typeface="+mn-ea"/>
                  <a:cs typeface="+mn-cs"/>
                </a:rPr>
                <a:t>300+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Developers &amp; Validators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70EB6F-2076-EA67-BAE7-BE78B351752F}"/>
                </a:ext>
              </a:extLst>
            </p:cNvPr>
            <p:cNvSpPr txBox="1"/>
            <p:nvPr/>
          </p:nvSpPr>
          <p:spPr>
            <a:xfrm>
              <a:off x="10126546" y="1058276"/>
              <a:ext cx="172212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Implementation Partner for Azure &amp; Tableau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B7DF8A-C7AA-D4B1-6439-6A25FA57CF8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935166"/>
              <a:ext cx="0" cy="984885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189FE25-8035-646F-6870-40FC10360118}"/>
                </a:ext>
              </a:extLst>
            </p:cNvPr>
            <p:cNvCxnSpPr>
              <a:cxnSpLocks/>
            </p:cNvCxnSpPr>
            <p:nvPr/>
          </p:nvCxnSpPr>
          <p:spPr>
            <a:xfrm>
              <a:off x="8046720" y="935166"/>
              <a:ext cx="0" cy="984885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3088689-F88C-58F8-6677-CFF411F52014}"/>
                </a:ext>
              </a:extLst>
            </p:cNvPr>
            <p:cNvCxnSpPr>
              <a:cxnSpLocks/>
            </p:cNvCxnSpPr>
            <p:nvPr/>
          </p:nvCxnSpPr>
          <p:spPr>
            <a:xfrm>
              <a:off x="4133088" y="935166"/>
              <a:ext cx="0" cy="984885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211F2C2-CDFB-E0CC-F9F0-7D722971A30D}"/>
                </a:ext>
              </a:extLst>
            </p:cNvPr>
            <p:cNvCxnSpPr>
              <a:cxnSpLocks/>
            </p:cNvCxnSpPr>
            <p:nvPr/>
          </p:nvCxnSpPr>
          <p:spPr>
            <a:xfrm>
              <a:off x="2182368" y="935166"/>
              <a:ext cx="0" cy="984885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E0AB80-E27F-FF30-928E-0C06773A7B5D}"/>
                </a:ext>
              </a:extLst>
            </p:cNvPr>
            <p:cNvCxnSpPr>
              <a:cxnSpLocks/>
            </p:cNvCxnSpPr>
            <p:nvPr/>
          </p:nvCxnSpPr>
          <p:spPr>
            <a:xfrm>
              <a:off x="10009632" y="935166"/>
              <a:ext cx="0" cy="984885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348B81-F0C8-E8C3-5861-BB0DB623675E}"/>
              </a:ext>
            </a:extLst>
          </p:cNvPr>
          <p:cNvGrpSpPr/>
          <p:nvPr/>
        </p:nvGrpSpPr>
        <p:grpSpPr>
          <a:xfrm>
            <a:off x="346165" y="2347149"/>
            <a:ext cx="2714028" cy="2395539"/>
            <a:chOff x="800474" y="1200551"/>
            <a:chExt cx="2714028" cy="2395539"/>
          </a:xfrm>
          <a:effectLst/>
        </p:grpSpPr>
        <p:sp>
          <p:nvSpPr>
            <p:cNvPr id="18" name="Rounded Rectangle 19">
              <a:extLst>
                <a:ext uri="{FF2B5EF4-FFF2-40B4-BE49-F238E27FC236}">
                  <a16:creationId xmlns:a16="http://schemas.microsoft.com/office/drawing/2014/main" id="{91D4D2D6-C4B9-A511-F81B-02EAED9FF78F}"/>
                </a:ext>
              </a:extLst>
            </p:cNvPr>
            <p:cNvSpPr/>
            <p:nvPr/>
          </p:nvSpPr>
          <p:spPr>
            <a:xfrm>
              <a:off x="800474" y="1200552"/>
              <a:ext cx="2714027" cy="2395538"/>
            </a:xfrm>
            <a:prstGeom prst="roundRect">
              <a:avLst>
                <a:gd name="adj" fmla="val 3979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Round Same-side Corner of Rectangle 20">
              <a:extLst>
                <a:ext uri="{FF2B5EF4-FFF2-40B4-BE49-F238E27FC236}">
                  <a16:creationId xmlns:a16="http://schemas.microsoft.com/office/drawing/2014/main" id="{AB267C29-4B3D-F8F5-BC4B-CB7D69669A52}"/>
                </a:ext>
              </a:extLst>
            </p:cNvPr>
            <p:cNvSpPr/>
            <p:nvPr/>
          </p:nvSpPr>
          <p:spPr>
            <a:xfrm>
              <a:off x="800474" y="1200551"/>
              <a:ext cx="2714028" cy="56064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Advisory Services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163EC3-4485-B6E5-3127-91CBC51803C9}"/>
                </a:ext>
              </a:extLst>
            </p:cNvPr>
            <p:cNvSpPr txBox="1"/>
            <p:nvPr/>
          </p:nvSpPr>
          <p:spPr>
            <a:xfrm>
              <a:off x="885135" y="1876439"/>
              <a:ext cx="253183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Current Landscape Evaluation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Modern Data Architecture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Analytics &amp; Migration Strategy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Platform Recommendation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PoC / MVP / Pilot Setup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158B26-FA8F-1C5B-F89F-22AD74DBD481}"/>
              </a:ext>
            </a:extLst>
          </p:cNvPr>
          <p:cNvGrpSpPr/>
          <p:nvPr/>
        </p:nvGrpSpPr>
        <p:grpSpPr>
          <a:xfrm>
            <a:off x="3272245" y="2347149"/>
            <a:ext cx="2714028" cy="2395539"/>
            <a:chOff x="800474" y="1200551"/>
            <a:chExt cx="2714028" cy="2395539"/>
          </a:xfrm>
          <a:effectLst/>
        </p:grpSpPr>
        <p:sp>
          <p:nvSpPr>
            <p:cNvPr id="22" name="Rounded Rectangle 24">
              <a:extLst>
                <a:ext uri="{FF2B5EF4-FFF2-40B4-BE49-F238E27FC236}">
                  <a16:creationId xmlns:a16="http://schemas.microsoft.com/office/drawing/2014/main" id="{C3E905B6-C563-01A4-BF1D-43205C956953}"/>
                </a:ext>
              </a:extLst>
            </p:cNvPr>
            <p:cNvSpPr/>
            <p:nvPr/>
          </p:nvSpPr>
          <p:spPr>
            <a:xfrm>
              <a:off x="800474" y="1200552"/>
              <a:ext cx="2714027" cy="2395538"/>
            </a:xfrm>
            <a:prstGeom prst="roundRect">
              <a:avLst>
                <a:gd name="adj" fmla="val 3979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3" name="Round Same-side Corner of Rectangle 25">
              <a:extLst>
                <a:ext uri="{FF2B5EF4-FFF2-40B4-BE49-F238E27FC236}">
                  <a16:creationId xmlns:a16="http://schemas.microsoft.com/office/drawing/2014/main" id="{09B9578B-1975-D221-D277-242B78E424EC}"/>
                </a:ext>
              </a:extLst>
            </p:cNvPr>
            <p:cNvSpPr/>
            <p:nvPr/>
          </p:nvSpPr>
          <p:spPr>
            <a:xfrm>
              <a:off x="800474" y="1200551"/>
              <a:ext cx="2714028" cy="56064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Data Foundation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FBE0708-A3F5-9B03-8F13-CC63DEF98C59}"/>
                </a:ext>
              </a:extLst>
            </p:cNvPr>
            <p:cNvSpPr txBox="1"/>
            <p:nvPr/>
          </p:nvSpPr>
          <p:spPr>
            <a:xfrm>
              <a:off x="885135" y="1876439"/>
              <a:ext cx="253183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Modern Data Platforms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Data Marts / Warehouse / Lakehouse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</a:endParaRP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Data Governance – Quality / Security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B53935D-B99A-DADE-846A-EB2A47C7BA33}"/>
              </a:ext>
            </a:extLst>
          </p:cNvPr>
          <p:cNvGrpSpPr/>
          <p:nvPr/>
        </p:nvGrpSpPr>
        <p:grpSpPr>
          <a:xfrm>
            <a:off x="6198324" y="2347149"/>
            <a:ext cx="2714028" cy="2395539"/>
            <a:chOff x="800474" y="1200551"/>
            <a:chExt cx="2714028" cy="2395539"/>
          </a:xfrm>
          <a:effectLst/>
        </p:grpSpPr>
        <p:sp>
          <p:nvSpPr>
            <p:cNvPr id="26" name="Rounded Rectangle 39">
              <a:extLst>
                <a:ext uri="{FF2B5EF4-FFF2-40B4-BE49-F238E27FC236}">
                  <a16:creationId xmlns:a16="http://schemas.microsoft.com/office/drawing/2014/main" id="{17FF1816-2C9B-2DFD-6045-D4CDF7E102BA}"/>
                </a:ext>
              </a:extLst>
            </p:cNvPr>
            <p:cNvSpPr/>
            <p:nvPr/>
          </p:nvSpPr>
          <p:spPr>
            <a:xfrm>
              <a:off x="800474" y="1200552"/>
              <a:ext cx="2714027" cy="2395538"/>
            </a:xfrm>
            <a:prstGeom prst="roundRect">
              <a:avLst>
                <a:gd name="adj" fmla="val 3979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" name="Round Same-side Corner of Rectangle 41">
              <a:extLst>
                <a:ext uri="{FF2B5EF4-FFF2-40B4-BE49-F238E27FC236}">
                  <a16:creationId xmlns:a16="http://schemas.microsoft.com/office/drawing/2014/main" id="{5A5D6EEC-A23E-F74A-D433-4DA5769A66E0}"/>
                </a:ext>
              </a:extLst>
            </p:cNvPr>
            <p:cNvSpPr/>
            <p:nvPr/>
          </p:nvSpPr>
          <p:spPr>
            <a:xfrm>
              <a:off x="800474" y="1200551"/>
              <a:ext cx="2714028" cy="56064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Enterprise Intelligence Services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5ED9B1-1460-E3D9-3711-77F9B011D324}"/>
                </a:ext>
              </a:extLst>
            </p:cNvPr>
            <p:cNvSpPr txBox="1"/>
            <p:nvPr/>
          </p:nvSpPr>
          <p:spPr>
            <a:xfrm>
              <a:off x="885135" y="1876439"/>
              <a:ext cx="2531830" cy="15850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057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Enterprise Reporting</a:t>
              </a:r>
            </a:p>
            <a:p>
              <a:pPr marL="2057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Self-Service Analytics</a:t>
              </a:r>
            </a:p>
            <a:p>
              <a:pPr marL="2057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Auto Data Discovery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App &amp; Automation</a:t>
              </a:r>
            </a:p>
            <a:p>
              <a:pPr marL="6629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Enterprise Portals</a:t>
              </a:r>
            </a:p>
            <a:p>
              <a:pPr marL="6629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Process Automation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AF01316-CE8F-C3F6-C47B-00E1DCD6345D}"/>
              </a:ext>
            </a:extLst>
          </p:cNvPr>
          <p:cNvGrpSpPr/>
          <p:nvPr/>
        </p:nvGrpSpPr>
        <p:grpSpPr>
          <a:xfrm>
            <a:off x="9124402" y="2347149"/>
            <a:ext cx="2714028" cy="2395539"/>
            <a:chOff x="800474" y="1200551"/>
            <a:chExt cx="2714028" cy="2395539"/>
          </a:xfrm>
          <a:effectLst/>
        </p:grpSpPr>
        <p:sp>
          <p:nvSpPr>
            <p:cNvPr id="30" name="Rounded Rectangle 47">
              <a:extLst>
                <a:ext uri="{FF2B5EF4-FFF2-40B4-BE49-F238E27FC236}">
                  <a16:creationId xmlns:a16="http://schemas.microsoft.com/office/drawing/2014/main" id="{75C6D973-8D48-4E4F-DECB-7782971BCAE2}"/>
                </a:ext>
              </a:extLst>
            </p:cNvPr>
            <p:cNvSpPr/>
            <p:nvPr/>
          </p:nvSpPr>
          <p:spPr>
            <a:xfrm>
              <a:off x="800474" y="1200552"/>
              <a:ext cx="2714027" cy="2395538"/>
            </a:xfrm>
            <a:prstGeom prst="roundRect">
              <a:avLst>
                <a:gd name="adj" fmla="val 3979"/>
              </a:avLst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" name="Round Same-side Corner of Rectangle 49">
              <a:extLst>
                <a:ext uri="{FF2B5EF4-FFF2-40B4-BE49-F238E27FC236}">
                  <a16:creationId xmlns:a16="http://schemas.microsoft.com/office/drawing/2014/main" id="{B85F1A5E-45FD-7593-CE2C-B553BE0175C4}"/>
                </a:ext>
              </a:extLst>
            </p:cNvPr>
            <p:cNvSpPr/>
            <p:nvPr/>
          </p:nvSpPr>
          <p:spPr>
            <a:xfrm>
              <a:off x="800474" y="1200551"/>
              <a:ext cx="2714028" cy="56064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Managed Data Platform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F5709D-4004-5170-71A6-805BB9A7C23A}"/>
                </a:ext>
              </a:extLst>
            </p:cNvPr>
            <p:cNvSpPr txBox="1"/>
            <p:nvPr/>
          </p:nvSpPr>
          <p:spPr>
            <a:xfrm>
              <a:off x="885135" y="1876439"/>
              <a:ext cx="2531830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Data Operations</a:t>
              </a:r>
            </a:p>
            <a:p>
              <a:pPr marL="6629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Data Observability</a:t>
              </a:r>
            </a:p>
            <a:p>
              <a:pPr marL="6629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Pipeline Processing Observability</a:t>
              </a:r>
            </a:p>
            <a:p>
              <a:pPr marL="205740" marR="0" lvl="0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Infra Operations</a:t>
              </a:r>
            </a:p>
            <a:p>
              <a:pPr marL="662940" marR="0" lvl="1" indent="-20574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Data Platform Observability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6C2638-CD86-B670-0EB6-2FC3B887ACB5}"/>
              </a:ext>
            </a:extLst>
          </p:cNvPr>
          <p:cNvGrpSpPr/>
          <p:nvPr/>
        </p:nvGrpSpPr>
        <p:grpSpPr>
          <a:xfrm>
            <a:off x="1562156" y="5072681"/>
            <a:ext cx="9067689" cy="1307805"/>
            <a:chOff x="1873213" y="4976037"/>
            <a:chExt cx="9067689" cy="1307805"/>
          </a:xfrm>
        </p:grpSpPr>
        <p:sp>
          <p:nvSpPr>
            <p:cNvPr id="34" name="Rounded Rectangle 87">
              <a:extLst>
                <a:ext uri="{FF2B5EF4-FFF2-40B4-BE49-F238E27FC236}">
                  <a16:creationId xmlns:a16="http://schemas.microsoft.com/office/drawing/2014/main" id="{A6D91669-B6D9-293F-D636-5F9EBCA7B7F6}"/>
                </a:ext>
              </a:extLst>
            </p:cNvPr>
            <p:cNvSpPr/>
            <p:nvPr/>
          </p:nvSpPr>
          <p:spPr>
            <a:xfrm>
              <a:off x="1873213" y="4976037"/>
              <a:ext cx="9067689" cy="13078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7C345B-5CC1-CB42-0224-30091D1E7CCD}"/>
                </a:ext>
              </a:extLst>
            </p:cNvPr>
            <p:cNvSpPr txBox="1"/>
            <p:nvPr/>
          </p:nvSpPr>
          <p:spPr>
            <a:xfrm>
              <a:off x="2290504" y="5318966"/>
              <a:ext cx="137732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Customer References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D0C08D9-F5DD-43B5-C63B-EFCC7393B422}"/>
                </a:ext>
              </a:extLst>
            </p:cNvPr>
            <p:cNvGrpSpPr/>
            <p:nvPr/>
          </p:nvGrpSpPr>
          <p:grpSpPr>
            <a:xfrm>
              <a:off x="4381933" y="5165911"/>
              <a:ext cx="5942849" cy="970589"/>
              <a:chOff x="4179911" y="5162786"/>
              <a:chExt cx="5942849" cy="970589"/>
            </a:xfrm>
          </p:grpSpPr>
          <p:pic>
            <p:nvPicPr>
              <p:cNvPr id="38" name="Picture 2" descr="MetLife Has a New Brand Identity After More Than 30 Years, and Snoopy ...">
                <a:extLst>
                  <a:ext uri="{FF2B5EF4-FFF2-40B4-BE49-F238E27FC236}">
                    <a16:creationId xmlns:a16="http://schemas.microsoft.com/office/drawing/2014/main" id="{EFDC7C36-AC51-2D92-C24F-2424E88BA3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75" t="30412" r="3764" b="30785"/>
              <a:stretch/>
            </p:blipFill>
            <p:spPr bwMode="auto">
              <a:xfrm>
                <a:off x="4179911" y="5162786"/>
                <a:ext cx="1334632" cy="3146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4" descr="britive-logo | cognitree">
                <a:extLst>
                  <a:ext uri="{FF2B5EF4-FFF2-40B4-BE49-F238E27FC236}">
                    <a16:creationId xmlns:a16="http://schemas.microsoft.com/office/drawing/2014/main" id="{E193D8A2-E7BB-F9E5-B98B-3FDB15FBDD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11845" y="5178740"/>
                <a:ext cx="946206" cy="2827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" name="Picture 6" descr="Western Union logo and symbol, meaning, history, PNG">
                <a:extLst>
                  <a:ext uri="{FF2B5EF4-FFF2-40B4-BE49-F238E27FC236}">
                    <a16:creationId xmlns:a16="http://schemas.microsoft.com/office/drawing/2014/main" id="{18DD8052-FF22-C8ED-6778-B9809460D2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21" t="31969" r="6535" b="36938"/>
              <a:stretch/>
            </p:blipFill>
            <p:spPr bwMode="auto">
              <a:xfrm>
                <a:off x="7163804" y="5172749"/>
                <a:ext cx="1513649" cy="2947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8" descr="Deloitte logo et symbole, sens, histoire, PNG, marque">
                <a:extLst>
                  <a:ext uri="{FF2B5EF4-FFF2-40B4-BE49-F238E27FC236}">
                    <a16:creationId xmlns:a16="http://schemas.microsoft.com/office/drawing/2014/main" id="{439EA1BF-FABC-6913-C630-CF41C993E0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292" b="29986"/>
              <a:stretch/>
            </p:blipFill>
            <p:spPr bwMode="auto">
              <a:xfrm>
                <a:off x="9019514" y="5207798"/>
                <a:ext cx="1103246" cy="2246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10" descr="PwC logo | Storia, valore, PNG">
                <a:extLst>
                  <a:ext uri="{FF2B5EF4-FFF2-40B4-BE49-F238E27FC236}">
                    <a16:creationId xmlns:a16="http://schemas.microsoft.com/office/drawing/2014/main" id="{02A71062-AF74-F38E-0DC4-48DEF348A7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63" r="15727"/>
              <a:stretch/>
            </p:blipFill>
            <p:spPr bwMode="auto">
              <a:xfrm>
                <a:off x="7139206" y="5674007"/>
                <a:ext cx="464725" cy="377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12" descr="Manipal Global – Institute for Competitiveness">
                <a:extLst>
                  <a:ext uri="{FF2B5EF4-FFF2-40B4-BE49-F238E27FC236}">
                    <a16:creationId xmlns:a16="http://schemas.microsoft.com/office/drawing/2014/main" id="{C44AAAF6-873E-030E-9870-C019AE37F0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9184" y="5727130"/>
                <a:ext cx="1452839" cy="2714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2">
                <a:extLst>
                  <a:ext uri="{FF2B5EF4-FFF2-40B4-BE49-F238E27FC236}">
                    <a16:creationId xmlns:a16="http://schemas.microsoft.com/office/drawing/2014/main" id="{8E2FB1EB-8B43-CBBA-6EED-E05773F31F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4926" y="5592346"/>
                <a:ext cx="973852" cy="5410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B9CD4796-F071-0F6B-6F14-F9E89364C5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20628" y="5656715"/>
                <a:ext cx="799842" cy="412290"/>
              </a:xfrm>
              <a:prstGeom prst="rect">
                <a:avLst/>
              </a:prstGeom>
              <a:noFill/>
            </p:spPr>
          </p:pic>
          <p:pic>
            <p:nvPicPr>
              <p:cNvPr id="46" name="Picture 12" descr="Trimble 4D Control Software Provides Greater Geotechnical Sensor Support">
                <a:extLst>
                  <a:ext uri="{FF2B5EF4-FFF2-40B4-BE49-F238E27FC236}">
                    <a16:creationId xmlns:a16="http://schemas.microsoft.com/office/drawing/2014/main" id="{C7C8D6B5-FA07-74D4-8D55-C0BD8D21F7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260" b="30782"/>
              <a:stretch/>
            </p:blipFill>
            <p:spPr bwMode="auto">
              <a:xfrm>
                <a:off x="8950818" y="5737741"/>
                <a:ext cx="1018267" cy="2502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8A6824E-6149-C927-4748-67BA09033384}"/>
                </a:ext>
              </a:extLst>
            </p:cNvPr>
            <p:cNvCxnSpPr>
              <a:cxnSpLocks/>
            </p:cNvCxnSpPr>
            <p:nvPr/>
          </p:nvCxnSpPr>
          <p:spPr>
            <a:xfrm>
              <a:off x="3926959" y="5137497"/>
              <a:ext cx="0" cy="984885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610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C7344-FA36-4FDD-0D57-5DF4F65B02E9}"/>
              </a:ext>
            </a:extLst>
          </p:cNvPr>
          <p:cNvSpPr/>
          <p:nvPr/>
        </p:nvSpPr>
        <p:spPr>
          <a:xfrm>
            <a:off x="1434191" y="954685"/>
            <a:ext cx="3972951" cy="3778341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NLP, Text Analytics &amp; ChatGPT/LLM</a:t>
            </a:r>
            <a:endParaRPr kumimoji="0" lang="en-IN" sz="1600" b="0" i="0" u="none" strike="noStrike" kern="1200" cap="none" spc="-1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Speech to Text Conversion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Entity Recognition, Data Extraction &amp; Summarization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 Items, Questions &amp; Follow-ups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Conversation Analytics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Document Classification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Sentiment Analysis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marR="0" lvl="0" indent="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Predictive Analytics</a:t>
            </a:r>
            <a:endParaRPr kumimoji="0" lang="en-IN" sz="1600" b="0" i="0" u="none" strike="noStrike" kern="1200" cap="none" spc="-1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Demand Forecasting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Fraud Detection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Fault Prediction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>
                <a:tab pos="144720" algn="l"/>
              </a:tabLst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Anomaly Detection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C3EFB68-9975-4E5B-77E8-808D6E714D7D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17511" y="999002"/>
            <a:ext cx="678960" cy="678960"/>
          </a:xfrm>
          <a:prstGeom prst="rect">
            <a:avLst/>
          </a:prstGeom>
          <a:ln w="0">
            <a:noFill/>
          </a:ln>
        </p:spPr>
      </p:pic>
      <p:pic>
        <p:nvPicPr>
          <p:cNvPr id="5" name="Picture 8" descr="Data analytics - Free miscellaneous icons">
            <a:extLst>
              <a:ext uri="{FF2B5EF4-FFF2-40B4-BE49-F238E27FC236}">
                <a16:creationId xmlns:a16="http://schemas.microsoft.com/office/drawing/2014/main" id="{874A666C-6385-DA4B-64FD-6ADC42F0C970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53633" y="3249060"/>
            <a:ext cx="678960" cy="678960"/>
          </a:xfrm>
          <a:prstGeom prst="rect">
            <a:avLst/>
          </a:prstGeom>
          <a:ln w="0">
            <a:noFill/>
          </a:ln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139F4019-D1F9-C3C4-B733-4DF615DFBB26}"/>
              </a:ext>
            </a:extLst>
          </p:cNvPr>
          <p:cNvSpPr txBox="1"/>
          <p:nvPr/>
        </p:nvSpPr>
        <p:spPr>
          <a:xfrm>
            <a:off x="198678" y="5238878"/>
            <a:ext cx="1235513" cy="935277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 marR="0" lvl="0" indent="0" algn="l" defTabSz="1217706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Platforms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6913" marR="0" lvl="0" indent="0" algn="l" defTabSz="1217706" rtl="0" eaLnBrk="1" fontAlgn="auto" latinLnBrk="0" hangingPunct="1">
              <a:lnSpc>
                <a:spcPct val="100000"/>
              </a:lnSpc>
              <a:spcBef>
                <a:spcPts val="139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-7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Technologies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3E0BA9D-63C0-D2FA-C9E3-9CA0622B66EF}"/>
              </a:ext>
            </a:extLst>
          </p:cNvPr>
          <p:cNvSpPr/>
          <p:nvPr/>
        </p:nvSpPr>
        <p:spPr>
          <a:xfrm>
            <a:off x="3224205" y="5114568"/>
            <a:ext cx="1087808" cy="3815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8339550-685C-1F5B-078E-5AB8088BC1D1}"/>
              </a:ext>
            </a:extLst>
          </p:cNvPr>
          <p:cNvSpPr/>
          <p:nvPr/>
        </p:nvSpPr>
        <p:spPr>
          <a:xfrm>
            <a:off x="1609023" y="5853304"/>
            <a:ext cx="1237693" cy="454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EBA29B2-20CB-3C0C-2BF6-B9F5FF48EA5D}"/>
              </a:ext>
            </a:extLst>
          </p:cNvPr>
          <p:cNvSpPr/>
          <p:nvPr/>
        </p:nvSpPr>
        <p:spPr>
          <a:xfrm>
            <a:off x="5696129" y="5873599"/>
            <a:ext cx="1237990" cy="3977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529F5CE-D140-4ABB-DDA3-7863EF44E825}"/>
              </a:ext>
            </a:extLst>
          </p:cNvPr>
          <p:cNvSpPr/>
          <p:nvPr/>
        </p:nvSpPr>
        <p:spPr>
          <a:xfrm>
            <a:off x="6990946" y="5833011"/>
            <a:ext cx="970259" cy="5114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D4FADB7-2D0F-03B6-1A19-BEA0D02C0BED}"/>
              </a:ext>
            </a:extLst>
          </p:cNvPr>
          <p:cNvSpPr/>
          <p:nvPr/>
        </p:nvSpPr>
        <p:spPr>
          <a:xfrm>
            <a:off x="3061846" y="5826920"/>
            <a:ext cx="925449" cy="5073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4E618AC7-888C-2D93-3548-B8B6518AC10D}"/>
              </a:ext>
            </a:extLst>
          </p:cNvPr>
          <p:cNvSpPr/>
          <p:nvPr/>
        </p:nvSpPr>
        <p:spPr>
          <a:xfrm>
            <a:off x="4044119" y="5889835"/>
            <a:ext cx="1623596" cy="4546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223658B9-5D26-B687-715E-45AA6F063DBA}"/>
              </a:ext>
            </a:extLst>
          </p:cNvPr>
          <p:cNvSpPr/>
          <p:nvPr/>
        </p:nvSpPr>
        <p:spPr>
          <a:xfrm>
            <a:off x="4685440" y="5110511"/>
            <a:ext cx="1120281" cy="3856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4F22160-69C3-EFFB-206F-7AE85D5C3CA1}"/>
              </a:ext>
            </a:extLst>
          </p:cNvPr>
          <p:cNvSpPr/>
          <p:nvPr/>
        </p:nvSpPr>
        <p:spPr>
          <a:xfrm>
            <a:off x="1722379" y="5211986"/>
            <a:ext cx="1233933" cy="3212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E852A7E8-EC3B-EB3A-E8B2-9D0EDD049603}"/>
              </a:ext>
            </a:extLst>
          </p:cNvPr>
          <p:cNvSpPr/>
          <p:nvPr/>
        </p:nvSpPr>
        <p:spPr>
          <a:xfrm>
            <a:off x="6317154" y="5183571"/>
            <a:ext cx="1233931" cy="4058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A3A28913-66EB-5E75-DC38-0B02F318776B}"/>
              </a:ext>
            </a:extLst>
          </p:cNvPr>
          <p:cNvSpPr/>
          <p:nvPr/>
        </p:nvSpPr>
        <p:spPr>
          <a:xfrm>
            <a:off x="10721156" y="5138922"/>
            <a:ext cx="823895" cy="40995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3FABBC41-8AEF-D5D3-0D92-5F0700775573}"/>
              </a:ext>
            </a:extLst>
          </p:cNvPr>
          <p:cNvSpPr/>
          <p:nvPr/>
        </p:nvSpPr>
        <p:spPr>
          <a:xfrm>
            <a:off x="9393869" y="5151099"/>
            <a:ext cx="840209" cy="3896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44418D88-1599-3F09-AF4A-AACCC8C51DCB}"/>
              </a:ext>
            </a:extLst>
          </p:cNvPr>
          <p:cNvSpPr/>
          <p:nvPr/>
        </p:nvSpPr>
        <p:spPr>
          <a:xfrm>
            <a:off x="8062520" y="5138922"/>
            <a:ext cx="840211" cy="40995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FB000867-CBBF-D507-F379-C4A9025765DF}"/>
              </a:ext>
            </a:extLst>
          </p:cNvPr>
          <p:cNvSpPr/>
          <p:nvPr/>
        </p:nvSpPr>
        <p:spPr>
          <a:xfrm>
            <a:off x="8001636" y="5833011"/>
            <a:ext cx="1168987" cy="43431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C51C0D53-FE61-5896-52A8-29572C3A2ACF}"/>
              </a:ext>
            </a:extLst>
          </p:cNvPr>
          <p:cNvSpPr/>
          <p:nvPr/>
        </p:nvSpPr>
        <p:spPr>
          <a:xfrm>
            <a:off x="10465440" y="5877658"/>
            <a:ext cx="1477472" cy="38154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CCD7C758-E950-257D-BA4D-78E66B9EE323}"/>
              </a:ext>
            </a:extLst>
          </p:cNvPr>
          <p:cNvSpPr/>
          <p:nvPr/>
        </p:nvSpPr>
        <p:spPr>
          <a:xfrm>
            <a:off x="9458810" y="5786411"/>
            <a:ext cx="860506" cy="7022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7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B0503020203020204" pitchFamily="34" charset="-78"/>
              <a:ea typeface="+mn-ea"/>
              <a:cs typeface="Avenir Book" panose="020B0503020203020204" pitchFamily="34" charset="-78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43E6F524-3BFE-D4A1-40B1-2D0F1D4AA6B6}"/>
              </a:ext>
            </a:extLst>
          </p:cNvPr>
          <p:cNvSpPr/>
          <p:nvPr/>
        </p:nvSpPr>
        <p:spPr>
          <a:xfrm>
            <a:off x="6784859" y="854991"/>
            <a:ext cx="4038294" cy="1886499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Computer Vision Services</a:t>
            </a:r>
            <a:endParaRPr kumimoji="0" lang="en-IN" sz="1600" b="0" i="0" u="none" strike="noStrike" kern="1200" cap="none" spc="-1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Face Recognition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Object Detection &amp; Tracking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Shape &amp; Surface based Matching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 Learning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Image Processing &amp; Blob Analysis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OCR &amp; Barcode Extraction</a:t>
            </a:r>
            <a:endParaRPr kumimoji="0" lang="en-IN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3" name="Picture 2" descr="Vision - Free computer icons">
            <a:extLst>
              <a:ext uri="{FF2B5EF4-FFF2-40B4-BE49-F238E27FC236}">
                <a16:creationId xmlns:a16="http://schemas.microsoft.com/office/drawing/2014/main" id="{8505C85D-3903-EC9D-D4C0-18167494344C}"/>
              </a:ext>
            </a:extLst>
          </p:cNvPr>
          <p:cNvPicPr/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928442" y="854991"/>
            <a:ext cx="678960" cy="678960"/>
          </a:xfrm>
          <a:prstGeom prst="rect">
            <a:avLst/>
          </a:prstGeom>
          <a:ln w="0">
            <a:noFill/>
          </a:ln>
        </p:spPr>
      </p:pic>
      <p:sp>
        <p:nvSpPr>
          <p:cNvPr id="24" name="object 50">
            <a:extLst>
              <a:ext uri="{FF2B5EF4-FFF2-40B4-BE49-F238E27FC236}">
                <a16:creationId xmlns:a16="http://schemas.microsoft.com/office/drawing/2014/main" id="{62EE8E73-7C0B-6193-ABC3-79DDA307E8BF}"/>
              </a:ext>
            </a:extLst>
          </p:cNvPr>
          <p:cNvSpPr txBox="1"/>
          <p:nvPr/>
        </p:nvSpPr>
        <p:spPr>
          <a:xfrm>
            <a:off x="5337796" y="3346978"/>
            <a:ext cx="6289658" cy="1231106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50800" algn="l" rotWithShape="0">
              <a:srgbClr val="00B0F0"/>
            </a:outerShdw>
          </a:effectLst>
        </p:spPr>
        <p:txBody>
          <a:bodyPr vert="horz" wrap="square" lIns="91440" tIns="91440" rIns="91440" bIns="91440" rtlCol="0" anchor="ctr">
            <a:spAutoFit/>
          </a:bodyPr>
          <a:lstStyle/>
          <a:p>
            <a:pPr marL="118388" marR="0" lvl="0" indent="0" algn="l" defTabSz="1217706" rtl="0" eaLnBrk="1" fontAlgn="auto" latinLnBrk="0" hangingPunct="1">
              <a:lnSpc>
                <a:spcPct val="100000"/>
              </a:lnSpc>
              <a:spcBef>
                <a:spcPts val="393"/>
              </a:spcBef>
              <a:spcAft>
                <a:spcPts val="0"/>
              </a:spcAft>
              <a:buClrTx/>
              <a:buSzTx/>
              <a:buFontTx/>
              <a:buNone/>
              <a:tabLst>
                <a:tab pos="500613" algn="l"/>
                <a:tab pos="501458" algn="l"/>
              </a:tabLst>
              <a:defRPr/>
            </a:pPr>
            <a:r>
              <a:rPr kumimoji="0" lang="en-US" sz="1600" b="1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Science &amp; Engineering Team</a:t>
            </a:r>
          </a:p>
          <a:p>
            <a:pPr marL="500613" marR="0" lvl="0" indent="-382225" algn="l" defTabSz="121770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Blip>
                <a:blip r:embed="rId21"/>
              </a:buBlip>
              <a:tabLst>
                <a:tab pos="500613" algn="l"/>
                <a:tab pos="501458" algn="l"/>
              </a:tabLst>
              <a:defRPr/>
            </a:pP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 </a:t>
            </a:r>
            <a:r>
              <a:rPr kumimoji="0" sz="14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50+ </a:t>
            </a: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professionals </a:t>
            </a:r>
            <a:r>
              <a:rPr kumimoji="0" sz="14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</a:t>
            </a: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 expertise in Machine </a:t>
            </a:r>
            <a:r>
              <a:rPr kumimoji="0" sz="14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Learning, 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AI, </a:t>
            </a:r>
            <a:r>
              <a:rPr kumimoji="0" sz="1400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 </a:t>
            </a:r>
            <a:r>
              <a:rPr kumimoji="0" sz="14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Learning</a:t>
            </a:r>
            <a:r>
              <a:rPr kumimoji="0" sz="1400" b="0" i="0" u="none" strike="noStrike" kern="1200" cap="none" spc="12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 Analytics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500613" marR="0" lvl="0" indent="-382225" algn="l" defTabSz="121770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Blip>
                <a:blip r:embed="rId21"/>
              </a:buBlip>
              <a:tabLst>
                <a:tab pos="500613" algn="l"/>
                <a:tab pos="501458" algn="l"/>
              </a:tabLst>
              <a:defRPr/>
            </a:pP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Dedicated </a:t>
            </a:r>
            <a:r>
              <a:rPr kumimoji="0" sz="1400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</a:t>
            </a: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Labs in </a:t>
            </a:r>
            <a:r>
              <a:rPr kumimoji="0" lang="en-US" sz="1400" b="0" i="0" u="none" strike="noStrike" kern="1200" cap="none" spc="-7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</a:t>
            </a:r>
            <a:r>
              <a:rPr kumimoji="0" sz="1400" b="0" i="0" u="none" strike="noStrike" kern="1200" cap="none" spc="-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USA and </a:t>
            </a:r>
            <a:r>
              <a:rPr kumimoji="0" sz="14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</a:t>
            </a:r>
            <a:endParaRPr kumimoji="0" lang="en-US" sz="1400" b="0" i="0" u="none" strike="noStrike" kern="1200" cap="none" spc="-2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itle 18">
            <a:extLst>
              <a:ext uri="{FF2B5EF4-FFF2-40B4-BE49-F238E27FC236}">
                <a16:creationId xmlns:a16="http://schemas.microsoft.com/office/drawing/2014/main" id="{94F3D018-8903-F4A8-9AB8-5B4A3234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>
            <a:normAutofit/>
          </a:bodyPr>
          <a:lstStyle/>
          <a:p>
            <a:r>
              <a:rPr lang="en-US"/>
              <a:t>AI/ML Capabilities</a:t>
            </a:r>
          </a:p>
        </p:txBody>
      </p:sp>
    </p:spTree>
    <p:extLst>
      <p:ext uri="{BB962C8B-B14F-4D97-AF65-F5344CB8AC3E}">
        <p14:creationId xmlns:p14="http://schemas.microsoft.com/office/powerpoint/2010/main" val="87183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64EC-84A9-8FDC-7AEE-B91F5513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Cloud Data &amp; AI Platform for Precor Consoles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8C016-19B4-AAA8-FB5D-3629484BC536}"/>
              </a:ext>
            </a:extLst>
          </p:cNvPr>
          <p:cNvSpPr/>
          <p:nvPr/>
        </p:nvSpPr>
        <p:spPr>
          <a:xfrm>
            <a:off x="954381" y="975876"/>
            <a:ext cx="10354089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AB5A5-E26D-1B92-187C-00F9B00C2839}"/>
              </a:ext>
            </a:extLst>
          </p:cNvPr>
          <p:cNvSpPr/>
          <p:nvPr/>
        </p:nvSpPr>
        <p:spPr>
          <a:xfrm>
            <a:off x="954381" y="2310518"/>
            <a:ext cx="10354089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E0844-77EE-CF2F-8E4F-C9481A38E553}"/>
              </a:ext>
            </a:extLst>
          </p:cNvPr>
          <p:cNvSpPr/>
          <p:nvPr/>
        </p:nvSpPr>
        <p:spPr>
          <a:xfrm>
            <a:off x="954381" y="3645160"/>
            <a:ext cx="10354089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66C66-3981-8397-1D81-01B5E1A91612}"/>
              </a:ext>
            </a:extLst>
          </p:cNvPr>
          <p:cNvSpPr/>
          <p:nvPr/>
        </p:nvSpPr>
        <p:spPr>
          <a:xfrm>
            <a:off x="954381" y="4979802"/>
            <a:ext cx="10354089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6188A4-B471-61CA-0414-A678379150B5}"/>
              </a:ext>
            </a:extLst>
          </p:cNvPr>
          <p:cNvGrpSpPr/>
          <p:nvPr/>
        </p:nvGrpSpPr>
        <p:grpSpPr>
          <a:xfrm>
            <a:off x="3476333" y="1208286"/>
            <a:ext cx="1832610" cy="723900"/>
            <a:chOff x="3078480" y="1456321"/>
            <a:chExt cx="1832610" cy="7239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E05B101-F274-D5A3-6327-915E57C8E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078480" y="1456321"/>
              <a:ext cx="723900" cy="7239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530AB2-F39D-E236-D81A-0DC662DA0134}"/>
                </a:ext>
              </a:extLst>
            </p:cNvPr>
            <p:cNvSpPr txBox="1"/>
            <p:nvPr/>
          </p:nvSpPr>
          <p:spPr>
            <a:xfrm>
              <a:off x="3802380" y="1556661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Operator Dashboard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83D8A94-3F31-55AC-BF6C-EA2F611BAADE}"/>
              </a:ext>
            </a:extLst>
          </p:cNvPr>
          <p:cNvGrpSpPr/>
          <p:nvPr/>
        </p:nvGrpSpPr>
        <p:grpSpPr>
          <a:xfrm>
            <a:off x="6276808" y="1208286"/>
            <a:ext cx="1803012" cy="723900"/>
            <a:chOff x="5401698" y="1473328"/>
            <a:chExt cx="1803012" cy="7239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0E6F84-FB82-6F1F-00B7-CCBEEE499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5401698" y="1473328"/>
              <a:ext cx="723900" cy="7239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85CAB9-E4CD-E468-DE9C-2010826091BA}"/>
                </a:ext>
              </a:extLst>
            </p:cNvPr>
            <p:cNvSpPr txBox="1"/>
            <p:nvPr/>
          </p:nvSpPr>
          <p:spPr>
            <a:xfrm>
              <a:off x="6096000" y="1681390"/>
              <a:ext cx="11087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User apps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8552CA-3C19-092F-9C52-65C94EE62CD3}"/>
              </a:ext>
            </a:extLst>
          </p:cNvPr>
          <p:cNvGrpSpPr/>
          <p:nvPr/>
        </p:nvGrpSpPr>
        <p:grpSpPr>
          <a:xfrm>
            <a:off x="9025035" y="1208286"/>
            <a:ext cx="1803012" cy="723900"/>
            <a:chOff x="8231505" y="1439979"/>
            <a:chExt cx="1803012" cy="7239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093B621-0522-5798-0881-DB37278C9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8231505" y="1439979"/>
              <a:ext cx="723900" cy="7239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88F752-C1B3-27AB-D211-1A68419EAF15}"/>
                </a:ext>
              </a:extLst>
            </p:cNvPr>
            <p:cNvSpPr txBox="1"/>
            <p:nvPr/>
          </p:nvSpPr>
          <p:spPr>
            <a:xfrm>
              <a:off x="8925807" y="1540319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Insights &amp; alerts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F51CFAB-73A7-4E23-E54C-1A2A2D9A1225}"/>
              </a:ext>
            </a:extLst>
          </p:cNvPr>
          <p:cNvSpPr txBox="1"/>
          <p:nvPr/>
        </p:nvSpPr>
        <p:spPr>
          <a:xfrm>
            <a:off x="1025138" y="1294213"/>
            <a:ext cx="180022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Experience Layer –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Dashboards &amp; Apps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66693-14AF-B821-8067-F7A97907264A}"/>
              </a:ext>
            </a:extLst>
          </p:cNvPr>
          <p:cNvSpPr txBox="1"/>
          <p:nvPr/>
        </p:nvSpPr>
        <p:spPr>
          <a:xfrm>
            <a:off x="1174681" y="3762467"/>
            <a:ext cx="150114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Edge Layer –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Android Console Processing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EADF37-C6BC-E39A-83C4-4A8BC37558B5}"/>
              </a:ext>
            </a:extLst>
          </p:cNvPr>
          <p:cNvSpPr txBox="1"/>
          <p:nvPr/>
        </p:nvSpPr>
        <p:spPr>
          <a:xfrm>
            <a:off x="1174681" y="5097109"/>
            <a:ext cx="150114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Device Layer –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Fitness Equipment &amp; Sensors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51106C-3C89-CFD0-EFAD-CA7FDB7DA642}"/>
              </a:ext>
            </a:extLst>
          </p:cNvPr>
          <p:cNvGrpSpPr/>
          <p:nvPr/>
        </p:nvGrpSpPr>
        <p:grpSpPr>
          <a:xfrm>
            <a:off x="3470856" y="3857091"/>
            <a:ext cx="1940719" cy="764858"/>
            <a:chOff x="4427696" y="4122133"/>
            <a:chExt cx="1940719" cy="76485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9FB839E-7676-3590-379C-D6B9CBD91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427696" y="4122133"/>
              <a:ext cx="764858" cy="76485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582F0E-E5C6-94ED-1989-3BB223C42423}"/>
                </a:ext>
              </a:extLst>
            </p:cNvPr>
            <p:cNvSpPr txBox="1"/>
            <p:nvPr/>
          </p:nvSpPr>
          <p:spPr>
            <a:xfrm>
              <a:off x="5259705" y="4242952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Realtime analytics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CFA1AD7-D5EB-578C-A081-152036C57B55}"/>
              </a:ext>
            </a:extLst>
          </p:cNvPr>
          <p:cNvGrpSpPr/>
          <p:nvPr/>
        </p:nvGrpSpPr>
        <p:grpSpPr>
          <a:xfrm>
            <a:off x="3476333" y="2535546"/>
            <a:ext cx="1935242" cy="738664"/>
            <a:chOff x="4160758" y="2800588"/>
            <a:chExt cx="1935242" cy="73866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08225BE-2684-F421-6A92-90E60E336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160758" y="2800588"/>
              <a:ext cx="738664" cy="73866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B132A6-5CFC-7036-2847-1F6538271A2A}"/>
                </a:ext>
              </a:extLst>
            </p:cNvPr>
            <p:cNvSpPr txBox="1"/>
            <p:nvPr/>
          </p:nvSpPr>
          <p:spPr>
            <a:xfrm>
              <a:off x="4987290" y="2908310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IoT Ingestion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429C006-777F-6995-6236-D86A698FBF2A}"/>
              </a:ext>
            </a:extLst>
          </p:cNvPr>
          <p:cNvGrpSpPr/>
          <p:nvPr/>
        </p:nvGrpSpPr>
        <p:grpSpPr>
          <a:xfrm>
            <a:off x="6320460" y="2569598"/>
            <a:ext cx="1779270" cy="670560"/>
            <a:chOff x="6452235" y="2834640"/>
            <a:chExt cx="1779270" cy="67056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F2ABCEC-DF98-50A8-CA87-26D0F5EBD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452235" y="2834640"/>
              <a:ext cx="670560" cy="67056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F5E5EB-1BB7-1ECD-47C1-A6139D13FF81}"/>
                </a:ext>
              </a:extLst>
            </p:cNvPr>
            <p:cNvSpPr txBox="1"/>
            <p:nvPr/>
          </p:nvSpPr>
          <p:spPr>
            <a:xfrm>
              <a:off x="7122795" y="2908310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telemetry lake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52DA660-CB14-B14B-D2FD-82DC442D276E}"/>
              </a:ext>
            </a:extLst>
          </p:cNvPr>
          <p:cNvGrpSpPr/>
          <p:nvPr/>
        </p:nvGrpSpPr>
        <p:grpSpPr>
          <a:xfrm>
            <a:off x="8994569" y="2535546"/>
            <a:ext cx="1863945" cy="738664"/>
            <a:chOff x="8802431" y="2800588"/>
            <a:chExt cx="1863945" cy="73866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1C5ADD0-874B-90F6-C71C-8A0CAE249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802431" y="2800588"/>
              <a:ext cx="738664" cy="73866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1ACD208-AC27-72B5-8BD5-347BC1C2459A}"/>
                </a:ext>
              </a:extLst>
            </p:cNvPr>
            <p:cNvSpPr txBox="1"/>
            <p:nvPr/>
          </p:nvSpPr>
          <p:spPr>
            <a:xfrm>
              <a:off x="9557666" y="3016032"/>
              <a:ext cx="11087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AI models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D7543AE-3AD0-6331-6CEB-0A554E6493B3}"/>
              </a:ext>
            </a:extLst>
          </p:cNvPr>
          <p:cNvGrpSpPr/>
          <p:nvPr/>
        </p:nvGrpSpPr>
        <p:grpSpPr>
          <a:xfrm>
            <a:off x="6124053" y="3707619"/>
            <a:ext cx="2079448" cy="1063802"/>
            <a:chOff x="6721933" y="3972661"/>
            <a:chExt cx="2079448" cy="106380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D362691-812C-5ADE-04ED-3BA851ED8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721933" y="3972661"/>
              <a:ext cx="1063802" cy="106380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C9AAAB7-258A-9C0D-9B8E-097D1C04E251}"/>
                </a:ext>
              </a:extLst>
            </p:cNvPr>
            <p:cNvSpPr txBox="1"/>
            <p:nvPr/>
          </p:nvSpPr>
          <p:spPr>
            <a:xfrm>
              <a:off x="7692671" y="4242952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Edge AI inference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031298-6086-E0D8-1FB5-2E75DC229EF5}"/>
              </a:ext>
            </a:extLst>
          </p:cNvPr>
          <p:cNvGrpSpPr/>
          <p:nvPr/>
        </p:nvGrpSpPr>
        <p:grpSpPr>
          <a:xfrm>
            <a:off x="9014978" y="3941080"/>
            <a:ext cx="1823127" cy="596880"/>
            <a:chOff x="9141480" y="4206122"/>
            <a:chExt cx="1823127" cy="59688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2DB03BF-0B91-15E2-FC0B-322C00C91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9141480" y="4206122"/>
              <a:ext cx="596880" cy="59688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6F5094-5EAC-13C5-0A73-8412663A2847}"/>
                </a:ext>
              </a:extLst>
            </p:cNvPr>
            <p:cNvSpPr txBox="1"/>
            <p:nvPr/>
          </p:nvSpPr>
          <p:spPr>
            <a:xfrm>
              <a:off x="9855897" y="4242952"/>
              <a:ext cx="11087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Even filtering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142274B-B1E6-6925-9E98-EA4EF4B9BE7B}"/>
              </a:ext>
            </a:extLst>
          </p:cNvPr>
          <p:cNvSpPr txBox="1"/>
          <p:nvPr/>
        </p:nvSpPr>
        <p:spPr>
          <a:xfrm>
            <a:off x="2916501" y="5710254"/>
            <a:ext cx="110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Treadmill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C88191-C2C5-413C-2629-C85A2208235C}"/>
              </a:ext>
            </a:extLst>
          </p:cNvPr>
          <p:cNvSpPr txBox="1"/>
          <p:nvPr/>
        </p:nvSpPr>
        <p:spPr>
          <a:xfrm>
            <a:off x="4177401" y="5710254"/>
            <a:ext cx="831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Bike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D8593E-6FDB-7229-36B3-1E045324B4C0}"/>
              </a:ext>
            </a:extLst>
          </p:cNvPr>
          <p:cNvSpPr txBox="1"/>
          <p:nvPr/>
        </p:nvSpPr>
        <p:spPr>
          <a:xfrm>
            <a:off x="5160895" y="5710254"/>
            <a:ext cx="110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Elliptical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029B9A-3F45-4E8F-4297-4EA03929D8D5}"/>
              </a:ext>
            </a:extLst>
          </p:cNvPr>
          <p:cNvSpPr txBox="1"/>
          <p:nvPr/>
        </p:nvSpPr>
        <p:spPr>
          <a:xfrm>
            <a:off x="6421794" y="5710254"/>
            <a:ext cx="110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Heart rate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70928E-53A3-0E9E-9346-7C74FE0CDAFC}"/>
              </a:ext>
            </a:extLst>
          </p:cNvPr>
          <p:cNvSpPr txBox="1"/>
          <p:nvPr/>
        </p:nvSpPr>
        <p:spPr>
          <a:xfrm>
            <a:off x="7682693" y="5710254"/>
            <a:ext cx="110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Motion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B7B3D7-6CE3-E3D7-D911-B26A131ABE71}"/>
              </a:ext>
            </a:extLst>
          </p:cNvPr>
          <p:cNvSpPr txBox="1"/>
          <p:nvPr/>
        </p:nvSpPr>
        <p:spPr>
          <a:xfrm>
            <a:off x="8943592" y="5710254"/>
            <a:ext cx="110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Resistance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CB7A71-E404-1D71-0BF6-A6FBD0635504}"/>
              </a:ext>
            </a:extLst>
          </p:cNvPr>
          <p:cNvSpPr txBox="1"/>
          <p:nvPr/>
        </p:nvSpPr>
        <p:spPr>
          <a:xfrm>
            <a:off x="10204493" y="5710254"/>
            <a:ext cx="1108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Camera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AF1A1E3-7AB8-5063-E50A-A8A04AB62A2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28338" y="5164345"/>
            <a:ext cx="515126" cy="468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FE3C068-C944-3C38-0228-A1CE4587BF4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7233" y="5123135"/>
            <a:ext cx="501936" cy="55042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64F8A80-18DF-FCE8-827E-47E28A5CDA6F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7045" y="5133379"/>
            <a:ext cx="502108" cy="52993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FEF540C-3FFD-D15E-A9B8-7044D2AC19AC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40193" y="5182345"/>
            <a:ext cx="451373" cy="432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DF62BB0-DC04-5C90-F01A-CE244428C0CC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966334" y="5158906"/>
            <a:ext cx="502108" cy="47887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53E8125-201A-4187-50B3-B4A19305C9F5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231372" y="5133379"/>
            <a:ext cx="465396" cy="52993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0BF9768-DC81-7C4F-B4F3-3D7D67A17E3D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0482917" y="5193330"/>
            <a:ext cx="502108" cy="41003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E4D3DEF-9DA6-F204-08DE-2FCD04FA4D16}"/>
              </a:ext>
            </a:extLst>
          </p:cNvPr>
          <p:cNvSpPr txBox="1"/>
          <p:nvPr/>
        </p:nvSpPr>
        <p:spPr>
          <a:xfrm>
            <a:off x="1174681" y="2535546"/>
            <a:ext cx="150114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Layer –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IoT, Data Platform &amp; AI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521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F596-BA04-42C7-1ED4-2C7F6E31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EB02EDE-2748-A7FF-9240-F2BEE790FE82}"/>
              </a:ext>
            </a:extLst>
          </p:cNvPr>
          <p:cNvCxnSpPr>
            <a:cxnSpLocks/>
          </p:cNvCxnSpPr>
          <p:nvPr/>
        </p:nvCxnSpPr>
        <p:spPr>
          <a:xfrm>
            <a:off x="4282900" y="1625305"/>
            <a:ext cx="0" cy="473690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8384D8B9-20B9-9BB2-D529-534FE37B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US" dirty="0"/>
              <a:t>NPI Device Manufacturing Model</a:t>
            </a:r>
          </a:p>
        </p:txBody>
      </p:sp>
      <p:sp>
        <p:nvSpPr>
          <p:cNvPr id="4" name="Shape 116">
            <a:extLst>
              <a:ext uri="{FF2B5EF4-FFF2-40B4-BE49-F238E27FC236}">
                <a16:creationId xmlns:a16="http://schemas.microsoft.com/office/drawing/2014/main" id="{D55E8D7A-D41A-BCF6-1D15-94046B7B0F25}"/>
              </a:ext>
            </a:extLst>
          </p:cNvPr>
          <p:cNvSpPr txBox="1"/>
          <p:nvPr/>
        </p:nvSpPr>
        <p:spPr>
          <a:xfrm>
            <a:off x="19725" y="676101"/>
            <a:ext cx="7553326" cy="265471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Connected Device design, development and manufacturing process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863E19-18AA-8657-C8B7-2BE57DE14E85}"/>
              </a:ext>
            </a:extLst>
          </p:cNvPr>
          <p:cNvCxnSpPr>
            <a:cxnSpLocks/>
          </p:cNvCxnSpPr>
          <p:nvPr/>
        </p:nvCxnSpPr>
        <p:spPr>
          <a:xfrm flipV="1">
            <a:off x="10817737" y="2443522"/>
            <a:ext cx="0" cy="359622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1BEAEA-3EDC-ACEE-E616-DE681AB20527}"/>
              </a:ext>
            </a:extLst>
          </p:cNvPr>
          <p:cNvCxnSpPr>
            <a:cxnSpLocks/>
          </p:cNvCxnSpPr>
          <p:nvPr/>
        </p:nvCxnSpPr>
        <p:spPr>
          <a:xfrm flipV="1">
            <a:off x="1285577" y="2725369"/>
            <a:ext cx="0" cy="329814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24">
            <a:extLst>
              <a:ext uri="{FF2B5EF4-FFF2-40B4-BE49-F238E27FC236}">
                <a16:creationId xmlns:a16="http://schemas.microsoft.com/office/drawing/2014/main" id="{85A917A9-86AC-CBF3-F05F-19280CCAEE9F}"/>
              </a:ext>
            </a:extLst>
          </p:cNvPr>
          <p:cNvSpPr/>
          <p:nvPr/>
        </p:nvSpPr>
        <p:spPr bwMode="auto">
          <a:xfrm>
            <a:off x="3269267" y="2398312"/>
            <a:ext cx="2101659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Hardware Architecture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ounded Rectangle 32">
            <a:extLst>
              <a:ext uri="{FF2B5EF4-FFF2-40B4-BE49-F238E27FC236}">
                <a16:creationId xmlns:a16="http://schemas.microsoft.com/office/drawing/2014/main" id="{C082DA0E-2B36-78AB-18BB-B9B83C561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0596" y="2691381"/>
            <a:ext cx="1560256" cy="39960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Identity EMS / ODM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D41EFA-70A1-2241-79E1-E86CE684AEC1}"/>
              </a:ext>
            </a:extLst>
          </p:cNvPr>
          <p:cNvSpPr/>
          <p:nvPr/>
        </p:nvSpPr>
        <p:spPr>
          <a:xfrm>
            <a:off x="3796388" y="2051759"/>
            <a:ext cx="1022076" cy="2974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333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Hardware</a:t>
            </a:r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67A349-512A-94F2-B3EB-819F6AE50787}"/>
              </a:ext>
            </a:extLst>
          </p:cNvPr>
          <p:cNvSpPr/>
          <p:nvPr/>
        </p:nvSpPr>
        <p:spPr>
          <a:xfrm>
            <a:off x="10101965" y="2124929"/>
            <a:ext cx="1423895" cy="2974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333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Manufacturing</a:t>
            </a:r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ounded Rectangle 52">
            <a:extLst>
              <a:ext uri="{FF2B5EF4-FFF2-40B4-BE49-F238E27FC236}">
                <a16:creationId xmlns:a16="http://schemas.microsoft.com/office/drawing/2014/main" id="{769F512C-3154-3C27-A249-D505CAC7A2CA}"/>
              </a:ext>
            </a:extLst>
          </p:cNvPr>
          <p:cNvSpPr/>
          <p:nvPr/>
        </p:nvSpPr>
        <p:spPr bwMode="auto">
          <a:xfrm>
            <a:off x="1322956" y="1338022"/>
            <a:ext cx="1344468" cy="399600"/>
          </a:xfrm>
          <a:prstGeom prst="roundRect">
            <a:avLst/>
          </a:prstGeom>
          <a:solidFill>
            <a:srgbClr val="0070C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Specifications</a:t>
            </a:r>
          </a:p>
        </p:txBody>
      </p:sp>
      <p:sp>
        <p:nvSpPr>
          <p:cNvPr id="12" name="Rounded Rectangle 55">
            <a:extLst>
              <a:ext uri="{FF2B5EF4-FFF2-40B4-BE49-F238E27FC236}">
                <a16:creationId xmlns:a16="http://schemas.microsoft.com/office/drawing/2014/main" id="{89B1B618-D51E-401B-567F-F02B0B24C62B}"/>
              </a:ext>
            </a:extLst>
          </p:cNvPr>
          <p:cNvSpPr/>
          <p:nvPr/>
        </p:nvSpPr>
        <p:spPr bwMode="auto">
          <a:xfrm>
            <a:off x="3295515" y="1331632"/>
            <a:ext cx="2088001" cy="399600"/>
          </a:xfrm>
          <a:prstGeom prst="roundRect">
            <a:avLst/>
          </a:prstGeom>
          <a:solidFill>
            <a:srgbClr val="0070C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 Level Architecture</a:t>
            </a:r>
          </a:p>
        </p:txBody>
      </p:sp>
      <p:sp>
        <p:nvSpPr>
          <p:cNvPr id="13" name="Rounded Rectangle 56">
            <a:extLst>
              <a:ext uri="{FF2B5EF4-FFF2-40B4-BE49-F238E27FC236}">
                <a16:creationId xmlns:a16="http://schemas.microsoft.com/office/drawing/2014/main" id="{9F70D95F-A7B5-D17C-C99A-6C548D6BD3EA}"/>
              </a:ext>
            </a:extLst>
          </p:cNvPr>
          <p:cNvSpPr/>
          <p:nvPr/>
        </p:nvSpPr>
        <p:spPr bwMode="auto">
          <a:xfrm>
            <a:off x="8599962" y="1317566"/>
            <a:ext cx="721559" cy="399600"/>
          </a:xfrm>
          <a:prstGeom prst="roundRect">
            <a:avLst/>
          </a:prstGeom>
          <a:solidFill>
            <a:srgbClr val="0070C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HDLC</a:t>
            </a:r>
          </a:p>
        </p:txBody>
      </p:sp>
      <p:sp>
        <p:nvSpPr>
          <p:cNvPr id="14" name="Rounded Rectangle 58">
            <a:extLst>
              <a:ext uri="{FF2B5EF4-FFF2-40B4-BE49-F238E27FC236}">
                <a16:creationId xmlns:a16="http://schemas.microsoft.com/office/drawing/2014/main" id="{FA6A04D2-D046-044B-80CA-F8CA5D72F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15" y="2477850"/>
            <a:ext cx="1510532" cy="399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00B0F0"/>
            </a:solidFill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Concepts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ounded Rectangle 59">
            <a:extLst>
              <a:ext uri="{FF2B5EF4-FFF2-40B4-BE49-F238E27FC236}">
                <a16:creationId xmlns:a16="http://schemas.microsoft.com/office/drawing/2014/main" id="{F60FF6B6-1CEA-FB3A-DB8D-4897FF28F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25" y="3731641"/>
            <a:ext cx="1509308" cy="399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00B0F0"/>
            </a:solidFill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Rapid Prototype**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Rounded Rectangle 62">
            <a:extLst>
              <a:ext uri="{FF2B5EF4-FFF2-40B4-BE49-F238E27FC236}">
                <a16:creationId xmlns:a16="http://schemas.microsoft.com/office/drawing/2014/main" id="{0D09F244-D3AB-BA70-B7E8-282119E0832C}"/>
              </a:ext>
            </a:extLst>
          </p:cNvPr>
          <p:cNvSpPr/>
          <p:nvPr/>
        </p:nvSpPr>
        <p:spPr bwMode="auto">
          <a:xfrm>
            <a:off x="579230" y="4866192"/>
            <a:ext cx="1526432" cy="399600"/>
          </a:xfrm>
          <a:prstGeom prst="roundRect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T0 Sample**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E9866-523F-DD5B-C18C-F523BC5B97DA}"/>
              </a:ext>
            </a:extLst>
          </p:cNvPr>
          <p:cNvSpPr/>
          <p:nvPr/>
        </p:nvSpPr>
        <p:spPr>
          <a:xfrm>
            <a:off x="497509" y="2124929"/>
            <a:ext cx="1629079" cy="2974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333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Industrial Design</a:t>
            </a:r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Rounded Rectangle 65">
            <a:extLst>
              <a:ext uri="{FF2B5EF4-FFF2-40B4-BE49-F238E27FC236}">
                <a16:creationId xmlns:a16="http://schemas.microsoft.com/office/drawing/2014/main" id="{E5D96D92-D31D-2E11-CC41-137F3449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15" y="3049746"/>
            <a:ext cx="1510532" cy="50784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00B0F0"/>
            </a:solidFill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Detailed Design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ounded Rectangle 66">
            <a:extLst>
              <a:ext uri="{FF2B5EF4-FFF2-40B4-BE49-F238E27FC236}">
                <a16:creationId xmlns:a16="http://schemas.microsoft.com/office/drawing/2014/main" id="{FF9994C6-C746-51FA-5486-8ED56C91C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25" y="4294297"/>
            <a:ext cx="1509308" cy="399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00B0F0"/>
            </a:solidFill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Toolup**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Rounded Rectangle 67">
            <a:extLst>
              <a:ext uri="{FF2B5EF4-FFF2-40B4-BE49-F238E27FC236}">
                <a16:creationId xmlns:a16="http://schemas.microsoft.com/office/drawing/2014/main" id="{C0D20AD7-87AC-050E-C4CF-EB0C10DCD613}"/>
              </a:ext>
            </a:extLst>
          </p:cNvPr>
          <p:cNvSpPr/>
          <p:nvPr/>
        </p:nvSpPr>
        <p:spPr bwMode="auto">
          <a:xfrm>
            <a:off x="584292" y="5438090"/>
            <a:ext cx="1521371" cy="399600"/>
          </a:xfrm>
          <a:prstGeom prst="roundRect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T1 Sample</a:t>
            </a:r>
          </a:p>
        </p:txBody>
      </p:sp>
      <p:sp>
        <p:nvSpPr>
          <p:cNvPr id="21" name="Rounded Rectangle 68">
            <a:extLst>
              <a:ext uri="{FF2B5EF4-FFF2-40B4-BE49-F238E27FC236}">
                <a16:creationId xmlns:a16="http://schemas.microsoft.com/office/drawing/2014/main" id="{DE4DED53-9606-C27C-F5FC-007A0E01470E}"/>
              </a:ext>
            </a:extLst>
          </p:cNvPr>
          <p:cNvSpPr/>
          <p:nvPr/>
        </p:nvSpPr>
        <p:spPr bwMode="auto">
          <a:xfrm>
            <a:off x="6572352" y="5329186"/>
            <a:ext cx="2145540" cy="399600"/>
          </a:xfrm>
          <a:prstGeom prst="roundRect">
            <a:avLst/>
          </a:prstGeom>
          <a:solidFill>
            <a:schemeClr val="tx2">
              <a:lumMod val="25000"/>
              <a:lumOff val="75000"/>
              <a:alpha val="60743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3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Production</a:t>
            </a:r>
          </a:p>
        </p:txBody>
      </p:sp>
      <p:sp>
        <p:nvSpPr>
          <p:cNvPr id="22" name="Rounded Rectangle 69">
            <a:extLst>
              <a:ext uri="{FF2B5EF4-FFF2-40B4-BE49-F238E27FC236}">
                <a16:creationId xmlns:a16="http://schemas.microsoft.com/office/drawing/2014/main" id="{CBD00F6A-A1B9-D1E1-CAE8-40A4BD13D2E7}"/>
              </a:ext>
            </a:extLst>
          </p:cNvPr>
          <p:cNvSpPr/>
          <p:nvPr/>
        </p:nvSpPr>
        <p:spPr bwMode="auto">
          <a:xfrm>
            <a:off x="3283187" y="2843844"/>
            <a:ext cx="2101659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Schematics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Rounded Rectangle 70">
            <a:extLst>
              <a:ext uri="{FF2B5EF4-FFF2-40B4-BE49-F238E27FC236}">
                <a16:creationId xmlns:a16="http://schemas.microsoft.com/office/drawing/2014/main" id="{76EB2C8B-7AA9-376A-C037-228FB49CC4A7}"/>
              </a:ext>
            </a:extLst>
          </p:cNvPr>
          <p:cNvSpPr/>
          <p:nvPr/>
        </p:nvSpPr>
        <p:spPr bwMode="auto">
          <a:xfrm>
            <a:off x="3283181" y="3275892"/>
            <a:ext cx="999719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Layout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Rounded Rectangle 73">
            <a:extLst>
              <a:ext uri="{FF2B5EF4-FFF2-40B4-BE49-F238E27FC236}">
                <a16:creationId xmlns:a16="http://schemas.microsoft.com/office/drawing/2014/main" id="{B40B7C2A-94E3-C63E-DC2B-1227A2D1D307}"/>
              </a:ext>
            </a:extLst>
          </p:cNvPr>
          <p:cNvSpPr/>
          <p:nvPr/>
        </p:nvSpPr>
        <p:spPr bwMode="auto">
          <a:xfrm>
            <a:off x="4385822" y="3275892"/>
            <a:ext cx="999720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Bill of Material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Rounded Rectangle 74">
            <a:extLst>
              <a:ext uri="{FF2B5EF4-FFF2-40B4-BE49-F238E27FC236}">
                <a16:creationId xmlns:a16="http://schemas.microsoft.com/office/drawing/2014/main" id="{9B0DDED1-1900-5DA3-605D-AE9AA6F3D783}"/>
              </a:ext>
            </a:extLst>
          </p:cNvPr>
          <p:cNvSpPr/>
          <p:nvPr/>
        </p:nvSpPr>
        <p:spPr bwMode="auto">
          <a:xfrm>
            <a:off x="3283181" y="3987762"/>
            <a:ext cx="999719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Prototype**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Rounded Rectangle 75">
            <a:extLst>
              <a:ext uri="{FF2B5EF4-FFF2-40B4-BE49-F238E27FC236}">
                <a16:creationId xmlns:a16="http://schemas.microsoft.com/office/drawing/2014/main" id="{F5C314D9-96CA-EE46-D452-EACE4DF442AC}"/>
              </a:ext>
            </a:extLst>
          </p:cNvPr>
          <p:cNvSpPr/>
          <p:nvPr/>
        </p:nvSpPr>
        <p:spPr bwMode="auto">
          <a:xfrm>
            <a:off x="4385822" y="3992784"/>
            <a:ext cx="999720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Prototype Quantity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Rounded Rectangle 76">
            <a:extLst>
              <a:ext uri="{FF2B5EF4-FFF2-40B4-BE49-F238E27FC236}">
                <a16:creationId xmlns:a16="http://schemas.microsoft.com/office/drawing/2014/main" id="{51B803C8-EAB2-0A19-3BD7-631B90B71A85}"/>
              </a:ext>
            </a:extLst>
          </p:cNvPr>
          <p:cNvSpPr/>
          <p:nvPr/>
        </p:nvSpPr>
        <p:spPr bwMode="auto">
          <a:xfrm>
            <a:off x="3283181" y="4467816"/>
            <a:ext cx="999719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Revision 0**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Rounded Rectangle 78">
            <a:extLst>
              <a:ext uri="{FF2B5EF4-FFF2-40B4-BE49-F238E27FC236}">
                <a16:creationId xmlns:a16="http://schemas.microsoft.com/office/drawing/2014/main" id="{8584F3B9-EE02-2C14-FB34-BD7F30B0F1B5}"/>
              </a:ext>
            </a:extLst>
          </p:cNvPr>
          <p:cNvSpPr/>
          <p:nvPr/>
        </p:nvSpPr>
        <p:spPr bwMode="auto">
          <a:xfrm>
            <a:off x="3283183" y="4947869"/>
            <a:ext cx="2102361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Revision 1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Rounded Rectangle 79">
            <a:extLst>
              <a:ext uri="{FF2B5EF4-FFF2-40B4-BE49-F238E27FC236}">
                <a16:creationId xmlns:a16="http://schemas.microsoft.com/office/drawing/2014/main" id="{5AEBC0DC-9ADF-E0C6-392D-CFC34887CAB6}"/>
              </a:ext>
            </a:extLst>
          </p:cNvPr>
          <p:cNvSpPr/>
          <p:nvPr/>
        </p:nvSpPr>
        <p:spPr bwMode="auto">
          <a:xfrm>
            <a:off x="4385822" y="4477857"/>
            <a:ext cx="999720" cy="39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Pilot Quantity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Rounded Rectangle 80">
            <a:extLst>
              <a:ext uri="{FF2B5EF4-FFF2-40B4-BE49-F238E27FC236}">
                <a16:creationId xmlns:a16="http://schemas.microsoft.com/office/drawing/2014/main" id="{486919D9-162D-0C7B-677B-31AEE499E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7656" y="3141432"/>
            <a:ext cx="1560256" cy="39960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DFx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Rounded Rectangle 81">
            <a:extLst>
              <a:ext uri="{FF2B5EF4-FFF2-40B4-BE49-F238E27FC236}">
                <a16:creationId xmlns:a16="http://schemas.microsoft.com/office/drawing/2014/main" id="{A4D1F9E7-A31A-D91B-C8BA-7A2319337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7656" y="3591481"/>
            <a:ext cx="1560256" cy="39960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Prototype**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Rounded Rectangle 82">
            <a:extLst>
              <a:ext uri="{FF2B5EF4-FFF2-40B4-BE49-F238E27FC236}">
                <a16:creationId xmlns:a16="http://schemas.microsoft.com/office/drawing/2014/main" id="{3EB4005C-98CE-B734-4EEF-2D23EFB84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72" y="4041532"/>
            <a:ext cx="1560256" cy="39960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Pilot I**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Rounded Rectangle 83">
            <a:extLst>
              <a:ext uri="{FF2B5EF4-FFF2-40B4-BE49-F238E27FC236}">
                <a16:creationId xmlns:a16="http://schemas.microsoft.com/office/drawing/2014/main" id="{0010092F-41CE-1650-E40C-DAD1E090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72" y="4491582"/>
            <a:ext cx="1560256" cy="39960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Pilot II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Rounded Rectangle 84">
            <a:extLst>
              <a:ext uri="{FF2B5EF4-FFF2-40B4-BE49-F238E27FC236}">
                <a16:creationId xmlns:a16="http://schemas.microsoft.com/office/drawing/2014/main" id="{6EA5C0E0-63C0-3B39-6F94-B8803A93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354" y="4231076"/>
            <a:ext cx="2145149" cy="3996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  <a:alpha val="60743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Customize Firmware / OS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Rounded Rectangle 85">
            <a:extLst>
              <a:ext uri="{FF2B5EF4-FFF2-40B4-BE49-F238E27FC236}">
                <a16:creationId xmlns:a16="http://schemas.microsoft.com/office/drawing/2014/main" id="{790E07EF-C624-8C26-3D39-E582263D1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358" y="4806356"/>
            <a:ext cx="2145535" cy="348674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  <a:alpha val="60743"/>
            </a:schemeClr>
          </a:solidFill>
          <a:ln w="9525">
            <a:noFill/>
            <a:round/>
            <a:headEnd/>
            <a:tailEnd/>
          </a:ln>
          <a:effectLst/>
        </p:spPr>
        <p:txBody>
          <a:bodyPr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Reference Code / Image</a:t>
            </a:r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36" name="Elbow Connector 6">
            <a:extLst>
              <a:ext uri="{FF2B5EF4-FFF2-40B4-BE49-F238E27FC236}">
                <a16:creationId xmlns:a16="http://schemas.microsoft.com/office/drawing/2014/main" id="{C98B2023-F725-21DD-AE70-C75758A74A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66312" y="2622826"/>
            <a:ext cx="902955" cy="3144040"/>
          </a:xfrm>
          <a:prstGeom prst="bentConnector2">
            <a:avLst/>
          </a:prstGeom>
          <a:ln w="38100">
            <a:solidFill>
              <a:srgbClr val="00B0F0"/>
            </a:solidFill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46">
            <a:extLst>
              <a:ext uri="{FF2B5EF4-FFF2-40B4-BE49-F238E27FC236}">
                <a16:creationId xmlns:a16="http://schemas.microsoft.com/office/drawing/2014/main" id="{323A7299-F134-ED06-499A-C054A3F3548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17894" y="3791281"/>
            <a:ext cx="1349764" cy="1737705"/>
          </a:xfrm>
          <a:prstGeom prst="bentConnector3">
            <a:avLst>
              <a:gd name="adj1" fmla="val 50000"/>
            </a:avLst>
          </a:prstGeom>
          <a:ln w="38100">
            <a:solidFill>
              <a:srgbClr val="00B0F0"/>
            </a:solidFill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31A266-A020-678C-EF90-C5EC862648F6}"/>
              </a:ext>
            </a:extLst>
          </p:cNvPr>
          <p:cNvCxnSpPr>
            <a:cxnSpLocks/>
          </p:cNvCxnSpPr>
          <p:nvPr/>
        </p:nvCxnSpPr>
        <p:spPr>
          <a:xfrm>
            <a:off x="1242025" y="1841848"/>
            <a:ext cx="958112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A5BFAA-77A2-675F-C28A-9EF435B9975B}"/>
              </a:ext>
            </a:extLst>
          </p:cNvPr>
          <p:cNvCxnSpPr/>
          <p:nvPr/>
        </p:nvCxnSpPr>
        <p:spPr>
          <a:xfrm flipV="1">
            <a:off x="1242025" y="1818740"/>
            <a:ext cx="0" cy="22452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457C612-BD39-929C-1EBD-8AD5E2091C44}"/>
              </a:ext>
            </a:extLst>
          </p:cNvPr>
          <p:cNvCxnSpPr/>
          <p:nvPr/>
        </p:nvCxnSpPr>
        <p:spPr>
          <a:xfrm flipV="1">
            <a:off x="10823148" y="1822404"/>
            <a:ext cx="2603" cy="25284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DBCB0C2-E746-0DE3-0363-77BE3868DF7D}"/>
              </a:ext>
            </a:extLst>
          </p:cNvPr>
          <p:cNvCxnSpPr>
            <a:cxnSpLocks/>
          </p:cNvCxnSpPr>
          <p:nvPr/>
        </p:nvCxnSpPr>
        <p:spPr>
          <a:xfrm flipV="1">
            <a:off x="2667423" y="1531432"/>
            <a:ext cx="628091" cy="6390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050367-D3DB-EA21-3D22-547C68185E3F}"/>
              </a:ext>
            </a:extLst>
          </p:cNvPr>
          <p:cNvCxnSpPr/>
          <p:nvPr/>
        </p:nvCxnSpPr>
        <p:spPr>
          <a:xfrm>
            <a:off x="2078146" y="3127296"/>
            <a:ext cx="1193160" cy="13592"/>
          </a:xfrm>
          <a:prstGeom prst="line">
            <a:avLst/>
          </a:prstGeom>
          <a:ln w="38100">
            <a:solidFill>
              <a:srgbClr val="00B0F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4EDA447-DA68-2065-AE21-F8F0E79A21F5}"/>
              </a:ext>
            </a:extLst>
          </p:cNvPr>
          <p:cNvCxnSpPr/>
          <p:nvPr/>
        </p:nvCxnSpPr>
        <p:spPr>
          <a:xfrm>
            <a:off x="2078146" y="3487337"/>
            <a:ext cx="1193160" cy="31331"/>
          </a:xfrm>
          <a:prstGeom prst="line">
            <a:avLst/>
          </a:prstGeom>
          <a:ln w="38100">
            <a:solidFill>
              <a:srgbClr val="00B0F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41B3CA-7E10-7F9A-425D-34C52A47237E}"/>
              </a:ext>
            </a:extLst>
          </p:cNvPr>
          <p:cNvCxnSpPr>
            <a:cxnSpLocks/>
          </p:cNvCxnSpPr>
          <p:nvPr/>
        </p:nvCxnSpPr>
        <p:spPr>
          <a:xfrm>
            <a:off x="1285577" y="6023518"/>
            <a:ext cx="952833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1517699-3365-B2A1-4F47-875E3EFD2598}"/>
              </a:ext>
            </a:extLst>
          </p:cNvPr>
          <p:cNvCxnSpPr/>
          <p:nvPr/>
        </p:nvCxnSpPr>
        <p:spPr>
          <a:xfrm>
            <a:off x="8353939" y="5164220"/>
            <a:ext cx="0" cy="165859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B618B20-DF16-DD8E-A048-461B63D0ED3C}"/>
              </a:ext>
            </a:extLst>
          </p:cNvPr>
          <p:cNvCxnSpPr>
            <a:cxnSpLocks/>
          </p:cNvCxnSpPr>
          <p:nvPr/>
        </p:nvCxnSpPr>
        <p:spPr>
          <a:xfrm flipV="1">
            <a:off x="5383516" y="1517367"/>
            <a:ext cx="3216446" cy="14066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5DBD822-3911-223F-E6ED-45BE94AAF452}"/>
              </a:ext>
            </a:extLst>
          </p:cNvPr>
          <p:cNvSpPr txBox="1"/>
          <p:nvPr/>
        </p:nvSpPr>
        <p:spPr>
          <a:xfrm>
            <a:off x="9151377" y="6157844"/>
            <a:ext cx="215479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* *verify, valid, correct</a:t>
            </a:r>
          </a:p>
        </p:txBody>
      </p:sp>
      <p:cxnSp>
        <p:nvCxnSpPr>
          <p:cNvPr id="48" name="Elbow Connector 9">
            <a:extLst>
              <a:ext uri="{FF2B5EF4-FFF2-40B4-BE49-F238E27FC236}">
                <a16:creationId xmlns:a16="http://schemas.microsoft.com/office/drawing/2014/main" id="{E281BFE3-2734-61BC-2BCC-39BD794BCA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71901" y="3518667"/>
            <a:ext cx="6295759" cy="357138"/>
          </a:xfrm>
          <a:prstGeom prst="bentConnector3">
            <a:avLst>
              <a:gd name="adj1" fmla="val 50000"/>
            </a:avLst>
          </a:prstGeom>
          <a:ln w="38100">
            <a:solidFill>
              <a:srgbClr val="00B0F0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975449F-2157-6A80-2EDF-DDD1EB919D2C}"/>
              </a:ext>
            </a:extLst>
          </p:cNvPr>
          <p:cNvCxnSpPr>
            <a:cxnSpLocks/>
          </p:cNvCxnSpPr>
          <p:nvPr/>
        </p:nvCxnSpPr>
        <p:spPr>
          <a:xfrm flipV="1">
            <a:off x="3790038" y="3669473"/>
            <a:ext cx="0" cy="216727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12D6A6E-81AD-5CB3-7C8C-9CB5C8D0F44D}"/>
              </a:ext>
            </a:extLst>
          </p:cNvPr>
          <p:cNvCxnSpPr>
            <a:cxnSpLocks/>
          </p:cNvCxnSpPr>
          <p:nvPr/>
        </p:nvCxnSpPr>
        <p:spPr>
          <a:xfrm flipV="1">
            <a:off x="5401395" y="2891181"/>
            <a:ext cx="4659201" cy="14635"/>
          </a:xfrm>
          <a:prstGeom prst="line">
            <a:avLst/>
          </a:prstGeom>
          <a:ln w="38100">
            <a:solidFill>
              <a:srgbClr val="00B0F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102">
            <a:extLst>
              <a:ext uri="{FF2B5EF4-FFF2-40B4-BE49-F238E27FC236}">
                <a16:creationId xmlns:a16="http://schemas.microsoft.com/office/drawing/2014/main" id="{EBA237BB-6670-EC25-B21D-D0975C80A1D9}"/>
              </a:ext>
            </a:extLst>
          </p:cNvPr>
          <p:cNvCxnSpPr/>
          <p:nvPr/>
        </p:nvCxnSpPr>
        <p:spPr>
          <a:xfrm rot="10800000">
            <a:off x="5384851" y="3097642"/>
            <a:ext cx="4671673" cy="205336"/>
          </a:xfrm>
          <a:prstGeom prst="bentConnector3">
            <a:avLst>
              <a:gd name="adj1" fmla="val 60710"/>
            </a:avLst>
          </a:prstGeom>
          <a:ln w="38100">
            <a:solidFill>
              <a:srgbClr val="00B0F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103">
            <a:extLst>
              <a:ext uri="{FF2B5EF4-FFF2-40B4-BE49-F238E27FC236}">
                <a16:creationId xmlns:a16="http://schemas.microsoft.com/office/drawing/2014/main" id="{A7EA4B63-AB13-B3BD-3882-661EC47195D0}"/>
              </a:ext>
            </a:extLst>
          </p:cNvPr>
          <p:cNvCxnSpPr/>
          <p:nvPr/>
        </p:nvCxnSpPr>
        <p:spPr>
          <a:xfrm rot="10800000" flipV="1">
            <a:off x="5373687" y="3047189"/>
            <a:ext cx="4686911" cy="338917"/>
          </a:xfrm>
          <a:prstGeom prst="bentConnector3">
            <a:avLst>
              <a:gd name="adj1" fmla="val 59072"/>
            </a:avLst>
          </a:prstGeom>
          <a:ln w="38100">
            <a:solidFill>
              <a:srgbClr val="00B0F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DAE8447-580E-24B9-DCC3-3117B457A1A0}"/>
              </a:ext>
            </a:extLst>
          </p:cNvPr>
          <p:cNvSpPr txBox="1"/>
          <p:nvPr/>
        </p:nvSpPr>
        <p:spPr>
          <a:xfrm>
            <a:off x="6557048" y="3858083"/>
            <a:ext cx="2160844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Platform Software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4BB58D4-25E6-4B1A-DB87-2315DA1AD99D}"/>
              </a:ext>
            </a:extLst>
          </p:cNvPr>
          <p:cNvCxnSpPr>
            <a:cxnSpLocks/>
          </p:cNvCxnSpPr>
          <p:nvPr/>
        </p:nvCxnSpPr>
        <p:spPr>
          <a:xfrm>
            <a:off x="8343334" y="4630676"/>
            <a:ext cx="0" cy="181969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105">
            <a:extLst>
              <a:ext uri="{FF2B5EF4-FFF2-40B4-BE49-F238E27FC236}">
                <a16:creationId xmlns:a16="http://schemas.microsoft.com/office/drawing/2014/main" id="{6DB6E379-6B1D-6404-1175-D8B038279D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66314" y="4430876"/>
            <a:ext cx="4206041" cy="1328520"/>
          </a:xfrm>
          <a:prstGeom prst="bentConnector3">
            <a:avLst>
              <a:gd name="adj1" fmla="val 15743"/>
            </a:avLst>
          </a:prstGeom>
          <a:ln w="38100">
            <a:solidFill>
              <a:srgbClr val="00B0F0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49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B18619-D66F-BCE8-C9CE-0A649EEF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IN" dirty="0"/>
              <a:t>Our Engagement Models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B5DB15-3DCF-C5A1-0484-7059E06A1054}"/>
              </a:ext>
            </a:extLst>
          </p:cNvPr>
          <p:cNvSpPr/>
          <p:nvPr/>
        </p:nvSpPr>
        <p:spPr>
          <a:xfrm>
            <a:off x="285205" y="1096290"/>
            <a:ext cx="3458095" cy="5222508"/>
          </a:xfrm>
          <a:prstGeom prst="roundRect">
            <a:avLst>
              <a:gd name="adj" fmla="val 4278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33DE256-2FEF-5046-E369-DB18BD1B8531}"/>
              </a:ext>
            </a:extLst>
          </p:cNvPr>
          <p:cNvSpPr/>
          <p:nvPr/>
        </p:nvSpPr>
        <p:spPr>
          <a:xfrm>
            <a:off x="3862449" y="1096290"/>
            <a:ext cx="3458095" cy="5222508"/>
          </a:xfrm>
          <a:prstGeom prst="roundRect">
            <a:avLst>
              <a:gd name="adj" fmla="val 4278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E828DDEC-5C04-6ADD-35A3-E26538E66189}"/>
              </a:ext>
            </a:extLst>
          </p:cNvPr>
          <p:cNvSpPr/>
          <p:nvPr/>
        </p:nvSpPr>
        <p:spPr>
          <a:xfrm>
            <a:off x="7439693" y="1096290"/>
            <a:ext cx="4467102" cy="5222508"/>
          </a:xfrm>
          <a:prstGeom prst="roundRect">
            <a:avLst>
              <a:gd name="adj" fmla="val 4278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  <a:effectLst>
            <a:outerShdw blurRad="3278" sx="102000" sy="102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8CF58C7C-BE5C-1EBB-D1A3-15BDAC4626E4}"/>
              </a:ext>
            </a:extLst>
          </p:cNvPr>
          <p:cNvSpPr/>
          <p:nvPr/>
        </p:nvSpPr>
        <p:spPr>
          <a:xfrm>
            <a:off x="285205" y="935528"/>
            <a:ext cx="11621590" cy="382386"/>
          </a:xfrm>
          <a:prstGeom prst="roundRect">
            <a:avLst>
              <a:gd name="adj" fmla="val 4058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272F4A-4C73-D384-B9B7-5D3D0A59927C}"/>
              </a:ext>
            </a:extLst>
          </p:cNvPr>
          <p:cNvSpPr txBox="1"/>
          <p:nvPr/>
        </p:nvSpPr>
        <p:spPr>
          <a:xfrm>
            <a:off x="880078" y="988221"/>
            <a:ext cx="226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Staff Augmentation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2F2BD9-9D01-B593-67D5-DB6F3150702B}"/>
              </a:ext>
            </a:extLst>
          </p:cNvPr>
          <p:cNvSpPr txBox="1"/>
          <p:nvPr/>
        </p:nvSpPr>
        <p:spPr>
          <a:xfrm>
            <a:off x="3908263" y="988220"/>
            <a:ext cx="329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POD-Based Delivery (Client-Led POD)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C719C-FAE3-2F7E-64F6-B04441A05334}"/>
              </a:ext>
            </a:extLst>
          </p:cNvPr>
          <p:cNvSpPr txBox="1"/>
          <p:nvPr/>
        </p:nvSpPr>
        <p:spPr>
          <a:xfrm>
            <a:off x="7348631" y="988219"/>
            <a:ext cx="46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Managed Delivery POD Model (Innominds-Led) </a:t>
            </a: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6256BB34-1AA2-6A82-E939-EF6DAA2E7BB8}"/>
              </a:ext>
            </a:extLst>
          </p:cNvPr>
          <p:cNvSpPr/>
          <p:nvPr/>
        </p:nvSpPr>
        <p:spPr>
          <a:xfrm>
            <a:off x="813459" y="1420841"/>
            <a:ext cx="10565082" cy="243494"/>
          </a:xfrm>
          <a:prstGeom prst="roundRect">
            <a:avLst>
              <a:gd name="adj" fmla="val 4058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6D2D1-F81C-BD11-2E0B-6CFC4872C78A}"/>
              </a:ext>
            </a:extLst>
          </p:cNvPr>
          <p:cNvSpPr txBox="1"/>
          <p:nvPr/>
        </p:nvSpPr>
        <p:spPr>
          <a:xfrm>
            <a:off x="4457322" y="1399555"/>
            <a:ext cx="226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We Deliver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736EE-ECF6-E905-5660-E4D872505E82}"/>
              </a:ext>
            </a:extLst>
          </p:cNvPr>
          <p:cNvSpPr txBox="1"/>
          <p:nvPr/>
        </p:nvSpPr>
        <p:spPr>
          <a:xfrm>
            <a:off x="285204" y="1768093"/>
            <a:ext cx="345809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Skilled individual resources integrated into Client teams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 for development, enhancements, and platform operations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 operate under Client delivery management and governance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Flexible ramp-up based on immediate skill or capacity needs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0653F-2B48-8DB4-EC25-8D674DD4F014}"/>
              </a:ext>
            </a:extLst>
          </p:cNvPr>
          <p:cNvSpPr txBox="1"/>
          <p:nvPr/>
        </p:nvSpPr>
        <p:spPr>
          <a:xfrm>
            <a:off x="3860866" y="1768093"/>
            <a:ext cx="345809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Cross-functional POD with Data Engineers, QA, and platform specialists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Dedicated team aligned to a specific domain or platform scope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Sprint-based execution within Client-managed Agile processes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Shared collaboration between Client and Innominds teams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770FB-6A23-1B36-5164-482233D37276}"/>
              </a:ext>
            </a:extLst>
          </p:cNvPr>
          <p:cNvSpPr txBox="1"/>
          <p:nvPr/>
        </p:nvSpPr>
        <p:spPr>
          <a:xfrm>
            <a:off x="7410024" y="1768093"/>
            <a:ext cx="449677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End-to-end POD ownership including delivery, governance, and reporting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Vendor-managed execution aligned to defined KPIs and SLAs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Continuous platform optimization and operational oversight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Architecture guidance and delivery management through Innominds leadership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Hybrid onsite–offshore delivery ensuring scalability and collaboration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3980A09E-1756-B8D4-4497-68265762B94F}"/>
              </a:ext>
            </a:extLst>
          </p:cNvPr>
          <p:cNvSpPr/>
          <p:nvPr/>
        </p:nvSpPr>
        <p:spPr>
          <a:xfrm>
            <a:off x="813459" y="3769404"/>
            <a:ext cx="10565082" cy="243494"/>
          </a:xfrm>
          <a:prstGeom prst="roundRect">
            <a:avLst>
              <a:gd name="adj" fmla="val 4058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F3365A-8B68-0B56-F933-E11605028F46}"/>
              </a:ext>
            </a:extLst>
          </p:cNvPr>
          <p:cNvSpPr txBox="1"/>
          <p:nvPr/>
        </p:nvSpPr>
        <p:spPr>
          <a:xfrm>
            <a:off x="4457322" y="3748118"/>
            <a:ext cx="226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Benefits to Daikin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407F2F-87BC-8C29-5893-A7253A050FBE}"/>
              </a:ext>
            </a:extLst>
          </p:cNvPr>
          <p:cNvSpPr txBox="1"/>
          <p:nvPr/>
        </p:nvSpPr>
        <p:spPr>
          <a:xfrm>
            <a:off x="314874" y="4173173"/>
            <a:ext cx="345809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Quick onboarding to address short-term skill gaps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 flexibility in scaling resources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Suitable for tactical or temporary workload support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Client retains full operational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8B922-9CD5-5AC0-9905-F3659E3ED24A}"/>
              </a:ext>
            </a:extLst>
          </p:cNvPr>
          <p:cNvSpPr txBox="1"/>
          <p:nvPr/>
        </p:nvSpPr>
        <p:spPr>
          <a:xfrm>
            <a:off x="3890536" y="4173173"/>
            <a:ext cx="34580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Improved delivery velocity through a stable team structure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Reduced coordination overhead compared to individual resources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Better collaboration and accountability at the POD level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Supports domain-based analytics and platform initiatives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B1CBF-0C9D-6762-1F6D-2A69FF7BF38C}"/>
              </a:ext>
            </a:extLst>
          </p:cNvPr>
          <p:cNvSpPr txBox="1"/>
          <p:nvPr/>
        </p:nvSpPr>
        <p:spPr>
          <a:xfrm>
            <a:off x="7439693" y="4173173"/>
            <a:ext cx="443743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Single-point ownership and accountability for delivery outcomes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Reduced operational and coordination overhead for the Client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Predictable delivery aligned to business priorities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Faster onboarding of new use cases and data domains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Improved platform stability, documentation, and governance maturity</a:t>
            </a:r>
          </a:p>
        </p:txBody>
      </p:sp>
    </p:spTree>
    <p:extLst>
      <p:ext uri="{BB962C8B-B14F-4D97-AF65-F5344CB8AC3E}">
        <p14:creationId xmlns:p14="http://schemas.microsoft.com/office/powerpoint/2010/main" val="2657363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714B-C4ED-A21B-0E66-2D9A6BC2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7C0196A-C24D-FDF1-2B94-0917ACBF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/>
          <a:lstStyle/>
          <a:p>
            <a:r>
              <a:rPr lang="en-US" dirty="0"/>
              <a:t>Proposed Business Models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781F27-299D-9F5C-ECCD-FBED4BE4276E}"/>
              </a:ext>
            </a:extLst>
          </p:cNvPr>
          <p:cNvGrpSpPr/>
          <p:nvPr/>
        </p:nvGrpSpPr>
        <p:grpSpPr>
          <a:xfrm>
            <a:off x="588010" y="1128002"/>
            <a:ext cx="5416550" cy="1667697"/>
            <a:chOff x="285205" y="780183"/>
            <a:chExt cx="5416550" cy="181331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A283160-9465-2F77-7DFC-A4BE9076EC68}"/>
                </a:ext>
              </a:extLst>
            </p:cNvPr>
            <p:cNvGrpSpPr/>
            <p:nvPr/>
          </p:nvGrpSpPr>
          <p:grpSpPr>
            <a:xfrm>
              <a:off x="285205" y="780183"/>
              <a:ext cx="5416550" cy="1813314"/>
              <a:chOff x="1282700" y="1385693"/>
              <a:chExt cx="5416550" cy="1813314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F2270AF-6FFB-2C8E-6073-EA3BD32AB84B}"/>
                  </a:ext>
                </a:extLst>
              </p:cNvPr>
              <p:cNvGrpSpPr/>
              <p:nvPr/>
            </p:nvGrpSpPr>
            <p:grpSpPr>
              <a:xfrm>
                <a:off x="1282700" y="1385693"/>
                <a:ext cx="5384800" cy="1813314"/>
                <a:chOff x="2387600" y="2477893"/>
                <a:chExt cx="5384800" cy="18133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138DC9F-858B-2E5F-2D0C-1159E70EAEE0}"/>
                    </a:ext>
                  </a:extLst>
                </p:cNvPr>
                <p:cNvSpPr/>
                <p:nvPr/>
              </p:nvSpPr>
              <p:spPr>
                <a:xfrm>
                  <a:off x="2387600" y="2921000"/>
                  <a:ext cx="927100" cy="92710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C0EEFE8C-04F6-E9E3-B7CE-6543E8A121E2}"/>
                    </a:ext>
                  </a:extLst>
                </p:cNvPr>
                <p:cNvSpPr/>
                <p:nvPr/>
              </p:nvSpPr>
              <p:spPr>
                <a:xfrm>
                  <a:off x="2857500" y="2477893"/>
                  <a:ext cx="4914900" cy="1813314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  <a:effectLst>
                  <a:outerShdw dist="50800" algn="l" rotWithShape="0">
                    <a:srgbClr val="00B0F0"/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671545C7-087C-9890-4F9F-669100305206}"/>
                    </a:ext>
                  </a:extLst>
                </p:cNvPr>
                <p:cNvSpPr/>
                <p:nvPr/>
              </p:nvSpPr>
              <p:spPr>
                <a:xfrm>
                  <a:off x="2473059" y="3006459"/>
                  <a:ext cx="756182" cy="756182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5E96097-D4F6-4C6E-A614-385B7D596732}"/>
                  </a:ext>
                </a:extLst>
              </p:cNvPr>
              <p:cNvSpPr txBox="1"/>
              <p:nvPr/>
            </p:nvSpPr>
            <p:spPr>
              <a:xfrm>
                <a:off x="2152650" y="1561777"/>
                <a:ext cx="17081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Traditional Models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D893004-9609-E567-2213-B5CA70A75204}"/>
                  </a:ext>
                </a:extLst>
              </p:cNvPr>
              <p:cNvSpPr txBox="1"/>
              <p:nvPr/>
            </p:nvSpPr>
            <p:spPr>
              <a:xfrm>
                <a:off x="2152650" y="1838776"/>
                <a:ext cx="4546600" cy="730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Time and Material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Fixed Bid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Hybrid [ Fixed Bid + Time &amp; Material ]</a:t>
                </a:r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262A2D1-222D-C3EA-D8F0-1C52101F2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535836" y="1432170"/>
              <a:ext cx="461152" cy="501418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04EC143-3253-0E4C-41AE-D4A9CFF523F7}"/>
              </a:ext>
            </a:extLst>
          </p:cNvPr>
          <p:cNvGrpSpPr/>
          <p:nvPr/>
        </p:nvGrpSpPr>
        <p:grpSpPr>
          <a:xfrm>
            <a:off x="588010" y="2914894"/>
            <a:ext cx="5416550" cy="1667697"/>
            <a:chOff x="285205" y="780183"/>
            <a:chExt cx="5416550" cy="181331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C21CD91-978C-0FCA-78EA-213BD788BADF}"/>
                </a:ext>
              </a:extLst>
            </p:cNvPr>
            <p:cNvGrpSpPr/>
            <p:nvPr/>
          </p:nvGrpSpPr>
          <p:grpSpPr>
            <a:xfrm>
              <a:off x="285205" y="780183"/>
              <a:ext cx="5416550" cy="1813314"/>
              <a:chOff x="1282700" y="1385693"/>
              <a:chExt cx="5416550" cy="1813314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FB6A376-694D-F492-30E6-079E81DFFFCD}"/>
                  </a:ext>
                </a:extLst>
              </p:cNvPr>
              <p:cNvGrpSpPr/>
              <p:nvPr/>
            </p:nvGrpSpPr>
            <p:grpSpPr>
              <a:xfrm>
                <a:off x="1282700" y="1385693"/>
                <a:ext cx="5384800" cy="1813314"/>
                <a:chOff x="2387600" y="2477893"/>
                <a:chExt cx="5384800" cy="1813314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088A958B-EAD9-1CAF-71E2-02AE3F19311F}"/>
                    </a:ext>
                  </a:extLst>
                </p:cNvPr>
                <p:cNvSpPr/>
                <p:nvPr/>
              </p:nvSpPr>
              <p:spPr>
                <a:xfrm>
                  <a:off x="2387600" y="2921000"/>
                  <a:ext cx="927100" cy="92710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E03C92A-6F95-B8A7-2C38-AA7D98757C3C}"/>
                    </a:ext>
                  </a:extLst>
                </p:cNvPr>
                <p:cNvSpPr/>
                <p:nvPr/>
              </p:nvSpPr>
              <p:spPr>
                <a:xfrm>
                  <a:off x="2857500" y="2477893"/>
                  <a:ext cx="4914900" cy="1813314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  <a:effectLst>
                  <a:outerShdw dist="50800" algn="l" rotWithShape="0">
                    <a:srgbClr val="00B0F0"/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3BB1C241-037B-1148-43FC-815CEFB484AD}"/>
                    </a:ext>
                  </a:extLst>
                </p:cNvPr>
                <p:cNvSpPr/>
                <p:nvPr/>
              </p:nvSpPr>
              <p:spPr>
                <a:xfrm>
                  <a:off x="2473059" y="3006459"/>
                  <a:ext cx="756182" cy="756182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AA79C08-5562-93C1-D2A8-330C1B8CC39E}"/>
                  </a:ext>
                </a:extLst>
              </p:cNvPr>
              <p:cNvSpPr txBox="1"/>
              <p:nvPr/>
            </p:nvSpPr>
            <p:spPr>
              <a:xfrm>
                <a:off x="2152650" y="1561777"/>
                <a:ext cx="18229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Outcome Based Models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EB2DD9C-C2E3-473C-A2C8-335748D7DBEC}"/>
                  </a:ext>
                </a:extLst>
              </p:cNvPr>
              <p:cNvSpPr txBox="1"/>
              <p:nvPr/>
            </p:nvSpPr>
            <p:spPr>
              <a:xfrm>
                <a:off x="2152650" y="1838776"/>
                <a:ext cx="4546600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Transaction Based </a:t>
                </a:r>
                <a:b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</a:b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[ No of tickets / Test Cases / transactions processed etc.]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Service Catalog based </a:t>
                </a:r>
                <a:b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</a:b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[ Based on the type of the service to be delivered ]</a:t>
                </a:r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63B46AF-5C61-7922-45AC-752F758D1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498664" y="1432170"/>
              <a:ext cx="466916" cy="50141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266C22E-B53E-88D1-CB2B-2F1985D4D52C}"/>
              </a:ext>
            </a:extLst>
          </p:cNvPr>
          <p:cNvGrpSpPr/>
          <p:nvPr/>
        </p:nvGrpSpPr>
        <p:grpSpPr>
          <a:xfrm>
            <a:off x="588010" y="4701786"/>
            <a:ext cx="5416550" cy="1667697"/>
            <a:chOff x="285205" y="780183"/>
            <a:chExt cx="5416550" cy="181331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B43335C-FB91-1158-AD76-31DDF4D4D8BC}"/>
                </a:ext>
              </a:extLst>
            </p:cNvPr>
            <p:cNvGrpSpPr/>
            <p:nvPr/>
          </p:nvGrpSpPr>
          <p:grpSpPr>
            <a:xfrm>
              <a:off x="285205" y="780183"/>
              <a:ext cx="5416550" cy="1813314"/>
              <a:chOff x="1282700" y="1385693"/>
              <a:chExt cx="5416550" cy="1813314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655DBAE-82B0-5364-EFE6-659508CB4248}"/>
                  </a:ext>
                </a:extLst>
              </p:cNvPr>
              <p:cNvGrpSpPr/>
              <p:nvPr/>
            </p:nvGrpSpPr>
            <p:grpSpPr>
              <a:xfrm>
                <a:off x="1282700" y="1385693"/>
                <a:ext cx="5384800" cy="1813314"/>
                <a:chOff x="2387600" y="2477893"/>
                <a:chExt cx="5384800" cy="1813314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7F148D43-1B8F-542B-D72C-E2789CF1A3AE}"/>
                    </a:ext>
                  </a:extLst>
                </p:cNvPr>
                <p:cNvSpPr/>
                <p:nvPr/>
              </p:nvSpPr>
              <p:spPr>
                <a:xfrm>
                  <a:off x="2387600" y="2921000"/>
                  <a:ext cx="927100" cy="92710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93CF7C13-3ECA-03C1-E622-96D1094EC9AC}"/>
                    </a:ext>
                  </a:extLst>
                </p:cNvPr>
                <p:cNvSpPr/>
                <p:nvPr/>
              </p:nvSpPr>
              <p:spPr>
                <a:xfrm>
                  <a:off x="2857500" y="2477893"/>
                  <a:ext cx="4914900" cy="1813314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  <a:effectLst>
                  <a:outerShdw dist="50800" algn="l" rotWithShape="0">
                    <a:srgbClr val="00B0F0"/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F28521FC-E407-5223-6E51-3FE52098C354}"/>
                    </a:ext>
                  </a:extLst>
                </p:cNvPr>
                <p:cNvSpPr/>
                <p:nvPr/>
              </p:nvSpPr>
              <p:spPr>
                <a:xfrm>
                  <a:off x="2473059" y="3006459"/>
                  <a:ext cx="756182" cy="756182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FA05D53-BAE9-D369-BD27-E72C9500C551}"/>
                  </a:ext>
                </a:extLst>
              </p:cNvPr>
              <p:cNvSpPr txBox="1"/>
              <p:nvPr/>
            </p:nvSpPr>
            <p:spPr>
              <a:xfrm>
                <a:off x="2152650" y="1561777"/>
                <a:ext cx="10663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POD Models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82A2908-180F-5446-2FD5-102D52942496}"/>
                  </a:ext>
                </a:extLst>
              </p:cNvPr>
              <p:cNvSpPr txBox="1"/>
              <p:nvPr/>
            </p:nvSpPr>
            <p:spPr>
              <a:xfrm>
                <a:off x="2152650" y="1838776"/>
                <a:ext cx="4546600" cy="1215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Blip>
                    <a:blip r:embed="rId2"/>
                  </a:buBlip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Based on Business impact </a:t>
                </a:r>
              </a:p>
              <a:p>
                <a:pPr marL="354013" lvl="1" indent="-90488">
                  <a:spcBef>
                    <a:spcPts val="600"/>
                  </a:spcBef>
                  <a:buBlip>
                    <a:blip r:embed="rId2"/>
                  </a:buBlip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Autonomous Cross-Functional PODs</a:t>
                </a:r>
              </a:p>
              <a:p>
                <a:pPr marL="354013" lvl="1" indent="-90488">
                  <a:spcBef>
                    <a:spcPts val="600"/>
                  </a:spcBef>
                  <a:buBlip>
                    <a:blip r:embed="rId2"/>
                  </a:buBlip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Sustainable Growth with Improved Stakeholder Partnerships</a:t>
                </a:r>
              </a:p>
              <a:p>
                <a:pPr marL="354013" lvl="1" indent="-90488">
                  <a:spcBef>
                    <a:spcPts val="600"/>
                  </a:spcBef>
                  <a:buBlip>
                    <a:blip r:embed="rId2"/>
                  </a:buBlip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Accelerated Time-to-Market</a:t>
                </a:r>
              </a:p>
              <a:p>
                <a:pPr marL="354013" lvl="1" indent="-90488">
                  <a:spcBef>
                    <a:spcPts val="600"/>
                  </a:spcBef>
                  <a:buBlip>
                    <a:blip r:embed="rId2"/>
                  </a:buBlip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Higher ROI on Technology Investments</a:t>
                </a:r>
              </a:p>
            </p:txBody>
          </p:sp>
        </p:grp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4F27D7F-36C6-5183-3B6E-B07198441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512976" y="1419742"/>
              <a:ext cx="461152" cy="501418"/>
            </a:xfrm>
            <a:prstGeom prst="rect">
              <a:avLst/>
            </a:prstGeom>
          </p:spPr>
        </p:pic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5CAA9983-0514-3DC1-E715-2EE3AF9E4E8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  <a14:imgEffect>
                      <a14:brightnessContrast bright="-14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17330" y="1423373"/>
            <a:ext cx="2366381" cy="2208155"/>
          </a:xfrm>
          <a:prstGeom prst="rect">
            <a:avLst/>
          </a:prstGeom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A86A0D3-56BD-0E93-938B-F3D86CD57FBB}"/>
              </a:ext>
            </a:extLst>
          </p:cNvPr>
          <p:cNvCxnSpPr>
            <a:cxnSpLocks/>
          </p:cNvCxnSpPr>
          <p:nvPr/>
        </p:nvCxnSpPr>
        <p:spPr>
          <a:xfrm>
            <a:off x="8514223" y="2398551"/>
            <a:ext cx="613847" cy="0"/>
          </a:xfrm>
          <a:prstGeom prst="straightConnector1">
            <a:avLst/>
          </a:prstGeom>
          <a:noFill/>
          <a:ln w="19050" cap="flat">
            <a:solidFill>
              <a:schemeClr val="accent4">
                <a:lumMod val="60000"/>
                <a:lumOff val="40000"/>
              </a:schemeClr>
            </a:solidFill>
            <a:prstDash val="sysDot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565E677-3E57-504D-BACC-DA6AE6E476FE}"/>
              </a:ext>
            </a:extLst>
          </p:cNvPr>
          <p:cNvCxnSpPr>
            <a:cxnSpLocks/>
          </p:cNvCxnSpPr>
          <p:nvPr/>
        </p:nvCxnSpPr>
        <p:spPr>
          <a:xfrm>
            <a:off x="8985872" y="2772435"/>
            <a:ext cx="900149" cy="0"/>
          </a:xfrm>
          <a:prstGeom prst="straightConnector1">
            <a:avLst/>
          </a:prstGeom>
          <a:noFill/>
          <a:ln w="19050" cap="flat">
            <a:solidFill>
              <a:schemeClr val="accent4">
                <a:lumMod val="60000"/>
                <a:lumOff val="40000"/>
              </a:schemeClr>
            </a:solidFill>
            <a:prstDash val="sysDot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3" name="Rectangle: Rounded Corners 45">
            <a:extLst>
              <a:ext uri="{FF2B5EF4-FFF2-40B4-BE49-F238E27FC236}">
                <a16:creationId xmlns:a16="http://schemas.microsoft.com/office/drawing/2014/main" id="{3E6C357D-9F76-EC17-2B56-FAC4E368FFE4}"/>
              </a:ext>
            </a:extLst>
          </p:cNvPr>
          <p:cNvSpPr/>
          <p:nvPr/>
        </p:nvSpPr>
        <p:spPr>
          <a:xfrm>
            <a:off x="9213257" y="2339516"/>
            <a:ext cx="1422481" cy="170259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77"/>
                <a:cs typeface="Lato" panose="020F0502020204030203" pitchFamily="34" charset="0"/>
              </a:rPr>
              <a:t>Outcome Based Models</a:t>
            </a:r>
          </a:p>
        </p:txBody>
      </p:sp>
      <p:sp>
        <p:nvSpPr>
          <p:cNvPr id="74" name="Rectangle: Rounded Corners 47">
            <a:extLst>
              <a:ext uri="{FF2B5EF4-FFF2-40B4-BE49-F238E27FC236}">
                <a16:creationId xmlns:a16="http://schemas.microsoft.com/office/drawing/2014/main" id="{78D9194F-BEC8-F00D-E98B-C052C31A7C83}"/>
              </a:ext>
            </a:extLst>
          </p:cNvPr>
          <p:cNvSpPr/>
          <p:nvPr/>
        </p:nvSpPr>
        <p:spPr>
          <a:xfrm>
            <a:off x="9992584" y="3129734"/>
            <a:ext cx="1611406" cy="170259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77"/>
                <a:cs typeface="Lato" panose="020F0502020204030203" pitchFamily="34" charset="0"/>
              </a:rPr>
              <a:t>Time and material Projects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EEB2100-AF45-040C-464B-511AD7E3B8F4}"/>
              </a:ext>
            </a:extLst>
          </p:cNvPr>
          <p:cNvCxnSpPr>
            <a:cxnSpLocks/>
          </p:cNvCxnSpPr>
          <p:nvPr/>
        </p:nvCxnSpPr>
        <p:spPr>
          <a:xfrm>
            <a:off x="9734862" y="3230062"/>
            <a:ext cx="187354" cy="0"/>
          </a:xfrm>
          <a:prstGeom prst="straightConnector1">
            <a:avLst/>
          </a:prstGeom>
          <a:noFill/>
          <a:ln w="19050" cap="flat">
            <a:solidFill>
              <a:schemeClr val="accent4">
                <a:lumMod val="60000"/>
                <a:lumOff val="40000"/>
              </a:schemeClr>
            </a:solidFill>
            <a:prstDash val="sysDot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6" name="Rectangle: Rounded Corners 49">
            <a:extLst>
              <a:ext uri="{FF2B5EF4-FFF2-40B4-BE49-F238E27FC236}">
                <a16:creationId xmlns:a16="http://schemas.microsoft.com/office/drawing/2014/main" id="{5990B174-DBBB-4F85-991F-0FED46CD1D5D}"/>
              </a:ext>
            </a:extLst>
          </p:cNvPr>
          <p:cNvSpPr/>
          <p:nvPr/>
        </p:nvSpPr>
        <p:spPr>
          <a:xfrm>
            <a:off x="9992583" y="2652227"/>
            <a:ext cx="1378173" cy="170259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77"/>
                <a:cs typeface="Lato" panose="020F0502020204030203" pitchFamily="34" charset="0"/>
              </a:rPr>
              <a:t>Fixed priced Projects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1D4308B-BEAD-6DA0-4B4E-CBCF71E10D2B}"/>
              </a:ext>
            </a:extLst>
          </p:cNvPr>
          <p:cNvCxnSpPr>
            <a:cxnSpLocks/>
          </p:cNvCxnSpPr>
          <p:nvPr/>
        </p:nvCxnSpPr>
        <p:spPr>
          <a:xfrm>
            <a:off x="8287233" y="1996449"/>
            <a:ext cx="755650" cy="0"/>
          </a:xfrm>
          <a:prstGeom prst="straightConnector1">
            <a:avLst/>
          </a:prstGeom>
          <a:noFill/>
          <a:ln w="19050" cap="flat">
            <a:solidFill>
              <a:schemeClr val="accent4">
                <a:lumMod val="60000"/>
                <a:lumOff val="40000"/>
              </a:schemeClr>
            </a:solidFill>
            <a:prstDash val="sysDot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8" name="Rectangle: Rounded Corners 51">
            <a:extLst>
              <a:ext uri="{FF2B5EF4-FFF2-40B4-BE49-F238E27FC236}">
                <a16:creationId xmlns:a16="http://schemas.microsoft.com/office/drawing/2014/main" id="{26CAE328-4DDD-BF53-9916-57E8420DF582}"/>
              </a:ext>
            </a:extLst>
          </p:cNvPr>
          <p:cNvSpPr/>
          <p:nvPr/>
        </p:nvSpPr>
        <p:spPr>
          <a:xfrm>
            <a:off x="9128069" y="1910759"/>
            <a:ext cx="1555251" cy="170259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77"/>
                <a:cs typeface="Lato" panose="020F0502020204030203" pitchFamily="34" charset="0"/>
              </a:rPr>
              <a:t>PPOD Models</a:t>
            </a:r>
          </a:p>
        </p:txBody>
      </p:sp>
      <p:sp>
        <p:nvSpPr>
          <p:cNvPr id="79" name="Rectangle: Rounded Corners 52">
            <a:extLst>
              <a:ext uri="{FF2B5EF4-FFF2-40B4-BE49-F238E27FC236}">
                <a16:creationId xmlns:a16="http://schemas.microsoft.com/office/drawing/2014/main" id="{5F2C96E3-BCD6-D6BC-2572-1F4693C8AD77}"/>
              </a:ext>
            </a:extLst>
          </p:cNvPr>
          <p:cNvSpPr/>
          <p:nvPr/>
        </p:nvSpPr>
        <p:spPr>
          <a:xfrm>
            <a:off x="7376687" y="3662393"/>
            <a:ext cx="2275074" cy="238361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Lato Light" panose="020F0502020204030203" pitchFamily="34" charset="0"/>
                <a:cs typeface="Lato Light" panose="020F0502020204030203" pitchFamily="34" charset="0"/>
              </a:rPr>
              <a:t>Delivery</a:t>
            </a:r>
            <a:r>
              <a:rPr kumimoji="0" lang="en-IN" sz="80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Lato Light" panose="020F0502020204030203" pitchFamily="34" charset="0"/>
                <a:cs typeface="Lato Light" panose="020F0502020204030203" pitchFamily="34" charset="0"/>
              </a:rPr>
              <a:t> ownership and risk  - Client</a:t>
            </a:r>
          </a:p>
        </p:txBody>
      </p:sp>
      <p:sp>
        <p:nvSpPr>
          <p:cNvPr id="80" name="Rectangle: Rounded Corners 53">
            <a:extLst>
              <a:ext uri="{FF2B5EF4-FFF2-40B4-BE49-F238E27FC236}">
                <a16:creationId xmlns:a16="http://schemas.microsoft.com/office/drawing/2014/main" id="{CF182808-942C-A0D9-A935-E04036F04157}"/>
              </a:ext>
            </a:extLst>
          </p:cNvPr>
          <p:cNvSpPr/>
          <p:nvPr/>
        </p:nvSpPr>
        <p:spPr>
          <a:xfrm rot="16200000">
            <a:off x="6444960" y="2773534"/>
            <a:ext cx="1960470" cy="151884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  <a:r>
              <a:rPr kumimoji="0" lang="en-IN" sz="80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Lato Light" panose="020F0502020204030203" pitchFamily="34" charset="0"/>
                <a:cs typeface="Lato Light" panose="020F0502020204030203" pitchFamily="34" charset="0"/>
              </a:rPr>
              <a:t>delivery ownership and risk  - Vendor</a:t>
            </a:r>
          </a:p>
        </p:txBody>
      </p:sp>
      <p:sp>
        <p:nvSpPr>
          <p:cNvPr id="81" name="Rectangle: Rounded Corners 54">
            <a:extLst>
              <a:ext uri="{FF2B5EF4-FFF2-40B4-BE49-F238E27FC236}">
                <a16:creationId xmlns:a16="http://schemas.microsoft.com/office/drawing/2014/main" id="{5703DB4D-04E9-B90D-022B-179A03ED8A4F}"/>
              </a:ext>
            </a:extLst>
          </p:cNvPr>
          <p:cNvSpPr/>
          <p:nvPr/>
        </p:nvSpPr>
        <p:spPr>
          <a:xfrm>
            <a:off x="7185917" y="1785870"/>
            <a:ext cx="383795" cy="136208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77"/>
                <a:cs typeface="Lato" panose="020F0502020204030203" pitchFamily="34" charset="0"/>
              </a:rPr>
              <a:t>HIGH</a:t>
            </a:r>
          </a:p>
        </p:txBody>
      </p:sp>
      <p:sp>
        <p:nvSpPr>
          <p:cNvPr id="82" name="Rectangle: Rounded Corners 55">
            <a:extLst>
              <a:ext uri="{FF2B5EF4-FFF2-40B4-BE49-F238E27FC236}">
                <a16:creationId xmlns:a16="http://schemas.microsoft.com/office/drawing/2014/main" id="{66636CF7-F10A-A3EC-4AD8-D140FB62D77A}"/>
              </a:ext>
            </a:extLst>
          </p:cNvPr>
          <p:cNvSpPr/>
          <p:nvPr/>
        </p:nvSpPr>
        <p:spPr>
          <a:xfrm>
            <a:off x="9526563" y="3645990"/>
            <a:ext cx="383795" cy="136208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77"/>
                <a:cs typeface="Lato" panose="020F0502020204030203" pitchFamily="34" charset="0"/>
              </a:rPr>
              <a:t>HIGH</a:t>
            </a:r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CFE09A49-A872-E8E7-E1C5-D02082D3A3A4}"/>
              </a:ext>
            </a:extLst>
          </p:cNvPr>
          <p:cNvSpPr/>
          <p:nvPr/>
        </p:nvSpPr>
        <p:spPr>
          <a:xfrm>
            <a:off x="6147559" y="4709884"/>
            <a:ext cx="5679197" cy="605708"/>
          </a:xfrm>
          <a:prstGeom prst="triangle">
            <a:avLst/>
          </a:prstGeom>
          <a:solidFill>
            <a:srgbClr val="B5D4EA"/>
          </a:solidFill>
          <a:ln>
            <a:solidFill>
              <a:srgbClr val="B5D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62639AB-DA37-FF7C-9B4C-FA2460E7BC87}"/>
              </a:ext>
            </a:extLst>
          </p:cNvPr>
          <p:cNvSpPr/>
          <p:nvPr/>
        </p:nvSpPr>
        <p:spPr>
          <a:xfrm>
            <a:off x="6226398" y="5397060"/>
            <a:ext cx="1044278" cy="832523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70C0"/>
            </a:solidFill>
          </a:ln>
          <a:effectLst>
            <a:outerShdw dist="254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Complete Onsite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6B2894F-FEF2-D58A-2692-BE2C62DB8605}"/>
              </a:ext>
            </a:extLst>
          </p:cNvPr>
          <p:cNvSpPr/>
          <p:nvPr/>
        </p:nvSpPr>
        <p:spPr>
          <a:xfrm>
            <a:off x="7346855" y="5397060"/>
            <a:ext cx="1044278" cy="832523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70C0"/>
            </a:solidFill>
          </a:ln>
          <a:effectLst>
            <a:outerShdw dist="254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Hybrid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05FE180-8473-989E-2DB1-45FD4450A631}"/>
              </a:ext>
            </a:extLst>
          </p:cNvPr>
          <p:cNvSpPr/>
          <p:nvPr/>
        </p:nvSpPr>
        <p:spPr>
          <a:xfrm>
            <a:off x="8462527" y="5397060"/>
            <a:ext cx="1044278" cy="832523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70C0"/>
            </a:solidFill>
          </a:ln>
          <a:effectLst>
            <a:outerShdw dist="254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Complete Offshore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5430607-0236-D69D-06DD-68AC63C9FA23}"/>
              </a:ext>
            </a:extLst>
          </p:cNvPr>
          <p:cNvSpPr/>
          <p:nvPr/>
        </p:nvSpPr>
        <p:spPr>
          <a:xfrm>
            <a:off x="9591461" y="5397060"/>
            <a:ext cx="1044278" cy="832523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70C0"/>
            </a:solidFill>
          </a:ln>
          <a:effectLst>
            <a:outerShdw dist="254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Global ODC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56D855-43DB-DE75-9786-5959A3587C6C}"/>
              </a:ext>
            </a:extLst>
          </p:cNvPr>
          <p:cNvSpPr txBox="1"/>
          <p:nvPr/>
        </p:nvSpPr>
        <p:spPr>
          <a:xfrm>
            <a:off x="8019441" y="4881933"/>
            <a:ext cx="19354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304815" rtl="0" eaLnBrk="1" fontAlgn="auto" latinLnBrk="0" hangingPunct="1">
              <a:spcBef>
                <a:spcPts val="0"/>
              </a:spcBef>
              <a:buClr>
                <a:srgbClr val="0070C0"/>
              </a:buClr>
              <a:buSzPct val="77000"/>
              <a:tabLst>
                <a:tab pos="457200" algn="l"/>
              </a:tabLst>
              <a:defRPr sz="1100">
                <a:solidFill>
                  <a:srgbClr val="44546A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77"/>
                <a:ea typeface="Lato"/>
                <a:cs typeface="Poppins" panose="00000500000000000000" pitchFamily="2" charset="0"/>
                <a:sym typeface="Arial"/>
              </a:rPr>
              <a:t>Delivery Models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025A5994-9A10-E5F9-B9EA-F7B2DEC85715}"/>
              </a:ext>
            </a:extLst>
          </p:cNvPr>
          <p:cNvSpPr/>
          <p:nvPr/>
        </p:nvSpPr>
        <p:spPr>
          <a:xfrm>
            <a:off x="10707449" y="5397060"/>
            <a:ext cx="1044278" cy="832523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70C0"/>
            </a:solidFill>
          </a:ln>
          <a:effectLst>
            <a:outerShdw dist="254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Strategic Partnership</a:t>
            </a:r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995B5AD6-51A4-5633-F703-3301DBF918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95274" y="5448015"/>
            <a:ext cx="214670" cy="360000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0D132B0A-BAD4-F62F-31B0-5A5D07C672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02865" y="5454532"/>
            <a:ext cx="249294" cy="36000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D52C42C6-C53B-DF22-0BA1-45AC17BC7A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84381" y="5420489"/>
            <a:ext cx="323074" cy="3600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F8FF6E14-059A-FB58-3215-3789E3D1F9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53354" y="5445853"/>
            <a:ext cx="273847" cy="36000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B6EBFB75-D97A-2968-5584-8C1519367A9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68554" y="5468915"/>
            <a:ext cx="280456" cy="360000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6D12A10-B4AD-C64F-C758-A73ABA4E3EF5}"/>
              </a:ext>
            </a:extLst>
          </p:cNvPr>
          <p:cNvSpPr/>
          <p:nvPr/>
        </p:nvSpPr>
        <p:spPr>
          <a:xfrm>
            <a:off x="7551077" y="3604470"/>
            <a:ext cx="343108" cy="135782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hangingPunct="0"/>
            <a:r>
              <a:rPr lang="en-IN" sz="798" b="1" kern="0" dirty="0">
                <a:solidFill>
                  <a:prstClr val="black">
                    <a:lumMod val="50000"/>
                    <a:lumOff val="50000"/>
                  </a:prstClr>
                </a:solidFill>
                <a:latin typeface="Lato" panose="020F0502020204030203" pitchFamily="34" charset="0"/>
                <a:cs typeface="Lato" panose="020F0502020204030203" pitchFamily="34" charset="0"/>
                <a:sym typeface="Palatino Linotype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1083834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72FF-7C4D-914B-0766-42664F0D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D612219-21D8-FAB7-C7F8-C48F1BAB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5" y="145617"/>
            <a:ext cx="10926134" cy="576000"/>
          </a:xfrm>
        </p:spPr>
        <p:txBody>
          <a:bodyPr>
            <a:normAutofit/>
          </a:bodyPr>
          <a:lstStyle/>
          <a:p>
            <a:r>
              <a:rPr lang="en-IN" dirty="0"/>
              <a:t>Innominds  |  Team Augmentation &amp; Staffing </a:t>
            </a:r>
            <a:r>
              <a:rPr lang="en-IN" dirty="0" err="1"/>
              <a:t>Experiance</a:t>
            </a:r>
            <a:endParaRPr lang="en-IN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D0B7BCE-A13C-38A3-5150-40927ECBF78E}"/>
              </a:ext>
            </a:extLst>
          </p:cNvPr>
          <p:cNvGrpSpPr/>
          <p:nvPr/>
        </p:nvGrpSpPr>
        <p:grpSpPr>
          <a:xfrm>
            <a:off x="139412" y="683015"/>
            <a:ext cx="11960352" cy="5784045"/>
            <a:chOff x="139412" y="709520"/>
            <a:chExt cx="11960352" cy="4213396"/>
          </a:xfrm>
        </p:grpSpPr>
        <p:sp>
          <p:nvSpPr>
            <p:cNvPr id="2" name="Shape 4">
              <a:extLst>
                <a:ext uri="{FF2B5EF4-FFF2-40B4-BE49-F238E27FC236}">
                  <a16:creationId xmlns:a16="http://schemas.microsoft.com/office/drawing/2014/main" id="{78C4F422-192E-4768-5B92-7606C39D907F}"/>
                </a:ext>
              </a:extLst>
            </p:cNvPr>
            <p:cNvSpPr/>
            <p:nvPr/>
          </p:nvSpPr>
          <p:spPr>
            <a:xfrm>
              <a:off x="139412" y="709520"/>
              <a:ext cx="2340864" cy="421339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40000"/>
              </a:schemeClr>
            </a:solidFill>
            <a:ln w="6350">
              <a:solidFill>
                <a:srgbClr val="00B0F0"/>
              </a:solidFill>
              <a:prstDash val="solid"/>
            </a:ln>
            <a:effectLst/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0A92B878-C9D0-F1BE-9B09-4F27BCE5F8CD}"/>
                </a:ext>
              </a:extLst>
            </p:cNvPr>
            <p:cNvSpPr/>
            <p:nvPr/>
          </p:nvSpPr>
          <p:spPr>
            <a:xfrm>
              <a:off x="139412" y="782672"/>
              <a:ext cx="2340864" cy="566928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4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27696E6E-FCEE-368C-A6D8-C957C3D2486E}"/>
                </a:ext>
              </a:extLst>
            </p:cNvPr>
            <p:cNvSpPr/>
            <p:nvPr/>
          </p:nvSpPr>
          <p:spPr>
            <a:xfrm>
              <a:off x="230852" y="800960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Nasdaq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A461F9FE-9605-5226-74FE-60AEADA45995}"/>
                </a:ext>
              </a:extLst>
            </p:cNvPr>
            <p:cNvSpPr/>
            <p:nvPr/>
          </p:nvSpPr>
          <p:spPr>
            <a:xfrm>
              <a:off x="230852" y="1111856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Market Data Compliance</a:t>
              </a:r>
            </a:p>
          </p:txBody>
        </p:sp>
        <p:sp>
          <p:nvSpPr>
            <p:cNvPr id="21" name="Shape 9">
              <a:extLst>
                <a:ext uri="{FF2B5EF4-FFF2-40B4-BE49-F238E27FC236}">
                  <a16:creationId xmlns:a16="http://schemas.microsoft.com/office/drawing/2014/main" id="{690C3DA1-F6F2-A32E-A862-1DE85ECC55C8}"/>
                </a:ext>
              </a:extLst>
            </p:cNvPr>
            <p:cNvSpPr/>
            <p:nvPr/>
          </p:nvSpPr>
          <p:spPr>
            <a:xfrm>
              <a:off x="212564" y="142275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CB78C884-3764-F85C-3931-628D05967B3D}"/>
                </a:ext>
              </a:extLst>
            </p:cNvPr>
            <p:cNvSpPr/>
            <p:nvPr/>
          </p:nvSpPr>
          <p:spPr>
            <a:xfrm>
              <a:off x="285716" y="144104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ENGAGEMENT OVERVIEW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7C755055-8D20-2158-58A1-648338617E8C}"/>
                </a:ext>
              </a:extLst>
            </p:cNvPr>
            <p:cNvSpPr/>
            <p:nvPr/>
          </p:nvSpPr>
          <p:spPr>
            <a:xfrm>
              <a:off x="230852" y="164220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Duration:</a:t>
              </a:r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7BABAED5-0251-08DD-1988-AEFB097A4A0B}"/>
                </a:ext>
              </a:extLst>
            </p:cNvPr>
            <p:cNvSpPr/>
            <p:nvPr/>
          </p:nvSpPr>
          <p:spPr>
            <a:xfrm>
              <a:off x="230852" y="177936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Multi-Year</a:t>
              </a:r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172681F1-29F6-CFBB-BAF4-816F14972A76}"/>
                </a:ext>
              </a:extLst>
            </p:cNvPr>
            <p:cNvSpPr/>
            <p:nvPr/>
          </p:nvSpPr>
          <p:spPr>
            <a:xfrm>
              <a:off x="230852" y="196224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Delivery Model:</a:t>
              </a:r>
            </a:p>
          </p:txBody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326D0A04-F9C2-8C9A-CF58-557F92C398B2}"/>
                </a:ext>
              </a:extLst>
            </p:cNvPr>
            <p:cNvSpPr/>
            <p:nvPr/>
          </p:nvSpPr>
          <p:spPr>
            <a:xfrm>
              <a:off x="230852" y="209940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Offshore-Led Agile</a:t>
              </a:r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EFC20179-631C-B466-B65E-6956B5FA5E5C}"/>
                </a:ext>
              </a:extLst>
            </p:cNvPr>
            <p:cNvSpPr/>
            <p:nvPr/>
          </p:nvSpPr>
          <p:spPr>
            <a:xfrm>
              <a:off x="230852" y="228228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Team Scale:</a:t>
              </a:r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8AF4FE38-64DB-2843-9ACA-04E8F1E5A4A5}"/>
                </a:ext>
              </a:extLst>
            </p:cNvPr>
            <p:cNvSpPr/>
            <p:nvPr/>
          </p:nvSpPr>
          <p:spPr>
            <a:xfrm>
              <a:off x="230852" y="241944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Cross-functional pod</a:t>
              </a:r>
            </a:p>
          </p:txBody>
        </p:sp>
        <p:sp>
          <p:nvSpPr>
            <p:cNvPr id="30" name="Shape 18">
              <a:extLst>
                <a:ext uri="{FF2B5EF4-FFF2-40B4-BE49-F238E27FC236}">
                  <a16:creationId xmlns:a16="http://schemas.microsoft.com/office/drawing/2014/main" id="{3EFB95CE-9CA5-8B02-2554-8D58701E743F}"/>
                </a:ext>
              </a:extLst>
            </p:cNvPr>
            <p:cNvSpPr/>
            <p:nvPr/>
          </p:nvSpPr>
          <p:spPr>
            <a:xfrm>
              <a:off x="212564" y="262061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2" name="Text 20">
              <a:extLst>
                <a:ext uri="{FF2B5EF4-FFF2-40B4-BE49-F238E27FC236}">
                  <a16:creationId xmlns:a16="http://schemas.microsoft.com/office/drawing/2014/main" id="{3E488AB7-FEC6-4161-91CC-6BC7BC561424}"/>
                </a:ext>
              </a:extLst>
            </p:cNvPr>
            <p:cNvSpPr/>
            <p:nvPr/>
          </p:nvSpPr>
          <p:spPr>
            <a:xfrm>
              <a:off x="285716" y="263890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TECH STACK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0A980DAF-8426-6EE1-8660-10A5E3526F3C}"/>
                </a:ext>
              </a:extLst>
            </p:cNvPr>
            <p:cNvSpPr/>
            <p:nvPr/>
          </p:nvSpPr>
          <p:spPr>
            <a:xfrm>
              <a:off x="230852" y="2840072"/>
              <a:ext cx="215798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Python · FastAPI · Node.js</a:t>
              </a:r>
            </a:p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React · AWS · PostgreSQL</a:t>
              </a:r>
            </a:p>
          </p:txBody>
        </p:sp>
        <p:sp>
          <p:nvSpPr>
            <p:cNvPr id="34" name="Shape 22">
              <a:extLst>
                <a:ext uri="{FF2B5EF4-FFF2-40B4-BE49-F238E27FC236}">
                  <a16:creationId xmlns:a16="http://schemas.microsoft.com/office/drawing/2014/main" id="{F9E2BB5D-783D-3462-6BE4-2F732D175D67}"/>
                </a:ext>
              </a:extLst>
            </p:cNvPr>
            <p:cNvSpPr/>
            <p:nvPr/>
          </p:nvSpPr>
          <p:spPr>
            <a:xfrm>
              <a:off x="212564" y="329727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6" name="Text 24">
              <a:extLst>
                <a:ext uri="{FF2B5EF4-FFF2-40B4-BE49-F238E27FC236}">
                  <a16:creationId xmlns:a16="http://schemas.microsoft.com/office/drawing/2014/main" id="{7C94A07B-CB26-F676-58BC-6C0B96BC922F}"/>
                </a:ext>
              </a:extLst>
            </p:cNvPr>
            <p:cNvSpPr/>
            <p:nvPr/>
          </p:nvSpPr>
          <p:spPr>
            <a:xfrm>
              <a:off x="285716" y="331556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METRICS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7" name="Shape 25">
              <a:extLst>
                <a:ext uri="{FF2B5EF4-FFF2-40B4-BE49-F238E27FC236}">
                  <a16:creationId xmlns:a16="http://schemas.microsoft.com/office/drawing/2014/main" id="{D599D10C-4799-AB62-6AD8-F8DA5A603956}"/>
                </a:ext>
              </a:extLst>
            </p:cNvPr>
            <p:cNvSpPr/>
            <p:nvPr/>
          </p:nvSpPr>
          <p:spPr>
            <a:xfrm>
              <a:off x="230852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8" name="Text 26">
              <a:extLst>
                <a:ext uri="{FF2B5EF4-FFF2-40B4-BE49-F238E27FC236}">
                  <a16:creationId xmlns:a16="http://schemas.microsoft.com/office/drawing/2014/main" id="{678D8896-1EE3-5A20-51B8-972ACCDF31C2}"/>
                </a:ext>
              </a:extLst>
            </p:cNvPr>
            <p:cNvSpPr/>
            <p:nvPr/>
          </p:nvSpPr>
          <p:spPr>
            <a:xfrm>
              <a:off x="230852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100%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9" name="Text 27">
              <a:extLst>
                <a:ext uri="{FF2B5EF4-FFF2-40B4-BE49-F238E27FC236}">
                  <a16:creationId xmlns:a16="http://schemas.microsoft.com/office/drawing/2014/main" id="{5D732A79-DA59-5554-FD04-AE872BD8E0F6}"/>
                </a:ext>
              </a:extLst>
            </p:cNvPr>
            <p:cNvSpPr/>
            <p:nvPr/>
          </p:nvSpPr>
          <p:spPr>
            <a:xfrm>
              <a:off x="230852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Cloud-Native</a:t>
              </a:r>
            </a:p>
          </p:txBody>
        </p:sp>
        <p:sp>
          <p:nvSpPr>
            <p:cNvPr id="40" name="Shape 28">
              <a:extLst>
                <a:ext uri="{FF2B5EF4-FFF2-40B4-BE49-F238E27FC236}">
                  <a16:creationId xmlns:a16="http://schemas.microsoft.com/office/drawing/2014/main" id="{1D3C10A6-6BBE-B022-3C98-46B57DD526F1}"/>
                </a:ext>
              </a:extLst>
            </p:cNvPr>
            <p:cNvSpPr/>
            <p:nvPr/>
          </p:nvSpPr>
          <p:spPr>
            <a:xfrm>
              <a:off x="956276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1" name="Text 29">
              <a:extLst>
                <a:ext uri="{FF2B5EF4-FFF2-40B4-BE49-F238E27FC236}">
                  <a16:creationId xmlns:a16="http://schemas.microsoft.com/office/drawing/2014/main" id="{6173E257-1760-A2C6-56EC-39921596C22F}"/>
                </a:ext>
              </a:extLst>
            </p:cNvPr>
            <p:cNvSpPr/>
            <p:nvPr/>
          </p:nvSpPr>
          <p:spPr>
            <a:xfrm>
              <a:off x="956276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30%-40%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2" name="Text 30">
              <a:extLst>
                <a:ext uri="{FF2B5EF4-FFF2-40B4-BE49-F238E27FC236}">
                  <a16:creationId xmlns:a16="http://schemas.microsoft.com/office/drawing/2014/main" id="{A1245517-4BD2-F88C-D1D1-1B274EAC6B21}"/>
                </a:ext>
              </a:extLst>
            </p:cNvPr>
            <p:cNvSpPr/>
            <p:nvPr/>
          </p:nvSpPr>
          <p:spPr>
            <a:xfrm>
              <a:off x="956276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Cost Reduced</a:t>
              </a:r>
            </a:p>
          </p:txBody>
        </p:sp>
        <p:sp>
          <p:nvSpPr>
            <p:cNvPr id="43" name="Shape 31">
              <a:extLst>
                <a:ext uri="{FF2B5EF4-FFF2-40B4-BE49-F238E27FC236}">
                  <a16:creationId xmlns:a16="http://schemas.microsoft.com/office/drawing/2014/main" id="{08E83D4D-F60A-999A-C75C-A027992EE9EF}"/>
                </a:ext>
              </a:extLst>
            </p:cNvPr>
            <p:cNvSpPr/>
            <p:nvPr/>
          </p:nvSpPr>
          <p:spPr>
            <a:xfrm>
              <a:off x="1681700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4" name="Text 32">
              <a:extLst>
                <a:ext uri="{FF2B5EF4-FFF2-40B4-BE49-F238E27FC236}">
                  <a16:creationId xmlns:a16="http://schemas.microsoft.com/office/drawing/2014/main" id="{EF1B6907-AFA6-15CA-5B90-AA38B580C0BB}"/>
                </a:ext>
              </a:extLst>
            </p:cNvPr>
            <p:cNvSpPr/>
            <p:nvPr/>
          </p:nvSpPr>
          <p:spPr>
            <a:xfrm>
              <a:off x="1681700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Auto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5" name="Text 33">
              <a:extLst>
                <a:ext uri="{FF2B5EF4-FFF2-40B4-BE49-F238E27FC236}">
                  <a16:creationId xmlns:a16="http://schemas.microsoft.com/office/drawing/2014/main" id="{1CD03001-7FB8-204B-CEA6-A55BF3592147}"/>
                </a:ext>
              </a:extLst>
            </p:cNvPr>
            <p:cNvSpPr/>
            <p:nvPr/>
          </p:nvSpPr>
          <p:spPr>
            <a:xfrm>
              <a:off x="1681700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Compliance</a:t>
              </a:r>
            </a:p>
          </p:txBody>
        </p:sp>
        <p:sp>
          <p:nvSpPr>
            <p:cNvPr id="46" name="Shape 34">
              <a:extLst>
                <a:ext uri="{FF2B5EF4-FFF2-40B4-BE49-F238E27FC236}">
                  <a16:creationId xmlns:a16="http://schemas.microsoft.com/office/drawing/2014/main" id="{6673E8A8-B5EE-97A5-113B-CBAD1548012F}"/>
                </a:ext>
              </a:extLst>
            </p:cNvPr>
            <p:cNvSpPr/>
            <p:nvPr/>
          </p:nvSpPr>
          <p:spPr>
            <a:xfrm>
              <a:off x="212564" y="417509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8" name="Text 36">
              <a:extLst>
                <a:ext uri="{FF2B5EF4-FFF2-40B4-BE49-F238E27FC236}">
                  <a16:creationId xmlns:a16="http://schemas.microsoft.com/office/drawing/2014/main" id="{2C537F69-94C9-C761-BB5E-654A2399B161}"/>
                </a:ext>
              </a:extLst>
            </p:cNvPr>
            <p:cNvSpPr/>
            <p:nvPr/>
          </p:nvSpPr>
          <p:spPr>
            <a:xfrm>
              <a:off x="285716" y="419338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IMPACT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9" name="Text 37">
              <a:extLst>
                <a:ext uri="{FF2B5EF4-FFF2-40B4-BE49-F238E27FC236}">
                  <a16:creationId xmlns:a16="http://schemas.microsoft.com/office/drawing/2014/main" id="{CB25E424-2AC0-F5D0-4CAB-A83C0665AFFD}"/>
                </a:ext>
              </a:extLst>
            </p:cNvPr>
            <p:cNvSpPr/>
            <p:nvPr/>
          </p:nvSpPr>
          <p:spPr>
            <a:xfrm>
              <a:off x="230852" y="4394552"/>
              <a:ext cx="2157984" cy="52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First dedicated Market Data Compliance app replacing manual web search &amp; spreadsheets. AWS-based scalable platform.</a:t>
              </a:r>
            </a:p>
          </p:txBody>
        </p:sp>
        <p:sp>
          <p:nvSpPr>
            <p:cNvPr id="50" name="Shape 38">
              <a:extLst>
                <a:ext uri="{FF2B5EF4-FFF2-40B4-BE49-F238E27FC236}">
                  <a16:creationId xmlns:a16="http://schemas.microsoft.com/office/drawing/2014/main" id="{51B7087B-6311-15B6-A19D-B45613E78BCB}"/>
                </a:ext>
              </a:extLst>
            </p:cNvPr>
            <p:cNvSpPr/>
            <p:nvPr/>
          </p:nvSpPr>
          <p:spPr>
            <a:xfrm>
              <a:off x="2544284" y="709520"/>
              <a:ext cx="2340864" cy="421339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40000"/>
              </a:schemeClr>
            </a:solidFill>
            <a:ln w="6350">
              <a:solidFill>
                <a:srgbClr val="00B0F0"/>
              </a:solidFill>
              <a:prstDash val="solid"/>
            </a:ln>
            <a:effectLst/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2" name="Shape 40">
              <a:extLst>
                <a:ext uri="{FF2B5EF4-FFF2-40B4-BE49-F238E27FC236}">
                  <a16:creationId xmlns:a16="http://schemas.microsoft.com/office/drawing/2014/main" id="{A57CF247-3987-071F-AA3B-298C52447F38}"/>
                </a:ext>
              </a:extLst>
            </p:cNvPr>
            <p:cNvSpPr/>
            <p:nvPr/>
          </p:nvSpPr>
          <p:spPr>
            <a:xfrm>
              <a:off x="2544284" y="782672"/>
              <a:ext cx="2340864" cy="566928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4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3" name="Text 41">
              <a:extLst>
                <a:ext uri="{FF2B5EF4-FFF2-40B4-BE49-F238E27FC236}">
                  <a16:creationId xmlns:a16="http://schemas.microsoft.com/office/drawing/2014/main" id="{99303CE2-01C0-00DF-5603-435BC703E6F1}"/>
                </a:ext>
              </a:extLst>
            </p:cNvPr>
            <p:cNvSpPr/>
            <p:nvPr/>
          </p:nvSpPr>
          <p:spPr>
            <a:xfrm>
              <a:off x="2635724" y="800960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Qualcomm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4" name="Text 42">
              <a:extLst>
                <a:ext uri="{FF2B5EF4-FFF2-40B4-BE49-F238E27FC236}">
                  <a16:creationId xmlns:a16="http://schemas.microsoft.com/office/drawing/2014/main" id="{98A60739-8317-F687-1B87-31485C50CF6F}"/>
                </a:ext>
              </a:extLst>
            </p:cNvPr>
            <p:cNvSpPr/>
            <p:nvPr/>
          </p:nvSpPr>
          <p:spPr>
            <a:xfrm>
              <a:off x="2635724" y="1111856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Telecom &amp; Semiconductor R&amp;D</a:t>
              </a:r>
            </a:p>
          </p:txBody>
        </p:sp>
        <p:sp>
          <p:nvSpPr>
            <p:cNvPr id="55" name="Shape 43">
              <a:extLst>
                <a:ext uri="{FF2B5EF4-FFF2-40B4-BE49-F238E27FC236}">
                  <a16:creationId xmlns:a16="http://schemas.microsoft.com/office/drawing/2014/main" id="{07387D87-F132-BFA5-924E-8419FC5C972D}"/>
                </a:ext>
              </a:extLst>
            </p:cNvPr>
            <p:cNvSpPr/>
            <p:nvPr/>
          </p:nvSpPr>
          <p:spPr>
            <a:xfrm>
              <a:off x="2617436" y="142275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7" name="Text 45">
              <a:extLst>
                <a:ext uri="{FF2B5EF4-FFF2-40B4-BE49-F238E27FC236}">
                  <a16:creationId xmlns:a16="http://schemas.microsoft.com/office/drawing/2014/main" id="{4FBD8E07-CC33-904A-43D2-2493E3A2868E}"/>
                </a:ext>
              </a:extLst>
            </p:cNvPr>
            <p:cNvSpPr/>
            <p:nvPr/>
          </p:nvSpPr>
          <p:spPr>
            <a:xfrm>
              <a:off x="2690588" y="144104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ENGAGEMENT OVERVIEW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8" name="Text 46">
              <a:extLst>
                <a:ext uri="{FF2B5EF4-FFF2-40B4-BE49-F238E27FC236}">
                  <a16:creationId xmlns:a16="http://schemas.microsoft.com/office/drawing/2014/main" id="{FF812CF6-9877-6EFE-726B-AB079427E72A}"/>
                </a:ext>
              </a:extLst>
            </p:cNvPr>
            <p:cNvSpPr/>
            <p:nvPr/>
          </p:nvSpPr>
          <p:spPr>
            <a:xfrm>
              <a:off x="2635724" y="164220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Duration:</a:t>
              </a:r>
            </a:p>
          </p:txBody>
        </p:sp>
        <p:sp>
          <p:nvSpPr>
            <p:cNvPr id="59" name="Text 47">
              <a:extLst>
                <a:ext uri="{FF2B5EF4-FFF2-40B4-BE49-F238E27FC236}">
                  <a16:creationId xmlns:a16="http://schemas.microsoft.com/office/drawing/2014/main" id="{FAD0AF6D-ECEE-090E-248D-6D074091A287}"/>
                </a:ext>
              </a:extLst>
            </p:cNvPr>
            <p:cNvSpPr/>
            <p:nvPr/>
          </p:nvSpPr>
          <p:spPr>
            <a:xfrm>
              <a:off x="2635724" y="177936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17+ Years (Since 2008)</a:t>
              </a:r>
            </a:p>
          </p:txBody>
        </p:sp>
        <p:sp>
          <p:nvSpPr>
            <p:cNvPr id="60" name="Text 48">
              <a:extLst>
                <a:ext uri="{FF2B5EF4-FFF2-40B4-BE49-F238E27FC236}">
                  <a16:creationId xmlns:a16="http://schemas.microsoft.com/office/drawing/2014/main" id="{6ED6E64F-7F4D-7737-6227-2034D1EE3958}"/>
                </a:ext>
              </a:extLst>
            </p:cNvPr>
            <p:cNvSpPr/>
            <p:nvPr/>
          </p:nvSpPr>
          <p:spPr>
            <a:xfrm>
              <a:off x="2635724" y="196224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Delivery Model:</a:t>
              </a:r>
            </a:p>
          </p:txBody>
        </p:sp>
        <p:sp>
          <p:nvSpPr>
            <p:cNvPr id="61" name="Text 49">
              <a:extLst>
                <a:ext uri="{FF2B5EF4-FFF2-40B4-BE49-F238E27FC236}">
                  <a16:creationId xmlns:a16="http://schemas.microsoft.com/office/drawing/2014/main" id="{FF401123-96A6-7FC9-4173-CEF819FCF6E4}"/>
                </a:ext>
              </a:extLst>
            </p:cNvPr>
            <p:cNvSpPr/>
            <p:nvPr/>
          </p:nvSpPr>
          <p:spPr>
            <a:xfrm>
              <a:off x="2635724" y="209940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Hybrid Onsite + Offshore</a:t>
              </a:r>
            </a:p>
          </p:txBody>
        </p:sp>
        <p:sp>
          <p:nvSpPr>
            <p:cNvPr id="62" name="Text 50">
              <a:extLst>
                <a:ext uri="{FF2B5EF4-FFF2-40B4-BE49-F238E27FC236}">
                  <a16:creationId xmlns:a16="http://schemas.microsoft.com/office/drawing/2014/main" id="{86B3C01E-DC4D-2251-25EC-DEF21988CD87}"/>
                </a:ext>
              </a:extLst>
            </p:cNvPr>
            <p:cNvSpPr/>
            <p:nvPr/>
          </p:nvSpPr>
          <p:spPr>
            <a:xfrm>
              <a:off x="2635724" y="228228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Team Scale:</a:t>
              </a:r>
            </a:p>
          </p:txBody>
        </p:sp>
        <p:sp>
          <p:nvSpPr>
            <p:cNvPr id="63" name="Text 51">
              <a:extLst>
                <a:ext uri="{FF2B5EF4-FFF2-40B4-BE49-F238E27FC236}">
                  <a16:creationId xmlns:a16="http://schemas.microsoft.com/office/drawing/2014/main" id="{5A981634-CB02-3059-3F7B-F3BE67E431E1}"/>
                </a:ext>
              </a:extLst>
            </p:cNvPr>
            <p:cNvSpPr/>
            <p:nvPr/>
          </p:nvSpPr>
          <p:spPr>
            <a:xfrm>
              <a:off x="2635724" y="241944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Peak: 400 Engineers</a:t>
              </a:r>
            </a:p>
          </p:txBody>
        </p:sp>
        <p:sp>
          <p:nvSpPr>
            <p:cNvPr id="64" name="Shape 52">
              <a:extLst>
                <a:ext uri="{FF2B5EF4-FFF2-40B4-BE49-F238E27FC236}">
                  <a16:creationId xmlns:a16="http://schemas.microsoft.com/office/drawing/2014/main" id="{B5749B20-67E9-296C-51A1-C4019DC018B1}"/>
                </a:ext>
              </a:extLst>
            </p:cNvPr>
            <p:cNvSpPr/>
            <p:nvPr/>
          </p:nvSpPr>
          <p:spPr>
            <a:xfrm>
              <a:off x="2617436" y="262061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 54">
              <a:extLst>
                <a:ext uri="{FF2B5EF4-FFF2-40B4-BE49-F238E27FC236}">
                  <a16:creationId xmlns:a16="http://schemas.microsoft.com/office/drawing/2014/main" id="{19405AB5-DDDF-955A-4A5C-E406C8AF2F27}"/>
                </a:ext>
              </a:extLst>
            </p:cNvPr>
            <p:cNvSpPr/>
            <p:nvPr/>
          </p:nvSpPr>
          <p:spPr>
            <a:xfrm>
              <a:off x="2690588" y="263890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TECH STACK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7" name="Text 55">
              <a:extLst>
                <a:ext uri="{FF2B5EF4-FFF2-40B4-BE49-F238E27FC236}">
                  <a16:creationId xmlns:a16="http://schemas.microsoft.com/office/drawing/2014/main" id="{2B0D7771-090C-A118-78C4-17FD56534D6E}"/>
                </a:ext>
              </a:extLst>
            </p:cNvPr>
            <p:cNvSpPr/>
            <p:nvPr/>
          </p:nvSpPr>
          <p:spPr>
            <a:xfrm>
              <a:off x="2635724" y="2840072"/>
              <a:ext cx="215798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C/C++ · Python · Golang</a:t>
              </a:r>
            </a:p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Kubernetes · 3GPP · IMS</a:t>
              </a:r>
            </a:p>
          </p:txBody>
        </p:sp>
        <p:sp>
          <p:nvSpPr>
            <p:cNvPr id="68" name="Shape 56">
              <a:extLst>
                <a:ext uri="{FF2B5EF4-FFF2-40B4-BE49-F238E27FC236}">
                  <a16:creationId xmlns:a16="http://schemas.microsoft.com/office/drawing/2014/main" id="{E174B196-1AFF-64BD-8208-003E371BC5E1}"/>
                </a:ext>
              </a:extLst>
            </p:cNvPr>
            <p:cNvSpPr/>
            <p:nvPr/>
          </p:nvSpPr>
          <p:spPr>
            <a:xfrm>
              <a:off x="2617436" y="329727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 58">
              <a:extLst>
                <a:ext uri="{FF2B5EF4-FFF2-40B4-BE49-F238E27FC236}">
                  <a16:creationId xmlns:a16="http://schemas.microsoft.com/office/drawing/2014/main" id="{DCF1177E-B1E2-DBC7-D6A6-BBDCCCDA90E8}"/>
                </a:ext>
              </a:extLst>
            </p:cNvPr>
            <p:cNvSpPr/>
            <p:nvPr/>
          </p:nvSpPr>
          <p:spPr>
            <a:xfrm>
              <a:off x="2690588" y="331556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METRICS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Shape 59">
              <a:extLst>
                <a:ext uri="{FF2B5EF4-FFF2-40B4-BE49-F238E27FC236}">
                  <a16:creationId xmlns:a16="http://schemas.microsoft.com/office/drawing/2014/main" id="{0FF81940-90D6-E655-B28F-0EABCD547F62}"/>
                </a:ext>
              </a:extLst>
            </p:cNvPr>
            <p:cNvSpPr/>
            <p:nvPr/>
          </p:nvSpPr>
          <p:spPr>
            <a:xfrm>
              <a:off x="2635724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2" name="Text 60">
              <a:extLst>
                <a:ext uri="{FF2B5EF4-FFF2-40B4-BE49-F238E27FC236}">
                  <a16:creationId xmlns:a16="http://schemas.microsoft.com/office/drawing/2014/main" id="{9C416B7F-1C3F-D872-E75D-5806C150CA3F}"/>
                </a:ext>
              </a:extLst>
            </p:cNvPr>
            <p:cNvSpPr/>
            <p:nvPr/>
          </p:nvSpPr>
          <p:spPr>
            <a:xfrm>
              <a:off x="2635724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$500K+</a:t>
              </a:r>
              <a:endPara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 61">
              <a:extLst>
                <a:ext uri="{FF2B5EF4-FFF2-40B4-BE49-F238E27FC236}">
                  <a16:creationId xmlns:a16="http://schemas.microsoft.com/office/drawing/2014/main" id="{F1E221BA-0662-6E83-566B-6DAE0833812A}"/>
                </a:ext>
              </a:extLst>
            </p:cNvPr>
            <p:cNvSpPr/>
            <p:nvPr/>
          </p:nvSpPr>
          <p:spPr>
            <a:xfrm>
              <a:off x="2635724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Annual Savings</a:t>
              </a:r>
            </a:p>
          </p:txBody>
        </p:sp>
        <p:sp>
          <p:nvSpPr>
            <p:cNvPr id="74" name="Shape 62">
              <a:extLst>
                <a:ext uri="{FF2B5EF4-FFF2-40B4-BE49-F238E27FC236}">
                  <a16:creationId xmlns:a16="http://schemas.microsoft.com/office/drawing/2014/main" id="{04F700DF-CCEF-C49D-876F-414E01728F29}"/>
                </a:ext>
              </a:extLst>
            </p:cNvPr>
            <p:cNvSpPr/>
            <p:nvPr/>
          </p:nvSpPr>
          <p:spPr>
            <a:xfrm>
              <a:off x="3361148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5" name="Text 63">
              <a:extLst>
                <a:ext uri="{FF2B5EF4-FFF2-40B4-BE49-F238E27FC236}">
                  <a16:creationId xmlns:a16="http://schemas.microsoft.com/office/drawing/2014/main" id="{45B4AF9B-06E5-B5AA-3624-CD645BF5F671}"/>
                </a:ext>
              </a:extLst>
            </p:cNvPr>
            <p:cNvSpPr/>
            <p:nvPr/>
          </p:nvSpPr>
          <p:spPr>
            <a:xfrm>
              <a:off x="3361148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39%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 64">
              <a:extLst>
                <a:ext uri="{FF2B5EF4-FFF2-40B4-BE49-F238E27FC236}">
                  <a16:creationId xmlns:a16="http://schemas.microsoft.com/office/drawing/2014/main" id="{4BB9EF4E-FD3D-56FA-9FAA-C6364335DFEA}"/>
                </a:ext>
              </a:extLst>
            </p:cNvPr>
            <p:cNvSpPr/>
            <p:nvPr/>
          </p:nvSpPr>
          <p:spPr>
            <a:xfrm>
              <a:off x="3361148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Quality Uplift</a:t>
              </a:r>
            </a:p>
          </p:txBody>
        </p:sp>
        <p:sp>
          <p:nvSpPr>
            <p:cNvPr id="77" name="Shape 65">
              <a:extLst>
                <a:ext uri="{FF2B5EF4-FFF2-40B4-BE49-F238E27FC236}">
                  <a16:creationId xmlns:a16="http://schemas.microsoft.com/office/drawing/2014/main" id="{9E1EE3CE-6C37-CC11-C175-415FC6ED184E}"/>
                </a:ext>
              </a:extLst>
            </p:cNvPr>
            <p:cNvSpPr/>
            <p:nvPr/>
          </p:nvSpPr>
          <p:spPr>
            <a:xfrm>
              <a:off x="4086572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 66">
              <a:extLst>
                <a:ext uri="{FF2B5EF4-FFF2-40B4-BE49-F238E27FC236}">
                  <a16:creationId xmlns:a16="http://schemas.microsoft.com/office/drawing/2014/main" id="{AED8054C-6095-1B56-5E64-9FA1AD1A40C4}"/>
                </a:ext>
              </a:extLst>
            </p:cNvPr>
            <p:cNvSpPr/>
            <p:nvPr/>
          </p:nvSpPr>
          <p:spPr>
            <a:xfrm>
              <a:off x="4086572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5–15%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9" name="Text 67">
              <a:extLst>
                <a:ext uri="{FF2B5EF4-FFF2-40B4-BE49-F238E27FC236}">
                  <a16:creationId xmlns:a16="http://schemas.microsoft.com/office/drawing/2014/main" id="{70C36503-BE28-4586-5154-8BBAC10CC036}"/>
                </a:ext>
              </a:extLst>
            </p:cNvPr>
            <p:cNvSpPr/>
            <p:nvPr/>
          </p:nvSpPr>
          <p:spPr>
            <a:xfrm>
              <a:off x="4086572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Faster TTM</a:t>
              </a:r>
            </a:p>
          </p:txBody>
        </p:sp>
        <p:sp>
          <p:nvSpPr>
            <p:cNvPr id="80" name="Shape 68">
              <a:extLst>
                <a:ext uri="{FF2B5EF4-FFF2-40B4-BE49-F238E27FC236}">
                  <a16:creationId xmlns:a16="http://schemas.microsoft.com/office/drawing/2014/main" id="{182AA7F9-2E6F-978E-B168-2C2F7BA516EB}"/>
                </a:ext>
              </a:extLst>
            </p:cNvPr>
            <p:cNvSpPr/>
            <p:nvPr/>
          </p:nvSpPr>
          <p:spPr>
            <a:xfrm>
              <a:off x="2617436" y="417509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2" name="Text 70">
              <a:extLst>
                <a:ext uri="{FF2B5EF4-FFF2-40B4-BE49-F238E27FC236}">
                  <a16:creationId xmlns:a16="http://schemas.microsoft.com/office/drawing/2014/main" id="{340A7435-D8B5-5265-C731-310738236C0C}"/>
                </a:ext>
              </a:extLst>
            </p:cNvPr>
            <p:cNvSpPr/>
            <p:nvPr/>
          </p:nvSpPr>
          <p:spPr>
            <a:xfrm>
              <a:off x="2690588" y="419338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IMPACT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 71">
              <a:extLst>
                <a:ext uri="{FF2B5EF4-FFF2-40B4-BE49-F238E27FC236}">
                  <a16:creationId xmlns:a16="http://schemas.microsoft.com/office/drawing/2014/main" id="{1A40D42D-AA64-EE5E-CAB4-1370BDE1BDD3}"/>
                </a:ext>
              </a:extLst>
            </p:cNvPr>
            <p:cNvSpPr/>
            <p:nvPr/>
          </p:nvSpPr>
          <p:spPr>
            <a:xfrm>
              <a:off x="2635724" y="4394552"/>
              <a:ext cx="2157984" cy="52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Scaled 200 engineers in &lt;6 months. 85% utilization, &lt;2% defect density. ML-driven resource forecasting.</a:t>
              </a:r>
            </a:p>
          </p:txBody>
        </p:sp>
        <p:sp>
          <p:nvSpPr>
            <p:cNvPr id="84" name="Shape 72">
              <a:extLst>
                <a:ext uri="{FF2B5EF4-FFF2-40B4-BE49-F238E27FC236}">
                  <a16:creationId xmlns:a16="http://schemas.microsoft.com/office/drawing/2014/main" id="{0CF86952-FD94-54F8-3EF4-C8B09EC803CD}"/>
                </a:ext>
              </a:extLst>
            </p:cNvPr>
            <p:cNvSpPr/>
            <p:nvPr/>
          </p:nvSpPr>
          <p:spPr>
            <a:xfrm>
              <a:off x="4949156" y="709520"/>
              <a:ext cx="2340864" cy="421339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40000"/>
              </a:schemeClr>
            </a:solidFill>
            <a:ln w="6350">
              <a:solidFill>
                <a:srgbClr val="00B0F0"/>
              </a:solidFill>
              <a:prstDash val="solid"/>
            </a:ln>
            <a:effectLst/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6" name="Shape 74">
              <a:extLst>
                <a:ext uri="{FF2B5EF4-FFF2-40B4-BE49-F238E27FC236}">
                  <a16:creationId xmlns:a16="http://schemas.microsoft.com/office/drawing/2014/main" id="{E35184A5-8041-A940-19DE-666068F5C422}"/>
                </a:ext>
              </a:extLst>
            </p:cNvPr>
            <p:cNvSpPr/>
            <p:nvPr/>
          </p:nvSpPr>
          <p:spPr>
            <a:xfrm>
              <a:off x="4949156" y="782672"/>
              <a:ext cx="2340864" cy="566928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4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 75">
              <a:extLst>
                <a:ext uri="{FF2B5EF4-FFF2-40B4-BE49-F238E27FC236}">
                  <a16:creationId xmlns:a16="http://schemas.microsoft.com/office/drawing/2014/main" id="{94D410AC-D504-0517-8BAE-EE3AC6C5905B}"/>
                </a:ext>
              </a:extLst>
            </p:cNvPr>
            <p:cNvSpPr/>
            <p:nvPr/>
          </p:nvSpPr>
          <p:spPr>
            <a:xfrm>
              <a:off x="5040596" y="800960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Informatica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8" name="Text 76">
              <a:extLst>
                <a:ext uri="{FF2B5EF4-FFF2-40B4-BE49-F238E27FC236}">
                  <a16:creationId xmlns:a16="http://schemas.microsoft.com/office/drawing/2014/main" id="{7606CC16-019A-2CE5-C40C-3B203EE34250}"/>
                </a:ext>
              </a:extLst>
            </p:cNvPr>
            <p:cNvSpPr/>
            <p:nvPr/>
          </p:nvSpPr>
          <p:spPr>
            <a:xfrm>
              <a:off x="5040596" y="1111856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 &amp; Cloud Engineering</a:t>
              </a:r>
            </a:p>
          </p:txBody>
        </p:sp>
        <p:sp>
          <p:nvSpPr>
            <p:cNvPr id="89" name="Shape 77">
              <a:extLst>
                <a:ext uri="{FF2B5EF4-FFF2-40B4-BE49-F238E27FC236}">
                  <a16:creationId xmlns:a16="http://schemas.microsoft.com/office/drawing/2014/main" id="{A51FF7B4-7796-7779-F361-3B40C99DAC3C}"/>
                </a:ext>
              </a:extLst>
            </p:cNvPr>
            <p:cNvSpPr/>
            <p:nvPr/>
          </p:nvSpPr>
          <p:spPr>
            <a:xfrm>
              <a:off x="5022308" y="142275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 79">
              <a:extLst>
                <a:ext uri="{FF2B5EF4-FFF2-40B4-BE49-F238E27FC236}">
                  <a16:creationId xmlns:a16="http://schemas.microsoft.com/office/drawing/2014/main" id="{F2B6DB44-7191-A44E-36D9-784534EC84B4}"/>
                </a:ext>
              </a:extLst>
            </p:cNvPr>
            <p:cNvSpPr/>
            <p:nvPr/>
          </p:nvSpPr>
          <p:spPr>
            <a:xfrm>
              <a:off x="5095460" y="144104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ENGAGEMENT OVERVIEW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 80">
              <a:extLst>
                <a:ext uri="{FF2B5EF4-FFF2-40B4-BE49-F238E27FC236}">
                  <a16:creationId xmlns:a16="http://schemas.microsoft.com/office/drawing/2014/main" id="{7B72A7D8-4403-FD59-51DF-16F26F390A2D}"/>
                </a:ext>
              </a:extLst>
            </p:cNvPr>
            <p:cNvSpPr/>
            <p:nvPr/>
          </p:nvSpPr>
          <p:spPr>
            <a:xfrm>
              <a:off x="5040596" y="164220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Duration:</a:t>
              </a:r>
            </a:p>
          </p:txBody>
        </p:sp>
        <p:sp>
          <p:nvSpPr>
            <p:cNvPr id="93" name="Text 81">
              <a:extLst>
                <a:ext uri="{FF2B5EF4-FFF2-40B4-BE49-F238E27FC236}">
                  <a16:creationId xmlns:a16="http://schemas.microsoft.com/office/drawing/2014/main" id="{DA8FE49A-9258-F12A-FF09-D07DCDFF3B33}"/>
                </a:ext>
              </a:extLst>
            </p:cNvPr>
            <p:cNvSpPr/>
            <p:nvPr/>
          </p:nvSpPr>
          <p:spPr>
            <a:xfrm>
              <a:off x="5040596" y="177936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6 Years (2021–2027)</a:t>
              </a:r>
            </a:p>
          </p:txBody>
        </p:sp>
        <p:sp>
          <p:nvSpPr>
            <p:cNvPr id="94" name="Text 82">
              <a:extLst>
                <a:ext uri="{FF2B5EF4-FFF2-40B4-BE49-F238E27FC236}">
                  <a16:creationId xmlns:a16="http://schemas.microsoft.com/office/drawing/2014/main" id="{142AAF05-CF3C-A73A-0EDB-A0FF460F43BD}"/>
                </a:ext>
              </a:extLst>
            </p:cNvPr>
            <p:cNvSpPr/>
            <p:nvPr/>
          </p:nvSpPr>
          <p:spPr>
            <a:xfrm>
              <a:off x="5040596" y="196224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Delivery Model:</a:t>
              </a:r>
            </a:p>
          </p:txBody>
        </p:sp>
        <p:sp>
          <p:nvSpPr>
            <p:cNvPr id="95" name="Text 83">
              <a:extLst>
                <a:ext uri="{FF2B5EF4-FFF2-40B4-BE49-F238E27FC236}">
                  <a16:creationId xmlns:a16="http://schemas.microsoft.com/office/drawing/2014/main" id="{7FD2781A-C6FD-75B6-D15E-1F9CCB17B77F}"/>
                </a:ext>
              </a:extLst>
            </p:cNvPr>
            <p:cNvSpPr/>
            <p:nvPr/>
          </p:nvSpPr>
          <p:spPr>
            <a:xfrm>
              <a:off x="5040596" y="209940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Hybrid — India/US/EU</a:t>
              </a:r>
            </a:p>
          </p:txBody>
        </p:sp>
        <p:sp>
          <p:nvSpPr>
            <p:cNvPr id="96" name="Text 84">
              <a:extLst>
                <a:ext uri="{FF2B5EF4-FFF2-40B4-BE49-F238E27FC236}">
                  <a16:creationId xmlns:a16="http://schemas.microsoft.com/office/drawing/2014/main" id="{5A0ADE4E-4093-B488-6391-78C83214F6A5}"/>
                </a:ext>
              </a:extLst>
            </p:cNvPr>
            <p:cNvSpPr/>
            <p:nvPr/>
          </p:nvSpPr>
          <p:spPr>
            <a:xfrm>
              <a:off x="5040596" y="228228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Team Scale:</a:t>
              </a:r>
            </a:p>
          </p:txBody>
        </p:sp>
        <p:sp>
          <p:nvSpPr>
            <p:cNvPr id="97" name="Text 85">
              <a:extLst>
                <a:ext uri="{FF2B5EF4-FFF2-40B4-BE49-F238E27FC236}">
                  <a16:creationId xmlns:a16="http://schemas.microsoft.com/office/drawing/2014/main" id="{91313A51-EB8F-ED8C-014D-875B460D9B50}"/>
                </a:ext>
              </a:extLst>
            </p:cNvPr>
            <p:cNvSpPr/>
            <p:nvPr/>
          </p:nvSpPr>
          <p:spPr>
            <a:xfrm>
              <a:off x="5040596" y="241944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50 Members, 25+ in &lt;30 Days</a:t>
              </a:r>
            </a:p>
          </p:txBody>
        </p:sp>
        <p:sp>
          <p:nvSpPr>
            <p:cNvPr id="98" name="Shape 86">
              <a:extLst>
                <a:ext uri="{FF2B5EF4-FFF2-40B4-BE49-F238E27FC236}">
                  <a16:creationId xmlns:a16="http://schemas.microsoft.com/office/drawing/2014/main" id="{4A4A512E-A7CB-02F1-763F-5512B1C85E63}"/>
                </a:ext>
              </a:extLst>
            </p:cNvPr>
            <p:cNvSpPr/>
            <p:nvPr/>
          </p:nvSpPr>
          <p:spPr>
            <a:xfrm>
              <a:off x="5022308" y="262061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0" name="Text 88">
              <a:extLst>
                <a:ext uri="{FF2B5EF4-FFF2-40B4-BE49-F238E27FC236}">
                  <a16:creationId xmlns:a16="http://schemas.microsoft.com/office/drawing/2014/main" id="{958FD287-53FD-B1A0-BC6F-03542917B774}"/>
                </a:ext>
              </a:extLst>
            </p:cNvPr>
            <p:cNvSpPr/>
            <p:nvPr/>
          </p:nvSpPr>
          <p:spPr>
            <a:xfrm>
              <a:off x="5095460" y="263890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TECH STACK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1" name="Text 89">
              <a:extLst>
                <a:ext uri="{FF2B5EF4-FFF2-40B4-BE49-F238E27FC236}">
                  <a16:creationId xmlns:a16="http://schemas.microsoft.com/office/drawing/2014/main" id="{44FA7C14-799A-0916-5A47-E9D5F31000A3}"/>
                </a:ext>
              </a:extLst>
            </p:cNvPr>
            <p:cNvSpPr/>
            <p:nvPr/>
          </p:nvSpPr>
          <p:spPr>
            <a:xfrm>
              <a:off x="5040596" y="2840072"/>
              <a:ext cx="215798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Java · Python · ReactJS</a:t>
              </a:r>
            </a:p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Postgres · Spark · Kubernetes</a:t>
              </a:r>
            </a:p>
          </p:txBody>
        </p:sp>
        <p:sp>
          <p:nvSpPr>
            <p:cNvPr id="102" name="Shape 90">
              <a:extLst>
                <a:ext uri="{FF2B5EF4-FFF2-40B4-BE49-F238E27FC236}">
                  <a16:creationId xmlns:a16="http://schemas.microsoft.com/office/drawing/2014/main" id="{BEEAE33C-63E3-CAC5-AC7F-051720751193}"/>
                </a:ext>
              </a:extLst>
            </p:cNvPr>
            <p:cNvSpPr/>
            <p:nvPr/>
          </p:nvSpPr>
          <p:spPr>
            <a:xfrm>
              <a:off x="5022308" y="329727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4" name="Text 92">
              <a:extLst>
                <a:ext uri="{FF2B5EF4-FFF2-40B4-BE49-F238E27FC236}">
                  <a16:creationId xmlns:a16="http://schemas.microsoft.com/office/drawing/2014/main" id="{92E6CE04-78E8-36BF-7289-1836851DFAF6}"/>
                </a:ext>
              </a:extLst>
            </p:cNvPr>
            <p:cNvSpPr/>
            <p:nvPr/>
          </p:nvSpPr>
          <p:spPr>
            <a:xfrm>
              <a:off x="5095460" y="331556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METRICS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5" name="Shape 93">
              <a:extLst>
                <a:ext uri="{FF2B5EF4-FFF2-40B4-BE49-F238E27FC236}">
                  <a16:creationId xmlns:a16="http://schemas.microsoft.com/office/drawing/2014/main" id="{FD54EB8B-97DD-6F34-EF87-E60BE7F10AF7}"/>
                </a:ext>
              </a:extLst>
            </p:cNvPr>
            <p:cNvSpPr/>
            <p:nvPr/>
          </p:nvSpPr>
          <p:spPr>
            <a:xfrm>
              <a:off x="5040596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6" name="Text 94">
              <a:extLst>
                <a:ext uri="{FF2B5EF4-FFF2-40B4-BE49-F238E27FC236}">
                  <a16:creationId xmlns:a16="http://schemas.microsoft.com/office/drawing/2014/main" id="{E5DB0CC8-B833-2DA9-32CF-4F3349A0EE15}"/>
                </a:ext>
              </a:extLst>
            </p:cNvPr>
            <p:cNvSpPr/>
            <p:nvPr/>
          </p:nvSpPr>
          <p:spPr>
            <a:xfrm>
              <a:off x="5040596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100%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7" name="Text 95">
              <a:extLst>
                <a:ext uri="{FF2B5EF4-FFF2-40B4-BE49-F238E27FC236}">
                  <a16:creationId xmlns:a16="http://schemas.microsoft.com/office/drawing/2014/main" id="{238DE662-1D8D-FB7F-D0AD-CD7EBB4659A8}"/>
                </a:ext>
              </a:extLst>
            </p:cNvPr>
            <p:cNvSpPr/>
            <p:nvPr/>
          </p:nvSpPr>
          <p:spPr>
            <a:xfrm>
              <a:off x="5040596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SLA Compliance</a:t>
              </a:r>
            </a:p>
          </p:txBody>
        </p:sp>
        <p:sp>
          <p:nvSpPr>
            <p:cNvPr id="108" name="Shape 96">
              <a:extLst>
                <a:ext uri="{FF2B5EF4-FFF2-40B4-BE49-F238E27FC236}">
                  <a16:creationId xmlns:a16="http://schemas.microsoft.com/office/drawing/2014/main" id="{3BD144C6-77B4-1834-1ED1-8186A6E3662F}"/>
                </a:ext>
              </a:extLst>
            </p:cNvPr>
            <p:cNvSpPr/>
            <p:nvPr/>
          </p:nvSpPr>
          <p:spPr>
            <a:xfrm>
              <a:off x="5766020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9" name="Text 97">
              <a:extLst>
                <a:ext uri="{FF2B5EF4-FFF2-40B4-BE49-F238E27FC236}">
                  <a16:creationId xmlns:a16="http://schemas.microsoft.com/office/drawing/2014/main" id="{59E595E7-0F82-C163-8371-2B208C9402A9}"/>
                </a:ext>
              </a:extLst>
            </p:cNvPr>
            <p:cNvSpPr/>
            <p:nvPr/>
          </p:nvSpPr>
          <p:spPr>
            <a:xfrm>
              <a:off x="5766020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8+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0" name="Text 98">
              <a:extLst>
                <a:ext uri="{FF2B5EF4-FFF2-40B4-BE49-F238E27FC236}">
                  <a16:creationId xmlns:a16="http://schemas.microsoft.com/office/drawing/2014/main" id="{2B15E1BF-30BD-D978-BFCF-77ADDEDF9F73}"/>
                </a:ext>
              </a:extLst>
            </p:cNvPr>
            <p:cNvSpPr/>
            <p:nvPr/>
          </p:nvSpPr>
          <p:spPr>
            <a:xfrm>
              <a:off x="5766020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Products Supported</a:t>
              </a:r>
            </a:p>
          </p:txBody>
        </p:sp>
        <p:sp>
          <p:nvSpPr>
            <p:cNvPr id="111" name="Shape 99">
              <a:extLst>
                <a:ext uri="{FF2B5EF4-FFF2-40B4-BE49-F238E27FC236}">
                  <a16:creationId xmlns:a16="http://schemas.microsoft.com/office/drawing/2014/main" id="{8A558B8D-999A-E670-5BB6-5B6291DA0AD5}"/>
                </a:ext>
              </a:extLst>
            </p:cNvPr>
            <p:cNvSpPr/>
            <p:nvPr/>
          </p:nvSpPr>
          <p:spPr>
            <a:xfrm>
              <a:off x="6491444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2" name="Text 100">
              <a:extLst>
                <a:ext uri="{FF2B5EF4-FFF2-40B4-BE49-F238E27FC236}">
                  <a16:creationId xmlns:a16="http://schemas.microsoft.com/office/drawing/2014/main" id="{2889F072-3FA3-B175-4A99-EFEA3BD9972F}"/>
                </a:ext>
              </a:extLst>
            </p:cNvPr>
            <p:cNvSpPr/>
            <p:nvPr/>
          </p:nvSpPr>
          <p:spPr>
            <a:xfrm>
              <a:off x="6491444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50+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3" name="Text 101">
              <a:extLst>
                <a:ext uri="{FF2B5EF4-FFF2-40B4-BE49-F238E27FC236}">
                  <a16:creationId xmlns:a16="http://schemas.microsoft.com/office/drawing/2014/main" id="{D9917C4B-04BA-058F-AA0C-C1490DDF5AFD}"/>
                </a:ext>
              </a:extLst>
            </p:cNvPr>
            <p:cNvSpPr/>
            <p:nvPr/>
          </p:nvSpPr>
          <p:spPr>
            <a:xfrm>
              <a:off x="6491444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Team Members</a:t>
              </a:r>
            </a:p>
          </p:txBody>
        </p:sp>
        <p:sp>
          <p:nvSpPr>
            <p:cNvPr id="114" name="Shape 102">
              <a:extLst>
                <a:ext uri="{FF2B5EF4-FFF2-40B4-BE49-F238E27FC236}">
                  <a16:creationId xmlns:a16="http://schemas.microsoft.com/office/drawing/2014/main" id="{4886EE43-9B67-6BBD-423A-A8282619F31A}"/>
                </a:ext>
              </a:extLst>
            </p:cNvPr>
            <p:cNvSpPr/>
            <p:nvPr/>
          </p:nvSpPr>
          <p:spPr>
            <a:xfrm>
              <a:off x="5022308" y="417509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6" name="Text 104">
              <a:extLst>
                <a:ext uri="{FF2B5EF4-FFF2-40B4-BE49-F238E27FC236}">
                  <a16:creationId xmlns:a16="http://schemas.microsoft.com/office/drawing/2014/main" id="{43291DDB-2C5C-652D-D034-ECBD5DC3629E}"/>
                </a:ext>
              </a:extLst>
            </p:cNvPr>
            <p:cNvSpPr/>
            <p:nvPr/>
          </p:nvSpPr>
          <p:spPr>
            <a:xfrm>
              <a:off x="5095460" y="419338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IMPACT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7" name="Text 105">
              <a:extLst>
                <a:ext uri="{FF2B5EF4-FFF2-40B4-BE49-F238E27FC236}">
                  <a16:creationId xmlns:a16="http://schemas.microsoft.com/office/drawing/2014/main" id="{1B1790B8-EECE-773B-C89F-C5A232195F14}"/>
                </a:ext>
              </a:extLst>
            </p:cNvPr>
            <p:cNvSpPr/>
            <p:nvPr/>
          </p:nvSpPr>
          <p:spPr>
            <a:xfrm>
              <a:off x="5040596" y="4394552"/>
              <a:ext cx="2157984" cy="52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Supporting DA, ATBGSS, EDC &amp; 5 more data products. GitHub Copilot AI integration, Java tech-debt elimination.</a:t>
              </a:r>
            </a:p>
          </p:txBody>
        </p:sp>
        <p:sp>
          <p:nvSpPr>
            <p:cNvPr id="118" name="Shape 106">
              <a:extLst>
                <a:ext uri="{FF2B5EF4-FFF2-40B4-BE49-F238E27FC236}">
                  <a16:creationId xmlns:a16="http://schemas.microsoft.com/office/drawing/2014/main" id="{569391F1-0512-1611-1EDA-6E25116CABB9}"/>
                </a:ext>
              </a:extLst>
            </p:cNvPr>
            <p:cNvSpPr/>
            <p:nvPr/>
          </p:nvSpPr>
          <p:spPr>
            <a:xfrm>
              <a:off x="7354028" y="709520"/>
              <a:ext cx="2340864" cy="421339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40000"/>
              </a:schemeClr>
            </a:solidFill>
            <a:ln w="6350">
              <a:solidFill>
                <a:srgbClr val="00B0F0"/>
              </a:solidFill>
              <a:prstDash val="solid"/>
            </a:ln>
            <a:effectLst/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0" name="Shape 108">
              <a:extLst>
                <a:ext uri="{FF2B5EF4-FFF2-40B4-BE49-F238E27FC236}">
                  <a16:creationId xmlns:a16="http://schemas.microsoft.com/office/drawing/2014/main" id="{BBE174D6-F2F9-EBE1-7840-EE1A51458A19}"/>
                </a:ext>
              </a:extLst>
            </p:cNvPr>
            <p:cNvSpPr/>
            <p:nvPr/>
          </p:nvSpPr>
          <p:spPr>
            <a:xfrm>
              <a:off x="7354028" y="782672"/>
              <a:ext cx="2340864" cy="566928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4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1" name="Text 109">
              <a:extLst>
                <a:ext uri="{FF2B5EF4-FFF2-40B4-BE49-F238E27FC236}">
                  <a16:creationId xmlns:a16="http://schemas.microsoft.com/office/drawing/2014/main" id="{5654E013-4518-11E5-124A-C72BE918BD2F}"/>
                </a:ext>
              </a:extLst>
            </p:cNvPr>
            <p:cNvSpPr/>
            <p:nvPr/>
          </p:nvSpPr>
          <p:spPr>
            <a:xfrm>
              <a:off x="7445468" y="800960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Trimble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2" name="Text 110">
              <a:extLst>
                <a:ext uri="{FF2B5EF4-FFF2-40B4-BE49-F238E27FC236}">
                  <a16:creationId xmlns:a16="http://schemas.microsoft.com/office/drawing/2014/main" id="{BEF1F9DC-F88F-9CF9-531F-822881AA72CA}"/>
                </a:ext>
              </a:extLst>
            </p:cNvPr>
            <p:cNvSpPr/>
            <p:nvPr/>
          </p:nvSpPr>
          <p:spPr>
            <a:xfrm>
              <a:off x="7445468" y="1111856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Industry &amp; Technology Solutions</a:t>
              </a:r>
            </a:p>
          </p:txBody>
        </p:sp>
        <p:sp>
          <p:nvSpPr>
            <p:cNvPr id="123" name="Shape 111">
              <a:extLst>
                <a:ext uri="{FF2B5EF4-FFF2-40B4-BE49-F238E27FC236}">
                  <a16:creationId xmlns:a16="http://schemas.microsoft.com/office/drawing/2014/main" id="{49CB9B9E-3A25-3BB9-EF52-8CD8C463C164}"/>
                </a:ext>
              </a:extLst>
            </p:cNvPr>
            <p:cNvSpPr/>
            <p:nvPr/>
          </p:nvSpPr>
          <p:spPr>
            <a:xfrm>
              <a:off x="7427180" y="142275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5" name="Text 113">
              <a:extLst>
                <a:ext uri="{FF2B5EF4-FFF2-40B4-BE49-F238E27FC236}">
                  <a16:creationId xmlns:a16="http://schemas.microsoft.com/office/drawing/2014/main" id="{C13062AA-D49C-508A-5DC0-8CD39EBE10F1}"/>
                </a:ext>
              </a:extLst>
            </p:cNvPr>
            <p:cNvSpPr/>
            <p:nvPr/>
          </p:nvSpPr>
          <p:spPr>
            <a:xfrm>
              <a:off x="7500332" y="144104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ENGAGEMENT OVERVIEW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6" name="Text 114">
              <a:extLst>
                <a:ext uri="{FF2B5EF4-FFF2-40B4-BE49-F238E27FC236}">
                  <a16:creationId xmlns:a16="http://schemas.microsoft.com/office/drawing/2014/main" id="{0505C257-428B-771A-110A-40810B99C398}"/>
                </a:ext>
              </a:extLst>
            </p:cNvPr>
            <p:cNvSpPr/>
            <p:nvPr/>
          </p:nvSpPr>
          <p:spPr>
            <a:xfrm>
              <a:off x="7445468" y="164220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Duration:</a:t>
              </a:r>
            </a:p>
          </p:txBody>
        </p:sp>
        <p:sp>
          <p:nvSpPr>
            <p:cNvPr id="127" name="Text 115">
              <a:extLst>
                <a:ext uri="{FF2B5EF4-FFF2-40B4-BE49-F238E27FC236}">
                  <a16:creationId xmlns:a16="http://schemas.microsoft.com/office/drawing/2014/main" id="{377237A7-4B01-3541-656F-F482F5633F89}"/>
                </a:ext>
              </a:extLst>
            </p:cNvPr>
            <p:cNvSpPr/>
            <p:nvPr/>
          </p:nvSpPr>
          <p:spPr>
            <a:xfrm>
              <a:off x="7445468" y="177936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11 Years (Since 2013)</a:t>
              </a:r>
            </a:p>
          </p:txBody>
        </p:sp>
        <p:sp>
          <p:nvSpPr>
            <p:cNvPr id="128" name="Text 116">
              <a:extLst>
                <a:ext uri="{FF2B5EF4-FFF2-40B4-BE49-F238E27FC236}">
                  <a16:creationId xmlns:a16="http://schemas.microsoft.com/office/drawing/2014/main" id="{367FFD91-C224-B209-0488-DD75649C0B85}"/>
                </a:ext>
              </a:extLst>
            </p:cNvPr>
            <p:cNvSpPr/>
            <p:nvPr/>
          </p:nvSpPr>
          <p:spPr>
            <a:xfrm>
              <a:off x="7445468" y="196224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Delivery Model:</a:t>
              </a:r>
            </a:p>
          </p:txBody>
        </p:sp>
        <p:sp>
          <p:nvSpPr>
            <p:cNvPr id="129" name="Text 117">
              <a:extLst>
                <a:ext uri="{FF2B5EF4-FFF2-40B4-BE49-F238E27FC236}">
                  <a16:creationId xmlns:a16="http://schemas.microsoft.com/office/drawing/2014/main" id="{0FBC9AB1-A9BE-D3E7-5F08-1FB99AD67B60}"/>
                </a:ext>
              </a:extLst>
            </p:cNvPr>
            <p:cNvSpPr/>
            <p:nvPr/>
          </p:nvSpPr>
          <p:spPr>
            <a:xfrm>
              <a:off x="7445468" y="209940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Hybrid — US &amp; Europe</a:t>
              </a:r>
            </a:p>
          </p:txBody>
        </p:sp>
        <p:sp>
          <p:nvSpPr>
            <p:cNvPr id="130" name="Text 118">
              <a:extLst>
                <a:ext uri="{FF2B5EF4-FFF2-40B4-BE49-F238E27FC236}">
                  <a16:creationId xmlns:a16="http://schemas.microsoft.com/office/drawing/2014/main" id="{34112F29-6F99-333A-C034-4D4F8FC9BE9A}"/>
                </a:ext>
              </a:extLst>
            </p:cNvPr>
            <p:cNvSpPr/>
            <p:nvPr/>
          </p:nvSpPr>
          <p:spPr>
            <a:xfrm>
              <a:off x="7445468" y="228228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Team Scale:</a:t>
              </a:r>
            </a:p>
          </p:txBody>
        </p:sp>
        <p:sp>
          <p:nvSpPr>
            <p:cNvPr id="131" name="Text 119">
              <a:extLst>
                <a:ext uri="{FF2B5EF4-FFF2-40B4-BE49-F238E27FC236}">
                  <a16:creationId xmlns:a16="http://schemas.microsoft.com/office/drawing/2014/main" id="{C9D7BA88-6384-A987-B7A7-078C76C89A4B}"/>
                </a:ext>
              </a:extLst>
            </p:cNvPr>
            <p:cNvSpPr/>
            <p:nvPr/>
          </p:nvSpPr>
          <p:spPr>
            <a:xfrm>
              <a:off x="7445468" y="241944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Peak: 60, 25 in &lt;4 Weeks</a:t>
              </a:r>
            </a:p>
          </p:txBody>
        </p:sp>
        <p:sp>
          <p:nvSpPr>
            <p:cNvPr id="132" name="Shape 120">
              <a:extLst>
                <a:ext uri="{FF2B5EF4-FFF2-40B4-BE49-F238E27FC236}">
                  <a16:creationId xmlns:a16="http://schemas.microsoft.com/office/drawing/2014/main" id="{E69DC6AE-AAF4-0C1E-F031-AD8B1A40997C}"/>
                </a:ext>
              </a:extLst>
            </p:cNvPr>
            <p:cNvSpPr/>
            <p:nvPr/>
          </p:nvSpPr>
          <p:spPr>
            <a:xfrm>
              <a:off x="7427180" y="262061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4" name="Text 122">
              <a:extLst>
                <a:ext uri="{FF2B5EF4-FFF2-40B4-BE49-F238E27FC236}">
                  <a16:creationId xmlns:a16="http://schemas.microsoft.com/office/drawing/2014/main" id="{29B05FB1-438B-EA8F-7C0C-ACAAC458EBD0}"/>
                </a:ext>
              </a:extLst>
            </p:cNvPr>
            <p:cNvSpPr/>
            <p:nvPr/>
          </p:nvSpPr>
          <p:spPr>
            <a:xfrm>
              <a:off x="7500332" y="263890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TECH STACK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5" name="Text 123">
              <a:extLst>
                <a:ext uri="{FF2B5EF4-FFF2-40B4-BE49-F238E27FC236}">
                  <a16:creationId xmlns:a16="http://schemas.microsoft.com/office/drawing/2014/main" id="{1A547D2C-FE12-945A-F42A-21197210BB99}"/>
                </a:ext>
              </a:extLst>
            </p:cNvPr>
            <p:cNvSpPr/>
            <p:nvPr/>
          </p:nvSpPr>
          <p:spPr>
            <a:xfrm>
              <a:off x="7445468" y="2840072"/>
              <a:ext cx="215798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Java · .NET · AWS · Azure</a:t>
              </a:r>
            </a:p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Kubernetes · CI/CD · TDD/BDD</a:t>
              </a:r>
            </a:p>
          </p:txBody>
        </p:sp>
        <p:sp>
          <p:nvSpPr>
            <p:cNvPr id="136" name="Shape 124">
              <a:extLst>
                <a:ext uri="{FF2B5EF4-FFF2-40B4-BE49-F238E27FC236}">
                  <a16:creationId xmlns:a16="http://schemas.microsoft.com/office/drawing/2014/main" id="{EF39C36E-4146-70AB-DE92-3D4C3D00CE3F}"/>
                </a:ext>
              </a:extLst>
            </p:cNvPr>
            <p:cNvSpPr/>
            <p:nvPr/>
          </p:nvSpPr>
          <p:spPr>
            <a:xfrm>
              <a:off x="7427180" y="329727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8" name="Text 126">
              <a:extLst>
                <a:ext uri="{FF2B5EF4-FFF2-40B4-BE49-F238E27FC236}">
                  <a16:creationId xmlns:a16="http://schemas.microsoft.com/office/drawing/2014/main" id="{A610687B-30FE-D84C-B4C8-2BA26B118B8D}"/>
                </a:ext>
              </a:extLst>
            </p:cNvPr>
            <p:cNvSpPr/>
            <p:nvPr/>
          </p:nvSpPr>
          <p:spPr>
            <a:xfrm>
              <a:off x="7500332" y="331556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METRICS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9" name="Shape 127">
              <a:extLst>
                <a:ext uri="{FF2B5EF4-FFF2-40B4-BE49-F238E27FC236}">
                  <a16:creationId xmlns:a16="http://schemas.microsoft.com/office/drawing/2014/main" id="{8D695EA4-6495-60AC-A4A0-AEB70133623A}"/>
                </a:ext>
              </a:extLst>
            </p:cNvPr>
            <p:cNvSpPr/>
            <p:nvPr/>
          </p:nvSpPr>
          <p:spPr>
            <a:xfrm>
              <a:off x="7445468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0" name="Text 128">
              <a:extLst>
                <a:ext uri="{FF2B5EF4-FFF2-40B4-BE49-F238E27FC236}">
                  <a16:creationId xmlns:a16="http://schemas.microsoft.com/office/drawing/2014/main" id="{C960872C-8655-D62E-EBD1-F9859A053191}"/>
                </a:ext>
              </a:extLst>
            </p:cNvPr>
            <p:cNvSpPr/>
            <p:nvPr/>
          </p:nvSpPr>
          <p:spPr>
            <a:xfrm>
              <a:off x="7445468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120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1" name="Text 129">
              <a:extLst>
                <a:ext uri="{FF2B5EF4-FFF2-40B4-BE49-F238E27FC236}">
                  <a16:creationId xmlns:a16="http://schemas.microsoft.com/office/drawing/2014/main" id="{29FACE05-4FA9-7E69-2936-D200FA1DD5E0}"/>
                </a:ext>
              </a:extLst>
            </p:cNvPr>
            <p:cNvSpPr/>
            <p:nvPr/>
          </p:nvSpPr>
          <p:spPr>
            <a:xfrm>
              <a:off x="7445468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Cloud Migrations</a:t>
              </a:r>
            </a:p>
          </p:txBody>
        </p:sp>
        <p:sp>
          <p:nvSpPr>
            <p:cNvPr id="142" name="Shape 130">
              <a:extLst>
                <a:ext uri="{FF2B5EF4-FFF2-40B4-BE49-F238E27FC236}">
                  <a16:creationId xmlns:a16="http://schemas.microsoft.com/office/drawing/2014/main" id="{C6B36224-15A1-85F7-F146-0A6655D351F9}"/>
                </a:ext>
              </a:extLst>
            </p:cNvPr>
            <p:cNvSpPr/>
            <p:nvPr/>
          </p:nvSpPr>
          <p:spPr>
            <a:xfrm>
              <a:off x="8170892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3" name="Text 131">
              <a:extLst>
                <a:ext uri="{FF2B5EF4-FFF2-40B4-BE49-F238E27FC236}">
                  <a16:creationId xmlns:a16="http://schemas.microsoft.com/office/drawing/2014/main" id="{3F4E3F84-4638-29D4-DCB3-6653CD846ED9}"/>
                </a:ext>
              </a:extLst>
            </p:cNvPr>
            <p:cNvSpPr/>
            <p:nvPr/>
          </p:nvSpPr>
          <p:spPr>
            <a:xfrm>
              <a:off x="8170892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80%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4" name="Text 132">
              <a:extLst>
                <a:ext uri="{FF2B5EF4-FFF2-40B4-BE49-F238E27FC236}">
                  <a16:creationId xmlns:a16="http://schemas.microsoft.com/office/drawing/2014/main" id="{F5878C8B-116E-8740-D23D-1340EE296196}"/>
                </a:ext>
              </a:extLst>
            </p:cNvPr>
            <p:cNvSpPr/>
            <p:nvPr/>
          </p:nvSpPr>
          <p:spPr>
            <a:xfrm>
              <a:off x="8170892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Code Coverage</a:t>
              </a:r>
            </a:p>
          </p:txBody>
        </p:sp>
        <p:sp>
          <p:nvSpPr>
            <p:cNvPr id="145" name="Shape 133">
              <a:extLst>
                <a:ext uri="{FF2B5EF4-FFF2-40B4-BE49-F238E27FC236}">
                  <a16:creationId xmlns:a16="http://schemas.microsoft.com/office/drawing/2014/main" id="{55B2A9F6-4C68-A136-9112-308162398407}"/>
                </a:ext>
              </a:extLst>
            </p:cNvPr>
            <p:cNvSpPr/>
            <p:nvPr/>
          </p:nvSpPr>
          <p:spPr>
            <a:xfrm>
              <a:off x="8896316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6" name="Text 134">
              <a:extLst>
                <a:ext uri="{FF2B5EF4-FFF2-40B4-BE49-F238E27FC236}">
                  <a16:creationId xmlns:a16="http://schemas.microsoft.com/office/drawing/2014/main" id="{00A7DE8C-468D-2211-7DFF-822F4CB7153A}"/>
                </a:ext>
              </a:extLst>
            </p:cNvPr>
            <p:cNvSpPr/>
            <p:nvPr/>
          </p:nvSpPr>
          <p:spPr>
            <a:xfrm>
              <a:off x="8896316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11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7" name="Text 135">
              <a:extLst>
                <a:ext uri="{FF2B5EF4-FFF2-40B4-BE49-F238E27FC236}">
                  <a16:creationId xmlns:a16="http://schemas.microsoft.com/office/drawing/2014/main" id="{4A2D088A-F0BA-B258-71AD-5CAAB02469FE}"/>
                </a:ext>
              </a:extLst>
            </p:cNvPr>
            <p:cNvSpPr/>
            <p:nvPr/>
          </p:nvSpPr>
          <p:spPr>
            <a:xfrm>
              <a:off x="8896316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Projects Delivered</a:t>
              </a:r>
            </a:p>
          </p:txBody>
        </p:sp>
        <p:sp>
          <p:nvSpPr>
            <p:cNvPr id="148" name="Shape 136">
              <a:extLst>
                <a:ext uri="{FF2B5EF4-FFF2-40B4-BE49-F238E27FC236}">
                  <a16:creationId xmlns:a16="http://schemas.microsoft.com/office/drawing/2014/main" id="{58D2E608-EF5A-46E4-0028-9DDD6BDC153D}"/>
                </a:ext>
              </a:extLst>
            </p:cNvPr>
            <p:cNvSpPr/>
            <p:nvPr/>
          </p:nvSpPr>
          <p:spPr>
            <a:xfrm>
              <a:off x="7427180" y="417509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0" name="Text 138">
              <a:extLst>
                <a:ext uri="{FF2B5EF4-FFF2-40B4-BE49-F238E27FC236}">
                  <a16:creationId xmlns:a16="http://schemas.microsoft.com/office/drawing/2014/main" id="{8B286364-60CD-DDB4-62C9-51E9EA506BD8}"/>
                </a:ext>
              </a:extLst>
            </p:cNvPr>
            <p:cNvSpPr/>
            <p:nvPr/>
          </p:nvSpPr>
          <p:spPr>
            <a:xfrm>
              <a:off x="7500332" y="419338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IMPACT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1" name="Text 139">
              <a:extLst>
                <a:ext uri="{FF2B5EF4-FFF2-40B4-BE49-F238E27FC236}">
                  <a16:creationId xmlns:a16="http://schemas.microsoft.com/office/drawing/2014/main" id="{79F49A6A-9E3A-9F0E-F452-C58890132EF3}"/>
                </a:ext>
              </a:extLst>
            </p:cNvPr>
            <p:cNvSpPr/>
            <p:nvPr/>
          </p:nvSpPr>
          <p:spPr>
            <a:xfrm>
              <a:off x="7445468" y="4394552"/>
              <a:ext cx="2157984" cy="52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Factory Model → 120 Azure migrations. Single-click deployment, 80% QA automation, 4-week release cadences.</a:t>
              </a:r>
            </a:p>
          </p:txBody>
        </p:sp>
        <p:sp>
          <p:nvSpPr>
            <p:cNvPr id="152" name="Shape 140">
              <a:extLst>
                <a:ext uri="{FF2B5EF4-FFF2-40B4-BE49-F238E27FC236}">
                  <a16:creationId xmlns:a16="http://schemas.microsoft.com/office/drawing/2014/main" id="{2F86D6C3-35D2-D601-D1E7-ED672F956D36}"/>
                </a:ext>
              </a:extLst>
            </p:cNvPr>
            <p:cNvSpPr/>
            <p:nvPr/>
          </p:nvSpPr>
          <p:spPr>
            <a:xfrm>
              <a:off x="9758900" y="709520"/>
              <a:ext cx="2340864" cy="421339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40000"/>
              </a:schemeClr>
            </a:solidFill>
            <a:ln w="6350">
              <a:solidFill>
                <a:srgbClr val="00B0F0"/>
              </a:solidFill>
              <a:prstDash val="solid"/>
            </a:ln>
            <a:effectLst/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4" name="Shape 142">
              <a:extLst>
                <a:ext uri="{FF2B5EF4-FFF2-40B4-BE49-F238E27FC236}">
                  <a16:creationId xmlns:a16="http://schemas.microsoft.com/office/drawing/2014/main" id="{F7DC701F-09D5-2FEC-5C38-3942A676F2AA}"/>
                </a:ext>
              </a:extLst>
            </p:cNvPr>
            <p:cNvSpPr/>
            <p:nvPr/>
          </p:nvSpPr>
          <p:spPr>
            <a:xfrm>
              <a:off x="9758900" y="782672"/>
              <a:ext cx="2340864" cy="566928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4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5" name="Text 143">
              <a:extLst>
                <a:ext uri="{FF2B5EF4-FFF2-40B4-BE49-F238E27FC236}">
                  <a16:creationId xmlns:a16="http://schemas.microsoft.com/office/drawing/2014/main" id="{3557060E-B2E9-39AF-A489-0F8D57369BA0}"/>
                </a:ext>
              </a:extLst>
            </p:cNvPr>
            <p:cNvSpPr/>
            <p:nvPr/>
          </p:nvSpPr>
          <p:spPr>
            <a:xfrm>
              <a:off x="9850340" y="800960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Automotive / Deloitte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6" name="Text 144">
              <a:extLst>
                <a:ext uri="{FF2B5EF4-FFF2-40B4-BE49-F238E27FC236}">
                  <a16:creationId xmlns:a16="http://schemas.microsoft.com/office/drawing/2014/main" id="{8BCAFA1B-38BB-826F-E820-DF85B5903F95}"/>
                </a:ext>
              </a:extLst>
            </p:cNvPr>
            <p:cNvSpPr/>
            <p:nvPr/>
          </p:nvSpPr>
          <p:spPr>
            <a:xfrm>
              <a:off x="9850340" y="1111856"/>
              <a:ext cx="21579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Workforce Scaling — Auto OEM</a:t>
              </a:r>
            </a:p>
          </p:txBody>
        </p:sp>
        <p:sp>
          <p:nvSpPr>
            <p:cNvPr id="157" name="Shape 145">
              <a:extLst>
                <a:ext uri="{FF2B5EF4-FFF2-40B4-BE49-F238E27FC236}">
                  <a16:creationId xmlns:a16="http://schemas.microsoft.com/office/drawing/2014/main" id="{85F3D380-43BE-3D9E-C756-80487453AB7C}"/>
                </a:ext>
              </a:extLst>
            </p:cNvPr>
            <p:cNvSpPr/>
            <p:nvPr/>
          </p:nvSpPr>
          <p:spPr>
            <a:xfrm>
              <a:off x="9832052" y="142275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9" name="Text 147">
              <a:extLst>
                <a:ext uri="{FF2B5EF4-FFF2-40B4-BE49-F238E27FC236}">
                  <a16:creationId xmlns:a16="http://schemas.microsoft.com/office/drawing/2014/main" id="{FE8302B8-889D-E4C5-7038-C7BE233697E3}"/>
                </a:ext>
              </a:extLst>
            </p:cNvPr>
            <p:cNvSpPr/>
            <p:nvPr/>
          </p:nvSpPr>
          <p:spPr>
            <a:xfrm>
              <a:off x="9905204" y="144104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ENGAGEMENT OVERVIEW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0" name="Text 148">
              <a:extLst>
                <a:ext uri="{FF2B5EF4-FFF2-40B4-BE49-F238E27FC236}">
                  <a16:creationId xmlns:a16="http://schemas.microsoft.com/office/drawing/2014/main" id="{308A46B2-E235-088B-F768-970B2C1FA1BE}"/>
                </a:ext>
              </a:extLst>
            </p:cNvPr>
            <p:cNvSpPr/>
            <p:nvPr/>
          </p:nvSpPr>
          <p:spPr>
            <a:xfrm>
              <a:off x="9850340" y="164220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Duration:</a:t>
              </a:r>
            </a:p>
          </p:txBody>
        </p:sp>
        <p:sp>
          <p:nvSpPr>
            <p:cNvPr id="161" name="Text 149">
              <a:extLst>
                <a:ext uri="{FF2B5EF4-FFF2-40B4-BE49-F238E27FC236}">
                  <a16:creationId xmlns:a16="http://schemas.microsoft.com/office/drawing/2014/main" id="{1A94AEF2-6411-72F9-845C-6FB56953EDCD}"/>
                </a:ext>
              </a:extLst>
            </p:cNvPr>
            <p:cNvSpPr/>
            <p:nvPr/>
          </p:nvSpPr>
          <p:spPr>
            <a:xfrm>
              <a:off x="9850340" y="177936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Ongoing</a:t>
              </a:r>
            </a:p>
          </p:txBody>
        </p:sp>
        <p:sp>
          <p:nvSpPr>
            <p:cNvPr id="162" name="Text 150">
              <a:extLst>
                <a:ext uri="{FF2B5EF4-FFF2-40B4-BE49-F238E27FC236}">
                  <a16:creationId xmlns:a16="http://schemas.microsoft.com/office/drawing/2014/main" id="{D0128398-EB13-577D-F8D4-E44431CE53DE}"/>
                </a:ext>
              </a:extLst>
            </p:cNvPr>
            <p:cNvSpPr/>
            <p:nvPr/>
          </p:nvSpPr>
          <p:spPr>
            <a:xfrm>
              <a:off x="9850340" y="196224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Delivery Model:</a:t>
              </a:r>
            </a:p>
          </p:txBody>
        </p:sp>
        <p:sp>
          <p:nvSpPr>
            <p:cNvPr id="163" name="Text 151">
              <a:extLst>
                <a:ext uri="{FF2B5EF4-FFF2-40B4-BE49-F238E27FC236}">
                  <a16:creationId xmlns:a16="http://schemas.microsoft.com/office/drawing/2014/main" id="{9F91C20C-2A8E-9E36-68A5-A85A8F2ECC28}"/>
                </a:ext>
              </a:extLst>
            </p:cNvPr>
            <p:cNvSpPr/>
            <p:nvPr/>
          </p:nvSpPr>
          <p:spPr>
            <a:xfrm>
              <a:off x="9850340" y="209940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Flexible Workforce Model</a:t>
              </a:r>
            </a:p>
          </p:txBody>
        </p:sp>
        <p:sp>
          <p:nvSpPr>
            <p:cNvPr id="164" name="Text 152">
              <a:extLst>
                <a:ext uri="{FF2B5EF4-FFF2-40B4-BE49-F238E27FC236}">
                  <a16:creationId xmlns:a16="http://schemas.microsoft.com/office/drawing/2014/main" id="{6A7EE2AC-AFB9-D516-9E6A-3360E83FACB7}"/>
                </a:ext>
              </a:extLst>
            </p:cNvPr>
            <p:cNvSpPr/>
            <p:nvPr/>
          </p:nvSpPr>
          <p:spPr>
            <a:xfrm>
              <a:off x="9850340" y="2282288"/>
              <a:ext cx="215798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Team Scale:</a:t>
              </a:r>
            </a:p>
          </p:txBody>
        </p:sp>
        <p:sp>
          <p:nvSpPr>
            <p:cNvPr id="165" name="Text 153">
              <a:extLst>
                <a:ext uri="{FF2B5EF4-FFF2-40B4-BE49-F238E27FC236}">
                  <a16:creationId xmlns:a16="http://schemas.microsoft.com/office/drawing/2014/main" id="{4C8074AA-1D21-C085-ABCE-D704EE7D6D99}"/>
                </a:ext>
              </a:extLst>
            </p:cNvPr>
            <p:cNvSpPr/>
            <p:nvPr/>
          </p:nvSpPr>
          <p:spPr>
            <a:xfrm>
              <a:off x="9850340" y="2419448"/>
              <a:ext cx="21579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Currently 50 across 2 Projects</a:t>
              </a:r>
            </a:p>
          </p:txBody>
        </p:sp>
        <p:sp>
          <p:nvSpPr>
            <p:cNvPr id="166" name="Shape 154">
              <a:extLst>
                <a:ext uri="{FF2B5EF4-FFF2-40B4-BE49-F238E27FC236}">
                  <a16:creationId xmlns:a16="http://schemas.microsoft.com/office/drawing/2014/main" id="{B1CFC702-145C-2A81-F16E-78561308053F}"/>
                </a:ext>
              </a:extLst>
            </p:cNvPr>
            <p:cNvSpPr/>
            <p:nvPr/>
          </p:nvSpPr>
          <p:spPr>
            <a:xfrm>
              <a:off x="9832052" y="262061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8" name="Text 156">
              <a:extLst>
                <a:ext uri="{FF2B5EF4-FFF2-40B4-BE49-F238E27FC236}">
                  <a16:creationId xmlns:a16="http://schemas.microsoft.com/office/drawing/2014/main" id="{3B1D0F47-68A9-1789-28FE-E4E3C70FFCFE}"/>
                </a:ext>
              </a:extLst>
            </p:cNvPr>
            <p:cNvSpPr/>
            <p:nvPr/>
          </p:nvSpPr>
          <p:spPr>
            <a:xfrm>
              <a:off x="9905204" y="263890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TECH STACK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9" name="Text 157">
              <a:extLst>
                <a:ext uri="{FF2B5EF4-FFF2-40B4-BE49-F238E27FC236}">
                  <a16:creationId xmlns:a16="http://schemas.microsoft.com/office/drawing/2014/main" id="{0EE40171-75E0-E703-D227-25B5A2385926}"/>
                </a:ext>
              </a:extLst>
            </p:cNvPr>
            <p:cNvSpPr/>
            <p:nvPr/>
          </p:nvSpPr>
          <p:spPr>
            <a:xfrm>
              <a:off x="9850340" y="2840072"/>
              <a:ext cx="215798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Mobility · QE · DevOps</a:t>
              </a:r>
            </a:p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Backend · Telecom Domain</a:t>
              </a:r>
            </a:p>
          </p:txBody>
        </p:sp>
        <p:sp>
          <p:nvSpPr>
            <p:cNvPr id="170" name="Shape 158">
              <a:extLst>
                <a:ext uri="{FF2B5EF4-FFF2-40B4-BE49-F238E27FC236}">
                  <a16:creationId xmlns:a16="http://schemas.microsoft.com/office/drawing/2014/main" id="{01C0D4D1-65B0-843A-8927-B2B06EB4C338}"/>
                </a:ext>
              </a:extLst>
            </p:cNvPr>
            <p:cNvSpPr/>
            <p:nvPr/>
          </p:nvSpPr>
          <p:spPr>
            <a:xfrm>
              <a:off x="9832052" y="3297272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2" name="Text 160">
              <a:extLst>
                <a:ext uri="{FF2B5EF4-FFF2-40B4-BE49-F238E27FC236}">
                  <a16:creationId xmlns:a16="http://schemas.microsoft.com/office/drawing/2014/main" id="{076A4E9F-8693-8F31-0D92-9FDCF6844438}"/>
                </a:ext>
              </a:extLst>
            </p:cNvPr>
            <p:cNvSpPr/>
            <p:nvPr/>
          </p:nvSpPr>
          <p:spPr>
            <a:xfrm>
              <a:off x="9905204" y="3315560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METRICS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3" name="Shape 161">
              <a:extLst>
                <a:ext uri="{FF2B5EF4-FFF2-40B4-BE49-F238E27FC236}">
                  <a16:creationId xmlns:a16="http://schemas.microsoft.com/office/drawing/2014/main" id="{2BB0B1FE-6B53-94A9-12AD-E02E3516C42D}"/>
                </a:ext>
              </a:extLst>
            </p:cNvPr>
            <p:cNvSpPr/>
            <p:nvPr/>
          </p:nvSpPr>
          <p:spPr>
            <a:xfrm>
              <a:off x="9850340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4" name="Text 162">
              <a:extLst>
                <a:ext uri="{FF2B5EF4-FFF2-40B4-BE49-F238E27FC236}">
                  <a16:creationId xmlns:a16="http://schemas.microsoft.com/office/drawing/2014/main" id="{88C1AED0-E3A0-AC25-1DBF-4AA544143F12}"/>
                </a:ext>
              </a:extLst>
            </p:cNvPr>
            <p:cNvSpPr/>
            <p:nvPr/>
          </p:nvSpPr>
          <p:spPr>
            <a:xfrm>
              <a:off x="9850340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30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5" name="Text 163">
              <a:extLst>
                <a:ext uri="{FF2B5EF4-FFF2-40B4-BE49-F238E27FC236}">
                  <a16:creationId xmlns:a16="http://schemas.microsoft.com/office/drawing/2014/main" id="{35B4DFC7-8127-570C-F2EA-9543169E9278}"/>
                </a:ext>
              </a:extLst>
            </p:cNvPr>
            <p:cNvSpPr/>
            <p:nvPr/>
          </p:nvSpPr>
          <p:spPr>
            <a:xfrm>
              <a:off x="9850340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Resources in 2 Wks</a:t>
              </a:r>
            </a:p>
          </p:txBody>
        </p:sp>
        <p:sp>
          <p:nvSpPr>
            <p:cNvPr id="176" name="Shape 164">
              <a:extLst>
                <a:ext uri="{FF2B5EF4-FFF2-40B4-BE49-F238E27FC236}">
                  <a16:creationId xmlns:a16="http://schemas.microsoft.com/office/drawing/2014/main" id="{47C18764-4407-F2DB-3542-D86BF7900B85}"/>
                </a:ext>
              </a:extLst>
            </p:cNvPr>
            <p:cNvSpPr/>
            <p:nvPr/>
          </p:nvSpPr>
          <p:spPr>
            <a:xfrm>
              <a:off x="10575764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7" name="Text 165">
              <a:extLst>
                <a:ext uri="{FF2B5EF4-FFF2-40B4-BE49-F238E27FC236}">
                  <a16:creationId xmlns:a16="http://schemas.microsoft.com/office/drawing/2014/main" id="{DC1E737D-A1FF-2CFF-BA25-312DAFAABF6E}"/>
                </a:ext>
              </a:extLst>
            </p:cNvPr>
            <p:cNvSpPr/>
            <p:nvPr/>
          </p:nvSpPr>
          <p:spPr>
            <a:xfrm>
              <a:off x="10575764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50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8" name="Text 166">
              <a:extLst>
                <a:ext uri="{FF2B5EF4-FFF2-40B4-BE49-F238E27FC236}">
                  <a16:creationId xmlns:a16="http://schemas.microsoft.com/office/drawing/2014/main" id="{1BC276B8-32BA-5869-27B2-6A8ECC577988}"/>
                </a:ext>
              </a:extLst>
            </p:cNvPr>
            <p:cNvSpPr/>
            <p:nvPr/>
          </p:nvSpPr>
          <p:spPr>
            <a:xfrm>
              <a:off x="10575764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Active Resources</a:t>
              </a:r>
            </a:p>
          </p:txBody>
        </p:sp>
        <p:sp>
          <p:nvSpPr>
            <p:cNvPr id="179" name="Shape 167">
              <a:extLst>
                <a:ext uri="{FF2B5EF4-FFF2-40B4-BE49-F238E27FC236}">
                  <a16:creationId xmlns:a16="http://schemas.microsoft.com/office/drawing/2014/main" id="{86B95652-DE5D-5BC2-0CE9-6314027C8C22}"/>
                </a:ext>
              </a:extLst>
            </p:cNvPr>
            <p:cNvSpPr/>
            <p:nvPr/>
          </p:nvSpPr>
          <p:spPr>
            <a:xfrm>
              <a:off x="11301188" y="3535016"/>
              <a:ext cx="707136" cy="56692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0" name="Text 168">
              <a:extLst>
                <a:ext uri="{FF2B5EF4-FFF2-40B4-BE49-F238E27FC236}">
                  <a16:creationId xmlns:a16="http://schemas.microsoft.com/office/drawing/2014/main" id="{A0DB683F-4AB9-90AB-0727-448C7B8D3741}"/>
                </a:ext>
              </a:extLst>
            </p:cNvPr>
            <p:cNvSpPr/>
            <p:nvPr/>
          </p:nvSpPr>
          <p:spPr>
            <a:xfrm>
              <a:off x="11301188" y="3571592"/>
              <a:ext cx="7071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4 Wks</a:t>
              </a:r>
              <a:endPara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1" name="Text 169">
              <a:extLst>
                <a:ext uri="{FF2B5EF4-FFF2-40B4-BE49-F238E27FC236}">
                  <a16:creationId xmlns:a16="http://schemas.microsoft.com/office/drawing/2014/main" id="{F5C09068-3F4C-A8C5-25C2-5E27523637C0}"/>
                </a:ext>
              </a:extLst>
            </p:cNvPr>
            <p:cNvSpPr/>
            <p:nvPr/>
          </p:nvSpPr>
          <p:spPr>
            <a:xfrm>
              <a:off x="11301188" y="3836768"/>
              <a:ext cx="7071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Phase 1 Ramp</a:t>
              </a:r>
            </a:p>
          </p:txBody>
        </p:sp>
        <p:sp>
          <p:nvSpPr>
            <p:cNvPr id="182" name="Shape 170">
              <a:extLst>
                <a:ext uri="{FF2B5EF4-FFF2-40B4-BE49-F238E27FC236}">
                  <a16:creationId xmlns:a16="http://schemas.microsoft.com/office/drawing/2014/main" id="{9066C33C-0D9C-8B42-D960-6B0AAFB64A63}"/>
                </a:ext>
              </a:extLst>
            </p:cNvPr>
            <p:cNvSpPr/>
            <p:nvPr/>
          </p:nvSpPr>
          <p:spPr>
            <a:xfrm>
              <a:off x="9832052" y="4175096"/>
              <a:ext cx="2194560" cy="1828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4" name="Text 172">
              <a:extLst>
                <a:ext uri="{FF2B5EF4-FFF2-40B4-BE49-F238E27FC236}">
                  <a16:creationId xmlns:a16="http://schemas.microsoft.com/office/drawing/2014/main" id="{7450D264-4878-DAF4-E19D-918D7934988E}"/>
                </a:ext>
              </a:extLst>
            </p:cNvPr>
            <p:cNvSpPr/>
            <p:nvPr/>
          </p:nvSpPr>
          <p:spPr>
            <a:xfrm>
              <a:off x="9905204" y="4193384"/>
              <a:ext cx="2084832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KEY IMPACT</a:t>
              </a:r>
              <a:endPara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5" name="Text 173">
              <a:extLst>
                <a:ext uri="{FF2B5EF4-FFF2-40B4-BE49-F238E27FC236}">
                  <a16:creationId xmlns:a16="http://schemas.microsoft.com/office/drawing/2014/main" id="{96260044-EA6B-78F1-21EE-62EA8F9A2685}"/>
                </a:ext>
              </a:extLst>
            </p:cNvPr>
            <p:cNvSpPr/>
            <p:nvPr/>
          </p:nvSpPr>
          <p:spPr>
            <a:xfrm>
              <a:off x="9850340" y="4394552"/>
              <a:ext cx="2157984" cy="52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3-phase scaling: 25→10→30+. Aligned to Deloitte Flexible Workforce Model. Ramp-up/down as core strength.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2664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73835-8DB8-5908-82FB-5919DA70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nip Single Corner of Rectangle 46">
            <a:extLst>
              <a:ext uri="{FF2B5EF4-FFF2-40B4-BE49-F238E27FC236}">
                <a16:creationId xmlns:a16="http://schemas.microsoft.com/office/drawing/2014/main" id="{BDDDF4B8-6C8B-AE9B-3AC9-3EEF8D89853D}"/>
              </a:ext>
            </a:extLst>
          </p:cNvPr>
          <p:cNvSpPr/>
          <p:nvPr/>
        </p:nvSpPr>
        <p:spPr>
          <a:xfrm flipH="1">
            <a:off x="631845" y="4460870"/>
            <a:ext cx="9926617" cy="1159390"/>
          </a:xfrm>
          <a:prstGeom prst="snip1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AE34FB46-E23D-512C-1F97-4CE7DFD1E161}"/>
              </a:ext>
            </a:extLst>
          </p:cNvPr>
          <p:cNvSpPr txBox="1">
            <a:spLocks/>
          </p:cNvSpPr>
          <p:nvPr/>
        </p:nvSpPr>
        <p:spPr>
          <a:xfrm>
            <a:off x="579738" y="2106254"/>
            <a:ext cx="10144137" cy="1462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Android Expertise</a:t>
            </a:r>
            <a:endParaRPr lang="en-IN" sz="2450">
              <a:solidFill>
                <a:schemeClr val="tx2">
                  <a:lumMod val="90000"/>
                  <a:lumOff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3" name="Picture 52" descr="A computer and other objects&#10;&#10;AI-generated content may be incorrect.">
            <a:extLst>
              <a:ext uri="{FF2B5EF4-FFF2-40B4-BE49-F238E27FC236}">
                <a16:creationId xmlns:a16="http://schemas.microsoft.com/office/drawing/2014/main" id="{C2D07D5C-CA02-4873-F96C-D7E0F5141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52" y="1693803"/>
            <a:ext cx="5345046" cy="392645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C6EBCC3-E51D-E02E-199C-E9FAA2743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3579" y="4507927"/>
            <a:ext cx="1048952" cy="10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8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3A9E-AC0B-3E44-A324-406981E2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Innominds Capabilities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0A5BA7-A850-9354-6A0E-5697687382E9}"/>
              </a:ext>
            </a:extLst>
          </p:cNvPr>
          <p:cNvGrpSpPr/>
          <p:nvPr/>
        </p:nvGrpSpPr>
        <p:grpSpPr>
          <a:xfrm>
            <a:off x="349039" y="1257008"/>
            <a:ext cx="11897781" cy="5040509"/>
            <a:chOff x="1244980" y="716868"/>
            <a:chExt cx="10042891" cy="425468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28CCB76-198B-9F5F-FDBE-2EED834387F6}"/>
                </a:ext>
              </a:extLst>
            </p:cNvPr>
            <p:cNvSpPr/>
            <p:nvPr/>
          </p:nvSpPr>
          <p:spPr>
            <a:xfrm>
              <a:off x="6105884" y="2861358"/>
              <a:ext cx="1205085" cy="1386254"/>
            </a:xfrm>
            <a:custGeom>
              <a:avLst/>
              <a:gdLst>
                <a:gd name="connsiteX0" fmla="*/ 1205086 w 1205085"/>
                <a:gd name="connsiteY0" fmla="*/ 695764 h 1386254"/>
                <a:gd name="connsiteX1" fmla="*/ 0 w 1205085"/>
                <a:gd name="connsiteY1" fmla="*/ 1386255 h 1386254"/>
                <a:gd name="connsiteX2" fmla="*/ 0 w 1205085"/>
                <a:gd name="connsiteY2" fmla="*/ 0 h 1386254"/>
                <a:gd name="connsiteX3" fmla="*/ 1205086 w 1205085"/>
                <a:gd name="connsiteY3" fmla="*/ 695764 h 1386254"/>
                <a:gd name="connsiteX4" fmla="*/ 1205086 w 1205085"/>
                <a:gd name="connsiteY4" fmla="*/ 695764 h 138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5085" h="1386254">
                  <a:moveTo>
                    <a:pt x="1205086" y="695764"/>
                  </a:moveTo>
                  <a:cubicBezTo>
                    <a:pt x="961222" y="1107945"/>
                    <a:pt x="512730" y="1384891"/>
                    <a:pt x="0" y="1386255"/>
                  </a:cubicBezTo>
                  <a:lnTo>
                    <a:pt x="0" y="0"/>
                  </a:lnTo>
                  <a:lnTo>
                    <a:pt x="1205086" y="695764"/>
                  </a:lnTo>
                  <a:lnTo>
                    <a:pt x="1205086" y="695764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33752E7-A182-A94F-6B20-158879EF5C5D}"/>
                </a:ext>
              </a:extLst>
            </p:cNvPr>
            <p:cNvSpPr/>
            <p:nvPr/>
          </p:nvSpPr>
          <p:spPr>
            <a:xfrm>
              <a:off x="4889891" y="2861358"/>
              <a:ext cx="1195943" cy="1386174"/>
            </a:xfrm>
            <a:custGeom>
              <a:avLst/>
              <a:gdLst>
                <a:gd name="connsiteX0" fmla="*/ 1195943 w 1195943"/>
                <a:gd name="connsiteY0" fmla="*/ 1386174 h 1386174"/>
                <a:gd name="connsiteX1" fmla="*/ 0 w 1195943"/>
                <a:gd name="connsiteY1" fmla="*/ 690471 h 1386174"/>
                <a:gd name="connsiteX2" fmla="*/ 1195943 w 1195943"/>
                <a:gd name="connsiteY2" fmla="*/ 0 h 1386174"/>
                <a:gd name="connsiteX3" fmla="*/ 1195943 w 1195943"/>
                <a:gd name="connsiteY3" fmla="*/ 1386174 h 1386174"/>
                <a:gd name="connsiteX4" fmla="*/ 1195943 w 1195943"/>
                <a:gd name="connsiteY4" fmla="*/ 1386174 h 138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943" h="1386174">
                  <a:moveTo>
                    <a:pt x="1195943" y="1386174"/>
                  </a:moveTo>
                  <a:cubicBezTo>
                    <a:pt x="686060" y="1380380"/>
                    <a:pt x="241137" y="1102231"/>
                    <a:pt x="0" y="690471"/>
                  </a:cubicBezTo>
                  <a:lnTo>
                    <a:pt x="1195943" y="0"/>
                  </a:lnTo>
                  <a:lnTo>
                    <a:pt x="1195943" y="1386174"/>
                  </a:lnTo>
                  <a:lnTo>
                    <a:pt x="1195943" y="1386174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C59B171-A4C8-B0DF-DA76-E2FF8F2A17DC}"/>
                </a:ext>
              </a:extLst>
            </p:cNvPr>
            <p:cNvSpPr/>
            <p:nvPr/>
          </p:nvSpPr>
          <p:spPr>
            <a:xfrm>
              <a:off x="6115929" y="2148211"/>
              <a:ext cx="1389703" cy="1391567"/>
            </a:xfrm>
            <a:custGeom>
              <a:avLst/>
              <a:gdLst>
                <a:gd name="connsiteX0" fmla="*/ 1205126 w 1389703"/>
                <a:gd name="connsiteY0" fmla="*/ 0 h 1391567"/>
                <a:gd name="connsiteX1" fmla="*/ 1389703 w 1389703"/>
                <a:gd name="connsiteY1" fmla="*/ 695784 h 1391567"/>
                <a:gd name="connsiteX2" fmla="*/ 1205126 w 1389703"/>
                <a:gd name="connsiteY2" fmla="*/ 1391568 h 1391567"/>
                <a:gd name="connsiteX3" fmla="*/ 0 w 1389703"/>
                <a:gd name="connsiteY3" fmla="*/ 695784 h 1391567"/>
                <a:gd name="connsiteX4" fmla="*/ 1205126 w 1389703"/>
                <a:gd name="connsiteY4" fmla="*/ 0 h 1391567"/>
                <a:gd name="connsiteX5" fmla="*/ 1205126 w 1389703"/>
                <a:gd name="connsiteY5" fmla="*/ 0 h 139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9703" h="1391567">
                  <a:moveTo>
                    <a:pt x="1205126" y="0"/>
                  </a:moveTo>
                  <a:cubicBezTo>
                    <a:pt x="1322557" y="205148"/>
                    <a:pt x="1389703" y="442697"/>
                    <a:pt x="1389703" y="695784"/>
                  </a:cubicBezTo>
                  <a:cubicBezTo>
                    <a:pt x="1389703" y="948871"/>
                    <a:pt x="1322577" y="1186419"/>
                    <a:pt x="1205126" y="1391568"/>
                  </a:cubicBezTo>
                  <a:lnTo>
                    <a:pt x="0" y="695784"/>
                  </a:lnTo>
                  <a:lnTo>
                    <a:pt x="1205126" y="0"/>
                  </a:lnTo>
                  <a:lnTo>
                    <a:pt x="1205126" y="0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3C0F17E-FB09-B382-351A-5C9CB5F0CA81}"/>
                </a:ext>
              </a:extLst>
            </p:cNvPr>
            <p:cNvSpPr/>
            <p:nvPr/>
          </p:nvSpPr>
          <p:spPr>
            <a:xfrm>
              <a:off x="4698337" y="2153524"/>
              <a:ext cx="1377472" cy="1380941"/>
            </a:xfrm>
            <a:custGeom>
              <a:avLst/>
              <a:gdLst>
                <a:gd name="connsiteX0" fmla="*/ 1377473 w 1377472"/>
                <a:gd name="connsiteY0" fmla="*/ 690471 h 1380941"/>
                <a:gd name="connsiteX1" fmla="*/ 181550 w 1377472"/>
                <a:gd name="connsiteY1" fmla="*/ 1380941 h 1380941"/>
                <a:gd name="connsiteX2" fmla="*/ 0 w 1377472"/>
                <a:gd name="connsiteY2" fmla="*/ 690471 h 1380941"/>
                <a:gd name="connsiteX3" fmla="*/ 181550 w 1377472"/>
                <a:gd name="connsiteY3" fmla="*/ 0 h 1380941"/>
                <a:gd name="connsiteX4" fmla="*/ 1377473 w 1377472"/>
                <a:gd name="connsiteY4" fmla="*/ 690471 h 1380941"/>
                <a:gd name="connsiteX5" fmla="*/ 1377473 w 1377472"/>
                <a:gd name="connsiteY5" fmla="*/ 690471 h 1380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7472" h="1380941">
                  <a:moveTo>
                    <a:pt x="1377473" y="690471"/>
                  </a:moveTo>
                  <a:lnTo>
                    <a:pt x="181550" y="1380941"/>
                  </a:lnTo>
                  <a:cubicBezTo>
                    <a:pt x="65984" y="1177036"/>
                    <a:pt x="0" y="941392"/>
                    <a:pt x="0" y="690471"/>
                  </a:cubicBezTo>
                  <a:cubicBezTo>
                    <a:pt x="0" y="439549"/>
                    <a:pt x="65984" y="203905"/>
                    <a:pt x="181550" y="0"/>
                  </a:cubicBezTo>
                  <a:lnTo>
                    <a:pt x="1377473" y="690471"/>
                  </a:lnTo>
                  <a:lnTo>
                    <a:pt x="1377473" y="690471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839F76-B561-1DCC-3E27-054A9BCCC568}"/>
                </a:ext>
              </a:extLst>
            </p:cNvPr>
            <p:cNvSpPr/>
            <p:nvPr/>
          </p:nvSpPr>
          <p:spPr>
            <a:xfrm>
              <a:off x="4889891" y="1440457"/>
              <a:ext cx="1195943" cy="1386174"/>
            </a:xfrm>
            <a:custGeom>
              <a:avLst/>
              <a:gdLst>
                <a:gd name="connsiteX0" fmla="*/ 1195943 w 1195943"/>
                <a:gd name="connsiteY0" fmla="*/ 1386174 h 1386174"/>
                <a:gd name="connsiteX1" fmla="*/ 0 w 1195943"/>
                <a:gd name="connsiteY1" fmla="*/ 695704 h 1386174"/>
                <a:gd name="connsiteX2" fmla="*/ 1195943 w 1195943"/>
                <a:gd name="connsiteY2" fmla="*/ 0 h 1386174"/>
                <a:gd name="connsiteX3" fmla="*/ 1195943 w 1195943"/>
                <a:gd name="connsiteY3" fmla="*/ 1386174 h 1386174"/>
                <a:gd name="connsiteX4" fmla="*/ 1195943 w 1195943"/>
                <a:gd name="connsiteY4" fmla="*/ 1386174 h 138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943" h="1386174">
                  <a:moveTo>
                    <a:pt x="1195943" y="1386174"/>
                  </a:moveTo>
                  <a:lnTo>
                    <a:pt x="0" y="695704"/>
                  </a:lnTo>
                  <a:cubicBezTo>
                    <a:pt x="241078" y="283964"/>
                    <a:pt x="686060" y="5734"/>
                    <a:pt x="1195943" y="0"/>
                  </a:cubicBezTo>
                  <a:lnTo>
                    <a:pt x="1195943" y="1386174"/>
                  </a:lnTo>
                  <a:lnTo>
                    <a:pt x="1195943" y="1386174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986E992-23A2-AE3F-DF22-82A5D1ACC699}"/>
                </a:ext>
              </a:extLst>
            </p:cNvPr>
            <p:cNvSpPr/>
            <p:nvPr/>
          </p:nvSpPr>
          <p:spPr>
            <a:xfrm>
              <a:off x="6105884" y="1440377"/>
              <a:ext cx="1205085" cy="1386254"/>
            </a:xfrm>
            <a:custGeom>
              <a:avLst/>
              <a:gdLst>
                <a:gd name="connsiteX0" fmla="*/ 0 w 1205085"/>
                <a:gd name="connsiteY0" fmla="*/ 0 h 1386254"/>
                <a:gd name="connsiteX1" fmla="*/ 1205086 w 1205085"/>
                <a:gd name="connsiteY1" fmla="*/ 690491 h 1386254"/>
                <a:gd name="connsiteX2" fmla="*/ 0 w 1205085"/>
                <a:gd name="connsiteY2" fmla="*/ 1386255 h 1386254"/>
                <a:gd name="connsiteX3" fmla="*/ 0 w 1205085"/>
                <a:gd name="connsiteY3" fmla="*/ 0 h 1386254"/>
                <a:gd name="connsiteX4" fmla="*/ 0 w 1205085"/>
                <a:gd name="connsiteY4" fmla="*/ 0 h 138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5085" h="1386254">
                  <a:moveTo>
                    <a:pt x="0" y="0"/>
                  </a:moveTo>
                  <a:cubicBezTo>
                    <a:pt x="512831" y="1404"/>
                    <a:pt x="961342" y="278390"/>
                    <a:pt x="1205086" y="690491"/>
                  </a:cubicBezTo>
                  <a:lnTo>
                    <a:pt x="0" y="138625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E8D338F-B38A-EFB3-DA1C-3852570687DC}"/>
                </a:ext>
              </a:extLst>
            </p:cNvPr>
            <p:cNvSpPr/>
            <p:nvPr/>
          </p:nvSpPr>
          <p:spPr>
            <a:xfrm>
              <a:off x="5200180" y="1942221"/>
              <a:ext cx="1803568" cy="1803548"/>
            </a:xfrm>
            <a:custGeom>
              <a:avLst/>
              <a:gdLst>
                <a:gd name="connsiteX0" fmla="*/ 901794 w 1803568"/>
                <a:gd name="connsiteY0" fmla="*/ 0 h 1803548"/>
                <a:gd name="connsiteX1" fmla="*/ 1803569 w 1803568"/>
                <a:gd name="connsiteY1" fmla="*/ 901774 h 1803548"/>
                <a:gd name="connsiteX2" fmla="*/ 901794 w 1803568"/>
                <a:gd name="connsiteY2" fmla="*/ 1803548 h 1803548"/>
                <a:gd name="connsiteX3" fmla="*/ 0 w 1803568"/>
                <a:gd name="connsiteY3" fmla="*/ 901774 h 1803548"/>
                <a:gd name="connsiteX4" fmla="*/ 901794 w 1803568"/>
                <a:gd name="connsiteY4" fmla="*/ 0 h 1803548"/>
                <a:gd name="connsiteX5" fmla="*/ 901794 w 1803568"/>
                <a:gd name="connsiteY5" fmla="*/ 0 h 180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3568" h="1803548">
                  <a:moveTo>
                    <a:pt x="901794" y="0"/>
                  </a:moveTo>
                  <a:cubicBezTo>
                    <a:pt x="1399508" y="0"/>
                    <a:pt x="1803569" y="404081"/>
                    <a:pt x="1803569" y="901774"/>
                  </a:cubicBezTo>
                  <a:cubicBezTo>
                    <a:pt x="1803569" y="1399467"/>
                    <a:pt x="1399488" y="1803548"/>
                    <a:pt x="901794" y="1803548"/>
                  </a:cubicBezTo>
                  <a:cubicBezTo>
                    <a:pt x="404101" y="1803548"/>
                    <a:pt x="0" y="1399467"/>
                    <a:pt x="0" y="901774"/>
                  </a:cubicBezTo>
                  <a:cubicBezTo>
                    <a:pt x="0" y="404081"/>
                    <a:pt x="404081" y="0"/>
                    <a:pt x="901794" y="0"/>
                  </a:cubicBezTo>
                  <a:lnTo>
                    <a:pt x="901794" y="0"/>
                  </a:lnTo>
                  <a:close/>
                </a:path>
              </a:pathLst>
            </a:custGeom>
            <a:solidFill>
              <a:srgbClr val="FFFFFF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D57D9E6-EE4D-D2C3-8F7A-30E65CF2F5AA}"/>
                </a:ext>
              </a:extLst>
            </p:cNvPr>
            <p:cNvSpPr/>
            <p:nvPr/>
          </p:nvSpPr>
          <p:spPr>
            <a:xfrm>
              <a:off x="6424313" y="717970"/>
              <a:ext cx="4683224" cy="1314334"/>
            </a:xfrm>
            <a:custGeom>
              <a:avLst/>
              <a:gdLst>
                <a:gd name="connsiteX0" fmla="*/ 20 w 4522424"/>
                <a:gd name="connsiteY0" fmla="*/ 585130 h 1306677"/>
                <a:gd name="connsiteX1" fmla="*/ 20 w 4522424"/>
                <a:gd name="connsiteY1" fmla="*/ 165570 h 1306677"/>
                <a:gd name="connsiteX2" fmla="*/ 165590 w 4522424"/>
                <a:gd name="connsiteY2" fmla="*/ 0 h 1306677"/>
                <a:gd name="connsiteX3" fmla="*/ 4356855 w 4522424"/>
                <a:gd name="connsiteY3" fmla="*/ 0 h 1306677"/>
                <a:gd name="connsiteX4" fmla="*/ 4522425 w 4522424"/>
                <a:gd name="connsiteY4" fmla="*/ 165570 h 1306677"/>
                <a:gd name="connsiteX5" fmla="*/ 4522425 w 4522424"/>
                <a:gd name="connsiteY5" fmla="*/ 1141107 h 1306677"/>
                <a:gd name="connsiteX6" fmla="*/ 4356855 w 4522424"/>
                <a:gd name="connsiteY6" fmla="*/ 1306677 h 1306677"/>
                <a:gd name="connsiteX7" fmla="*/ 1017481 w 4522424"/>
                <a:gd name="connsiteY7" fmla="*/ 1306677 h 1306677"/>
                <a:gd name="connsiteX8" fmla="*/ 0 w 4522424"/>
                <a:gd name="connsiteY8" fmla="*/ 585110 h 1306677"/>
                <a:gd name="connsiteX9" fmla="*/ 0 w 4522424"/>
                <a:gd name="connsiteY9" fmla="*/ 585110 h 130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24" h="1306677">
                  <a:moveTo>
                    <a:pt x="20" y="585130"/>
                  </a:moveTo>
                  <a:lnTo>
                    <a:pt x="20" y="165570"/>
                  </a:lnTo>
                  <a:cubicBezTo>
                    <a:pt x="20" y="74124"/>
                    <a:pt x="74144" y="0"/>
                    <a:pt x="165590" y="0"/>
                  </a:cubicBezTo>
                  <a:lnTo>
                    <a:pt x="4356855" y="0"/>
                  </a:lnTo>
                  <a:cubicBezTo>
                    <a:pt x="4448302" y="0"/>
                    <a:pt x="4522425" y="74144"/>
                    <a:pt x="4522425" y="165570"/>
                  </a:cubicBezTo>
                  <a:lnTo>
                    <a:pt x="4522425" y="1141107"/>
                  </a:lnTo>
                  <a:cubicBezTo>
                    <a:pt x="4522425" y="1232554"/>
                    <a:pt x="4448281" y="1306677"/>
                    <a:pt x="4356855" y="1306677"/>
                  </a:cubicBezTo>
                  <a:lnTo>
                    <a:pt x="1017481" y="1306677"/>
                  </a:lnTo>
                  <a:cubicBezTo>
                    <a:pt x="796133" y="942335"/>
                    <a:pt x="430426" y="675273"/>
                    <a:pt x="0" y="585110"/>
                  </a:cubicBezTo>
                  <a:lnTo>
                    <a:pt x="0" y="58511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226578-24AB-4FD9-DBCF-82B8C53B52BE}"/>
                </a:ext>
              </a:extLst>
            </p:cNvPr>
            <p:cNvSpPr/>
            <p:nvPr/>
          </p:nvSpPr>
          <p:spPr>
            <a:xfrm>
              <a:off x="7525922" y="2190596"/>
              <a:ext cx="3581614" cy="1306717"/>
            </a:xfrm>
            <a:custGeom>
              <a:avLst/>
              <a:gdLst>
                <a:gd name="connsiteX0" fmla="*/ 0 w 3420815"/>
                <a:gd name="connsiteY0" fmla="*/ 40 h 1306717"/>
                <a:gd name="connsiteX1" fmla="*/ 3255245 w 3420815"/>
                <a:gd name="connsiteY1" fmla="*/ 40 h 1306717"/>
                <a:gd name="connsiteX2" fmla="*/ 3420816 w 3420815"/>
                <a:gd name="connsiteY2" fmla="*/ 165610 h 1306717"/>
                <a:gd name="connsiteX3" fmla="*/ 3420816 w 3420815"/>
                <a:gd name="connsiteY3" fmla="*/ 1141147 h 1306717"/>
                <a:gd name="connsiteX4" fmla="*/ 3255245 w 3420815"/>
                <a:gd name="connsiteY4" fmla="*/ 1306718 h 1306717"/>
                <a:gd name="connsiteX5" fmla="*/ 0 w 3420815"/>
                <a:gd name="connsiteY5" fmla="*/ 1306718 h 1306717"/>
                <a:gd name="connsiteX6" fmla="*/ 142573 w 3420815"/>
                <a:gd name="connsiteY6" fmla="*/ 653359 h 1306717"/>
                <a:gd name="connsiteX7" fmla="*/ 0 w 3420815"/>
                <a:gd name="connsiteY7" fmla="*/ 0 h 1306717"/>
                <a:gd name="connsiteX8" fmla="*/ 0 w 3420815"/>
                <a:gd name="connsiteY8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0815" h="1306717">
                  <a:moveTo>
                    <a:pt x="0" y="40"/>
                  </a:moveTo>
                  <a:lnTo>
                    <a:pt x="3255245" y="40"/>
                  </a:lnTo>
                  <a:cubicBezTo>
                    <a:pt x="3346692" y="40"/>
                    <a:pt x="3420816" y="74164"/>
                    <a:pt x="3420816" y="165610"/>
                  </a:cubicBezTo>
                  <a:lnTo>
                    <a:pt x="3420816" y="1141147"/>
                  </a:lnTo>
                  <a:cubicBezTo>
                    <a:pt x="3420816" y="1232594"/>
                    <a:pt x="3346672" y="1306718"/>
                    <a:pt x="3255245" y="1306718"/>
                  </a:cubicBezTo>
                  <a:lnTo>
                    <a:pt x="0" y="1306718"/>
                  </a:lnTo>
                  <a:cubicBezTo>
                    <a:pt x="91507" y="1107885"/>
                    <a:pt x="142573" y="886536"/>
                    <a:pt x="142573" y="653359"/>
                  </a:cubicBezTo>
                  <a:cubicBezTo>
                    <a:pt x="142573" y="420181"/>
                    <a:pt x="91527" y="19883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1B4B031-914B-D8B0-4B93-C8DF7419DF8A}"/>
                </a:ext>
              </a:extLst>
            </p:cNvPr>
            <p:cNvSpPr/>
            <p:nvPr/>
          </p:nvSpPr>
          <p:spPr>
            <a:xfrm>
              <a:off x="6424333" y="3655646"/>
              <a:ext cx="4721490" cy="1315905"/>
            </a:xfrm>
            <a:custGeom>
              <a:avLst/>
              <a:gdLst>
                <a:gd name="connsiteX0" fmla="*/ 1017461 w 4522404"/>
                <a:gd name="connsiteY0" fmla="*/ 20 h 1306717"/>
                <a:gd name="connsiteX1" fmla="*/ 4356834 w 4522404"/>
                <a:gd name="connsiteY1" fmla="*/ 20 h 1306717"/>
                <a:gd name="connsiteX2" fmla="*/ 4522405 w 4522404"/>
                <a:gd name="connsiteY2" fmla="*/ 165590 h 1306717"/>
                <a:gd name="connsiteX3" fmla="*/ 4522405 w 4522404"/>
                <a:gd name="connsiteY3" fmla="*/ 1141127 h 1306717"/>
                <a:gd name="connsiteX4" fmla="*/ 4356834 w 4522404"/>
                <a:gd name="connsiteY4" fmla="*/ 1306718 h 1306717"/>
                <a:gd name="connsiteX5" fmla="*/ 165570 w 4522404"/>
                <a:gd name="connsiteY5" fmla="*/ 1306718 h 1306717"/>
                <a:gd name="connsiteX6" fmla="*/ 0 w 4522404"/>
                <a:gd name="connsiteY6" fmla="*/ 1141127 h 1306717"/>
                <a:gd name="connsiteX7" fmla="*/ 0 w 4522404"/>
                <a:gd name="connsiteY7" fmla="*/ 721568 h 1306717"/>
                <a:gd name="connsiteX8" fmla="*/ 1017481 w 4522404"/>
                <a:gd name="connsiteY8" fmla="*/ 0 h 1306717"/>
                <a:gd name="connsiteX9" fmla="*/ 1017481 w 4522404"/>
                <a:gd name="connsiteY9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04" h="1306717">
                  <a:moveTo>
                    <a:pt x="1017461" y="20"/>
                  </a:moveTo>
                  <a:lnTo>
                    <a:pt x="4356834" y="20"/>
                  </a:lnTo>
                  <a:cubicBezTo>
                    <a:pt x="4448282" y="20"/>
                    <a:pt x="4522405" y="74144"/>
                    <a:pt x="4522405" y="165590"/>
                  </a:cubicBezTo>
                  <a:lnTo>
                    <a:pt x="4522405" y="1141127"/>
                  </a:lnTo>
                  <a:cubicBezTo>
                    <a:pt x="4522405" y="1232574"/>
                    <a:pt x="4448261" y="1306718"/>
                    <a:pt x="4356834" y="1306718"/>
                  </a:cubicBezTo>
                  <a:lnTo>
                    <a:pt x="165570" y="1306718"/>
                  </a:lnTo>
                  <a:cubicBezTo>
                    <a:pt x="74124" y="1306718"/>
                    <a:pt x="0" y="1232594"/>
                    <a:pt x="0" y="1141127"/>
                  </a:cubicBezTo>
                  <a:lnTo>
                    <a:pt x="0" y="721568"/>
                  </a:lnTo>
                  <a:cubicBezTo>
                    <a:pt x="430446" y="631384"/>
                    <a:pt x="796153" y="364302"/>
                    <a:pt x="1017481" y="0"/>
                  </a:cubicBezTo>
                  <a:lnTo>
                    <a:pt x="1017481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88F764-59F1-3FCC-AD55-D0073EB69772}"/>
                </a:ext>
              </a:extLst>
            </p:cNvPr>
            <p:cNvSpPr/>
            <p:nvPr/>
          </p:nvSpPr>
          <p:spPr>
            <a:xfrm>
              <a:off x="1244980" y="725626"/>
              <a:ext cx="4522445" cy="1306677"/>
            </a:xfrm>
            <a:custGeom>
              <a:avLst/>
              <a:gdLst>
                <a:gd name="connsiteX0" fmla="*/ 4522425 w 4522445"/>
                <a:gd name="connsiteY0" fmla="*/ 585130 h 1306677"/>
                <a:gd name="connsiteX1" fmla="*/ 4522425 w 4522445"/>
                <a:gd name="connsiteY1" fmla="*/ 165570 h 1306677"/>
                <a:gd name="connsiteX2" fmla="*/ 4356835 w 4522445"/>
                <a:gd name="connsiteY2" fmla="*/ 0 h 1306677"/>
                <a:gd name="connsiteX3" fmla="*/ 165590 w 4522445"/>
                <a:gd name="connsiteY3" fmla="*/ 0 h 1306677"/>
                <a:gd name="connsiteX4" fmla="*/ 0 w 4522445"/>
                <a:gd name="connsiteY4" fmla="*/ 165570 h 1306677"/>
                <a:gd name="connsiteX5" fmla="*/ 0 w 4522445"/>
                <a:gd name="connsiteY5" fmla="*/ 1141107 h 1306677"/>
                <a:gd name="connsiteX6" fmla="*/ 165590 w 4522445"/>
                <a:gd name="connsiteY6" fmla="*/ 1306677 h 1306677"/>
                <a:gd name="connsiteX7" fmla="*/ 3504964 w 4522445"/>
                <a:gd name="connsiteY7" fmla="*/ 1306677 h 1306677"/>
                <a:gd name="connsiteX8" fmla="*/ 4522445 w 4522445"/>
                <a:gd name="connsiteY8" fmla="*/ 585110 h 1306677"/>
                <a:gd name="connsiteX9" fmla="*/ 4522445 w 4522445"/>
                <a:gd name="connsiteY9" fmla="*/ 585110 h 130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45" h="1306677">
                  <a:moveTo>
                    <a:pt x="4522425" y="585130"/>
                  </a:moveTo>
                  <a:lnTo>
                    <a:pt x="4522425" y="165570"/>
                  </a:lnTo>
                  <a:cubicBezTo>
                    <a:pt x="4522425" y="74124"/>
                    <a:pt x="4448301" y="0"/>
                    <a:pt x="4356835" y="0"/>
                  </a:cubicBezTo>
                  <a:lnTo>
                    <a:pt x="165590" y="0"/>
                  </a:lnTo>
                  <a:cubicBezTo>
                    <a:pt x="74144" y="0"/>
                    <a:pt x="0" y="74144"/>
                    <a:pt x="0" y="165570"/>
                  </a:cubicBezTo>
                  <a:lnTo>
                    <a:pt x="0" y="1141107"/>
                  </a:lnTo>
                  <a:cubicBezTo>
                    <a:pt x="0" y="1232554"/>
                    <a:pt x="74144" y="1306677"/>
                    <a:pt x="165590" y="1306677"/>
                  </a:cubicBezTo>
                  <a:lnTo>
                    <a:pt x="3504964" y="1306677"/>
                  </a:lnTo>
                  <a:cubicBezTo>
                    <a:pt x="3726313" y="942335"/>
                    <a:pt x="4092019" y="675273"/>
                    <a:pt x="4522445" y="585110"/>
                  </a:cubicBezTo>
                  <a:lnTo>
                    <a:pt x="4522445" y="58511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F0A3D53-AF59-1883-3009-BB6F608F68B9}"/>
                </a:ext>
              </a:extLst>
            </p:cNvPr>
            <p:cNvSpPr/>
            <p:nvPr/>
          </p:nvSpPr>
          <p:spPr>
            <a:xfrm>
              <a:off x="1244980" y="2190596"/>
              <a:ext cx="3420835" cy="1306717"/>
            </a:xfrm>
            <a:custGeom>
              <a:avLst/>
              <a:gdLst>
                <a:gd name="connsiteX0" fmla="*/ 3420816 w 3420835"/>
                <a:gd name="connsiteY0" fmla="*/ 40 h 1306717"/>
                <a:gd name="connsiteX1" fmla="*/ 165590 w 3420835"/>
                <a:gd name="connsiteY1" fmla="*/ 40 h 1306717"/>
                <a:gd name="connsiteX2" fmla="*/ 0 w 3420835"/>
                <a:gd name="connsiteY2" fmla="*/ 165610 h 1306717"/>
                <a:gd name="connsiteX3" fmla="*/ 0 w 3420835"/>
                <a:gd name="connsiteY3" fmla="*/ 1141147 h 1306717"/>
                <a:gd name="connsiteX4" fmla="*/ 165590 w 3420835"/>
                <a:gd name="connsiteY4" fmla="*/ 1306718 h 1306717"/>
                <a:gd name="connsiteX5" fmla="*/ 3420836 w 3420835"/>
                <a:gd name="connsiteY5" fmla="*/ 1306718 h 1306717"/>
                <a:gd name="connsiteX6" fmla="*/ 3278262 w 3420835"/>
                <a:gd name="connsiteY6" fmla="*/ 653359 h 1306717"/>
                <a:gd name="connsiteX7" fmla="*/ 3420836 w 3420835"/>
                <a:gd name="connsiteY7" fmla="*/ 0 h 1306717"/>
                <a:gd name="connsiteX8" fmla="*/ 3420836 w 3420835"/>
                <a:gd name="connsiteY8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0835" h="1306717">
                  <a:moveTo>
                    <a:pt x="3420816" y="40"/>
                  </a:moveTo>
                  <a:lnTo>
                    <a:pt x="165590" y="40"/>
                  </a:lnTo>
                  <a:cubicBezTo>
                    <a:pt x="74144" y="40"/>
                    <a:pt x="0" y="74164"/>
                    <a:pt x="0" y="165610"/>
                  </a:cubicBezTo>
                  <a:lnTo>
                    <a:pt x="0" y="1141147"/>
                  </a:lnTo>
                  <a:cubicBezTo>
                    <a:pt x="0" y="1232594"/>
                    <a:pt x="74144" y="1306718"/>
                    <a:pt x="165590" y="1306718"/>
                  </a:cubicBezTo>
                  <a:lnTo>
                    <a:pt x="3420836" y="1306718"/>
                  </a:lnTo>
                  <a:cubicBezTo>
                    <a:pt x="3329329" y="1107885"/>
                    <a:pt x="3278262" y="886536"/>
                    <a:pt x="3278262" y="653359"/>
                  </a:cubicBezTo>
                  <a:cubicBezTo>
                    <a:pt x="3278262" y="420181"/>
                    <a:pt x="3329329" y="198833"/>
                    <a:pt x="3420836" y="0"/>
                  </a:cubicBezTo>
                  <a:lnTo>
                    <a:pt x="3420836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65F04B2-047F-0130-4761-C1D9E6E64673}"/>
                </a:ext>
              </a:extLst>
            </p:cNvPr>
            <p:cNvSpPr/>
            <p:nvPr/>
          </p:nvSpPr>
          <p:spPr>
            <a:xfrm>
              <a:off x="1244980" y="3655646"/>
              <a:ext cx="4522445" cy="1306717"/>
            </a:xfrm>
            <a:custGeom>
              <a:avLst/>
              <a:gdLst>
                <a:gd name="connsiteX0" fmla="*/ 3504944 w 4522445"/>
                <a:gd name="connsiteY0" fmla="*/ 20 h 1306717"/>
                <a:gd name="connsiteX1" fmla="*/ 165590 w 4522445"/>
                <a:gd name="connsiteY1" fmla="*/ 20 h 1306717"/>
                <a:gd name="connsiteX2" fmla="*/ 0 w 4522445"/>
                <a:gd name="connsiteY2" fmla="*/ 165590 h 1306717"/>
                <a:gd name="connsiteX3" fmla="*/ 0 w 4522445"/>
                <a:gd name="connsiteY3" fmla="*/ 1141127 h 1306717"/>
                <a:gd name="connsiteX4" fmla="*/ 165590 w 4522445"/>
                <a:gd name="connsiteY4" fmla="*/ 1306718 h 1306717"/>
                <a:gd name="connsiteX5" fmla="*/ 4356855 w 4522445"/>
                <a:gd name="connsiteY5" fmla="*/ 1306718 h 1306717"/>
                <a:gd name="connsiteX6" fmla="*/ 4522445 w 4522445"/>
                <a:gd name="connsiteY6" fmla="*/ 1141127 h 1306717"/>
                <a:gd name="connsiteX7" fmla="*/ 4522445 w 4522445"/>
                <a:gd name="connsiteY7" fmla="*/ 721568 h 1306717"/>
                <a:gd name="connsiteX8" fmla="*/ 3504964 w 4522445"/>
                <a:gd name="connsiteY8" fmla="*/ 0 h 1306717"/>
                <a:gd name="connsiteX9" fmla="*/ 3504964 w 4522445"/>
                <a:gd name="connsiteY9" fmla="*/ 0 h 130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22445" h="1306717">
                  <a:moveTo>
                    <a:pt x="3504944" y="20"/>
                  </a:moveTo>
                  <a:lnTo>
                    <a:pt x="165590" y="20"/>
                  </a:lnTo>
                  <a:cubicBezTo>
                    <a:pt x="74144" y="20"/>
                    <a:pt x="0" y="74144"/>
                    <a:pt x="0" y="165590"/>
                  </a:cubicBezTo>
                  <a:lnTo>
                    <a:pt x="0" y="1141127"/>
                  </a:lnTo>
                  <a:cubicBezTo>
                    <a:pt x="0" y="1232574"/>
                    <a:pt x="74144" y="1306718"/>
                    <a:pt x="165590" y="1306718"/>
                  </a:cubicBezTo>
                  <a:lnTo>
                    <a:pt x="4356855" y="1306718"/>
                  </a:lnTo>
                  <a:cubicBezTo>
                    <a:pt x="4448301" y="1306718"/>
                    <a:pt x="4522445" y="1232594"/>
                    <a:pt x="4522445" y="1141127"/>
                  </a:cubicBezTo>
                  <a:lnTo>
                    <a:pt x="4522445" y="721568"/>
                  </a:lnTo>
                  <a:cubicBezTo>
                    <a:pt x="4091999" y="631384"/>
                    <a:pt x="3726293" y="364302"/>
                    <a:pt x="3504964" y="0"/>
                  </a:cubicBezTo>
                  <a:lnTo>
                    <a:pt x="3504964" y="0"/>
                  </a:lnTo>
                  <a:close/>
                </a:path>
              </a:pathLst>
            </a:custGeom>
            <a:solidFill>
              <a:srgbClr val="FFFFFF"/>
            </a:solidFill>
            <a:ln w="8016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8F59E1-DD53-8BF6-5636-202DEA530B49}"/>
                </a:ext>
              </a:extLst>
            </p:cNvPr>
            <p:cNvSpPr txBox="1"/>
            <p:nvPr/>
          </p:nvSpPr>
          <p:spPr>
            <a:xfrm>
              <a:off x="1386113" y="823638"/>
              <a:ext cx="3169098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End-to-End Android Stack Ownership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C10554-7984-1687-2A98-F8854560FB56}"/>
                </a:ext>
              </a:extLst>
            </p:cNvPr>
            <p:cNvSpPr txBox="1"/>
            <p:nvPr/>
          </p:nvSpPr>
          <p:spPr>
            <a:xfrm>
              <a:off x="1386113" y="1100101"/>
              <a:ext cx="4195668" cy="701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BSP, Kernel, Drivers, HAL (HIDL → AIDL), Framework, SystemUI/Launcher, Apps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Proven Android upgrades from android 12 onwards  to 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     android 16 (A12–A16) on Qualcomm IoT platforms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D8DAD8-7A3F-48BB-A533-0CA32C84DF1E}"/>
                </a:ext>
              </a:extLst>
            </p:cNvPr>
            <p:cNvSpPr txBox="1"/>
            <p:nvPr/>
          </p:nvSpPr>
          <p:spPr>
            <a:xfrm>
              <a:off x="6803619" y="716868"/>
              <a:ext cx="3134866" cy="25979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Qualcomm and MTK Platform Expertise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143BB3C-B897-5E60-4F7D-3284044FBDB3}"/>
                </a:ext>
              </a:extLst>
            </p:cNvPr>
            <p:cNvSpPr txBox="1"/>
            <p:nvPr/>
          </p:nvSpPr>
          <p:spPr>
            <a:xfrm>
              <a:off x="7335851" y="905753"/>
              <a:ext cx="3952020" cy="10131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Hands-on experience with various QC Chipsets MSM8909, QCM6125, QCS2290/4490, QCM8550, QCS8250, MDM9x07.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Qualcomm LA-based Android environments.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Android and kernel bring-up handed for MTK chipsets e.g. MT6765, MT6769 and NTN chipset.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Strong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 familiarity with QSSI, Vendor, firmware alignment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697B96-525C-9006-F19F-21514FB2C0D3}"/>
                </a:ext>
              </a:extLst>
            </p:cNvPr>
            <p:cNvSpPr txBox="1"/>
            <p:nvPr/>
          </p:nvSpPr>
          <p:spPr>
            <a:xfrm>
              <a:off x="1386113" y="3717085"/>
              <a:ext cx="2785374" cy="25979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Kernel &amp; Driver Expertise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C2AD1AC-BE1B-E8A8-0C22-1FD5CE60B3D4}"/>
                </a:ext>
              </a:extLst>
            </p:cNvPr>
            <p:cNvSpPr txBox="1"/>
            <p:nvPr/>
          </p:nvSpPr>
          <p:spPr>
            <a:xfrm>
              <a:off x="1386112" y="3928611"/>
              <a:ext cx="4649333" cy="10131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Linux kernel upgrades 3.x → 6.x</a:t>
              </a: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Driver development &amp; integration for: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Display, Touch and Camera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Wi-Fi, BT and Sensors</a:t>
              </a:r>
            </a:p>
            <a:p>
              <a:pPr marL="628650" marR="0" lvl="1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Audio amplifiers (internal &amp; external), Fuel gauge and Charger ICs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6286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/>
                <a:buChar char="o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Other custom peripherals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7CA0ED-E6D4-3443-20B8-050721B38A82}"/>
                </a:ext>
              </a:extLst>
            </p:cNvPr>
            <p:cNvSpPr txBox="1"/>
            <p:nvPr/>
          </p:nvSpPr>
          <p:spPr>
            <a:xfrm>
              <a:off x="1326771" y="2292726"/>
              <a:ext cx="3052884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HAL &amp; Framework Migration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753EE96-A1A4-5701-7231-9687359F2FDE}"/>
                </a:ext>
              </a:extLst>
            </p:cNvPr>
            <p:cNvSpPr txBox="1"/>
            <p:nvPr/>
          </p:nvSpPr>
          <p:spPr>
            <a:xfrm>
              <a:off x="1342085" y="2547843"/>
              <a:ext cx="3138524" cy="8573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OEM HAL redesign and migration from HIDL to AIDL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Framework services, overlays, adaptation for Android 16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Treble and Mainline compliance readiness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9043AA6-3BBE-E8FE-D11E-78733E5A2AB9}"/>
                </a:ext>
              </a:extLst>
            </p:cNvPr>
            <p:cNvSpPr txBox="1"/>
            <p:nvPr/>
          </p:nvSpPr>
          <p:spPr>
            <a:xfrm>
              <a:off x="7753003" y="2276799"/>
              <a:ext cx="3052884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OTA &amp; Platform Stability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96103C-EDF9-4B4A-9593-EB0F7C2801AF}"/>
                </a:ext>
              </a:extLst>
            </p:cNvPr>
            <p:cNvSpPr txBox="1"/>
            <p:nvPr/>
          </p:nvSpPr>
          <p:spPr>
            <a:xfrm>
              <a:off x="7552052" y="3758813"/>
              <a:ext cx="3238859" cy="25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  <a:sym typeface="Arial"/>
                </a:rPr>
                <a:t>Quality &amp; Delivery Excellence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987567-D7D0-894B-CB90-F402782ACDD4}"/>
                </a:ext>
              </a:extLst>
            </p:cNvPr>
            <p:cNvSpPr txBox="1"/>
            <p:nvPr/>
          </p:nvSpPr>
          <p:spPr>
            <a:xfrm>
              <a:off x="7552052" y="4067874"/>
              <a:ext cx="3138525" cy="8573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SLA compliance, defect triage, and RCA (5-Why)</a:t>
              </a: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CI/CD, Gerrit-based development, structured release management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GMS Testing and Certification,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Lato"/>
                  <a:cs typeface="Lato"/>
                </a:rPr>
                <a:t>System and Integration Testing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896BED-A833-CCA2-E472-48F5D5DFEA4B}"/>
                </a:ext>
              </a:extLst>
            </p:cNvPr>
            <p:cNvSpPr txBox="1"/>
            <p:nvPr/>
          </p:nvSpPr>
          <p:spPr>
            <a:xfrm>
              <a:off x="7753002" y="2555289"/>
              <a:ext cx="3184467" cy="8573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OTA enablement for Android 12- Android 14  - Android 16</a:t>
              </a: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Performance tuning, boot stability, regression handling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  <a:p>
              <a:pPr marL="171450" marR="0" lvl="0" indent="-17145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CTS / VTS / STS subset execution and analysis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/>
                <a:ea typeface="Lato"/>
                <a:cs typeface="Lato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E61D877-B38D-D195-8C1F-8305F6BDC5A9}"/>
                </a:ext>
              </a:extLst>
            </p:cNvPr>
            <p:cNvGrpSpPr/>
            <p:nvPr/>
          </p:nvGrpSpPr>
          <p:grpSpPr>
            <a:xfrm>
              <a:off x="5001431" y="1400718"/>
              <a:ext cx="723173" cy="723173"/>
              <a:chOff x="5011241" y="1400718"/>
              <a:chExt cx="723173" cy="723173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95A98CF-1E21-EAFF-7113-4A8A6FA9D65C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D4A43FDB-98E6-CF2A-7430-8D3E8A3D53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068468" y="1445828"/>
                <a:ext cx="608718" cy="608718"/>
              </a:xfrm>
              <a:prstGeom prst="rect">
                <a:avLst/>
              </a:prstGeom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EDF89AD-346A-9903-E867-AFD903B63054}"/>
                </a:ext>
              </a:extLst>
            </p:cNvPr>
            <p:cNvGrpSpPr/>
            <p:nvPr/>
          </p:nvGrpSpPr>
          <p:grpSpPr>
            <a:xfrm>
              <a:off x="6432162" y="1400716"/>
              <a:ext cx="723173" cy="723173"/>
              <a:chOff x="5011241" y="1400718"/>
              <a:chExt cx="723173" cy="723173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2F34B7A-84D0-D952-005F-42EB1444AE95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5BAD7795-3131-3E46-9CBC-B4E7087035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72591" y="1564509"/>
                <a:ext cx="448245" cy="448243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655A71-75F1-374C-A2CD-79655B0E1D18}"/>
                </a:ext>
              </a:extLst>
            </p:cNvPr>
            <p:cNvGrpSpPr/>
            <p:nvPr/>
          </p:nvGrpSpPr>
          <p:grpSpPr>
            <a:xfrm>
              <a:off x="7007809" y="2474531"/>
              <a:ext cx="723173" cy="723173"/>
              <a:chOff x="5011241" y="1400718"/>
              <a:chExt cx="723173" cy="723173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7B2F3FC-2B3F-A472-6141-B5CB3E5AD743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F2D08C14-E1CB-B99C-EF6D-D557AEFAE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29835" y="1501788"/>
                <a:ext cx="485749" cy="485749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207E10A-3FAB-DE50-5E8B-DB6D04DE726C}"/>
                </a:ext>
              </a:extLst>
            </p:cNvPr>
            <p:cNvGrpSpPr/>
            <p:nvPr/>
          </p:nvGrpSpPr>
          <p:grpSpPr>
            <a:xfrm>
              <a:off x="6432162" y="3579097"/>
              <a:ext cx="723173" cy="723173"/>
              <a:chOff x="5011241" y="1400718"/>
              <a:chExt cx="723173" cy="723173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03AC0A4-37F1-6781-99D4-2097AB1BF272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1009ED76-D81A-D6B6-DCF3-A69F8CD15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14045" y="1522818"/>
                <a:ext cx="478971" cy="478971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EEDDBA1-960C-C9EF-0BC0-8D4B5C0C4314}"/>
                </a:ext>
              </a:extLst>
            </p:cNvPr>
            <p:cNvGrpSpPr/>
            <p:nvPr/>
          </p:nvGrpSpPr>
          <p:grpSpPr>
            <a:xfrm>
              <a:off x="5001431" y="3579097"/>
              <a:ext cx="723173" cy="723173"/>
              <a:chOff x="5011241" y="1400718"/>
              <a:chExt cx="723173" cy="723173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16EEB4B-684E-D02E-8EC2-03F1E0D014D2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DA59CB06-5F5F-67B4-09BD-7DC62A8DF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28118" y="1514420"/>
                <a:ext cx="492595" cy="492593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89DA248-AF6A-FF79-8AEE-183D2A5C9FBB}"/>
                </a:ext>
              </a:extLst>
            </p:cNvPr>
            <p:cNvGrpSpPr/>
            <p:nvPr/>
          </p:nvGrpSpPr>
          <p:grpSpPr>
            <a:xfrm>
              <a:off x="4438999" y="2474531"/>
              <a:ext cx="723173" cy="723173"/>
              <a:chOff x="5011241" y="1400718"/>
              <a:chExt cx="723173" cy="72317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9F0740A-BD43-2D9D-D595-04AE2D32F67E}"/>
                  </a:ext>
                </a:extLst>
              </p:cNvPr>
              <p:cNvSpPr/>
              <p:nvPr/>
            </p:nvSpPr>
            <p:spPr>
              <a:xfrm>
                <a:off x="5011241" y="1400718"/>
                <a:ext cx="723173" cy="723173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641E1B13-BC8B-1B62-0CBF-B39B64EA90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5123693" y="1553416"/>
                <a:ext cx="478971" cy="478971"/>
              </a:xfrm>
              <a:prstGeom prst="rect">
                <a:avLst/>
              </a:prstGeom>
            </p:spPr>
          </p:pic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F8ACF5A-5B64-D037-6CF1-8341EEDB69C8}"/>
              </a:ext>
            </a:extLst>
          </p:cNvPr>
          <p:cNvSpPr txBox="1"/>
          <p:nvPr/>
        </p:nvSpPr>
        <p:spPr>
          <a:xfrm>
            <a:off x="3046906" y="68182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Android Platform Engineering</a:t>
            </a:r>
          </a:p>
        </p:txBody>
      </p:sp>
    </p:spTree>
    <p:extLst>
      <p:ext uri="{BB962C8B-B14F-4D97-AF65-F5344CB8AC3E}">
        <p14:creationId xmlns:p14="http://schemas.microsoft.com/office/powerpoint/2010/main" val="2442857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E7A9-CA68-F3C9-4D4A-4F1757B27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Roboto"/>
                <a:ea typeface="Roboto"/>
                <a:cs typeface="Roboto"/>
              </a:rPr>
              <a:t>Our Approach to bring-up Android on New device / Upgrades</a:t>
            </a:r>
            <a:endParaRPr lang="en-IN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6F7C62-EB22-47BA-BD72-B4ABBE88C9B8}"/>
              </a:ext>
            </a:extLst>
          </p:cNvPr>
          <p:cNvGrpSpPr/>
          <p:nvPr/>
        </p:nvGrpSpPr>
        <p:grpSpPr>
          <a:xfrm>
            <a:off x="285205" y="874017"/>
            <a:ext cx="11718376" cy="4997540"/>
            <a:chOff x="97970" y="1155886"/>
            <a:chExt cx="14010121" cy="4204783"/>
          </a:xfrm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F2E0B6A8-8C9F-389A-6C6C-AC6CE0657A71}"/>
                </a:ext>
              </a:extLst>
            </p:cNvPr>
            <p:cNvSpPr/>
            <p:nvPr/>
          </p:nvSpPr>
          <p:spPr>
            <a:xfrm>
              <a:off x="248276" y="1155886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7222EA4C-887C-B786-F7D0-E3DA2F173B04}"/>
                </a:ext>
              </a:extLst>
            </p:cNvPr>
            <p:cNvSpPr/>
            <p:nvPr/>
          </p:nvSpPr>
          <p:spPr>
            <a:xfrm>
              <a:off x="189224" y="1271817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5" y="459843"/>
                    <a:pt x="672633" y="356905"/>
                    <a:pt x="672633" y="229922"/>
                  </a:cubicBezTo>
                  <a:cubicBezTo>
                    <a:pt x="672633" y="102938"/>
                    <a:pt x="569695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9679A5-35B7-BB4E-1330-8F675249696F}"/>
                </a:ext>
              </a:extLst>
            </p:cNvPr>
            <p:cNvSpPr txBox="1"/>
            <p:nvPr/>
          </p:nvSpPr>
          <p:spPr>
            <a:xfrm>
              <a:off x="247960" y="2047090"/>
              <a:ext cx="1794399" cy="297797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Fetch Qualcomm Android  baseline for targeted Android version.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Confirm vendor API level 32 (per Customer) and vendor image model with  QSSI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Analyse Customer Android deltas (Peripherals, HAL overlays, patches, apps)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Identify mandatory deltas for Android/Treble compliance</a:t>
              </a:r>
            </a:p>
          </p:txBody>
        </p:sp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A2B65587-38AB-6E99-3075-C5DFC6E78245}"/>
                </a:ext>
              </a:extLst>
            </p:cNvPr>
            <p:cNvSpPr/>
            <p:nvPr/>
          </p:nvSpPr>
          <p:spPr>
            <a:xfrm>
              <a:off x="97971" y="1734196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06D382CF-223F-7368-B088-E9672E0CD839}"/>
                </a:ext>
              </a:extLst>
            </p:cNvPr>
            <p:cNvSpPr/>
            <p:nvPr/>
          </p:nvSpPr>
          <p:spPr>
            <a:xfrm>
              <a:off x="97970" y="1269266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55B4CDCF-CC1E-59E0-7D9E-16E45BCE224E}"/>
                </a:ext>
              </a:extLst>
            </p:cNvPr>
            <p:cNvSpPr/>
            <p:nvPr/>
          </p:nvSpPr>
          <p:spPr>
            <a:xfrm>
              <a:off x="2258300" y="1162579"/>
              <a:ext cx="1794101" cy="4156065"/>
            </a:xfrm>
            <a:custGeom>
              <a:avLst/>
              <a:gdLst>
                <a:gd name="connsiteX0" fmla="*/ 1685400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0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0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0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9" name="Freeform: Shape 15">
              <a:extLst>
                <a:ext uri="{FF2B5EF4-FFF2-40B4-BE49-F238E27FC236}">
                  <a16:creationId xmlns:a16="http://schemas.microsoft.com/office/drawing/2014/main" id="{FF199F35-9B63-3EDE-9EBD-02A808D43D96}"/>
                </a:ext>
              </a:extLst>
            </p:cNvPr>
            <p:cNvSpPr/>
            <p:nvPr/>
          </p:nvSpPr>
          <p:spPr>
            <a:xfrm>
              <a:off x="2199249" y="1278510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5" y="459843"/>
                    <a:pt x="672633" y="356905"/>
                    <a:pt x="672633" y="229922"/>
                  </a:cubicBezTo>
                  <a:cubicBezTo>
                    <a:pt x="672633" y="102938"/>
                    <a:pt x="569695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Freeform: Shape 16">
              <a:extLst>
                <a:ext uri="{FF2B5EF4-FFF2-40B4-BE49-F238E27FC236}">
                  <a16:creationId xmlns:a16="http://schemas.microsoft.com/office/drawing/2014/main" id="{A22F539E-A740-F8E7-7507-EB861D34B13B}"/>
                </a:ext>
              </a:extLst>
            </p:cNvPr>
            <p:cNvSpPr/>
            <p:nvPr/>
          </p:nvSpPr>
          <p:spPr>
            <a:xfrm>
              <a:off x="2107979" y="1740889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Freeform: Shape 17">
              <a:extLst>
                <a:ext uri="{FF2B5EF4-FFF2-40B4-BE49-F238E27FC236}">
                  <a16:creationId xmlns:a16="http://schemas.microsoft.com/office/drawing/2014/main" id="{D3A18583-1680-AF45-7F13-C09BEE022C19}"/>
                </a:ext>
              </a:extLst>
            </p:cNvPr>
            <p:cNvSpPr/>
            <p:nvPr/>
          </p:nvSpPr>
          <p:spPr>
            <a:xfrm>
              <a:off x="2107995" y="1275959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2" name="Freeform: Shape 18">
              <a:extLst>
                <a:ext uri="{FF2B5EF4-FFF2-40B4-BE49-F238E27FC236}">
                  <a16:creationId xmlns:a16="http://schemas.microsoft.com/office/drawing/2014/main" id="{C9A70186-FC4E-55C9-2EA2-58D808FE7D91}"/>
                </a:ext>
              </a:extLst>
            </p:cNvPr>
            <p:cNvSpPr/>
            <p:nvPr/>
          </p:nvSpPr>
          <p:spPr>
            <a:xfrm>
              <a:off x="4268309" y="1169271"/>
              <a:ext cx="1794101" cy="4156065"/>
            </a:xfrm>
            <a:custGeom>
              <a:avLst/>
              <a:gdLst>
                <a:gd name="connsiteX0" fmla="*/ 1685400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0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0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0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Freeform: Shape 19">
              <a:extLst>
                <a:ext uri="{FF2B5EF4-FFF2-40B4-BE49-F238E27FC236}">
                  <a16:creationId xmlns:a16="http://schemas.microsoft.com/office/drawing/2014/main" id="{DBF4DF34-45AD-96DA-3E71-1114B5A0F088}"/>
                </a:ext>
              </a:extLst>
            </p:cNvPr>
            <p:cNvSpPr/>
            <p:nvPr/>
          </p:nvSpPr>
          <p:spPr>
            <a:xfrm>
              <a:off x="4209258" y="1285218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5" y="459843"/>
                    <a:pt x="672633" y="356905"/>
                    <a:pt x="672633" y="229922"/>
                  </a:cubicBezTo>
                  <a:cubicBezTo>
                    <a:pt x="672633" y="102938"/>
                    <a:pt x="569695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4798AE38-491B-4F0A-FA0D-9A7CFBF71677}"/>
                </a:ext>
              </a:extLst>
            </p:cNvPr>
            <p:cNvSpPr/>
            <p:nvPr/>
          </p:nvSpPr>
          <p:spPr>
            <a:xfrm>
              <a:off x="4118004" y="1747597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cubicBezTo>
                    <a:pt x="149990" y="0"/>
                    <a:pt x="16" y="189"/>
                    <a:pt x="16" y="189"/>
                  </a:cubicBez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82DF1BFB-1469-B231-AD1D-3804D3E472AC}"/>
                </a:ext>
              </a:extLst>
            </p:cNvPr>
            <p:cNvSpPr/>
            <p:nvPr/>
          </p:nvSpPr>
          <p:spPr>
            <a:xfrm>
              <a:off x="4118004" y="1282651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Freeform: Shape 22">
              <a:extLst>
                <a:ext uri="{FF2B5EF4-FFF2-40B4-BE49-F238E27FC236}">
                  <a16:creationId xmlns:a16="http://schemas.microsoft.com/office/drawing/2014/main" id="{5A5700D6-217C-46B9-4F4A-6178B2282023}"/>
                </a:ext>
              </a:extLst>
            </p:cNvPr>
            <p:cNvSpPr/>
            <p:nvPr/>
          </p:nvSpPr>
          <p:spPr>
            <a:xfrm>
              <a:off x="6278318" y="1175979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2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2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2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2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7" name="Freeform: Shape 23">
              <a:extLst>
                <a:ext uri="{FF2B5EF4-FFF2-40B4-BE49-F238E27FC236}">
                  <a16:creationId xmlns:a16="http://schemas.microsoft.com/office/drawing/2014/main" id="{A8D6B782-A4F8-FFE4-AEB8-B7D5EBB958F2}"/>
                </a:ext>
              </a:extLst>
            </p:cNvPr>
            <p:cNvSpPr/>
            <p:nvPr/>
          </p:nvSpPr>
          <p:spPr>
            <a:xfrm>
              <a:off x="6219283" y="1291911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8" name="Freeform: Shape 24">
              <a:extLst>
                <a:ext uri="{FF2B5EF4-FFF2-40B4-BE49-F238E27FC236}">
                  <a16:creationId xmlns:a16="http://schemas.microsoft.com/office/drawing/2014/main" id="{9FD83FEB-3BEF-B2A8-26D0-ECB99CC259E1}"/>
                </a:ext>
              </a:extLst>
            </p:cNvPr>
            <p:cNvSpPr/>
            <p:nvPr/>
          </p:nvSpPr>
          <p:spPr>
            <a:xfrm>
              <a:off x="6128013" y="1754289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9" name="Freeform: Shape 25">
              <a:extLst>
                <a:ext uri="{FF2B5EF4-FFF2-40B4-BE49-F238E27FC236}">
                  <a16:creationId xmlns:a16="http://schemas.microsoft.com/office/drawing/2014/main" id="{B16C6162-256E-2D4E-4DE6-5F09F06D82EC}"/>
                </a:ext>
              </a:extLst>
            </p:cNvPr>
            <p:cNvSpPr/>
            <p:nvPr/>
          </p:nvSpPr>
          <p:spPr>
            <a:xfrm>
              <a:off x="6128029" y="1289344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4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1 w 767587"/>
                <a:gd name="connsiteY4" fmla="*/ 464930 h 465118"/>
                <a:gd name="connsiteX5" fmla="*/ 532909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4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09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0" name="Freeform: Shape 26">
              <a:extLst>
                <a:ext uri="{FF2B5EF4-FFF2-40B4-BE49-F238E27FC236}">
                  <a16:creationId xmlns:a16="http://schemas.microsoft.com/office/drawing/2014/main" id="{3F9C35A1-1378-800A-BCCA-370F4833347C}"/>
                </a:ext>
              </a:extLst>
            </p:cNvPr>
            <p:cNvSpPr/>
            <p:nvPr/>
          </p:nvSpPr>
          <p:spPr>
            <a:xfrm>
              <a:off x="8288343" y="1182672"/>
              <a:ext cx="1794101" cy="4156065"/>
            </a:xfrm>
            <a:custGeom>
              <a:avLst/>
              <a:gdLst>
                <a:gd name="connsiteX0" fmla="*/ 1685400 w 1794101"/>
                <a:gd name="connsiteY0" fmla="*/ 0 h 1794100"/>
                <a:gd name="connsiteX1" fmla="*/ 1794101 w 1794101"/>
                <a:gd name="connsiteY1" fmla="*/ 108701 h 1794100"/>
                <a:gd name="connsiteX2" fmla="*/ 1794101 w 1794101"/>
                <a:gd name="connsiteY2" fmla="*/ 1685400 h 1794100"/>
                <a:gd name="connsiteX3" fmla="*/ 1685400 w 1794101"/>
                <a:gd name="connsiteY3" fmla="*/ 1794101 h 1794100"/>
                <a:gd name="connsiteX4" fmla="*/ 108701 w 1794101"/>
                <a:gd name="connsiteY4" fmla="*/ 1794101 h 1794100"/>
                <a:gd name="connsiteX5" fmla="*/ 0 w 1794101"/>
                <a:gd name="connsiteY5" fmla="*/ 1685400 h 1794100"/>
                <a:gd name="connsiteX6" fmla="*/ 0 w 1794101"/>
                <a:gd name="connsiteY6" fmla="*/ 108702 h 1794100"/>
                <a:gd name="connsiteX7" fmla="*/ 108701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0" y="0"/>
                  </a:moveTo>
                  <a:cubicBezTo>
                    <a:pt x="1745434" y="0"/>
                    <a:pt x="1794101" y="48667"/>
                    <a:pt x="1794101" y="108701"/>
                  </a:cubicBezTo>
                  <a:lnTo>
                    <a:pt x="1794101" y="1685400"/>
                  </a:lnTo>
                  <a:cubicBezTo>
                    <a:pt x="1794101" y="1745434"/>
                    <a:pt x="1745434" y="1794101"/>
                    <a:pt x="1685400" y="1794101"/>
                  </a:cubicBezTo>
                  <a:lnTo>
                    <a:pt x="108701" y="1794101"/>
                  </a:lnTo>
                  <a:cubicBezTo>
                    <a:pt x="48667" y="1794101"/>
                    <a:pt x="0" y="1745434"/>
                    <a:pt x="0" y="1685400"/>
                  </a:cubicBezTo>
                  <a:lnTo>
                    <a:pt x="0" y="108702"/>
                  </a:lnTo>
                  <a:cubicBezTo>
                    <a:pt x="0" y="48667"/>
                    <a:pt x="48667" y="0"/>
                    <a:pt x="108701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1" name="Freeform: Shape 27">
              <a:extLst>
                <a:ext uri="{FF2B5EF4-FFF2-40B4-BE49-F238E27FC236}">
                  <a16:creationId xmlns:a16="http://schemas.microsoft.com/office/drawing/2014/main" id="{667AE24F-744D-9CA9-5850-FFA5FEF57252}"/>
                </a:ext>
              </a:extLst>
            </p:cNvPr>
            <p:cNvSpPr/>
            <p:nvPr/>
          </p:nvSpPr>
          <p:spPr>
            <a:xfrm>
              <a:off x="8229292" y="1298603"/>
              <a:ext cx="672632" cy="459843"/>
            </a:xfrm>
            <a:custGeom>
              <a:avLst/>
              <a:gdLst>
                <a:gd name="connsiteX0" fmla="*/ 442711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1 w 672632"/>
                <a:gd name="connsiteY3" fmla="*/ 459843 h 459843"/>
                <a:gd name="connsiteX4" fmla="*/ 672633 w 672632"/>
                <a:gd name="connsiteY4" fmla="*/ 229922 h 459843"/>
                <a:gd name="connsiteX5" fmla="*/ 442711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1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1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1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2" name="Freeform: Shape 28">
              <a:extLst>
                <a:ext uri="{FF2B5EF4-FFF2-40B4-BE49-F238E27FC236}">
                  <a16:creationId xmlns:a16="http://schemas.microsoft.com/office/drawing/2014/main" id="{6DCA67B5-3BA0-4E62-0C17-69B44AF1E415}"/>
                </a:ext>
              </a:extLst>
            </p:cNvPr>
            <p:cNvSpPr/>
            <p:nvPr/>
          </p:nvSpPr>
          <p:spPr>
            <a:xfrm>
              <a:off x="8138038" y="1760982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3 w 149990"/>
                <a:gd name="connsiteY1" fmla="*/ 107316 h 107315"/>
                <a:gd name="connsiteX2" fmla="*/ 149990 w 149990"/>
                <a:gd name="connsiteY2" fmla="*/ 0 h 107315"/>
                <a:gd name="connsiteX3" fmla="*/ 16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1" y="97946"/>
                    <a:pt x="149503" y="107316"/>
                    <a:pt x="149503" y="107316"/>
                  </a:cubicBezTo>
                  <a:lnTo>
                    <a:pt x="149990" y="0"/>
                  </a:lnTo>
                  <a:lnTo>
                    <a:pt x="16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3" name="Freeform: Shape 29">
              <a:extLst>
                <a:ext uri="{FF2B5EF4-FFF2-40B4-BE49-F238E27FC236}">
                  <a16:creationId xmlns:a16="http://schemas.microsoft.com/office/drawing/2014/main" id="{EE7CCD6F-68D5-17CF-B60B-045044C07D55}"/>
                </a:ext>
              </a:extLst>
            </p:cNvPr>
            <p:cNvSpPr/>
            <p:nvPr/>
          </p:nvSpPr>
          <p:spPr>
            <a:xfrm>
              <a:off x="8138038" y="1296052"/>
              <a:ext cx="767587" cy="465118"/>
            </a:xfrm>
            <a:custGeom>
              <a:avLst/>
              <a:gdLst>
                <a:gd name="connsiteX0" fmla="*/ 535146 w 767587"/>
                <a:gd name="connsiteY0" fmla="*/ 16 h 465118"/>
                <a:gd name="connsiteX1" fmla="*/ 103285 w 767587"/>
                <a:gd name="connsiteY1" fmla="*/ 362 h 465118"/>
                <a:gd name="connsiteX2" fmla="*/ 0 w 767587"/>
                <a:gd name="connsiteY2" fmla="*/ 103725 h 465118"/>
                <a:gd name="connsiteX3" fmla="*/ 0 w 767587"/>
                <a:gd name="connsiteY3" fmla="*/ 465119 h 465118"/>
                <a:gd name="connsiteX4" fmla="*/ 146432 w 767587"/>
                <a:gd name="connsiteY4" fmla="*/ 464930 h 465118"/>
                <a:gd name="connsiteX5" fmla="*/ 532910 w 767587"/>
                <a:gd name="connsiteY5" fmla="*/ 464930 h 465118"/>
                <a:gd name="connsiteX6" fmla="*/ 767587 w 767587"/>
                <a:gd name="connsiteY6" fmla="*/ 232583 h 465118"/>
                <a:gd name="connsiteX7" fmla="*/ 535130 w 767587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7" h="465118">
                  <a:moveTo>
                    <a:pt x="535146" y="16"/>
                  </a:moveTo>
                  <a:lnTo>
                    <a:pt x="103285" y="362"/>
                  </a:lnTo>
                  <a:cubicBezTo>
                    <a:pt x="46234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2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30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4" name="Freeform: Shape 30">
              <a:extLst>
                <a:ext uri="{FF2B5EF4-FFF2-40B4-BE49-F238E27FC236}">
                  <a16:creationId xmlns:a16="http://schemas.microsoft.com/office/drawing/2014/main" id="{6445A2E7-B614-A3D2-EDFA-F63C2179DB7E}"/>
                </a:ext>
              </a:extLst>
            </p:cNvPr>
            <p:cNvSpPr/>
            <p:nvPr/>
          </p:nvSpPr>
          <p:spPr>
            <a:xfrm>
              <a:off x="10298352" y="1189364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2 w 1794101"/>
                <a:gd name="connsiteY4" fmla="*/ 1794101 h 1794100"/>
                <a:gd name="connsiteX5" fmla="*/ 1 w 1794101"/>
                <a:gd name="connsiteY5" fmla="*/ 1685400 h 1794100"/>
                <a:gd name="connsiteX6" fmla="*/ 1 w 1794101"/>
                <a:gd name="connsiteY6" fmla="*/ 108702 h 1794100"/>
                <a:gd name="connsiteX7" fmla="*/ 108702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2" y="1794101"/>
                  </a:lnTo>
                  <a:cubicBezTo>
                    <a:pt x="48668" y="1794101"/>
                    <a:pt x="1" y="1745434"/>
                    <a:pt x="1" y="1685400"/>
                  </a:cubicBezTo>
                  <a:lnTo>
                    <a:pt x="1" y="108702"/>
                  </a:lnTo>
                  <a:cubicBezTo>
                    <a:pt x="1" y="48667"/>
                    <a:pt x="48668" y="0"/>
                    <a:pt x="108702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5" name="Freeform: Shape 31">
              <a:extLst>
                <a:ext uri="{FF2B5EF4-FFF2-40B4-BE49-F238E27FC236}">
                  <a16:creationId xmlns:a16="http://schemas.microsoft.com/office/drawing/2014/main" id="{B0F8A66D-C8FA-B54E-D813-F7AC86DCD8A9}"/>
                </a:ext>
              </a:extLst>
            </p:cNvPr>
            <p:cNvSpPr/>
            <p:nvPr/>
          </p:nvSpPr>
          <p:spPr>
            <a:xfrm>
              <a:off x="10239317" y="1305296"/>
              <a:ext cx="672632" cy="459843"/>
            </a:xfrm>
            <a:custGeom>
              <a:avLst/>
              <a:gdLst>
                <a:gd name="connsiteX0" fmla="*/ 442710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0 w 672632"/>
                <a:gd name="connsiteY3" fmla="*/ 459843 h 459843"/>
                <a:gd name="connsiteX4" fmla="*/ 672633 w 672632"/>
                <a:gd name="connsiteY4" fmla="*/ 229922 h 459843"/>
                <a:gd name="connsiteX5" fmla="*/ 442710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0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0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0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6" name="Freeform: Shape 32">
              <a:extLst>
                <a:ext uri="{FF2B5EF4-FFF2-40B4-BE49-F238E27FC236}">
                  <a16:creationId xmlns:a16="http://schemas.microsoft.com/office/drawing/2014/main" id="{D7E6CF21-3410-A7A4-089B-B3EB12B38F4F}"/>
                </a:ext>
              </a:extLst>
            </p:cNvPr>
            <p:cNvSpPr/>
            <p:nvPr/>
          </p:nvSpPr>
          <p:spPr>
            <a:xfrm>
              <a:off x="10148047" y="1767674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5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0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5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7" name="Freeform: Shape 33">
              <a:extLst>
                <a:ext uri="{FF2B5EF4-FFF2-40B4-BE49-F238E27FC236}">
                  <a16:creationId xmlns:a16="http://schemas.microsoft.com/office/drawing/2014/main" id="{F86FC982-0CAE-8C65-C5FA-0CA4EC2DF3F4}"/>
                </a:ext>
              </a:extLst>
            </p:cNvPr>
            <p:cNvSpPr/>
            <p:nvPr/>
          </p:nvSpPr>
          <p:spPr>
            <a:xfrm>
              <a:off x="10148047" y="1302745"/>
              <a:ext cx="767586" cy="465118"/>
            </a:xfrm>
            <a:custGeom>
              <a:avLst/>
              <a:gdLst>
                <a:gd name="connsiteX0" fmla="*/ 535146 w 767586"/>
                <a:gd name="connsiteY0" fmla="*/ 16 h 465118"/>
                <a:gd name="connsiteX1" fmla="*/ 103284 w 767586"/>
                <a:gd name="connsiteY1" fmla="*/ 362 h 465118"/>
                <a:gd name="connsiteX2" fmla="*/ 0 w 767586"/>
                <a:gd name="connsiteY2" fmla="*/ 103725 h 465118"/>
                <a:gd name="connsiteX3" fmla="*/ 0 w 767586"/>
                <a:gd name="connsiteY3" fmla="*/ 465119 h 465118"/>
                <a:gd name="connsiteX4" fmla="*/ 146431 w 767586"/>
                <a:gd name="connsiteY4" fmla="*/ 464930 h 465118"/>
                <a:gd name="connsiteX5" fmla="*/ 532910 w 767586"/>
                <a:gd name="connsiteY5" fmla="*/ 464930 h 465118"/>
                <a:gd name="connsiteX6" fmla="*/ 767587 w 767586"/>
                <a:gd name="connsiteY6" fmla="*/ 232583 h 465118"/>
                <a:gd name="connsiteX7" fmla="*/ 535129 w 767586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6" h="465118">
                  <a:moveTo>
                    <a:pt x="535146" y="16"/>
                  </a:moveTo>
                  <a:lnTo>
                    <a:pt x="103284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29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B6178D-0B28-745C-5A77-B615C139BC7E}"/>
                </a:ext>
              </a:extLst>
            </p:cNvPr>
            <p:cNvSpPr txBox="1"/>
            <p:nvPr/>
          </p:nvSpPr>
          <p:spPr>
            <a:xfrm>
              <a:off x="2257969" y="2047090"/>
              <a:ext cx="1794399" cy="2602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Integrate Qualcomm-provided Non-HLOS 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Peripheral driver development/porting for:</a:t>
              </a: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       Displays</a:t>
              </a: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        Camera</a:t>
              </a: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        Internal   &amp;  external amplifiers</a:t>
              </a: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    Other Peripherals</a:t>
              </a: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Bring-up &amp; hardware verification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844275-BC5A-70C3-952E-8B26ACDE892B}"/>
                </a:ext>
              </a:extLst>
            </p:cNvPr>
            <p:cNvSpPr txBox="1"/>
            <p:nvPr/>
          </p:nvSpPr>
          <p:spPr>
            <a:xfrm>
              <a:off x="4267960" y="2047090"/>
              <a:ext cx="1794399" cy="18385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Redesign OEM HALs to AIDL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Adapt Android-provided HALs to Android APIs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Treble compliance and Mainline considerations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HAL migration within existing architecture</a:t>
              </a: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3E8DD6B-CB27-AC05-9727-F76DF3FDE4F0}"/>
                </a:ext>
              </a:extLst>
            </p:cNvPr>
            <p:cNvSpPr txBox="1"/>
            <p:nvPr/>
          </p:nvSpPr>
          <p:spPr>
            <a:xfrm>
              <a:off x="6278168" y="2047090"/>
              <a:ext cx="1794399" cy="1980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Rebase framework services, patches, overlays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Migrate SystemUI, Launcher, custom  apps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Maintain functional parity with Android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Ensure startup stability + regression cycles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8A74D4-9AC8-C2F4-CCDB-CB84C7497A89}"/>
                </a:ext>
              </a:extLst>
            </p:cNvPr>
            <p:cNvSpPr txBox="1"/>
            <p:nvPr/>
          </p:nvSpPr>
          <p:spPr>
            <a:xfrm>
              <a:off x="8288028" y="2047090"/>
              <a:ext cx="1794399" cy="1980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Validate Android basic use cases(system testing)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Validate inter-domain communication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CTS/VTS/STS subset testing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Sanity test report along with every build release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724C261-AD1F-E6BF-1E8B-F57EA606B83B}"/>
                </a:ext>
              </a:extLst>
            </p:cNvPr>
            <p:cNvSpPr txBox="1"/>
            <p:nvPr/>
          </p:nvSpPr>
          <p:spPr>
            <a:xfrm>
              <a:off x="10298202" y="2047090"/>
              <a:ext cx="1794399" cy="20586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Preparation for GMS/Operator certification/ any specific certification requested by OEM.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Executing Tests suite.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Reporting to dev team as well re run for some of test cases.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9BDE710-B9D4-BF54-5265-44F68C11AD58}"/>
                </a:ext>
              </a:extLst>
            </p:cNvPr>
            <p:cNvSpPr txBox="1"/>
            <p:nvPr/>
          </p:nvSpPr>
          <p:spPr>
            <a:xfrm>
              <a:off x="781389" y="1275857"/>
              <a:ext cx="1261062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Baseline Ingestion &amp; Delta Analysis</a:t>
              </a:r>
              <a:endPara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18EBFE-833E-1406-3501-0BB6FF89CFB5}"/>
                </a:ext>
              </a:extLst>
            </p:cNvPr>
            <p:cNvSpPr txBox="1"/>
            <p:nvPr/>
          </p:nvSpPr>
          <p:spPr>
            <a:xfrm>
              <a:off x="2791415" y="1275857"/>
              <a:ext cx="1261062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BSP, Non-HLOS &amp; Kernel Migration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B20708F-B61E-E5B6-48DD-DC4AD6375FD8}"/>
                </a:ext>
              </a:extLst>
            </p:cNvPr>
            <p:cNvSpPr txBox="1"/>
            <p:nvPr/>
          </p:nvSpPr>
          <p:spPr>
            <a:xfrm>
              <a:off x="4801441" y="1275857"/>
              <a:ext cx="126106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HAL Migration (HIDL → AIDL)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3AB8BD-0B47-3F22-DBBE-1080E97850FE}"/>
                </a:ext>
              </a:extLst>
            </p:cNvPr>
            <p:cNvSpPr txBox="1"/>
            <p:nvPr/>
          </p:nvSpPr>
          <p:spPr>
            <a:xfrm>
              <a:off x="6811467" y="1275857"/>
              <a:ext cx="126106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Framework, SystemUI, Apps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16171C0-3D50-DCF6-34F0-642589D9512C}"/>
                </a:ext>
              </a:extLst>
            </p:cNvPr>
            <p:cNvSpPr txBox="1"/>
            <p:nvPr/>
          </p:nvSpPr>
          <p:spPr>
            <a:xfrm>
              <a:off x="8811868" y="1275857"/>
              <a:ext cx="1261062" cy="3625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Platform QA &amp; Verification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B48EC4F-65E7-3147-399D-861AA7DF2B83}"/>
                </a:ext>
              </a:extLst>
            </p:cNvPr>
            <p:cNvSpPr txBox="1"/>
            <p:nvPr/>
          </p:nvSpPr>
          <p:spPr>
            <a:xfrm>
              <a:off x="10831520" y="1275857"/>
              <a:ext cx="1261062" cy="36253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Certification Support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626BEDC-B714-4649-D33E-273D0BCDD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9200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26926" y="1311194"/>
              <a:ext cx="381088" cy="381088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376D256-742B-3C36-A9E4-51E2B9383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251925" y="1311194"/>
              <a:ext cx="401669" cy="40166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F9C7116-8E45-10A4-49F5-2F7A14870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75575" y="1328217"/>
              <a:ext cx="384646" cy="38464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CD8A97D-DBE5-E558-1188-B4E637397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53528" y="1328218"/>
              <a:ext cx="384646" cy="384646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8F9D8E7-CEE0-6A73-1FD7-5D08F3576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8245712" y="1334505"/>
              <a:ext cx="360000" cy="360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3F4F2F5-EFB3-B5A6-82C4-BE3EC02A7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277316" y="1352088"/>
              <a:ext cx="382870" cy="382870"/>
            </a:xfrm>
            <a:prstGeom prst="rect">
              <a:avLst/>
            </a:prstGeom>
          </p:spPr>
        </p:pic>
        <p:sp>
          <p:nvSpPr>
            <p:cNvPr id="45" name="Freeform: Shape 30">
              <a:extLst>
                <a:ext uri="{FF2B5EF4-FFF2-40B4-BE49-F238E27FC236}">
                  <a16:creationId xmlns:a16="http://schemas.microsoft.com/office/drawing/2014/main" id="{2FD1FAAE-D6DD-6EF5-1F2C-B0900A8F8138}"/>
                </a:ext>
              </a:extLst>
            </p:cNvPr>
            <p:cNvSpPr/>
            <p:nvPr/>
          </p:nvSpPr>
          <p:spPr>
            <a:xfrm>
              <a:off x="12313842" y="1204604"/>
              <a:ext cx="1794101" cy="4156065"/>
            </a:xfrm>
            <a:custGeom>
              <a:avLst/>
              <a:gdLst>
                <a:gd name="connsiteX0" fmla="*/ 1685401 w 1794101"/>
                <a:gd name="connsiteY0" fmla="*/ 0 h 1794100"/>
                <a:gd name="connsiteX1" fmla="*/ 1794102 w 1794101"/>
                <a:gd name="connsiteY1" fmla="*/ 108701 h 1794100"/>
                <a:gd name="connsiteX2" fmla="*/ 1794102 w 1794101"/>
                <a:gd name="connsiteY2" fmla="*/ 1685400 h 1794100"/>
                <a:gd name="connsiteX3" fmla="*/ 1685401 w 1794101"/>
                <a:gd name="connsiteY3" fmla="*/ 1794101 h 1794100"/>
                <a:gd name="connsiteX4" fmla="*/ 108702 w 1794101"/>
                <a:gd name="connsiteY4" fmla="*/ 1794101 h 1794100"/>
                <a:gd name="connsiteX5" fmla="*/ 1 w 1794101"/>
                <a:gd name="connsiteY5" fmla="*/ 1685400 h 1794100"/>
                <a:gd name="connsiteX6" fmla="*/ 1 w 1794101"/>
                <a:gd name="connsiteY6" fmla="*/ 108702 h 1794100"/>
                <a:gd name="connsiteX7" fmla="*/ 108702 w 1794101"/>
                <a:gd name="connsiteY7" fmla="*/ 0 h 179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4101" h="1794100">
                  <a:moveTo>
                    <a:pt x="1685401" y="0"/>
                  </a:moveTo>
                  <a:cubicBezTo>
                    <a:pt x="1745435" y="0"/>
                    <a:pt x="1794102" y="48667"/>
                    <a:pt x="1794102" y="108701"/>
                  </a:cubicBezTo>
                  <a:lnTo>
                    <a:pt x="1794102" y="1685400"/>
                  </a:lnTo>
                  <a:cubicBezTo>
                    <a:pt x="1794102" y="1745434"/>
                    <a:pt x="1745435" y="1794101"/>
                    <a:pt x="1685401" y="1794101"/>
                  </a:cubicBezTo>
                  <a:lnTo>
                    <a:pt x="108702" y="1794101"/>
                  </a:lnTo>
                  <a:cubicBezTo>
                    <a:pt x="48668" y="1794101"/>
                    <a:pt x="1" y="1745434"/>
                    <a:pt x="1" y="1685400"/>
                  </a:cubicBezTo>
                  <a:lnTo>
                    <a:pt x="1" y="108702"/>
                  </a:lnTo>
                  <a:cubicBezTo>
                    <a:pt x="1" y="48667"/>
                    <a:pt x="48668" y="0"/>
                    <a:pt x="108702" y="0"/>
                  </a:cubicBezTo>
                  <a:close/>
                </a:path>
              </a:pathLst>
            </a:custGeom>
            <a:solidFill>
              <a:srgbClr val="FFFFFF"/>
            </a:solidFill>
            <a:ln w="3148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6" name="Freeform: Shape 31">
              <a:extLst>
                <a:ext uri="{FF2B5EF4-FFF2-40B4-BE49-F238E27FC236}">
                  <a16:creationId xmlns:a16="http://schemas.microsoft.com/office/drawing/2014/main" id="{CB315927-35BB-568B-8331-1FA131D66180}"/>
                </a:ext>
              </a:extLst>
            </p:cNvPr>
            <p:cNvSpPr/>
            <p:nvPr/>
          </p:nvSpPr>
          <p:spPr>
            <a:xfrm>
              <a:off x="12254807" y="1320536"/>
              <a:ext cx="672632" cy="459843"/>
            </a:xfrm>
            <a:custGeom>
              <a:avLst/>
              <a:gdLst>
                <a:gd name="connsiteX0" fmla="*/ 442710 w 672632"/>
                <a:gd name="connsiteY0" fmla="*/ 0 h 459843"/>
                <a:gd name="connsiteX1" fmla="*/ 0 w 672632"/>
                <a:gd name="connsiteY1" fmla="*/ 0 h 459843"/>
                <a:gd name="connsiteX2" fmla="*/ 0 w 672632"/>
                <a:gd name="connsiteY2" fmla="*/ 459843 h 459843"/>
                <a:gd name="connsiteX3" fmla="*/ 442710 w 672632"/>
                <a:gd name="connsiteY3" fmla="*/ 459843 h 459843"/>
                <a:gd name="connsiteX4" fmla="*/ 672633 w 672632"/>
                <a:gd name="connsiteY4" fmla="*/ 229922 h 459843"/>
                <a:gd name="connsiteX5" fmla="*/ 442710 w 672632"/>
                <a:gd name="connsiteY5" fmla="*/ 0 h 45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32" h="459843">
                  <a:moveTo>
                    <a:pt x="442710" y="0"/>
                  </a:moveTo>
                  <a:lnTo>
                    <a:pt x="0" y="0"/>
                  </a:lnTo>
                  <a:lnTo>
                    <a:pt x="0" y="459843"/>
                  </a:lnTo>
                  <a:lnTo>
                    <a:pt x="442710" y="459843"/>
                  </a:lnTo>
                  <a:cubicBezTo>
                    <a:pt x="569694" y="459843"/>
                    <a:pt x="672633" y="356905"/>
                    <a:pt x="672633" y="229922"/>
                  </a:cubicBezTo>
                  <a:cubicBezTo>
                    <a:pt x="672633" y="102938"/>
                    <a:pt x="569694" y="0"/>
                    <a:pt x="442710" y="0"/>
                  </a:cubicBezTo>
                  <a:close/>
                </a:path>
              </a:pathLst>
            </a:custGeom>
            <a:solidFill>
              <a:srgbClr val="4D4D4D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7" name="Freeform: Shape 32">
              <a:extLst>
                <a:ext uri="{FF2B5EF4-FFF2-40B4-BE49-F238E27FC236}">
                  <a16:creationId xmlns:a16="http://schemas.microsoft.com/office/drawing/2014/main" id="{0538DF82-C4E3-6B1D-65CE-9DA2E8B49C45}"/>
                </a:ext>
              </a:extLst>
            </p:cNvPr>
            <p:cNvSpPr/>
            <p:nvPr/>
          </p:nvSpPr>
          <p:spPr>
            <a:xfrm>
              <a:off x="12163537" y="1782914"/>
              <a:ext cx="149990" cy="107315"/>
            </a:xfrm>
            <a:custGeom>
              <a:avLst/>
              <a:gdLst>
                <a:gd name="connsiteX0" fmla="*/ 0 w 149990"/>
                <a:gd name="connsiteY0" fmla="*/ 189 h 107315"/>
                <a:gd name="connsiteX1" fmla="*/ 149502 w 149990"/>
                <a:gd name="connsiteY1" fmla="*/ 107316 h 107315"/>
                <a:gd name="connsiteX2" fmla="*/ 149990 w 149990"/>
                <a:gd name="connsiteY2" fmla="*/ 0 h 107315"/>
                <a:gd name="connsiteX3" fmla="*/ 15 w 149990"/>
                <a:gd name="connsiteY3" fmla="*/ 189 h 10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90" h="107315">
                  <a:moveTo>
                    <a:pt x="0" y="189"/>
                  </a:moveTo>
                  <a:cubicBezTo>
                    <a:pt x="30800" y="97946"/>
                    <a:pt x="149502" y="107316"/>
                    <a:pt x="149502" y="107316"/>
                  </a:cubicBezTo>
                  <a:lnTo>
                    <a:pt x="149990" y="0"/>
                  </a:lnTo>
                  <a:lnTo>
                    <a:pt x="15" y="189"/>
                  </a:lnTo>
                  <a:close/>
                </a:path>
              </a:pathLst>
            </a:custGeom>
            <a:solidFill>
              <a:srgbClr val="247BD1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8" name="Freeform: Shape 33">
              <a:extLst>
                <a:ext uri="{FF2B5EF4-FFF2-40B4-BE49-F238E27FC236}">
                  <a16:creationId xmlns:a16="http://schemas.microsoft.com/office/drawing/2014/main" id="{CBCB38B1-7447-17B1-CC3B-FA50928914EB}"/>
                </a:ext>
              </a:extLst>
            </p:cNvPr>
            <p:cNvSpPr/>
            <p:nvPr/>
          </p:nvSpPr>
          <p:spPr>
            <a:xfrm>
              <a:off x="12163537" y="1317985"/>
              <a:ext cx="767586" cy="465118"/>
            </a:xfrm>
            <a:custGeom>
              <a:avLst/>
              <a:gdLst>
                <a:gd name="connsiteX0" fmla="*/ 535146 w 767586"/>
                <a:gd name="connsiteY0" fmla="*/ 16 h 465118"/>
                <a:gd name="connsiteX1" fmla="*/ 103284 w 767586"/>
                <a:gd name="connsiteY1" fmla="*/ 362 h 465118"/>
                <a:gd name="connsiteX2" fmla="*/ 0 w 767586"/>
                <a:gd name="connsiteY2" fmla="*/ 103725 h 465118"/>
                <a:gd name="connsiteX3" fmla="*/ 0 w 767586"/>
                <a:gd name="connsiteY3" fmla="*/ 465119 h 465118"/>
                <a:gd name="connsiteX4" fmla="*/ 146431 w 767586"/>
                <a:gd name="connsiteY4" fmla="*/ 464930 h 465118"/>
                <a:gd name="connsiteX5" fmla="*/ 532910 w 767586"/>
                <a:gd name="connsiteY5" fmla="*/ 464930 h 465118"/>
                <a:gd name="connsiteX6" fmla="*/ 767587 w 767586"/>
                <a:gd name="connsiteY6" fmla="*/ 232583 h 465118"/>
                <a:gd name="connsiteX7" fmla="*/ 535129 w 767586"/>
                <a:gd name="connsiteY7" fmla="*/ 0 h 46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586" h="465118">
                  <a:moveTo>
                    <a:pt x="535146" y="16"/>
                  </a:moveTo>
                  <a:lnTo>
                    <a:pt x="103284" y="362"/>
                  </a:lnTo>
                  <a:cubicBezTo>
                    <a:pt x="46233" y="409"/>
                    <a:pt x="0" y="46674"/>
                    <a:pt x="0" y="103725"/>
                  </a:cubicBezTo>
                  <a:lnTo>
                    <a:pt x="0" y="465119"/>
                  </a:lnTo>
                  <a:lnTo>
                    <a:pt x="146431" y="464930"/>
                  </a:lnTo>
                  <a:lnTo>
                    <a:pt x="532910" y="464930"/>
                  </a:lnTo>
                  <a:cubicBezTo>
                    <a:pt x="661610" y="464930"/>
                    <a:pt x="767524" y="361283"/>
                    <a:pt x="767587" y="232583"/>
                  </a:cubicBezTo>
                  <a:cubicBezTo>
                    <a:pt x="767650" y="104151"/>
                    <a:pt x="663547" y="0"/>
                    <a:pt x="535129" y="0"/>
                  </a:cubicBezTo>
                  <a:close/>
                </a:path>
              </a:pathLst>
            </a:custGeom>
            <a:solidFill>
              <a:srgbClr val="0070C0"/>
            </a:solidFill>
            <a:ln w="157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6C143F-A8E3-8821-4AE7-063ED60FF87F}"/>
                </a:ext>
              </a:extLst>
            </p:cNvPr>
            <p:cNvSpPr txBox="1"/>
            <p:nvPr/>
          </p:nvSpPr>
          <p:spPr>
            <a:xfrm>
              <a:off x="12313692" y="2062330"/>
              <a:ext cx="1794399" cy="106171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Weekly progress reports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Bug tracking</a:t>
              </a:r>
            </a:p>
            <a:p>
              <a:pPr marL="171450" marR="0" lvl="1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Compliance (Severity SLAs + 5-Why RCA)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C2B3D5D-0423-1F20-B048-B3B6AD6E20B4}"/>
                </a:ext>
              </a:extLst>
            </p:cNvPr>
            <p:cNvSpPr txBox="1"/>
            <p:nvPr/>
          </p:nvSpPr>
          <p:spPr>
            <a:xfrm>
              <a:off x="12847010" y="1275857"/>
              <a:ext cx="126106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>
                <a:defRPr sz="12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Governance &amp; Quality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E158C2F-0D7E-5203-2FA1-2633358FF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2292806" y="1355898"/>
              <a:ext cx="382870" cy="382870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4FA918C5-B6ED-99A9-2C76-324362BC729B}"/>
              </a:ext>
            </a:extLst>
          </p:cNvPr>
          <p:cNvSpPr txBox="1"/>
          <p:nvPr/>
        </p:nvSpPr>
        <p:spPr>
          <a:xfrm>
            <a:off x="1492420" y="6086811"/>
            <a:ext cx="9421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approach ensures a production-ready, stable, compliant Android platform</a:t>
            </a:r>
          </a:p>
        </p:txBody>
      </p:sp>
    </p:spTree>
    <p:extLst>
      <p:ext uri="{BB962C8B-B14F-4D97-AF65-F5344CB8AC3E}">
        <p14:creationId xmlns:p14="http://schemas.microsoft.com/office/powerpoint/2010/main" val="2857848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94B2-62BA-5213-297F-D608D767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5B475498-8BF5-3F3E-84E3-CB0BA3D97DB6}"/>
              </a:ext>
            </a:extLst>
          </p:cNvPr>
          <p:cNvSpPr/>
          <p:nvPr/>
        </p:nvSpPr>
        <p:spPr>
          <a:xfrm>
            <a:off x="484414" y="968829"/>
            <a:ext cx="11223172" cy="5388428"/>
          </a:xfrm>
          <a:prstGeom prst="round2DiagRect">
            <a:avLst>
              <a:gd name="adj1" fmla="val 10202"/>
              <a:gd name="adj2" fmla="val 0"/>
            </a:avLst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508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4041E-9D14-881D-70D8-95F8A857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Innominds Experience in Security Patching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D7CAE2-C9CE-A208-74E7-B5EA510A5100}"/>
              </a:ext>
            </a:extLst>
          </p:cNvPr>
          <p:cNvSpPr/>
          <p:nvPr/>
        </p:nvSpPr>
        <p:spPr>
          <a:xfrm>
            <a:off x="2149929" y="805543"/>
            <a:ext cx="7892142" cy="35693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Supporting as an ODC to Qualcomm since last 7 years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320C8-20DD-ACD4-8767-97FDCE46BF90}"/>
              </a:ext>
            </a:extLst>
          </p:cNvPr>
          <p:cNvSpPr txBox="1"/>
          <p:nvPr/>
        </p:nvSpPr>
        <p:spPr>
          <a:xfrm>
            <a:off x="938979" y="1371600"/>
            <a:ext cx="1025633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 been a trusted partner/vendor for patching and supporting Qualcomm BUs/verticals : IoT, Mobile, XR, Wearables, Auto.</a:t>
            </a:r>
          </a:p>
          <a:p>
            <a:pPr marL="285750" indent="-285750">
              <a:buBlip>
                <a:blip r:embed="rId2"/>
              </a:buBlip>
            </a:pPr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 a large team supporting : Kernel and Android upgrades.</a:t>
            </a:r>
          </a:p>
          <a:p>
            <a:pPr marL="285750" indent="-285750">
              <a:buBlip>
                <a:blip r:embed="rId2"/>
              </a:buBlip>
            </a:pPr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 been supporting extended life support for : 70+ IoT SPs, 30+ Mobile SPs, 6+ XR SPs, 3 Wearable SPs.</a:t>
            </a:r>
          </a:p>
          <a:p>
            <a:pPr marL="285750" indent="-285750">
              <a:buBlip>
                <a:blip r:embed="rId2"/>
              </a:buBlip>
            </a:pPr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Highlight of few key requirements delivered 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1E6E0A7-A20C-E426-ABE1-DBD1FEEDF8F0}"/>
              </a:ext>
            </a:extLst>
          </p:cNvPr>
          <p:cNvGrpSpPr/>
          <p:nvPr/>
        </p:nvGrpSpPr>
        <p:grpSpPr>
          <a:xfrm>
            <a:off x="1303867" y="3132670"/>
            <a:ext cx="9907472" cy="1081447"/>
            <a:chOff x="1303867" y="3132670"/>
            <a:chExt cx="9907472" cy="1081447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72DC18CA-0AF1-4B40-20E0-829DF53D75B5}"/>
                </a:ext>
              </a:extLst>
            </p:cNvPr>
            <p:cNvSpPr/>
            <p:nvPr/>
          </p:nvSpPr>
          <p:spPr>
            <a:xfrm rot="5400000">
              <a:off x="5716879" y="-1280342"/>
              <a:ext cx="1081447" cy="9907472"/>
            </a:xfrm>
            <a:prstGeom prst="round2SameRect">
              <a:avLst/>
            </a:prstGeom>
            <a:solidFill>
              <a:schemeClr val="tx2">
                <a:lumMod val="10000"/>
                <a:lumOff val="90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8100A7-7B1B-F049-4AA1-4D82CC7D7D7E}"/>
                </a:ext>
              </a:extLst>
            </p:cNvPr>
            <p:cNvSpPr txBox="1"/>
            <p:nvPr/>
          </p:nvSpPr>
          <p:spPr>
            <a:xfrm>
              <a:off x="1570351" y="3209376"/>
              <a:ext cx="8661345" cy="886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Model – D support (integrating security QC proprietary fixes along with AOSP in extended life support).</a:t>
              </a:r>
            </a:p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Kernel Upgrade : Latest upgrade to 6.6 and switching to split SI model from monolithic SI  model.</a:t>
              </a:r>
            </a:p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Android upgrade : Latest upgrade to Android 15 and supporting Video collab feature (the first by any Qualcomm vendor).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16AF82-377F-4DE6-8CC4-8526E4D7A41C}"/>
              </a:ext>
            </a:extLst>
          </p:cNvPr>
          <p:cNvSpPr txBox="1"/>
          <p:nvPr/>
        </p:nvSpPr>
        <p:spPr>
          <a:xfrm>
            <a:off x="938979" y="4322976"/>
            <a:ext cx="6824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Took up many additional and new requirements in extended life support model :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A97AE4-DC77-FB00-0CB4-18D8AF3CBBAD}"/>
              </a:ext>
            </a:extLst>
          </p:cNvPr>
          <p:cNvGrpSpPr/>
          <p:nvPr/>
        </p:nvGrpSpPr>
        <p:grpSpPr>
          <a:xfrm>
            <a:off x="1303867" y="4770359"/>
            <a:ext cx="9907472" cy="1282098"/>
            <a:chOff x="1303867" y="3132671"/>
            <a:chExt cx="9907472" cy="1282098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3145B85E-C2C6-C240-E8B8-5A66D9CE4FF7}"/>
                </a:ext>
              </a:extLst>
            </p:cNvPr>
            <p:cNvSpPr/>
            <p:nvPr/>
          </p:nvSpPr>
          <p:spPr>
            <a:xfrm rot="5400000">
              <a:off x="5616554" y="-1180016"/>
              <a:ext cx="1282098" cy="9907472"/>
            </a:xfrm>
            <a:prstGeom prst="round2SameRect">
              <a:avLst/>
            </a:prstGeom>
            <a:solidFill>
              <a:schemeClr val="tx2">
                <a:lumMod val="10000"/>
                <a:lumOff val="90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480C36-AD90-B388-28D8-BB27B5601CE6}"/>
                </a:ext>
              </a:extLst>
            </p:cNvPr>
            <p:cNvSpPr txBox="1"/>
            <p:nvPr/>
          </p:nvSpPr>
          <p:spPr>
            <a:xfrm>
              <a:off x="1570351" y="3187604"/>
              <a:ext cx="6242415" cy="1163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MCVT test suite execution inclusion in test scope as per Logitech’s request.</a:t>
              </a:r>
            </a:p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DP port test cases inclusion in test scope as per Harman’s request.</a:t>
              </a:r>
            </a:p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HY22 enablement for extended life support SPs.</a:t>
              </a:r>
            </a:p>
            <a:p>
              <a:pPr marL="285750" indent="-285750">
                <a:lnSpc>
                  <a:spcPct val="150000"/>
                </a:lnSpc>
                <a:buClr>
                  <a:srgbClr val="00B0F0"/>
                </a:buClr>
                <a:buFont typeface="Wingdings" panose="05000000000000000000" pitchFamily="2" charset="2"/>
                <a:buChar char="v"/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Adopted new Axiom runs and executing the same for all applicable Extended life SPs.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313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253B-8085-ABF6-3C13-D0D3CC17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nip Single Corner of Rectangle 46">
            <a:extLst>
              <a:ext uri="{FF2B5EF4-FFF2-40B4-BE49-F238E27FC236}">
                <a16:creationId xmlns:a16="http://schemas.microsoft.com/office/drawing/2014/main" id="{E7CC3099-9652-1CDA-ED6F-823FD5BA01AC}"/>
              </a:ext>
            </a:extLst>
          </p:cNvPr>
          <p:cNvSpPr/>
          <p:nvPr/>
        </p:nvSpPr>
        <p:spPr>
          <a:xfrm flipH="1">
            <a:off x="631845" y="4460870"/>
            <a:ext cx="9926617" cy="1159390"/>
          </a:xfrm>
          <a:prstGeom prst="snip1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8E850DD2-54EB-EFEA-5E84-445B712449B2}"/>
              </a:ext>
            </a:extLst>
          </p:cNvPr>
          <p:cNvSpPr txBox="1">
            <a:spLocks/>
          </p:cNvSpPr>
          <p:nvPr/>
        </p:nvSpPr>
        <p:spPr>
          <a:xfrm>
            <a:off x="579738" y="1693802"/>
            <a:ext cx="6624251" cy="1971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6000"/>
              </a:lnSpc>
              <a:spcBef>
                <a:spcPts val="0"/>
              </a:spcBef>
              <a:defRPr/>
            </a:pPr>
            <a:r>
              <a:rPr kumimoji="0" lang="en-IN" sz="4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/>
                <a:ea typeface="Roboto"/>
                <a:cs typeface="Roboto"/>
              </a:rPr>
              <a:t>GMS Certification and </a:t>
            </a:r>
            <a:r>
              <a:rPr lang="en-IN" sz="4000" b="1">
                <a:solidFill>
                  <a:srgbClr val="0070C0"/>
                </a:solidFill>
                <a:latin typeface="Roboto"/>
                <a:ea typeface="Roboto"/>
                <a:cs typeface="Roboto"/>
              </a:rPr>
              <a:t>Optimization for</a:t>
            </a:r>
            <a:r>
              <a:rPr kumimoji="0" lang="en-IN" sz="4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/>
                <a:ea typeface="Roboto"/>
                <a:cs typeface="Roboto"/>
              </a:rPr>
              <a:t> Android Device Platforms</a:t>
            </a:r>
            <a:endParaRPr lang="en-IN" sz="4000">
              <a:solidFill>
                <a:schemeClr val="tx2">
                  <a:lumMod val="90000"/>
                  <a:lumOff val="10000"/>
                </a:schemeClr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3" name="Picture 52" descr="A computer and other objects&#10;&#10;AI-generated content may be incorrect.">
            <a:extLst>
              <a:ext uri="{FF2B5EF4-FFF2-40B4-BE49-F238E27FC236}">
                <a16:creationId xmlns:a16="http://schemas.microsoft.com/office/drawing/2014/main" id="{C72F53A6-E713-A225-8C6B-EB5F800B0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52" y="1693803"/>
            <a:ext cx="5345046" cy="392645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55C674E-A9A0-EEAE-E014-6E6EE0EDE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3903" y="5087323"/>
            <a:ext cx="469556" cy="4695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FA7947-2961-AC0C-D56C-9E14C1512A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084023" y="4516089"/>
            <a:ext cx="1048952" cy="10489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F8FFCF-6105-8C7E-B99B-65484BAA9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33538" y="4571009"/>
            <a:ext cx="469556" cy="4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49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F4718-91AE-093B-E6A2-709D037C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64D5-3374-32EA-02BA-72815B4A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Google Mobile Services Enablement and Certification Optimization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D813F-AA30-36E3-2D2B-C4DB9006DE14}"/>
              </a:ext>
            </a:extLst>
          </p:cNvPr>
          <p:cNvSpPr/>
          <p:nvPr/>
        </p:nvSpPr>
        <p:spPr>
          <a:xfrm>
            <a:off x="0" y="769984"/>
            <a:ext cx="12192000" cy="45752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Experience supporting Qualcomm Android programs to accelerate GMS certification for device platforms.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940654-9D23-2189-7BA2-0860DC80EC9F}"/>
              </a:ext>
            </a:extLst>
          </p:cNvPr>
          <p:cNvGrpSpPr/>
          <p:nvPr/>
        </p:nvGrpSpPr>
        <p:grpSpPr>
          <a:xfrm>
            <a:off x="682853" y="1296197"/>
            <a:ext cx="10826293" cy="3700443"/>
            <a:chOff x="171754" y="2662256"/>
            <a:chExt cx="10826293" cy="3700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0F50EE4-A7D4-7DBF-B310-62396A1F02AC}"/>
                </a:ext>
              </a:extLst>
            </p:cNvPr>
            <p:cNvGrpSpPr/>
            <p:nvPr/>
          </p:nvGrpSpPr>
          <p:grpSpPr>
            <a:xfrm>
              <a:off x="171754" y="2662256"/>
              <a:ext cx="3495471" cy="3700443"/>
              <a:chOff x="171754" y="2662256"/>
              <a:chExt cx="3495471" cy="3700443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F395EFF-2536-1AE1-75F9-B7FDF31D7F19}"/>
                  </a:ext>
                </a:extLst>
              </p:cNvPr>
              <p:cNvSpPr/>
              <p:nvPr/>
            </p:nvSpPr>
            <p:spPr>
              <a:xfrm>
                <a:off x="279399" y="3139916"/>
                <a:ext cx="3276225" cy="322278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E747A3-C795-F862-417D-7202FF3062EA}"/>
                  </a:ext>
                </a:extLst>
              </p:cNvPr>
              <p:cNvSpPr txBox="1"/>
              <p:nvPr/>
            </p:nvSpPr>
            <p:spPr>
              <a:xfrm>
                <a:off x="361406" y="3474941"/>
                <a:ext cx="3005852" cy="245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CTS, GTS, and XTS validation execution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Pre certification readiness validation prior to GMS submission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Debugging Google API compliance failures across framework and HAL layers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Failure triage using logcat, tombstones, kernel logs, and system traces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1D402B6A-DBC2-0DE1-63C0-840F365B1963}"/>
                  </a:ext>
                </a:extLst>
              </p:cNvPr>
              <p:cNvSpPr/>
              <p:nvPr/>
            </p:nvSpPr>
            <p:spPr>
              <a:xfrm>
                <a:off x="171754" y="2662256"/>
                <a:ext cx="3495471" cy="71701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97E352C-A2D9-AEB7-71A0-D061D0758FB7}"/>
                  </a:ext>
                </a:extLst>
              </p:cNvPr>
              <p:cNvSpPr/>
              <p:nvPr/>
            </p:nvSpPr>
            <p:spPr>
              <a:xfrm>
                <a:off x="209567" y="2690877"/>
                <a:ext cx="662500" cy="6625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rgbClr val="2F0EA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72FE82-89D4-D9FD-5343-1229AE7F7E5A}"/>
                  </a:ext>
                </a:extLst>
              </p:cNvPr>
              <p:cNvSpPr txBox="1"/>
              <p:nvPr/>
            </p:nvSpPr>
            <p:spPr>
              <a:xfrm>
                <a:off x="1021291" y="2738206"/>
                <a:ext cx="22558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GMS Certification Readiness</a:t>
                </a:r>
                <a:endParaRPr lang="en-US" sz="160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9BEDEC6-8C0C-B6F1-DE9C-EFB820056C83}"/>
                </a:ext>
              </a:extLst>
            </p:cNvPr>
            <p:cNvGrpSpPr/>
            <p:nvPr/>
          </p:nvGrpSpPr>
          <p:grpSpPr>
            <a:xfrm>
              <a:off x="3837165" y="2662256"/>
              <a:ext cx="3495471" cy="3700443"/>
              <a:chOff x="171754" y="2662256"/>
              <a:chExt cx="3495471" cy="3700443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A37722E-D76E-437D-9ECE-93C9C2717224}"/>
                  </a:ext>
                </a:extLst>
              </p:cNvPr>
              <p:cNvSpPr/>
              <p:nvPr/>
            </p:nvSpPr>
            <p:spPr>
              <a:xfrm>
                <a:off x="279399" y="3139916"/>
                <a:ext cx="3276225" cy="322278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C21193-D4DB-5785-7E9E-9948ABA4E1A8}"/>
                  </a:ext>
                </a:extLst>
              </p:cNvPr>
              <p:cNvSpPr txBox="1"/>
              <p:nvPr/>
            </p:nvSpPr>
            <p:spPr>
              <a:xfrm>
                <a:off x="361406" y="3474941"/>
                <a:ext cx="3005852" cy="245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MTBF based stability validation across system services and device drivers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Stress scenarios including application switching, service load, memory pressure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Failure analysis for ANR events, service crashes, and kernel panics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Long duration reliability validation for production device readiness</a:t>
                </a: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875B4DA-A3AE-D028-E3CB-42755B1DE7D6}"/>
                  </a:ext>
                </a:extLst>
              </p:cNvPr>
              <p:cNvSpPr/>
              <p:nvPr/>
            </p:nvSpPr>
            <p:spPr>
              <a:xfrm>
                <a:off x="171754" y="2662256"/>
                <a:ext cx="3495471" cy="71701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852E549-5497-FF2F-F2C8-A1F93E12A0B9}"/>
                  </a:ext>
                </a:extLst>
              </p:cNvPr>
              <p:cNvSpPr/>
              <p:nvPr/>
            </p:nvSpPr>
            <p:spPr>
              <a:xfrm>
                <a:off x="209567" y="2690877"/>
                <a:ext cx="662500" cy="6625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rgbClr val="2F0EA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0252F9-EA66-D8A7-6228-EB18597A438C}"/>
                  </a:ext>
                </a:extLst>
              </p:cNvPr>
              <p:cNvSpPr txBox="1"/>
              <p:nvPr/>
            </p:nvSpPr>
            <p:spPr>
              <a:xfrm>
                <a:off x="1214113" y="2738206"/>
                <a:ext cx="1830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Platform Stability Engineering</a:t>
                </a:r>
                <a:endParaRPr lang="en-IN" sz="1600" b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81810A0-D607-9EA0-6028-A0F729F41C62}"/>
                </a:ext>
              </a:extLst>
            </p:cNvPr>
            <p:cNvGrpSpPr/>
            <p:nvPr/>
          </p:nvGrpSpPr>
          <p:grpSpPr>
            <a:xfrm>
              <a:off x="7502576" y="2662256"/>
              <a:ext cx="3495471" cy="3700443"/>
              <a:chOff x="171754" y="2662256"/>
              <a:chExt cx="3495471" cy="3700443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60D8A55-370E-B137-F46B-79714B7A06DD}"/>
                  </a:ext>
                </a:extLst>
              </p:cNvPr>
              <p:cNvSpPr/>
              <p:nvPr/>
            </p:nvSpPr>
            <p:spPr>
              <a:xfrm>
                <a:off x="279399" y="3139916"/>
                <a:ext cx="3276225" cy="322278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C2AB61-9275-74F0-EA31-F49A5C5E7172}"/>
                  </a:ext>
                </a:extLst>
              </p:cNvPr>
              <p:cNvSpPr txBox="1"/>
              <p:nvPr/>
            </p:nvSpPr>
            <p:spPr>
              <a:xfrm>
                <a:off x="361406" y="3474941"/>
                <a:ext cx="3005852" cy="2216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Boot stage profiling across bootloader, kernel, and Android framework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Application launch performance validation for system and merchant apps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Memory map analysis and resource utilization optimization</a:t>
                </a:r>
              </a:p>
              <a:p>
                <a:pPr marL="171450" indent="-171450">
                  <a:lnSpc>
                    <a:spcPct val="130000"/>
                  </a:lnSpc>
                  <a:spcBef>
                    <a:spcPts val="300"/>
                  </a:spcBef>
                  <a:spcAft>
                    <a:spcPts val="300"/>
                  </a:spcAft>
                  <a:buBlip>
                    <a:blip r:embed="rId2"/>
                  </a:buBlip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Framework service initialization tuning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44D8F02-67AB-0E53-3FC6-AC610F3E7DE7}"/>
                  </a:ext>
                </a:extLst>
              </p:cNvPr>
              <p:cNvSpPr/>
              <p:nvPr/>
            </p:nvSpPr>
            <p:spPr>
              <a:xfrm>
                <a:off x="171754" y="2662256"/>
                <a:ext cx="3495471" cy="71701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F008FC2-60A4-6EC0-A441-4E938AAE2643}"/>
                  </a:ext>
                </a:extLst>
              </p:cNvPr>
              <p:cNvSpPr/>
              <p:nvPr/>
            </p:nvSpPr>
            <p:spPr>
              <a:xfrm>
                <a:off x="209567" y="2690877"/>
                <a:ext cx="662500" cy="6625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rgbClr val="2F0EA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A2EF07-D823-FFBA-0CAC-7C9B730F5439}"/>
                  </a:ext>
                </a:extLst>
              </p:cNvPr>
              <p:cNvSpPr txBox="1"/>
              <p:nvPr/>
            </p:nvSpPr>
            <p:spPr>
              <a:xfrm>
                <a:off x="1140908" y="2738206"/>
                <a:ext cx="20819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Performance Optimization</a:t>
                </a:r>
                <a:endParaRPr lang="en-IN" sz="1600" b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A5AFC3B-4FA8-117C-2F63-3B8105C7B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340393" y="2819536"/>
              <a:ext cx="435354" cy="43535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2C077D-DEF7-7181-158E-F5249A056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3967934" y="2791002"/>
              <a:ext cx="463888" cy="46388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A27200B-278A-6508-66CB-3D8AEAB6D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7617890" y="2775651"/>
              <a:ext cx="490226" cy="490226"/>
            </a:xfrm>
            <a:prstGeom prst="rect">
              <a:avLst/>
            </a:prstGeom>
          </p:spPr>
        </p:pic>
      </p:grpSp>
      <p:sp>
        <p:nvSpPr>
          <p:cNvPr id="38" name="Rectangle: Diagonal Corners Snipped 37">
            <a:extLst>
              <a:ext uri="{FF2B5EF4-FFF2-40B4-BE49-F238E27FC236}">
                <a16:creationId xmlns:a16="http://schemas.microsoft.com/office/drawing/2014/main" id="{01914F2B-07A1-BC2E-5C51-90306B936D04}"/>
              </a:ext>
            </a:extLst>
          </p:cNvPr>
          <p:cNvSpPr/>
          <p:nvPr/>
        </p:nvSpPr>
        <p:spPr>
          <a:xfrm>
            <a:off x="790498" y="5204246"/>
            <a:ext cx="10607047" cy="132535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50800" algn="l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BB4453-948B-5962-CB93-1A11D0C35043}"/>
              </a:ext>
            </a:extLst>
          </p:cNvPr>
          <p:cNvSpPr txBox="1"/>
          <p:nvPr/>
        </p:nvSpPr>
        <p:spPr>
          <a:xfrm>
            <a:off x="1546256" y="5669488"/>
            <a:ext cx="5040934" cy="7489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n-US" sz="1200" kern="100">
                <a:solidFill>
                  <a:schemeClr val="tx1"/>
                </a:solidFill>
                <a:effectLst/>
                <a:latin typeface="Lato"/>
                <a:ea typeface="Roboto"/>
                <a:cs typeface="Roboto"/>
              </a:rPr>
              <a:t>Reduced GMS certification cycles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n-US" sz="1200" kern="100">
                <a:solidFill>
                  <a:schemeClr val="tx1"/>
                </a:solidFill>
                <a:effectLst/>
                <a:latin typeface="Lato"/>
                <a:ea typeface="Roboto"/>
                <a:cs typeface="Roboto"/>
              </a:rPr>
              <a:t>Fewer certification iterations with Google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n-US" sz="1200" kern="100">
                <a:solidFill>
                  <a:schemeClr val="tx1"/>
                </a:solidFill>
                <a:effectLst/>
                <a:latin typeface="Lato"/>
                <a:ea typeface="Roboto"/>
                <a:cs typeface="Roboto"/>
              </a:rPr>
              <a:t>Faster Android platform readiness for production devices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6B9065-5559-EF5B-BC0F-AADF27A53152}"/>
              </a:ext>
            </a:extLst>
          </p:cNvPr>
          <p:cNvSpPr txBox="1"/>
          <p:nvPr/>
        </p:nvSpPr>
        <p:spPr>
          <a:xfrm>
            <a:off x="1530571" y="5330163"/>
            <a:ext cx="4769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 for Android Device Programs</a:t>
            </a:r>
          </a:p>
        </p:txBody>
      </p:sp>
      <p:pic>
        <p:nvPicPr>
          <p:cNvPr id="4" name="Picture 3" descr="A blue and green arrow with a phone and a green tick&#10;&#10;AI-generated content may be incorrect.">
            <a:extLst>
              <a:ext uri="{FF2B5EF4-FFF2-40B4-BE49-F238E27FC236}">
                <a16:creationId xmlns:a16="http://schemas.microsoft.com/office/drawing/2014/main" id="{25A57625-881A-F16D-31F2-7306D2E85E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83" t="24619" r="13531" b="27972"/>
          <a:stretch>
            <a:fillRect/>
          </a:stretch>
        </p:blipFill>
        <p:spPr>
          <a:xfrm>
            <a:off x="7843735" y="5263903"/>
            <a:ext cx="2861472" cy="119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17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A957-26FA-5D9A-1423-86CA7F37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D579-E713-75E2-201A-D786CFF4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Benchmarking and Validation Framework for GMS Certification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1A6514-74FC-C29C-8504-3707C486C724}"/>
              </a:ext>
            </a:extLst>
          </p:cNvPr>
          <p:cNvSpPr/>
          <p:nvPr/>
        </p:nvSpPr>
        <p:spPr>
          <a:xfrm>
            <a:off x="0" y="570971"/>
            <a:ext cx="12192000" cy="32788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Structured benchmarking and compatibility validation to ensure Android platforms meet GMS performance and API requirements. 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1F3F4C2F-0636-A609-D2D2-3DCECF08B39E}"/>
              </a:ext>
            </a:extLst>
          </p:cNvPr>
          <p:cNvSpPr/>
          <p:nvPr/>
        </p:nvSpPr>
        <p:spPr>
          <a:xfrm>
            <a:off x="367005" y="1111109"/>
            <a:ext cx="5271794" cy="457529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Performance Benchmarking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BB641-7144-3632-0FAF-F629429A8B1A}"/>
              </a:ext>
            </a:extLst>
          </p:cNvPr>
          <p:cNvSpPr/>
          <p:nvPr/>
        </p:nvSpPr>
        <p:spPr>
          <a:xfrm>
            <a:off x="388079" y="2014447"/>
            <a:ext cx="5016025" cy="926757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  <a:effectLst>
            <a:outerShdw dist="38100" dir="10800000" algn="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1EC24-7013-57DC-E1BD-012918FE54C3}"/>
              </a:ext>
            </a:extLst>
          </p:cNvPr>
          <p:cNvSpPr txBox="1"/>
          <p:nvPr/>
        </p:nvSpPr>
        <p:spPr>
          <a:xfrm>
            <a:off x="454490" y="2082408"/>
            <a:ext cx="2489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rgbClr val="00B0F0"/>
              </a:buClr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CPU and System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5AF1C-9A98-6088-68C5-6B533CA3D0A1}"/>
              </a:ext>
            </a:extLst>
          </p:cNvPr>
          <p:cNvSpPr txBox="1"/>
          <p:nvPr/>
        </p:nvSpPr>
        <p:spPr>
          <a:xfrm>
            <a:off x="446133" y="2395562"/>
            <a:ext cx="547917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AnTuTu benchmarking for CPU, memory, and system performance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benchmark suites for device level compute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EF544F-70F0-51C4-87DC-602B2C2D444B}"/>
              </a:ext>
            </a:extLst>
          </p:cNvPr>
          <p:cNvSpPr/>
          <p:nvPr/>
        </p:nvSpPr>
        <p:spPr>
          <a:xfrm>
            <a:off x="5983366" y="2014447"/>
            <a:ext cx="5016025" cy="926757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  <a:effectLst>
            <a:outerShdw dist="38100" dir="10800000" algn="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6BC5D-39A0-537E-9AF1-F978CA1CD8EF}"/>
              </a:ext>
            </a:extLst>
          </p:cNvPr>
          <p:cNvSpPr txBox="1"/>
          <p:nvPr/>
        </p:nvSpPr>
        <p:spPr>
          <a:xfrm>
            <a:off x="6049777" y="2082408"/>
            <a:ext cx="2489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rgbClr val="00B0F0"/>
              </a:buClr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Storage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21E9B-0152-A23C-76F4-4624ED9637A8}"/>
              </a:ext>
            </a:extLst>
          </p:cNvPr>
          <p:cNvSpPr txBox="1"/>
          <p:nvPr/>
        </p:nvSpPr>
        <p:spPr>
          <a:xfrm>
            <a:off x="6041420" y="2395562"/>
            <a:ext cx="547917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AndroBench execution for sequential and random IO validation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Storage performance tuning impacting application launch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37C4F-4D15-3BF1-F182-33887045A9E2}"/>
              </a:ext>
            </a:extLst>
          </p:cNvPr>
          <p:cNvSpPr/>
          <p:nvPr/>
        </p:nvSpPr>
        <p:spPr>
          <a:xfrm>
            <a:off x="388079" y="3281493"/>
            <a:ext cx="5016025" cy="926757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  <a:effectLst>
            <a:outerShdw dist="38100" dir="10800000" algn="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84925-0EA7-2614-8EAF-6299FA8AFE5B}"/>
              </a:ext>
            </a:extLst>
          </p:cNvPr>
          <p:cNvSpPr txBox="1"/>
          <p:nvPr/>
        </p:nvSpPr>
        <p:spPr>
          <a:xfrm>
            <a:off x="454490" y="3349454"/>
            <a:ext cx="2489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rgbClr val="00B0F0"/>
              </a:buClr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Graphics and UI Performance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C9434C-4E1B-2EDC-EB60-4CBD00260FE0}"/>
              </a:ext>
            </a:extLst>
          </p:cNvPr>
          <p:cNvSpPr txBox="1"/>
          <p:nvPr/>
        </p:nvSpPr>
        <p:spPr>
          <a:xfrm>
            <a:off x="446133" y="3663055"/>
            <a:ext cx="547917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GFXBench validation for GPU and UI rendering performance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Frame latency analysis for smooth UI interactions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026349-A8AD-703A-3E6F-ED6155263C6B}"/>
              </a:ext>
            </a:extLst>
          </p:cNvPr>
          <p:cNvSpPr/>
          <p:nvPr/>
        </p:nvSpPr>
        <p:spPr>
          <a:xfrm>
            <a:off x="5983366" y="3265611"/>
            <a:ext cx="5016025" cy="926757"/>
          </a:xfrm>
          <a:prstGeom prst="rect">
            <a:avLst/>
          </a:prstGeom>
          <a:solidFill>
            <a:schemeClr val="bg1"/>
          </a:solidFill>
          <a:ln w="3175">
            <a:solidFill>
              <a:srgbClr val="00B0F0"/>
            </a:solidFill>
          </a:ln>
          <a:effectLst>
            <a:outerShdw dist="38100" dir="10800000" algn="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554CB-AA39-E4AF-88AB-DB9132F2010D}"/>
              </a:ext>
            </a:extLst>
          </p:cNvPr>
          <p:cNvSpPr txBox="1"/>
          <p:nvPr/>
        </p:nvSpPr>
        <p:spPr>
          <a:xfrm>
            <a:off x="6049777" y="3433588"/>
            <a:ext cx="2489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rgbClr val="00B0F0"/>
              </a:buClr>
            </a:pPr>
            <a:r>
              <a:rPr lang="en-US" sz="12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Browser and WebView Validation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A18BC7-FC41-C506-0608-25EF6831BE98}"/>
              </a:ext>
            </a:extLst>
          </p:cNvPr>
          <p:cNvSpPr txBox="1"/>
          <p:nvPr/>
        </p:nvSpPr>
        <p:spPr>
          <a:xfrm>
            <a:off x="6041420" y="3663055"/>
            <a:ext cx="547917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Browser benchmark execution for WebView performance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JavaScript execution performance for Android apps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23A218F-9E50-6A9A-4C19-8B301685C9DC}"/>
              </a:ext>
            </a:extLst>
          </p:cNvPr>
          <p:cNvGrpSpPr/>
          <p:nvPr/>
        </p:nvGrpSpPr>
        <p:grpSpPr>
          <a:xfrm>
            <a:off x="285204" y="5121391"/>
            <a:ext cx="3618862" cy="1513928"/>
            <a:chOff x="1246298" y="2471742"/>
            <a:chExt cx="3618862" cy="1228888"/>
          </a:xfrm>
        </p:grpSpPr>
        <p:sp>
          <p:nvSpPr>
            <p:cNvPr id="61" name="Rectangle: Rounded Corners 45">
              <a:extLst>
                <a:ext uri="{FF2B5EF4-FFF2-40B4-BE49-F238E27FC236}">
                  <a16:creationId xmlns:a16="http://schemas.microsoft.com/office/drawing/2014/main" id="{8DB8CF39-9121-7397-63BC-14998117FCBC}"/>
                </a:ext>
              </a:extLst>
            </p:cNvPr>
            <p:cNvSpPr/>
            <p:nvPr/>
          </p:nvSpPr>
          <p:spPr>
            <a:xfrm>
              <a:off x="1246299" y="2471742"/>
              <a:ext cx="3537062" cy="115169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46">
              <a:extLst>
                <a:ext uri="{FF2B5EF4-FFF2-40B4-BE49-F238E27FC236}">
                  <a16:creationId xmlns:a16="http://schemas.microsoft.com/office/drawing/2014/main" id="{888B4096-AD61-3F83-3719-5541B45DDD95}"/>
                </a:ext>
              </a:extLst>
            </p:cNvPr>
            <p:cNvSpPr/>
            <p:nvPr/>
          </p:nvSpPr>
          <p:spPr>
            <a:xfrm>
              <a:off x="1246298" y="2492769"/>
              <a:ext cx="3195113" cy="311592"/>
            </a:xfrm>
            <a:prstGeom prst="roundRect">
              <a:avLst/>
            </a:prstGeom>
            <a:solidFill>
              <a:srgbClr val="0070C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XTS Validation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6CBCD55-0A90-C58F-E73C-5240E4DE2DB9}"/>
                </a:ext>
              </a:extLst>
            </p:cNvPr>
            <p:cNvSpPr txBox="1"/>
            <p:nvPr/>
          </p:nvSpPr>
          <p:spPr>
            <a:xfrm>
              <a:off x="1328099" y="2869633"/>
              <a:ext cx="35370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v"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Execution of XTS test suites to validate Google API coverage</a:t>
              </a: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v"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Compatibility validation across Android framework services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24B3AEC-2C1B-FF0F-0849-B74C1FF7D5E8}"/>
              </a:ext>
            </a:extLst>
          </p:cNvPr>
          <p:cNvGrpSpPr/>
          <p:nvPr/>
        </p:nvGrpSpPr>
        <p:grpSpPr>
          <a:xfrm>
            <a:off x="4231989" y="5121391"/>
            <a:ext cx="3537063" cy="1418835"/>
            <a:chOff x="1246299" y="2471742"/>
            <a:chExt cx="3537063" cy="1151699"/>
          </a:xfrm>
        </p:grpSpPr>
        <p:sp>
          <p:nvSpPr>
            <p:cNvPr id="75" name="Rectangle: Rounded Corners 45">
              <a:extLst>
                <a:ext uri="{FF2B5EF4-FFF2-40B4-BE49-F238E27FC236}">
                  <a16:creationId xmlns:a16="http://schemas.microsoft.com/office/drawing/2014/main" id="{F5755E09-7B05-0727-6103-AB8F02B32883}"/>
                </a:ext>
              </a:extLst>
            </p:cNvPr>
            <p:cNvSpPr/>
            <p:nvPr/>
          </p:nvSpPr>
          <p:spPr>
            <a:xfrm>
              <a:off x="1246299" y="2471742"/>
              <a:ext cx="3537062" cy="115169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: Rounded Corners 46">
              <a:extLst>
                <a:ext uri="{FF2B5EF4-FFF2-40B4-BE49-F238E27FC236}">
                  <a16:creationId xmlns:a16="http://schemas.microsoft.com/office/drawing/2014/main" id="{BFF7205F-5AB6-F855-BB33-E81DDE2FBB9A}"/>
                </a:ext>
              </a:extLst>
            </p:cNvPr>
            <p:cNvSpPr/>
            <p:nvPr/>
          </p:nvSpPr>
          <p:spPr>
            <a:xfrm>
              <a:off x="1246299" y="2472449"/>
              <a:ext cx="3159412" cy="331912"/>
            </a:xfrm>
            <a:prstGeom prst="roundRect">
              <a:avLst/>
            </a:prstGeom>
            <a:solidFill>
              <a:srgbClr val="0070C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Automated Certification Readiness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5B5FFF7-0A7D-8F71-C37B-4D08F6607CE6}"/>
                </a:ext>
              </a:extLst>
            </p:cNvPr>
            <p:cNvSpPr txBox="1"/>
            <p:nvPr/>
          </p:nvSpPr>
          <p:spPr>
            <a:xfrm>
              <a:off x="1328100" y="2888189"/>
              <a:ext cx="3455262" cy="674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v"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Integration of CTS, XTS, and benchmarking workloads into automated pipelines</a:t>
              </a: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v"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Continuous validation across Android platform builds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B40872C-12B7-E386-C565-B13E7ABD55EB}"/>
              </a:ext>
            </a:extLst>
          </p:cNvPr>
          <p:cNvGrpSpPr/>
          <p:nvPr/>
        </p:nvGrpSpPr>
        <p:grpSpPr>
          <a:xfrm>
            <a:off x="8178772" y="5121391"/>
            <a:ext cx="3618862" cy="1553721"/>
            <a:chOff x="1246298" y="2471742"/>
            <a:chExt cx="3618862" cy="1261189"/>
          </a:xfrm>
        </p:grpSpPr>
        <p:sp>
          <p:nvSpPr>
            <p:cNvPr id="79" name="Rectangle: Rounded Corners 45">
              <a:extLst>
                <a:ext uri="{FF2B5EF4-FFF2-40B4-BE49-F238E27FC236}">
                  <a16:creationId xmlns:a16="http://schemas.microsoft.com/office/drawing/2014/main" id="{9164A79C-9093-0EB5-A2A6-82189DE903F8}"/>
                </a:ext>
              </a:extLst>
            </p:cNvPr>
            <p:cNvSpPr/>
            <p:nvPr/>
          </p:nvSpPr>
          <p:spPr>
            <a:xfrm>
              <a:off x="1246299" y="2471742"/>
              <a:ext cx="3537062" cy="115169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: Rounded Corners 46">
              <a:extLst>
                <a:ext uri="{FF2B5EF4-FFF2-40B4-BE49-F238E27FC236}">
                  <a16:creationId xmlns:a16="http://schemas.microsoft.com/office/drawing/2014/main" id="{29B4D65E-9D82-4F5F-5B5B-0C5FDB5FCF1A}"/>
                </a:ext>
              </a:extLst>
            </p:cNvPr>
            <p:cNvSpPr/>
            <p:nvPr/>
          </p:nvSpPr>
          <p:spPr>
            <a:xfrm>
              <a:off x="1246298" y="2492769"/>
              <a:ext cx="3032567" cy="311592"/>
            </a:xfrm>
            <a:prstGeom prst="roundRect">
              <a:avLst/>
            </a:prstGeom>
            <a:solidFill>
              <a:srgbClr val="0070C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Failure Analysis and Debugging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7153D0A-7DB0-E6E9-3CF2-EDABF0F81CB0}"/>
                </a:ext>
              </a:extLst>
            </p:cNvPr>
            <p:cNvSpPr txBox="1"/>
            <p:nvPr/>
          </p:nvSpPr>
          <p:spPr>
            <a:xfrm>
              <a:off x="1328099" y="2901934"/>
              <a:ext cx="35370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v"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Cross layer debugging using logcat, kernel traces, and system profiling</a:t>
              </a:r>
            </a:p>
            <a:p>
              <a:pPr marL="171450" indent="-171450">
                <a:buClr>
                  <a:srgbClr val="0070C0"/>
                </a:buClr>
                <a:buFont typeface="Wingdings" panose="05000000000000000000" pitchFamily="2" charset="2"/>
                <a:buChar char="v"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Root cause analysis across framework, HAL, and BSP layers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3E8B7EF-D3C8-4615-51AE-D255AA2664A1}"/>
              </a:ext>
            </a:extLst>
          </p:cNvPr>
          <p:cNvSpPr/>
          <p:nvPr/>
        </p:nvSpPr>
        <p:spPr>
          <a:xfrm>
            <a:off x="5391002" y="939272"/>
            <a:ext cx="801206" cy="801206"/>
          </a:xfrm>
          <a:prstGeom prst="ellipse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53955E-F15E-E75E-C84B-8557C83B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60" y="1111109"/>
            <a:ext cx="471492" cy="47149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4EAA2C9-58B0-5620-488B-5F8EEB92807F}"/>
              </a:ext>
            </a:extLst>
          </p:cNvPr>
          <p:cNvSpPr/>
          <p:nvPr/>
        </p:nvSpPr>
        <p:spPr>
          <a:xfrm>
            <a:off x="3640634" y="1699589"/>
            <a:ext cx="628030" cy="6280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EB5B0B-B65D-3420-FB39-D8E8560DF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3819" y="1751828"/>
            <a:ext cx="521660" cy="52166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4B9EF5-7FDC-4B70-DC0A-7A43E5B8E028}"/>
              </a:ext>
            </a:extLst>
          </p:cNvPr>
          <p:cNvSpPr/>
          <p:nvPr/>
        </p:nvSpPr>
        <p:spPr>
          <a:xfrm>
            <a:off x="3640408" y="3017573"/>
            <a:ext cx="628030" cy="6280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3402663-4391-D9E5-B3CA-202ADF8CA3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93593" y="3074828"/>
            <a:ext cx="521660" cy="511628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8CD9F0B-0877-01EC-40EE-5560CC672635}"/>
              </a:ext>
            </a:extLst>
          </p:cNvPr>
          <p:cNvSpPr/>
          <p:nvPr/>
        </p:nvSpPr>
        <p:spPr>
          <a:xfrm>
            <a:off x="9539302" y="1700432"/>
            <a:ext cx="628030" cy="6280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B7984E2-2804-68FC-A18A-870DF2307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592487" y="1752671"/>
            <a:ext cx="521660" cy="52166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9415521-CAA0-D490-A7FB-2C4377933E3F}"/>
              </a:ext>
            </a:extLst>
          </p:cNvPr>
          <p:cNvSpPr/>
          <p:nvPr/>
        </p:nvSpPr>
        <p:spPr>
          <a:xfrm>
            <a:off x="9539076" y="3018416"/>
            <a:ext cx="628030" cy="6280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11DA63-8893-AB2C-B4B2-4250A43D52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597277" y="3075671"/>
            <a:ext cx="511628" cy="511628"/>
          </a:xfrm>
          <a:prstGeom prst="rect">
            <a:avLst/>
          </a:prstGeom>
        </p:spPr>
      </p:pic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6B1DFEA1-955B-B089-2643-4ABF0F85893F}"/>
              </a:ext>
            </a:extLst>
          </p:cNvPr>
          <p:cNvSpPr/>
          <p:nvPr/>
        </p:nvSpPr>
        <p:spPr>
          <a:xfrm>
            <a:off x="367004" y="4455355"/>
            <a:ext cx="5271795" cy="457529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Google API Compatibility and Continuous Validation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625B14C-7743-872D-C981-D6FCD25A2058}"/>
              </a:ext>
            </a:extLst>
          </p:cNvPr>
          <p:cNvSpPr/>
          <p:nvPr/>
        </p:nvSpPr>
        <p:spPr>
          <a:xfrm>
            <a:off x="5391002" y="4283516"/>
            <a:ext cx="801206" cy="801206"/>
          </a:xfrm>
          <a:prstGeom prst="ellipse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72DA4FF-DCA3-B105-B5E8-E46EE449DBC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55861" y="4455355"/>
            <a:ext cx="471490" cy="4714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ABF4BBE-0443-2276-772C-33A2B32CAB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5618" y="5183548"/>
            <a:ext cx="311357" cy="31135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7DD1F53-226F-A387-AB0B-0D936BDD1D1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19651" y="5183548"/>
            <a:ext cx="311357" cy="31135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E092E5F-C550-2968-E119-3073CAFDA89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704932" y="5183548"/>
            <a:ext cx="311357" cy="31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78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A109-C3A5-ACCC-CA1A-F282A364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nip Single Corner of Rectangle 46">
            <a:extLst>
              <a:ext uri="{FF2B5EF4-FFF2-40B4-BE49-F238E27FC236}">
                <a16:creationId xmlns:a16="http://schemas.microsoft.com/office/drawing/2014/main" id="{0961BF33-ACB6-0AD6-5417-6002164E4DB8}"/>
              </a:ext>
            </a:extLst>
          </p:cNvPr>
          <p:cNvSpPr/>
          <p:nvPr/>
        </p:nvSpPr>
        <p:spPr>
          <a:xfrm flipH="1">
            <a:off x="631845" y="4460870"/>
            <a:ext cx="9926617" cy="1159390"/>
          </a:xfrm>
          <a:prstGeom prst="snip1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D447E06D-402A-CDB1-4FE5-A08E0FE35F76}"/>
              </a:ext>
            </a:extLst>
          </p:cNvPr>
          <p:cNvSpPr txBox="1">
            <a:spLocks/>
          </p:cNvSpPr>
          <p:nvPr/>
        </p:nvSpPr>
        <p:spPr>
          <a:xfrm>
            <a:off x="579738" y="1693802"/>
            <a:ext cx="5345047" cy="1971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 Management  &amp; OTA Experience</a:t>
            </a:r>
            <a:endParaRPr lang="en-IN" sz="4000">
              <a:solidFill>
                <a:schemeClr val="tx2">
                  <a:lumMod val="90000"/>
                  <a:lumOff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3" name="Picture 52" descr="A computer and other objects&#10;&#10;AI-generated content may be incorrect.">
            <a:extLst>
              <a:ext uri="{FF2B5EF4-FFF2-40B4-BE49-F238E27FC236}">
                <a16:creationId xmlns:a16="http://schemas.microsoft.com/office/drawing/2014/main" id="{6293E6E4-1C58-904B-6CF8-3DE3ADD59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52" y="1693803"/>
            <a:ext cx="5345046" cy="39264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A9111A4-4D4F-1A9A-0477-76F1F0BC6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084023" y="4516089"/>
            <a:ext cx="1048952" cy="10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52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490C-518F-F63A-D035-567F81DD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9BA7-1923-D2C9-81EB-EF375FBF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/>
              <a:t>Device Security &amp; OTA Management</a:t>
            </a:r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B9C67F-4775-64CB-8EA0-B71CED2D5599}"/>
              </a:ext>
            </a:extLst>
          </p:cNvPr>
          <p:cNvGrpSpPr/>
          <p:nvPr/>
        </p:nvGrpSpPr>
        <p:grpSpPr>
          <a:xfrm rot="10800000">
            <a:off x="372154" y="2653736"/>
            <a:ext cx="2144345" cy="430893"/>
            <a:chOff x="600117" y="5699810"/>
            <a:chExt cx="1916385" cy="276450"/>
          </a:xfrm>
          <a:solidFill>
            <a:srgbClr val="499CD4"/>
          </a:solidFill>
        </p:grpSpPr>
        <p:sp>
          <p:nvSpPr>
            <p:cNvPr id="61" name="Rectangular Callout 60">
              <a:extLst>
                <a:ext uri="{FF2B5EF4-FFF2-40B4-BE49-F238E27FC236}">
                  <a16:creationId xmlns:a16="http://schemas.microsoft.com/office/drawing/2014/main" id="{FE99E735-86A8-EEF9-1153-E5F8CBE19343}"/>
                </a:ext>
              </a:extLst>
            </p:cNvPr>
            <p:cNvSpPr/>
            <p:nvPr/>
          </p:nvSpPr>
          <p:spPr>
            <a:xfrm>
              <a:off x="1158949" y="5699814"/>
              <a:ext cx="1357553" cy="276446"/>
            </a:xfrm>
            <a:prstGeom prst="wedgeRectCallout">
              <a:avLst>
                <a:gd name="adj1" fmla="val -20833"/>
                <a:gd name="adj2" fmla="val 1278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3B1CC7F-3419-C0F3-6809-304744C310BA}"/>
                </a:ext>
              </a:extLst>
            </p:cNvPr>
            <p:cNvSpPr/>
            <p:nvPr/>
          </p:nvSpPr>
          <p:spPr>
            <a:xfrm>
              <a:off x="600117" y="5699810"/>
              <a:ext cx="984428" cy="2764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393D0FA-804C-FFA0-BACB-12E203DA2B66}"/>
              </a:ext>
            </a:extLst>
          </p:cNvPr>
          <p:cNvSpPr/>
          <p:nvPr/>
        </p:nvSpPr>
        <p:spPr>
          <a:xfrm>
            <a:off x="377478" y="2755237"/>
            <a:ext cx="2139026" cy="290847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B0F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852">
              <a:spcAft>
                <a:spcPts val="600"/>
              </a:spcAft>
            </a:pPr>
            <a:endParaRPr lang="en-US" sz="1100" kern="0">
              <a:solidFill>
                <a:prstClr val="white"/>
              </a:solidFill>
              <a:latin typeface="Lato" panose="020F050202020403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A20E4-008C-857F-069F-68B35B8EDC25}"/>
              </a:ext>
            </a:extLst>
          </p:cNvPr>
          <p:cNvSpPr txBox="1"/>
          <p:nvPr/>
        </p:nvSpPr>
        <p:spPr>
          <a:xfrm>
            <a:off x="372154" y="1930100"/>
            <a:ext cx="197313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852">
              <a:spcAft>
                <a:spcPts val="60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Secure Device Onboarding &amp; Identity</a:t>
            </a:r>
            <a:endParaRPr lang="en-US" sz="1400" b="1">
              <a:solidFill>
                <a:srgbClr val="0070C0"/>
              </a:solidFill>
              <a:latin typeface="Lato" panose="020F0502020204030203" pitchFamily="34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CC190B-E4A4-21F6-B23F-A829A99E3836}"/>
              </a:ext>
            </a:extLst>
          </p:cNvPr>
          <p:cNvSpPr txBox="1"/>
          <p:nvPr/>
        </p:nvSpPr>
        <p:spPr>
          <a:xfrm>
            <a:off x="435968" y="2775579"/>
            <a:ext cx="2093243" cy="28007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91440" indent="-91440">
              <a:buBlip>
                <a:blip r:embed="rId2"/>
              </a:buBlip>
            </a:pPr>
            <a:r>
              <a:rPr lang="en-IN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Enterprise-grade IAM integration with Microsoft Azure Active Directory (Azure AD), OAuth2, and SAML for secure identity lifecycle management.</a:t>
            </a:r>
          </a:p>
          <a:p>
            <a:pPr marL="91440" indent="-91440">
              <a:buBlip>
                <a:blip r:embed="rId2"/>
              </a:buBlip>
            </a:pPr>
            <a:endParaRPr lang="en-IN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91440" indent="-91440">
              <a:buBlip>
                <a:blip r:embed="rId2"/>
              </a:buBlip>
            </a:pPr>
            <a:r>
              <a:rPr lang="en-IN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Zero-touch enrolment and policy-driven provisioning for Android/Linux-based devices.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792702-E0DA-620C-A090-B07790251D63}"/>
              </a:ext>
            </a:extLst>
          </p:cNvPr>
          <p:cNvSpPr/>
          <p:nvPr/>
        </p:nvSpPr>
        <p:spPr>
          <a:xfrm rot="10800000">
            <a:off x="375197" y="5617991"/>
            <a:ext cx="2141303" cy="45719"/>
          </a:xfrm>
          <a:prstGeom prst="rect">
            <a:avLst/>
          </a:prstGeom>
          <a:solidFill>
            <a:srgbClr val="499C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8349D49-D36F-CDD6-A149-A045CD8C8CAE}"/>
              </a:ext>
            </a:extLst>
          </p:cNvPr>
          <p:cNvGrpSpPr/>
          <p:nvPr/>
        </p:nvGrpSpPr>
        <p:grpSpPr>
          <a:xfrm rot="10800000">
            <a:off x="2666606" y="2653738"/>
            <a:ext cx="2318826" cy="202998"/>
            <a:chOff x="600117" y="5699810"/>
            <a:chExt cx="1916385" cy="276446"/>
          </a:xfrm>
          <a:solidFill>
            <a:srgbClr val="3080C3"/>
          </a:solidFill>
        </p:grpSpPr>
        <p:sp>
          <p:nvSpPr>
            <p:cNvPr id="66" name="Rectangular Callout 65">
              <a:extLst>
                <a:ext uri="{FF2B5EF4-FFF2-40B4-BE49-F238E27FC236}">
                  <a16:creationId xmlns:a16="http://schemas.microsoft.com/office/drawing/2014/main" id="{A5CCB92A-7D8A-E62F-91E6-08158903D6D6}"/>
                </a:ext>
              </a:extLst>
            </p:cNvPr>
            <p:cNvSpPr/>
            <p:nvPr/>
          </p:nvSpPr>
          <p:spPr>
            <a:xfrm>
              <a:off x="1158949" y="5699810"/>
              <a:ext cx="1357553" cy="276446"/>
            </a:xfrm>
            <a:prstGeom prst="wedgeRectCallout">
              <a:avLst>
                <a:gd name="adj1" fmla="val -20833"/>
                <a:gd name="adj2" fmla="val 1278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2CFC1E5-399C-0086-D3FB-D9FF41A43305}"/>
                </a:ext>
              </a:extLst>
            </p:cNvPr>
            <p:cNvSpPr/>
            <p:nvPr/>
          </p:nvSpPr>
          <p:spPr>
            <a:xfrm>
              <a:off x="600117" y="5699810"/>
              <a:ext cx="984428" cy="2764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31ED03A-827A-0A2F-0020-A8CA5B7F0662}"/>
              </a:ext>
            </a:extLst>
          </p:cNvPr>
          <p:cNvSpPr/>
          <p:nvPr/>
        </p:nvSpPr>
        <p:spPr>
          <a:xfrm>
            <a:off x="2664831" y="2755237"/>
            <a:ext cx="2318830" cy="290847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B0F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852">
              <a:spcAft>
                <a:spcPts val="600"/>
              </a:spcAft>
            </a:pPr>
            <a:endParaRPr lang="en-US" sz="1100" kern="0">
              <a:solidFill>
                <a:prstClr val="white"/>
              </a:solidFill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30B4C8-C27C-34CD-AF4D-56A5E49D4D8A}"/>
              </a:ext>
            </a:extLst>
          </p:cNvPr>
          <p:cNvSpPr txBox="1"/>
          <p:nvPr/>
        </p:nvSpPr>
        <p:spPr>
          <a:xfrm>
            <a:off x="3057611" y="1930100"/>
            <a:ext cx="16543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852">
              <a:spcAft>
                <a:spcPts val="600"/>
              </a:spcAft>
              <a:defRPr/>
            </a:pPr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Over-The-Air (OTA) Updates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104EDD-C936-788E-1077-0A2722A880EA}"/>
              </a:ext>
            </a:extLst>
          </p:cNvPr>
          <p:cNvSpPr txBox="1"/>
          <p:nvPr/>
        </p:nvSpPr>
        <p:spPr>
          <a:xfrm>
            <a:off x="2746849" y="2755236"/>
            <a:ext cx="2197475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</a:lstStyle>
          <a:p>
            <a:pPr marL="91440" indent="-91440">
              <a:spcAft>
                <a:spcPts val="1200"/>
              </a:spcAft>
              <a:buBlip>
                <a:blip r:embed="rId2"/>
              </a:buBlip>
              <a:defRPr/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Seamless integration with Azure DevOps pipelines and Intune/Endpoint Manager for policy-based update rollouts.</a:t>
            </a:r>
          </a:p>
          <a:p>
            <a:pPr marL="91440" indent="-91440">
              <a:spcAft>
                <a:spcPts val="1200"/>
              </a:spcAft>
              <a:buBlip>
                <a:blip r:embed="rId2"/>
              </a:buBlip>
              <a:defRPr/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 OTA framework development for Linux and Android using Yocto, A/B partitioning, and delta updates.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E947AD8-E304-60DD-43E8-DFC3717708B4}"/>
              </a:ext>
            </a:extLst>
          </p:cNvPr>
          <p:cNvSpPr/>
          <p:nvPr/>
        </p:nvSpPr>
        <p:spPr>
          <a:xfrm rot="10800000">
            <a:off x="2660441" y="5617992"/>
            <a:ext cx="2318437" cy="45719"/>
          </a:xfrm>
          <a:prstGeom prst="rect">
            <a:avLst/>
          </a:prstGeom>
          <a:solidFill>
            <a:srgbClr val="3080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440DB9C-41AE-26B6-1D51-273556C769F5}"/>
              </a:ext>
            </a:extLst>
          </p:cNvPr>
          <p:cNvGrpSpPr/>
          <p:nvPr/>
        </p:nvGrpSpPr>
        <p:grpSpPr>
          <a:xfrm rot="10800000">
            <a:off x="5135539" y="2653738"/>
            <a:ext cx="1916385" cy="202998"/>
            <a:chOff x="600117" y="5699810"/>
            <a:chExt cx="1916385" cy="276446"/>
          </a:xfrm>
          <a:solidFill>
            <a:srgbClr val="1F69B3"/>
          </a:solidFill>
        </p:grpSpPr>
        <p:sp>
          <p:nvSpPr>
            <p:cNvPr id="69" name="Rectangular Callout 68">
              <a:extLst>
                <a:ext uri="{FF2B5EF4-FFF2-40B4-BE49-F238E27FC236}">
                  <a16:creationId xmlns:a16="http://schemas.microsoft.com/office/drawing/2014/main" id="{797D22D7-A14D-B65B-8582-E58B2890996E}"/>
                </a:ext>
              </a:extLst>
            </p:cNvPr>
            <p:cNvSpPr/>
            <p:nvPr/>
          </p:nvSpPr>
          <p:spPr>
            <a:xfrm>
              <a:off x="1158949" y="5699810"/>
              <a:ext cx="1357553" cy="276446"/>
            </a:xfrm>
            <a:prstGeom prst="wedgeRectCallout">
              <a:avLst>
                <a:gd name="adj1" fmla="val -20833"/>
                <a:gd name="adj2" fmla="val 1278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4A0DA4-749E-CA2D-D21C-03754B85319B}"/>
                </a:ext>
              </a:extLst>
            </p:cNvPr>
            <p:cNvSpPr/>
            <p:nvPr/>
          </p:nvSpPr>
          <p:spPr>
            <a:xfrm>
              <a:off x="600117" y="5699810"/>
              <a:ext cx="984428" cy="2764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D97E1-8072-C185-4AFE-15FF2A693888}"/>
              </a:ext>
            </a:extLst>
          </p:cNvPr>
          <p:cNvSpPr/>
          <p:nvPr/>
        </p:nvSpPr>
        <p:spPr>
          <a:xfrm>
            <a:off x="5131989" y="2755237"/>
            <a:ext cx="1925024" cy="290847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B0F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852">
              <a:spcAft>
                <a:spcPts val="600"/>
              </a:spcAft>
            </a:pPr>
            <a:endParaRPr lang="en-US" sz="1100" kern="0">
              <a:solidFill>
                <a:prstClr val="white"/>
              </a:solidFill>
              <a:latin typeface="Lato" panose="020F050202020403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5A00A5-C011-B9FB-7EBA-89697F920D89}"/>
              </a:ext>
            </a:extLst>
          </p:cNvPr>
          <p:cNvSpPr txBox="1"/>
          <p:nvPr/>
        </p:nvSpPr>
        <p:spPr>
          <a:xfrm>
            <a:off x="5230791" y="1930100"/>
            <a:ext cx="17400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852">
              <a:spcAft>
                <a:spcPts val="600"/>
              </a:spcAft>
              <a:defRPr/>
            </a:pPr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Security Patch Management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5F2EC9-A663-AE0A-A733-4D86FE47DB81}"/>
              </a:ext>
            </a:extLst>
          </p:cNvPr>
          <p:cNvSpPr txBox="1"/>
          <p:nvPr/>
        </p:nvSpPr>
        <p:spPr>
          <a:xfrm>
            <a:off x="5202479" y="2801620"/>
            <a:ext cx="1784230" cy="25237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</a:lstStyle>
          <a:p>
            <a:pPr marL="91440" indent="-91440">
              <a:spcAft>
                <a:spcPts val="1200"/>
              </a:spcAft>
              <a:buBlip>
                <a:blip r:embed="rId2"/>
              </a:buBlip>
              <a:defRPr/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CVE monitoring, patch integration, and binary signing workflows across BSP, middleware, and app layers.</a:t>
            </a:r>
          </a:p>
          <a:p>
            <a:pPr marL="91440" indent="-91440">
              <a:spcAft>
                <a:spcPts val="1200"/>
              </a:spcAft>
              <a:buBlip>
                <a:blip r:embed="rId2"/>
              </a:buBlip>
              <a:defRPr/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Automated testing and deployment pipelines to meet compliance mandates.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DCB9DB-133C-3F43-C42E-D3816F72664C}"/>
              </a:ext>
            </a:extLst>
          </p:cNvPr>
          <p:cNvSpPr/>
          <p:nvPr/>
        </p:nvSpPr>
        <p:spPr>
          <a:xfrm rot="10800000">
            <a:off x="5129907" y="5617992"/>
            <a:ext cx="1916064" cy="45719"/>
          </a:xfrm>
          <a:prstGeom prst="rect">
            <a:avLst/>
          </a:prstGeom>
          <a:solidFill>
            <a:srgbClr val="1F6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8F7EB45-AE63-F0F5-35D7-588E27ED39AE}"/>
              </a:ext>
            </a:extLst>
          </p:cNvPr>
          <p:cNvGrpSpPr/>
          <p:nvPr/>
        </p:nvGrpSpPr>
        <p:grpSpPr>
          <a:xfrm rot="10800000">
            <a:off x="7403251" y="2653738"/>
            <a:ext cx="1916385" cy="202998"/>
            <a:chOff x="600117" y="5699810"/>
            <a:chExt cx="1916385" cy="276446"/>
          </a:xfrm>
          <a:solidFill>
            <a:srgbClr val="03509C"/>
          </a:solidFill>
        </p:grpSpPr>
        <p:sp>
          <p:nvSpPr>
            <p:cNvPr id="72" name="Rectangular Callout 71">
              <a:extLst>
                <a:ext uri="{FF2B5EF4-FFF2-40B4-BE49-F238E27FC236}">
                  <a16:creationId xmlns:a16="http://schemas.microsoft.com/office/drawing/2014/main" id="{5D12F207-673A-4D35-AA69-2AB12FC203B9}"/>
                </a:ext>
              </a:extLst>
            </p:cNvPr>
            <p:cNvSpPr/>
            <p:nvPr/>
          </p:nvSpPr>
          <p:spPr>
            <a:xfrm>
              <a:off x="1158949" y="5699810"/>
              <a:ext cx="1357553" cy="276446"/>
            </a:xfrm>
            <a:prstGeom prst="wedgeRectCallout">
              <a:avLst>
                <a:gd name="adj1" fmla="val -20833"/>
                <a:gd name="adj2" fmla="val 1278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2000E59-5B3A-CFA3-D956-E62347AD00D0}"/>
                </a:ext>
              </a:extLst>
            </p:cNvPr>
            <p:cNvSpPr/>
            <p:nvPr/>
          </p:nvSpPr>
          <p:spPr>
            <a:xfrm>
              <a:off x="600117" y="5699810"/>
              <a:ext cx="984428" cy="2764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2A0F883-36E4-AA27-247B-DF5DA5577BA2}"/>
              </a:ext>
            </a:extLst>
          </p:cNvPr>
          <p:cNvSpPr/>
          <p:nvPr/>
        </p:nvSpPr>
        <p:spPr>
          <a:xfrm>
            <a:off x="7397925" y="2755237"/>
            <a:ext cx="1916388" cy="290847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B0F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852">
              <a:spcAft>
                <a:spcPts val="600"/>
              </a:spcAft>
            </a:pPr>
            <a:endParaRPr lang="en-US" sz="1100" kern="0">
              <a:solidFill>
                <a:prstClr val="white"/>
              </a:solidFill>
              <a:latin typeface="Lato" panose="020F050202020403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C453AD-34AB-75B9-6761-E2AB2B8E00CE}"/>
              </a:ext>
            </a:extLst>
          </p:cNvPr>
          <p:cNvSpPr txBox="1"/>
          <p:nvPr/>
        </p:nvSpPr>
        <p:spPr>
          <a:xfrm>
            <a:off x="7418316" y="1930100"/>
            <a:ext cx="190663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852">
              <a:spcAft>
                <a:spcPts val="600"/>
              </a:spcAft>
              <a:defRPr/>
            </a:pPr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Policy Management &amp; Compliance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23FEC3-6B33-6255-4A05-AB3CACA642B3}"/>
              </a:ext>
            </a:extLst>
          </p:cNvPr>
          <p:cNvSpPr txBox="1"/>
          <p:nvPr/>
        </p:nvSpPr>
        <p:spPr>
          <a:xfrm>
            <a:off x="7450974" y="2854096"/>
            <a:ext cx="1857779" cy="24468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</a:lstStyle>
          <a:p>
            <a:pPr marL="91440" indent="-91440">
              <a:buBlip>
                <a:blip r:embed="rId2"/>
              </a:buBlip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 for Intune-compatible models and Azure policy frameworks, adapted for embedded use cases.</a:t>
            </a:r>
          </a:p>
          <a:p>
            <a:pPr marL="91440" indent="-91440">
              <a:buBlip>
                <a:blip r:embed="rId2"/>
              </a:buBlip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Remote policy enforcement (password, VPN, app whitelist) via custom or third-party MDM.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F7309B1-4E67-05E6-9215-3B4F91181EBF}"/>
              </a:ext>
            </a:extLst>
          </p:cNvPr>
          <p:cNvSpPr/>
          <p:nvPr/>
        </p:nvSpPr>
        <p:spPr>
          <a:xfrm rot="10800000">
            <a:off x="7398186" y="5617992"/>
            <a:ext cx="1916064" cy="45719"/>
          </a:xfrm>
          <a:prstGeom prst="rect">
            <a:avLst/>
          </a:prstGeom>
          <a:solidFill>
            <a:srgbClr val="035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683BDE0-0C9E-974D-03ED-65179AB13EF8}"/>
              </a:ext>
            </a:extLst>
          </p:cNvPr>
          <p:cNvGrpSpPr/>
          <p:nvPr/>
        </p:nvGrpSpPr>
        <p:grpSpPr>
          <a:xfrm rot="10800000">
            <a:off x="9658771" y="2653738"/>
            <a:ext cx="1916385" cy="202998"/>
            <a:chOff x="600117" y="5699810"/>
            <a:chExt cx="1916385" cy="276446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75" name="Rectangular Callout 74">
              <a:extLst>
                <a:ext uri="{FF2B5EF4-FFF2-40B4-BE49-F238E27FC236}">
                  <a16:creationId xmlns:a16="http://schemas.microsoft.com/office/drawing/2014/main" id="{A02EDBD4-5901-4237-E0E7-9981BD8FA8C3}"/>
                </a:ext>
              </a:extLst>
            </p:cNvPr>
            <p:cNvSpPr/>
            <p:nvPr/>
          </p:nvSpPr>
          <p:spPr>
            <a:xfrm>
              <a:off x="1158949" y="5699810"/>
              <a:ext cx="1357553" cy="276446"/>
            </a:xfrm>
            <a:prstGeom prst="wedgeRectCallout">
              <a:avLst>
                <a:gd name="adj1" fmla="val -20833"/>
                <a:gd name="adj2" fmla="val 1278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1C5EAAB-2593-1720-0B7D-D77481BDB99D}"/>
                </a:ext>
              </a:extLst>
            </p:cNvPr>
            <p:cNvSpPr/>
            <p:nvPr/>
          </p:nvSpPr>
          <p:spPr>
            <a:xfrm>
              <a:off x="600117" y="5699810"/>
              <a:ext cx="984428" cy="2764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086D5BD-D330-99A9-AAB5-DEA6B6F59CEA}"/>
              </a:ext>
            </a:extLst>
          </p:cNvPr>
          <p:cNvSpPr/>
          <p:nvPr/>
        </p:nvSpPr>
        <p:spPr>
          <a:xfrm>
            <a:off x="9663860" y="2755237"/>
            <a:ext cx="1916388" cy="290847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00B0F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852">
              <a:spcAft>
                <a:spcPts val="600"/>
              </a:spcAft>
            </a:pPr>
            <a:endParaRPr lang="en-US" sz="1100" kern="0">
              <a:solidFill>
                <a:prstClr val="white"/>
              </a:solidFill>
              <a:latin typeface="Lato" panose="020F050202020403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A7B71-C037-EAE0-DA8B-03CB333CAF6A}"/>
              </a:ext>
            </a:extLst>
          </p:cNvPr>
          <p:cNvSpPr txBox="1"/>
          <p:nvPr/>
        </p:nvSpPr>
        <p:spPr>
          <a:xfrm>
            <a:off x="9689774" y="1930100"/>
            <a:ext cx="18853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852">
              <a:spcAft>
                <a:spcPts val="600"/>
              </a:spcAft>
              <a:defRPr/>
            </a:pPr>
            <a:r>
              <a:rPr lang="en-IN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 &amp; Vulnerability Management</a:t>
            </a:r>
            <a:endParaRPr lang="en-US" sz="1400" b="1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296EF-4638-1DFE-E202-0FDFF277961E}"/>
              </a:ext>
            </a:extLst>
          </p:cNvPr>
          <p:cNvSpPr txBox="1"/>
          <p:nvPr/>
        </p:nvSpPr>
        <p:spPr>
          <a:xfrm>
            <a:off x="9807023" y="2854096"/>
            <a:ext cx="1633837" cy="20159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</a:lstStyle>
          <a:p>
            <a:pPr marL="91440" indent="-91440">
              <a:buBlip>
                <a:blip r:embed="rId2"/>
              </a:buBlip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Runtime integrity checks, secure boot, and rollback protection.</a:t>
            </a:r>
          </a:p>
          <a:p>
            <a:pPr marL="91440" indent="-91440">
              <a:buBlip>
                <a:blip r:embed="rId2"/>
              </a:buBlip>
            </a:pPr>
            <a:r>
              <a:rPr lang="en-IN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Integration with threat detection and audit tools for real-time device monitoring.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C782B3-440A-FE63-6E2D-617A5EDD63EF}"/>
              </a:ext>
            </a:extLst>
          </p:cNvPr>
          <p:cNvSpPr/>
          <p:nvPr/>
        </p:nvSpPr>
        <p:spPr>
          <a:xfrm rot="10800000">
            <a:off x="9666465" y="5617992"/>
            <a:ext cx="1916064" cy="4571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81E1AFB-63A4-6940-9C14-03A38E4D1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6711" y="989795"/>
            <a:ext cx="718938" cy="71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ta Icon Over Air Update Icon Stock ...">
            <a:extLst>
              <a:ext uri="{FF2B5EF4-FFF2-40B4-BE49-F238E27FC236}">
                <a16:creationId xmlns:a16="http://schemas.microsoft.com/office/drawing/2014/main" id="{2BC7754F-688B-4C35-36F4-71354AA98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6149" y="820282"/>
            <a:ext cx="1176250" cy="94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pdate - Free security icons">
            <a:extLst>
              <a:ext uri="{FF2B5EF4-FFF2-40B4-BE49-F238E27FC236}">
                <a16:creationId xmlns:a16="http://schemas.microsoft.com/office/drawing/2014/main" id="{3339605C-F566-2A97-916A-983FE91F5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02014" y="861369"/>
            <a:ext cx="758136" cy="75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olicy Icon Royalty-Free Images ...">
            <a:extLst>
              <a:ext uri="{FF2B5EF4-FFF2-40B4-BE49-F238E27FC236}">
                <a16:creationId xmlns:a16="http://schemas.microsoft.com/office/drawing/2014/main" id="{3852DD46-49E8-65BC-BC45-311FDD0C3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36"/>
          <a:stretch>
            <a:fillRect/>
          </a:stretch>
        </p:blipFill>
        <p:spPr bwMode="auto">
          <a:xfrm>
            <a:off x="7622311" y="578384"/>
            <a:ext cx="1275351" cy="113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hreat Svg Png Icon Free Download ...">
            <a:extLst>
              <a:ext uri="{FF2B5EF4-FFF2-40B4-BE49-F238E27FC236}">
                <a16:creationId xmlns:a16="http://schemas.microsoft.com/office/drawing/2014/main" id="{DC325EF6-33B0-1000-8E25-DFB5ECF1A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39468" y="789307"/>
            <a:ext cx="856485" cy="85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566E2C-6D14-49A2-27D9-7D406E29CD99}"/>
              </a:ext>
            </a:extLst>
          </p:cNvPr>
          <p:cNvSpPr/>
          <p:nvPr/>
        </p:nvSpPr>
        <p:spPr>
          <a:xfrm>
            <a:off x="2223381" y="5684719"/>
            <a:ext cx="7826828" cy="967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Microsoft Sentinel | Marketplace and ...">
            <a:extLst>
              <a:ext uri="{FF2B5EF4-FFF2-40B4-BE49-F238E27FC236}">
                <a16:creationId xmlns:a16="http://schemas.microsoft.com/office/drawing/2014/main" id="{43CA086F-F5B8-E1D5-713F-E81F8684D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904" y="5684054"/>
            <a:ext cx="1466489" cy="97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icrosoft Azure Active Directory Review ...">
            <a:extLst>
              <a:ext uri="{FF2B5EF4-FFF2-40B4-BE49-F238E27FC236}">
                <a16:creationId xmlns:a16="http://schemas.microsoft.com/office/drawing/2014/main" id="{8928D0BB-C677-98DD-E683-670B0B4F4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136" y="5737890"/>
            <a:ext cx="1580635" cy="88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Defender antimalware ...">
            <a:extLst>
              <a:ext uri="{FF2B5EF4-FFF2-40B4-BE49-F238E27FC236}">
                <a16:creationId xmlns:a16="http://schemas.microsoft.com/office/drawing/2014/main" id="{43B0C6E7-3055-B1CF-BC97-C305EA780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35" b="13802"/>
          <a:stretch>
            <a:fillRect/>
          </a:stretch>
        </p:blipFill>
        <p:spPr bwMode="auto">
          <a:xfrm>
            <a:off x="5079424" y="5883356"/>
            <a:ext cx="1962150" cy="70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51829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F526A590-CEB6-3C80-F024-CDC24B83F83F}"/>
              </a:ext>
            </a:extLst>
          </p:cNvPr>
          <p:cNvSpPr/>
          <p:nvPr/>
        </p:nvSpPr>
        <p:spPr>
          <a:xfrm>
            <a:off x="442914" y="2908971"/>
            <a:ext cx="11306174" cy="29601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 orchestration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22547D-C65A-B280-267E-20C5AA6A77A2}"/>
              </a:ext>
            </a:extLst>
          </p:cNvPr>
          <p:cNvSpPr/>
          <p:nvPr/>
        </p:nvSpPr>
        <p:spPr>
          <a:xfrm>
            <a:off x="442913" y="1089025"/>
            <a:ext cx="11291270" cy="40925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78E134-BD6F-27CB-AACB-6BCA4D42E116}"/>
              </a:ext>
            </a:extLst>
          </p:cNvPr>
          <p:cNvSpPr/>
          <p:nvPr/>
        </p:nvSpPr>
        <p:spPr>
          <a:xfrm>
            <a:off x="3187651" y="1487848"/>
            <a:ext cx="5457292" cy="1296816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69AA21-3517-6E69-52D3-D894D541EEB3}"/>
              </a:ext>
            </a:extLst>
          </p:cNvPr>
          <p:cNvSpPr/>
          <p:nvPr/>
        </p:nvSpPr>
        <p:spPr>
          <a:xfrm>
            <a:off x="3415077" y="3272321"/>
            <a:ext cx="4530962" cy="1779739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8CA270-E53F-7CDE-F296-76682EA2B9DC}"/>
              </a:ext>
            </a:extLst>
          </p:cNvPr>
          <p:cNvSpPr/>
          <p:nvPr/>
        </p:nvSpPr>
        <p:spPr>
          <a:xfrm>
            <a:off x="578374" y="3275353"/>
            <a:ext cx="2741198" cy="1776331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D202F8-1981-78A9-AECA-B44CFDA9E8AE}"/>
              </a:ext>
            </a:extLst>
          </p:cNvPr>
          <p:cNvCxnSpPr>
            <a:cxnSpLocks/>
          </p:cNvCxnSpPr>
          <p:nvPr/>
        </p:nvCxnSpPr>
        <p:spPr>
          <a:xfrm flipV="1">
            <a:off x="1559579" y="4174528"/>
            <a:ext cx="649894" cy="313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D90B2E3-E7CC-A412-88FA-5721D0FDF1ED}"/>
              </a:ext>
            </a:extLst>
          </p:cNvPr>
          <p:cNvSpPr/>
          <p:nvPr/>
        </p:nvSpPr>
        <p:spPr>
          <a:xfrm>
            <a:off x="8059821" y="3282045"/>
            <a:ext cx="3573295" cy="1776331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34F5EA-61C2-20C9-ACA7-8B1BEC26A591}"/>
              </a:ext>
            </a:extLst>
          </p:cNvPr>
          <p:cNvSpPr txBox="1"/>
          <p:nvPr/>
        </p:nvSpPr>
        <p:spPr>
          <a:xfrm>
            <a:off x="1078467" y="3282044"/>
            <a:ext cx="1741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ingestion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E77906-ED3E-BBA3-5957-DA7E0EC0C818}"/>
              </a:ext>
            </a:extLst>
          </p:cNvPr>
          <p:cNvSpPr txBox="1"/>
          <p:nvPr/>
        </p:nvSpPr>
        <p:spPr>
          <a:xfrm>
            <a:off x="3428999" y="3282044"/>
            <a:ext cx="451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processing &amp; Persistence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96DA09-5341-556D-01A0-C2B374FC61C4}"/>
              </a:ext>
            </a:extLst>
          </p:cNvPr>
          <p:cNvSpPr txBox="1"/>
          <p:nvPr/>
        </p:nvSpPr>
        <p:spPr>
          <a:xfrm>
            <a:off x="8069580" y="3282044"/>
            <a:ext cx="3558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presentation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269EE-F49B-832C-73D1-DF5AEFE4291C}"/>
              </a:ext>
            </a:extLst>
          </p:cNvPr>
          <p:cNvSpPr txBox="1"/>
          <p:nvPr/>
        </p:nvSpPr>
        <p:spPr>
          <a:xfrm>
            <a:off x="8051338" y="4258124"/>
            <a:ext cx="1399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Device statistics dashboards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AC79B6-A463-36C5-03FA-CEB6D6FB37CD}"/>
              </a:ext>
            </a:extLst>
          </p:cNvPr>
          <p:cNvSpPr txBox="1"/>
          <p:nvPr/>
        </p:nvSpPr>
        <p:spPr>
          <a:xfrm>
            <a:off x="10483726" y="4257036"/>
            <a:ext cx="115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Business apps and reports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E0E69E-D013-BCDF-DCD2-23F1FE044B7E}"/>
              </a:ext>
            </a:extLst>
          </p:cNvPr>
          <p:cNvSpPr/>
          <p:nvPr/>
        </p:nvSpPr>
        <p:spPr>
          <a:xfrm>
            <a:off x="574877" y="1487850"/>
            <a:ext cx="2438810" cy="1296815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32ED5C-558B-67F0-13C5-AF6B1034E955}"/>
              </a:ext>
            </a:extLst>
          </p:cNvPr>
          <p:cNvSpPr txBox="1"/>
          <p:nvPr/>
        </p:nvSpPr>
        <p:spPr>
          <a:xfrm>
            <a:off x="635639" y="1487850"/>
            <a:ext cx="2317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security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B7F565-4AA8-ED67-8F8B-0B0F1A71AA7A}"/>
              </a:ext>
            </a:extLst>
          </p:cNvPr>
          <p:cNvSpPr txBox="1"/>
          <p:nvPr/>
        </p:nvSpPr>
        <p:spPr>
          <a:xfrm>
            <a:off x="589707" y="2377907"/>
            <a:ext cx="1308049" cy="396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00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Identity and access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Management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F5CF35-9FA4-A2F5-5E2B-F7222FFD9995}"/>
              </a:ext>
            </a:extLst>
          </p:cNvPr>
          <p:cNvSpPr txBox="1"/>
          <p:nvPr/>
        </p:nvSpPr>
        <p:spPr>
          <a:xfrm>
            <a:off x="1836901" y="2377907"/>
            <a:ext cx="982757" cy="396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00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Certificate 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management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C8E533-7A79-1A7B-B43E-7033DB9B3287}"/>
              </a:ext>
            </a:extLst>
          </p:cNvPr>
          <p:cNvSpPr txBox="1"/>
          <p:nvPr/>
        </p:nvSpPr>
        <p:spPr>
          <a:xfrm>
            <a:off x="4050290" y="1487848"/>
            <a:ext cx="3732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Device management applications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0D6FFE-45B5-7E80-BE8A-1557DF5776EC}"/>
              </a:ext>
            </a:extLst>
          </p:cNvPr>
          <p:cNvSpPr txBox="1"/>
          <p:nvPr/>
        </p:nvSpPr>
        <p:spPr>
          <a:xfrm>
            <a:off x="5474506" y="5433180"/>
            <a:ext cx="1105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Connectivity agent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627FA3B-3C38-E8C8-F6A7-2E208A4C1D78}"/>
              </a:ext>
            </a:extLst>
          </p:cNvPr>
          <p:cNvCxnSpPr>
            <a:cxnSpLocks/>
          </p:cNvCxnSpPr>
          <p:nvPr/>
        </p:nvCxnSpPr>
        <p:spPr>
          <a:xfrm flipV="1">
            <a:off x="1156555" y="5669861"/>
            <a:ext cx="3100961" cy="7834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2CE2865-64CC-A786-A624-67385D466AA2}"/>
              </a:ext>
            </a:extLst>
          </p:cNvPr>
          <p:cNvCxnSpPr>
            <a:cxnSpLocks/>
          </p:cNvCxnSpPr>
          <p:nvPr/>
        </p:nvCxnSpPr>
        <p:spPr>
          <a:xfrm flipV="1">
            <a:off x="1156554" y="4805265"/>
            <a:ext cx="0" cy="881145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23E2A26-ED01-C5D6-E93A-81AF8C096540}"/>
              </a:ext>
            </a:extLst>
          </p:cNvPr>
          <p:cNvSpPr/>
          <p:nvPr/>
        </p:nvSpPr>
        <p:spPr>
          <a:xfrm>
            <a:off x="8811906" y="1495028"/>
            <a:ext cx="2821210" cy="1296816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CB84B8-3A4C-5575-3293-6A51BE72AB47}"/>
              </a:ext>
            </a:extLst>
          </p:cNvPr>
          <p:cNvSpPr txBox="1"/>
          <p:nvPr/>
        </p:nvSpPr>
        <p:spPr>
          <a:xfrm>
            <a:off x="8808891" y="1495028"/>
            <a:ext cx="2803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Third party app integration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41E574-43F5-DD83-D99C-B9FE19DA14A9}"/>
              </a:ext>
            </a:extLst>
          </p:cNvPr>
          <p:cNvSpPr txBox="1"/>
          <p:nvPr/>
        </p:nvSpPr>
        <p:spPr>
          <a:xfrm>
            <a:off x="9670333" y="2377907"/>
            <a:ext cx="1081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 apps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6DDB4C9-03D3-5387-EA3F-8F34F541CF8A}"/>
              </a:ext>
            </a:extLst>
          </p:cNvPr>
          <p:cNvSpPr/>
          <p:nvPr/>
        </p:nvSpPr>
        <p:spPr>
          <a:xfrm>
            <a:off x="442913" y="1089023"/>
            <a:ext cx="11306175" cy="2825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Azure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0A164F-AC0B-2154-3F0F-424D30C33C6A}"/>
              </a:ext>
            </a:extLst>
          </p:cNvPr>
          <p:cNvSpPr txBox="1"/>
          <p:nvPr/>
        </p:nvSpPr>
        <p:spPr>
          <a:xfrm>
            <a:off x="9513824" y="4256329"/>
            <a:ext cx="868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API gateway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093C100-7DD5-8C6A-1655-FDE4225BCCF0}"/>
              </a:ext>
            </a:extLst>
          </p:cNvPr>
          <p:cNvCxnSpPr>
            <a:cxnSpLocks/>
          </p:cNvCxnSpPr>
          <p:nvPr/>
        </p:nvCxnSpPr>
        <p:spPr>
          <a:xfrm>
            <a:off x="1797779" y="2804127"/>
            <a:ext cx="0" cy="3471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53C7059-8BF1-6494-81D0-171AC216ECC9}"/>
              </a:ext>
            </a:extLst>
          </p:cNvPr>
          <p:cNvCxnSpPr/>
          <p:nvPr/>
        </p:nvCxnSpPr>
        <p:spPr>
          <a:xfrm>
            <a:off x="2846561" y="3081393"/>
            <a:ext cx="0" cy="3471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DA85C63-1ADF-88A5-A073-82A14A7432A4}"/>
              </a:ext>
            </a:extLst>
          </p:cNvPr>
          <p:cNvCxnSpPr>
            <a:cxnSpLocks/>
          </p:cNvCxnSpPr>
          <p:nvPr/>
        </p:nvCxnSpPr>
        <p:spPr>
          <a:xfrm>
            <a:off x="4016633" y="2804127"/>
            <a:ext cx="0" cy="3471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1D37D7C-BA80-368E-C690-8823EB3EF54B}"/>
              </a:ext>
            </a:extLst>
          </p:cNvPr>
          <p:cNvCxnSpPr/>
          <p:nvPr/>
        </p:nvCxnSpPr>
        <p:spPr>
          <a:xfrm>
            <a:off x="10904634" y="3081393"/>
            <a:ext cx="0" cy="3471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8BE95E7-AAFA-781D-C961-EAD0885348E0}"/>
              </a:ext>
            </a:extLst>
          </p:cNvPr>
          <p:cNvCxnSpPr>
            <a:cxnSpLocks/>
          </p:cNvCxnSpPr>
          <p:nvPr/>
        </p:nvCxnSpPr>
        <p:spPr>
          <a:xfrm>
            <a:off x="10197020" y="2804127"/>
            <a:ext cx="0" cy="3471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9C1262C-7474-03B9-AA57-7BEFB91A4988}"/>
              </a:ext>
            </a:extLst>
          </p:cNvPr>
          <p:cNvCxnSpPr/>
          <p:nvPr/>
        </p:nvCxnSpPr>
        <p:spPr>
          <a:xfrm>
            <a:off x="4170024" y="3097342"/>
            <a:ext cx="0" cy="3471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239D7510-26BF-E271-BE59-7EEF7C2BD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40" y="1761374"/>
            <a:ext cx="808182" cy="629752"/>
          </a:xfrm>
          <a:prstGeom prst="rect">
            <a:avLst/>
          </a:prstGeom>
        </p:spPr>
      </p:pic>
      <p:pic>
        <p:nvPicPr>
          <p:cNvPr id="67" name="Picture 4" descr="Official Azure Icon Set">
            <a:extLst>
              <a:ext uri="{FF2B5EF4-FFF2-40B4-BE49-F238E27FC236}">
                <a16:creationId xmlns:a16="http://schemas.microsoft.com/office/drawing/2014/main" id="{8E4B285E-CFBC-DD90-3560-F7E4005D0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76442" y="1848958"/>
            <a:ext cx="503675" cy="50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C6790F47-8241-C5E1-C256-11A2562DF580}"/>
              </a:ext>
            </a:extLst>
          </p:cNvPr>
          <p:cNvGrpSpPr/>
          <p:nvPr/>
        </p:nvGrpSpPr>
        <p:grpSpPr>
          <a:xfrm>
            <a:off x="3362897" y="1788911"/>
            <a:ext cx="5106800" cy="984996"/>
            <a:chOff x="3274461" y="1628891"/>
            <a:chExt cx="5106800" cy="9849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4FA34E-BFDF-A1DA-2461-1829D88E660C}"/>
                </a:ext>
              </a:extLst>
            </p:cNvPr>
            <p:cNvSpPr txBox="1"/>
            <p:nvPr/>
          </p:nvSpPr>
          <p:spPr>
            <a:xfrm>
              <a:off x="3274461" y="2217887"/>
              <a:ext cx="1189135" cy="396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Device provisioning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3F5515-533E-DD66-7622-A1B254FE8934}"/>
                </a:ext>
              </a:extLst>
            </p:cNvPr>
            <p:cNvSpPr txBox="1"/>
            <p:nvPr/>
          </p:nvSpPr>
          <p:spPr>
            <a:xfrm>
              <a:off x="4769827" y="2217887"/>
              <a:ext cx="893415" cy="396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Remote monitoring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893B4B9-EA30-F440-0B7D-F4E3BAE2C34F}"/>
                </a:ext>
              </a:extLst>
            </p:cNvPr>
            <p:cNvSpPr txBox="1"/>
            <p:nvPr/>
          </p:nvSpPr>
          <p:spPr>
            <a:xfrm>
              <a:off x="6029460" y="2217887"/>
              <a:ext cx="893415" cy="396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OTA updates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BDA38F0-5F90-AE7D-B0A9-69CE9680F0CB}"/>
                </a:ext>
              </a:extLst>
            </p:cNvPr>
            <p:cNvSpPr txBox="1"/>
            <p:nvPr/>
          </p:nvSpPr>
          <p:spPr>
            <a:xfrm>
              <a:off x="7192126" y="2217887"/>
              <a:ext cx="1189135" cy="396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Warranty /Ticket management</a:t>
              </a:r>
            </a:p>
          </p:txBody>
        </p:sp>
        <p:pic>
          <p:nvPicPr>
            <p:cNvPr id="66" name="Picture 2" descr="15 Iot Device Icon Images - Electronic Internet of Thing Iot, Iot Internet  of Things Icon and Internet of Things Connected Devices / Newdesignfile.com">
              <a:extLst>
                <a:ext uri="{FF2B5EF4-FFF2-40B4-BE49-F238E27FC236}">
                  <a16:creationId xmlns:a16="http://schemas.microsoft.com/office/drawing/2014/main" id="{07EE16F2-4CEF-6904-6A72-8749770D52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884" y="1684994"/>
              <a:ext cx="514052" cy="514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2" descr="Official Azure Icon Set">
              <a:extLst>
                <a:ext uri="{FF2B5EF4-FFF2-40B4-BE49-F238E27FC236}">
                  <a16:creationId xmlns:a16="http://schemas.microsoft.com/office/drawing/2014/main" id="{B0BD5C39-7204-82D4-95C6-FA234C7A8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126" y="1649413"/>
              <a:ext cx="591935" cy="591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4" descr="Updating Icon #284677 - Free Icons Library">
              <a:extLst>
                <a:ext uri="{FF2B5EF4-FFF2-40B4-BE49-F238E27FC236}">
                  <a16:creationId xmlns:a16="http://schemas.microsoft.com/office/drawing/2014/main" id="{074E93F0-8427-6CB7-6E6F-5EEF7B0B2A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4404" y="1714846"/>
              <a:ext cx="468280" cy="456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6" descr="Warranty Claims Processing &amp; Management | Service Power">
              <a:extLst>
                <a:ext uri="{FF2B5EF4-FFF2-40B4-BE49-F238E27FC236}">
                  <a16:creationId xmlns:a16="http://schemas.microsoft.com/office/drawing/2014/main" id="{00CFC17B-A8D7-3AC1-A501-CDC64327C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5076" y="1628891"/>
              <a:ext cx="763235" cy="6738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1" name="Picture 8" descr="platform - Maxbyte">
            <a:extLst>
              <a:ext uri="{FF2B5EF4-FFF2-40B4-BE49-F238E27FC236}">
                <a16:creationId xmlns:a16="http://schemas.microsoft.com/office/drawing/2014/main" id="{28772710-41BE-D42D-93FA-7C197CE03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8174" y="1856021"/>
            <a:ext cx="525351" cy="52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FED49C-05EC-469F-629D-D77BC653B7DB}"/>
              </a:ext>
            </a:extLst>
          </p:cNvPr>
          <p:cNvSpPr txBox="1"/>
          <p:nvPr/>
        </p:nvSpPr>
        <p:spPr>
          <a:xfrm>
            <a:off x="624453" y="4510789"/>
            <a:ext cx="1156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IoT Broker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67422D-2E9E-5763-CA55-EA1D36209593}"/>
              </a:ext>
            </a:extLst>
          </p:cNvPr>
          <p:cNvSpPr txBox="1"/>
          <p:nvPr/>
        </p:nvSpPr>
        <p:spPr>
          <a:xfrm>
            <a:off x="2117132" y="4519342"/>
            <a:ext cx="115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Message Queue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18940C-6169-5163-ACCE-32D37E347088}"/>
              </a:ext>
            </a:extLst>
          </p:cNvPr>
          <p:cNvSpPr/>
          <p:nvPr/>
        </p:nvSpPr>
        <p:spPr>
          <a:xfrm>
            <a:off x="2325770" y="3768333"/>
            <a:ext cx="739085" cy="761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9F3FA6D-996D-F159-5EB7-60023A39752E}"/>
              </a:ext>
            </a:extLst>
          </p:cNvPr>
          <p:cNvSpPr/>
          <p:nvPr/>
        </p:nvSpPr>
        <p:spPr>
          <a:xfrm>
            <a:off x="833091" y="3743397"/>
            <a:ext cx="739085" cy="761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EC77E5D-6EE3-454C-6503-05DE626E79A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837" y="3876964"/>
            <a:ext cx="485593" cy="49434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D2861D70-1A73-98EC-F40E-E1DF9F58418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66" t="22062"/>
          <a:stretch/>
        </p:blipFill>
        <p:spPr>
          <a:xfrm>
            <a:off x="2412925" y="3884632"/>
            <a:ext cx="564775" cy="5288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1EF37E-C692-E315-F9F8-F67732B9DE34}"/>
              </a:ext>
            </a:extLst>
          </p:cNvPr>
          <p:cNvSpPr txBox="1"/>
          <p:nvPr/>
        </p:nvSpPr>
        <p:spPr>
          <a:xfrm>
            <a:off x="3520218" y="4541394"/>
            <a:ext cx="1539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processing &amp;</a:t>
            </a:r>
          </a:p>
          <a:p>
            <a:pPr algn="ctr"/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Transformation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03C3E6-1F1C-F7B8-4F95-7C98D8A2F9A9}"/>
              </a:ext>
            </a:extLst>
          </p:cNvPr>
          <p:cNvGrpSpPr/>
          <p:nvPr/>
        </p:nvGrpSpPr>
        <p:grpSpPr>
          <a:xfrm>
            <a:off x="4625498" y="3861833"/>
            <a:ext cx="606402" cy="743803"/>
            <a:chOff x="5673159" y="1302487"/>
            <a:chExt cx="593099" cy="94098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FE5478C-71D3-63C8-FA3C-62729CE9CA39}"/>
                </a:ext>
              </a:extLst>
            </p:cNvPr>
            <p:cNvGrpSpPr/>
            <p:nvPr/>
          </p:nvGrpSpPr>
          <p:grpSpPr>
            <a:xfrm>
              <a:off x="6266258" y="1302487"/>
              <a:ext cx="0" cy="940982"/>
              <a:chOff x="4973479" y="1302487"/>
              <a:chExt cx="0" cy="94098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B10B028-D099-0E75-982A-054F467A11E9}"/>
                  </a:ext>
                </a:extLst>
              </p:cNvPr>
              <p:cNvCxnSpPr/>
              <p:nvPr/>
            </p:nvCxnSpPr>
            <p:spPr>
              <a:xfrm flipV="1">
                <a:off x="4973479" y="1302487"/>
                <a:ext cx="0" cy="49328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413F83D-9A60-3A64-F6CB-D578942E5BBD}"/>
                  </a:ext>
                </a:extLst>
              </p:cNvPr>
              <p:cNvCxnSpPr/>
              <p:nvPr/>
            </p:nvCxnSpPr>
            <p:spPr>
              <a:xfrm flipV="1">
                <a:off x="4973479" y="1750187"/>
                <a:ext cx="0" cy="49328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DE2A1F-E8AF-0B67-2D3C-4552035E42AE}"/>
                </a:ext>
              </a:extLst>
            </p:cNvPr>
            <p:cNvCxnSpPr/>
            <p:nvPr/>
          </p:nvCxnSpPr>
          <p:spPr>
            <a:xfrm flipH="1">
              <a:off x="5673159" y="1748855"/>
              <a:ext cx="593099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0C780755-0E54-6D1E-3FF3-17FCAE132D31}"/>
              </a:ext>
            </a:extLst>
          </p:cNvPr>
          <p:cNvGrpSpPr/>
          <p:nvPr/>
        </p:nvGrpSpPr>
        <p:grpSpPr>
          <a:xfrm>
            <a:off x="5223972" y="3854883"/>
            <a:ext cx="542345" cy="741554"/>
            <a:chOff x="5223973" y="3854883"/>
            <a:chExt cx="511430" cy="741554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8209E0A-68D2-730B-A11A-641B2E33196A}"/>
                </a:ext>
              </a:extLst>
            </p:cNvPr>
            <p:cNvCxnSpPr>
              <a:cxnSpLocks/>
            </p:cNvCxnSpPr>
            <p:nvPr/>
          </p:nvCxnSpPr>
          <p:spPr>
            <a:xfrm>
              <a:off x="5223973" y="4596437"/>
              <a:ext cx="51143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37F3FCB-A087-B718-670F-0E24336AA165}"/>
                </a:ext>
              </a:extLst>
            </p:cNvPr>
            <p:cNvCxnSpPr>
              <a:cxnSpLocks/>
            </p:cNvCxnSpPr>
            <p:nvPr/>
          </p:nvCxnSpPr>
          <p:spPr>
            <a:xfrm>
              <a:off x="5223973" y="3854883"/>
              <a:ext cx="51143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9F34EAE-4210-3708-6328-D95DF29655E1}"/>
              </a:ext>
            </a:extLst>
          </p:cNvPr>
          <p:cNvSpPr txBox="1"/>
          <p:nvPr/>
        </p:nvSpPr>
        <p:spPr>
          <a:xfrm>
            <a:off x="6684537" y="3740583"/>
            <a:ext cx="1156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Database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0CA713-A357-4381-7585-8A8A948D35B6}"/>
              </a:ext>
            </a:extLst>
          </p:cNvPr>
          <p:cNvSpPr txBox="1"/>
          <p:nvPr/>
        </p:nvSpPr>
        <p:spPr>
          <a:xfrm>
            <a:off x="6684537" y="4433197"/>
            <a:ext cx="1156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Rule's engine</a:t>
            </a:r>
          </a:p>
        </p:txBody>
      </p:sp>
      <p:sp>
        <p:nvSpPr>
          <p:cNvPr id="83" name="Can 37">
            <a:extLst>
              <a:ext uri="{FF2B5EF4-FFF2-40B4-BE49-F238E27FC236}">
                <a16:creationId xmlns:a16="http://schemas.microsoft.com/office/drawing/2014/main" id="{07268467-77F8-EC78-EA0A-A8140BDBF6A7}"/>
              </a:ext>
            </a:extLst>
          </p:cNvPr>
          <p:cNvSpPr/>
          <p:nvPr/>
        </p:nvSpPr>
        <p:spPr>
          <a:xfrm>
            <a:off x="5850759" y="3642476"/>
            <a:ext cx="776253" cy="509110"/>
          </a:xfrm>
          <a:prstGeom prst="can">
            <a:avLst/>
          </a:prstGeom>
          <a:solidFill>
            <a:schemeClr val="accent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C37894C-1018-6CC3-A6CF-A2C1BF617351}"/>
              </a:ext>
            </a:extLst>
          </p:cNvPr>
          <p:cNvSpPr/>
          <p:nvPr/>
        </p:nvSpPr>
        <p:spPr>
          <a:xfrm>
            <a:off x="3920234" y="3776159"/>
            <a:ext cx="739085" cy="761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7127D2-1E97-B474-7D89-AFBE31D90BFE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54" r="16727"/>
          <a:stretch/>
        </p:blipFill>
        <p:spPr>
          <a:xfrm>
            <a:off x="4001356" y="3908744"/>
            <a:ext cx="576840" cy="496306"/>
          </a:xfrm>
          <a:prstGeom prst="rect">
            <a:avLst/>
          </a:prstGeom>
        </p:spPr>
      </p:pic>
      <p:pic>
        <p:nvPicPr>
          <p:cNvPr id="91" name="Picture 2" descr="Caribbean blue engine icon - Free caribbean blue engine icons">
            <a:extLst>
              <a:ext uri="{FF2B5EF4-FFF2-40B4-BE49-F238E27FC236}">
                <a16:creationId xmlns:a16="http://schemas.microsoft.com/office/drawing/2014/main" id="{8BB90DB9-CA71-BE42-CBC1-1D7755FA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67287" y="4159924"/>
            <a:ext cx="743197" cy="7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58057ACF-DF86-1113-588F-C28CF0021C5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074" y="3714124"/>
            <a:ext cx="535295" cy="535295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8ADDB605-1E99-764B-FD00-1133FBD60AD2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0753" y="3671704"/>
            <a:ext cx="620135" cy="620135"/>
          </a:xfrm>
          <a:prstGeom prst="rect">
            <a:avLst/>
          </a:prstGeom>
        </p:spPr>
      </p:pic>
      <p:pic>
        <p:nvPicPr>
          <p:cNvPr id="1027" name="Picture 12" descr="Azure API Management (@AzureApiMgmt) | Twitter">
            <a:extLst>
              <a:ext uri="{FF2B5EF4-FFF2-40B4-BE49-F238E27FC236}">
                <a16:creationId xmlns:a16="http://schemas.microsoft.com/office/drawing/2014/main" id="{8DBF2FE2-8DCC-32A1-20F1-196B064F6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88009" y="3672540"/>
            <a:ext cx="618463" cy="61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0BED1079-BB16-F6A0-770F-04EF31AE9DED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977" y="5296720"/>
            <a:ext cx="1116772" cy="759405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C68653D-1495-34FF-48B9-164553BABFDB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IN"/>
              <a:t>Device lifecycle Management platform – Services</a:t>
            </a:r>
          </a:p>
        </p:txBody>
      </p:sp>
    </p:spTree>
    <p:extLst>
      <p:ext uri="{BB962C8B-B14F-4D97-AF65-F5344CB8AC3E}">
        <p14:creationId xmlns:p14="http://schemas.microsoft.com/office/powerpoint/2010/main" val="4201842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D393-FA4A-CF03-2D35-30D3A72B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18A345-5C38-31BD-F767-80B02DF5FD69}"/>
              </a:ext>
            </a:extLst>
          </p:cNvPr>
          <p:cNvSpPr/>
          <p:nvPr/>
        </p:nvSpPr>
        <p:spPr>
          <a:xfrm>
            <a:off x="7039992" y="1067549"/>
            <a:ext cx="5152008" cy="5098301"/>
          </a:xfrm>
          <a:prstGeom prst="rect">
            <a:avLst/>
          </a:prstGeom>
          <a:solidFill>
            <a:schemeClr val="tx2">
              <a:lumMod val="10000"/>
              <a:lumOff val="90000"/>
              <a:alpha val="4976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38D15746-E451-720F-F377-3C04D9F9B5E7}"/>
              </a:ext>
            </a:extLst>
          </p:cNvPr>
          <p:cNvGraphicFramePr>
            <a:graphicFrameLocks/>
          </p:cNvGraphicFramePr>
          <p:nvPr/>
        </p:nvGraphicFramePr>
        <p:xfrm>
          <a:off x="7230491" y="2333436"/>
          <a:ext cx="4661472" cy="14078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61472">
                  <a:extLst>
                    <a:ext uri="{9D8B030D-6E8A-4147-A177-3AD203B41FA5}">
                      <a16:colId xmlns:a16="http://schemas.microsoft.com/office/drawing/2014/main" val="13307269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en-IN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Highlights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84398"/>
                  </a:ext>
                </a:extLst>
              </a:tr>
              <a:tr h="281758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Policy based enrollment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657926"/>
                  </a:ext>
                </a:extLst>
              </a:tr>
              <a:tr h="281758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Remote tracking and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45574"/>
                  </a:ext>
                </a:extLst>
              </a:tr>
              <a:tr h="281758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Securely manage user activities - device, applications and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775086"/>
                  </a:ext>
                </a:extLst>
              </a:tr>
              <a:tr h="281758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Built-in Heartbeat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6622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1096A3-C8F1-2EE9-9587-AFA837921793}"/>
              </a:ext>
            </a:extLst>
          </p:cNvPr>
          <p:cNvGraphicFramePr>
            <a:graphicFrameLocks/>
          </p:cNvGraphicFramePr>
          <p:nvPr/>
        </p:nvGraphicFramePr>
        <p:xfrm>
          <a:off x="7230491" y="3952290"/>
          <a:ext cx="2287433" cy="196064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287433">
                  <a:extLst>
                    <a:ext uri="{9D8B030D-6E8A-4147-A177-3AD203B41FA5}">
                      <a16:colId xmlns:a16="http://schemas.microsoft.com/office/drawing/2014/main" val="13307269"/>
                    </a:ext>
                  </a:extLst>
                </a:gridCol>
              </a:tblGrid>
              <a:tr h="2758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Device level features 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84398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pc="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Activity monitoring &amp;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657926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pc="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Call and data usage thresholds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4557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pc="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User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775086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pc="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Push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66226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pc="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Security &amp; configuration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32240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kern="1200" spc="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Remote distribution of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224569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0DF0EABF-DE63-1948-0981-F9A5CB7E5EAC}"/>
              </a:ext>
            </a:extLst>
          </p:cNvPr>
          <p:cNvGraphicFramePr>
            <a:graphicFrameLocks/>
          </p:cNvGraphicFramePr>
          <p:nvPr/>
        </p:nvGraphicFramePr>
        <p:xfrm>
          <a:off x="9665690" y="3941525"/>
          <a:ext cx="2248035" cy="169088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248035">
                  <a:extLst>
                    <a:ext uri="{9D8B030D-6E8A-4147-A177-3AD203B41FA5}">
                      <a16:colId xmlns:a16="http://schemas.microsoft.com/office/drawing/2014/main" val="13307269"/>
                    </a:ext>
                  </a:extLst>
                </a:gridCol>
              </a:tblGrid>
              <a:tr h="275845">
                <a:tc>
                  <a:txBody>
                    <a:bodyPr/>
                    <a:lstStyle/>
                    <a:p>
                      <a:r>
                        <a:rPr lang="en-IN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Application-level features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84398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en-US" sz="1100" spc="0" baseline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Policies to Control Access to 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657926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en-US" sz="1100" spc="0" baseline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Authentication Enforcement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24557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en-US" sz="1100" spc="0" baseline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Manage access to Device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775086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en-US" sz="1100" spc="0" baseline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Fingerprint and IRIS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22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6D4526F-09B1-DF4A-91E5-B85B92F00065}"/>
              </a:ext>
            </a:extLst>
          </p:cNvPr>
          <p:cNvSpPr txBox="1"/>
          <p:nvPr/>
        </p:nvSpPr>
        <p:spPr>
          <a:xfrm>
            <a:off x="7212320" y="1708362"/>
            <a:ext cx="4561359" cy="51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IN" sz="1200">
                <a:solidFill>
                  <a:srgbClr val="04040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Ari Mobile Device Management (MDM) is a complete enterprise mobility management solution</a:t>
            </a:r>
            <a:endParaRPr lang="en-IN" sz="120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1A5BAC-4F0C-AC70-0A81-D58B43CFA30A}"/>
              </a:ext>
            </a:extLst>
          </p:cNvPr>
          <p:cNvSpPr txBox="1"/>
          <p:nvPr/>
        </p:nvSpPr>
        <p:spPr>
          <a:xfrm>
            <a:off x="334963" y="1067549"/>
            <a:ext cx="3124200" cy="21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>
                <a:solidFill>
                  <a:srgbClr val="04040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Common Features</a:t>
            </a:r>
            <a:endParaRPr lang="en-IN" sz="1400" b="1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C2943-2A13-DB26-C89E-59E74945F4BF}"/>
              </a:ext>
            </a:extLst>
          </p:cNvPr>
          <p:cNvSpPr txBox="1"/>
          <p:nvPr/>
        </p:nvSpPr>
        <p:spPr>
          <a:xfrm>
            <a:off x="334497" y="1360210"/>
            <a:ext cx="4440703" cy="5785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>
                <a:solidFill>
                  <a:srgbClr val="04040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Enrolment, Provisioning, Enforcing Security policies, Enforcing Configuration Policies, Self Help Portal, Policies to control apps, Authentication enforcement, Monitoring and Reporting</a:t>
            </a:r>
            <a:endParaRPr lang="en-IN" sz="120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6" name="Graphic 13">
            <a:extLst>
              <a:ext uri="{FF2B5EF4-FFF2-40B4-BE49-F238E27FC236}">
                <a16:creationId xmlns:a16="http://schemas.microsoft.com/office/drawing/2014/main" id="{64C044FA-54C5-775E-C70A-F990E39CEFAD}"/>
              </a:ext>
            </a:extLst>
          </p:cNvPr>
          <p:cNvGrpSpPr/>
          <p:nvPr/>
        </p:nvGrpSpPr>
        <p:grpSpPr>
          <a:xfrm>
            <a:off x="4466160" y="1091554"/>
            <a:ext cx="2123527" cy="4247054"/>
            <a:chOff x="4466160" y="1091554"/>
            <a:chExt cx="2123527" cy="424705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B2510B3-9D89-B4D6-3BA9-1C9D69792DDE}"/>
                </a:ext>
              </a:extLst>
            </p:cNvPr>
            <p:cNvSpPr/>
            <p:nvPr/>
          </p:nvSpPr>
          <p:spPr>
            <a:xfrm>
              <a:off x="4466160" y="1091554"/>
              <a:ext cx="2123527" cy="4247054"/>
            </a:xfrm>
            <a:custGeom>
              <a:avLst/>
              <a:gdLst>
                <a:gd name="csX0" fmla="*/ 2123527 w 2123527"/>
                <a:gd name="csY0" fmla="*/ 0 h 4247054"/>
                <a:gd name="csX1" fmla="*/ 2123527 w 2123527"/>
                <a:gd name="csY1" fmla="*/ 4247055 h 4247054"/>
                <a:gd name="csX2" fmla="*/ 0 w 2123527"/>
                <a:gd name="csY2" fmla="*/ 2123527 h 4247054"/>
                <a:gd name="csX3" fmla="*/ 2123527 w 2123527"/>
                <a:gd name="csY3" fmla="*/ 0 h 4247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23527" h="4247054">
                  <a:moveTo>
                    <a:pt x="2123527" y="0"/>
                  </a:moveTo>
                  <a:lnTo>
                    <a:pt x="2123527" y="4247055"/>
                  </a:lnTo>
                  <a:cubicBezTo>
                    <a:pt x="950718" y="4247055"/>
                    <a:pt x="0" y="3296337"/>
                    <a:pt x="0" y="2123527"/>
                  </a:cubicBezTo>
                  <a:cubicBezTo>
                    <a:pt x="0" y="950718"/>
                    <a:pt x="950718" y="0"/>
                    <a:pt x="2123527" y="0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34506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941B641-3C1E-3089-3B5B-35AE8EF17661}"/>
                </a:ext>
              </a:extLst>
            </p:cNvPr>
            <p:cNvSpPr/>
            <p:nvPr/>
          </p:nvSpPr>
          <p:spPr>
            <a:xfrm>
              <a:off x="4943306" y="1568700"/>
              <a:ext cx="1646381" cy="3292763"/>
            </a:xfrm>
            <a:custGeom>
              <a:avLst/>
              <a:gdLst>
                <a:gd name="csX0" fmla="*/ 1646382 w 1646381"/>
                <a:gd name="csY0" fmla="*/ 0 h 3292763"/>
                <a:gd name="csX1" fmla="*/ 1646382 w 1646381"/>
                <a:gd name="csY1" fmla="*/ 3292764 h 3292763"/>
                <a:gd name="csX2" fmla="*/ 0 w 1646381"/>
                <a:gd name="csY2" fmla="*/ 1646382 h 3292763"/>
                <a:gd name="csX3" fmla="*/ 1646382 w 1646381"/>
                <a:gd name="csY3" fmla="*/ 0 h 3292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6381" h="3292763">
                  <a:moveTo>
                    <a:pt x="1646382" y="0"/>
                  </a:moveTo>
                  <a:lnTo>
                    <a:pt x="1646382" y="3292764"/>
                  </a:lnTo>
                  <a:cubicBezTo>
                    <a:pt x="737040" y="3292764"/>
                    <a:pt x="0" y="2555724"/>
                    <a:pt x="0" y="1646382"/>
                  </a:cubicBezTo>
                  <a:cubicBezTo>
                    <a:pt x="0" y="737040"/>
                    <a:pt x="737040" y="0"/>
                    <a:pt x="1646382" y="0"/>
                  </a:cubicBezTo>
                  <a:close/>
                </a:path>
              </a:pathLst>
            </a:custGeom>
            <a:solidFill>
              <a:srgbClr val="0070C0"/>
            </a:solidFill>
            <a:ln w="34506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2C260B3-C1B4-72A7-44F2-A85BD3128044}"/>
                </a:ext>
              </a:extLst>
            </p:cNvPr>
            <p:cNvSpPr/>
            <p:nvPr/>
          </p:nvSpPr>
          <p:spPr>
            <a:xfrm>
              <a:off x="5457101" y="2082495"/>
              <a:ext cx="1132586" cy="2265172"/>
            </a:xfrm>
            <a:custGeom>
              <a:avLst/>
              <a:gdLst>
                <a:gd name="csX0" fmla="*/ 1132586 w 1132586"/>
                <a:gd name="csY0" fmla="*/ 0 h 2265172"/>
                <a:gd name="csX1" fmla="*/ 1132586 w 1132586"/>
                <a:gd name="csY1" fmla="*/ 2265173 h 2265172"/>
                <a:gd name="csX2" fmla="*/ 0 w 1132586"/>
                <a:gd name="csY2" fmla="*/ 1132586 h 2265172"/>
                <a:gd name="csX3" fmla="*/ 1132586 w 1132586"/>
                <a:gd name="csY3" fmla="*/ 0 h 2265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32586" h="2265172">
                  <a:moveTo>
                    <a:pt x="1132586" y="0"/>
                  </a:moveTo>
                  <a:lnTo>
                    <a:pt x="1132586" y="2265173"/>
                  </a:lnTo>
                  <a:cubicBezTo>
                    <a:pt x="507111" y="2265173"/>
                    <a:pt x="0" y="1758062"/>
                    <a:pt x="0" y="1132586"/>
                  </a:cubicBezTo>
                  <a:cubicBezTo>
                    <a:pt x="0" y="507111"/>
                    <a:pt x="507111" y="0"/>
                    <a:pt x="1132586" y="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 w="34506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9666E32-AAA8-D927-4A6C-FEA60CB0EE97}"/>
                </a:ext>
              </a:extLst>
            </p:cNvPr>
            <p:cNvSpPr/>
            <p:nvPr/>
          </p:nvSpPr>
          <p:spPr>
            <a:xfrm>
              <a:off x="5997175" y="2622569"/>
              <a:ext cx="592513" cy="1185026"/>
            </a:xfrm>
            <a:custGeom>
              <a:avLst/>
              <a:gdLst>
                <a:gd name="csX0" fmla="*/ 592513 w 592513"/>
                <a:gd name="csY0" fmla="*/ 0 h 1185026"/>
                <a:gd name="csX1" fmla="*/ 592513 w 592513"/>
                <a:gd name="csY1" fmla="*/ 1185026 h 1185026"/>
                <a:gd name="csX2" fmla="*/ 0 w 592513"/>
                <a:gd name="csY2" fmla="*/ 592513 h 1185026"/>
                <a:gd name="csX3" fmla="*/ 592513 w 592513"/>
                <a:gd name="csY3" fmla="*/ 0 h 1185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513" h="1185026">
                  <a:moveTo>
                    <a:pt x="592513" y="0"/>
                  </a:moveTo>
                  <a:lnTo>
                    <a:pt x="592513" y="1185026"/>
                  </a:lnTo>
                  <a:cubicBezTo>
                    <a:pt x="265311" y="1185026"/>
                    <a:pt x="0" y="919715"/>
                    <a:pt x="0" y="592513"/>
                  </a:cubicBezTo>
                  <a:cubicBezTo>
                    <a:pt x="0" y="265311"/>
                    <a:pt x="265311" y="0"/>
                    <a:pt x="592513" y="0"/>
                  </a:cubicBezTo>
                  <a:close/>
                </a:path>
              </a:pathLst>
            </a:custGeom>
            <a:solidFill>
              <a:srgbClr val="FFFFFF"/>
            </a:solidFill>
            <a:ln w="34506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aphic 13">
            <a:extLst>
              <a:ext uri="{FF2B5EF4-FFF2-40B4-BE49-F238E27FC236}">
                <a16:creationId xmlns:a16="http://schemas.microsoft.com/office/drawing/2014/main" id="{65DCDC19-2379-AD7D-E095-7162675E5BE2}"/>
              </a:ext>
            </a:extLst>
          </p:cNvPr>
          <p:cNvGrpSpPr/>
          <p:nvPr/>
        </p:nvGrpSpPr>
        <p:grpSpPr>
          <a:xfrm>
            <a:off x="6289911" y="2856262"/>
            <a:ext cx="599525" cy="717716"/>
            <a:chOff x="6289911" y="2856262"/>
            <a:chExt cx="599525" cy="717716"/>
          </a:xfrm>
          <a:solidFill>
            <a:srgbClr val="1B1464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C6E020F-34A0-6CD5-624D-A7F98CE2C9A4}"/>
                </a:ext>
              </a:extLst>
            </p:cNvPr>
            <p:cNvSpPr/>
            <p:nvPr/>
          </p:nvSpPr>
          <p:spPr>
            <a:xfrm>
              <a:off x="6410073" y="3095104"/>
              <a:ext cx="359427" cy="478874"/>
            </a:xfrm>
            <a:custGeom>
              <a:avLst/>
              <a:gdLst>
                <a:gd name="csX0" fmla="*/ 98362 w 359427"/>
                <a:gd name="csY0" fmla="*/ 478759 h 478874"/>
                <a:gd name="csX1" fmla="*/ 65399 w 359427"/>
                <a:gd name="csY1" fmla="*/ 453980 h 478874"/>
                <a:gd name="csX2" fmla="*/ 59982 w 359427"/>
                <a:gd name="csY2" fmla="*/ 429085 h 478874"/>
                <a:gd name="csX3" fmla="*/ 59752 w 359427"/>
                <a:gd name="csY3" fmla="*/ 338036 h 478874"/>
                <a:gd name="csX4" fmla="*/ 59752 w 359427"/>
                <a:gd name="csY4" fmla="*/ 328931 h 478874"/>
                <a:gd name="csX5" fmla="*/ 31285 w 359427"/>
                <a:gd name="csY5" fmla="*/ 328931 h 478874"/>
                <a:gd name="csX6" fmla="*/ 51 w 359427"/>
                <a:gd name="csY6" fmla="*/ 297697 h 478874"/>
                <a:gd name="csX7" fmla="*/ 51 w 359427"/>
                <a:gd name="csY7" fmla="*/ 4034 h 478874"/>
                <a:gd name="csX8" fmla="*/ 282 w 359427"/>
                <a:gd name="csY8" fmla="*/ 0 h 478874"/>
                <a:gd name="csX9" fmla="*/ 359063 w 359427"/>
                <a:gd name="csY9" fmla="*/ 0 h 478874"/>
                <a:gd name="csX10" fmla="*/ 359409 w 359427"/>
                <a:gd name="csY10" fmla="*/ 6800 h 478874"/>
                <a:gd name="csX11" fmla="*/ 359178 w 359427"/>
                <a:gd name="csY11" fmla="*/ 294816 h 478874"/>
                <a:gd name="csX12" fmla="*/ 353992 w 359427"/>
                <a:gd name="csY12" fmla="*/ 316714 h 478874"/>
                <a:gd name="csX13" fmla="*/ 331633 w 359427"/>
                <a:gd name="csY13" fmla="*/ 328700 h 478874"/>
                <a:gd name="csX14" fmla="*/ 300053 w 359427"/>
                <a:gd name="csY14" fmla="*/ 328700 h 478874"/>
                <a:gd name="csX15" fmla="*/ 299593 w 359427"/>
                <a:gd name="csY15" fmla="*/ 337229 h 478874"/>
                <a:gd name="csX16" fmla="*/ 299823 w 359427"/>
                <a:gd name="csY16" fmla="*/ 422746 h 478874"/>
                <a:gd name="csX17" fmla="*/ 261098 w 359427"/>
                <a:gd name="csY17" fmla="*/ 478759 h 478874"/>
                <a:gd name="csX18" fmla="*/ 248536 w 359427"/>
                <a:gd name="csY18" fmla="*/ 478759 h 478874"/>
                <a:gd name="csX19" fmla="*/ 209580 w 359427"/>
                <a:gd name="csY19" fmla="*/ 422977 h 478874"/>
                <a:gd name="csX20" fmla="*/ 209811 w 359427"/>
                <a:gd name="csY20" fmla="*/ 336883 h 478874"/>
                <a:gd name="csX21" fmla="*/ 209465 w 359427"/>
                <a:gd name="csY21" fmla="*/ 329392 h 478874"/>
                <a:gd name="csX22" fmla="*/ 149995 w 359427"/>
                <a:gd name="csY22" fmla="*/ 329392 h 478874"/>
                <a:gd name="csX23" fmla="*/ 149995 w 359427"/>
                <a:gd name="csY23" fmla="*/ 338266 h 478874"/>
                <a:gd name="csX24" fmla="*/ 149764 w 359427"/>
                <a:gd name="csY24" fmla="*/ 428624 h 478874"/>
                <a:gd name="csX25" fmla="*/ 144232 w 359427"/>
                <a:gd name="csY25" fmla="*/ 454210 h 478874"/>
                <a:gd name="csX26" fmla="*/ 111270 w 359427"/>
                <a:gd name="csY26" fmla="*/ 478874 h 478874"/>
                <a:gd name="csX27" fmla="*/ 98707 w 359427"/>
                <a:gd name="csY27" fmla="*/ 478874 h 4788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59427" h="478874">
                  <a:moveTo>
                    <a:pt x="98362" y="478759"/>
                  </a:moveTo>
                  <a:cubicBezTo>
                    <a:pt x="84186" y="474725"/>
                    <a:pt x="71623" y="467925"/>
                    <a:pt x="65399" y="453980"/>
                  </a:cubicBezTo>
                  <a:cubicBezTo>
                    <a:pt x="62057" y="446373"/>
                    <a:pt x="60213" y="437499"/>
                    <a:pt x="59982" y="429085"/>
                  </a:cubicBezTo>
                  <a:cubicBezTo>
                    <a:pt x="59406" y="398774"/>
                    <a:pt x="59752" y="368347"/>
                    <a:pt x="59752" y="338036"/>
                  </a:cubicBezTo>
                  <a:cubicBezTo>
                    <a:pt x="59752" y="335269"/>
                    <a:pt x="59752" y="332504"/>
                    <a:pt x="59752" y="328931"/>
                  </a:cubicBezTo>
                  <a:cubicBezTo>
                    <a:pt x="49840" y="328931"/>
                    <a:pt x="40505" y="328931"/>
                    <a:pt x="31285" y="328931"/>
                  </a:cubicBezTo>
                  <a:cubicBezTo>
                    <a:pt x="11000" y="328700"/>
                    <a:pt x="51" y="317982"/>
                    <a:pt x="51" y="297697"/>
                  </a:cubicBezTo>
                  <a:cubicBezTo>
                    <a:pt x="-64" y="199848"/>
                    <a:pt x="51" y="101999"/>
                    <a:pt x="51" y="4034"/>
                  </a:cubicBezTo>
                  <a:cubicBezTo>
                    <a:pt x="51" y="2881"/>
                    <a:pt x="166" y="1729"/>
                    <a:pt x="282" y="0"/>
                  </a:cubicBezTo>
                  <a:lnTo>
                    <a:pt x="359063" y="0"/>
                  </a:lnTo>
                  <a:cubicBezTo>
                    <a:pt x="359063" y="2305"/>
                    <a:pt x="359409" y="4610"/>
                    <a:pt x="359409" y="6800"/>
                  </a:cubicBezTo>
                  <a:cubicBezTo>
                    <a:pt x="359409" y="102805"/>
                    <a:pt x="359524" y="198811"/>
                    <a:pt x="359178" y="294816"/>
                  </a:cubicBezTo>
                  <a:cubicBezTo>
                    <a:pt x="359178" y="302192"/>
                    <a:pt x="357334" y="310145"/>
                    <a:pt x="353992" y="316714"/>
                  </a:cubicBezTo>
                  <a:cubicBezTo>
                    <a:pt x="349727" y="325127"/>
                    <a:pt x="340968" y="328470"/>
                    <a:pt x="331633" y="328700"/>
                  </a:cubicBezTo>
                  <a:cubicBezTo>
                    <a:pt x="321375" y="328931"/>
                    <a:pt x="311118" y="328700"/>
                    <a:pt x="300053" y="328700"/>
                  </a:cubicBezTo>
                  <a:cubicBezTo>
                    <a:pt x="299823" y="331927"/>
                    <a:pt x="299593" y="334578"/>
                    <a:pt x="299593" y="337229"/>
                  </a:cubicBezTo>
                  <a:cubicBezTo>
                    <a:pt x="299593" y="365696"/>
                    <a:pt x="298901" y="394279"/>
                    <a:pt x="299823" y="422746"/>
                  </a:cubicBezTo>
                  <a:cubicBezTo>
                    <a:pt x="300745" y="450061"/>
                    <a:pt x="290949" y="470230"/>
                    <a:pt x="261098" y="478759"/>
                  </a:cubicBezTo>
                  <a:lnTo>
                    <a:pt x="248536" y="478759"/>
                  </a:lnTo>
                  <a:cubicBezTo>
                    <a:pt x="218800" y="470576"/>
                    <a:pt x="208773" y="450176"/>
                    <a:pt x="209580" y="422977"/>
                  </a:cubicBezTo>
                  <a:cubicBezTo>
                    <a:pt x="210387" y="394279"/>
                    <a:pt x="209811" y="365581"/>
                    <a:pt x="209811" y="336883"/>
                  </a:cubicBezTo>
                  <a:cubicBezTo>
                    <a:pt x="209811" y="334463"/>
                    <a:pt x="209580" y="331927"/>
                    <a:pt x="209465" y="329392"/>
                  </a:cubicBezTo>
                  <a:lnTo>
                    <a:pt x="149995" y="329392"/>
                  </a:lnTo>
                  <a:cubicBezTo>
                    <a:pt x="149995" y="332734"/>
                    <a:pt x="149995" y="335500"/>
                    <a:pt x="149995" y="338266"/>
                  </a:cubicBezTo>
                  <a:cubicBezTo>
                    <a:pt x="149995" y="368347"/>
                    <a:pt x="150341" y="398543"/>
                    <a:pt x="149764" y="428624"/>
                  </a:cubicBezTo>
                  <a:cubicBezTo>
                    <a:pt x="149534" y="437268"/>
                    <a:pt x="147574" y="446258"/>
                    <a:pt x="144232" y="454210"/>
                  </a:cubicBezTo>
                  <a:cubicBezTo>
                    <a:pt x="138124" y="468156"/>
                    <a:pt x="125561" y="474956"/>
                    <a:pt x="111270" y="478874"/>
                  </a:cubicBezTo>
                  <a:lnTo>
                    <a:pt x="98707" y="478874"/>
                  </a:lnTo>
                  <a:close/>
                </a:path>
              </a:pathLst>
            </a:custGeom>
            <a:solidFill>
              <a:srgbClr val="1B1464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19BCFF-549F-314B-B1F5-0E6DD0A8A973}"/>
                </a:ext>
              </a:extLst>
            </p:cNvPr>
            <p:cNvSpPr/>
            <p:nvPr/>
          </p:nvSpPr>
          <p:spPr>
            <a:xfrm>
              <a:off x="6409894" y="2856262"/>
              <a:ext cx="359818" cy="207954"/>
            </a:xfrm>
            <a:custGeom>
              <a:avLst/>
              <a:gdLst>
                <a:gd name="csX0" fmla="*/ 359703 w 359818"/>
                <a:gd name="csY0" fmla="*/ 207839 h 207954"/>
                <a:gd name="csX1" fmla="*/ 0 w 359818"/>
                <a:gd name="csY1" fmla="*/ 207839 h 207954"/>
                <a:gd name="csX2" fmla="*/ 74684 w 359818"/>
                <a:gd name="csY2" fmla="*/ 64004 h 207954"/>
                <a:gd name="csX3" fmla="*/ 37803 w 359818"/>
                <a:gd name="csY3" fmla="*/ 27008 h 207954"/>
                <a:gd name="csX4" fmla="*/ 35959 w 359818"/>
                <a:gd name="csY4" fmla="*/ 4764 h 207954"/>
                <a:gd name="csX5" fmla="*/ 58779 w 359818"/>
                <a:gd name="csY5" fmla="*/ 6263 h 207954"/>
                <a:gd name="csX6" fmla="*/ 92894 w 359818"/>
                <a:gd name="csY6" fmla="*/ 40493 h 207954"/>
                <a:gd name="csX7" fmla="*/ 107070 w 359818"/>
                <a:gd name="csY7" fmla="*/ 43259 h 207954"/>
                <a:gd name="csX8" fmla="*/ 252634 w 359818"/>
                <a:gd name="csY8" fmla="*/ 43259 h 207954"/>
                <a:gd name="csX9" fmla="*/ 266925 w 359818"/>
                <a:gd name="csY9" fmla="*/ 40608 h 207954"/>
                <a:gd name="csX10" fmla="*/ 301501 w 359818"/>
                <a:gd name="csY10" fmla="*/ 5917 h 207954"/>
                <a:gd name="csX11" fmla="*/ 317290 w 359818"/>
                <a:gd name="csY11" fmla="*/ 961 h 207954"/>
                <a:gd name="csX12" fmla="*/ 327778 w 359818"/>
                <a:gd name="csY12" fmla="*/ 12947 h 207954"/>
                <a:gd name="csX13" fmla="*/ 321555 w 359818"/>
                <a:gd name="csY13" fmla="*/ 27700 h 207954"/>
                <a:gd name="csX14" fmla="*/ 285020 w 359818"/>
                <a:gd name="csY14" fmla="*/ 64119 h 207954"/>
                <a:gd name="csX15" fmla="*/ 359818 w 359818"/>
                <a:gd name="csY15" fmla="*/ 207955 h 207954"/>
                <a:gd name="csX16" fmla="*/ 104880 w 359818"/>
                <a:gd name="csY16" fmla="*/ 155630 h 207954"/>
                <a:gd name="csX17" fmla="*/ 127123 w 359818"/>
                <a:gd name="csY17" fmla="*/ 133386 h 207954"/>
                <a:gd name="csX18" fmla="*/ 105110 w 359818"/>
                <a:gd name="csY18" fmla="*/ 110797 h 207954"/>
                <a:gd name="csX19" fmla="*/ 82521 w 359818"/>
                <a:gd name="csY19" fmla="*/ 133501 h 207954"/>
                <a:gd name="csX20" fmla="*/ 104880 w 359818"/>
                <a:gd name="csY20" fmla="*/ 155630 h 207954"/>
                <a:gd name="csX21" fmla="*/ 254939 w 359818"/>
                <a:gd name="csY21" fmla="*/ 155630 h 207954"/>
                <a:gd name="csX22" fmla="*/ 277182 w 359818"/>
                <a:gd name="csY22" fmla="*/ 133386 h 207954"/>
                <a:gd name="csX23" fmla="*/ 255054 w 359818"/>
                <a:gd name="csY23" fmla="*/ 110912 h 207954"/>
                <a:gd name="csX24" fmla="*/ 232464 w 359818"/>
                <a:gd name="csY24" fmla="*/ 133732 h 207954"/>
                <a:gd name="csX25" fmla="*/ 254939 w 359818"/>
                <a:gd name="csY25" fmla="*/ 155745 h 207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59818" h="207954">
                  <a:moveTo>
                    <a:pt x="359703" y="207839"/>
                  </a:moveTo>
                  <a:lnTo>
                    <a:pt x="0" y="207839"/>
                  </a:lnTo>
                  <a:cubicBezTo>
                    <a:pt x="1844" y="147677"/>
                    <a:pt x="26047" y="99732"/>
                    <a:pt x="74684" y="64004"/>
                  </a:cubicBezTo>
                  <a:cubicBezTo>
                    <a:pt x="62121" y="51442"/>
                    <a:pt x="49904" y="39340"/>
                    <a:pt x="37803" y="27008"/>
                  </a:cubicBezTo>
                  <a:cubicBezTo>
                    <a:pt x="30311" y="19401"/>
                    <a:pt x="29735" y="11218"/>
                    <a:pt x="35959" y="4764"/>
                  </a:cubicBezTo>
                  <a:cubicBezTo>
                    <a:pt x="42413" y="-2036"/>
                    <a:pt x="50711" y="-1575"/>
                    <a:pt x="58779" y="6263"/>
                  </a:cubicBezTo>
                  <a:cubicBezTo>
                    <a:pt x="70304" y="17557"/>
                    <a:pt x="81945" y="28737"/>
                    <a:pt x="92894" y="40493"/>
                  </a:cubicBezTo>
                  <a:cubicBezTo>
                    <a:pt x="97504" y="45333"/>
                    <a:pt x="101076" y="45794"/>
                    <a:pt x="107070" y="43259"/>
                  </a:cubicBezTo>
                  <a:cubicBezTo>
                    <a:pt x="155476" y="23320"/>
                    <a:pt x="204227" y="23320"/>
                    <a:pt x="252634" y="43259"/>
                  </a:cubicBezTo>
                  <a:cubicBezTo>
                    <a:pt x="258627" y="45679"/>
                    <a:pt x="262315" y="45448"/>
                    <a:pt x="266925" y="40608"/>
                  </a:cubicBezTo>
                  <a:cubicBezTo>
                    <a:pt x="278104" y="28737"/>
                    <a:pt x="289860" y="17327"/>
                    <a:pt x="301501" y="5917"/>
                  </a:cubicBezTo>
                  <a:cubicBezTo>
                    <a:pt x="305765" y="1652"/>
                    <a:pt x="310836" y="-1229"/>
                    <a:pt x="317290" y="961"/>
                  </a:cubicBezTo>
                  <a:cubicBezTo>
                    <a:pt x="323053" y="2920"/>
                    <a:pt x="326626" y="6839"/>
                    <a:pt x="327778" y="12947"/>
                  </a:cubicBezTo>
                  <a:cubicBezTo>
                    <a:pt x="328931" y="19171"/>
                    <a:pt x="325588" y="23666"/>
                    <a:pt x="321555" y="27700"/>
                  </a:cubicBezTo>
                  <a:cubicBezTo>
                    <a:pt x="309568" y="39686"/>
                    <a:pt x="297467" y="51787"/>
                    <a:pt x="285020" y="64119"/>
                  </a:cubicBezTo>
                  <a:cubicBezTo>
                    <a:pt x="333656" y="99732"/>
                    <a:pt x="357859" y="147793"/>
                    <a:pt x="359818" y="207955"/>
                  </a:cubicBezTo>
                  <a:close/>
                  <a:moveTo>
                    <a:pt x="104880" y="155630"/>
                  </a:moveTo>
                  <a:cubicBezTo>
                    <a:pt x="117212" y="155630"/>
                    <a:pt x="127123" y="145833"/>
                    <a:pt x="127123" y="133386"/>
                  </a:cubicBezTo>
                  <a:cubicBezTo>
                    <a:pt x="127123" y="121054"/>
                    <a:pt x="117327" y="111027"/>
                    <a:pt x="105110" y="110797"/>
                  </a:cubicBezTo>
                  <a:cubicBezTo>
                    <a:pt x="92778" y="110566"/>
                    <a:pt x="82406" y="120939"/>
                    <a:pt x="82521" y="133501"/>
                  </a:cubicBezTo>
                  <a:cubicBezTo>
                    <a:pt x="82636" y="145833"/>
                    <a:pt x="92548" y="155630"/>
                    <a:pt x="104880" y="155630"/>
                  </a:cubicBezTo>
                  <a:close/>
                  <a:moveTo>
                    <a:pt x="254939" y="155630"/>
                  </a:moveTo>
                  <a:cubicBezTo>
                    <a:pt x="267271" y="155630"/>
                    <a:pt x="277067" y="145718"/>
                    <a:pt x="277182" y="133386"/>
                  </a:cubicBezTo>
                  <a:cubicBezTo>
                    <a:pt x="277182" y="121169"/>
                    <a:pt x="267271" y="111027"/>
                    <a:pt x="255054" y="110912"/>
                  </a:cubicBezTo>
                  <a:cubicBezTo>
                    <a:pt x="242607" y="110797"/>
                    <a:pt x="232349" y="121169"/>
                    <a:pt x="232464" y="133732"/>
                  </a:cubicBezTo>
                  <a:cubicBezTo>
                    <a:pt x="232580" y="146064"/>
                    <a:pt x="242491" y="155860"/>
                    <a:pt x="254939" y="155745"/>
                  </a:cubicBezTo>
                  <a:close/>
                </a:path>
              </a:pathLst>
            </a:custGeom>
            <a:solidFill>
              <a:srgbClr val="1B1464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A18E87B-9CE7-62AC-4212-79BF28798338}"/>
                </a:ext>
              </a:extLst>
            </p:cNvPr>
            <p:cNvSpPr/>
            <p:nvPr/>
          </p:nvSpPr>
          <p:spPr>
            <a:xfrm>
              <a:off x="6289911" y="3094527"/>
              <a:ext cx="90017" cy="299132"/>
            </a:xfrm>
            <a:custGeom>
              <a:avLst/>
              <a:gdLst>
                <a:gd name="csX0" fmla="*/ 89902 w 90017"/>
                <a:gd name="csY0" fmla="*/ 149252 h 299132"/>
                <a:gd name="csX1" fmla="*/ 89902 w 90017"/>
                <a:gd name="csY1" fmla="*/ 252173 h 299132"/>
                <a:gd name="csX2" fmla="*/ 52445 w 90017"/>
                <a:gd name="csY2" fmla="*/ 298619 h 299132"/>
                <a:gd name="csX3" fmla="*/ 351 w 90017"/>
                <a:gd name="csY3" fmla="*/ 253556 h 299132"/>
                <a:gd name="csX4" fmla="*/ 351 w 90017"/>
                <a:gd name="csY4" fmla="*/ 46216 h 299132"/>
                <a:gd name="csX5" fmla="*/ 41150 w 90017"/>
                <a:gd name="csY5" fmla="*/ 231 h 299132"/>
                <a:gd name="csX6" fmla="*/ 88750 w 90017"/>
                <a:gd name="csY6" fmla="*/ 35152 h 299132"/>
                <a:gd name="csX7" fmla="*/ 90017 w 90017"/>
                <a:gd name="csY7" fmla="*/ 49789 h 299132"/>
                <a:gd name="csX8" fmla="*/ 90017 w 90017"/>
                <a:gd name="csY8" fmla="*/ 149252 h 299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0017" h="299132">
                  <a:moveTo>
                    <a:pt x="89902" y="149252"/>
                  </a:moveTo>
                  <a:cubicBezTo>
                    <a:pt x="89902" y="183597"/>
                    <a:pt x="90017" y="217943"/>
                    <a:pt x="89902" y="252173"/>
                  </a:cubicBezTo>
                  <a:cubicBezTo>
                    <a:pt x="89787" y="275915"/>
                    <a:pt x="73767" y="295507"/>
                    <a:pt x="52445" y="298619"/>
                  </a:cubicBezTo>
                  <a:cubicBezTo>
                    <a:pt x="24784" y="302653"/>
                    <a:pt x="581" y="282484"/>
                    <a:pt x="351" y="253556"/>
                  </a:cubicBezTo>
                  <a:cubicBezTo>
                    <a:pt x="-225" y="184404"/>
                    <a:pt x="5" y="115368"/>
                    <a:pt x="351" y="46216"/>
                  </a:cubicBezTo>
                  <a:cubicBezTo>
                    <a:pt x="466" y="21898"/>
                    <a:pt x="18100" y="2766"/>
                    <a:pt x="41150" y="231"/>
                  </a:cubicBezTo>
                  <a:cubicBezTo>
                    <a:pt x="62357" y="-2074"/>
                    <a:pt x="83333" y="13139"/>
                    <a:pt x="88750" y="35152"/>
                  </a:cubicBezTo>
                  <a:cubicBezTo>
                    <a:pt x="89902" y="39878"/>
                    <a:pt x="90017" y="44833"/>
                    <a:pt x="90017" y="49789"/>
                  </a:cubicBezTo>
                  <a:cubicBezTo>
                    <a:pt x="90017" y="82982"/>
                    <a:pt x="90017" y="116059"/>
                    <a:pt x="90017" y="149252"/>
                  </a:cubicBezTo>
                  <a:close/>
                </a:path>
              </a:pathLst>
            </a:custGeom>
            <a:solidFill>
              <a:srgbClr val="1B1464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0B669C-6EBA-C9C5-A422-6E07A0AB68E4}"/>
                </a:ext>
              </a:extLst>
            </p:cNvPr>
            <p:cNvSpPr/>
            <p:nvPr/>
          </p:nvSpPr>
          <p:spPr>
            <a:xfrm>
              <a:off x="6799563" y="3094613"/>
              <a:ext cx="89873" cy="299498"/>
            </a:xfrm>
            <a:custGeom>
              <a:avLst/>
              <a:gdLst>
                <a:gd name="csX0" fmla="*/ 115 w 89873"/>
                <a:gd name="csY0" fmla="*/ 149166 h 299498"/>
                <a:gd name="csX1" fmla="*/ 115 w 89873"/>
                <a:gd name="csY1" fmla="*/ 47629 h 299498"/>
                <a:gd name="csX2" fmla="*/ 29735 w 89873"/>
                <a:gd name="csY2" fmla="*/ 2796 h 299498"/>
                <a:gd name="csX3" fmla="*/ 89782 w 89873"/>
                <a:gd name="csY3" fmla="*/ 48205 h 299498"/>
                <a:gd name="csX4" fmla="*/ 89782 w 89873"/>
                <a:gd name="csY4" fmla="*/ 192501 h 299498"/>
                <a:gd name="csX5" fmla="*/ 88629 w 89873"/>
                <a:gd name="csY5" fmla="*/ 260385 h 299498"/>
                <a:gd name="csX6" fmla="*/ 43796 w 89873"/>
                <a:gd name="csY6" fmla="*/ 299456 h 299498"/>
                <a:gd name="csX7" fmla="*/ 461 w 89873"/>
                <a:gd name="csY7" fmla="*/ 257043 h 299498"/>
                <a:gd name="csX8" fmla="*/ 230 w 89873"/>
                <a:gd name="csY8" fmla="*/ 149166 h 299498"/>
                <a:gd name="csX9" fmla="*/ 0 w 89873"/>
                <a:gd name="csY9" fmla="*/ 149166 h 29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9873" h="299498">
                  <a:moveTo>
                    <a:pt x="115" y="149166"/>
                  </a:moveTo>
                  <a:cubicBezTo>
                    <a:pt x="115" y="115282"/>
                    <a:pt x="115" y="81398"/>
                    <a:pt x="115" y="47629"/>
                  </a:cubicBezTo>
                  <a:cubicBezTo>
                    <a:pt x="115" y="26538"/>
                    <a:pt x="11640" y="9365"/>
                    <a:pt x="29735" y="2796"/>
                  </a:cubicBezTo>
                  <a:cubicBezTo>
                    <a:pt x="59816" y="-8153"/>
                    <a:pt x="89666" y="14321"/>
                    <a:pt x="89782" y="48205"/>
                  </a:cubicBezTo>
                  <a:cubicBezTo>
                    <a:pt x="89897" y="96265"/>
                    <a:pt x="89897" y="144441"/>
                    <a:pt x="89782" y="192501"/>
                  </a:cubicBezTo>
                  <a:cubicBezTo>
                    <a:pt x="89782" y="215091"/>
                    <a:pt x="90358" y="237795"/>
                    <a:pt x="88629" y="260385"/>
                  </a:cubicBezTo>
                  <a:cubicBezTo>
                    <a:pt x="87016" y="282513"/>
                    <a:pt x="65002" y="300493"/>
                    <a:pt x="43796" y="299456"/>
                  </a:cubicBezTo>
                  <a:cubicBezTo>
                    <a:pt x="20630" y="298303"/>
                    <a:pt x="807" y="279863"/>
                    <a:pt x="461" y="257043"/>
                  </a:cubicBezTo>
                  <a:cubicBezTo>
                    <a:pt x="-231" y="221084"/>
                    <a:pt x="230" y="185125"/>
                    <a:pt x="230" y="149166"/>
                  </a:cubicBezTo>
                  <a:lnTo>
                    <a:pt x="0" y="149166"/>
                  </a:lnTo>
                  <a:close/>
                </a:path>
              </a:pathLst>
            </a:custGeom>
            <a:solidFill>
              <a:srgbClr val="1B1464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aphic 13">
            <a:extLst>
              <a:ext uri="{FF2B5EF4-FFF2-40B4-BE49-F238E27FC236}">
                <a16:creationId xmlns:a16="http://schemas.microsoft.com/office/drawing/2014/main" id="{DBC8FCD9-D74B-81B4-379D-F49F5C34CE4B}"/>
              </a:ext>
            </a:extLst>
          </p:cNvPr>
          <p:cNvGrpSpPr/>
          <p:nvPr/>
        </p:nvGrpSpPr>
        <p:grpSpPr>
          <a:xfrm>
            <a:off x="5685878" y="2820934"/>
            <a:ext cx="188916" cy="743247"/>
            <a:chOff x="5685878" y="2820934"/>
            <a:chExt cx="188916" cy="743247"/>
          </a:xfrm>
          <a:solidFill>
            <a:srgbClr val="FFFFFF"/>
          </a:solidFill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87FE6E5-58E0-CB6A-A138-0F3DC3B4BB37}"/>
                </a:ext>
              </a:extLst>
            </p:cNvPr>
            <p:cNvSpPr/>
            <p:nvPr/>
          </p:nvSpPr>
          <p:spPr>
            <a:xfrm>
              <a:off x="5715959" y="3434868"/>
              <a:ext cx="139570" cy="129313"/>
            </a:xfrm>
            <a:custGeom>
              <a:avLst/>
              <a:gdLst>
                <a:gd name="csX0" fmla="*/ 139456 w 139570"/>
                <a:gd name="csY0" fmla="*/ 89666 h 129313"/>
                <a:gd name="csX1" fmla="*/ 31003 w 139570"/>
                <a:gd name="csY1" fmla="*/ 129313 h 129313"/>
                <a:gd name="csX2" fmla="*/ 25010 w 139570"/>
                <a:gd name="csY2" fmla="*/ 112371 h 129313"/>
                <a:gd name="csX3" fmla="*/ 69843 w 139570"/>
                <a:gd name="csY3" fmla="*/ 96927 h 129313"/>
                <a:gd name="csX4" fmla="*/ 50250 w 139570"/>
                <a:gd name="csY4" fmla="*/ 32847 h 129313"/>
                <a:gd name="csX5" fmla="*/ 4495 w 139570"/>
                <a:gd name="csY5" fmla="*/ 45179 h 129313"/>
                <a:gd name="csX6" fmla="*/ 0 w 139570"/>
                <a:gd name="csY6" fmla="*/ 27891 h 129313"/>
                <a:gd name="csX7" fmla="*/ 112025 w 139570"/>
                <a:gd name="csY7" fmla="*/ 0 h 129313"/>
                <a:gd name="csX8" fmla="*/ 115944 w 139570"/>
                <a:gd name="csY8" fmla="*/ 15328 h 129313"/>
                <a:gd name="csX9" fmla="*/ 63389 w 139570"/>
                <a:gd name="csY9" fmla="*/ 29389 h 129313"/>
                <a:gd name="csX10" fmla="*/ 82751 w 139570"/>
                <a:gd name="csY10" fmla="*/ 92548 h 129313"/>
                <a:gd name="csX11" fmla="*/ 134269 w 139570"/>
                <a:gd name="csY11" fmla="*/ 74799 h 129313"/>
                <a:gd name="csX12" fmla="*/ 139571 w 139570"/>
                <a:gd name="csY12" fmla="*/ 89782 h 129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9570" h="129313">
                  <a:moveTo>
                    <a:pt x="139456" y="89666"/>
                  </a:moveTo>
                  <a:cubicBezTo>
                    <a:pt x="96005" y="105456"/>
                    <a:pt x="74338" y="113408"/>
                    <a:pt x="31003" y="129313"/>
                  </a:cubicBezTo>
                  <a:cubicBezTo>
                    <a:pt x="28583" y="122513"/>
                    <a:pt x="27315" y="119171"/>
                    <a:pt x="25010" y="112371"/>
                  </a:cubicBezTo>
                  <a:cubicBezTo>
                    <a:pt x="42989" y="106147"/>
                    <a:pt x="51864" y="103036"/>
                    <a:pt x="69843" y="96927"/>
                  </a:cubicBezTo>
                  <a:cubicBezTo>
                    <a:pt x="61084" y="71572"/>
                    <a:pt x="57165" y="58663"/>
                    <a:pt x="50250" y="32847"/>
                  </a:cubicBezTo>
                  <a:cubicBezTo>
                    <a:pt x="31925" y="37803"/>
                    <a:pt x="22820" y="40223"/>
                    <a:pt x="4495" y="45179"/>
                  </a:cubicBezTo>
                  <a:cubicBezTo>
                    <a:pt x="2651" y="38264"/>
                    <a:pt x="1729" y="34806"/>
                    <a:pt x="0" y="27891"/>
                  </a:cubicBezTo>
                  <a:cubicBezTo>
                    <a:pt x="44833" y="16712"/>
                    <a:pt x="67192" y="11064"/>
                    <a:pt x="112025" y="0"/>
                  </a:cubicBezTo>
                  <a:cubicBezTo>
                    <a:pt x="113524" y="6108"/>
                    <a:pt x="114330" y="9220"/>
                    <a:pt x="115944" y="15328"/>
                  </a:cubicBezTo>
                  <a:cubicBezTo>
                    <a:pt x="94968" y="20976"/>
                    <a:pt x="84365" y="23742"/>
                    <a:pt x="63389" y="29389"/>
                  </a:cubicBezTo>
                  <a:cubicBezTo>
                    <a:pt x="70189" y="54860"/>
                    <a:pt x="74107" y="67423"/>
                    <a:pt x="82751" y="92548"/>
                  </a:cubicBezTo>
                  <a:cubicBezTo>
                    <a:pt x="103382" y="85402"/>
                    <a:pt x="113639" y="81944"/>
                    <a:pt x="134269" y="74799"/>
                  </a:cubicBezTo>
                  <a:cubicBezTo>
                    <a:pt x="136344" y="80792"/>
                    <a:pt x="137381" y="83788"/>
                    <a:pt x="139571" y="89782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E12E9EB-F260-3D46-2ACD-0FCB638E33E6}"/>
                </a:ext>
              </a:extLst>
            </p:cNvPr>
            <p:cNvSpPr/>
            <p:nvPr/>
          </p:nvSpPr>
          <p:spPr>
            <a:xfrm>
              <a:off x="5729697" y="3337710"/>
              <a:ext cx="90564" cy="88514"/>
            </a:xfrm>
            <a:custGeom>
              <a:avLst/>
              <a:gdLst>
                <a:gd name="csX0" fmla="*/ 72125 w 90564"/>
                <a:gd name="csY0" fmla="*/ 19708 h 88514"/>
                <a:gd name="csX1" fmla="*/ 83996 w 90564"/>
                <a:gd name="csY1" fmla="*/ 33654 h 88514"/>
                <a:gd name="csX2" fmla="*/ 89643 w 90564"/>
                <a:gd name="csY2" fmla="*/ 48982 h 88514"/>
                <a:gd name="csX3" fmla="*/ 87454 w 90564"/>
                <a:gd name="csY3" fmla="*/ 71687 h 88514"/>
                <a:gd name="csX4" fmla="*/ 72356 w 90564"/>
                <a:gd name="csY4" fmla="*/ 82982 h 88514"/>
                <a:gd name="csX5" fmla="*/ 60715 w 90564"/>
                <a:gd name="csY5" fmla="*/ 82521 h 88514"/>
                <a:gd name="csX6" fmla="*/ 51034 w 90564"/>
                <a:gd name="csY6" fmla="*/ 76528 h 88514"/>
                <a:gd name="csX7" fmla="*/ 44234 w 90564"/>
                <a:gd name="csY7" fmla="*/ 66731 h 88514"/>
                <a:gd name="csX8" fmla="*/ 39509 w 90564"/>
                <a:gd name="csY8" fmla="*/ 53708 h 88514"/>
                <a:gd name="csX9" fmla="*/ 30058 w 90564"/>
                <a:gd name="csY9" fmla="*/ 27430 h 88514"/>
                <a:gd name="csX10" fmla="*/ 26370 w 90564"/>
                <a:gd name="csY10" fmla="*/ 27891 h 88514"/>
                <a:gd name="csX11" fmla="*/ 14960 w 90564"/>
                <a:gd name="csY11" fmla="*/ 34115 h 88514"/>
                <a:gd name="csX12" fmla="*/ 13231 w 90564"/>
                <a:gd name="csY12" fmla="*/ 52555 h 88514"/>
                <a:gd name="csX13" fmla="*/ 19685 w 90564"/>
                <a:gd name="csY13" fmla="*/ 67999 h 88514"/>
                <a:gd name="csX14" fmla="*/ 33400 w 90564"/>
                <a:gd name="csY14" fmla="*/ 73185 h 88514"/>
                <a:gd name="csX15" fmla="*/ 34783 w 90564"/>
                <a:gd name="csY15" fmla="*/ 88514 h 88514"/>
                <a:gd name="csX16" fmla="*/ 19224 w 90564"/>
                <a:gd name="csY16" fmla="*/ 84826 h 88514"/>
                <a:gd name="csX17" fmla="*/ 8160 w 90564"/>
                <a:gd name="csY17" fmla="*/ 72840 h 88514"/>
                <a:gd name="csX18" fmla="*/ 1245 w 90564"/>
                <a:gd name="csY18" fmla="*/ 52440 h 88514"/>
                <a:gd name="csX19" fmla="*/ 553 w 90564"/>
                <a:gd name="csY19" fmla="*/ 32732 h 88514"/>
                <a:gd name="csX20" fmla="*/ 5163 w 90564"/>
                <a:gd name="csY20" fmla="*/ 20861 h 88514"/>
                <a:gd name="csX21" fmla="*/ 14038 w 90564"/>
                <a:gd name="csY21" fmla="*/ 14637 h 88514"/>
                <a:gd name="csX22" fmla="*/ 26831 w 90564"/>
                <a:gd name="csY22" fmla="*/ 12102 h 88514"/>
                <a:gd name="csX23" fmla="*/ 45502 w 90564"/>
                <a:gd name="csY23" fmla="*/ 9451 h 88514"/>
                <a:gd name="csX24" fmla="*/ 70166 w 90564"/>
                <a:gd name="csY24" fmla="*/ 5071 h 88514"/>
                <a:gd name="csX25" fmla="*/ 79616 w 90564"/>
                <a:gd name="csY25" fmla="*/ 0 h 88514"/>
                <a:gd name="csX26" fmla="*/ 81806 w 90564"/>
                <a:gd name="csY26" fmla="*/ 15098 h 88514"/>
                <a:gd name="csX27" fmla="*/ 72010 w 90564"/>
                <a:gd name="csY27" fmla="*/ 19593 h 88514"/>
                <a:gd name="csX28" fmla="*/ 41007 w 90564"/>
                <a:gd name="csY28" fmla="*/ 25817 h 88514"/>
                <a:gd name="csX29" fmla="*/ 50458 w 90564"/>
                <a:gd name="csY29" fmla="*/ 49443 h 88514"/>
                <a:gd name="csX30" fmla="*/ 55759 w 90564"/>
                <a:gd name="csY30" fmla="*/ 61891 h 88514"/>
                <a:gd name="csX31" fmla="*/ 61407 w 90564"/>
                <a:gd name="csY31" fmla="*/ 66846 h 88514"/>
                <a:gd name="csX32" fmla="*/ 68437 w 90564"/>
                <a:gd name="csY32" fmla="*/ 67538 h 88514"/>
                <a:gd name="csX33" fmla="*/ 76735 w 90564"/>
                <a:gd name="csY33" fmla="*/ 61199 h 88514"/>
                <a:gd name="csX34" fmla="*/ 77888 w 90564"/>
                <a:gd name="csY34" fmla="*/ 47599 h 88514"/>
                <a:gd name="csX35" fmla="*/ 71664 w 90564"/>
                <a:gd name="csY35" fmla="*/ 33308 h 88514"/>
                <a:gd name="csX36" fmla="*/ 60369 w 90564"/>
                <a:gd name="csY36" fmla="*/ 25240 h 88514"/>
                <a:gd name="csX37" fmla="*/ 45963 w 90564"/>
                <a:gd name="csY37" fmla="*/ 25010 h 88514"/>
                <a:gd name="csX38" fmla="*/ 40776 w 90564"/>
                <a:gd name="csY38" fmla="*/ 25817 h 88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90564" h="88514">
                  <a:moveTo>
                    <a:pt x="72125" y="19708"/>
                  </a:moveTo>
                  <a:cubicBezTo>
                    <a:pt x="77427" y="24433"/>
                    <a:pt x="81345" y="29044"/>
                    <a:pt x="83996" y="33654"/>
                  </a:cubicBezTo>
                  <a:cubicBezTo>
                    <a:pt x="86647" y="38264"/>
                    <a:pt x="88491" y="43335"/>
                    <a:pt x="89643" y="48982"/>
                  </a:cubicBezTo>
                  <a:cubicBezTo>
                    <a:pt x="91372" y="58203"/>
                    <a:pt x="90681" y="65809"/>
                    <a:pt x="87454" y="71687"/>
                  </a:cubicBezTo>
                  <a:cubicBezTo>
                    <a:pt x="84111" y="77680"/>
                    <a:pt x="79155" y="81484"/>
                    <a:pt x="72356" y="82982"/>
                  </a:cubicBezTo>
                  <a:cubicBezTo>
                    <a:pt x="68322" y="83904"/>
                    <a:pt x="64518" y="83789"/>
                    <a:pt x="60715" y="82521"/>
                  </a:cubicBezTo>
                  <a:cubicBezTo>
                    <a:pt x="57027" y="81253"/>
                    <a:pt x="53800" y="79294"/>
                    <a:pt x="51034" y="76528"/>
                  </a:cubicBezTo>
                  <a:cubicBezTo>
                    <a:pt x="48383" y="73762"/>
                    <a:pt x="46078" y="70534"/>
                    <a:pt x="44234" y="66731"/>
                  </a:cubicBezTo>
                  <a:cubicBezTo>
                    <a:pt x="42851" y="63965"/>
                    <a:pt x="41353" y="59586"/>
                    <a:pt x="39509" y="53708"/>
                  </a:cubicBezTo>
                  <a:cubicBezTo>
                    <a:pt x="35936" y="41721"/>
                    <a:pt x="32824" y="32962"/>
                    <a:pt x="30058" y="27430"/>
                  </a:cubicBezTo>
                  <a:cubicBezTo>
                    <a:pt x="28099" y="27661"/>
                    <a:pt x="26946" y="27891"/>
                    <a:pt x="26370" y="27891"/>
                  </a:cubicBezTo>
                  <a:cubicBezTo>
                    <a:pt x="20607" y="28813"/>
                    <a:pt x="16919" y="30888"/>
                    <a:pt x="14960" y="34115"/>
                  </a:cubicBezTo>
                  <a:cubicBezTo>
                    <a:pt x="12424" y="38610"/>
                    <a:pt x="11848" y="44718"/>
                    <a:pt x="13231" y="52555"/>
                  </a:cubicBezTo>
                  <a:cubicBezTo>
                    <a:pt x="14499" y="59816"/>
                    <a:pt x="16804" y="65002"/>
                    <a:pt x="19685" y="67999"/>
                  </a:cubicBezTo>
                  <a:cubicBezTo>
                    <a:pt x="22682" y="70996"/>
                    <a:pt x="27292" y="72724"/>
                    <a:pt x="33400" y="73185"/>
                  </a:cubicBezTo>
                  <a:cubicBezTo>
                    <a:pt x="33861" y="79294"/>
                    <a:pt x="34207" y="82405"/>
                    <a:pt x="34783" y="88514"/>
                  </a:cubicBezTo>
                  <a:cubicBezTo>
                    <a:pt x="28675" y="88514"/>
                    <a:pt x="23488" y="87246"/>
                    <a:pt x="19224" y="84826"/>
                  </a:cubicBezTo>
                  <a:cubicBezTo>
                    <a:pt x="14960" y="82405"/>
                    <a:pt x="11272" y="78487"/>
                    <a:pt x="8160" y="72840"/>
                  </a:cubicBezTo>
                  <a:cubicBezTo>
                    <a:pt x="5048" y="67192"/>
                    <a:pt x="2743" y="60392"/>
                    <a:pt x="1245" y="52440"/>
                  </a:cubicBezTo>
                  <a:cubicBezTo>
                    <a:pt x="-138" y="44487"/>
                    <a:pt x="-369" y="37918"/>
                    <a:pt x="553" y="32732"/>
                  </a:cubicBezTo>
                  <a:cubicBezTo>
                    <a:pt x="1475" y="27545"/>
                    <a:pt x="2974" y="23627"/>
                    <a:pt x="5163" y="20861"/>
                  </a:cubicBezTo>
                  <a:cubicBezTo>
                    <a:pt x="7353" y="18095"/>
                    <a:pt x="10350" y="16020"/>
                    <a:pt x="14038" y="14637"/>
                  </a:cubicBezTo>
                  <a:cubicBezTo>
                    <a:pt x="16343" y="13715"/>
                    <a:pt x="20607" y="12908"/>
                    <a:pt x="26831" y="12102"/>
                  </a:cubicBezTo>
                  <a:cubicBezTo>
                    <a:pt x="34322" y="11064"/>
                    <a:pt x="38010" y="10488"/>
                    <a:pt x="45502" y="9451"/>
                  </a:cubicBezTo>
                  <a:cubicBezTo>
                    <a:pt x="58525" y="7607"/>
                    <a:pt x="66823" y="6108"/>
                    <a:pt x="70166" y="5071"/>
                  </a:cubicBezTo>
                  <a:cubicBezTo>
                    <a:pt x="73508" y="4034"/>
                    <a:pt x="76735" y="2305"/>
                    <a:pt x="79616" y="0"/>
                  </a:cubicBezTo>
                  <a:cubicBezTo>
                    <a:pt x="80423" y="5993"/>
                    <a:pt x="80884" y="8990"/>
                    <a:pt x="81806" y="15098"/>
                  </a:cubicBezTo>
                  <a:cubicBezTo>
                    <a:pt x="79155" y="17057"/>
                    <a:pt x="75928" y="18556"/>
                    <a:pt x="72010" y="19593"/>
                  </a:cubicBezTo>
                  <a:close/>
                  <a:moveTo>
                    <a:pt x="41007" y="25817"/>
                  </a:moveTo>
                  <a:cubicBezTo>
                    <a:pt x="43888" y="31003"/>
                    <a:pt x="47000" y="38840"/>
                    <a:pt x="50458" y="49443"/>
                  </a:cubicBezTo>
                  <a:cubicBezTo>
                    <a:pt x="52417" y="55436"/>
                    <a:pt x="54146" y="59586"/>
                    <a:pt x="55759" y="61891"/>
                  </a:cubicBezTo>
                  <a:cubicBezTo>
                    <a:pt x="57373" y="64196"/>
                    <a:pt x="59217" y="65809"/>
                    <a:pt x="61407" y="66846"/>
                  </a:cubicBezTo>
                  <a:cubicBezTo>
                    <a:pt x="63712" y="67769"/>
                    <a:pt x="66017" y="67999"/>
                    <a:pt x="68437" y="67538"/>
                  </a:cubicBezTo>
                  <a:cubicBezTo>
                    <a:pt x="72125" y="66731"/>
                    <a:pt x="74891" y="64657"/>
                    <a:pt x="76735" y="61199"/>
                  </a:cubicBezTo>
                  <a:cubicBezTo>
                    <a:pt x="78579" y="57741"/>
                    <a:pt x="79040" y="53247"/>
                    <a:pt x="77888" y="47599"/>
                  </a:cubicBezTo>
                  <a:cubicBezTo>
                    <a:pt x="76850" y="42067"/>
                    <a:pt x="74776" y="37227"/>
                    <a:pt x="71664" y="33308"/>
                  </a:cubicBezTo>
                  <a:cubicBezTo>
                    <a:pt x="68552" y="29389"/>
                    <a:pt x="64864" y="26623"/>
                    <a:pt x="60369" y="25240"/>
                  </a:cubicBezTo>
                  <a:cubicBezTo>
                    <a:pt x="56912" y="24203"/>
                    <a:pt x="52186" y="24088"/>
                    <a:pt x="45963" y="25010"/>
                  </a:cubicBezTo>
                  <a:cubicBezTo>
                    <a:pt x="43888" y="25356"/>
                    <a:pt x="42851" y="25471"/>
                    <a:pt x="40776" y="25817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F8E2153-1840-C95F-720B-B8DB4E74884E}"/>
                </a:ext>
              </a:extLst>
            </p:cNvPr>
            <p:cNvSpPr/>
            <p:nvPr/>
          </p:nvSpPr>
          <p:spPr>
            <a:xfrm>
              <a:off x="5718856" y="3278931"/>
              <a:ext cx="88497" cy="50826"/>
            </a:xfrm>
            <a:custGeom>
              <a:avLst/>
              <a:gdLst>
                <a:gd name="csX0" fmla="*/ 88382 w 88497"/>
                <a:gd name="csY0" fmla="*/ 41376 h 50826"/>
                <a:gd name="csX1" fmla="*/ 5285 w 88497"/>
                <a:gd name="csY1" fmla="*/ 50826 h 50826"/>
                <a:gd name="csX2" fmla="*/ 3787 w 88497"/>
                <a:gd name="csY2" fmla="*/ 36650 h 50826"/>
                <a:gd name="csX3" fmla="*/ 16465 w 88497"/>
                <a:gd name="csY3" fmla="*/ 35383 h 50826"/>
                <a:gd name="csX4" fmla="*/ 3787 w 88497"/>
                <a:gd name="csY4" fmla="*/ 26508 h 50826"/>
                <a:gd name="csX5" fmla="*/ 99 w 88497"/>
                <a:gd name="csY5" fmla="*/ 16596 h 50826"/>
                <a:gd name="csX6" fmla="*/ 3556 w 88497"/>
                <a:gd name="csY6" fmla="*/ 0 h 50826"/>
                <a:gd name="csX7" fmla="*/ 17041 w 88497"/>
                <a:gd name="csY7" fmla="*/ 4610 h 50826"/>
                <a:gd name="csX8" fmla="*/ 14851 w 88497"/>
                <a:gd name="csY8" fmla="*/ 16251 h 50826"/>
                <a:gd name="csX9" fmla="*/ 18424 w 88497"/>
                <a:gd name="csY9" fmla="*/ 25240 h 50826"/>
                <a:gd name="csX10" fmla="*/ 26722 w 88497"/>
                <a:gd name="csY10" fmla="*/ 30311 h 50826"/>
                <a:gd name="csX11" fmla="*/ 43434 w 88497"/>
                <a:gd name="csY11" fmla="*/ 31234 h 50826"/>
                <a:gd name="csX12" fmla="*/ 86999 w 88497"/>
                <a:gd name="csY12" fmla="*/ 26969 h 50826"/>
                <a:gd name="csX13" fmla="*/ 88497 w 88497"/>
                <a:gd name="csY13" fmla="*/ 41376 h 50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8497" h="50826">
                  <a:moveTo>
                    <a:pt x="88382" y="41376"/>
                  </a:moveTo>
                  <a:cubicBezTo>
                    <a:pt x="55074" y="45179"/>
                    <a:pt x="38478" y="47023"/>
                    <a:pt x="5285" y="50826"/>
                  </a:cubicBezTo>
                  <a:cubicBezTo>
                    <a:pt x="4594" y="45179"/>
                    <a:pt x="4363" y="42298"/>
                    <a:pt x="3787" y="36650"/>
                  </a:cubicBezTo>
                  <a:cubicBezTo>
                    <a:pt x="8858" y="36189"/>
                    <a:pt x="11394" y="35844"/>
                    <a:pt x="16465" y="35383"/>
                  </a:cubicBezTo>
                  <a:cubicBezTo>
                    <a:pt x="10241" y="32386"/>
                    <a:pt x="5977" y="29389"/>
                    <a:pt x="3787" y="26508"/>
                  </a:cubicBezTo>
                  <a:cubicBezTo>
                    <a:pt x="1597" y="23627"/>
                    <a:pt x="445" y="20285"/>
                    <a:pt x="99" y="16596"/>
                  </a:cubicBezTo>
                  <a:cubicBezTo>
                    <a:pt x="-362" y="11295"/>
                    <a:pt x="790" y="5647"/>
                    <a:pt x="3556" y="0"/>
                  </a:cubicBezTo>
                  <a:cubicBezTo>
                    <a:pt x="8973" y="1844"/>
                    <a:pt x="11624" y="2766"/>
                    <a:pt x="17041" y="4610"/>
                  </a:cubicBezTo>
                  <a:cubicBezTo>
                    <a:pt x="15312" y="8529"/>
                    <a:pt x="14505" y="12447"/>
                    <a:pt x="14851" y="16251"/>
                  </a:cubicBezTo>
                  <a:cubicBezTo>
                    <a:pt x="15082" y="19708"/>
                    <a:pt x="16349" y="22705"/>
                    <a:pt x="18424" y="25240"/>
                  </a:cubicBezTo>
                  <a:cubicBezTo>
                    <a:pt x="20499" y="27776"/>
                    <a:pt x="23265" y="29505"/>
                    <a:pt x="26722" y="30311"/>
                  </a:cubicBezTo>
                  <a:cubicBezTo>
                    <a:pt x="31908" y="31579"/>
                    <a:pt x="37441" y="31810"/>
                    <a:pt x="43434" y="31234"/>
                  </a:cubicBezTo>
                  <a:cubicBezTo>
                    <a:pt x="60837" y="29505"/>
                    <a:pt x="69596" y="28698"/>
                    <a:pt x="86999" y="26969"/>
                  </a:cubicBezTo>
                  <a:cubicBezTo>
                    <a:pt x="87575" y="32732"/>
                    <a:pt x="87921" y="35613"/>
                    <a:pt x="88497" y="41376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3509B0D-4514-A6A2-D53D-46DE275A23FC}"/>
                </a:ext>
              </a:extLst>
            </p:cNvPr>
            <p:cNvSpPr/>
            <p:nvPr/>
          </p:nvSpPr>
          <p:spPr>
            <a:xfrm>
              <a:off x="5685878" y="3193645"/>
              <a:ext cx="117557" cy="79514"/>
            </a:xfrm>
            <a:custGeom>
              <a:avLst/>
              <a:gdLst>
                <a:gd name="csX0" fmla="*/ 115598 w 117557"/>
                <a:gd name="csY0" fmla="*/ 16251 h 79514"/>
                <a:gd name="csX1" fmla="*/ 104995 w 117557"/>
                <a:gd name="csY1" fmla="*/ 16135 h 79514"/>
                <a:gd name="csX2" fmla="*/ 117558 w 117557"/>
                <a:gd name="csY2" fmla="*/ 40108 h 79514"/>
                <a:gd name="csX3" fmla="*/ 112486 w 117557"/>
                <a:gd name="csY3" fmla="*/ 59125 h 79514"/>
                <a:gd name="csX4" fmla="*/ 97734 w 117557"/>
                <a:gd name="csY4" fmla="*/ 73301 h 79514"/>
                <a:gd name="csX5" fmla="*/ 75260 w 117557"/>
                <a:gd name="csY5" fmla="*/ 79409 h 79514"/>
                <a:gd name="csX6" fmla="*/ 52325 w 117557"/>
                <a:gd name="csY6" fmla="*/ 76182 h 79514"/>
                <a:gd name="csX7" fmla="*/ 36074 w 117557"/>
                <a:gd name="csY7" fmla="*/ 63043 h 79514"/>
                <a:gd name="csX8" fmla="*/ 30081 w 117557"/>
                <a:gd name="csY8" fmla="*/ 42298 h 79514"/>
                <a:gd name="csX9" fmla="*/ 33077 w 117557"/>
                <a:gd name="csY9" fmla="*/ 27200 h 79514"/>
                <a:gd name="csX10" fmla="*/ 41491 w 117557"/>
                <a:gd name="csY10" fmla="*/ 16596 h 79514"/>
                <a:gd name="csX11" fmla="*/ 0 w 117557"/>
                <a:gd name="csY11" fmla="*/ 16251 h 79514"/>
                <a:gd name="csX12" fmla="*/ 230 w 117557"/>
                <a:gd name="csY12" fmla="*/ 0 h 79514"/>
                <a:gd name="csX13" fmla="*/ 115714 w 117557"/>
                <a:gd name="csY13" fmla="*/ 2997 h 79514"/>
                <a:gd name="csX14" fmla="*/ 115483 w 117557"/>
                <a:gd name="csY14" fmla="*/ 16481 h 79514"/>
                <a:gd name="csX15" fmla="*/ 74568 w 117557"/>
                <a:gd name="csY15" fmla="*/ 63735 h 79514"/>
                <a:gd name="csX16" fmla="*/ 98310 w 117557"/>
                <a:gd name="csY16" fmla="*/ 55667 h 79514"/>
                <a:gd name="csX17" fmla="*/ 105917 w 117557"/>
                <a:gd name="csY17" fmla="*/ 38840 h 79514"/>
                <a:gd name="csX18" fmla="*/ 98195 w 117557"/>
                <a:gd name="csY18" fmla="*/ 22474 h 79514"/>
                <a:gd name="csX19" fmla="*/ 75029 w 117557"/>
                <a:gd name="csY19" fmla="*/ 15444 h 79514"/>
                <a:gd name="csX20" fmla="*/ 49789 w 117557"/>
                <a:gd name="csY20" fmla="*/ 22474 h 79514"/>
                <a:gd name="csX21" fmla="*/ 41837 w 117557"/>
                <a:gd name="csY21" fmla="*/ 40454 h 79514"/>
                <a:gd name="csX22" fmla="*/ 50020 w 117557"/>
                <a:gd name="csY22" fmla="*/ 57741 h 79514"/>
                <a:gd name="csX23" fmla="*/ 74568 w 117557"/>
                <a:gd name="csY23" fmla="*/ 63735 h 79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557" h="79514">
                  <a:moveTo>
                    <a:pt x="115598" y="16251"/>
                  </a:moveTo>
                  <a:cubicBezTo>
                    <a:pt x="111334" y="16251"/>
                    <a:pt x="109259" y="16251"/>
                    <a:pt x="104995" y="16135"/>
                  </a:cubicBezTo>
                  <a:cubicBezTo>
                    <a:pt x="113293" y="21668"/>
                    <a:pt x="117327" y="29620"/>
                    <a:pt x="117558" y="40108"/>
                  </a:cubicBezTo>
                  <a:cubicBezTo>
                    <a:pt x="117558" y="46908"/>
                    <a:pt x="116059" y="53247"/>
                    <a:pt x="112486" y="59125"/>
                  </a:cubicBezTo>
                  <a:cubicBezTo>
                    <a:pt x="109029" y="65002"/>
                    <a:pt x="104073" y="69728"/>
                    <a:pt x="97734" y="73301"/>
                  </a:cubicBezTo>
                  <a:cubicBezTo>
                    <a:pt x="91280" y="76873"/>
                    <a:pt x="83904" y="78948"/>
                    <a:pt x="75260" y="79409"/>
                  </a:cubicBezTo>
                  <a:cubicBezTo>
                    <a:pt x="66962" y="79870"/>
                    <a:pt x="59240" y="78833"/>
                    <a:pt x="52325" y="76182"/>
                  </a:cubicBezTo>
                  <a:cubicBezTo>
                    <a:pt x="45409" y="73531"/>
                    <a:pt x="39877" y="69152"/>
                    <a:pt x="36074" y="63043"/>
                  </a:cubicBezTo>
                  <a:cubicBezTo>
                    <a:pt x="32271" y="56935"/>
                    <a:pt x="30196" y="50020"/>
                    <a:pt x="30081" y="42298"/>
                  </a:cubicBezTo>
                  <a:cubicBezTo>
                    <a:pt x="30081" y="36650"/>
                    <a:pt x="31003" y="31579"/>
                    <a:pt x="33077" y="27200"/>
                  </a:cubicBezTo>
                  <a:cubicBezTo>
                    <a:pt x="35152" y="22820"/>
                    <a:pt x="38033" y="19247"/>
                    <a:pt x="41491" y="16596"/>
                  </a:cubicBezTo>
                  <a:cubicBezTo>
                    <a:pt x="24894" y="16481"/>
                    <a:pt x="16596" y="16366"/>
                    <a:pt x="0" y="16251"/>
                  </a:cubicBezTo>
                  <a:cubicBezTo>
                    <a:pt x="0" y="9797"/>
                    <a:pt x="115" y="6454"/>
                    <a:pt x="230" y="0"/>
                  </a:cubicBezTo>
                  <a:cubicBezTo>
                    <a:pt x="46447" y="1153"/>
                    <a:pt x="69497" y="1729"/>
                    <a:pt x="115714" y="2997"/>
                  </a:cubicBezTo>
                  <a:cubicBezTo>
                    <a:pt x="115598" y="8413"/>
                    <a:pt x="115483" y="11064"/>
                    <a:pt x="115483" y="16481"/>
                  </a:cubicBezTo>
                  <a:close/>
                  <a:moveTo>
                    <a:pt x="74568" y="63735"/>
                  </a:moveTo>
                  <a:cubicBezTo>
                    <a:pt x="85287" y="63274"/>
                    <a:pt x="93124" y="60623"/>
                    <a:pt x="98310" y="55667"/>
                  </a:cubicBezTo>
                  <a:cubicBezTo>
                    <a:pt x="103497" y="50711"/>
                    <a:pt x="105917" y="45179"/>
                    <a:pt x="105917" y="38840"/>
                  </a:cubicBezTo>
                  <a:cubicBezTo>
                    <a:pt x="105917" y="32386"/>
                    <a:pt x="103266" y="26969"/>
                    <a:pt x="98195" y="22474"/>
                  </a:cubicBezTo>
                  <a:cubicBezTo>
                    <a:pt x="93124" y="17979"/>
                    <a:pt x="85402" y="15559"/>
                    <a:pt x="75029" y="15444"/>
                  </a:cubicBezTo>
                  <a:cubicBezTo>
                    <a:pt x="63619" y="15329"/>
                    <a:pt x="55091" y="17634"/>
                    <a:pt x="49789" y="22474"/>
                  </a:cubicBezTo>
                  <a:cubicBezTo>
                    <a:pt x="44487" y="27315"/>
                    <a:pt x="41721" y="33308"/>
                    <a:pt x="41837" y="40454"/>
                  </a:cubicBezTo>
                  <a:cubicBezTo>
                    <a:pt x="41837" y="47484"/>
                    <a:pt x="44718" y="53247"/>
                    <a:pt x="50020" y="57741"/>
                  </a:cubicBezTo>
                  <a:cubicBezTo>
                    <a:pt x="55321" y="62236"/>
                    <a:pt x="63504" y="64196"/>
                    <a:pt x="74568" y="63735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97CA5F8-673F-422C-53EF-4B76254CB680}"/>
                </a:ext>
              </a:extLst>
            </p:cNvPr>
            <p:cNvSpPr/>
            <p:nvPr/>
          </p:nvSpPr>
          <p:spPr>
            <a:xfrm>
              <a:off x="5718494" y="3052921"/>
              <a:ext cx="91856" cy="127815"/>
            </a:xfrm>
            <a:custGeom>
              <a:avLst/>
              <a:gdLst>
                <a:gd name="csX0" fmla="*/ 85056 w 91856"/>
                <a:gd name="csY0" fmla="*/ 104995 h 127815"/>
                <a:gd name="csX1" fmla="*/ 0 w 91856"/>
                <a:gd name="csY1" fmla="*/ 127815 h 127815"/>
                <a:gd name="csX2" fmla="*/ 807 w 91856"/>
                <a:gd name="csY2" fmla="*/ 111449 h 127815"/>
                <a:gd name="csX3" fmla="*/ 49904 w 91856"/>
                <a:gd name="csY3" fmla="*/ 100039 h 127815"/>
                <a:gd name="csX4" fmla="*/ 68229 w 91856"/>
                <a:gd name="csY4" fmla="*/ 96121 h 127815"/>
                <a:gd name="csX5" fmla="*/ 51403 w 91856"/>
                <a:gd name="csY5" fmla="*/ 90243 h 127815"/>
                <a:gd name="csX6" fmla="*/ 3919 w 91856"/>
                <a:gd name="csY6" fmla="*/ 71341 h 127815"/>
                <a:gd name="csX7" fmla="*/ 5647 w 91856"/>
                <a:gd name="csY7" fmla="*/ 55091 h 127815"/>
                <a:gd name="csX8" fmla="*/ 55436 w 91856"/>
                <a:gd name="csY8" fmla="*/ 47369 h 127815"/>
                <a:gd name="csX9" fmla="*/ 71918 w 91856"/>
                <a:gd name="csY9" fmla="*/ 45064 h 127815"/>
                <a:gd name="csX10" fmla="*/ 56589 w 91856"/>
                <a:gd name="csY10" fmla="*/ 37803 h 127815"/>
                <a:gd name="csX11" fmla="*/ 11064 w 91856"/>
                <a:gd name="csY11" fmla="*/ 15213 h 127815"/>
                <a:gd name="csX12" fmla="*/ 13600 w 91856"/>
                <a:gd name="csY12" fmla="*/ 0 h 127815"/>
                <a:gd name="csX13" fmla="*/ 91856 w 91856"/>
                <a:gd name="csY13" fmla="*/ 40684 h 127815"/>
                <a:gd name="csX14" fmla="*/ 89897 w 91856"/>
                <a:gd name="csY14" fmla="*/ 55667 h 127815"/>
                <a:gd name="csX15" fmla="*/ 38494 w 91856"/>
                <a:gd name="csY15" fmla="*/ 63735 h 127815"/>
                <a:gd name="csX16" fmla="*/ 23972 w 91856"/>
                <a:gd name="csY16" fmla="*/ 65694 h 127815"/>
                <a:gd name="csX17" fmla="*/ 86324 w 91856"/>
                <a:gd name="csY17" fmla="*/ 89782 h 127815"/>
                <a:gd name="csX18" fmla="*/ 85172 w 91856"/>
                <a:gd name="csY18" fmla="*/ 104880 h 127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1856" h="127815">
                  <a:moveTo>
                    <a:pt x="85056" y="104995"/>
                  </a:moveTo>
                  <a:cubicBezTo>
                    <a:pt x="50942" y="113063"/>
                    <a:pt x="33884" y="117673"/>
                    <a:pt x="0" y="127815"/>
                  </a:cubicBezTo>
                  <a:cubicBezTo>
                    <a:pt x="230" y="121246"/>
                    <a:pt x="461" y="118019"/>
                    <a:pt x="807" y="111449"/>
                  </a:cubicBezTo>
                  <a:cubicBezTo>
                    <a:pt x="20400" y="106609"/>
                    <a:pt x="30196" y="104304"/>
                    <a:pt x="49904" y="100039"/>
                  </a:cubicBezTo>
                  <a:cubicBezTo>
                    <a:pt x="57165" y="98426"/>
                    <a:pt x="60853" y="97734"/>
                    <a:pt x="68229" y="96121"/>
                  </a:cubicBezTo>
                  <a:cubicBezTo>
                    <a:pt x="67307" y="95775"/>
                    <a:pt x="61775" y="93931"/>
                    <a:pt x="51403" y="90243"/>
                  </a:cubicBezTo>
                  <a:cubicBezTo>
                    <a:pt x="32386" y="82982"/>
                    <a:pt x="22820" y="79179"/>
                    <a:pt x="3919" y="71341"/>
                  </a:cubicBezTo>
                  <a:cubicBezTo>
                    <a:pt x="4610" y="64887"/>
                    <a:pt x="4956" y="61660"/>
                    <a:pt x="5647" y="55091"/>
                  </a:cubicBezTo>
                  <a:cubicBezTo>
                    <a:pt x="25586" y="51748"/>
                    <a:pt x="35498" y="50250"/>
                    <a:pt x="55436" y="47369"/>
                  </a:cubicBezTo>
                  <a:cubicBezTo>
                    <a:pt x="62006" y="46447"/>
                    <a:pt x="65348" y="45986"/>
                    <a:pt x="71918" y="45064"/>
                  </a:cubicBezTo>
                  <a:cubicBezTo>
                    <a:pt x="65809" y="42182"/>
                    <a:pt x="62697" y="40799"/>
                    <a:pt x="56589" y="37803"/>
                  </a:cubicBezTo>
                  <a:cubicBezTo>
                    <a:pt x="38264" y="29044"/>
                    <a:pt x="29159" y="24549"/>
                    <a:pt x="11064" y="15213"/>
                  </a:cubicBezTo>
                  <a:cubicBezTo>
                    <a:pt x="11986" y="9105"/>
                    <a:pt x="12562" y="6109"/>
                    <a:pt x="13600" y="0"/>
                  </a:cubicBezTo>
                  <a:cubicBezTo>
                    <a:pt x="44603" y="17288"/>
                    <a:pt x="60277" y="25356"/>
                    <a:pt x="91856" y="40684"/>
                  </a:cubicBezTo>
                  <a:cubicBezTo>
                    <a:pt x="91049" y="46677"/>
                    <a:pt x="90588" y="49674"/>
                    <a:pt x="89897" y="55667"/>
                  </a:cubicBezTo>
                  <a:cubicBezTo>
                    <a:pt x="69382" y="58548"/>
                    <a:pt x="59009" y="60162"/>
                    <a:pt x="38494" y="63735"/>
                  </a:cubicBezTo>
                  <a:cubicBezTo>
                    <a:pt x="32616" y="64541"/>
                    <a:pt x="29735" y="64887"/>
                    <a:pt x="23972" y="65694"/>
                  </a:cubicBezTo>
                  <a:cubicBezTo>
                    <a:pt x="48752" y="75836"/>
                    <a:pt x="61314" y="80562"/>
                    <a:pt x="86324" y="89782"/>
                  </a:cubicBezTo>
                  <a:cubicBezTo>
                    <a:pt x="85863" y="95775"/>
                    <a:pt x="85517" y="98887"/>
                    <a:pt x="85172" y="104880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97468BC-6DCF-0566-98BA-2F04D1C57F2A}"/>
                </a:ext>
              </a:extLst>
            </p:cNvPr>
            <p:cNvSpPr/>
            <p:nvPr/>
          </p:nvSpPr>
          <p:spPr>
            <a:xfrm>
              <a:off x="5738954" y="2970966"/>
              <a:ext cx="94561" cy="85734"/>
            </a:xfrm>
            <a:custGeom>
              <a:avLst/>
              <a:gdLst>
                <a:gd name="csX0" fmla="*/ 79810 w 94561"/>
                <a:gd name="csY0" fmla="*/ 27210 h 85734"/>
                <a:gd name="csX1" fmla="*/ 85226 w 94561"/>
                <a:gd name="csY1" fmla="*/ 44729 h 85734"/>
                <a:gd name="csX2" fmla="*/ 84420 w 94561"/>
                <a:gd name="csY2" fmla="*/ 60979 h 85734"/>
                <a:gd name="csX3" fmla="*/ 73471 w 94561"/>
                <a:gd name="csY3" fmla="*/ 80918 h 85734"/>
                <a:gd name="csX4" fmla="*/ 55145 w 94561"/>
                <a:gd name="csY4" fmla="*/ 85298 h 85734"/>
                <a:gd name="csX5" fmla="*/ 44657 w 94561"/>
                <a:gd name="csY5" fmla="*/ 80342 h 85734"/>
                <a:gd name="csX6" fmla="*/ 38088 w 94561"/>
                <a:gd name="csY6" fmla="*/ 71122 h 85734"/>
                <a:gd name="csX7" fmla="*/ 35668 w 94561"/>
                <a:gd name="csY7" fmla="*/ 59481 h 85734"/>
                <a:gd name="csX8" fmla="*/ 36475 w 94561"/>
                <a:gd name="csY8" fmla="*/ 45766 h 85734"/>
                <a:gd name="csX9" fmla="*/ 38088 w 94561"/>
                <a:gd name="csY9" fmla="*/ 17990 h 85734"/>
                <a:gd name="csX10" fmla="*/ 34515 w 94561"/>
                <a:gd name="csY10" fmla="*/ 16953 h 85734"/>
                <a:gd name="csX11" fmla="*/ 21607 w 94561"/>
                <a:gd name="csY11" fmla="*/ 18336 h 85734"/>
                <a:gd name="csX12" fmla="*/ 12848 w 94561"/>
                <a:gd name="csY12" fmla="*/ 34702 h 85734"/>
                <a:gd name="csX13" fmla="*/ 12848 w 94561"/>
                <a:gd name="csY13" fmla="*/ 51413 h 85734"/>
                <a:gd name="csX14" fmla="*/ 23451 w 94561"/>
                <a:gd name="csY14" fmla="*/ 61556 h 85734"/>
                <a:gd name="csX15" fmla="*/ 18726 w 94561"/>
                <a:gd name="csY15" fmla="*/ 76077 h 85734"/>
                <a:gd name="csX16" fmla="*/ 5817 w 94561"/>
                <a:gd name="csY16" fmla="*/ 66627 h 85734"/>
                <a:gd name="csX17" fmla="*/ 285 w 94561"/>
                <a:gd name="csY17" fmla="*/ 51298 h 85734"/>
                <a:gd name="csX18" fmla="*/ 1899 w 94561"/>
                <a:gd name="csY18" fmla="*/ 29861 h 85734"/>
                <a:gd name="csX19" fmla="*/ 8929 w 94561"/>
                <a:gd name="csY19" fmla="*/ 11421 h 85734"/>
                <a:gd name="csX20" fmla="*/ 17804 w 94561"/>
                <a:gd name="csY20" fmla="*/ 2316 h 85734"/>
                <a:gd name="csX21" fmla="*/ 28407 w 94561"/>
                <a:gd name="csY21" fmla="*/ 11 h 85734"/>
                <a:gd name="csX22" fmla="*/ 41200 w 94561"/>
                <a:gd name="csY22" fmla="*/ 2662 h 85734"/>
                <a:gd name="csX23" fmla="*/ 59410 w 94561"/>
                <a:gd name="csY23" fmla="*/ 7617 h 85734"/>
                <a:gd name="csX24" fmla="*/ 83843 w 94561"/>
                <a:gd name="csY24" fmla="*/ 13265 h 85734"/>
                <a:gd name="csX25" fmla="*/ 94562 w 94561"/>
                <a:gd name="csY25" fmla="*/ 12343 h 85734"/>
                <a:gd name="csX26" fmla="*/ 90643 w 94561"/>
                <a:gd name="csY26" fmla="*/ 27095 h 85734"/>
                <a:gd name="csX27" fmla="*/ 79925 w 94561"/>
                <a:gd name="csY27" fmla="*/ 27326 h 85734"/>
                <a:gd name="csX28" fmla="*/ 48807 w 94561"/>
                <a:gd name="csY28" fmla="*/ 20641 h 85734"/>
                <a:gd name="csX29" fmla="*/ 48230 w 94561"/>
                <a:gd name="csY29" fmla="*/ 45996 h 85734"/>
                <a:gd name="csX30" fmla="*/ 48230 w 94561"/>
                <a:gd name="csY30" fmla="*/ 59481 h 85734"/>
                <a:gd name="csX31" fmla="*/ 51573 w 94561"/>
                <a:gd name="csY31" fmla="*/ 66166 h 85734"/>
                <a:gd name="csX32" fmla="*/ 57796 w 94561"/>
                <a:gd name="csY32" fmla="*/ 69508 h 85734"/>
                <a:gd name="csX33" fmla="*/ 67939 w 94561"/>
                <a:gd name="csY33" fmla="*/ 66973 h 85734"/>
                <a:gd name="csX34" fmla="*/ 74393 w 94561"/>
                <a:gd name="csY34" fmla="*/ 54986 h 85734"/>
                <a:gd name="csX35" fmla="*/ 74277 w 94561"/>
                <a:gd name="csY35" fmla="*/ 39427 h 85734"/>
                <a:gd name="csX36" fmla="*/ 67016 w 94561"/>
                <a:gd name="csY36" fmla="*/ 27556 h 85734"/>
                <a:gd name="csX37" fmla="*/ 53878 w 94561"/>
                <a:gd name="csY37" fmla="*/ 21794 h 85734"/>
                <a:gd name="csX38" fmla="*/ 48807 w 94561"/>
                <a:gd name="csY38" fmla="*/ 20526 h 85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94561" h="85734">
                  <a:moveTo>
                    <a:pt x="79810" y="27210"/>
                  </a:moveTo>
                  <a:cubicBezTo>
                    <a:pt x="82806" y="33549"/>
                    <a:pt x="84650" y="39427"/>
                    <a:pt x="85226" y="44729"/>
                  </a:cubicBezTo>
                  <a:cubicBezTo>
                    <a:pt x="85918" y="50030"/>
                    <a:pt x="85572" y="55447"/>
                    <a:pt x="84420" y="60979"/>
                  </a:cubicBezTo>
                  <a:cubicBezTo>
                    <a:pt x="82460" y="70200"/>
                    <a:pt x="78887" y="76769"/>
                    <a:pt x="73471" y="80918"/>
                  </a:cubicBezTo>
                  <a:cubicBezTo>
                    <a:pt x="68054" y="85067"/>
                    <a:pt x="62061" y="86565"/>
                    <a:pt x="55145" y="85298"/>
                  </a:cubicBezTo>
                  <a:cubicBezTo>
                    <a:pt x="51112" y="84606"/>
                    <a:pt x="47654" y="82877"/>
                    <a:pt x="44657" y="80342"/>
                  </a:cubicBezTo>
                  <a:cubicBezTo>
                    <a:pt x="41661" y="77806"/>
                    <a:pt x="39471" y="74694"/>
                    <a:pt x="38088" y="71122"/>
                  </a:cubicBezTo>
                  <a:cubicBezTo>
                    <a:pt x="36705" y="67549"/>
                    <a:pt x="35898" y="63630"/>
                    <a:pt x="35668" y="59481"/>
                  </a:cubicBezTo>
                  <a:cubicBezTo>
                    <a:pt x="35553" y="56369"/>
                    <a:pt x="35783" y="51759"/>
                    <a:pt x="36475" y="45766"/>
                  </a:cubicBezTo>
                  <a:cubicBezTo>
                    <a:pt x="37742" y="33434"/>
                    <a:pt x="38434" y="24099"/>
                    <a:pt x="38088" y="17990"/>
                  </a:cubicBezTo>
                  <a:cubicBezTo>
                    <a:pt x="36244" y="17414"/>
                    <a:pt x="34976" y="17183"/>
                    <a:pt x="34515" y="16953"/>
                  </a:cubicBezTo>
                  <a:cubicBezTo>
                    <a:pt x="28868" y="15570"/>
                    <a:pt x="24604" y="15916"/>
                    <a:pt x="21607" y="18336"/>
                  </a:cubicBezTo>
                  <a:cubicBezTo>
                    <a:pt x="17573" y="21448"/>
                    <a:pt x="14577" y="26865"/>
                    <a:pt x="12848" y="34702"/>
                  </a:cubicBezTo>
                  <a:cubicBezTo>
                    <a:pt x="11234" y="41963"/>
                    <a:pt x="11234" y="47495"/>
                    <a:pt x="12848" y="51413"/>
                  </a:cubicBezTo>
                  <a:cubicBezTo>
                    <a:pt x="14461" y="55332"/>
                    <a:pt x="17919" y="58674"/>
                    <a:pt x="23451" y="61556"/>
                  </a:cubicBezTo>
                  <a:cubicBezTo>
                    <a:pt x="21492" y="67318"/>
                    <a:pt x="20570" y="70200"/>
                    <a:pt x="18726" y="76077"/>
                  </a:cubicBezTo>
                  <a:cubicBezTo>
                    <a:pt x="13194" y="73657"/>
                    <a:pt x="8814" y="70545"/>
                    <a:pt x="5817" y="66627"/>
                  </a:cubicBezTo>
                  <a:cubicBezTo>
                    <a:pt x="2821" y="62823"/>
                    <a:pt x="977" y="57637"/>
                    <a:pt x="285" y="51298"/>
                  </a:cubicBezTo>
                  <a:cubicBezTo>
                    <a:pt x="-406" y="44959"/>
                    <a:pt x="170" y="37698"/>
                    <a:pt x="1899" y="29861"/>
                  </a:cubicBezTo>
                  <a:cubicBezTo>
                    <a:pt x="3743" y="22024"/>
                    <a:pt x="6048" y="15916"/>
                    <a:pt x="8929" y="11421"/>
                  </a:cubicBezTo>
                  <a:cubicBezTo>
                    <a:pt x="11811" y="6926"/>
                    <a:pt x="14807" y="3929"/>
                    <a:pt x="17804" y="2316"/>
                  </a:cubicBezTo>
                  <a:cubicBezTo>
                    <a:pt x="20915" y="702"/>
                    <a:pt x="24488" y="-105"/>
                    <a:pt x="28407" y="11"/>
                  </a:cubicBezTo>
                  <a:cubicBezTo>
                    <a:pt x="30827" y="11"/>
                    <a:pt x="35207" y="1048"/>
                    <a:pt x="41200" y="2662"/>
                  </a:cubicBezTo>
                  <a:cubicBezTo>
                    <a:pt x="48461" y="4621"/>
                    <a:pt x="52149" y="5658"/>
                    <a:pt x="59410" y="7617"/>
                  </a:cubicBezTo>
                  <a:cubicBezTo>
                    <a:pt x="72088" y="11075"/>
                    <a:pt x="80271" y="12919"/>
                    <a:pt x="83843" y="13265"/>
                  </a:cubicBezTo>
                  <a:cubicBezTo>
                    <a:pt x="87416" y="13611"/>
                    <a:pt x="90989" y="13265"/>
                    <a:pt x="94562" y="12343"/>
                  </a:cubicBezTo>
                  <a:cubicBezTo>
                    <a:pt x="92948" y="18221"/>
                    <a:pt x="92142" y="21102"/>
                    <a:pt x="90643" y="27095"/>
                  </a:cubicBezTo>
                  <a:cubicBezTo>
                    <a:pt x="87416" y="27787"/>
                    <a:pt x="83843" y="27902"/>
                    <a:pt x="79925" y="27326"/>
                  </a:cubicBezTo>
                  <a:close/>
                  <a:moveTo>
                    <a:pt x="48807" y="20641"/>
                  </a:moveTo>
                  <a:cubicBezTo>
                    <a:pt x="49498" y="26519"/>
                    <a:pt x="49268" y="34932"/>
                    <a:pt x="48230" y="45996"/>
                  </a:cubicBezTo>
                  <a:cubicBezTo>
                    <a:pt x="47654" y="52220"/>
                    <a:pt x="47654" y="56715"/>
                    <a:pt x="48230" y="59481"/>
                  </a:cubicBezTo>
                  <a:cubicBezTo>
                    <a:pt x="48691" y="62247"/>
                    <a:pt x="49844" y="64437"/>
                    <a:pt x="51573" y="66166"/>
                  </a:cubicBezTo>
                  <a:cubicBezTo>
                    <a:pt x="53301" y="67895"/>
                    <a:pt x="55376" y="69047"/>
                    <a:pt x="57796" y="69508"/>
                  </a:cubicBezTo>
                  <a:cubicBezTo>
                    <a:pt x="61484" y="70200"/>
                    <a:pt x="64827" y="69508"/>
                    <a:pt x="67939" y="66973"/>
                  </a:cubicBezTo>
                  <a:cubicBezTo>
                    <a:pt x="71050" y="64552"/>
                    <a:pt x="73125" y="60634"/>
                    <a:pt x="74393" y="54986"/>
                  </a:cubicBezTo>
                  <a:cubicBezTo>
                    <a:pt x="75660" y="49454"/>
                    <a:pt x="75545" y="44268"/>
                    <a:pt x="74277" y="39427"/>
                  </a:cubicBezTo>
                  <a:cubicBezTo>
                    <a:pt x="73010" y="34587"/>
                    <a:pt x="70589" y="30553"/>
                    <a:pt x="67016" y="27556"/>
                  </a:cubicBezTo>
                  <a:cubicBezTo>
                    <a:pt x="64250" y="25251"/>
                    <a:pt x="59871" y="23292"/>
                    <a:pt x="53878" y="21794"/>
                  </a:cubicBezTo>
                  <a:cubicBezTo>
                    <a:pt x="51918" y="21332"/>
                    <a:pt x="50881" y="20987"/>
                    <a:pt x="48807" y="20526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4B8B142-029E-A8B9-110D-A093C5058A37}"/>
                </a:ext>
              </a:extLst>
            </p:cNvPr>
            <p:cNvSpPr/>
            <p:nvPr/>
          </p:nvSpPr>
          <p:spPr>
            <a:xfrm>
              <a:off x="5758141" y="2894449"/>
              <a:ext cx="84595" cy="71687"/>
            </a:xfrm>
            <a:custGeom>
              <a:avLst/>
              <a:gdLst>
                <a:gd name="csX0" fmla="*/ 80216 w 84595"/>
                <a:gd name="csY0" fmla="*/ 71572 h 71687"/>
                <a:gd name="csX1" fmla="*/ 0 w 84595"/>
                <a:gd name="csY1" fmla="*/ 47715 h 71687"/>
                <a:gd name="csX2" fmla="*/ 4149 w 84595"/>
                <a:gd name="csY2" fmla="*/ 34000 h 71687"/>
                <a:gd name="csX3" fmla="*/ 16251 w 84595"/>
                <a:gd name="csY3" fmla="*/ 37803 h 71687"/>
                <a:gd name="csX4" fmla="*/ 8183 w 84595"/>
                <a:gd name="csY4" fmla="*/ 24664 h 71687"/>
                <a:gd name="csX5" fmla="*/ 8759 w 84595"/>
                <a:gd name="csY5" fmla="*/ 14061 h 71687"/>
                <a:gd name="csX6" fmla="*/ 18440 w 84595"/>
                <a:gd name="csY6" fmla="*/ 0 h 71687"/>
                <a:gd name="csX7" fmla="*/ 29044 w 84595"/>
                <a:gd name="csY7" fmla="*/ 9566 h 71687"/>
                <a:gd name="csX8" fmla="*/ 22359 w 84595"/>
                <a:gd name="csY8" fmla="*/ 19478 h 71687"/>
                <a:gd name="csX9" fmla="*/ 22128 w 84595"/>
                <a:gd name="csY9" fmla="*/ 29159 h 71687"/>
                <a:gd name="csX10" fmla="*/ 27776 w 84595"/>
                <a:gd name="csY10" fmla="*/ 37111 h 71687"/>
                <a:gd name="csX11" fmla="*/ 42759 w 84595"/>
                <a:gd name="csY11" fmla="*/ 44603 h 71687"/>
                <a:gd name="csX12" fmla="*/ 84595 w 84595"/>
                <a:gd name="csY12" fmla="*/ 57742 h 71687"/>
                <a:gd name="csX13" fmla="*/ 80331 w 84595"/>
                <a:gd name="csY13" fmla="*/ 71687 h 71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4595" h="71687">
                  <a:moveTo>
                    <a:pt x="80216" y="71572"/>
                  </a:moveTo>
                  <a:cubicBezTo>
                    <a:pt x="48176" y="62006"/>
                    <a:pt x="32040" y="57281"/>
                    <a:pt x="0" y="47715"/>
                  </a:cubicBezTo>
                  <a:cubicBezTo>
                    <a:pt x="1614" y="42182"/>
                    <a:pt x="2420" y="39417"/>
                    <a:pt x="4149" y="34000"/>
                  </a:cubicBezTo>
                  <a:lnTo>
                    <a:pt x="16251" y="37803"/>
                  </a:lnTo>
                  <a:cubicBezTo>
                    <a:pt x="11641" y="32616"/>
                    <a:pt x="8990" y="28122"/>
                    <a:pt x="8183" y="24664"/>
                  </a:cubicBezTo>
                  <a:cubicBezTo>
                    <a:pt x="7376" y="21091"/>
                    <a:pt x="7491" y="17518"/>
                    <a:pt x="8759" y="14061"/>
                  </a:cubicBezTo>
                  <a:cubicBezTo>
                    <a:pt x="10488" y="8874"/>
                    <a:pt x="13715" y="4264"/>
                    <a:pt x="18440" y="0"/>
                  </a:cubicBezTo>
                  <a:cubicBezTo>
                    <a:pt x="22705" y="3803"/>
                    <a:pt x="24779" y="5763"/>
                    <a:pt x="29044" y="9566"/>
                  </a:cubicBezTo>
                  <a:cubicBezTo>
                    <a:pt x="25817" y="12563"/>
                    <a:pt x="23627" y="15905"/>
                    <a:pt x="22359" y="19478"/>
                  </a:cubicBezTo>
                  <a:cubicBezTo>
                    <a:pt x="21322" y="22705"/>
                    <a:pt x="21207" y="26047"/>
                    <a:pt x="22128" y="29159"/>
                  </a:cubicBezTo>
                  <a:cubicBezTo>
                    <a:pt x="23051" y="32386"/>
                    <a:pt x="24895" y="35037"/>
                    <a:pt x="27776" y="37111"/>
                  </a:cubicBezTo>
                  <a:cubicBezTo>
                    <a:pt x="32040" y="40338"/>
                    <a:pt x="37111" y="42759"/>
                    <a:pt x="42759" y="44603"/>
                  </a:cubicBezTo>
                  <a:cubicBezTo>
                    <a:pt x="59470" y="49904"/>
                    <a:pt x="67884" y="52555"/>
                    <a:pt x="84595" y="57742"/>
                  </a:cubicBezTo>
                  <a:cubicBezTo>
                    <a:pt x="82867" y="63274"/>
                    <a:pt x="81945" y="66155"/>
                    <a:pt x="80331" y="71687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5673D619-37DD-2ED3-CF78-F4ED057D8BAF}"/>
                </a:ext>
              </a:extLst>
            </p:cNvPr>
            <p:cNvSpPr/>
            <p:nvPr/>
          </p:nvSpPr>
          <p:spPr>
            <a:xfrm>
              <a:off x="5785649" y="2820934"/>
              <a:ext cx="89144" cy="86452"/>
            </a:xfrm>
            <a:custGeom>
              <a:avLst/>
              <a:gdLst>
                <a:gd name="csX0" fmla="*/ 67806 w 89144"/>
                <a:gd name="csY0" fmla="*/ 26377 h 86452"/>
                <a:gd name="csX1" fmla="*/ 75989 w 89144"/>
                <a:gd name="csY1" fmla="*/ 12777 h 86452"/>
                <a:gd name="csX2" fmla="*/ 88436 w 89144"/>
                <a:gd name="csY2" fmla="*/ 33407 h 86452"/>
                <a:gd name="csX3" fmla="*/ 85094 w 89144"/>
                <a:gd name="csY3" fmla="*/ 59109 h 86452"/>
                <a:gd name="csX4" fmla="*/ 63426 w 89144"/>
                <a:gd name="csY4" fmla="*/ 83197 h 86452"/>
                <a:gd name="csX5" fmla="*/ 29772 w 89144"/>
                <a:gd name="csY5" fmla="*/ 82966 h 86452"/>
                <a:gd name="csX6" fmla="*/ 3149 w 89144"/>
                <a:gd name="csY6" fmla="*/ 60376 h 86452"/>
                <a:gd name="csX7" fmla="*/ 3956 w 89144"/>
                <a:gd name="csY7" fmla="*/ 26492 h 86452"/>
                <a:gd name="csX8" fmla="*/ 26776 w 89144"/>
                <a:gd name="csY8" fmla="*/ 2520 h 86452"/>
                <a:gd name="csX9" fmla="*/ 60891 w 89144"/>
                <a:gd name="csY9" fmla="*/ 5171 h 86452"/>
                <a:gd name="csX10" fmla="*/ 64233 w 89144"/>
                <a:gd name="csY10" fmla="*/ 6899 h 86452"/>
                <a:gd name="csX11" fmla="*/ 37955 w 89144"/>
                <a:gd name="csY11" fmla="*/ 69136 h 86452"/>
                <a:gd name="csX12" fmla="*/ 60660 w 89144"/>
                <a:gd name="csY12" fmla="*/ 68905 h 86452"/>
                <a:gd name="csX13" fmla="*/ 74375 w 89144"/>
                <a:gd name="csY13" fmla="*/ 54614 h 86452"/>
                <a:gd name="csX14" fmla="*/ 76104 w 89144"/>
                <a:gd name="csY14" fmla="*/ 40092 h 86452"/>
                <a:gd name="csX15" fmla="*/ 67806 w 89144"/>
                <a:gd name="csY15" fmla="*/ 26377 h 86452"/>
                <a:gd name="csX16" fmla="*/ 27467 w 89144"/>
                <a:gd name="csY16" fmla="*/ 64180 h 86452"/>
                <a:gd name="csX17" fmla="*/ 46945 w 89144"/>
                <a:gd name="csY17" fmla="*/ 16811 h 86452"/>
                <a:gd name="csX18" fmla="*/ 30003 w 89144"/>
                <a:gd name="csY18" fmla="*/ 15889 h 86452"/>
                <a:gd name="csX19" fmla="*/ 14790 w 89144"/>
                <a:gd name="csY19" fmla="*/ 30757 h 86452"/>
                <a:gd name="csX20" fmla="*/ 13983 w 89144"/>
                <a:gd name="csY20" fmla="*/ 50234 h 86452"/>
                <a:gd name="csX21" fmla="*/ 27352 w 89144"/>
                <a:gd name="csY21" fmla="*/ 64065 h 86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9144" h="86452">
                  <a:moveTo>
                    <a:pt x="67806" y="26377"/>
                  </a:moveTo>
                  <a:cubicBezTo>
                    <a:pt x="71033" y="20960"/>
                    <a:pt x="72646" y="18194"/>
                    <a:pt x="75989" y="12777"/>
                  </a:cubicBezTo>
                  <a:cubicBezTo>
                    <a:pt x="82673" y="18655"/>
                    <a:pt x="86822" y="25570"/>
                    <a:pt x="88436" y="33407"/>
                  </a:cubicBezTo>
                  <a:cubicBezTo>
                    <a:pt x="90050" y="41245"/>
                    <a:pt x="88897" y="49773"/>
                    <a:pt x="85094" y="59109"/>
                  </a:cubicBezTo>
                  <a:cubicBezTo>
                    <a:pt x="80253" y="70864"/>
                    <a:pt x="73107" y="78817"/>
                    <a:pt x="63426" y="83197"/>
                  </a:cubicBezTo>
                  <a:cubicBezTo>
                    <a:pt x="53745" y="87576"/>
                    <a:pt x="42565" y="87576"/>
                    <a:pt x="29772" y="82966"/>
                  </a:cubicBezTo>
                  <a:cubicBezTo>
                    <a:pt x="16518" y="78241"/>
                    <a:pt x="7529" y="70749"/>
                    <a:pt x="3149" y="60376"/>
                  </a:cubicBezTo>
                  <a:cubicBezTo>
                    <a:pt x="-1231" y="50004"/>
                    <a:pt x="-1115" y="38594"/>
                    <a:pt x="3956" y="26492"/>
                  </a:cubicBezTo>
                  <a:cubicBezTo>
                    <a:pt x="8796" y="14737"/>
                    <a:pt x="16518" y="6669"/>
                    <a:pt x="26776" y="2520"/>
                  </a:cubicBezTo>
                  <a:cubicBezTo>
                    <a:pt x="37033" y="-1629"/>
                    <a:pt x="48443" y="-592"/>
                    <a:pt x="60891" y="5171"/>
                  </a:cubicBezTo>
                  <a:cubicBezTo>
                    <a:pt x="61697" y="5516"/>
                    <a:pt x="62735" y="6093"/>
                    <a:pt x="64233" y="6899"/>
                  </a:cubicBezTo>
                  <a:cubicBezTo>
                    <a:pt x="52823" y="31448"/>
                    <a:pt x="47521" y="44011"/>
                    <a:pt x="37955" y="69136"/>
                  </a:cubicBezTo>
                  <a:cubicBezTo>
                    <a:pt x="46715" y="71902"/>
                    <a:pt x="54321" y="71786"/>
                    <a:pt x="60660" y="68905"/>
                  </a:cubicBezTo>
                  <a:cubicBezTo>
                    <a:pt x="66999" y="66139"/>
                    <a:pt x="71494" y="61298"/>
                    <a:pt x="74375" y="54614"/>
                  </a:cubicBezTo>
                  <a:cubicBezTo>
                    <a:pt x="76450" y="49543"/>
                    <a:pt x="77026" y="44817"/>
                    <a:pt x="76104" y="40092"/>
                  </a:cubicBezTo>
                  <a:cubicBezTo>
                    <a:pt x="75182" y="35482"/>
                    <a:pt x="72416" y="30872"/>
                    <a:pt x="67806" y="26377"/>
                  </a:cubicBezTo>
                  <a:close/>
                  <a:moveTo>
                    <a:pt x="27467" y="64180"/>
                  </a:moveTo>
                  <a:cubicBezTo>
                    <a:pt x="34728" y="45048"/>
                    <a:pt x="38647" y="35597"/>
                    <a:pt x="46945" y="16811"/>
                  </a:cubicBezTo>
                  <a:cubicBezTo>
                    <a:pt x="40260" y="14621"/>
                    <a:pt x="34613" y="14275"/>
                    <a:pt x="30003" y="15889"/>
                  </a:cubicBezTo>
                  <a:cubicBezTo>
                    <a:pt x="22973" y="18309"/>
                    <a:pt x="17901" y="23380"/>
                    <a:pt x="14790" y="30757"/>
                  </a:cubicBezTo>
                  <a:cubicBezTo>
                    <a:pt x="12024" y="37556"/>
                    <a:pt x="11793" y="44011"/>
                    <a:pt x="13983" y="50234"/>
                  </a:cubicBezTo>
                  <a:cubicBezTo>
                    <a:pt x="16288" y="56458"/>
                    <a:pt x="20783" y="61068"/>
                    <a:pt x="27352" y="64065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aphic 13">
            <a:extLst>
              <a:ext uri="{FF2B5EF4-FFF2-40B4-BE49-F238E27FC236}">
                <a16:creationId xmlns:a16="http://schemas.microsoft.com/office/drawing/2014/main" id="{2E623817-FA68-2B8E-4B83-7BB336887174}"/>
              </a:ext>
            </a:extLst>
          </p:cNvPr>
          <p:cNvGrpSpPr/>
          <p:nvPr/>
        </p:nvGrpSpPr>
        <p:grpSpPr>
          <a:xfrm>
            <a:off x="5155618" y="2500338"/>
            <a:ext cx="316926" cy="1357621"/>
            <a:chOff x="5155618" y="2500338"/>
            <a:chExt cx="316926" cy="1357621"/>
          </a:xfrm>
          <a:solidFill>
            <a:srgbClr val="FFFFFF"/>
          </a:solidFill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B3FBAC0-AEC6-13E1-6363-A4C9EADB4928}"/>
                </a:ext>
              </a:extLst>
            </p:cNvPr>
            <p:cNvSpPr/>
            <p:nvPr/>
          </p:nvSpPr>
          <p:spPr>
            <a:xfrm>
              <a:off x="5294184" y="3747169"/>
              <a:ext cx="136754" cy="110791"/>
            </a:xfrm>
            <a:custGeom>
              <a:avLst/>
              <a:gdLst>
                <a:gd name="csX0" fmla="*/ 136755 w 136754"/>
                <a:gd name="csY0" fmla="*/ 51551 h 110791"/>
                <a:gd name="csX1" fmla="*/ 37638 w 136754"/>
                <a:gd name="csY1" fmla="*/ 110791 h 110791"/>
                <a:gd name="csX2" fmla="*/ 11821 w 136754"/>
                <a:gd name="csY2" fmla="*/ 65497 h 110791"/>
                <a:gd name="csX3" fmla="*/ 2947 w 136754"/>
                <a:gd name="csY3" fmla="*/ 46480 h 110791"/>
                <a:gd name="csX4" fmla="*/ 65 w 136754"/>
                <a:gd name="csY4" fmla="*/ 28962 h 110791"/>
                <a:gd name="csX5" fmla="*/ 5136 w 136754"/>
                <a:gd name="csY5" fmla="*/ 14210 h 110791"/>
                <a:gd name="csX6" fmla="*/ 17468 w 136754"/>
                <a:gd name="csY6" fmla="*/ 3606 h 110791"/>
                <a:gd name="csX7" fmla="*/ 44553 w 136754"/>
                <a:gd name="csY7" fmla="*/ 2108 h 110791"/>
                <a:gd name="csX8" fmla="*/ 71291 w 136754"/>
                <a:gd name="csY8" fmla="*/ 31382 h 110791"/>
                <a:gd name="csX9" fmla="*/ 87657 w 136754"/>
                <a:gd name="csY9" fmla="*/ 60656 h 110791"/>
                <a:gd name="csX10" fmla="*/ 128341 w 136754"/>
                <a:gd name="csY10" fmla="*/ 37145 h 110791"/>
                <a:gd name="csX11" fmla="*/ 136755 w 136754"/>
                <a:gd name="csY11" fmla="*/ 51551 h 110791"/>
                <a:gd name="csX12" fmla="*/ 75901 w 136754"/>
                <a:gd name="csY12" fmla="*/ 67456 h 110791"/>
                <a:gd name="csX13" fmla="*/ 59190 w 136754"/>
                <a:gd name="csY13" fmla="*/ 37606 h 110791"/>
                <a:gd name="csX14" fmla="*/ 43055 w 136754"/>
                <a:gd name="csY14" fmla="*/ 18935 h 110791"/>
                <a:gd name="csX15" fmla="*/ 25997 w 136754"/>
                <a:gd name="csY15" fmla="*/ 19626 h 110791"/>
                <a:gd name="csX16" fmla="*/ 16892 w 136754"/>
                <a:gd name="csY16" fmla="*/ 29077 h 110791"/>
                <a:gd name="csX17" fmla="*/ 16085 w 136754"/>
                <a:gd name="csY17" fmla="*/ 42216 h 110791"/>
                <a:gd name="csX18" fmla="*/ 23116 w 136754"/>
                <a:gd name="csY18" fmla="*/ 57545 h 110791"/>
                <a:gd name="csX19" fmla="*/ 40173 w 136754"/>
                <a:gd name="csY19" fmla="*/ 88087 h 110791"/>
                <a:gd name="csX20" fmla="*/ 75901 w 136754"/>
                <a:gd name="csY20" fmla="*/ 67456 h 110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36754" h="110791">
                  <a:moveTo>
                    <a:pt x="136755" y="51551"/>
                  </a:moveTo>
                  <a:cubicBezTo>
                    <a:pt x="97108" y="75178"/>
                    <a:pt x="77285" y="87049"/>
                    <a:pt x="37638" y="110791"/>
                  </a:cubicBezTo>
                  <a:cubicBezTo>
                    <a:pt x="26919" y="92812"/>
                    <a:pt x="21733" y="83822"/>
                    <a:pt x="11821" y="65497"/>
                  </a:cubicBezTo>
                  <a:cubicBezTo>
                    <a:pt x="7441" y="57429"/>
                    <a:pt x="4560" y="51091"/>
                    <a:pt x="2947" y="46480"/>
                  </a:cubicBezTo>
                  <a:cubicBezTo>
                    <a:pt x="757" y="40141"/>
                    <a:pt x="-280" y="34264"/>
                    <a:pt x="65" y="28962"/>
                  </a:cubicBezTo>
                  <a:cubicBezTo>
                    <a:pt x="411" y="23660"/>
                    <a:pt x="2140" y="18820"/>
                    <a:pt x="5136" y="14210"/>
                  </a:cubicBezTo>
                  <a:cubicBezTo>
                    <a:pt x="8248" y="9600"/>
                    <a:pt x="12282" y="6142"/>
                    <a:pt x="17468" y="3606"/>
                  </a:cubicBezTo>
                  <a:cubicBezTo>
                    <a:pt x="26343" y="-658"/>
                    <a:pt x="35333" y="-1119"/>
                    <a:pt x="44553" y="2108"/>
                  </a:cubicBezTo>
                  <a:cubicBezTo>
                    <a:pt x="53773" y="5335"/>
                    <a:pt x="62532" y="15132"/>
                    <a:pt x="71291" y="31382"/>
                  </a:cubicBezTo>
                  <a:cubicBezTo>
                    <a:pt x="77630" y="43138"/>
                    <a:pt x="80973" y="49016"/>
                    <a:pt x="87657" y="60656"/>
                  </a:cubicBezTo>
                  <a:cubicBezTo>
                    <a:pt x="103908" y="51206"/>
                    <a:pt x="112091" y="46596"/>
                    <a:pt x="128341" y="37145"/>
                  </a:cubicBezTo>
                  <a:cubicBezTo>
                    <a:pt x="131684" y="42908"/>
                    <a:pt x="133412" y="45789"/>
                    <a:pt x="136755" y="51551"/>
                  </a:cubicBezTo>
                  <a:close/>
                  <a:moveTo>
                    <a:pt x="75901" y="67456"/>
                  </a:moveTo>
                  <a:cubicBezTo>
                    <a:pt x="69102" y="55585"/>
                    <a:pt x="65759" y="49592"/>
                    <a:pt x="59190" y="37606"/>
                  </a:cubicBezTo>
                  <a:cubicBezTo>
                    <a:pt x="53773" y="27694"/>
                    <a:pt x="48471" y="21471"/>
                    <a:pt x="43055" y="18935"/>
                  </a:cubicBezTo>
                  <a:cubicBezTo>
                    <a:pt x="37638" y="16399"/>
                    <a:pt x="31875" y="16630"/>
                    <a:pt x="25997" y="19626"/>
                  </a:cubicBezTo>
                  <a:cubicBezTo>
                    <a:pt x="21733" y="21816"/>
                    <a:pt x="18621" y="24928"/>
                    <a:pt x="16892" y="29077"/>
                  </a:cubicBezTo>
                  <a:cubicBezTo>
                    <a:pt x="15163" y="33226"/>
                    <a:pt x="14818" y="37606"/>
                    <a:pt x="16085" y="42216"/>
                  </a:cubicBezTo>
                  <a:cubicBezTo>
                    <a:pt x="16892" y="45213"/>
                    <a:pt x="19197" y="50284"/>
                    <a:pt x="23116" y="57545"/>
                  </a:cubicBezTo>
                  <a:cubicBezTo>
                    <a:pt x="29800" y="69761"/>
                    <a:pt x="33143" y="75870"/>
                    <a:pt x="40173" y="88087"/>
                  </a:cubicBezTo>
                  <a:cubicBezTo>
                    <a:pt x="54464" y="79788"/>
                    <a:pt x="61610" y="75639"/>
                    <a:pt x="75901" y="67456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513BA56-454B-A155-34EE-7929867B14FE}"/>
                </a:ext>
              </a:extLst>
            </p:cNvPr>
            <p:cNvSpPr/>
            <p:nvPr/>
          </p:nvSpPr>
          <p:spPr>
            <a:xfrm>
              <a:off x="5265667" y="3684044"/>
              <a:ext cx="111564" cy="62927"/>
            </a:xfrm>
            <a:custGeom>
              <a:avLst/>
              <a:gdLst>
                <a:gd name="csX0" fmla="*/ 111564 w 111564"/>
                <a:gd name="csY0" fmla="*/ 13830 h 62927"/>
                <a:gd name="csX1" fmla="*/ 7030 w 111564"/>
                <a:gd name="csY1" fmla="*/ 62928 h 62927"/>
                <a:gd name="csX2" fmla="*/ 0 w 111564"/>
                <a:gd name="csY2" fmla="*/ 47715 h 62927"/>
                <a:gd name="csX3" fmla="*/ 105226 w 111564"/>
                <a:gd name="csY3" fmla="*/ 0 h 62927"/>
                <a:gd name="csX4" fmla="*/ 111564 w 111564"/>
                <a:gd name="csY4" fmla="*/ 13830 h 62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564" h="62927">
                  <a:moveTo>
                    <a:pt x="111564" y="13830"/>
                  </a:moveTo>
                  <a:cubicBezTo>
                    <a:pt x="69728" y="33423"/>
                    <a:pt x="48867" y="43335"/>
                    <a:pt x="7030" y="62928"/>
                  </a:cubicBezTo>
                  <a:cubicBezTo>
                    <a:pt x="4149" y="56819"/>
                    <a:pt x="2766" y="53823"/>
                    <a:pt x="0" y="47715"/>
                  </a:cubicBezTo>
                  <a:cubicBezTo>
                    <a:pt x="42067" y="28583"/>
                    <a:pt x="63158" y="19017"/>
                    <a:pt x="105226" y="0"/>
                  </a:cubicBezTo>
                  <a:cubicBezTo>
                    <a:pt x="107761" y="5532"/>
                    <a:pt x="109029" y="8298"/>
                    <a:pt x="111564" y="13830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BA8A0E17-B9AF-034D-6F56-BB1C67C2BEF5}"/>
                </a:ext>
              </a:extLst>
            </p:cNvPr>
            <p:cNvSpPr/>
            <p:nvPr/>
          </p:nvSpPr>
          <p:spPr>
            <a:xfrm>
              <a:off x="5262512" y="3590574"/>
              <a:ext cx="94318" cy="98362"/>
            </a:xfrm>
            <a:custGeom>
              <a:avLst/>
              <a:gdLst>
                <a:gd name="csX0" fmla="*/ 67466 w 94318"/>
                <a:gd name="csY0" fmla="*/ 21206 h 98362"/>
                <a:gd name="csX1" fmla="*/ 82103 w 94318"/>
                <a:gd name="csY1" fmla="*/ 33077 h 98362"/>
                <a:gd name="csX2" fmla="*/ 90747 w 94318"/>
                <a:gd name="csY2" fmla="*/ 47599 h 98362"/>
                <a:gd name="csX3" fmla="*/ 93283 w 94318"/>
                <a:gd name="csY3" fmla="*/ 71111 h 98362"/>
                <a:gd name="csX4" fmla="*/ 80605 w 94318"/>
                <a:gd name="csY4" fmla="*/ 85287 h 98362"/>
                <a:gd name="csX5" fmla="*/ 69079 w 94318"/>
                <a:gd name="csY5" fmla="*/ 86900 h 98362"/>
                <a:gd name="csX6" fmla="*/ 58361 w 94318"/>
                <a:gd name="csY6" fmla="*/ 82636 h 98362"/>
                <a:gd name="csX7" fmla="*/ 49717 w 94318"/>
                <a:gd name="csY7" fmla="*/ 73992 h 98362"/>
                <a:gd name="csX8" fmla="*/ 42456 w 94318"/>
                <a:gd name="csY8" fmla="*/ 61775 h 98362"/>
                <a:gd name="csX9" fmla="*/ 27819 w 94318"/>
                <a:gd name="csY9" fmla="*/ 37227 h 98362"/>
                <a:gd name="csX10" fmla="*/ 24361 w 94318"/>
                <a:gd name="csY10" fmla="*/ 38379 h 98362"/>
                <a:gd name="csX11" fmla="*/ 14450 w 94318"/>
                <a:gd name="csY11" fmla="*/ 46908 h 98362"/>
                <a:gd name="csX12" fmla="*/ 16524 w 94318"/>
                <a:gd name="csY12" fmla="*/ 65694 h 98362"/>
                <a:gd name="csX13" fmla="*/ 25975 w 94318"/>
                <a:gd name="csY13" fmla="*/ 79985 h 98362"/>
                <a:gd name="csX14" fmla="*/ 40497 w 94318"/>
                <a:gd name="csY14" fmla="*/ 82636 h 98362"/>
                <a:gd name="csX15" fmla="*/ 44876 w 94318"/>
                <a:gd name="csY15" fmla="*/ 97734 h 98362"/>
                <a:gd name="csX16" fmla="*/ 28856 w 94318"/>
                <a:gd name="csY16" fmla="*/ 96927 h 98362"/>
                <a:gd name="csX17" fmla="*/ 15602 w 94318"/>
                <a:gd name="csY17" fmla="*/ 87016 h 98362"/>
                <a:gd name="csX18" fmla="*/ 4769 w 94318"/>
                <a:gd name="csY18" fmla="*/ 67884 h 98362"/>
                <a:gd name="csX19" fmla="*/ 43 w 94318"/>
                <a:gd name="csY19" fmla="*/ 48406 h 98362"/>
                <a:gd name="csX20" fmla="*/ 2118 w 94318"/>
                <a:gd name="csY20" fmla="*/ 35728 h 98362"/>
                <a:gd name="csX21" fmla="*/ 9494 w 94318"/>
                <a:gd name="csY21" fmla="*/ 27776 h 98362"/>
                <a:gd name="csX22" fmla="*/ 21595 w 94318"/>
                <a:gd name="csY22" fmla="*/ 22589 h 98362"/>
                <a:gd name="csX23" fmla="*/ 39460 w 94318"/>
                <a:gd name="csY23" fmla="*/ 16251 h 98362"/>
                <a:gd name="csX24" fmla="*/ 62741 w 94318"/>
                <a:gd name="csY24" fmla="*/ 6915 h 98362"/>
                <a:gd name="csX25" fmla="*/ 70924 w 94318"/>
                <a:gd name="csY25" fmla="*/ 0 h 98362"/>
                <a:gd name="csX26" fmla="*/ 76225 w 94318"/>
                <a:gd name="csY26" fmla="*/ 14867 h 98362"/>
                <a:gd name="csX27" fmla="*/ 67581 w 94318"/>
                <a:gd name="csY27" fmla="*/ 21322 h 98362"/>
                <a:gd name="csX28" fmla="*/ 38192 w 94318"/>
                <a:gd name="csY28" fmla="*/ 33423 h 98362"/>
                <a:gd name="csX29" fmla="*/ 52368 w 94318"/>
                <a:gd name="csY29" fmla="*/ 55321 h 98362"/>
                <a:gd name="csX30" fmla="*/ 60090 w 94318"/>
                <a:gd name="csY30" fmla="*/ 66846 h 98362"/>
                <a:gd name="csX31" fmla="*/ 66659 w 94318"/>
                <a:gd name="csY31" fmla="*/ 70765 h 98362"/>
                <a:gd name="csX32" fmla="*/ 73690 w 94318"/>
                <a:gd name="csY32" fmla="*/ 70189 h 98362"/>
                <a:gd name="csX33" fmla="*/ 80605 w 94318"/>
                <a:gd name="csY33" fmla="*/ 62236 h 98362"/>
                <a:gd name="csX34" fmla="*/ 78991 w 94318"/>
                <a:gd name="csY34" fmla="*/ 48291 h 98362"/>
                <a:gd name="csX35" fmla="*/ 69886 w 94318"/>
                <a:gd name="csY35" fmla="*/ 34921 h 98362"/>
                <a:gd name="csX36" fmla="*/ 57093 w 94318"/>
                <a:gd name="csY36" fmla="*/ 28928 h 98362"/>
                <a:gd name="csX37" fmla="*/ 42917 w 94318"/>
                <a:gd name="csY37" fmla="*/ 31579 h 98362"/>
                <a:gd name="csX38" fmla="*/ 38077 w 94318"/>
                <a:gd name="csY38" fmla="*/ 33423 h 98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94318" h="98362">
                  <a:moveTo>
                    <a:pt x="67466" y="21206"/>
                  </a:moveTo>
                  <a:cubicBezTo>
                    <a:pt x="73574" y="25010"/>
                    <a:pt x="78415" y="28928"/>
                    <a:pt x="82103" y="33077"/>
                  </a:cubicBezTo>
                  <a:cubicBezTo>
                    <a:pt x="85676" y="37227"/>
                    <a:pt x="88557" y="42067"/>
                    <a:pt x="90747" y="47599"/>
                  </a:cubicBezTo>
                  <a:cubicBezTo>
                    <a:pt x="94435" y="56704"/>
                    <a:pt x="95242" y="64541"/>
                    <a:pt x="93283" y="71111"/>
                  </a:cubicBezTo>
                  <a:cubicBezTo>
                    <a:pt x="91323" y="77680"/>
                    <a:pt x="87059" y="82521"/>
                    <a:pt x="80605" y="85287"/>
                  </a:cubicBezTo>
                  <a:cubicBezTo>
                    <a:pt x="76801" y="86900"/>
                    <a:pt x="72998" y="87477"/>
                    <a:pt x="69079" y="86900"/>
                  </a:cubicBezTo>
                  <a:cubicBezTo>
                    <a:pt x="65161" y="86324"/>
                    <a:pt x="61588" y="84941"/>
                    <a:pt x="58361" y="82636"/>
                  </a:cubicBezTo>
                  <a:cubicBezTo>
                    <a:pt x="55134" y="80331"/>
                    <a:pt x="52253" y="77450"/>
                    <a:pt x="49717" y="73992"/>
                  </a:cubicBezTo>
                  <a:cubicBezTo>
                    <a:pt x="47873" y="71457"/>
                    <a:pt x="45453" y="67307"/>
                    <a:pt x="42456" y="61775"/>
                  </a:cubicBezTo>
                  <a:cubicBezTo>
                    <a:pt x="36463" y="50481"/>
                    <a:pt x="31622" y="42182"/>
                    <a:pt x="27819" y="37227"/>
                  </a:cubicBezTo>
                  <a:cubicBezTo>
                    <a:pt x="25975" y="37803"/>
                    <a:pt x="24823" y="38264"/>
                    <a:pt x="24361" y="38379"/>
                  </a:cubicBezTo>
                  <a:cubicBezTo>
                    <a:pt x="18945" y="40454"/>
                    <a:pt x="15602" y="43220"/>
                    <a:pt x="14450" y="46908"/>
                  </a:cubicBezTo>
                  <a:cubicBezTo>
                    <a:pt x="12836" y="51864"/>
                    <a:pt x="13528" y="58203"/>
                    <a:pt x="16524" y="65694"/>
                  </a:cubicBezTo>
                  <a:cubicBezTo>
                    <a:pt x="19290" y="72724"/>
                    <a:pt x="22517" y="77450"/>
                    <a:pt x="25975" y="79985"/>
                  </a:cubicBezTo>
                  <a:cubicBezTo>
                    <a:pt x="29548" y="82405"/>
                    <a:pt x="34388" y="83328"/>
                    <a:pt x="40497" y="82636"/>
                  </a:cubicBezTo>
                  <a:cubicBezTo>
                    <a:pt x="42226" y="88629"/>
                    <a:pt x="43032" y="91741"/>
                    <a:pt x="44876" y="97734"/>
                  </a:cubicBezTo>
                  <a:cubicBezTo>
                    <a:pt x="38883" y="98771"/>
                    <a:pt x="33582" y="98541"/>
                    <a:pt x="28856" y="96927"/>
                  </a:cubicBezTo>
                  <a:cubicBezTo>
                    <a:pt x="24246" y="95314"/>
                    <a:pt x="19751" y="91971"/>
                    <a:pt x="15602" y="87016"/>
                  </a:cubicBezTo>
                  <a:cubicBezTo>
                    <a:pt x="11338" y="81945"/>
                    <a:pt x="7765" y="75606"/>
                    <a:pt x="4769" y="67884"/>
                  </a:cubicBezTo>
                  <a:cubicBezTo>
                    <a:pt x="1772" y="60277"/>
                    <a:pt x="158" y="53708"/>
                    <a:pt x="43" y="48406"/>
                  </a:cubicBezTo>
                  <a:cubicBezTo>
                    <a:pt x="-187" y="42989"/>
                    <a:pt x="504" y="38840"/>
                    <a:pt x="2118" y="35728"/>
                  </a:cubicBezTo>
                  <a:cubicBezTo>
                    <a:pt x="3731" y="32616"/>
                    <a:pt x="6152" y="29966"/>
                    <a:pt x="9494" y="27776"/>
                  </a:cubicBezTo>
                  <a:cubicBezTo>
                    <a:pt x="11568" y="26508"/>
                    <a:pt x="15602" y="24779"/>
                    <a:pt x="21595" y="22589"/>
                  </a:cubicBezTo>
                  <a:cubicBezTo>
                    <a:pt x="28741" y="20054"/>
                    <a:pt x="32314" y="18786"/>
                    <a:pt x="39460" y="16251"/>
                  </a:cubicBezTo>
                  <a:cubicBezTo>
                    <a:pt x="51907" y="11871"/>
                    <a:pt x="59629" y="8644"/>
                    <a:pt x="62741" y="6915"/>
                  </a:cubicBezTo>
                  <a:cubicBezTo>
                    <a:pt x="65852" y="5186"/>
                    <a:pt x="68503" y="2766"/>
                    <a:pt x="70924" y="0"/>
                  </a:cubicBezTo>
                  <a:cubicBezTo>
                    <a:pt x="72998" y="5993"/>
                    <a:pt x="74035" y="8874"/>
                    <a:pt x="76225" y="14867"/>
                  </a:cubicBezTo>
                  <a:cubicBezTo>
                    <a:pt x="74035" y="17403"/>
                    <a:pt x="71154" y="19478"/>
                    <a:pt x="67581" y="21322"/>
                  </a:cubicBezTo>
                  <a:close/>
                  <a:moveTo>
                    <a:pt x="38192" y="33423"/>
                  </a:moveTo>
                  <a:cubicBezTo>
                    <a:pt x="42110" y="38033"/>
                    <a:pt x="46836" y="45410"/>
                    <a:pt x="52368" y="55321"/>
                  </a:cubicBezTo>
                  <a:cubicBezTo>
                    <a:pt x="55480" y="60968"/>
                    <a:pt x="58130" y="64887"/>
                    <a:pt x="60090" y="66846"/>
                  </a:cubicBezTo>
                  <a:cubicBezTo>
                    <a:pt x="62049" y="68921"/>
                    <a:pt x="64239" y="70189"/>
                    <a:pt x="66659" y="70765"/>
                  </a:cubicBezTo>
                  <a:cubicBezTo>
                    <a:pt x="69079" y="71341"/>
                    <a:pt x="71385" y="71111"/>
                    <a:pt x="73690" y="70189"/>
                  </a:cubicBezTo>
                  <a:cubicBezTo>
                    <a:pt x="77147" y="68690"/>
                    <a:pt x="79452" y="66040"/>
                    <a:pt x="80605" y="62236"/>
                  </a:cubicBezTo>
                  <a:cubicBezTo>
                    <a:pt x="81757" y="58433"/>
                    <a:pt x="81181" y="53823"/>
                    <a:pt x="78991" y="48291"/>
                  </a:cubicBezTo>
                  <a:cubicBezTo>
                    <a:pt x="76801" y="42874"/>
                    <a:pt x="73805" y="38379"/>
                    <a:pt x="69886" y="34921"/>
                  </a:cubicBezTo>
                  <a:cubicBezTo>
                    <a:pt x="65968" y="31464"/>
                    <a:pt x="61703" y="29505"/>
                    <a:pt x="57093" y="28928"/>
                  </a:cubicBezTo>
                  <a:cubicBezTo>
                    <a:pt x="53520" y="28467"/>
                    <a:pt x="48795" y="29389"/>
                    <a:pt x="42917" y="31579"/>
                  </a:cubicBezTo>
                  <a:cubicBezTo>
                    <a:pt x="40958" y="32271"/>
                    <a:pt x="40036" y="32616"/>
                    <a:pt x="38077" y="33423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3858049-7AFA-4266-7C47-F626906CD2A4}"/>
                </a:ext>
              </a:extLst>
            </p:cNvPr>
            <p:cNvSpPr/>
            <p:nvPr/>
          </p:nvSpPr>
          <p:spPr>
            <a:xfrm>
              <a:off x="5214149" y="3539633"/>
              <a:ext cx="108740" cy="68460"/>
            </a:xfrm>
            <a:custGeom>
              <a:avLst/>
              <a:gdLst>
                <a:gd name="csX0" fmla="*/ 91049 w 108740"/>
                <a:gd name="csY0" fmla="*/ 5647 h 68460"/>
                <a:gd name="csX1" fmla="*/ 102459 w 108740"/>
                <a:gd name="csY1" fmla="*/ 0 h 68460"/>
                <a:gd name="csX2" fmla="*/ 106954 w 108740"/>
                <a:gd name="csY2" fmla="*/ 10488 h 68460"/>
                <a:gd name="csX3" fmla="*/ 108453 w 108740"/>
                <a:gd name="csY3" fmla="*/ 23396 h 68460"/>
                <a:gd name="csX4" fmla="*/ 104303 w 108740"/>
                <a:gd name="csY4" fmla="*/ 31464 h 68460"/>
                <a:gd name="csX5" fmla="*/ 88975 w 108740"/>
                <a:gd name="csY5" fmla="*/ 38494 h 68460"/>
                <a:gd name="csX6" fmla="*/ 43335 w 108740"/>
                <a:gd name="csY6" fmla="*/ 53708 h 68460"/>
                <a:gd name="csX7" fmla="*/ 47138 w 108740"/>
                <a:gd name="csY7" fmla="*/ 64887 h 68460"/>
                <a:gd name="csX8" fmla="*/ 36650 w 108740"/>
                <a:gd name="csY8" fmla="*/ 68460 h 68460"/>
                <a:gd name="csX9" fmla="*/ 32847 w 108740"/>
                <a:gd name="csY9" fmla="*/ 57165 h 68460"/>
                <a:gd name="csX10" fmla="*/ 13139 w 108740"/>
                <a:gd name="csY10" fmla="*/ 63735 h 68460"/>
                <a:gd name="csX11" fmla="*/ 0 w 108740"/>
                <a:gd name="csY11" fmla="*/ 50826 h 68460"/>
                <a:gd name="csX12" fmla="*/ 27891 w 108740"/>
                <a:gd name="csY12" fmla="*/ 41952 h 68460"/>
                <a:gd name="csX13" fmla="*/ 23051 w 108740"/>
                <a:gd name="csY13" fmla="*/ 26508 h 68460"/>
                <a:gd name="csX14" fmla="*/ 33654 w 108740"/>
                <a:gd name="csY14" fmla="*/ 23281 h 68460"/>
                <a:gd name="csX15" fmla="*/ 38379 w 108740"/>
                <a:gd name="csY15" fmla="*/ 38609 h 68460"/>
                <a:gd name="csX16" fmla="*/ 85056 w 108740"/>
                <a:gd name="csY16" fmla="*/ 23857 h 68460"/>
                <a:gd name="csX17" fmla="*/ 92202 w 108740"/>
                <a:gd name="csY17" fmla="*/ 20745 h 68460"/>
                <a:gd name="csX18" fmla="*/ 94046 w 108740"/>
                <a:gd name="csY18" fmla="*/ 17403 h 68460"/>
                <a:gd name="csX19" fmla="*/ 93470 w 108740"/>
                <a:gd name="csY19" fmla="*/ 12102 h 68460"/>
                <a:gd name="csX20" fmla="*/ 90934 w 108740"/>
                <a:gd name="csY20" fmla="*/ 5878 h 68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08740" h="68460">
                  <a:moveTo>
                    <a:pt x="91049" y="5647"/>
                  </a:moveTo>
                  <a:cubicBezTo>
                    <a:pt x="95544" y="3342"/>
                    <a:pt x="97849" y="2190"/>
                    <a:pt x="102459" y="0"/>
                  </a:cubicBezTo>
                  <a:cubicBezTo>
                    <a:pt x="104534" y="3803"/>
                    <a:pt x="106032" y="7261"/>
                    <a:pt x="106954" y="10488"/>
                  </a:cubicBezTo>
                  <a:cubicBezTo>
                    <a:pt x="108568" y="15674"/>
                    <a:pt x="109144" y="19939"/>
                    <a:pt x="108453" y="23396"/>
                  </a:cubicBezTo>
                  <a:cubicBezTo>
                    <a:pt x="107876" y="26738"/>
                    <a:pt x="106493" y="29389"/>
                    <a:pt x="104303" y="31464"/>
                  </a:cubicBezTo>
                  <a:cubicBezTo>
                    <a:pt x="102229" y="33423"/>
                    <a:pt x="97043" y="35844"/>
                    <a:pt x="88975" y="38494"/>
                  </a:cubicBezTo>
                  <a:cubicBezTo>
                    <a:pt x="70650" y="44603"/>
                    <a:pt x="61545" y="47599"/>
                    <a:pt x="43335" y="53708"/>
                  </a:cubicBezTo>
                  <a:cubicBezTo>
                    <a:pt x="44833" y="58203"/>
                    <a:pt x="45525" y="60392"/>
                    <a:pt x="47138" y="64887"/>
                  </a:cubicBezTo>
                  <a:cubicBezTo>
                    <a:pt x="42989" y="66270"/>
                    <a:pt x="40915" y="67077"/>
                    <a:pt x="36650" y="68460"/>
                  </a:cubicBezTo>
                  <a:cubicBezTo>
                    <a:pt x="35152" y="63965"/>
                    <a:pt x="34345" y="61775"/>
                    <a:pt x="32847" y="57165"/>
                  </a:cubicBezTo>
                  <a:cubicBezTo>
                    <a:pt x="25010" y="59816"/>
                    <a:pt x="21091" y="61084"/>
                    <a:pt x="13139" y="63735"/>
                  </a:cubicBezTo>
                  <a:cubicBezTo>
                    <a:pt x="7837" y="58548"/>
                    <a:pt x="5186" y="56013"/>
                    <a:pt x="0" y="50826"/>
                  </a:cubicBezTo>
                  <a:cubicBezTo>
                    <a:pt x="11180" y="47253"/>
                    <a:pt x="16712" y="45525"/>
                    <a:pt x="27891" y="41952"/>
                  </a:cubicBezTo>
                  <a:cubicBezTo>
                    <a:pt x="25932" y="35728"/>
                    <a:pt x="25010" y="32616"/>
                    <a:pt x="23051" y="26508"/>
                  </a:cubicBezTo>
                  <a:cubicBezTo>
                    <a:pt x="27315" y="25240"/>
                    <a:pt x="29389" y="24549"/>
                    <a:pt x="33654" y="23281"/>
                  </a:cubicBezTo>
                  <a:cubicBezTo>
                    <a:pt x="35498" y="29389"/>
                    <a:pt x="36420" y="32501"/>
                    <a:pt x="38379" y="38609"/>
                  </a:cubicBezTo>
                  <a:cubicBezTo>
                    <a:pt x="57050" y="32732"/>
                    <a:pt x="66385" y="29735"/>
                    <a:pt x="85056" y="23857"/>
                  </a:cubicBezTo>
                  <a:cubicBezTo>
                    <a:pt x="88860" y="22589"/>
                    <a:pt x="91280" y="21552"/>
                    <a:pt x="92202" y="20745"/>
                  </a:cubicBezTo>
                  <a:cubicBezTo>
                    <a:pt x="93124" y="19939"/>
                    <a:pt x="93816" y="18786"/>
                    <a:pt x="94046" y="17403"/>
                  </a:cubicBezTo>
                  <a:cubicBezTo>
                    <a:pt x="94277" y="16020"/>
                    <a:pt x="94046" y="14291"/>
                    <a:pt x="93470" y="12102"/>
                  </a:cubicBezTo>
                  <a:cubicBezTo>
                    <a:pt x="93009" y="10488"/>
                    <a:pt x="92087" y="8413"/>
                    <a:pt x="90934" y="5878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DA857CD7-E98A-9782-488E-9C56E6CED199}"/>
                </a:ext>
              </a:extLst>
            </p:cNvPr>
            <p:cNvSpPr/>
            <p:nvPr/>
          </p:nvSpPr>
          <p:spPr>
            <a:xfrm>
              <a:off x="5189485" y="3509552"/>
              <a:ext cx="122628" cy="51172"/>
            </a:xfrm>
            <a:custGeom>
              <a:avLst/>
              <a:gdLst>
                <a:gd name="csX0" fmla="*/ 122629 w 122628"/>
                <a:gd name="csY0" fmla="*/ 14522 h 51172"/>
                <a:gd name="csX1" fmla="*/ 52786 w 122628"/>
                <a:gd name="csY1" fmla="*/ 34460 h 51172"/>
                <a:gd name="csX2" fmla="*/ 56704 w 122628"/>
                <a:gd name="csY2" fmla="*/ 48060 h 51172"/>
                <a:gd name="csX3" fmla="*/ 46101 w 122628"/>
                <a:gd name="csY3" fmla="*/ 51172 h 51172"/>
                <a:gd name="csX4" fmla="*/ 42067 w 122628"/>
                <a:gd name="csY4" fmla="*/ 37457 h 51172"/>
                <a:gd name="csX5" fmla="*/ 33538 w 122628"/>
                <a:gd name="csY5" fmla="*/ 39877 h 51172"/>
                <a:gd name="csX6" fmla="*/ 20976 w 122628"/>
                <a:gd name="csY6" fmla="*/ 41606 h 51172"/>
                <a:gd name="csX7" fmla="*/ 10142 w 122628"/>
                <a:gd name="csY7" fmla="*/ 35959 h 51172"/>
                <a:gd name="csX8" fmla="*/ 2420 w 122628"/>
                <a:gd name="csY8" fmla="*/ 20630 h 51172"/>
                <a:gd name="csX9" fmla="*/ 0 w 122628"/>
                <a:gd name="csY9" fmla="*/ 5302 h 51172"/>
                <a:gd name="csX10" fmla="*/ 12562 w 122628"/>
                <a:gd name="csY10" fmla="*/ 4725 h 51172"/>
                <a:gd name="csX11" fmla="*/ 14176 w 122628"/>
                <a:gd name="csY11" fmla="*/ 14291 h 51172"/>
                <a:gd name="csX12" fmla="*/ 19478 w 122628"/>
                <a:gd name="csY12" fmla="*/ 23742 h 51172"/>
                <a:gd name="csX13" fmla="*/ 30196 w 122628"/>
                <a:gd name="csY13" fmla="*/ 23973 h 51172"/>
                <a:gd name="csX14" fmla="*/ 37688 w 122628"/>
                <a:gd name="csY14" fmla="*/ 21898 h 51172"/>
                <a:gd name="csX15" fmla="*/ 32962 w 122628"/>
                <a:gd name="csY15" fmla="*/ 4034 h 51172"/>
                <a:gd name="csX16" fmla="*/ 43681 w 122628"/>
                <a:gd name="csY16" fmla="*/ 1268 h 51172"/>
                <a:gd name="csX17" fmla="*/ 48291 w 122628"/>
                <a:gd name="csY17" fmla="*/ 19017 h 51172"/>
                <a:gd name="csX18" fmla="*/ 118364 w 122628"/>
                <a:gd name="csY18" fmla="*/ 0 h 51172"/>
                <a:gd name="csX19" fmla="*/ 122398 w 122628"/>
                <a:gd name="csY19" fmla="*/ 14407 h 51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2628" h="51172">
                  <a:moveTo>
                    <a:pt x="122629" y="14522"/>
                  </a:moveTo>
                  <a:cubicBezTo>
                    <a:pt x="94738" y="22474"/>
                    <a:pt x="80677" y="26508"/>
                    <a:pt x="52786" y="34460"/>
                  </a:cubicBezTo>
                  <a:cubicBezTo>
                    <a:pt x="54284" y="39877"/>
                    <a:pt x="55091" y="42643"/>
                    <a:pt x="56704" y="48060"/>
                  </a:cubicBezTo>
                  <a:cubicBezTo>
                    <a:pt x="52440" y="49328"/>
                    <a:pt x="50365" y="49904"/>
                    <a:pt x="46101" y="51172"/>
                  </a:cubicBezTo>
                  <a:cubicBezTo>
                    <a:pt x="44487" y="45755"/>
                    <a:pt x="43681" y="42989"/>
                    <a:pt x="42067" y="37457"/>
                  </a:cubicBezTo>
                  <a:cubicBezTo>
                    <a:pt x="38610" y="38379"/>
                    <a:pt x="36881" y="38955"/>
                    <a:pt x="33538" y="39877"/>
                  </a:cubicBezTo>
                  <a:cubicBezTo>
                    <a:pt x="28122" y="41376"/>
                    <a:pt x="23972" y="42067"/>
                    <a:pt x="20976" y="41606"/>
                  </a:cubicBezTo>
                  <a:cubicBezTo>
                    <a:pt x="17057" y="41145"/>
                    <a:pt x="13369" y="39186"/>
                    <a:pt x="10142" y="35959"/>
                  </a:cubicBezTo>
                  <a:cubicBezTo>
                    <a:pt x="6915" y="32732"/>
                    <a:pt x="4264" y="27545"/>
                    <a:pt x="2420" y="20630"/>
                  </a:cubicBezTo>
                  <a:cubicBezTo>
                    <a:pt x="1268" y="16135"/>
                    <a:pt x="461" y="11064"/>
                    <a:pt x="0" y="5302"/>
                  </a:cubicBezTo>
                  <a:cubicBezTo>
                    <a:pt x="5071" y="5071"/>
                    <a:pt x="7607" y="4956"/>
                    <a:pt x="12562" y="4725"/>
                  </a:cubicBezTo>
                  <a:cubicBezTo>
                    <a:pt x="12908" y="8183"/>
                    <a:pt x="13369" y="11295"/>
                    <a:pt x="14176" y="14291"/>
                  </a:cubicBezTo>
                  <a:cubicBezTo>
                    <a:pt x="15444" y="19132"/>
                    <a:pt x="17173" y="22244"/>
                    <a:pt x="19478" y="23742"/>
                  </a:cubicBezTo>
                  <a:cubicBezTo>
                    <a:pt x="21783" y="25240"/>
                    <a:pt x="25356" y="25356"/>
                    <a:pt x="30196" y="23973"/>
                  </a:cubicBezTo>
                  <a:cubicBezTo>
                    <a:pt x="33193" y="23166"/>
                    <a:pt x="34691" y="22705"/>
                    <a:pt x="37688" y="21898"/>
                  </a:cubicBezTo>
                  <a:cubicBezTo>
                    <a:pt x="35728" y="14752"/>
                    <a:pt x="34806" y="11180"/>
                    <a:pt x="32962" y="4034"/>
                  </a:cubicBezTo>
                  <a:cubicBezTo>
                    <a:pt x="37227" y="2997"/>
                    <a:pt x="39416" y="2420"/>
                    <a:pt x="43681" y="1268"/>
                  </a:cubicBezTo>
                  <a:cubicBezTo>
                    <a:pt x="45525" y="8413"/>
                    <a:pt x="46447" y="11871"/>
                    <a:pt x="48291" y="19017"/>
                  </a:cubicBezTo>
                  <a:cubicBezTo>
                    <a:pt x="76297" y="11410"/>
                    <a:pt x="90358" y="7607"/>
                    <a:pt x="118364" y="0"/>
                  </a:cubicBezTo>
                  <a:cubicBezTo>
                    <a:pt x="119978" y="5763"/>
                    <a:pt x="120785" y="8644"/>
                    <a:pt x="122398" y="14407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0BCE6D3-3635-AED6-D9A7-E04E594375F2}"/>
                </a:ext>
              </a:extLst>
            </p:cNvPr>
            <p:cNvSpPr/>
            <p:nvPr/>
          </p:nvSpPr>
          <p:spPr>
            <a:xfrm>
              <a:off x="5207961" y="3412548"/>
              <a:ext cx="87972" cy="86699"/>
            </a:xfrm>
            <a:custGeom>
              <a:avLst/>
              <a:gdLst>
                <a:gd name="csX0" fmla="*/ 53672 w 87972"/>
                <a:gd name="csY0" fmla="*/ 84787 h 86699"/>
                <a:gd name="csX1" fmla="*/ 16792 w 87972"/>
                <a:gd name="csY1" fmla="*/ 79025 h 86699"/>
                <a:gd name="csX2" fmla="*/ 1232 w 87972"/>
                <a:gd name="csY2" fmla="*/ 52056 h 86699"/>
                <a:gd name="csX3" fmla="*/ 6188 w 87972"/>
                <a:gd name="csY3" fmla="*/ 18748 h 86699"/>
                <a:gd name="csX4" fmla="*/ 34771 w 87972"/>
                <a:gd name="csY4" fmla="*/ 1229 h 86699"/>
                <a:gd name="csX5" fmla="*/ 60703 w 87972"/>
                <a:gd name="csY5" fmla="*/ 1921 h 86699"/>
                <a:gd name="csX6" fmla="*/ 77530 w 87972"/>
                <a:gd name="csY6" fmla="*/ 14022 h 86699"/>
                <a:gd name="csX7" fmla="*/ 86750 w 87972"/>
                <a:gd name="csY7" fmla="*/ 33846 h 86699"/>
                <a:gd name="csX8" fmla="*/ 82370 w 87972"/>
                <a:gd name="csY8" fmla="*/ 65655 h 86699"/>
                <a:gd name="csX9" fmla="*/ 53672 w 87972"/>
                <a:gd name="csY9" fmla="*/ 84672 h 86699"/>
                <a:gd name="csX10" fmla="*/ 49869 w 87972"/>
                <a:gd name="csY10" fmla="*/ 69343 h 86699"/>
                <a:gd name="csX11" fmla="*/ 71536 w 87972"/>
                <a:gd name="csY11" fmla="*/ 56550 h 86699"/>
                <a:gd name="csX12" fmla="*/ 75340 w 87972"/>
                <a:gd name="csY12" fmla="*/ 36497 h 86699"/>
                <a:gd name="csX13" fmla="*/ 63699 w 87972"/>
                <a:gd name="csY13" fmla="*/ 19785 h 86699"/>
                <a:gd name="csX14" fmla="*/ 38228 w 87972"/>
                <a:gd name="csY14" fmla="*/ 17019 h 86699"/>
                <a:gd name="csX15" fmla="*/ 16561 w 87972"/>
                <a:gd name="csY15" fmla="*/ 29120 h 86699"/>
                <a:gd name="csX16" fmla="*/ 12642 w 87972"/>
                <a:gd name="csY16" fmla="*/ 49866 h 86699"/>
                <a:gd name="csX17" fmla="*/ 24629 w 87972"/>
                <a:gd name="csY17" fmla="*/ 67384 h 86699"/>
                <a:gd name="csX18" fmla="*/ 49754 w 87972"/>
                <a:gd name="csY18" fmla="*/ 69459 h 86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7972" h="86699">
                  <a:moveTo>
                    <a:pt x="53672" y="84787"/>
                  </a:moveTo>
                  <a:cubicBezTo>
                    <a:pt x="38690" y="88591"/>
                    <a:pt x="26357" y="86747"/>
                    <a:pt x="16792" y="79025"/>
                  </a:cubicBezTo>
                  <a:cubicBezTo>
                    <a:pt x="8839" y="72571"/>
                    <a:pt x="3653" y="63581"/>
                    <a:pt x="1232" y="52056"/>
                  </a:cubicBezTo>
                  <a:cubicBezTo>
                    <a:pt x="-1418" y="39263"/>
                    <a:pt x="195" y="28083"/>
                    <a:pt x="6188" y="18748"/>
                  </a:cubicBezTo>
                  <a:cubicBezTo>
                    <a:pt x="12066" y="9297"/>
                    <a:pt x="21747" y="3534"/>
                    <a:pt x="34771" y="1229"/>
                  </a:cubicBezTo>
                  <a:cubicBezTo>
                    <a:pt x="45374" y="-615"/>
                    <a:pt x="54018" y="-384"/>
                    <a:pt x="60703" y="1921"/>
                  </a:cubicBezTo>
                  <a:cubicBezTo>
                    <a:pt x="67387" y="4226"/>
                    <a:pt x="73035" y="8260"/>
                    <a:pt x="77530" y="14022"/>
                  </a:cubicBezTo>
                  <a:cubicBezTo>
                    <a:pt x="82140" y="19785"/>
                    <a:pt x="85136" y="26354"/>
                    <a:pt x="86750" y="33846"/>
                  </a:cubicBezTo>
                  <a:cubicBezTo>
                    <a:pt x="89285" y="45947"/>
                    <a:pt x="87902" y="56435"/>
                    <a:pt x="82370" y="65655"/>
                  </a:cubicBezTo>
                  <a:cubicBezTo>
                    <a:pt x="76838" y="74876"/>
                    <a:pt x="67272" y="81330"/>
                    <a:pt x="53672" y="84672"/>
                  </a:cubicBezTo>
                  <a:close/>
                  <a:moveTo>
                    <a:pt x="49869" y="69343"/>
                  </a:moveTo>
                  <a:cubicBezTo>
                    <a:pt x="60242" y="66923"/>
                    <a:pt x="67503" y="62544"/>
                    <a:pt x="71536" y="56550"/>
                  </a:cubicBezTo>
                  <a:cubicBezTo>
                    <a:pt x="75570" y="50442"/>
                    <a:pt x="76838" y="43873"/>
                    <a:pt x="75340" y="36497"/>
                  </a:cubicBezTo>
                  <a:cubicBezTo>
                    <a:pt x="73841" y="29236"/>
                    <a:pt x="69923" y="23588"/>
                    <a:pt x="63699" y="19785"/>
                  </a:cubicBezTo>
                  <a:cubicBezTo>
                    <a:pt x="57476" y="15866"/>
                    <a:pt x="48947" y="14944"/>
                    <a:pt x="38228" y="17019"/>
                  </a:cubicBezTo>
                  <a:cubicBezTo>
                    <a:pt x="28086" y="18978"/>
                    <a:pt x="20825" y="22897"/>
                    <a:pt x="16561" y="29120"/>
                  </a:cubicBezTo>
                  <a:cubicBezTo>
                    <a:pt x="12297" y="35229"/>
                    <a:pt x="11029" y="42259"/>
                    <a:pt x="12642" y="49866"/>
                  </a:cubicBezTo>
                  <a:cubicBezTo>
                    <a:pt x="14256" y="57703"/>
                    <a:pt x="18290" y="63581"/>
                    <a:pt x="24629" y="67384"/>
                  </a:cubicBezTo>
                  <a:cubicBezTo>
                    <a:pt x="30968" y="71303"/>
                    <a:pt x="39381" y="71994"/>
                    <a:pt x="49754" y="69459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F4BAD09-2FF6-259E-6BD2-5B6B03ABD479}"/>
                </a:ext>
              </a:extLst>
            </p:cNvPr>
            <p:cNvSpPr/>
            <p:nvPr/>
          </p:nvSpPr>
          <p:spPr>
            <a:xfrm>
              <a:off x="5192589" y="3351541"/>
              <a:ext cx="89673" cy="50941"/>
            </a:xfrm>
            <a:custGeom>
              <a:avLst/>
              <a:gdLst>
                <a:gd name="csX0" fmla="*/ 89674 w 89673"/>
                <a:gd name="csY0" fmla="*/ 37803 h 50941"/>
                <a:gd name="csX1" fmla="*/ 7038 w 89673"/>
                <a:gd name="csY1" fmla="*/ 50942 h 50941"/>
                <a:gd name="csX2" fmla="*/ 4848 w 89673"/>
                <a:gd name="csY2" fmla="*/ 36766 h 50941"/>
                <a:gd name="csX3" fmla="*/ 17411 w 89673"/>
                <a:gd name="csY3" fmla="*/ 34921 h 50941"/>
                <a:gd name="csX4" fmla="*/ 4387 w 89673"/>
                <a:gd name="csY4" fmla="*/ 26623 h 50941"/>
                <a:gd name="csX5" fmla="*/ 238 w 89673"/>
                <a:gd name="csY5" fmla="*/ 16827 h 50941"/>
                <a:gd name="csX6" fmla="*/ 2773 w 89673"/>
                <a:gd name="csY6" fmla="*/ 0 h 50941"/>
                <a:gd name="csX7" fmla="*/ 16489 w 89673"/>
                <a:gd name="csY7" fmla="*/ 3803 h 50941"/>
                <a:gd name="csX8" fmla="*/ 14875 w 89673"/>
                <a:gd name="csY8" fmla="*/ 15674 h 50941"/>
                <a:gd name="csX9" fmla="*/ 18909 w 89673"/>
                <a:gd name="csY9" fmla="*/ 24549 h 50941"/>
                <a:gd name="csX10" fmla="*/ 27438 w 89673"/>
                <a:gd name="csY10" fmla="*/ 29274 h 50941"/>
                <a:gd name="csX11" fmla="*/ 44149 w 89673"/>
                <a:gd name="csY11" fmla="*/ 29505 h 50941"/>
                <a:gd name="csX12" fmla="*/ 87484 w 89673"/>
                <a:gd name="csY12" fmla="*/ 23166 h 50941"/>
                <a:gd name="csX13" fmla="*/ 89674 w 89673"/>
                <a:gd name="csY13" fmla="*/ 37918 h 50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673" h="50941">
                  <a:moveTo>
                    <a:pt x="89674" y="37803"/>
                  </a:moveTo>
                  <a:cubicBezTo>
                    <a:pt x="56596" y="42989"/>
                    <a:pt x="40115" y="45640"/>
                    <a:pt x="7038" y="50942"/>
                  </a:cubicBezTo>
                  <a:cubicBezTo>
                    <a:pt x="6116" y="45294"/>
                    <a:pt x="5655" y="42413"/>
                    <a:pt x="4848" y="36766"/>
                  </a:cubicBezTo>
                  <a:lnTo>
                    <a:pt x="17411" y="34921"/>
                  </a:lnTo>
                  <a:cubicBezTo>
                    <a:pt x="10956" y="32156"/>
                    <a:pt x="6692" y="29389"/>
                    <a:pt x="4387" y="26623"/>
                  </a:cubicBezTo>
                  <a:cubicBezTo>
                    <a:pt x="2082" y="23742"/>
                    <a:pt x="699" y="20515"/>
                    <a:pt x="238" y="16827"/>
                  </a:cubicBezTo>
                  <a:cubicBezTo>
                    <a:pt x="-454" y="11525"/>
                    <a:pt x="353" y="5878"/>
                    <a:pt x="2773" y="0"/>
                  </a:cubicBezTo>
                  <a:cubicBezTo>
                    <a:pt x="8306" y="1614"/>
                    <a:pt x="10956" y="2305"/>
                    <a:pt x="16489" y="3803"/>
                  </a:cubicBezTo>
                  <a:cubicBezTo>
                    <a:pt x="14875" y="7837"/>
                    <a:pt x="14414" y="11871"/>
                    <a:pt x="14875" y="15674"/>
                  </a:cubicBezTo>
                  <a:cubicBezTo>
                    <a:pt x="15336" y="19132"/>
                    <a:pt x="16719" y="22013"/>
                    <a:pt x="18909" y="24549"/>
                  </a:cubicBezTo>
                  <a:cubicBezTo>
                    <a:pt x="21099" y="26969"/>
                    <a:pt x="23980" y="28583"/>
                    <a:pt x="27438" y="29274"/>
                  </a:cubicBezTo>
                  <a:cubicBezTo>
                    <a:pt x="32624" y="30311"/>
                    <a:pt x="38271" y="30311"/>
                    <a:pt x="44149" y="29505"/>
                  </a:cubicBezTo>
                  <a:cubicBezTo>
                    <a:pt x="61437" y="26969"/>
                    <a:pt x="70196" y="25701"/>
                    <a:pt x="87484" y="23166"/>
                  </a:cubicBezTo>
                  <a:cubicBezTo>
                    <a:pt x="88291" y="29044"/>
                    <a:pt x="88752" y="32040"/>
                    <a:pt x="89674" y="37918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74A04A0-4A43-CEA8-04E3-588606D74A6A}"/>
                </a:ext>
              </a:extLst>
            </p:cNvPr>
            <p:cNvSpPr/>
            <p:nvPr/>
          </p:nvSpPr>
          <p:spPr>
            <a:xfrm>
              <a:off x="5182784" y="3214621"/>
              <a:ext cx="91988" cy="127699"/>
            </a:xfrm>
            <a:custGeom>
              <a:avLst/>
              <a:gdLst>
                <a:gd name="csX0" fmla="*/ 91988 w 91988"/>
                <a:gd name="csY0" fmla="*/ 118595 h 127699"/>
                <a:gd name="csX1" fmla="*/ 8776 w 91988"/>
                <a:gd name="csY1" fmla="*/ 127700 h 127699"/>
                <a:gd name="csX2" fmla="*/ 7277 w 91988"/>
                <a:gd name="csY2" fmla="*/ 113524 h 127699"/>
                <a:gd name="csX3" fmla="*/ 18918 w 91988"/>
                <a:gd name="csY3" fmla="*/ 112371 h 127699"/>
                <a:gd name="csX4" fmla="*/ 7969 w 91988"/>
                <a:gd name="csY4" fmla="*/ 101653 h 127699"/>
                <a:gd name="csX5" fmla="*/ 2898 w 91988"/>
                <a:gd name="csY5" fmla="*/ 85287 h 127699"/>
                <a:gd name="csX6" fmla="*/ 5549 w 91988"/>
                <a:gd name="csY6" fmla="*/ 67884 h 127699"/>
                <a:gd name="csX7" fmla="*/ 15806 w 91988"/>
                <a:gd name="csY7" fmla="*/ 57857 h 127699"/>
                <a:gd name="csX8" fmla="*/ 16 w 91988"/>
                <a:gd name="csY8" fmla="*/ 29620 h 127699"/>
                <a:gd name="csX9" fmla="*/ 6471 w 91988"/>
                <a:gd name="csY9" fmla="*/ 7952 h 127699"/>
                <a:gd name="csX10" fmla="*/ 27677 w 91988"/>
                <a:gd name="csY10" fmla="*/ 346 h 127699"/>
                <a:gd name="csX11" fmla="*/ 85073 w 91988"/>
                <a:gd name="csY11" fmla="*/ 0 h 127699"/>
                <a:gd name="csX12" fmla="*/ 85303 w 91988"/>
                <a:gd name="csY12" fmla="*/ 14752 h 127699"/>
                <a:gd name="csX13" fmla="*/ 32633 w 91988"/>
                <a:gd name="csY13" fmla="*/ 15790 h 127699"/>
                <a:gd name="csX14" fmla="*/ 20416 w 91988"/>
                <a:gd name="csY14" fmla="*/ 17518 h 127699"/>
                <a:gd name="csX15" fmla="*/ 14538 w 91988"/>
                <a:gd name="csY15" fmla="*/ 23166 h 127699"/>
                <a:gd name="csX16" fmla="*/ 12579 w 91988"/>
                <a:gd name="csY16" fmla="*/ 32732 h 127699"/>
                <a:gd name="csX17" fmla="*/ 19033 w 91988"/>
                <a:gd name="csY17" fmla="*/ 48752 h 127699"/>
                <a:gd name="csX18" fmla="*/ 38165 w 91988"/>
                <a:gd name="csY18" fmla="*/ 54284 h 127699"/>
                <a:gd name="csX19" fmla="*/ 86686 w 91988"/>
                <a:gd name="csY19" fmla="*/ 51864 h 127699"/>
                <a:gd name="csX20" fmla="*/ 87493 w 91988"/>
                <a:gd name="csY20" fmla="*/ 66731 h 127699"/>
                <a:gd name="csX21" fmla="*/ 33209 w 91988"/>
                <a:gd name="csY21" fmla="*/ 70189 h 127699"/>
                <a:gd name="csX22" fmla="*/ 19264 w 91988"/>
                <a:gd name="csY22" fmla="*/ 74914 h 127699"/>
                <a:gd name="csX23" fmla="*/ 15460 w 91988"/>
                <a:gd name="csY23" fmla="*/ 87822 h 127699"/>
                <a:gd name="csX24" fmla="*/ 19609 w 91988"/>
                <a:gd name="csY24" fmla="*/ 99809 h 127699"/>
                <a:gd name="csX25" fmla="*/ 29521 w 91988"/>
                <a:gd name="csY25" fmla="*/ 107069 h 127699"/>
                <a:gd name="csX26" fmla="*/ 47155 w 91988"/>
                <a:gd name="csY26" fmla="*/ 107876 h 127699"/>
                <a:gd name="csX27" fmla="*/ 90374 w 91988"/>
                <a:gd name="csY27" fmla="*/ 103727 h 127699"/>
                <a:gd name="csX28" fmla="*/ 91873 w 91988"/>
                <a:gd name="csY28" fmla="*/ 118480 h 127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91988" h="127699">
                  <a:moveTo>
                    <a:pt x="91988" y="118595"/>
                  </a:moveTo>
                  <a:cubicBezTo>
                    <a:pt x="58680" y="122168"/>
                    <a:pt x="42084" y="124012"/>
                    <a:pt x="8776" y="127700"/>
                  </a:cubicBezTo>
                  <a:cubicBezTo>
                    <a:pt x="8199" y="122052"/>
                    <a:pt x="7854" y="119171"/>
                    <a:pt x="7277" y="113524"/>
                  </a:cubicBezTo>
                  <a:cubicBezTo>
                    <a:pt x="12003" y="113063"/>
                    <a:pt x="14308" y="112832"/>
                    <a:pt x="18918" y="112371"/>
                  </a:cubicBezTo>
                  <a:cubicBezTo>
                    <a:pt x="14538" y="109836"/>
                    <a:pt x="10850" y="106263"/>
                    <a:pt x="7969" y="101653"/>
                  </a:cubicBezTo>
                  <a:cubicBezTo>
                    <a:pt x="5088" y="97043"/>
                    <a:pt x="3359" y="91510"/>
                    <a:pt x="2898" y="85287"/>
                  </a:cubicBezTo>
                  <a:cubicBezTo>
                    <a:pt x="2437" y="78372"/>
                    <a:pt x="3244" y="72494"/>
                    <a:pt x="5549" y="67884"/>
                  </a:cubicBezTo>
                  <a:cubicBezTo>
                    <a:pt x="7854" y="63274"/>
                    <a:pt x="11311" y="59931"/>
                    <a:pt x="15806" y="57857"/>
                  </a:cubicBezTo>
                  <a:cubicBezTo>
                    <a:pt x="5664" y="51057"/>
                    <a:pt x="362" y="41491"/>
                    <a:pt x="16" y="29620"/>
                  </a:cubicBezTo>
                  <a:cubicBezTo>
                    <a:pt x="-214" y="20284"/>
                    <a:pt x="1976" y="13023"/>
                    <a:pt x="6471" y="7952"/>
                  </a:cubicBezTo>
                  <a:cubicBezTo>
                    <a:pt x="10965" y="2881"/>
                    <a:pt x="18111" y="346"/>
                    <a:pt x="27677" y="346"/>
                  </a:cubicBezTo>
                  <a:cubicBezTo>
                    <a:pt x="50612" y="230"/>
                    <a:pt x="62138" y="115"/>
                    <a:pt x="85073" y="0"/>
                  </a:cubicBezTo>
                  <a:cubicBezTo>
                    <a:pt x="85073" y="5878"/>
                    <a:pt x="85073" y="8874"/>
                    <a:pt x="85303" y="14752"/>
                  </a:cubicBezTo>
                  <a:cubicBezTo>
                    <a:pt x="64212" y="15098"/>
                    <a:pt x="53724" y="15328"/>
                    <a:pt x="32633" y="15790"/>
                  </a:cubicBezTo>
                  <a:cubicBezTo>
                    <a:pt x="26986" y="15790"/>
                    <a:pt x="22837" y="16481"/>
                    <a:pt x="20416" y="17518"/>
                  </a:cubicBezTo>
                  <a:cubicBezTo>
                    <a:pt x="17996" y="18556"/>
                    <a:pt x="15921" y="20515"/>
                    <a:pt x="14538" y="23166"/>
                  </a:cubicBezTo>
                  <a:cubicBezTo>
                    <a:pt x="13040" y="25932"/>
                    <a:pt x="12348" y="29044"/>
                    <a:pt x="12579" y="32732"/>
                  </a:cubicBezTo>
                  <a:cubicBezTo>
                    <a:pt x="12810" y="39301"/>
                    <a:pt x="14999" y="44603"/>
                    <a:pt x="19033" y="48752"/>
                  </a:cubicBezTo>
                  <a:cubicBezTo>
                    <a:pt x="23182" y="52901"/>
                    <a:pt x="29521" y="54630"/>
                    <a:pt x="38165" y="54284"/>
                  </a:cubicBezTo>
                  <a:cubicBezTo>
                    <a:pt x="57527" y="53247"/>
                    <a:pt x="67324" y="52785"/>
                    <a:pt x="86686" y="51864"/>
                  </a:cubicBezTo>
                  <a:cubicBezTo>
                    <a:pt x="87032" y="57741"/>
                    <a:pt x="87147" y="60738"/>
                    <a:pt x="87493" y="66731"/>
                  </a:cubicBezTo>
                  <a:cubicBezTo>
                    <a:pt x="65826" y="68114"/>
                    <a:pt x="54992" y="68806"/>
                    <a:pt x="33209" y="70189"/>
                  </a:cubicBezTo>
                  <a:cubicBezTo>
                    <a:pt x="26870" y="70650"/>
                    <a:pt x="22260" y="72148"/>
                    <a:pt x="19264" y="74914"/>
                  </a:cubicBezTo>
                  <a:cubicBezTo>
                    <a:pt x="16267" y="77680"/>
                    <a:pt x="14999" y="82060"/>
                    <a:pt x="15460" y="87822"/>
                  </a:cubicBezTo>
                  <a:cubicBezTo>
                    <a:pt x="15806" y="92317"/>
                    <a:pt x="17189" y="96236"/>
                    <a:pt x="19609" y="99809"/>
                  </a:cubicBezTo>
                  <a:cubicBezTo>
                    <a:pt x="22030" y="103381"/>
                    <a:pt x="25372" y="105802"/>
                    <a:pt x="29521" y="107069"/>
                  </a:cubicBezTo>
                  <a:cubicBezTo>
                    <a:pt x="33670" y="108337"/>
                    <a:pt x="39548" y="108683"/>
                    <a:pt x="47155" y="107876"/>
                  </a:cubicBezTo>
                  <a:cubicBezTo>
                    <a:pt x="64443" y="106147"/>
                    <a:pt x="73087" y="105341"/>
                    <a:pt x="90374" y="103727"/>
                  </a:cubicBezTo>
                  <a:cubicBezTo>
                    <a:pt x="90951" y="109605"/>
                    <a:pt x="91296" y="112602"/>
                    <a:pt x="91873" y="118480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E1546F3-B30F-2456-624B-1FFD7886BF5C}"/>
                </a:ext>
              </a:extLst>
            </p:cNvPr>
            <p:cNvSpPr/>
            <p:nvPr/>
          </p:nvSpPr>
          <p:spPr>
            <a:xfrm>
              <a:off x="5155618" y="3046225"/>
              <a:ext cx="120170" cy="101452"/>
            </a:xfrm>
            <a:custGeom>
              <a:avLst/>
              <a:gdLst>
                <a:gd name="csX0" fmla="*/ 76741 w 120170"/>
                <a:gd name="csY0" fmla="*/ 101204 h 101452"/>
                <a:gd name="csX1" fmla="*/ 76395 w 120170"/>
                <a:gd name="csY1" fmla="*/ 85530 h 101452"/>
                <a:gd name="csX2" fmla="*/ 90917 w 120170"/>
                <a:gd name="csY2" fmla="*/ 81381 h 101452"/>
                <a:gd name="csX3" fmla="*/ 100828 w 120170"/>
                <a:gd name="csY3" fmla="*/ 69740 h 101452"/>
                <a:gd name="csX4" fmla="*/ 105899 w 120170"/>
                <a:gd name="csY4" fmla="*/ 51300 h 101452"/>
                <a:gd name="csX5" fmla="*/ 104977 w 120170"/>
                <a:gd name="csY5" fmla="*/ 34818 h 101452"/>
                <a:gd name="csX6" fmla="*/ 99099 w 120170"/>
                <a:gd name="csY6" fmla="*/ 23524 h 101452"/>
                <a:gd name="csX7" fmla="*/ 89764 w 120170"/>
                <a:gd name="csY7" fmla="*/ 18914 h 101452"/>
                <a:gd name="csX8" fmla="*/ 79968 w 120170"/>
                <a:gd name="csY8" fmla="*/ 21103 h 101452"/>
                <a:gd name="csX9" fmla="*/ 71900 w 120170"/>
                <a:gd name="csY9" fmla="*/ 31591 h 101452"/>
                <a:gd name="csX10" fmla="*/ 64063 w 120170"/>
                <a:gd name="csY10" fmla="*/ 53374 h 101452"/>
                <a:gd name="csX11" fmla="*/ 54958 w 120170"/>
                <a:gd name="csY11" fmla="*/ 77231 h 101452"/>
                <a:gd name="csX12" fmla="*/ 43317 w 120170"/>
                <a:gd name="csY12" fmla="*/ 90140 h 101452"/>
                <a:gd name="csX13" fmla="*/ 28680 w 120170"/>
                <a:gd name="csY13" fmla="*/ 93828 h 101452"/>
                <a:gd name="csX14" fmla="*/ 12660 w 120170"/>
                <a:gd name="csY14" fmla="*/ 87258 h 101452"/>
                <a:gd name="csX15" fmla="*/ 2287 w 120170"/>
                <a:gd name="csY15" fmla="*/ 69970 h 101452"/>
                <a:gd name="csX16" fmla="*/ 328 w 120170"/>
                <a:gd name="csY16" fmla="*/ 45306 h 101452"/>
                <a:gd name="csX17" fmla="*/ 7128 w 120170"/>
                <a:gd name="csY17" fmla="*/ 19836 h 101452"/>
                <a:gd name="csX18" fmla="*/ 21304 w 120170"/>
                <a:gd name="csY18" fmla="*/ 4161 h 101452"/>
                <a:gd name="csX19" fmla="*/ 40205 w 120170"/>
                <a:gd name="csY19" fmla="*/ 128 h 101452"/>
                <a:gd name="csX20" fmla="*/ 39283 w 120170"/>
                <a:gd name="csY20" fmla="*/ 16609 h 101452"/>
                <a:gd name="csX21" fmla="*/ 21765 w 120170"/>
                <a:gd name="csY21" fmla="*/ 23754 h 101452"/>
                <a:gd name="csX22" fmla="*/ 13928 w 120170"/>
                <a:gd name="csY22" fmla="*/ 45998 h 101452"/>
                <a:gd name="csX23" fmla="*/ 17040 w 120170"/>
                <a:gd name="csY23" fmla="*/ 69394 h 101452"/>
                <a:gd name="csX24" fmla="*/ 28795 w 120170"/>
                <a:gd name="csY24" fmla="*/ 77462 h 101452"/>
                <a:gd name="csX25" fmla="*/ 39399 w 120170"/>
                <a:gd name="csY25" fmla="*/ 73198 h 101452"/>
                <a:gd name="csX26" fmla="*/ 49771 w 120170"/>
                <a:gd name="csY26" fmla="*/ 48303 h 101452"/>
                <a:gd name="csX27" fmla="*/ 60029 w 120170"/>
                <a:gd name="csY27" fmla="*/ 20988 h 101452"/>
                <a:gd name="csX28" fmla="*/ 73744 w 120170"/>
                <a:gd name="csY28" fmla="*/ 6236 h 101452"/>
                <a:gd name="csX29" fmla="*/ 90686 w 120170"/>
                <a:gd name="csY29" fmla="*/ 3239 h 101452"/>
                <a:gd name="csX30" fmla="*/ 107167 w 120170"/>
                <a:gd name="csY30" fmla="*/ 11076 h 101452"/>
                <a:gd name="csX31" fmla="*/ 117770 w 120170"/>
                <a:gd name="csY31" fmla="*/ 28480 h 101452"/>
                <a:gd name="csX32" fmla="*/ 119845 w 120170"/>
                <a:gd name="csY32" fmla="*/ 52106 h 101452"/>
                <a:gd name="csX33" fmla="*/ 113045 w 120170"/>
                <a:gd name="csY33" fmla="*/ 79191 h 101452"/>
                <a:gd name="csX34" fmla="*/ 98177 w 120170"/>
                <a:gd name="csY34" fmla="*/ 95787 h 101452"/>
                <a:gd name="csX35" fmla="*/ 77086 w 120170"/>
                <a:gd name="csY35" fmla="*/ 101434 h 101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20170" h="101452">
                  <a:moveTo>
                    <a:pt x="76741" y="101204"/>
                  </a:moveTo>
                  <a:cubicBezTo>
                    <a:pt x="76510" y="94980"/>
                    <a:pt x="76510" y="91869"/>
                    <a:pt x="76395" y="85530"/>
                  </a:cubicBezTo>
                  <a:cubicBezTo>
                    <a:pt x="82157" y="85184"/>
                    <a:pt x="86998" y="83801"/>
                    <a:pt x="90917" y="81381"/>
                  </a:cubicBezTo>
                  <a:cubicBezTo>
                    <a:pt x="94835" y="78960"/>
                    <a:pt x="98062" y="75042"/>
                    <a:pt x="100828" y="69740"/>
                  </a:cubicBezTo>
                  <a:cubicBezTo>
                    <a:pt x="103594" y="64323"/>
                    <a:pt x="105208" y="58215"/>
                    <a:pt x="105899" y="51300"/>
                  </a:cubicBezTo>
                  <a:cubicBezTo>
                    <a:pt x="106476" y="45191"/>
                    <a:pt x="106130" y="39659"/>
                    <a:pt x="104977" y="34818"/>
                  </a:cubicBezTo>
                  <a:cubicBezTo>
                    <a:pt x="103825" y="29863"/>
                    <a:pt x="101866" y="26175"/>
                    <a:pt x="99099" y="23524"/>
                  </a:cubicBezTo>
                  <a:cubicBezTo>
                    <a:pt x="96333" y="20873"/>
                    <a:pt x="93222" y="19259"/>
                    <a:pt x="89764" y="18914"/>
                  </a:cubicBezTo>
                  <a:cubicBezTo>
                    <a:pt x="86191" y="18453"/>
                    <a:pt x="82849" y="19259"/>
                    <a:pt x="79968" y="21103"/>
                  </a:cubicBezTo>
                  <a:cubicBezTo>
                    <a:pt x="76971" y="23063"/>
                    <a:pt x="74320" y="26520"/>
                    <a:pt x="71900" y="31591"/>
                  </a:cubicBezTo>
                  <a:cubicBezTo>
                    <a:pt x="70402" y="34818"/>
                    <a:pt x="67636" y="42079"/>
                    <a:pt x="64063" y="53374"/>
                  </a:cubicBezTo>
                  <a:cubicBezTo>
                    <a:pt x="60490" y="64669"/>
                    <a:pt x="57493" y="72737"/>
                    <a:pt x="54958" y="77231"/>
                  </a:cubicBezTo>
                  <a:cubicBezTo>
                    <a:pt x="51616" y="83109"/>
                    <a:pt x="47812" y="87374"/>
                    <a:pt x="43317" y="90140"/>
                  </a:cubicBezTo>
                  <a:cubicBezTo>
                    <a:pt x="38822" y="92906"/>
                    <a:pt x="33982" y="94174"/>
                    <a:pt x="28680" y="93828"/>
                  </a:cubicBezTo>
                  <a:cubicBezTo>
                    <a:pt x="22918" y="93482"/>
                    <a:pt x="17501" y="91407"/>
                    <a:pt x="12660" y="87258"/>
                  </a:cubicBezTo>
                  <a:cubicBezTo>
                    <a:pt x="7820" y="83225"/>
                    <a:pt x="4362" y="77462"/>
                    <a:pt x="2287" y="69970"/>
                  </a:cubicBezTo>
                  <a:cubicBezTo>
                    <a:pt x="213" y="62479"/>
                    <a:pt x="-479" y="54296"/>
                    <a:pt x="328" y="45306"/>
                  </a:cubicBezTo>
                  <a:cubicBezTo>
                    <a:pt x="1250" y="35510"/>
                    <a:pt x="3555" y="26981"/>
                    <a:pt x="7128" y="19836"/>
                  </a:cubicBezTo>
                  <a:cubicBezTo>
                    <a:pt x="10701" y="12690"/>
                    <a:pt x="15426" y="7388"/>
                    <a:pt x="21304" y="4161"/>
                  </a:cubicBezTo>
                  <a:cubicBezTo>
                    <a:pt x="27182" y="934"/>
                    <a:pt x="33406" y="-449"/>
                    <a:pt x="40205" y="128"/>
                  </a:cubicBezTo>
                  <a:cubicBezTo>
                    <a:pt x="39744" y="6697"/>
                    <a:pt x="39629" y="10039"/>
                    <a:pt x="39283" y="16609"/>
                  </a:cubicBezTo>
                  <a:cubicBezTo>
                    <a:pt x="31907" y="16609"/>
                    <a:pt x="26145" y="19029"/>
                    <a:pt x="21765" y="23754"/>
                  </a:cubicBezTo>
                  <a:cubicBezTo>
                    <a:pt x="17501" y="28480"/>
                    <a:pt x="14850" y="35856"/>
                    <a:pt x="13928" y="45998"/>
                  </a:cubicBezTo>
                  <a:cubicBezTo>
                    <a:pt x="13006" y="56486"/>
                    <a:pt x="14043" y="64323"/>
                    <a:pt x="17040" y="69394"/>
                  </a:cubicBezTo>
                  <a:cubicBezTo>
                    <a:pt x="20036" y="74465"/>
                    <a:pt x="23955" y="77116"/>
                    <a:pt x="28795" y="77462"/>
                  </a:cubicBezTo>
                  <a:cubicBezTo>
                    <a:pt x="32945" y="77692"/>
                    <a:pt x="36402" y="76309"/>
                    <a:pt x="39399" y="73198"/>
                  </a:cubicBezTo>
                  <a:cubicBezTo>
                    <a:pt x="42280" y="70086"/>
                    <a:pt x="45622" y="61788"/>
                    <a:pt x="49771" y="48303"/>
                  </a:cubicBezTo>
                  <a:cubicBezTo>
                    <a:pt x="53805" y="34818"/>
                    <a:pt x="57378" y="25829"/>
                    <a:pt x="60029" y="20988"/>
                  </a:cubicBezTo>
                  <a:cubicBezTo>
                    <a:pt x="63948" y="13958"/>
                    <a:pt x="68558" y="9117"/>
                    <a:pt x="73744" y="6236"/>
                  </a:cubicBezTo>
                  <a:cubicBezTo>
                    <a:pt x="78930" y="3355"/>
                    <a:pt x="84578" y="2433"/>
                    <a:pt x="90686" y="3239"/>
                  </a:cubicBezTo>
                  <a:cubicBezTo>
                    <a:pt x="96794" y="4046"/>
                    <a:pt x="102211" y="6697"/>
                    <a:pt x="107167" y="11076"/>
                  </a:cubicBezTo>
                  <a:cubicBezTo>
                    <a:pt x="112123" y="15456"/>
                    <a:pt x="115581" y="21334"/>
                    <a:pt x="117770" y="28480"/>
                  </a:cubicBezTo>
                  <a:cubicBezTo>
                    <a:pt x="119960" y="35740"/>
                    <a:pt x="120652" y="43578"/>
                    <a:pt x="119845" y="52106"/>
                  </a:cubicBezTo>
                  <a:cubicBezTo>
                    <a:pt x="118808" y="62940"/>
                    <a:pt x="116503" y="71930"/>
                    <a:pt x="113045" y="79191"/>
                  </a:cubicBezTo>
                  <a:cubicBezTo>
                    <a:pt x="109472" y="86336"/>
                    <a:pt x="104516" y="91869"/>
                    <a:pt x="98177" y="95787"/>
                  </a:cubicBezTo>
                  <a:cubicBezTo>
                    <a:pt x="91839" y="99706"/>
                    <a:pt x="84808" y="101665"/>
                    <a:pt x="77086" y="101434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DEC1795-D224-7EF3-1604-9F86DD570D06}"/>
                </a:ext>
              </a:extLst>
            </p:cNvPr>
            <p:cNvSpPr/>
            <p:nvPr/>
          </p:nvSpPr>
          <p:spPr>
            <a:xfrm>
              <a:off x="5202036" y="2947705"/>
              <a:ext cx="87856" cy="86134"/>
            </a:xfrm>
            <a:custGeom>
              <a:avLst/>
              <a:gdLst>
                <a:gd name="csX0" fmla="*/ 36892 w 87856"/>
                <a:gd name="csY0" fmla="*/ 85393 h 86134"/>
                <a:gd name="csX1" fmla="*/ 5083 w 87856"/>
                <a:gd name="csY1" fmla="*/ 66031 h 86134"/>
                <a:gd name="csX2" fmla="*/ 934 w 87856"/>
                <a:gd name="csY2" fmla="*/ 35374 h 86134"/>
                <a:gd name="csX3" fmla="*/ 18106 w 87856"/>
                <a:gd name="csY3" fmla="*/ 6560 h 86134"/>
                <a:gd name="csX4" fmla="*/ 51184 w 87856"/>
                <a:gd name="csY4" fmla="*/ 1374 h 86134"/>
                <a:gd name="csX5" fmla="*/ 74926 w 87856"/>
                <a:gd name="csY5" fmla="*/ 11977 h 86134"/>
                <a:gd name="csX6" fmla="*/ 85990 w 87856"/>
                <a:gd name="csY6" fmla="*/ 29496 h 86134"/>
                <a:gd name="csX7" fmla="*/ 87027 w 87856"/>
                <a:gd name="csY7" fmla="*/ 51278 h 86134"/>
                <a:gd name="csX8" fmla="*/ 70892 w 87856"/>
                <a:gd name="csY8" fmla="*/ 78824 h 86134"/>
                <a:gd name="csX9" fmla="*/ 37008 w 87856"/>
                <a:gd name="csY9" fmla="*/ 85393 h 86134"/>
                <a:gd name="csX10" fmla="*/ 39313 w 87856"/>
                <a:gd name="csY10" fmla="*/ 69719 h 86134"/>
                <a:gd name="csX11" fmla="*/ 64322 w 87856"/>
                <a:gd name="csY11" fmla="*/ 66146 h 86134"/>
                <a:gd name="csX12" fmla="*/ 75502 w 87856"/>
                <a:gd name="csY12" fmla="*/ 49089 h 86134"/>
                <a:gd name="csX13" fmla="*/ 71122 w 87856"/>
                <a:gd name="csY13" fmla="*/ 29265 h 86134"/>
                <a:gd name="csX14" fmla="*/ 48648 w 87856"/>
                <a:gd name="csY14" fmla="*/ 16933 h 86134"/>
                <a:gd name="csX15" fmla="*/ 24099 w 87856"/>
                <a:gd name="csY15" fmla="*/ 19815 h 86134"/>
                <a:gd name="csX16" fmla="*/ 12574 w 87856"/>
                <a:gd name="csY16" fmla="*/ 37448 h 86134"/>
                <a:gd name="csX17" fmla="*/ 16954 w 87856"/>
                <a:gd name="csY17" fmla="*/ 58194 h 86134"/>
                <a:gd name="csX18" fmla="*/ 39428 w 87856"/>
                <a:gd name="csY18" fmla="*/ 69719 h 861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7856" h="86134">
                  <a:moveTo>
                    <a:pt x="36892" y="85393"/>
                  </a:moveTo>
                  <a:cubicBezTo>
                    <a:pt x="21564" y="83088"/>
                    <a:pt x="10845" y="76749"/>
                    <a:pt x="5083" y="66031"/>
                  </a:cubicBezTo>
                  <a:cubicBezTo>
                    <a:pt x="242" y="57156"/>
                    <a:pt x="-1141" y="46784"/>
                    <a:pt x="934" y="35374"/>
                  </a:cubicBezTo>
                  <a:cubicBezTo>
                    <a:pt x="3239" y="22580"/>
                    <a:pt x="9116" y="12899"/>
                    <a:pt x="18106" y="6560"/>
                  </a:cubicBezTo>
                  <a:cubicBezTo>
                    <a:pt x="27211" y="106"/>
                    <a:pt x="38275" y="-1507"/>
                    <a:pt x="51184" y="1374"/>
                  </a:cubicBezTo>
                  <a:cubicBezTo>
                    <a:pt x="61672" y="3679"/>
                    <a:pt x="69624" y="7252"/>
                    <a:pt x="74926" y="11977"/>
                  </a:cubicBezTo>
                  <a:cubicBezTo>
                    <a:pt x="80227" y="16587"/>
                    <a:pt x="83915" y="22465"/>
                    <a:pt x="85990" y="29496"/>
                  </a:cubicBezTo>
                  <a:cubicBezTo>
                    <a:pt x="88064" y="36526"/>
                    <a:pt x="88410" y="43787"/>
                    <a:pt x="87027" y="51278"/>
                  </a:cubicBezTo>
                  <a:cubicBezTo>
                    <a:pt x="84837" y="63380"/>
                    <a:pt x="79536" y="72485"/>
                    <a:pt x="70892" y="78824"/>
                  </a:cubicBezTo>
                  <a:cubicBezTo>
                    <a:pt x="62248" y="85163"/>
                    <a:pt x="51068" y="87468"/>
                    <a:pt x="37008" y="85393"/>
                  </a:cubicBezTo>
                  <a:close/>
                  <a:moveTo>
                    <a:pt x="39313" y="69719"/>
                  </a:moveTo>
                  <a:cubicBezTo>
                    <a:pt x="49916" y="71448"/>
                    <a:pt x="58214" y="70180"/>
                    <a:pt x="64322" y="66146"/>
                  </a:cubicBezTo>
                  <a:cubicBezTo>
                    <a:pt x="70431" y="62112"/>
                    <a:pt x="74119" y="56465"/>
                    <a:pt x="75502" y="49089"/>
                  </a:cubicBezTo>
                  <a:cubicBezTo>
                    <a:pt x="76885" y="41828"/>
                    <a:pt x="75502" y="35143"/>
                    <a:pt x="71122" y="29265"/>
                  </a:cubicBezTo>
                  <a:cubicBezTo>
                    <a:pt x="66743" y="23387"/>
                    <a:pt x="59367" y="19238"/>
                    <a:pt x="48648" y="16933"/>
                  </a:cubicBezTo>
                  <a:cubicBezTo>
                    <a:pt x="38506" y="14859"/>
                    <a:pt x="30323" y="15781"/>
                    <a:pt x="24099" y="19815"/>
                  </a:cubicBezTo>
                  <a:cubicBezTo>
                    <a:pt x="17876" y="23848"/>
                    <a:pt x="13957" y="29841"/>
                    <a:pt x="12574" y="37448"/>
                  </a:cubicBezTo>
                  <a:cubicBezTo>
                    <a:pt x="11191" y="45285"/>
                    <a:pt x="12574" y="52200"/>
                    <a:pt x="16954" y="58194"/>
                  </a:cubicBezTo>
                  <a:cubicBezTo>
                    <a:pt x="21333" y="64187"/>
                    <a:pt x="28825" y="67990"/>
                    <a:pt x="39428" y="69719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8720B2F-C18D-2BBA-CF19-546292868BF8}"/>
                </a:ext>
              </a:extLst>
            </p:cNvPr>
            <p:cNvSpPr/>
            <p:nvPr/>
          </p:nvSpPr>
          <p:spPr>
            <a:xfrm>
              <a:off x="5190764" y="2869900"/>
              <a:ext cx="112821" cy="67998"/>
            </a:xfrm>
            <a:custGeom>
              <a:avLst/>
              <a:gdLst>
                <a:gd name="csX0" fmla="*/ 109249 w 112821"/>
                <a:gd name="csY0" fmla="*/ 67999 h 67998"/>
                <a:gd name="csX1" fmla="*/ 38599 w 112821"/>
                <a:gd name="csY1" fmla="*/ 50942 h 67998"/>
                <a:gd name="csX2" fmla="*/ 35372 w 112821"/>
                <a:gd name="csY2" fmla="*/ 64541 h 67998"/>
                <a:gd name="csX3" fmla="*/ 24653 w 112821"/>
                <a:gd name="csY3" fmla="*/ 62121 h 67998"/>
                <a:gd name="csX4" fmla="*/ 27880 w 112821"/>
                <a:gd name="csY4" fmla="*/ 48406 h 67998"/>
                <a:gd name="csX5" fmla="*/ 19236 w 112821"/>
                <a:gd name="csY5" fmla="*/ 46332 h 67998"/>
                <a:gd name="csX6" fmla="*/ 7481 w 112821"/>
                <a:gd name="csY6" fmla="*/ 41721 h 67998"/>
                <a:gd name="csX7" fmla="*/ 796 w 112821"/>
                <a:gd name="csY7" fmla="*/ 31464 h 67998"/>
                <a:gd name="csX8" fmla="*/ 1603 w 112821"/>
                <a:gd name="csY8" fmla="*/ 14407 h 67998"/>
                <a:gd name="csX9" fmla="*/ 7020 w 112821"/>
                <a:gd name="csY9" fmla="*/ 0 h 67998"/>
                <a:gd name="csX10" fmla="*/ 18314 w 112821"/>
                <a:gd name="csY10" fmla="*/ 5647 h 67998"/>
                <a:gd name="csX11" fmla="*/ 15087 w 112821"/>
                <a:gd name="csY11" fmla="*/ 14637 h 67998"/>
                <a:gd name="csX12" fmla="*/ 15087 w 112821"/>
                <a:gd name="csY12" fmla="*/ 25471 h 67998"/>
                <a:gd name="csX13" fmla="*/ 24308 w 112821"/>
                <a:gd name="csY13" fmla="*/ 31003 h 67998"/>
                <a:gd name="csX14" fmla="*/ 31799 w 112821"/>
                <a:gd name="csY14" fmla="*/ 32962 h 67998"/>
                <a:gd name="csX15" fmla="*/ 36409 w 112821"/>
                <a:gd name="csY15" fmla="*/ 15213 h 67998"/>
                <a:gd name="csX16" fmla="*/ 47012 w 112821"/>
                <a:gd name="csY16" fmla="*/ 18095 h 67998"/>
                <a:gd name="csX17" fmla="*/ 42402 w 112821"/>
                <a:gd name="csY17" fmla="*/ 35728 h 67998"/>
                <a:gd name="csX18" fmla="*/ 112821 w 112821"/>
                <a:gd name="csY18" fmla="*/ 53592 h 67998"/>
                <a:gd name="csX19" fmla="*/ 109249 w 112821"/>
                <a:gd name="csY19" fmla="*/ 67999 h 67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12821" h="67998">
                  <a:moveTo>
                    <a:pt x="109249" y="67999"/>
                  </a:moveTo>
                  <a:cubicBezTo>
                    <a:pt x="81012" y="61199"/>
                    <a:pt x="66836" y="57741"/>
                    <a:pt x="38599" y="50942"/>
                  </a:cubicBezTo>
                  <a:cubicBezTo>
                    <a:pt x="37331" y="56358"/>
                    <a:pt x="36640" y="59124"/>
                    <a:pt x="35372" y="64541"/>
                  </a:cubicBezTo>
                  <a:cubicBezTo>
                    <a:pt x="31107" y="63504"/>
                    <a:pt x="28918" y="63043"/>
                    <a:pt x="24653" y="62121"/>
                  </a:cubicBezTo>
                  <a:cubicBezTo>
                    <a:pt x="25921" y="56589"/>
                    <a:pt x="26613" y="53823"/>
                    <a:pt x="27880" y="48406"/>
                  </a:cubicBezTo>
                  <a:cubicBezTo>
                    <a:pt x="24423" y="47599"/>
                    <a:pt x="22694" y="47138"/>
                    <a:pt x="19236" y="46332"/>
                  </a:cubicBezTo>
                  <a:cubicBezTo>
                    <a:pt x="13820" y="45064"/>
                    <a:pt x="9786" y="43450"/>
                    <a:pt x="7481" y="41721"/>
                  </a:cubicBezTo>
                  <a:cubicBezTo>
                    <a:pt x="4254" y="39301"/>
                    <a:pt x="2064" y="35959"/>
                    <a:pt x="796" y="31464"/>
                  </a:cubicBezTo>
                  <a:cubicBezTo>
                    <a:pt x="-472" y="27084"/>
                    <a:pt x="-241" y="21322"/>
                    <a:pt x="1603" y="14407"/>
                  </a:cubicBezTo>
                  <a:cubicBezTo>
                    <a:pt x="2755" y="9912"/>
                    <a:pt x="4599" y="5071"/>
                    <a:pt x="7020" y="0"/>
                  </a:cubicBezTo>
                  <a:cubicBezTo>
                    <a:pt x="11515" y="2305"/>
                    <a:pt x="13820" y="3342"/>
                    <a:pt x="18314" y="5647"/>
                  </a:cubicBezTo>
                  <a:cubicBezTo>
                    <a:pt x="16931" y="8759"/>
                    <a:pt x="15779" y="11756"/>
                    <a:pt x="15087" y="14637"/>
                  </a:cubicBezTo>
                  <a:cubicBezTo>
                    <a:pt x="13820" y="19362"/>
                    <a:pt x="13820" y="23051"/>
                    <a:pt x="15087" y="25471"/>
                  </a:cubicBezTo>
                  <a:cubicBezTo>
                    <a:pt x="16355" y="27891"/>
                    <a:pt x="19467" y="29735"/>
                    <a:pt x="24308" y="31003"/>
                  </a:cubicBezTo>
                  <a:cubicBezTo>
                    <a:pt x="27304" y="31810"/>
                    <a:pt x="28802" y="32155"/>
                    <a:pt x="31799" y="32962"/>
                  </a:cubicBezTo>
                  <a:cubicBezTo>
                    <a:pt x="33643" y="25816"/>
                    <a:pt x="34565" y="22244"/>
                    <a:pt x="36409" y="15213"/>
                  </a:cubicBezTo>
                  <a:cubicBezTo>
                    <a:pt x="40673" y="16366"/>
                    <a:pt x="42748" y="16942"/>
                    <a:pt x="47012" y="18095"/>
                  </a:cubicBezTo>
                  <a:cubicBezTo>
                    <a:pt x="45053" y="25125"/>
                    <a:pt x="44131" y="28698"/>
                    <a:pt x="42402" y="35728"/>
                  </a:cubicBezTo>
                  <a:cubicBezTo>
                    <a:pt x="70524" y="42874"/>
                    <a:pt x="84700" y="46447"/>
                    <a:pt x="112821" y="53592"/>
                  </a:cubicBezTo>
                  <a:cubicBezTo>
                    <a:pt x="111323" y="59355"/>
                    <a:pt x="110632" y="62236"/>
                    <a:pt x="109249" y="67999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3B07B39-D933-6F5D-5C19-15BF5A2B70A5}"/>
                </a:ext>
              </a:extLst>
            </p:cNvPr>
            <p:cNvSpPr/>
            <p:nvPr/>
          </p:nvSpPr>
          <p:spPr>
            <a:xfrm>
              <a:off x="5207580" y="2839589"/>
              <a:ext cx="113062" cy="49789"/>
            </a:xfrm>
            <a:custGeom>
              <a:avLst/>
              <a:gdLst>
                <a:gd name="csX0" fmla="*/ 100500 w 113062"/>
                <a:gd name="csY0" fmla="*/ 21091 h 49789"/>
                <a:gd name="csX1" fmla="*/ 113063 w 113062"/>
                <a:gd name="csY1" fmla="*/ 22820 h 49789"/>
                <a:gd name="csX2" fmla="*/ 110988 w 113062"/>
                <a:gd name="csY2" fmla="*/ 33999 h 49789"/>
                <a:gd name="csX3" fmla="*/ 104995 w 113062"/>
                <a:gd name="csY3" fmla="*/ 45410 h 49789"/>
                <a:gd name="csX4" fmla="*/ 97043 w 113062"/>
                <a:gd name="csY4" fmla="*/ 49674 h 49789"/>
                <a:gd name="csX5" fmla="*/ 80446 w 113062"/>
                <a:gd name="csY5" fmla="*/ 46908 h 49789"/>
                <a:gd name="csX6" fmla="*/ 34115 w 113062"/>
                <a:gd name="csY6" fmla="*/ 33769 h 49789"/>
                <a:gd name="csX7" fmla="*/ 31003 w 113062"/>
                <a:gd name="csY7" fmla="*/ 44949 h 49789"/>
                <a:gd name="csX8" fmla="*/ 20400 w 113062"/>
                <a:gd name="csY8" fmla="*/ 42067 h 49789"/>
                <a:gd name="csX9" fmla="*/ 23512 w 113062"/>
                <a:gd name="csY9" fmla="*/ 30772 h 49789"/>
                <a:gd name="csX10" fmla="*/ 3573 w 113062"/>
                <a:gd name="csY10" fmla="*/ 25125 h 49789"/>
                <a:gd name="csX11" fmla="*/ 0 w 113062"/>
                <a:gd name="csY11" fmla="*/ 7146 h 49789"/>
                <a:gd name="csX12" fmla="*/ 28006 w 113062"/>
                <a:gd name="csY12" fmla="*/ 15444 h 49789"/>
                <a:gd name="csX13" fmla="*/ 32732 w 113062"/>
                <a:gd name="csY13" fmla="*/ 0 h 49789"/>
                <a:gd name="csX14" fmla="*/ 43220 w 113062"/>
                <a:gd name="csY14" fmla="*/ 3342 h 49789"/>
                <a:gd name="csX15" fmla="*/ 38610 w 113062"/>
                <a:gd name="csY15" fmla="*/ 18671 h 49789"/>
                <a:gd name="csX16" fmla="*/ 85517 w 113062"/>
                <a:gd name="csY16" fmla="*/ 32616 h 49789"/>
                <a:gd name="csX17" fmla="*/ 93239 w 113062"/>
                <a:gd name="csY17" fmla="*/ 34115 h 49789"/>
                <a:gd name="csX18" fmla="*/ 96582 w 113062"/>
                <a:gd name="csY18" fmla="*/ 32386 h 49789"/>
                <a:gd name="csX19" fmla="*/ 99117 w 113062"/>
                <a:gd name="csY19" fmla="*/ 27776 h 49789"/>
                <a:gd name="csX20" fmla="*/ 100500 w 113062"/>
                <a:gd name="csY20" fmla="*/ 21322 h 49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3062" h="49789">
                  <a:moveTo>
                    <a:pt x="100500" y="21091"/>
                  </a:moveTo>
                  <a:cubicBezTo>
                    <a:pt x="105571" y="21783"/>
                    <a:pt x="108107" y="22128"/>
                    <a:pt x="113063" y="22820"/>
                  </a:cubicBezTo>
                  <a:cubicBezTo>
                    <a:pt x="112602" y="27084"/>
                    <a:pt x="111910" y="30772"/>
                    <a:pt x="110988" y="33999"/>
                  </a:cubicBezTo>
                  <a:cubicBezTo>
                    <a:pt x="109375" y="39186"/>
                    <a:pt x="107415" y="42989"/>
                    <a:pt x="104995" y="45410"/>
                  </a:cubicBezTo>
                  <a:cubicBezTo>
                    <a:pt x="102575" y="47830"/>
                    <a:pt x="99924" y="49213"/>
                    <a:pt x="97043" y="49674"/>
                  </a:cubicBezTo>
                  <a:cubicBezTo>
                    <a:pt x="94161" y="50135"/>
                    <a:pt x="88629" y="49213"/>
                    <a:pt x="80446" y="46908"/>
                  </a:cubicBezTo>
                  <a:cubicBezTo>
                    <a:pt x="61891" y="41606"/>
                    <a:pt x="52670" y="39071"/>
                    <a:pt x="34115" y="33769"/>
                  </a:cubicBezTo>
                  <a:cubicBezTo>
                    <a:pt x="32847" y="38264"/>
                    <a:pt x="32271" y="40454"/>
                    <a:pt x="31003" y="44949"/>
                  </a:cubicBezTo>
                  <a:cubicBezTo>
                    <a:pt x="26739" y="43796"/>
                    <a:pt x="24664" y="43220"/>
                    <a:pt x="20400" y="42067"/>
                  </a:cubicBezTo>
                  <a:cubicBezTo>
                    <a:pt x="21667" y="37572"/>
                    <a:pt x="22244" y="35267"/>
                    <a:pt x="23512" y="30772"/>
                  </a:cubicBezTo>
                  <a:cubicBezTo>
                    <a:pt x="15559" y="28467"/>
                    <a:pt x="11525" y="27430"/>
                    <a:pt x="3573" y="25125"/>
                  </a:cubicBezTo>
                  <a:cubicBezTo>
                    <a:pt x="2075" y="17979"/>
                    <a:pt x="1383" y="14407"/>
                    <a:pt x="0" y="7146"/>
                  </a:cubicBezTo>
                  <a:cubicBezTo>
                    <a:pt x="11180" y="10488"/>
                    <a:pt x="16827" y="12102"/>
                    <a:pt x="28006" y="15444"/>
                  </a:cubicBezTo>
                  <a:cubicBezTo>
                    <a:pt x="29850" y="9220"/>
                    <a:pt x="30772" y="6224"/>
                    <a:pt x="32732" y="0"/>
                  </a:cubicBezTo>
                  <a:cubicBezTo>
                    <a:pt x="36996" y="1268"/>
                    <a:pt x="39071" y="1959"/>
                    <a:pt x="43220" y="3342"/>
                  </a:cubicBezTo>
                  <a:cubicBezTo>
                    <a:pt x="41260" y="9451"/>
                    <a:pt x="40338" y="12447"/>
                    <a:pt x="38610" y="18671"/>
                  </a:cubicBezTo>
                  <a:cubicBezTo>
                    <a:pt x="57396" y="24203"/>
                    <a:pt x="66731" y="27084"/>
                    <a:pt x="85517" y="32616"/>
                  </a:cubicBezTo>
                  <a:cubicBezTo>
                    <a:pt x="89436" y="33769"/>
                    <a:pt x="91971" y="34230"/>
                    <a:pt x="93239" y="34115"/>
                  </a:cubicBezTo>
                  <a:cubicBezTo>
                    <a:pt x="94507" y="33884"/>
                    <a:pt x="95660" y="33423"/>
                    <a:pt x="96582" y="32386"/>
                  </a:cubicBezTo>
                  <a:cubicBezTo>
                    <a:pt x="97619" y="31464"/>
                    <a:pt x="98426" y="29850"/>
                    <a:pt x="99117" y="27776"/>
                  </a:cubicBezTo>
                  <a:cubicBezTo>
                    <a:pt x="99578" y="26162"/>
                    <a:pt x="100039" y="23973"/>
                    <a:pt x="100500" y="21322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6C87451E-D5F2-2EFB-05F6-2F4D07C19210}"/>
                </a:ext>
              </a:extLst>
            </p:cNvPr>
            <p:cNvSpPr/>
            <p:nvPr/>
          </p:nvSpPr>
          <p:spPr>
            <a:xfrm>
              <a:off x="5241694" y="2713503"/>
              <a:ext cx="111449" cy="121937"/>
            </a:xfrm>
            <a:custGeom>
              <a:avLst/>
              <a:gdLst>
                <a:gd name="csX0" fmla="*/ 88168 w 111449"/>
                <a:gd name="csY0" fmla="*/ 121476 h 121937"/>
                <a:gd name="csX1" fmla="*/ 0 w 111449"/>
                <a:gd name="csY1" fmla="*/ 121937 h 121937"/>
                <a:gd name="csX2" fmla="*/ 5071 w 111449"/>
                <a:gd name="csY2" fmla="*/ 106148 h 121937"/>
                <a:gd name="csX3" fmla="*/ 55552 w 111449"/>
                <a:gd name="csY3" fmla="*/ 107531 h 121937"/>
                <a:gd name="csX4" fmla="*/ 74223 w 111449"/>
                <a:gd name="csY4" fmla="*/ 108337 h 121937"/>
                <a:gd name="csX5" fmla="*/ 59470 w 111449"/>
                <a:gd name="csY5" fmla="*/ 98195 h 121937"/>
                <a:gd name="csX6" fmla="*/ 18440 w 111449"/>
                <a:gd name="csY6" fmla="*/ 67653 h 121937"/>
                <a:gd name="csX7" fmla="*/ 24203 w 111449"/>
                <a:gd name="csY7" fmla="*/ 52209 h 121937"/>
                <a:gd name="csX8" fmla="*/ 74453 w 111449"/>
                <a:gd name="csY8" fmla="*/ 56820 h 121937"/>
                <a:gd name="csX9" fmla="*/ 90934 w 111449"/>
                <a:gd name="csY9" fmla="*/ 58548 h 121937"/>
                <a:gd name="csX10" fmla="*/ 77911 w 111449"/>
                <a:gd name="csY10" fmla="*/ 47715 h 121937"/>
                <a:gd name="csX11" fmla="*/ 39301 w 111449"/>
                <a:gd name="csY11" fmla="*/ 14407 h 121937"/>
                <a:gd name="csX12" fmla="*/ 45525 w 111449"/>
                <a:gd name="csY12" fmla="*/ 0 h 121937"/>
                <a:gd name="csX13" fmla="*/ 111449 w 111449"/>
                <a:gd name="csY13" fmla="*/ 59009 h 121937"/>
                <a:gd name="csX14" fmla="*/ 105687 w 111449"/>
                <a:gd name="csY14" fmla="*/ 73531 h 121937"/>
                <a:gd name="csX15" fmla="*/ 53708 w 111449"/>
                <a:gd name="csY15" fmla="*/ 69036 h 121937"/>
                <a:gd name="csX16" fmla="*/ 39071 w 111449"/>
                <a:gd name="csY16" fmla="*/ 67423 h 121937"/>
                <a:gd name="csX17" fmla="*/ 93239 w 111449"/>
                <a:gd name="csY17" fmla="*/ 106839 h 121937"/>
                <a:gd name="csX18" fmla="*/ 88053 w 111449"/>
                <a:gd name="csY18" fmla="*/ 121591 h 121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1449" h="121937">
                  <a:moveTo>
                    <a:pt x="88168" y="121476"/>
                  </a:moveTo>
                  <a:cubicBezTo>
                    <a:pt x="53016" y="120900"/>
                    <a:pt x="35383" y="121015"/>
                    <a:pt x="0" y="121937"/>
                  </a:cubicBezTo>
                  <a:cubicBezTo>
                    <a:pt x="1959" y="115598"/>
                    <a:pt x="2997" y="112487"/>
                    <a:pt x="5071" y="106148"/>
                  </a:cubicBezTo>
                  <a:cubicBezTo>
                    <a:pt x="25356" y="106493"/>
                    <a:pt x="35383" y="106724"/>
                    <a:pt x="55552" y="107531"/>
                  </a:cubicBezTo>
                  <a:cubicBezTo>
                    <a:pt x="63043" y="107876"/>
                    <a:pt x="66846" y="107992"/>
                    <a:pt x="74223" y="108337"/>
                  </a:cubicBezTo>
                  <a:cubicBezTo>
                    <a:pt x="73416" y="107876"/>
                    <a:pt x="68575" y="104534"/>
                    <a:pt x="59470" y="98195"/>
                  </a:cubicBezTo>
                  <a:cubicBezTo>
                    <a:pt x="42874" y="86209"/>
                    <a:pt x="34691" y="80100"/>
                    <a:pt x="18440" y="67653"/>
                  </a:cubicBezTo>
                  <a:cubicBezTo>
                    <a:pt x="20745" y="61430"/>
                    <a:pt x="21898" y="58318"/>
                    <a:pt x="24203" y="52209"/>
                  </a:cubicBezTo>
                  <a:cubicBezTo>
                    <a:pt x="44372" y="53823"/>
                    <a:pt x="54399" y="54745"/>
                    <a:pt x="74453" y="56820"/>
                  </a:cubicBezTo>
                  <a:cubicBezTo>
                    <a:pt x="81022" y="57511"/>
                    <a:pt x="84365" y="57857"/>
                    <a:pt x="90934" y="58548"/>
                  </a:cubicBezTo>
                  <a:cubicBezTo>
                    <a:pt x="85748" y="54169"/>
                    <a:pt x="83097" y="52094"/>
                    <a:pt x="77911" y="47715"/>
                  </a:cubicBezTo>
                  <a:cubicBezTo>
                    <a:pt x="62352" y="34576"/>
                    <a:pt x="54630" y="28006"/>
                    <a:pt x="39301" y="14407"/>
                  </a:cubicBezTo>
                  <a:cubicBezTo>
                    <a:pt x="41721" y="8644"/>
                    <a:pt x="42989" y="5763"/>
                    <a:pt x="45525" y="0"/>
                  </a:cubicBezTo>
                  <a:cubicBezTo>
                    <a:pt x="71457" y="24318"/>
                    <a:pt x="84595" y="36074"/>
                    <a:pt x="111449" y="59009"/>
                  </a:cubicBezTo>
                  <a:cubicBezTo>
                    <a:pt x="109029" y="64772"/>
                    <a:pt x="107876" y="67653"/>
                    <a:pt x="105687" y="73531"/>
                  </a:cubicBezTo>
                  <a:cubicBezTo>
                    <a:pt x="84941" y="71457"/>
                    <a:pt x="74568" y="70535"/>
                    <a:pt x="53708" y="69036"/>
                  </a:cubicBezTo>
                  <a:cubicBezTo>
                    <a:pt x="47830" y="68345"/>
                    <a:pt x="44948" y="67999"/>
                    <a:pt x="39071" y="67423"/>
                  </a:cubicBezTo>
                  <a:cubicBezTo>
                    <a:pt x="60508" y="83558"/>
                    <a:pt x="71341" y="91395"/>
                    <a:pt x="93239" y="106839"/>
                  </a:cubicBezTo>
                  <a:cubicBezTo>
                    <a:pt x="91165" y="112717"/>
                    <a:pt x="90127" y="115714"/>
                    <a:pt x="88053" y="121591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600FF78-22A8-6CF1-956A-BCC7AFD73D57}"/>
                </a:ext>
              </a:extLst>
            </p:cNvPr>
            <p:cNvSpPr/>
            <p:nvPr/>
          </p:nvSpPr>
          <p:spPr>
            <a:xfrm>
              <a:off x="5301158" y="2639050"/>
              <a:ext cx="101890" cy="94177"/>
            </a:xfrm>
            <a:custGeom>
              <a:avLst/>
              <a:gdLst>
                <a:gd name="csX0" fmla="*/ 84026 w 101890"/>
                <a:gd name="csY0" fmla="*/ 39186 h 94177"/>
                <a:gd name="csX1" fmla="*/ 85179 w 101890"/>
                <a:gd name="csY1" fmla="*/ 57972 h 94177"/>
                <a:gd name="csX2" fmla="*/ 80338 w 101890"/>
                <a:gd name="csY2" fmla="*/ 74223 h 94177"/>
                <a:gd name="csX3" fmla="*/ 64664 w 101890"/>
                <a:gd name="csY3" fmla="*/ 91856 h 94177"/>
                <a:gd name="csX4" fmla="*/ 45647 w 101890"/>
                <a:gd name="csY4" fmla="*/ 92087 h 94177"/>
                <a:gd name="csX5" fmla="*/ 36657 w 101890"/>
                <a:gd name="csY5" fmla="*/ 84711 h 94177"/>
                <a:gd name="csX6" fmla="*/ 32508 w 101890"/>
                <a:gd name="csY6" fmla="*/ 73992 h 94177"/>
                <a:gd name="csX7" fmla="*/ 32969 w 101890"/>
                <a:gd name="csY7" fmla="*/ 61775 h 94177"/>
                <a:gd name="csX8" fmla="*/ 37003 w 101890"/>
                <a:gd name="csY8" fmla="*/ 48176 h 94177"/>
                <a:gd name="csX9" fmla="*/ 45186 w 101890"/>
                <a:gd name="csY9" fmla="*/ 20746 h 94177"/>
                <a:gd name="csX10" fmla="*/ 41959 w 101890"/>
                <a:gd name="csY10" fmla="*/ 19017 h 94177"/>
                <a:gd name="csX11" fmla="*/ 29051 w 101890"/>
                <a:gd name="csY11" fmla="*/ 17518 h 94177"/>
                <a:gd name="csX12" fmla="*/ 16604 w 101890"/>
                <a:gd name="csY12" fmla="*/ 31810 h 94177"/>
                <a:gd name="csX13" fmla="*/ 12570 w 101890"/>
                <a:gd name="csY13" fmla="*/ 48406 h 94177"/>
                <a:gd name="csX14" fmla="*/ 20522 w 101890"/>
                <a:gd name="csY14" fmla="*/ 60853 h 94177"/>
                <a:gd name="csX15" fmla="*/ 12339 w 101890"/>
                <a:gd name="csY15" fmla="*/ 74223 h 94177"/>
                <a:gd name="csX16" fmla="*/ 2082 w 101890"/>
                <a:gd name="csY16" fmla="*/ 61891 h 94177"/>
                <a:gd name="csX17" fmla="*/ 353 w 101890"/>
                <a:gd name="csY17" fmla="*/ 45410 h 94177"/>
                <a:gd name="csX18" fmla="*/ 7038 w 101890"/>
                <a:gd name="csY18" fmla="*/ 24549 h 94177"/>
                <a:gd name="csX19" fmla="*/ 18217 w 101890"/>
                <a:gd name="csY19" fmla="*/ 7837 h 94177"/>
                <a:gd name="csX20" fmla="*/ 29051 w 101890"/>
                <a:gd name="csY20" fmla="*/ 692 h 94177"/>
                <a:gd name="csX21" fmla="*/ 39885 w 101890"/>
                <a:gd name="csY21" fmla="*/ 692 h 94177"/>
                <a:gd name="csX22" fmla="*/ 51871 w 101890"/>
                <a:gd name="csY22" fmla="*/ 6108 h 94177"/>
                <a:gd name="csX23" fmla="*/ 68582 w 101890"/>
                <a:gd name="csY23" fmla="*/ 14868 h 94177"/>
                <a:gd name="csX24" fmla="*/ 91172 w 101890"/>
                <a:gd name="csY24" fmla="*/ 25701 h 94177"/>
                <a:gd name="csX25" fmla="*/ 101890 w 101890"/>
                <a:gd name="csY25" fmla="*/ 26969 h 94177"/>
                <a:gd name="csX26" fmla="*/ 94514 w 101890"/>
                <a:gd name="csY26" fmla="*/ 41030 h 94177"/>
                <a:gd name="csX27" fmla="*/ 83911 w 101890"/>
                <a:gd name="csY27" fmla="*/ 39071 h 94177"/>
                <a:gd name="csX28" fmla="*/ 55213 w 101890"/>
                <a:gd name="csY28" fmla="*/ 25932 h 94177"/>
                <a:gd name="csX29" fmla="*/ 48644 w 101890"/>
                <a:gd name="csY29" fmla="*/ 51172 h 94177"/>
                <a:gd name="csX30" fmla="*/ 45301 w 101890"/>
                <a:gd name="csY30" fmla="*/ 64657 h 94177"/>
                <a:gd name="csX31" fmla="*/ 46915 w 101890"/>
                <a:gd name="csY31" fmla="*/ 72148 h 94177"/>
                <a:gd name="csX32" fmla="*/ 52101 w 101890"/>
                <a:gd name="csY32" fmla="*/ 76873 h 94177"/>
                <a:gd name="csX33" fmla="*/ 62589 w 101890"/>
                <a:gd name="csY33" fmla="*/ 76643 h 94177"/>
                <a:gd name="csX34" fmla="*/ 71809 w 101890"/>
                <a:gd name="csY34" fmla="*/ 66040 h 94177"/>
                <a:gd name="csX35" fmla="*/ 75498 w 101890"/>
                <a:gd name="csY35" fmla="*/ 50365 h 94177"/>
                <a:gd name="csX36" fmla="*/ 71348 w 101890"/>
                <a:gd name="csY36" fmla="*/ 36881 h 94177"/>
                <a:gd name="csX37" fmla="*/ 59823 w 101890"/>
                <a:gd name="csY37" fmla="*/ 28237 h 94177"/>
                <a:gd name="csX38" fmla="*/ 55213 w 101890"/>
                <a:gd name="csY38" fmla="*/ 25932 h 941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01890" h="94177">
                  <a:moveTo>
                    <a:pt x="84026" y="39186"/>
                  </a:moveTo>
                  <a:cubicBezTo>
                    <a:pt x="85409" y="46216"/>
                    <a:pt x="85755" y="52555"/>
                    <a:pt x="85179" y="57972"/>
                  </a:cubicBezTo>
                  <a:cubicBezTo>
                    <a:pt x="84487" y="63389"/>
                    <a:pt x="82989" y="68806"/>
                    <a:pt x="80338" y="74223"/>
                  </a:cubicBezTo>
                  <a:cubicBezTo>
                    <a:pt x="76074" y="83097"/>
                    <a:pt x="71003" y="88975"/>
                    <a:pt x="64664" y="91856"/>
                  </a:cubicBezTo>
                  <a:cubicBezTo>
                    <a:pt x="58440" y="94853"/>
                    <a:pt x="52101" y="94968"/>
                    <a:pt x="45647" y="92087"/>
                  </a:cubicBezTo>
                  <a:cubicBezTo>
                    <a:pt x="41959" y="90473"/>
                    <a:pt x="38847" y="87938"/>
                    <a:pt x="36657" y="84711"/>
                  </a:cubicBezTo>
                  <a:cubicBezTo>
                    <a:pt x="34352" y="81483"/>
                    <a:pt x="33085" y="77911"/>
                    <a:pt x="32508" y="73992"/>
                  </a:cubicBezTo>
                  <a:cubicBezTo>
                    <a:pt x="32047" y="70074"/>
                    <a:pt x="32163" y="66040"/>
                    <a:pt x="32969" y="61775"/>
                  </a:cubicBezTo>
                  <a:cubicBezTo>
                    <a:pt x="33546" y="58664"/>
                    <a:pt x="34929" y="54169"/>
                    <a:pt x="37003" y="48176"/>
                  </a:cubicBezTo>
                  <a:cubicBezTo>
                    <a:pt x="41268" y="36074"/>
                    <a:pt x="44034" y="26969"/>
                    <a:pt x="45186" y="20746"/>
                  </a:cubicBezTo>
                  <a:cubicBezTo>
                    <a:pt x="43457" y="19823"/>
                    <a:pt x="42420" y="19247"/>
                    <a:pt x="41959" y="19017"/>
                  </a:cubicBezTo>
                  <a:cubicBezTo>
                    <a:pt x="36773" y="16366"/>
                    <a:pt x="32508" y="15905"/>
                    <a:pt x="29051" y="17518"/>
                  </a:cubicBezTo>
                  <a:cubicBezTo>
                    <a:pt x="24325" y="19708"/>
                    <a:pt x="20176" y="24549"/>
                    <a:pt x="16604" y="31810"/>
                  </a:cubicBezTo>
                  <a:cubicBezTo>
                    <a:pt x="13261" y="38610"/>
                    <a:pt x="11993" y="44142"/>
                    <a:pt x="12570" y="48406"/>
                  </a:cubicBezTo>
                  <a:cubicBezTo>
                    <a:pt x="13146" y="52670"/>
                    <a:pt x="15797" y="56819"/>
                    <a:pt x="20522" y="60853"/>
                  </a:cubicBezTo>
                  <a:cubicBezTo>
                    <a:pt x="17180" y="66155"/>
                    <a:pt x="15566" y="68806"/>
                    <a:pt x="12339" y="74223"/>
                  </a:cubicBezTo>
                  <a:cubicBezTo>
                    <a:pt x="7499" y="70535"/>
                    <a:pt x="4041" y="66385"/>
                    <a:pt x="2082" y="61891"/>
                  </a:cubicBezTo>
                  <a:cubicBezTo>
                    <a:pt x="122" y="57396"/>
                    <a:pt x="-454" y="51864"/>
                    <a:pt x="353" y="45410"/>
                  </a:cubicBezTo>
                  <a:cubicBezTo>
                    <a:pt x="1160" y="38955"/>
                    <a:pt x="3465" y="31925"/>
                    <a:pt x="7038" y="24549"/>
                  </a:cubicBezTo>
                  <a:cubicBezTo>
                    <a:pt x="10610" y="17173"/>
                    <a:pt x="14414" y="11640"/>
                    <a:pt x="18217" y="7837"/>
                  </a:cubicBezTo>
                  <a:cubicBezTo>
                    <a:pt x="22020" y="4034"/>
                    <a:pt x="25593" y="1729"/>
                    <a:pt x="29051" y="692"/>
                  </a:cubicBezTo>
                  <a:cubicBezTo>
                    <a:pt x="32393" y="-231"/>
                    <a:pt x="36081" y="-231"/>
                    <a:pt x="39885" y="692"/>
                  </a:cubicBezTo>
                  <a:cubicBezTo>
                    <a:pt x="42305" y="1268"/>
                    <a:pt x="46223" y="3112"/>
                    <a:pt x="51871" y="6108"/>
                  </a:cubicBezTo>
                  <a:lnTo>
                    <a:pt x="68582" y="14868"/>
                  </a:lnTo>
                  <a:cubicBezTo>
                    <a:pt x="80223" y="20976"/>
                    <a:pt x="87830" y="24549"/>
                    <a:pt x="91172" y="25701"/>
                  </a:cubicBezTo>
                  <a:cubicBezTo>
                    <a:pt x="94514" y="26739"/>
                    <a:pt x="98087" y="27200"/>
                    <a:pt x="101890" y="26969"/>
                  </a:cubicBezTo>
                  <a:cubicBezTo>
                    <a:pt x="98894" y="32617"/>
                    <a:pt x="97396" y="35382"/>
                    <a:pt x="94514" y="41030"/>
                  </a:cubicBezTo>
                  <a:cubicBezTo>
                    <a:pt x="91172" y="41030"/>
                    <a:pt x="87599" y="40454"/>
                    <a:pt x="83911" y="39071"/>
                  </a:cubicBezTo>
                  <a:close/>
                  <a:moveTo>
                    <a:pt x="55213" y="25932"/>
                  </a:moveTo>
                  <a:cubicBezTo>
                    <a:pt x="54522" y="31925"/>
                    <a:pt x="52217" y="40338"/>
                    <a:pt x="48644" y="51172"/>
                  </a:cubicBezTo>
                  <a:cubicBezTo>
                    <a:pt x="46569" y="57281"/>
                    <a:pt x="45532" y="61775"/>
                    <a:pt x="45301" y="64657"/>
                  </a:cubicBezTo>
                  <a:cubicBezTo>
                    <a:pt x="45071" y="67538"/>
                    <a:pt x="45647" y="69958"/>
                    <a:pt x="46915" y="72148"/>
                  </a:cubicBezTo>
                  <a:cubicBezTo>
                    <a:pt x="48183" y="74338"/>
                    <a:pt x="49911" y="75836"/>
                    <a:pt x="52101" y="76873"/>
                  </a:cubicBezTo>
                  <a:cubicBezTo>
                    <a:pt x="55559" y="78487"/>
                    <a:pt x="59016" y="78372"/>
                    <a:pt x="62589" y="76643"/>
                  </a:cubicBezTo>
                  <a:cubicBezTo>
                    <a:pt x="66162" y="74914"/>
                    <a:pt x="69274" y="71341"/>
                    <a:pt x="71809" y="66040"/>
                  </a:cubicBezTo>
                  <a:cubicBezTo>
                    <a:pt x="74345" y="60738"/>
                    <a:pt x="75613" y="55552"/>
                    <a:pt x="75498" y="50365"/>
                  </a:cubicBezTo>
                  <a:cubicBezTo>
                    <a:pt x="75498" y="45179"/>
                    <a:pt x="73999" y="40684"/>
                    <a:pt x="71348" y="36881"/>
                  </a:cubicBezTo>
                  <a:cubicBezTo>
                    <a:pt x="69274" y="33999"/>
                    <a:pt x="65355" y="31003"/>
                    <a:pt x="59823" y="28237"/>
                  </a:cubicBezTo>
                  <a:cubicBezTo>
                    <a:pt x="57979" y="27315"/>
                    <a:pt x="57057" y="26854"/>
                    <a:pt x="55213" y="25932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AB95B383-91AD-092E-C4A4-DF4673E57E72}"/>
                </a:ext>
              </a:extLst>
            </p:cNvPr>
            <p:cNvSpPr/>
            <p:nvPr/>
          </p:nvSpPr>
          <p:spPr>
            <a:xfrm>
              <a:off x="5338852" y="2565403"/>
              <a:ext cx="80446" cy="84480"/>
            </a:xfrm>
            <a:custGeom>
              <a:avLst/>
              <a:gdLst>
                <a:gd name="csX0" fmla="*/ 73185 w 80446"/>
                <a:gd name="csY0" fmla="*/ 84480 h 84480"/>
                <a:gd name="csX1" fmla="*/ 0 w 80446"/>
                <a:gd name="csY1" fmla="*/ 44026 h 84480"/>
                <a:gd name="csX2" fmla="*/ 7146 w 80446"/>
                <a:gd name="csY2" fmla="*/ 31233 h 84480"/>
                <a:gd name="csX3" fmla="*/ 18210 w 80446"/>
                <a:gd name="csY3" fmla="*/ 37457 h 84480"/>
                <a:gd name="csX4" fmla="*/ 13139 w 80446"/>
                <a:gd name="csY4" fmla="*/ 22589 h 84480"/>
                <a:gd name="csX5" fmla="*/ 16020 w 80446"/>
                <a:gd name="csY5" fmla="*/ 12101 h 84480"/>
                <a:gd name="csX6" fmla="*/ 28583 w 80446"/>
                <a:gd name="csY6" fmla="*/ 0 h 84480"/>
                <a:gd name="csX7" fmla="*/ 36881 w 80446"/>
                <a:gd name="csY7" fmla="*/ 11640 h 84480"/>
                <a:gd name="csX8" fmla="*/ 28122 w 80446"/>
                <a:gd name="csY8" fmla="*/ 20284 h 84480"/>
                <a:gd name="csX9" fmla="*/ 25701 w 80446"/>
                <a:gd name="csY9" fmla="*/ 29966 h 84480"/>
                <a:gd name="csX10" fmla="*/ 29389 w 80446"/>
                <a:gd name="csY10" fmla="*/ 39071 h 84480"/>
                <a:gd name="csX11" fmla="*/ 42413 w 80446"/>
                <a:gd name="csY11" fmla="*/ 49558 h 84480"/>
                <a:gd name="csX12" fmla="*/ 80446 w 80446"/>
                <a:gd name="csY12" fmla="*/ 71226 h 84480"/>
                <a:gd name="csX13" fmla="*/ 72955 w 80446"/>
                <a:gd name="csY13" fmla="*/ 84480 h 844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0446" h="84480">
                  <a:moveTo>
                    <a:pt x="73185" y="84480"/>
                  </a:moveTo>
                  <a:cubicBezTo>
                    <a:pt x="43911" y="68345"/>
                    <a:pt x="29274" y="60162"/>
                    <a:pt x="0" y="44026"/>
                  </a:cubicBezTo>
                  <a:cubicBezTo>
                    <a:pt x="2881" y="38840"/>
                    <a:pt x="4264" y="36304"/>
                    <a:pt x="7146" y="31233"/>
                  </a:cubicBezTo>
                  <a:cubicBezTo>
                    <a:pt x="11525" y="33769"/>
                    <a:pt x="13715" y="35037"/>
                    <a:pt x="18210" y="37457"/>
                  </a:cubicBezTo>
                  <a:cubicBezTo>
                    <a:pt x="14868" y="31349"/>
                    <a:pt x="13254" y="26278"/>
                    <a:pt x="13139" y="22589"/>
                  </a:cubicBezTo>
                  <a:cubicBezTo>
                    <a:pt x="13139" y="18901"/>
                    <a:pt x="14061" y="15329"/>
                    <a:pt x="16020" y="12101"/>
                  </a:cubicBezTo>
                  <a:cubicBezTo>
                    <a:pt x="18786" y="7376"/>
                    <a:pt x="23051" y="3342"/>
                    <a:pt x="28583" y="0"/>
                  </a:cubicBezTo>
                  <a:cubicBezTo>
                    <a:pt x="31925" y="4610"/>
                    <a:pt x="33538" y="7030"/>
                    <a:pt x="36881" y="11640"/>
                  </a:cubicBezTo>
                  <a:cubicBezTo>
                    <a:pt x="33077" y="13945"/>
                    <a:pt x="30196" y="16827"/>
                    <a:pt x="28122" y="20284"/>
                  </a:cubicBezTo>
                  <a:cubicBezTo>
                    <a:pt x="26278" y="23281"/>
                    <a:pt x="25471" y="26508"/>
                    <a:pt x="25701" y="29966"/>
                  </a:cubicBezTo>
                  <a:cubicBezTo>
                    <a:pt x="25932" y="33308"/>
                    <a:pt x="27200" y="36420"/>
                    <a:pt x="29389" y="39071"/>
                  </a:cubicBezTo>
                  <a:cubicBezTo>
                    <a:pt x="32847" y="43104"/>
                    <a:pt x="37227" y="46677"/>
                    <a:pt x="42413" y="49558"/>
                  </a:cubicBezTo>
                  <a:cubicBezTo>
                    <a:pt x="57626" y="58202"/>
                    <a:pt x="65233" y="62582"/>
                    <a:pt x="80446" y="71226"/>
                  </a:cubicBezTo>
                  <a:cubicBezTo>
                    <a:pt x="77450" y="76528"/>
                    <a:pt x="75951" y="79178"/>
                    <a:pt x="72955" y="84480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E04C3D4-B90A-0C25-841D-23EF717E06FA}"/>
                </a:ext>
              </a:extLst>
            </p:cNvPr>
            <p:cNvSpPr/>
            <p:nvPr/>
          </p:nvSpPr>
          <p:spPr>
            <a:xfrm>
              <a:off x="5381675" y="2500338"/>
              <a:ext cx="90870" cy="89893"/>
            </a:xfrm>
            <a:custGeom>
              <a:avLst/>
              <a:gdLst>
                <a:gd name="csX0" fmla="*/ 71854 w 90870"/>
                <a:gd name="csY0" fmla="*/ 32218 h 89893"/>
                <a:gd name="csX1" fmla="*/ 82803 w 90870"/>
                <a:gd name="csY1" fmla="*/ 19886 h 89893"/>
                <a:gd name="csX2" fmla="*/ 90870 w 90870"/>
                <a:gd name="csY2" fmla="*/ 42936 h 89893"/>
                <a:gd name="csX3" fmla="*/ 81996 w 90870"/>
                <a:gd name="csY3" fmla="*/ 68407 h 89893"/>
                <a:gd name="csX4" fmla="*/ 55257 w 90870"/>
                <a:gd name="csY4" fmla="*/ 88807 h 89893"/>
                <a:gd name="csX5" fmla="*/ 22065 w 90870"/>
                <a:gd name="csY5" fmla="*/ 82122 h 89893"/>
                <a:gd name="csX6" fmla="*/ 743 w 90870"/>
                <a:gd name="csY6" fmla="*/ 54346 h 89893"/>
                <a:gd name="csX7" fmla="*/ 8695 w 90870"/>
                <a:gd name="csY7" fmla="*/ 20577 h 89893"/>
                <a:gd name="csX8" fmla="*/ 36125 w 90870"/>
                <a:gd name="csY8" fmla="*/ 754 h 89893"/>
                <a:gd name="csX9" fmla="*/ 69318 w 90870"/>
                <a:gd name="csY9" fmla="*/ 9513 h 89893"/>
                <a:gd name="csX10" fmla="*/ 72315 w 90870"/>
                <a:gd name="csY10" fmla="*/ 11818 h 89893"/>
                <a:gd name="csX11" fmla="*/ 33129 w 90870"/>
                <a:gd name="csY11" fmla="*/ 69790 h 89893"/>
                <a:gd name="csX12" fmla="*/ 55603 w 90870"/>
                <a:gd name="csY12" fmla="*/ 73824 h 89893"/>
                <a:gd name="csX13" fmla="*/ 72199 w 90870"/>
                <a:gd name="csY13" fmla="*/ 61838 h 89893"/>
                <a:gd name="csX14" fmla="*/ 77040 w 90870"/>
                <a:gd name="csY14" fmla="*/ 47431 h 89893"/>
                <a:gd name="csX15" fmla="*/ 71854 w 90870"/>
                <a:gd name="csY15" fmla="*/ 31987 h 89893"/>
                <a:gd name="csX16" fmla="*/ 23793 w 90870"/>
                <a:gd name="csY16" fmla="*/ 62990 h 89893"/>
                <a:gd name="csX17" fmla="*/ 53183 w 90870"/>
                <a:gd name="csY17" fmla="*/ 18964 h 89893"/>
                <a:gd name="csX18" fmla="*/ 36702 w 90870"/>
                <a:gd name="csY18" fmla="*/ 14930 h 89893"/>
                <a:gd name="csX19" fmla="*/ 18492 w 90870"/>
                <a:gd name="csY19" fmla="*/ 27032 h 89893"/>
                <a:gd name="csX20" fmla="*/ 13651 w 90870"/>
                <a:gd name="csY20" fmla="*/ 46394 h 89893"/>
                <a:gd name="csX21" fmla="*/ 23909 w 90870"/>
                <a:gd name="csY21" fmla="*/ 62875 h 898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90870" h="89893">
                  <a:moveTo>
                    <a:pt x="71854" y="32218"/>
                  </a:moveTo>
                  <a:cubicBezTo>
                    <a:pt x="76233" y="27262"/>
                    <a:pt x="78423" y="24842"/>
                    <a:pt x="82803" y="19886"/>
                  </a:cubicBezTo>
                  <a:cubicBezTo>
                    <a:pt x="88220" y="26916"/>
                    <a:pt x="90870" y="34638"/>
                    <a:pt x="90870" y="42936"/>
                  </a:cubicBezTo>
                  <a:cubicBezTo>
                    <a:pt x="90870" y="51235"/>
                    <a:pt x="87874" y="59763"/>
                    <a:pt x="81996" y="68407"/>
                  </a:cubicBezTo>
                  <a:cubicBezTo>
                    <a:pt x="74620" y="79472"/>
                    <a:pt x="65861" y="86156"/>
                    <a:pt x="55257" y="88807"/>
                  </a:cubicBezTo>
                  <a:cubicBezTo>
                    <a:pt x="44769" y="91458"/>
                    <a:pt x="33590" y="89268"/>
                    <a:pt x="22065" y="82122"/>
                  </a:cubicBezTo>
                  <a:cubicBezTo>
                    <a:pt x="10078" y="74746"/>
                    <a:pt x="2933" y="65526"/>
                    <a:pt x="743" y="54346"/>
                  </a:cubicBezTo>
                  <a:cubicBezTo>
                    <a:pt x="-1447" y="43167"/>
                    <a:pt x="1204" y="31757"/>
                    <a:pt x="8695" y="20577"/>
                  </a:cubicBezTo>
                  <a:cubicBezTo>
                    <a:pt x="15956" y="9744"/>
                    <a:pt x="25177" y="3059"/>
                    <a:pt x="36125" y="754"/>
                  </a:cubicBezTo>
                  <a:cubicBezTo>
                    <a:pt x="47074" y="-1551"/>
                    <a:pt x="58139" y="1446"/>
                    <a:pt x="69318" y="9513"/>
                  </a:cubicBezTo>
                  <a:cubicBezTo>
                    <a:pt x="70010" y="9974"/>
                    <a:pt x="71047" y="10781"/>
                    <a:pt x="72315" y="11818"/>
                  </a:cubicBezTo>
                  <a:cubicBezTo>
                    <a:pt x="55834" y="34638"/>
                    <a:pt x="47996" y="46279"/>
                    <a:pt x="33129" y="69790"/>
                  </a:cubicBezTo>
                  <a:cubicBezTo>
                    <a:pt x="41197" y="74170"/>
                    <a:pt x="48688" y="75553"/>
                    <a:pt x="55603" y="73824"/>
                  </a:cubicBezTo>
                  <a:cubicBezTo>
                    <a:pt x="62518" y="72211"/>
                    <a:pt x="68050" y="68177"/>
                    <a:pt x="72199" y="61838"/>
                  </a:cubicBezTo>
                  <a:cubicBezTo>
                    <a:pt x="75311" y="57113"/>
                    <a:pt x="76925" y="52272"/>
                    <a:pt x="77040" y="47431"/>
                  </a:cubicBezTo>
                  <a:cubicBezTo>
                    <a:pt x="77040" y="42591"/>
                    <a:pt x="75311" y="37404"/>
                    <a:pt x="71854" y="31987"/>
                  </a:cubicBezTo>
                  <a:close/>
                  <a:moveTo>
                    <a:pt x="23793" y="62990"/>
                  </a:moveTo>
                  <a:cubicBezTo>
                    <a:pt x="35088" y="45242"/>
                    <a:pt x="40966" y="36367"/>
                    <a:pt x="53183" y="18964"/>
                  </a:cubicBezTo>
                  <a:cubicBezTo>
                    <a:pt x="46959" y="15506"/>
                    <a:pt x="41542" y="14123"/>
                    <a:pt x="36702" y="14930"/>
                  </a:cubicBezTo>
                  <a:cubicBezTo>
                    <a:pt x="29210" y="16083"/>
                    <a:pt x="23102" y="20116"/>
                    <a:pt x="18492" y="27032"/>
                  </a:cubicBezTo>
                  <a:cubicBezTo>
                    <a:pt x="14343" y="33255"/>
                    <a:pt x="12729" y="39825"/>
                    <a:pt x="13651" y="46394"/>
                  </a:cubicBezTo>
                  <a:cubicBezTo>
                    <a:pt x="14573" y="53079"/>
                    <a:pt x="18031" y="58495"/>
                    <a:pt x="23909" y="62875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aphic 13">
            <a:extLst>
              <a:ext uri="{FF2B5EF4-FFF2-40B4-BE49-F238E27FC236}">
                <a16:creationId xmlns:a16="http://schemas.microsoft.com/office/drawing/2014/main" id="{E446FDAC-425B-9E1B-0319-8DCBE4EAEE35}"/>
              </a:ext>
            </a:extLst>
          </p:cNvPr>
          <p:cNvGrpSpPr/>
          <p:nvPr/>
        </p:nvGrpSpPr>
        <p:grpSpPr>
          <a:xfrm>
            <a:off x="4667161" y="2324180"/>
            <a:ext cx="305188" cy="1607196"/>
            <a:chOff x="4667161" y="2324180"/>
            <a:chExt cx="305188" cy="1607196"/>
          </a:xfrm>
          <a:solidFill>
            <a:srgbClr val="FFFFFF"/>
          </a:solidFill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DFAE148-08FE-774B-7202-C273296B0C83}"/>
                </a:ext>
              </a:extLst>
            </p:cNvPr>
            <p:cNvSpPr/>
            <p:nvPr/>
          </p:nvSpPr>
          <p:spPr>
            <a:xfrm>
              <a:off x="4774346" y="3823269"/>
              <a:ext cx="130696" cy="108106"/>
            </a:xfrm>
            <a:custGeom>
              <a:avLst/>
              <a:gdLst>
                <a:gd name="csX0" fmla="*/ 130696 w 130696"/>
                <a:gd name="csY0" fmla="*/ 107992 h 108106"/>
                <a:gd name="csX1" fmla="*/ 5763 w 130696"/>
                <a:gd name="csY1" fmla="*/ 100961 h 108106"/>
                <a:gd name="csX2" fmla="*/ 0 w 130696"/>
                <a:gd name="csY2" fmla="*/ 83558 h 108106"/>
                <a:gd name="csX3" fmla="*/ 94622 w 130696"/>
                <a:gd name="csY3" fmla="*/ 0 h 108106"/>
                <a:gd name="csX4" fmla="*/ 100039 w 130696"/>
                <a:gd name="csY4" fmla="*/ 17518 h 108106"/>
                <a:gd name="csX5" fmla="*/ 70996 w 130696"/>
                <a:gd name="csY5" fmla="*/ 41721 h 108106"/>
                <a:gd name="csX6" fmla="*/ 87361 w 130696"/>
                <a:gd name="csY6" fmla="*/ 90819 h 108106"/>
                <a:gd name="csX7" fmla="*/ 124818 w 130696"/>
                <a:gd name="csY7" fmla="*/ 91971 h 108106"/>
                <a:gd name="csX8" fmla="*/ 130581 w 130696"/>
                <a:gd name="csY8" fmla="*/ 108107 h 108106"/>
                <a:gd name="csX9" fmla="*/ 74107 w 130696"/>
                <a:gd name="csY9" fmla="*/ 90358 h 108106"/>
                <a:gd name="csX10" fmla="*/ 60738 w 130696"/>
                <a:gd name="csY10" fmla="*/ 50365 h 108106"/>
                <a:gd name="csX11" fmla="*/ 34345 w 130696"/>
                <a:gd name="csY11" fmla="*/ 72724 h 108106"/>
                <a:gd name="csX12" fmla="*/ 14407 w 130696"/>
                <a:gd name="csY12" fmla="*/ 88860 h 108106"/>
                <a:gd name="csX13" fmla="*/ 37457 w 130696"/>
                <a:gd name="csY13" fmla="*/ 88283 h 108106"/>
                <a:gd name="csX14" fmla="*/ 73992 w 130696"/>
                <a:gd name="csY14" fmla="*/ 90358 h 108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0696" h="108106">
                  <a:moveTo>
                    <a:pt x="130696" y="107992"/>
                  </a:moveTo>
                  <a:cubicBezTo>
                    <a:pt x="80907" y="106263"/>
                    <a:pt x="55897" y="104880"/>
                    <a:pt x="5763" y="100961"/>
                  </a:cubicBezTo>
                  <a:cubicBezTo>
                    <a:pt x="3458" y="94046"/>
                    <a:pt x="2190" y="90588"/>
                    <a:pt x="0" y="83558"/>
                  </a:cubicBezTo>
                  <a:cubicBezTo>
                    <a:pt x="37227" y="49098"/>
                    <a:pt x="56243" y="32386"/>
                    <a:pt x="94622" y="0"/>
                  </a:cubicBezTo>
                  <a:cubicBezTo>
                    <a:pt x="96697" y="7030"/>
                    <a:pt x="97849" y="10488"/>
                    <a:pt x="100039" y="17518"/>
                  </a:cubicBezTo>
                  <a:cubicBezTo>
                    <a:pt x="88399" y="27084"/>
                    <a:pt x="82521" y="31925"/>
                    <a:pt x="70996" y="41721"/>
                  </a:cubicBezTo>
                  <a:cubicBezTo>
                    <a:pt x="77334" y="61430"/>
                    <a:pt x="80561" y="71226"/>
                    <a:pt x="87361" y="90819"/>
                  </a:cubicBezTo>
                  <a:cubicBezTo>
                    <a:pt x="102344" y="91395"/>
                    <a:pt x="109836" y="91626"/>
                    <a:pt x="124818" y="91971"/>
                  </a:cubicBezTo>
                  <a:cubicBezTo>
                    <a:pt x="127124" y="98426"/>
                    <a:pt x="128276" y="101653"/>
                    <a:pt x="130581" y="108107"/>
                  </a:cubicBezTo>
                  <a:close/>
                  <a:moveTo>
                    <a:pt x="74107" y="90358"/>
                  </a:moveTo>
                  <a:cubicBezTo>
                    <a:pt x="68575" y="74338"/>
                    <a:pt x="65924" y="66385"/>
                    <a:pt x="60738" y="50365"/>
                  </a:cubicBezTo>
                  <a:cubicBezTo>
                    <a:pt x="50135" y="59240"/>
                    <a:pt x="44833" y="63735"/>
                    <a:pt x="34345" y="72724"/>
                  </a:cubicBezTo>
                  <a:cubicBezTo>
                    <a:pt x="26393" y="79639"/>
                    <a:pt x="19708" y="84941"/>
                    <a:pt x="14407" y="88860"/>
                  </a:cubicBezTo>
                  <a:cubicBezTo>
                    <a:pt x="21898" y="88053"/>
                    <a:pt x="29620" y="87938"/>
                    <a:pt x="37457" y="88283"/>
                  </a:cubicBezTo>
                  <a:cubicBezTo>
                    <a:pt x="52094" y="89205"/>
                    <a:pt x="59355" y="89666"/>
                    <a:pt x="73992" y="90358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A226740-3A4E-66E0-E4AE-42251F91E0E2}"/>
                </a:ext>
              </a:extLst>
            </p:cNvPr>
            <p:cNvSpPr/>
            <p:nvPr/>
          </p:nvSpPr>
          <p:spPr>
            <a:xfrm>
              <a:off x="4771176" y="3748183"/>
              <a:ext cx="125567" cy="88570"/>
            </a:xfrm>
            <a:custGeom>
              <a:avLst/>
              <a:gdLst>
                <a:gd name="csX0" fmla="*/ 125452 w 125567"/>
                <a:gd name="csY0" fmla="*/ 55609 h 88570"/>
                <a:gd name="csX1" fmla="*/ 14579 w 125567"/>
                <a:gd name="csY1" fmla="*/ 88571 h 88570"/>
                <a:gd name="csX2" fmla="*/ 10546 w 125567"/>
                <a:gd name="csY2" fmla="*/ 75086 h 88570"/>
                <a:gd name="csX3" fmla="*/ 21034 w 125567"/>
                <a:gd name="csY3" fmla="*/ 72090 h 88570"/>
                <a:gd name="csX4" fmla="*/ 8702 w 125567"/>
                <a:gd name="csY4" fmla="*/ 63907 h 88570"/>
                <a:gd name="csX5" fmla="*/ 1556 w 125567"/>
                <a:gd name="csY5" fmla="*/ 50076 h 88570"/>
                <a:gd name="csX6" fmla="*/ 1556 w 125567"/>
                <a:gd name="csY6" fmla="*/ 28755 h 88570"/>
                <a:gd name="csX7" fmla="*/ 13196 w 125567"/>
                <a:gd name="csY7" fmla="*/ 11813 h 88570"/>
                <a:gd name="csX8" fmla="*/ 33366 w 125567"/>
                <a:gd name="csY8" fmla="*/ 1901 h 88570"/>
                <a:gd name="csX9" fmla="*/ 56992 w 125567"/>
                <a:gd name="csY9" fmla="*/ 864 h 88570"/>
                <a:gd name="csX10" fmla="*/ 75779 w 125567"/>
                <a:gd name="csY10" fmla="*/ 10430 h 88570"/>
                <a:gd name="csX11" fmla="*/ 86151 w 125567"/>
                <a:gd name="csY11" fmla="*/ 27717 h 88570"/>
                <a:gd name="csX12" fmla="*/ 86843 w 125567"/>
                <a:gd name="csY12" fmla="*/ 41317 h 88570"/>
                <a:gd name="csX13" fmla="*/ 82233 w 125567"/>
                <a:gd name="csY13" fmla="*/ 52727 h 88570"/>
                <a:gd name="csX14" fmla="*/ 121419 w 125567"/>
                <a:gd name="csY14" fmla="*/ 41433 h 88570"/>
                <a:gd name="csX15" fmla="*/ 125568 w 125567"/>
                <a:gd name="csY15" fmla="*/ 55493 h 88570"/>
                <a:gd name="csX16" fmla="*/ 51230 w 125567"/>
                <a:gd name="csY16" fmla="*/ 63330 h 88570"/>
                <a:gd name="csX17" fmla="*/ 72206 w 125567"/>
                <a:gd name="csY17" fmla="*/ 50076 h 88570"/>
                <a:gd name="csX18" fmla="*/ 75087 w 125567"/>
                <a:gd name="csY18" fmla="*/ 31867 h 88570"/>
                <a:gd name="csX19" fmla="*/ 62870 w 125567"/>
                <a:gd name="csY19" fmla="*/ 17460 h 88570"/>
                <a:gd name="csX20" fmla="*/ 37054 w 125567"/>
                <a:gd name="csY20" fmla="*/ 16884 h 88570"/>
                <a:gd name="csX21" fmla="*/ 15732 w 125567"/>
                <a:gd name="csY21" fmla="*/ 29907 h 88570"/>
                <a:gd name="csX22" fmla="*/ 12505 w 125567"/>
                <a:gd name="csY22" fmla="*/ 48463 h 88570"/>
                <a:gd name="csX23" fmla="*/ 25413 w 125567"/>
                <a:gd name="csY23" fmla="*/ 62869 h 88570"/>
                <a:gd name="csX24" fmla="*/ 51115 w 125567"/>
                <a:gd name="csY24" fmla="*/ 63215 h 88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25567" h="88570">
                  <a:moveTo>
                    <a:pt x="125452" y="55609"/>
                  </a:moveTo>
                  <a:cubicBezTo>
                    <a:pt x="81080" y="68747"/>
                    <a:pt x="58836" y="75432"/>
                    <a:pt x="14579" y="88571"/>
                  </a:cubicBezTo>
                  <a:cubicBezTo>
                    <a:pt x="12966" y="83154"/>
                    <a:pt x="12159" y="80503"/>
                    <a:pt x="10546" y="75086"/>
                  </a:cubicBezTo>
                  <a:cubicBezTo>
                    <a:pt x="14695" y="73818"/>
                    <a:pt x="16769" y="73242"/>
                    <a:pt x="21034" y="72090"/>
                  </a:cubicBezTo>
                  <a:cubicBezTo>
                    <a:pt x="16078" y="70130"/>
                    <a:pt x="11929" y="67364"/>
                    <a:pt x="8702" y="63907"/>
                  </a:cubicBezTo>
                  <a:cubicBezTo>
                    <a:pt x="5474" y="60449"/>
                    <a:pt x="3054" y="55839"/>
                    <a:pt x="1556" y="50076"/>
                  </a:cubicBezTo>
                  <a:cubicBezTo>
                    <a:pt x="-519" y="42585"/>
                    <a:pt x="-519" y="35439"/>
                    <a:pt x="1556" y="28755"/>
                  </a:cubicBezTo>
                  <a:cubicBezTo>
                    <a:pt x="3630" y="22070"/>
                    <a:pt x="7434" y="16423"/>
                    <a:pt x="13196" y="11813"/>
                  </a:cubicBezTo>
                  <a:cubicBezTo>
                    <a:pt x="18959" y="7203"/>
                    <a:pt x="25644" y="3975"/>
                    <a:pt x="33366" y="1901"/>
                  </a:cubicBezTo>
                  <a:cubicBezTo>
                    <a:pt x="41664" y="-289"/>
                    <a:pt x="49501" y="-519"/>
                    <a:pt x="56992" y="864"/>
                  </a:cubicBezTo>
                  <a:cubicBezTo>
                    <a:pt x="64484" y="2247"/>
                    <a:pt x="70707" y="5474"/>
                    <a:pt x="75779" y="10430"/>
                  </a:cubicBezTo>
                  <a:cubicBezTo>
                    <a:pt x="80850" y="15385"/>
                    <a:pt x="84307" y="21148"/>
                    <a:pt x="86151" y="27717"/>
                  </a:cubicBezTo>
                  <a:cubicBezTo>
                    <a:pt x="87419" y="32443"/>
                    <a:pt x="87765" y="37053"/>
                    <a:pt x="86843" y="41317"/>
                  </a:cubicBezTo>
                  <a:cubicBezTo>
                    <a:pt x="86036" y="45697"/>
                    <a:pt x="84422" y="49500"/>
                    <a:pt x="82233" y="52727"/>
                  </a:cubicBezTo>
                  <a:cubicBezTo>
                    <a:pt x="97907" y="48232"/>
                    <a:pt x="105744" y="45927"/>
                    <a:pt x="121419" y="41433"/>
                  </a:cubicBezTo>
                  <a:cubicBezTo>
                    <a:pt x="123032" y="47080"/>
                    <a:pt x="123839" y="49846"/>
                    <a:pt x="125568" y="55493"/>
                  </a:cubicBezTo>
                  <a:close/>
                  <a:moveTo>
                    <a:pt x="51230" y="63330"/>
                  </a:moveTo>
                  <a:cubicBezTo>
                    <a:pt x="61602" y="60334"/>
                    <a:pt x="68518" y="55839"/>
                    <a:pt x="72206" y="50076"/>
                  </a:cubicBezTo>
                  <a:cubicBezTo>
                    <a:pt x="75894" y="44198"/>
                    <a:pt x="76816" y="38205"/>
                    <a:pt x="75087" y="31867"/>
                  </a:cubicBezTo>
                  <a:cubicBezTo>
                    <a:pt x="73358" y="25412"/>
                    <a:pt x="69209" y="20687"/>
                    <a:pt x="62870" y="17460"/>
                  </a:cubicBezTo>
                  <a:cubicBezTo>
                    <a:pt x="56531" y="14233"/>
                    <a:pt x="47887" y="14118"/>
                    <a:pt x="37054" y="16884"/>
                  </a:cubicBezTo>
                  <a:cubicBezTo>
                    <a:pt x="26796" y="19650"/>
                    <a:pt x="19651" y="23914"/>
                    <a:pt x="15732" y="29907"/>
                  </a:cubicBezTo>
                  <a:cubicBezTo>
                    <a:pt x="11813" y="35900"/>
                    <a:pt x="10776" y="42009"/>
                    <a:pt x="12505" y="48463"/>
                  </a:cubicBezTo>
                  <a:cubicBezTo>
                    <a:pt x="14234" y="54802"/>
                    <a:pt x="18613" y="59642"/>
                    <a:pt x="25413" y="62869"/>
                  </a:cubicBezTo>
                  <a:cubicBezTo>
                    <a:pt x="32213" y="66212"/>
                    <a:pt x="40857" y="66212"/>
                    <a:pt x="51115" y="63215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F12966-36D2-E9FB-6F70-238DE7B7BD00}"/>
                </a:ext>
              </a:extLst>
            </p:cNvPr>
            <p:cNvSpPr/>
            <p:nvPr/>
          </p:nvSpPr>
          <p:spPr>
            <a:xfrm>
              <a:off x="4747555" y="3655663"/>
              <a:ext cx="124639" cy="86698"/>
            </a:xfrm>
            <a:custGeom>
              <a:avLst/>
              <a:gdLst>
                <a:gd name="csX0" fmla="*/ 124640 w 124639"/>
                <a:gd name="csY0" fmla="*/ 58808 h 86698"/>
                <a:gd name="csX1" fmla="*/ 12268 w 124639"/>
                <a:gd name="csY1" fmla="*/ 86699 h 86698"/>
                <a:gd name="csX2" fmla="*/ 8926 w 124639"/>
                <a:gd name="csY2" fmla="*/ 72984 h 86698"/>
                <a:gd name="csX3" fmla="*/ 19529 w 124639"/>
                <a:gd name="csY3" fmla="*/ 70448 h 86698"/>
                <a:gd name="csX4" fmla="*/ 7658 w 124639"/>
                <a:gd name="csY4" fmla="*/ 61804 h 86698"/>
                <a:gd name="csX5" fmla="*/ 1089 w 124639"/>
                <a:gd name="csY5" fmla="*/ 47743 h 86698"/>
                <a:gd name="csX6" fmla="*/ 2011 w 124639"/>
                <a:gd name="csY6" fmla="*/ 26537 h 86698"/>
                <a:gd name="csX7" fmla="*/ 14458 w 124639"/>
                <a:gd name="csY7" fmla="*/ 10171 h 86698"/>
                <a:gd name="csX8" fmla="*/ 35088 w 124639"/>
                <a:gd name="csY8" fmla="*/ 1297 h 86698"/>
                <a:gd name="csX9" fmla="*/ 58715 w 124639"/>
                <a:gd name="csY9" fmla="*/ 1297 h 86698"/>
                <a:gd name="csX10" fmla="*/ 77040 w 124639"/>
                <a:gd name="csY10" fmla="*/ 11669 h 86698"/>
                <a:gd name="csX11" fmla="*/ 86606 w 124639"/>
                <a:gd name="csY11" fmla="*/ 29303 h 86698"/>
                <a:gd name="csX12" fmla="*/ 86606 w 124639"/>
                <a:gd name="csY12" fmla="*/ 42903 h 86698"/>
                <a:gd name="csX13" fmla="*/ 81535 w 124639"/>
                <a:gd name="csY13" fmla="*/ 54082 h 86698"/>
                <a:gd name="csX14" fmla="*/ 121182 w 124639"/>
                <a:gd name="csY14" fmla="*/ 44516 h 86698"/>
                <a:gd name="csX15" fmla="*/ 124640 w 124639"/>
                <a:gd name="csY15" fmla="*/ 58692 h 86698"/>
                <a:gd name="csX16" fmla="*/ 50071 w 124639"/>
                <a:gd name="csY16" fmla="*/ 63187 h 86698"/>
                <a:gd name="csX17" fmla="*/ 71624 w 124639"/>
                <a:gd name="csY17" fmla="*/ 50855 h 86698"/>
                <a:gd name="csX18" fmla="*/ 75312 w 124639"/>
                <a:gd name="csY18" fmla="*/ 32876 h 86698"/>
                <a:gd name="csX19" fmla="*/ 63786 w 124639"/>
                <a:gd name="csY19" fmla="*/ 18008 h 86698"/>
                <a:gd name="csX20" fmla="*/ 38085 w 124639"/>
                <a:gd name="csY20" fmla="*/ 16279 h 86698"/>
                <a:gd name="csX21" fmla="*/ 16187 w 124639"/>
                <a:gd name="csY21" fmla="*/ 28266 h 86698"/>
                <a:gd name="csX22" fmla="*/ 12153 w 124639"/>
                <a:gd name="csY22" fmla="*/ 46591 h 86698"/>
                <a:gd name="csX23" fmla="*/ 24370 w 124639"/>
                <a:gd name="csY23" fmla="*/ 61574 h 86698"/>
                <a:gd name="csX24" fmla="*/ 50071 w 124639"/>
                <a:gd name="csY24" fmla="*/ 63072 h 86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24639" h="86698">
                  <a:moveTo>
                    <a:pt x="124640" y="58808"/>
                  </a:moveTo>
                  <a:cubicBezTo>
                    <a:pt x="79691" y="69987"/>
                    <a:pt x="57217" y="75519"/>
                    <a:pt x="12268" y="86699"/>
                  </a:cubicBezTo>
                  <a:cubicBezTo>
                    <a:pt x="10885" y="81282"/>
                    <a:pt x="10194" y="78516"/>
                    <a:pt x="8926" y="72984"/>
                  </a:cubicBezTo>
                  <a:cubicBezTo>
                    <a:pt x="13190" y="71946"/>
                    <a:pt x="15265" y="71485"/>
                    <a:pt x="19529" y="70448"/>
                  </a:cubicBezTo>
                  <a:cubicBezTo>
                    <a:pt x="14574" y="68258"/>
                    <a:pt x="10655" y="65377"/>
                    <a:pt x="7658" y="61804"/>
                  </a:cubicBezTo>
                  <a:cubicBezTo>
                    <a:pt x="4662" y="58231"/>
                    <a:pt x="2472" y="53506"/>
                    <a:pt x="1089" y="47743"/>
                  </a:cubicBezTo>
                  <a:cubicBezTo>
                    <a:pt x="-640" y="40137"/>
                    <a:pt x="-294" y="33106"/>
                    <a:pt x="2011" y="26537"/>
                  </a:cubicBezTo>
                  <a:cubicBezTo>
                    <a:pt x="4316" y="19968"/>
                    <a:pt x="8465" y="14551"/>
                    <a:pt x="14458" y="10171"/>
                  </a:cubicBezTo>
                  <a:cubicBezTo>
                    <a:pt x="20336" y="5907"/>
                    <a:pt x="27251" y="2910"/>
                    <a:pt x="35088" y="1297"/>
                  </a:cubicBezTo>
                  <a:cubicBezTo>
                    <a:pt x="43502" y="-432"/>
                    <a:pt x="51339" y="-432"/>
                    <a:pt x="58715" y="1297"/>
                  </a:cubicBezTo>
                  <a:cubicBezTo>
                    <a:pt x="66091" y="3025"/>
                    <a:pt x="72200" y="6483"/>
                    <a:pt x="77040" y="11669"/>
                  </a:cubicBezTo>
                  <a:cubicBezTo>
                    <a:pt x="81881" y="16856"/>
                    <a:pt x="85108" y="22734"/>
                    <a:pt x="86606" y="29303"/>
                  </a:cubicBezTo>
                  <a:cubicBezTo>
                    <a:pt x="87759" y="34144"/>
                    <a:pt x="87759" y="38638"/>
                    <a:pt x="86606" y="42903"/>
                  </a:cubicBezTo>
                  <a:cubicBezTo>
                    <a:pt x="85569" y="47167"/>
                    <a:pt x="83840" y="50970"/>
                    <a:pt x="81535" y="54082"/>
                  </a:cubicBezTo>
                  <a:cubicBezTo>
                    <a:pt x="97325" y="50279"/>
                    <a:pt x="105277" y="48320"/>
                    <a:pt x="121182" y="44516"/>
                  </a:cubicBezTo>
                  <a:cubicBezTo>
                    <a:pt x="122565" y="50164"/>
                    <a:pt x="123257" y="53045"/>
                    <a:pt x="124640" y="58692"/>
                  </a:cubicBezTo>
                  <a:close/>
                  <a:moveTo>
                    <a:pt x="50071" y="63187"/>
                  </a:moveTo>
                  <a:cubicBezTo>
                    <a:pt x="60559" y="60652"/>
                    <a:pt x="67705" y="56503"/>
                    <a:pt x="71624" y="50855"/>
                  </a:cubicBezTo>
                  <a:cubicBezTo>
                    <a:pt x="75542" y="45208"/>
                    <a:pt x="76810" y="39215"/>
                    <a:pt x="75312" y="32876"/>
                  </a:cubicBezTo>
                  <a:cubicBezTo>
                    <a:pt x="73813" y="26422"/>
                    <a:pt x="70010" y="21466"/>
                    <a:pt x="63786" y="18008"/>
                  </a:cubicBezTo>
                  <a:cubicBezTo>
                    <a:pt x="57563" y="14551"/>
                    <a:pt x="49034" y="13974"/>
                    <a:pt x="38085" y="16279"/>
                  </a:cubicBezTo>
                  <a:cubicBezTo>
                    <a:pt x="27712" y="18584"/>
                    <a:pt x="20336" y="22503"/>
                    <a:pt x="16187" y="28266"/>
                  </a:cubicBezTo>
                  <a:cubicBezTo>
                    <a:pt x="12038" y="34028"/>
                    <a:pt x="10655" y="40137"/>
                    <a:pt x="12153" y="46591"/>
                  </a:cubicBezTo>
                  <a:cubicBezTo>
                    <a:pt x="13652" y="52930"/>
                    <a:pt x="17685" y="58001"/>
                    <a:pt x="24370" y="61574"/>
                  </a:cubicBezTo>
                  <a:cubicBezTo>
                    <a:pt x="31055" y="65147"/>
                    <a:pt x="39583" y="65607"/>
                    <a:pt x="50071" y="63072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7D5B3277-1F9A-E9DE-A194-233658BD6974}"/>
                </a:ext>
              </a:extLst>
            </p:cNvPr>
            <p:cNvSpPr/>
            <p:nvPr/>
          </p:nvSpPr>
          <p:spPr>
            <a:xfrm>
              <a:off x="4704387" y="3616506"/>
              <a:ext cx="116289" cy="37226"/>
            </a:xfrm>
            <a:custGeom>
              <a:avLst/>
              <a:gdLst>
                <a:gd name="csX0" fmla="*/ 116290 w 116289"/>
                <a:gd name="csY0" fmla="*/ 14522 h 37226"/>
                <a:gd name="csX1" fmla="*/ 2997 w 116289"/>
                <a:gd name="csY1" fmla="*/ 37227 h 37226"/>
                <a:gd name="csX2" fmla="*/ 0 w 116289"/>
                <a:gd name="csY2" fmla="*/ 21898 h 37226"/>
                <a:gd name="csX3" fmla="*/ 113408 w 116289"/>
                <a:gd name="csY3" fmla="*/ 0 h 37226"/>
                <a:gd name="csX4" fmla="*/ 116290 w 116289"/>
                <a:gd name="csY4" fmla="*/ 14522 h 372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6289" h="37226">
                  <a:moveTo>
                    <a:pt x="116290" y="14522"/>
                  </a:moveTo>
                  <a:cubicBezTo>
                    <a:pt x="70996" y="23627"/>
                    <a:pt x="48291" y="28122"/>
                    <a:pt x="2997" y="37227"/>
                  </a:cubicBezTo>
                  <a:cubicBezTo>
                    <a:pt x="1729" y="31118"/>
                    <a:pt x="1153" y="28006"/>
                    <a:pt x="0" y="21898"/>
                  </a:cubicBezTo>
                  <a:cubicBezTo>
                    <a:pt x="45409" y="13139"/>
                    <a:pt x="67999" y="8759"/>
                    <a:pt x="113408" y="0"/>
                  </a:cubicBezTo>
                  <a:cubicBezTo>
                    <a:pt x="114561" y="5763"/>
                    <a:pt x="115137" y="8759"/>
                    <a:pt x="116290" y="14522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AD18A98E-91A5-0251-D325-BF3D9CD6493D}"/>
                </a:ext>
              </a:extLst>
            </p:cNvPr>
            <p:cNvSpPr/>
            <p:nvPr/>
          </p:nvSpPr>
          <p:spPr>
            <a:xfrm>
              <a:off x="4697126" y="3579395"/>
              <a:ext cx="116520" cy="35152"/>
            </a:xfrm>
            <a:custGeom>
              <a:avLst/>
              <a:gdLst>
                <a:gd name="csX0" fmla="*/ 18786 w 116520"/>
                <a:gd name="csY0" fmla="*/ 32271 h 35152"/>
                <a:gd name="csX1" fmla="*/ 2766 w 116520"/>
                <a:gd name="csY1" fmla="*/ 35152 h 35152"/>
                <a:gd name="csX2" fmla="*/ 0 w 116520"/>
                <a:gd name="csY2" fmla="*/ 19823 h 35152"/>
                <a:gd name="csX3" fmla="*/ 16020 w 116520"/>
                <a:gd name="csY3" fmla="*/ 17057 h 35152"/>
                <a:gd name="csX4" fmla="*/ 18786 w 116520"/>
                <a:gd name="csY4" fmla="*/ 32271 h 35152"/>
                <a:gd name="csX5" fmla="*/ 116405 w 116520"/>
                <a:gd name="csY5" fmla="*/ 14522 h 35152"/>
                <a:gd name="csX6" fmla="*/ 34115 w 116520"/>
                <a:gd name="csY6" fmla="*/ 29505 h 35152"/>
                <a:gd name="csX7" fmla="*/ 31464 w 116520"/>
                <a:gd name="csY7" fmla="*/ 14407 h 35152"/>
                <a:gd name="csX8" fmla="*/ 113869 w 116520"/>
                <a:gd name="csY8" fmla="*/ 0 h 35152"/>
                <a:gd name="csX9" fmla="*/ 116520 w 116520"/>
                <a:gd name="csY9" fmla="*/ 14522 h 35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6520" h="35152">
                  <a:moveTo>
                    <a:pt x="18786" y="32271"/>
                  </a:moveTo>
                  <a:cubicBezTo>
                    <a:pt x="12332" y="33423"/>
                    <a:pt x="9105" y="33999"/>
                    <a:pt x="2766" y="35152"/>
                  </a:cubicBezTo>
                  <a:cubicBezTo>
                    <a:pt x="1614" y="29044"/>
                    <a:pt x="1153" y="25932"/>
                    <a:pt x="0" y="19823"/>
                  </a:cubicBezTo>
                  <a:cubicBezTo>
                    <a:pt x="6454" y="18671"/>
                    <a:pt x="9681" y="18095"/>
                    <a:pt x="16020" y="17057"/>
                  </a:cubicBezTo>
                  <a:cubicBezTo>
                    <a:pt x="17057" y="23166"/>
                    <a:pt x="17634" y="26162"/>
                    <a:pt x="18786" y="32271"/>
                  </a:cubicBezTo>
                  <a:close/>
                  <a:moveTo>
                    <a:pt x="116405" y="14522"/>
                  </a:moveTo>
                  <a:cubicBezTo>
                    <a:pt x="83443" y="20515"/>
                    <a:pt x="66962" y="23511"/>
                    <a:pt x="34115" y="29505"/>
                  </a:cubicBezTo>
                  <a:cubicBezTo>
                    <a:pt x="32962" y="23396"/>
                    <a:pt x="32501" y="20400"/>
                    <a:pt x="31464" y="14407"/>
                  </a:cubicBezTo>
                  <a:cubicBezTo>
                    <a:pt x="64426" y="8644"/>
                    <a:pt x="80907" y="5763"/>
                    <a:pt x="113869" y="0"/>
                  </a:cubicBezTo>
                  <a:cubicBezTo>
                    <a:pt x="114907" y="5878"/>
                    <a:pt x="115368" y="8759"/>
                    <a:pt x="116520" y="14522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94E6C1C-6910-E528-9034-9CDD6B25206C}"/>
                </a:ext>
              </a:extLst>
            </p:cNvPr>
            <p:cNvSpPr/>
            <p:nvPr/>
          </p:nvSpPr>
          <p:spPr>
            <a:xfrm>
              <a:off x="4716499" y="3490189"/>
              <a:ext cx="87805" cy="79062"/>
            </a:xfrm>
            <a:custGeom>
              <a:avLst/>
              <a:gdLst>
                <a:gd name="csX0" fmla="*/ 51968 w 87805"/>
                <a:gd name="csY0" fmla="*/ 14868 h 79062"/>
                <a:gd name="csX1" fmla="*/ 51853 w 87805"/>
                <a:gd name="csY1" fmla="*/ 0 h 79062"/>
                <a:gd name="csX2" fmla="*/ 75826 w 87805"/>
                <a:gd name="csY2" fmla="*/ 9220 h 79062"/>
                <a:gd name="csX3" fmla="*/ 87236 w 87805"/>
                <a:gd name="csY3" fmla="*/ 31925 h 79062"/>
                <a:gd name="csX4" fmla="*/ 80436 w 87805"/>
                <a:gd name="csY4" fmla="*/ 62121 h 79062"/>
                <a:gd name="csX5" fmla="*/ 50470 w 87805"/>
                <a:gd name="csY5" fmla="*/ 78141 h 79062"/>
                <a:gd name="csX6" fmla="*/ 26267 w 87805"/>
                <a:gd name="csY6" fmla="*/ 77219 h 79062"/>
                <a:gd name="csX7" fmla="*/ 8864 w 87805"/>
                <a:gd name="csY7" fmla="*/ 65118 h 79062"/>
                <a:gd name="csX8" fmla="*/ 566 w 87805"/>
                <a:gd name="csY8" fmla="*/ 44487 h 79062"/>
                <a:gd name="csX9" fmla="*/ 4023 w 87805"/>
                <a:gd name="csY9" fmla="*/ 19708 h 79062"/>
                <a:gd name="csX10" fmla="*/ 21888 w 87805"/>
                <a:gd name="csY10" fmla="*/ 5302 h 79062"/>
                <a:gd name="csX11" fmla="*/ 25921 w 87805"/>
                <a:gd name="csY11" fmla="*/ 19593 h 79062"/>
                <a:gd name="csX12" fmla="*/ 14396 w 87805"/>
                <a:gd name="csY12" fmla="*/ 28698 h 79062"/>
                <a:gd name="csX13" fmla="*/ 11976 w 87805"/>
                <a:gd name="csY13" fmla="*/ 42182 h 79062"/>
                <a:gd name="csX14" fmla="*/ 22349 w 87805"/>
                <a:gd name="csY14" fmla="*/ 59586 h 79062"/>
                <a:gd name="csX15" fmla="*/ 47474 w 87805"/>
                <a:gd name="csY15" fmla="*/ 62928 h 79062"/>
                <a:gd name="csX16" fmla="*/ 70639 w 87805"/>
                <a:gd name="csY16" fmla="*/ 52440 h 79062"/>
                <a:gd name="csX17" fmla="*/ 75595 w 87805"/>
                <a:gd name="csY17" fmla="*/ 33884 h 79062"/>
                <a:gd name="csX18" fmla="*/ 68450 w 87805"/>
                <a:gd name="csY18" fmla="*/ 20169 h 79062"/>
                <a:gd name="csX19" fmla="*/ 51853 w 87805"/>
                <a:gd name="csY19" fmla="*/ 14868 h 79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87805" h="79062">
                  <a:moveTo>
                    <a:pt x="51968" y="14868"/>
                  </a:moveTo>
                  <a:cubicBezTo>
                    <a:pt x="51968" y="8990"/>
                    <a:pt x="51968" y="5993"/>
                    <a:pt x="51853" y="0"/>
                  </a:cubicBezTo>
                  <a:cubicBezTo>
                    <a:pt x="61534" y="346"/>
                    <a:pt x="69602" y="3458"/>
                    <a:pt x="75826" y="9220"/>
                  </a:cubicBezTo>
                  <a:cubicBezTo>
                    <a:pt x="82049" y="14983"/>
                    <a:pt x="85853" y="22590"/>
                    <a:pt x="87236" y="31925"/>
                  </a:cubicBezTo>
                  <a:cubicBezTo>
                    <a:pt x="88964" y="43681"/>
                    <a:pt x="86775" y="53708"/>
                    <a:pt x="80436" y="62121"/>
                  </a:cubicBezTo>
                  <a:cubicBezTo>
                    <a:pt x="74212" y="70535"/>
                    <a:pt x="64185" y="75836"/>
                    <a:pt x="50470" y="78141"/>
                  </a:cubicBezTo>
                  <a:cubicBezTo>
                    <a:pt x="41596" y="79640"/>
                    <a:pt x="33528" y="79294"/>
                    <a:pt x="26267" y="77219"/>
                  </a:cubicBezTo>
                  <a:cubicBezTo>
                    <a:pt x="19121" y="75145"/>
                    <a:pt x="13244" y="71111"/>
                    <a:pt x="8864" y="65118"/>
                  </a:cubicBezTo>
                  <a:cubicBezTo>
                    <a:pt x="4484" y="59125"/>
                    <a:pt x="1718" y="52209"/>
                    <a:pt x="566" y="44487"/>
                  </a:cubicBezTo>
                  <a:cubicBezTo>
                    <a:pt x="-817" y="34806"/>
                    <a:pt x="335" y="26393"/>
                    <a:pt x="4023" y="19708"/>
                  </a:cubicBezTo>
                  <a:cubicBezTo>
                    <a:pt x="7711" y="12908"/>
                    <a:pt x="13705" y="8183"/>
                    <a:pt x="21888" y="5302"/>
                  </a:cubicBezTo>
                  <a:cubicBezTo>
                    <a:pt x="23501" y="11064"/>
                    <a:pt x="24308" y="13946"/>
                    <a:pt x="25921" y="19593"/>
                  </a:cubicBezTo>
                  <a:cubicBezTo>
                    <a:pt x="20504" y="21783"/>
                    <a:pt x="16701" y="24779"/>
                    <a:pt x="14396" y="28698"/>
                  </a:cubicBezTo>
                  <a:cubicBezTo>
                    <a:pt x="12091" y="32616"/>
                    <a:pt x="11284" y="37111"/>
                    <a:pt x="11976" y="42182"/>
                  </a:cubicBezTo>
                  <a:cubicBezTo>
                    <a:pt x="13128" y="49789"/>
                    <a:pt x="16586" y="55667"/>
                    <a:pt x="22349" y="59586"/>
                  </a:cubicBezTo>
                  <a:cubicBezTo>
                    <a:pt x="28111" y="63504"/>
                    <a:pt x="36525" y="64657"/>
                    <a:pt x="47474" y="62928"/>
                  </a:cubicBezTo>
                  <a:cubicBezTo>
                    <a:pt x="58538" y="61199"/>
                    <a:pt x="66260" y="57626"/>
                    <a:pt x="70639" y="52440"/>
                  </a:cubicBezTo>
                  <a:cubicBezTo>
                    <a:pt x="75019" y="47138"/>
                    <a:pt x="76632" y="41030"/>
                    <a:pt x="75595" y="33884"/>
                  </a:cubicBezTo>
                  <a:cubicBezTo>
                    <a:pt x="74788" y="28122"/>
                    <a:pt x="72368" y="23512"/>
                    <a:pt x="68450" y="20169"/>
                  </a:cubicBezTo>
                  <a:cubicBezTo>
                    <a:pt x="64531" y="16827"/>
                    <a:pt x="58999" y="14983"/>
                    <a:pt x="51853" y="14868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25928F7-4789-2483-2BCC-31B233CBA97E}"/>
                </a:ext>
              </a:extLst>
            </p:cNvPr>
            <p:cNvSpPr/>
            <p:nvPr/>
          </p:nvSpPr>
          <p:spPr>
            <a:xfrm>
              <a:off x="4705761" y="3399716"/>
              <a:ext cx="89087" cy="84364"/>
            </a:xfrm>
            <a:custGeom>
              <a:avLst/>
              <a:gdLst>
                <a:gd name="csX0" fmla="*/ 73310 w 89087"/>
                <a:gd name="csY0" fmla="*/ 19017 h 84364"/>
                <a:gd name="csX1" fmla="*/ 84259 w 89087"/>
                <a:gd name="csY1" fmla="*/ 33769 h 84364"/>
                <a:gd name="csX2" fmla="*/ 88754 w 89087"/>
                <a:gd name="csY2" fmla="*/ 49674 h 84364"/>
                <a:gd name="csX3" fmla="*/ 84605 w 89087"/>
                <a:gd name="csY3" fmla="*/ 72379 h 84364"/>
                <a:gd name="csX4" fmla="*/ 68470 w 89087"/>
                <a:gd name="csY4" fmla="*/ 82175 h 84364"/>
                <a:gd name="csX5" fmla="*/ 56944 w 89087"/>
                <a:gd name="csY5" fmla="*/ 80677 h 84364"/>
                <a:gd name="csX6" fmla="*/ 47955 w 89087"/>
                <a:gd name="csY6" fmla="*/ 73992 h 84364"/>
                <a:gd name="csX7" fmla="*/ 42077 w 89087"/>
                <a:gd name="csY7" fmla="*/ 63735 h 84364"/>
                <a:gd name="csX8" fmla="*/ 38504 w 89087"/>
                <a:gd name="csY8" fmla="*/ 50711 h 84364"/>
                <a:gd name="csX9" fmla="*/ 30897 w 89087"/>
                <a:gd name="csY9" fmla="*/ 24433 h 84364"/>
                <a:gd name="csX10" fmla="*/ 27209 w 89087"/>
                <a:gd name="csY10" fmla="*/ 24664 h 84364"/>
                <a:gd name="csX11" fmla="*/ 15453 w 89087"/>
                <a:gd name="csY11" fmla="*/ 30081 h 84364"/>
                <a:gd name="csX12" fmla="*/ 12457 w 89087"/>
                <a:gd name="csY12" fmla="*/ 47830 h 84364"/>
                <a:gd name="csX13" fmla="*/ 17643 w 89087"/>
                <a:gd name="csY13" fmla="*/ 63274 h 84364"/>
                <a:gd name="csX14" fmla="*/ 30782 w 89087"/>
                <a:gd name="csY14" fmla="*/ 69382 h 84364"/>
                <a:gd name="csX15" fmla="*/ 30667 w 89087"/>
                <a:gd name="csY15" fmla="*/ 84365 h 84364"/>
                <a:gd name="csX16" fmla="*/ 15569 w 89087"/>
                <a:gd name="csY16" fmla="*/ 79409 h 84364"/>
                <a:gd name="csX17" fmla="*/ 5657 w 89087"/>
                <a:gd name="csY17" fmla="*/ 66962 h 84364"/>
                <a:gd name="csX18" fmla="*/ 471 w 89087"/>
                <a:gd name="csY18" fmla="*/ 46908 h 84364"/>
                <a:gd name="csX19" fmla="*/ 1162 w 89087"/>
                <a:gd name="csY19" fmla="*/ 27891 h 84364"/>
                <a:gd name="csX20" fmla="*/ 6464 w 89087"/>
                <a:gd name="csY20" fmla="*/ 16712 h 84364"/>
                <a:gd name="csX21" fmla="*/ 15684 w 89087"/>
                <a:gd name="csY21" fmla="*/ 11180 h 84364"/>
                <a:gd name="csX22" fmla="*/ 28592 w 89087"/>
                <a:gd name="csY22" fmla="*/ 9335 h 84364"/>
                <a:gd name="csX23" fmla="*/ 47378 w 89087"/>
                <a:gd name="csY23" fmla="*/ 7722 h 84364"/>
                <a:gd name="csX24" fmla="*/ 72158 w 89087"/>
                <a:gd name="csY24" fmla="*/ 4610 h 84364"/>
                <a:gd name="csX25" fmla="*/ 81839 w 89087"/>
                <a:gd name="csY25" fmla="*/ 0 h 84364"/>
                <a:gd name="csX26" fmla="*/ 83222 w 89087"/>
                <a:gd name="csY26" fmla="*/ 15329 h 84364"/>
                <a:gd name="csX27" fmla="*/ 73195 w 89087"/>
                <a:gd name="csY27" fmla="*/ 19247 h 84364"/>
                <a:gd name="csX28" fmla="*/ 41846 w 89087"/>
                <a:gd name="csY28" fmla="*/ 23166 h 84364"/>
                <a:gd name="csX29" fmla="*/ 49568 w 89087"/>
                <a:gd name="csY29" fmla="*/ 47023 h 84364"/>
                <a:gd name="csX30" fmla="*/ 53833 w 89087"/>
                <a:gd name="csY30" fmla="*/ 59701 h 84364"/>
                <a:gd name="csX31" fmla="*/ 59134 w 89087"/>
                <a:gd name="csY31" fmla="*/ 65002 h 84364"/>
                <a:gd name="csX32" fmla="*/ 66049 w 89087"/>
                <a:gd name="csY32" fmla="*/ 66270 h 84364"/>
                <a:gd name="csX33" fmla="*/ 74924 w 89087"/>
                <a:gd name="csY33" fmla="*/ 60738 h 84364"/>
                <a:gd name="csX34" fmla="*/ 77229 w 89087"/>
                <a:gd name="csY34" fmla="*/ 47253 h 84364"/>
                <a:gd name="csX35" fmla="*/ 72042 w 89087"/>
                <a:gd name="csY35" fmla="*/ 32501 h 84364"/>
                <a:gd name="csX36" fmla="*/ 61324 w 89087"/>
                <a:gd name="csY36" fmla="*/ 23627 h 84364"/>
                <a:gd name="csX37" fmla="*/ 47033 w 89087"/>
                <a:gd name="csY37" fmla="*/ 22589 h 84364"/>
                <a:gd name="csX38" fmla="*/ 41846 w 89087"/>
                <a:gd name="csY38" fmla="*/ 23051 h 84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89087" h="84364">
                  <a:moveTo>
                    <a:pt x="73310" y="19017"/>
                  </a:moveTo>
                  <a:cubicBezTo>
                    <a:pt x="78266" y="24088"/>
                    <a:pt x="81954" y="28928"/>
                    <a:pt x="84259" y="33769"/>
                  </a:cubicBezTo>
                  <a:cubicBezTo>
                    <a:pt x="86564" y="38609"/>
                    <a:pt x="88063" y="43911"/>
                    <a:pt x="88754" y="49674"/>
                  </a:cubicBezTo>
                  <a:cubicBezTo>
                    <a:pt x="89791" y="59124"/>
                    <a:pt x="88408" y="66731"/>
                    <a:pt x="84605" y="72379"/>
                  </a:cubicBezTo>
                  <a:cubicBezTo>
                    <a:pt x="80802" y="78026"/>
                    <a:pt x="75385" y="81253"/>
                    <a:pt x="68470" y="82175"/>
                  </a:cubicBezTo>
                  <a:cubicBezTo>
                    <a:pt x="64436" y="82636"/>
                    <a:pt x="60517" y="82175"/>
                    <a:pt x="56944" y="80677"/>
                  </a:cubicBezTo>
                  <a:cubicBezTo>
                    <a:pt x="53372" y="79178"/>
                    <a:pt x="50375" y="76873"/>
                    <a:pt x="47955" y="73992"/>
                  </a:cubicBezTo>
                  <a:cubicBezTo>
                    <a:pt x="45534" y="71111"/>
                    <a:pt x="43575" y="67653"/>
                    <a:pt x="42077" y="63735"/>
                  </a:cubicBezTo>
                  <a:cubicBezTo>
                    <a:pt x="41039" y="60853"/>
                    <a:pt x="39772" y="56474"/>
                    <a:pt x="38504" y="50711"/>
                  </a:cubicBezTo>
                  <a:cubicBezTo>
                    <a:pt x="35853" y="38725"/>
                    <a:pt x="33318" y="29966"/>
                    <a:pt x="30897" y="24433"/>
                  </a:cubicBezTo>
                  <a:cubicBezTo>
                    <a:pt x="28938" y="24549"/>
                    <a:pt x="27670" y="24664"/>
                    <a:pt x="27209" y="24664"/>
                  </a:cubicBezTo>
                  <a:cubicBezTo>
                    <a:pt x="21447" y="25240"/>
                    <a:pt x="17528" y="26969"/>
                    <a:pt x="15453" y="30081"/>
                  </a:cubicBezTo>
                  <a:cubicBezTo>
                    <a:pt x="12687" y="34230"/>
                    <a:pt x="11650" y="40223"/>
                    <a:pt x="12457" y="47830"/>
                  </a:cubicBezTo>
                  <a:cubicBezTo>
                    <a:pt x="13148" y="54975"/>
                    <a:pt x="14992" y="60162"/>
                    <a:pt x="17643" y="63274"/>
                  </a:cubicBezTo>
                  <a:cubicBezTo>
                    <a:pt x="20409" y="66385"/>
                    <a:pt x="24789" y="68460"/>
                    <a:pt x="30782" y="69382"/>
                  </a:cubicBezTo>
                  <a:cubicBezTo>
                    <a:pt x="30782" y="75375"/>
                    <a:pt x="30782" y="78372"/>
                    <a:pt x="30667" y="84365"/>
                  </a:cubicBezTo>
                  <a:cubicBezTo>
                    <a:pt x="24558" y="83788"/>
                    <a:pt x="19603" y="82175"/>
                    <a:pt x="15569" y="79409"/>
                  </a:cubicBezTo>
                  <a:cubicBezTo>
                    <a:pt x="11535" y="76758"/>
                    <a:pt x="8308" y="72609"/>
                    <a:pt x="5657" y="66962"/>
                  </a:cubicBezTo>
                  <a:cubicBezTo>
                    <a:pt x="3006" y="61314"/>
                    <a:pt x="1277" y="54630"/>
                    <a:pt x="471" y="46908"/>
                  </a:cubicBezTo>
                  <a:cubicBezTo>
                    <a:pt x="-336" y="39186"/>
                    <a:pt x="-106" y="32847"/>
                    <a:pt x="1162" y="27891"/>
                  </a:cubicBezTo>
                  <a:cubicBezTo>
                    <a:pt x="2430" y="22935"/>
                    <a:pt x="4159" y="19247"/>
                    <a:pt x="6464" y="16712"/>
                  </a:cubicBezTo>
                  <a:cubicBezTo>
                    <a:pt x="8769" y="14176"/>
                    <a:pt x="11881" y="12332"/>
                    <a:pt x="15684" y="11180"/>
                  </a:cubicBezTo>
                  <a:cubicBezTo>
                    <a:pt x="17989" y="10488"/>
                    <a:pt x="22369" y="9796"/>
                    <a:pt x="28592" y="9335"/>
                  </a:cubicBezTo>
                  <a:cubicBezTo>
                    <a:pt x="36084" y="8644"/>
                    <a:pt x="39887" y="8298"/>
                    <a:pt x="47378" y="7722"/>
                  </a:cubicBezTo>
                  <a:cubicBezTo>
                    <a:pt x="60517" y="6569"/>
                    <a:pt x="68815" y="5532"/>
                    <a:pt x="72158" y="4610"/>
                  </a:cubicBezTo>
                  <a:cubicBezTo>
                    <a:pt x="75615" y="3688"/>
                    <a:pt x="78842" y="2190"/>
                    <a:pt x="81839" y="0"/>
                  </a:cubicBezTo>
                  <a:cubicBezTo>
                    <a:pt x="82300" y="6108"/>
                    <a:pt x="82646" y="9220"/>
                    <a:pt x="83222" y="15329"/>
                  </a:cubicBezTo>
                  <a:cubicBezTo>
                    <a:pt x="80456" y="17173"/>
                    <a:pt x="77114" y="18440"/>
                    <a:pt x="73195" y="19247"/>
                  </a:cubicBezTo>
                  <a:close/>
                  <a:moveTo>
                    <a:pt x="41846" y="23166"/>
                  </a:moveTo>
                  <a:cubicBezTo>
                    <a:pt x="44497" y="28352"/>
                    <a:pt x="47033" y="36304"/>
                    <a:pt x="49568" y="47023"/>
                  </a:cubicBezTo>
                  <a:cubicBezTo>
                    <a:pt x="51066" y="53016"/>
                    <a:pt x="52449" y="57281"/>
                    <a:pt x="53833" y="59701"/>
                  </a:cubicBezTo>
                  <a:cubicBezTo>
                    <a:pt x="55216" y="62121"/>
                    <a:pt x="56944" y="63850"/>
                    <a:pt x="59134" y="65002"/>
                  </a:cubicBezTo>
                  <a:cubicBezTo>
                    <a:pt x="61324" y="66155"/>
                    <a:pt x="63629" y="66616"/>
                    <a:pt x="66049" y="66270"/>
                  </a:cubicBezTo>
                  <a:cubicBezTo>
                    <a:pt x="69853" y="65809"/>
                    <a:pt x="72734" y="63965"/>
                    <a:pt x="74924" y="60738"/>
                  </a:cubicBezTo>
                  <a:cubicBezTo>
                    <a:pt x="77114" y="57511"/>
                    <a:pt x="77805" y="53016"/>
                    <a:pt x="77229" y="47253"/>
                  </a:cubicBezTo>
                  <a:cubicBezTo>
                    <a:pt x="76653" y="41606"/>
                    <a:pt x="74924" y="36650"/>
                    <a:pt x="72042" y="32501"/>
                  </a:cubicBezTo>
                  <a:cubicBezTo>
                    <a:pt x="69276" y="28352"/>
                    <a:pt x="65588" y="25356"/>
                    <a:pt x="61324" y="23627"/>
                  </a:cubicBezTo>
                  <a:cubicBezTo>
                    <a:pt x="57982" y="22359"/>
                    <a:pt x="53141" y="22013"/>
                    <a:pt x="47033" y="22589"/>
                  </a:cubicBezTo>
                  <a:cubicBezTo>
                    <a:pt x="44958" y="22820"/>
                    <a:pt x="43921" y="22935"/>
                    <a:pt x="41846" y="23051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54DD5D03-8D6E-7048-8ADE-FAA6BB1E0305}"/>
                </a:ext>
              </a:extLst>
            </p:cNvPr>
            <p:cNvSpPr/>
            <p:nvPr/>
          </p:nvSpPr>
          <p:spPr>
            <a:xfrm>
              <a:off x="4672347" y="3347276"/>
              <a:ext cx="113506" cy="48982"/>
            </a:xfrm>
            <a:custGeom>
              <a:avLst/>
              <a:gdLst>
                <a:gd name="csX0" fmla="*/ 99117 w 113506"/>
                <a:gd name="csY0" fmla="*/ 2881 h 48982"/>
                <a:gd name="csX1" fmla="*/ 111449 w 113506"/>
                <a:gd name="csY1" fmla="*/ 0 h 48982"/>
                <a:gd name="csX2" fmla="*/ 113408 w 113506"/>
                <a:gd name="csY2" fmla="*/ 11064 h 48982"/>
                <a:gd name="csX3" fmla="*/ 111795 w 113506"/>
                <a:gd name="csY3" fmla="*/ 23627 h 48982"/>
                <a:gd name="csX4" fmla="*/ 105802 w 113506"/>
                <a:gd name="csY4" fmla="*/ 30311 h 48982"/>
                <a:gd name="csX5" fmla="*/ 89205 w 113506"/>
                <a:gd name="csY5" fmla="*/ 33308 h 48982"/>
                <a:gd name="csX6" fmla="*/ 41145 w 113506"/>
                <a:gd name="csY6" fmla="*/ 36881 h 48982"/>
                <a:gd name="csX7" fmla="*/ 41952 w 113506"/>
                <a:gd name="csY7" fmla="*/ 48060 h 48982"/>
                <a:gd name="csX8" fmla="*/ 31003 w 113506"/>
                <a:gd name="csY8" fmla="*/ 48982 h 48982"/>
                <a:gd name="csX9" fmla="*/ 30196 w 113506"/>
                <a:gd name="csY9" fmla="*/ 37803 h 48982"/>
                <a:gd name="csX10" fmla="*/ 9566 w 113506"/>
                <a:gd name="csY10" fmla="*/ 39301 h 48982"/>
                <a:gd name="csX11" fmla="*/ 0 w 113506"/>
                <a:gd name="csY11" fmla="*/ 24549 h 48982"/>
                <a:gd name="csX12" fmla="*/ 29159 w 113506"/>
                <a:gd name="csY12" fmla="*/ 22589 h 48982"/>
                <a:gd name="csX13" fmla="*/ 28237 w 113506"/>
                <a:gd name="csY13" fmla="*/ 7261 h 48982"/>
                <a:gd name="csX14" fmla="*/ 39301 w 113506"/>
                <a:gd name="csY14" fmla="*/ 6569 h 48982"/>
                <a:gd name="csX15" fmla="*/ 40223 w 113506"/>
                <a:gd name="csY15" fmla="*/ 21898 h 48982"/>
                <a:gd name="csX16" fmla="*/ 89090 w 113506"/>
                <a:gd name="csY16" fmla="*/ 18556 h 48982"/>
                <a:gd name="csX17" fmla="*/ 96812 w 113506"/>
                <a:gd name="csY17" fmla="*/ 17288 h 48982"/>
                <a:gd name="csX18" fmla="*/ 99348 w 113506"/>
                <a:gd name="csY18" fmla="*/ 14522 h 48982"/>
                <a:gd name="csX19" fmla="*/ 100039 w 113506"/>
                <a:gd name="csY19" fmla="*/ 9451 h 48982"/>
                <a:gd name="csX20" fmla="*/ 99117 w 113506"/>
                <a:gd name="csY20" fmla="*/ 2997 h 489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3506" h="48982">
                  <a:moveTo>
                    <a:pt x="99117" y="2881"/>
                  </a:moveTo>
                  <a:cubicBezTo>
                    <a:pt x="104073" y="1729"/>
                    <a:pt x="106493" y="1153"/>
                    <a:pt x="111449" y="0"/>
                  </a:cubicBezTo>
                  <a:cubicBezTo>
                    <a:pt x="112486" y="4034"/>
                    <a:pt x="113178" y="7722"/>
                    <a:pt x="113408" y="11064"/>
                  </a:cubicBezTo>
                  <a:cubicBezTo>
                    <a:pt x="113754" y="16366"/>
                    <a:pt x="113178" y="20515"/>
                    <a:pt x="111795" y="23627"/>
                  </a:cubicBezTo>
                  <a:cubicBezTo>
                    <a:pt x="110412" y="26623"/>
                    <a:pt x="108453" y="28928"/>
                    <a:pt x="105802" y="30311"/>
                  </a:cubicBezTo>
                  <a:cubicBezTo>
                    <a:pt x="103266" y="31694"/>
                    <a:pt x="97734" y="32732"/>
                    <a:pt x="89205" y="33308"/>
                  </a:cubicBezTo>
                  <a:cubicBezTo>
                    <a:pt x="69958" y="34691"/>
                    <a:pt x="60392" y="35498"/>
                    <a:pt x="41145" y="36881"/>
                  </a:cubicBezTo>
                  <a:cubicBezTo>
                    <a:pt x="41491" y="41376"/>
                    <a:pt x="41606" y="43565"/>
                    <a:pt x="41952" y="48060"/>
                  </a:cubicBezTo>
                  <a:cubicBezTo>
                    <a:pt x="37572" y="48406"/>
                    <a:pt x="35383" y="48637"/>
                    <a:pt x="31003" y="48982"/>
                  </a:cubicBezTo>
                  <a:cubicBezTo>
                    <a:pt x="30657" y="44487"/>
                    <a:pt x="30427" y="42298"/>
                    <a:pt x="30196" y="37803"/>
                  </a:cubicBezTo>
                  <a:cubicBezTo>
                    <a:pt x="21898" y="38379"/>
                    <a:pt x="17749" y="38725"/>
                    <a:pt x="9566" y="39301"/>
                  </a:cubicBezTo>
                  <a:cubicBezTo>
                    <a:pt x="5763" y="33423"/>
                    <a:pt x="3803" y="30427"/>
                    <a:pt x="0" y="24549"/>
                  </a:cubicBezTo>
                  <a:cubicBezTo>
                    <a:pt x="11641" y="23742"/>
                    <a:pt x="17518" y="23396"/>
                    <a:pt x="29159" y="22589"/>
                  </a:cubicBezTo>
                  <a:cubicBezTo>
                    <a:pt x="28698" y="16481"/>
                    <a:pt x="28583" y="13369"/>
                    <a:pt x="28237" y="7261"/>
                  </a:cubicBezTo>
                  <a:cubicBezTo>
                    <a:pt x="32616" y="7030"/>
                    <a:pt x="34806" y="6915"/>
                    <a:pt x="39301" y="6569"/>
                  </a:cubicBezTo>
                  <a:cubicBezTo>
                    <a:pt x="39647" y="12678"/>
                    <a:pt x="39877" y="15790"/>
                    <a:pt x="40223" y="21898"/>
                  </a:cubicBezTo>
                  <a:cubicBezTo>
                    <a:pt x="59701" y="20630"/>
                    <a:pt x="69497" y="19939"/>
                    <a:pt x="89090" y="18556"/>
                  </a:cubicBezTo>
                  <a:cubicBezTo>
                    <a:pt x="93124" y="18325"/>
                    <a:pt x="95660" y="17864"/>
                    <a:pt x="96812" y="17288"/>
                  </a:cubicBezTo>
                  <a:cubicBezTo>
                    <a:pt x="97965" y="16712"/>
                    <a:pt x="98771" y="15790"/>
                    <a:pt x="99348" y="14522"/>
                  </a:cubicBezTo>
                  <a:cubicBezTo>
                    <a:pt x="99924" y="13254"/>
                    <a:pt x="100154" y="11640"/>
                    <a:pt x="100039" y="9451"/>
                  </a:cubicBezTo>
                  <a:cubicBezTo>
                    <a:pt x="100039" y="7837"/>
                    <a:pt x="99578" y="5647"/>
                    <a:pt x="99117" y="2997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07FB2B1-52D2-B85E-2737-1C9FD5290AD9}"/>
                </a:ext>
              </a:extLst>
            </p:cNvPr>
            <p:cNvSpPr/>
            <p:nvPr/>
          </p:nvSpPr>
          <p:spPr>
            <a:xfrm>
              <a:off x="4667161" y="3320192"/>
              <a:ext cx="116059" cy="20745"/>
            </a:xfrm>
            <a:custGeom>
              <a:avLst/>
              <a:gdLst>
                <a:gd name="csX0" fmla="*/ 17057 w 116059"/>
                <a:gd name="csY0" fmla="*/ 19939 h 20745"/>
                <a:gd name="csX1" fmla="*/ 807 w 116059"/>
                <a:gd name="csY1" fmla="*/ 20745 h 20745"/>
                <a:gd name="csX2" fmla="*/ 0 w 116059"/>
                <a:gd name="csY2" fmla="*/ 5187 h 20745"/>
                <a:gd name="csX3" fmla="*/ 16251 w 116059"/>
                <a:gd name="csY3" fmla="*/ 4495 h 20745"/>
                <a:gd name="csX4" fmla="*/ 17057 w 116059"/>
                <a:gd name="csY4" fmla="*/ 19939 h 20745"/>
                <a:gd name="csX5" fmla="*/ 116059 w 116059"/>
                <a:gd name="csY5" fmla="*/ 14637 h 20745"/>
                <a:gd name="csX6" fmla="*/ 32501 w 116059"/>
                <a:gd name="csY6" fmla="*/ 19132 h 20745"/>
                <a:gd name="csX7" fmla="*/ 31694 w 116059"/>
                <a:gd name="csY7" fmla="*/ 3803 h 20745"/>
                <a:gd name="csX8" fmla="*/ 115253 w 116059"/>
                <a:gd name="csY8" fmla="*/ 0 h 20745"/>
                <a:gd name="csX9" fmla="*/ 115944 w 116059"/>
                <a:gd name="csY9" fmla="*/ 14637 h 20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6059" h="20745">
                  <a:moveTo>
                    <a:pt x="17057" y="19939"/>
                  </a:moveTo>
                  <a:cubicBezTo>
                    <a:pt x="10603" y="20285"/>
                    <a:pt x="7261" y="20400"/>
                    <a:pt x="807" y="20745"/>
                  </a:cubicBezTo>
                  <a:cubicBezTo>
                    <a:pt x="461" y="14522"/>
                    <a:pt x="346" y="11410"/>
                    <a:pt x="0" y="5187"/>
                  </a:cubicBezTo>
                  <a:cubicBezTo>
                    <a:pt x="6569" y="4841"/>
                    <a:pt x="9796" y="4725"/>
                    <a:pt x="16251" y="4495"/>
                  </a:cubicBezTo>
                  <a:cubicBezTo>
                    <a:pt x="16481" y="10603"/>
                    <a:pt x="16712" y="13715"/>
                    <a:pt x="17057" y="19939"/>
                  </a:cubicBezTo>
                  <a:close/>
                  <a:moveTo>
                    <a:pt x="116059" y="14637"/>
                  </a:moveTo>
                  <a:cubicBezTo>
                    <a:pt x="82636" y="16366"/>
                    <a:pt x="65924" y="17288"/>
                    <a:pt x="32501" y="19132"/>
                  </a:cubicBezTo>
                  <a:cubicBezTo>
                    <a:pt x="32155" y="13024"/>
                    <a:pt x="32040" y="9912"/>
                    <a:pt x="31694" y="3803"/>
                  </a:cubicBezTo>
                  <a:cubicBezTo>
                    <a:pt x="65118" y="2305"/>
                    <a:pt x="81829" y="1498"/>
                    <a:pt x="115253" y="0"/>
                  </a:cubicBezTo>
                  <a:cubicBezTo>
                    <a:pt x="115483" y="5878"/>
                    <a:pt x="115714" y="8759"/>
                    <a:pt x="115944" y="14637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58F0026-9DF1-A926-EC25-09349B5EEB13}"/>
                </a:ext>
              </a:extLst>
            </p:cNvPr>
            <p:cNvSpPr/>
            <p:nvPr/>
          </p:nvSpPr>
          <p:spPr>
            <a:xfrm>
              <a:off x="4695042" y="3221882"/>
              <a:ext cx="87382" cy="83034"/>
            </a:xfrm>
            <a:custGeom>
              <a:avLst/>
              <a:gdLst>
                <a:gd name="csX0" fmla="*/ 44959 w 87382"/>
                <a:gd name="csY0" fmla="*/ 82982 h 83034"/>
                <a:gd name="csX1" fmla="*/ 10037 w 87382"/>
                <a:gd name="csY1" fmla="*/ 70419 h 83034"/>
                <a:gd name="csX2" fmla="*/ 10 w 87382"/>
                <a:gd name="csY2" fmla="*/ 42298 h 83034"/>
                <a:gd name="csX3" fmla="*/ 10959 w 87382"/>
                <a:gd name="csY3" fmla="*/ 11756 h 83034"/>
                <a:gd name="csX4" fmla="*/ 42193 w 87382"/>
                <a:gd name="csY4" fmla="*/ 0 h 83034"/>
                <a:gd name="csX5" fmla="*/ 67548 w 87382"/>
                <a:gd name="csY5" fmla="*/ 5071 h 83034"/>
                <a:gd name="csX6" fmla="*/ 81955 w 87382"/>
                <a:gd name="csY6" fmla="*/ 19708 h 83034"/>
                <a:gd name="csX7" fmla="*/ 87372 w 87382"/>
                <a:gd name="csY7" fmla="*/ 40569 h 83034"/>
                <a:gd name="csX8" fmla="*/ 76884 w 87382"/>
                <a:gd name="csY8" fmla="*/ 70304 h 83034"/>
                <a:gd name="csX9" fmla="*/ 44843 w 87382"/>
                <a:gd name="csY9" fmla="*/ 82751 h 83034"/>
                <a:gd name="csX10" fmla="*/ 44382 w 87382"/>
                <a:gd name="csY10" fmla="*/ 67538 h 83034"/>
                <a:gd name="csX11" fmla="*/ 68240 w 87382"/>
                <a:gd name="csY11" fmla="*/ 59470 h 83034"/>
                <a:gd name="csX12" fmla="*/ 75846 w 87382"/>
                <a:gd name="csY12" fmla="*/ 40915 h 83034"/>
                <a:gd name="csX13" fmla="*/ 67548 w 87382"/>
                <a:gd name="csY13" fmla="*/ 22705 h 83034"/>
                <a:gd name="csX14" fmla="*/ 42999 w 87382"/>
                <a:gd name="csY14" fmla="*/ 15559 h 83034"/>
                <a:gd name="csX15" fmla="*/ 19488 w 87382"/>
                <a:gd name="csY15" fmla="*/ 23281 h 83034"/>
                <a:gd name="csX16" fmla="*/ 11766 w 87382"/>
                <a:gd name="csY16" fmla="*/ 42182 h 83034"/>
                <a:gd name="csX17" fmla="*/ 20179 w 87382"/>
                <a:gd name="csY17" fmla="*/ 60853 h 83034"/>
                <a:gd name="csX18" fmla="*/ 44382 w 87382"/>
                <a:gd name="csY18" fmla="*/ 67653 h 83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7382" h="83034">
                  <a:moveTo>
                    <a:pt x="44959" y="82982"/>
                  </a:moveTo>
                  <a:cubicBezTo>
                    <a:pt x="29515" y="83558"/>
                    <a:pt x="17759" y="79409"/>
                    <a:pt x="10037" y="70419"/>
                  </a:cubicBezTo>
                  <a:cubicBezTo>
                    <a:pt x="3583" y="62928"/>
                    <a:pt x="241" y="53477"/>
                    <a:pt x="10" y="42298"/>
                  </a:cubicBezTo>
                  <a:cubicBezTo>
                    <a:pt x="-220" y="29850"/>
                    <a:pt x="3468" y="19708"/>
                    <a:pt x="10959" y="11756"/>
                  </a:cubicBezTo>
                  <a:cubicBezTo>
                    <a:pt x="18451" y="3919"/>
                    <a:pt x="28939" y="0"/>
                    <a:pt x="42193" y="0"/>
                  </a:cubicBezTo>
                  <a:cubicBezTo>
                    <a:pt x="52911" y="0"/>
                    <a:pt x="61440" y="1729"/>
                    <a:pt x="67548" y="5071"/>
                  </a:cubicBezTo>
                  <a:cubicBezTo>
                    <a:pt x="73772" y="8414"/>
                    <a:pt x="78497" y="13369"/>
                    <a:pt x="81955" y="19708"/>
                  </a:cubicBezTo>
                  <a:cubicBezTo>
                    <a:pt x="85412" y="26047"/>
                    <a:pt x="87256" y="33078"/>
                    <a:pt x="87372" y="40569"/>
                  </a:cubicBezTo>
                  <a:cubicBezTo>
                    <a:pt x="87602" y="52670"/>
                    <a:pt x="84144" y="62582"/>
                    <a:pt x="76884" y="70304"/>
                  </a:cubicBezTo>
                  <a:cubicBezTo>
                    <a:pt x="69623" y="78026"/>
                    <a:pt x="58904" y="82290"/>
                    <a:pt x="44843" y="82751"/>
                  </a:cubicBezTo>
                  <a:close/>
                  <a:moveTo>
                    <a:pt x="44382" y="67538"/>
                  </a:moveTo>
                  <a:cubicBezTo>
                    <a:pt x="55101" y="67192"/>
                    <a:pt x="63053" y="64541"/>
                    <a:pt x="68240" y="59470"/>
                  </a:cubicBezTo>
                  <a:cubicBezTo>
                    <a:pt x="73426" y="54399"/>
                    <a:pt x="75962" y="48291"/>
                    <a:pt x="75846" y="40915"/>
                  </a:cubicBezTo>
                  <a:cubicBezTo>
                    <a:pt x="75731" y="33539"/>
                    <a:pt x="72965" y="27545"/>
                    <a:pt x="67548" y="22705"/>
                  </a:cubicBezTo>
                  <a:cubicBezTo>
                    <a:pt x="62131" y="17864"/>
                    <a:pt x="53948" y="15444"/>
                    <a:pt x="42999" y="15559"/>
                  </a:cubicBezTo>
                  <a:cubicBezTo>
                    <a:pt x="32627" y="15559"/>
                    <a:pt x="24789" y="18210"/>
                    <a:pt x="19488" y="23281"/>
                  </a:cubicBezTo>
                  <a:cubicBezTo>
                    <a:pt x="14186" y="28352"/>
                    <a:pt x="11651" y="34691"/>
                    <a:pt x="11766" y="42182"/>
                  </a:cubicBezTo>
                  <a:cubicBezTo>
                    <a:pt x="11881" y="49789"/>
                    <a:pt x="14647" y="56013"/>
                    <a:pt x="20179" y="60853"/>
                  </a:cubicBezTo>
                  <a:cubicBezTo>
                    <a:pt x="25596" y="65694"/>
                    <a:pt x="33664" y="67999"/>
                    <a:pt x="44382" y="67653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FEC98B86-B5DD-9B09-5F87-1B7C55C7584F}"/>
                </a:ext>
              </a:extLst>
            </p:cNvPr>
            <p:cNvSpPr/>
            <p:nvPr/>
          </p:nvSpPr>
          <p:spPr>
            <a:xfrm>
              <a:off x="4695724" y="3132129"/>
              <a:ext cx="86688" cy="72810"/>
            </a:xfrm>
            <a:custGeom>
              <a:avLst/>
              <a:gdLst>
                <a:gd name="csX0" fmla="*/ 84730 w 86688"/>
                <a:gd name="csY0" fmla="*/ 72695 h 72810"/>
                <a:gd name="csX1" fmla="*/ 1056 w 86688"/>
                <a:gd name="csY1" fmla="*/ 71888 h 72810"/>
                <a:gd name="csX2" fmla="*/ 1287 w 86688"/>
                <a:gd name="csY2" fmla="*/ 58173 h 72810"/>
                <a:gd name="csX3" fmla="*/ 13158 w 86688"/>
                <a:gd name="csY3" fmla="*/ 58404 h 72810"/>
                <a:gd name="csX4" fmla="*/ 19 w 86688"/>
                <a:gd name="csY4" fmla="*/ 29475 h 72810"/>
                <a:gd name="csX5" fmla="*/ 3246 w 86688"/>
                <a:gd name="csY5" fmla="*/ 14608 h 72810"/>
                <a:gd name="csX6" fmla="*/ 10737 w 86688"/>
                <a:gd name="csY6" fmla="*/ 4696 h 72810"/>
                <a:gd name="csX7" fmla="*/ 21456 w 86688"/>
                <a:gd name="csY7" fmla="*/ 432 h 72810"/>
                <a:gd name="csX8" fmla="*/ 35286 w 86688"/>
                <a:gd name="csY8" fmla="*/ 201 h 72810"/>
                <a:gd name="csX9" fmla="*/ 86689 w 86688"/>
                <a:gd name="csY9" fmla="*/ 2506 h 72810"/>
                <a:gd name="csX10" fmla="*/ 86113 w 86688"/>
                <a:gd name="csY10" fmla="*/ 17143 h 72810"/>
                <a:gd name="csX11" fmla="*/ 35286 w 86688"/>
                <a:gd name="csY11" fmla="*/ 15299 h 72810"/>
                <a:gd name="csX12" fmla="*/ 22263 w 86688"/>
                <a:gd name="csY12" fmla="*/ 16567 h 72810"/>
                <a:gd name="csX13" fmla="*/ 15232 w 86688"/>
                <a:gd name="csY13" fmla="*/ 22560 h 72810"/>
                <a:gd name="csX14" fmla="*/ 12351 w 86688"/>
                <a:gd name="csY14" fmla="*/ 33048 h 72810"/>
                <a:gd name="csX15" fmla="*/ 17653 w 86688"/>
                <a:gd name="csY15" fmla="*/ 49990 h 72810"/>
                <a:gd name="csX16" fmla="*/ 39320 w 86688"/>
                <a:gd name="csY16" fmla="*/ 57366 h 72810"/>
                <a:gd name="csX17" fmla="*/ 84960 w 86688"/>
                <a:gd name="csY17" fmla="*/ 58173 h 72810"/>
                <a:gd name="csX18" fmla="*/ 84730 w 86688"/>
                <a:gd name="csY18" fmla="*/ 72810 h 72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6688" h="72810">
                  <a:moveTo>
                    <a:pt x="84730" y="72695"/>
                  </a:moveTo>
                  <a:cubicBezTo>
                    <a:pt x="51306" y="72349"/>
                    <a:pt x="34479" y="72234"/>
                    <a:pt x="1056" y="71888"/>
                  </a:cubicBezTo>
                  <a:cubicBezTo>
                    <a:pt x="1056" y="66356"/>
                    <a:pt x="1056" y="63590"/>
                    <a:pt x="1287" y="58173"/>
                  </a:cubicBezTo>
                  <a:lnTo>
                    <a:pt x="13158" y="58404"/>
                  </a:lnTo>
                  <a:cubicBezTo>
                    <a:pt x="4053" y="51719"/>
                    <a:pt x="-327" y="41922"/>
                    <a:pt x="19" y="29475"/>
                  </a:cubicBezTo>
                  <a:cubicBezTo>
                    <a:pt x="134" y="24058"/>
                    <a:pt x="1287" y="19103"/>
                    <a:pt x="3246" y="14608"/>
                  </a:cubicBezTo>
                  <a:cubicBezTo>
                    <a:pt x="5205" y="10113"/>
                    <a:pt x="7741" y="6770"/>
                    <a:pt x="10737" y="4696"/>
                  </a:cubicBezTo>
                  <a:cubicBezTo>
                    <a:pt x="13734" y="2506"/>
                    <a:pt x="17307" y="1123"/>
                    <a:pt x="21456" y="432"/>
                  </a:cubicBezTo>
                  <a:cubicBezTo>
                    <a:pt x="24107" y="-29"/>
                    <a:pt x="28717" y="-145"/>
                    <a:pt x="35286" y="201"/>
                  </a:cubicBezTo>
                  <a:cubicBezTo>
                    <a:pt x="55801" y="1123"/>
                    <a:pt x="66174" y="1584"/>
                    <a:pt x="86689" y="2506"/>
                  </a:cubicBezTo>
                  <a:cubicBezTo>
                    <a:pt x="86458" y="8384"/>
                    <a:pt x="86343" y="11265"/>
                    <a:pt x="86113" y="17143"/>
                  </a:cubicBezTo>
                  <a:cubicBezTo>
                    <a:pt x="65713" y="16336"/>
                    <a:pt x="55571" y="15991"/>
                    <a:pt x="35286" y="15299"/>
                  </a:cubicBezTo>
                  <a:cubicBezTo>
                    <a:pt x="29524" y="15069"/>
                    <a:pt x="25144" y="15530"/>
                    <a:pt x="22263" y="16567"/>
                  </a:cubicBezTo>
                  <a:cubicBezTo>
                    <a:pt x="19381" y="17604"/>
                    <a:pt x="16961" y="19679"/>
                    <a:pt x="15232" y="22560"/>
                  </a:cubicBezTo>
                  <a:cubicBezTo>
                    <a:pt x="13388" y="25557"/>
                    <a:pt x="12466" y="29014"/>
                    <a:pt x="12351" y="33048"/>
                  </a:cubicBezTo>
                  <a:cubicBezTo>
                    <a:pt x="12120" y="39502"/>
                    <a:pt x="13965" y="45150"/>
                    <a:pt x="17653" y="49990"/>
                  </a:cubicBezTo>
                  <a:cubicBezTo>
                    <a:pt x="21341" y="54716"/>
                    <a:pt x="28602" y="57251"/>
                    <a:pt x="39320" y="57366"/>
                  </a:cubicBezTo>
                  <a:cubicBezTo>
                    <a:pt x="57645" y="57712"/>
                    <a:pt x="66750" y="57827"/>
                    <a:pt x="84960" y="58173"/>
                  </a:cubicBezTo>
                  <a:cubicBezTo>
                    <a:pt x="84960" y="64051"/>
                    <a:pt x="84845" y="66932"/>
                    <a:pt x="84730" y="72810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C45885F-FF9E-7498-4E6C-000A70D6A4EC}"/>
                </a:ext>
              </a:extLst>
            </p:cNvPr>
            <p:cNvSpPr/>
            <p:nvPr/>
          </p:nvSpPr>
          <p:spPr>
            <a:xfrm>
              <a:off x="4673154" y="2968211"/>
              <a:ext cx="124703" cy="98854"/>
            </a:xfrm>
            <a:custGeom>
              <a:avLst/>
              <a:gdLst>
                <a:gd name="csX0" fmla="*/ 106378 w 124703"/>
                <a:gd name="csY0" fmla="*/ 27776 h 98854"/>
                <a:gd name="csX1" fmla="*/ 116290 w 124703"/>
                <a:gd name="csY1" fmla="*/ 44833 h 98854"/>
                <a:gd name="csX2" fmla="*/ 118364 w 124703"/>
                <a:gd name="csY2" fmla="*/ 63619 h 98854"/>
                <a:gd name="csX3" fmla="*/ 103843 w 124703"/>
                <a:gd name="csY3" fmla="*/ 91626 h 98854"/>
                <a:gd name="csX4" fmla="*/ 81368 w 124703"/>
                <a:gd name="csY4" fmla="*/ 98771 h 98854"/>
                <a:gd name="csX5" fmla="*/ 62697 w 124703"/>
                <a:gd name="csY5" fmla="*/ 90012 h 98854"/>
                <a:gd name="csX6" fmla="*/ 49443 w 124703"/>
                <a:gd name="csY6" fmla="*/ 66846 h 98854"/>
                <a:gd name="csX7" fmla="*/ 33999 w 124703"/>
                <a:gd name="csY7" fmla="*/ 76643 h 98854"/>
                <a:gd name="csX8" fmla="*/ 23050 w 124703"/>
                <a:gd name="csY8" fmla="*/ 78487 h 98854"/>
                <a:gd name="csX9" fmla="*/ 5763 w 124703"/>
                <a:gd name="csY9" fmla="*/ 68114 h 98854"/>
                <a:gd name="csX10" fmla="*/ 231 w 124703"/>
                <a:gd name="csY10" fmla="*/ 45064 h 98854"/>
                <a:gd name="csX11" fmla="*/ 9566 w 124703"/>
                <a:gd name="csY11" fmla="*/ 24779 h 98854"/>
                <a:gd name="csX12" fmla="*/ 27776 w 124703"/>
                <a:gd name="csY12" fmla="*/ 18556 h 98854"/>
                <a:gd name="csX13" fmla="*/ 53247 w 124703"/>
                <a:gd name="csY13" fmla="*/ 44833 h 98854"/>
                <a:gd name="csX14" fmla="*/ 81829 w 124703"/>
                <a:gd name="csY14" fmla="*/ 25701 h 98854"/>
                <a:gd name="csX15" fmla="*/ 66501 w 124703"/>
                <a:gd name="csY15" fmla="*/ 18095 h 98854"/>
                <a:gd name="csX16" fmla="*/ 71457 w 124703"/>
                <a:gd name="csY16" fmla="*/ 2881 h 98854"/>
                <a:gd name="csX17" fmla="*/ 94853 w 124703"/>
                <a:gd name="csY17" fmla="*/ 16596 h 98854"/>
                <a:gd name="csX18" fmla="*/ 114676 w 124703"/>
                <a:gd name="csY18" fmla="*/ 0 h 98854"/>
                <a:gd name="csX19" fmla="*/ 124703 w 124703"/>
                <a:gd name="csY19" fmla="*/ 11180 h 98854"/>
                <a:gd name="csX20" fmla="*/ 106378 w 124703"/>
                <a:gd name="csY20" fmla="*/ 27545 h 98854"/>
                <a:gd name="csX21" fmla="*/ 94277 w 124703"/>
                <a:gd name="csY21" fmla="*/ 35844 h 98854"/>
                <a:gd name="csX22" fmla="*/ 59470 w 124703"/>
                <a:gd name="csY22" fmla="*/ 59931 h 98854"/>
                <a:gd name="csX23" fmla="*/ 70650 w 124703"/>
                <a:gd name="csY23" fmla="*/ 77450 h 98854"/>
                <a:gd name="csX24" fmla="*/ 81829 w 124703"/>
                <a:gd name="csY24" fmla="*/ 82636 h 98854"/>
                <a:gd name="csX25" fmla="*/ 96812 w 124703"/>
                <a:gd name="csY25" fmla="*/ 78026 h 98854"/>
                <a:gd name="csX26" fmla="*/ 105802 w 124703"/>
                <a:gd name="csY26" fmla="*/ 62236 h 98854"/>
                <a:gd name="csX27" fmla="*/ 103151 w 124703"/>
                <a:gd name="csY27" fmla="*/ 48175 h 98854"/>
                <a:gd name="csX28" fmla="*/ 94161 w 124703"/>
                <a:gd name="csY28" fmla="*/ 35728 h 98854"/>
                <a:gd name="csX29" fmla="*/ 43335 w 124703"/>
                <a:gd name="csY29" fmla="*/ 51979 h 98854"/>
                <a:gd name="csX30" fmla="*/ 35152 w 124703"/>
                <a:gd name="csY30" fmla="*/ 38264 h 98854"/>
                <a:gd name="csX31" fmla="*/ 26393 w 124703"/>
                <a:gd name="csY31" fmla="*/ 34461 h 98854"/>
                <a:gd name="csX32" fmla="*/ 16366 w 124703"/>
                <a:gd name="csY32" fmla="*/ 37457 h 98854"/>
                <a:gd name="csX33" fmla="*/ 11641 w 124703"/>
                <a:gd name="csY33" fmla="*/ 47138 h 98854"/>
                <a:gd name="csX34" fmla="*/ 14291 w 124703"/>
                <a:gd name="csY34" fmla="*/ 57857 h 98854"/>
                <a:gd name="csX35" fmla="*/ 22935 w 124703"/>
                <a:gd name="csY35" fmla="*/ 62813 h 98854"/>
                <a:gd name="csX36" fmla="*/ 28698 w 124703"/>
                <a:gd name="csY36" fmla="*/ 61775 h 98854"/>
                <a:gd name="csX37" fmla="*/ 35383 w 124703"/>
                <a:gd name="csY37" fmla="*/ 57972 h 98854"/>
                <a:gd name="csX38" fmla="*/ 43335 w 124703"/>
                <a:gd name="csY38" fmla="*/ 51864 h 98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24703" h="98854">
                  <a:moveTo>
                    <a:pt x="106378" y="27776"/>
                  </a:moveTo>
                  <a:cubicBezTo>
                    <a:pt x="110988" y="33193"/>
                    <a:pt x="114330" y="38840"/>
                    <a:pt x="116290" y="44833"/>
                  </a:cubicBezTo>
                  <a:cubicBezTo>
                    <a:pt x="118249" y="50826"/>
                    <a:pt x="118941" y="57050"/>
                    <a:pt x="118364" y="63619"/>
                  </a:cubicBezTo>
                  <a:cubicBezTo>
                    <a:pt x="117212" y="75836"/>
                    <a:pt x="112371" y="85172"/>
                    <a:pt x="103843" y="91626"/>
                  </a:cubicBezTo>
                  <a:cubicBezTo>
                    <a:pt x="96927" y="96927"/>
                    <a:pt x="89436" y="99348"/>
                    <a:pt x="81368" y="98771"/>
                  </a:cubicBezTo>
                  <a:cubicBezTo>
                    <a:pt x="74223" y="98195"/>
                    <a:pt x="67999" y="95314"/>
                    <a:pt x="62697" y="90012"/>
                  </a:cubicBezTo>
                  <a:cubicBezTo>
                    <a:pt x="57396" y="84710"/>
                    <a:pt x="52901" y="76989"/>
                    <a:pt x="49443" y="66846"/>
                  </a:cubicBezTo>
                  <a:cubicBezTo>
                    <a:pt x="42989" y="71802"/>
                    <a:pt x="37803" y="75145"/>
                    <a:pt x="33999" y="76643"/>
                  </a:cubicBezTo>
                  <a:cubicBezTo>
                    <a:pt x="30081" y="78141"/>
                    <a:pt x="26508" y="78833"/>
                    <a:pt x="23050" y="78487"/>
                  </a:cubicBezTo>
                  <a:cubicBezTo>
                    <a:pt x="16135" y="77911"/>
                    <a:pt x="10373" y="74453"/>
                    <a:pt x="5763" y="68114"/>
                  </a:cubicBezTo>
                  <a:cubicBezTo>
                    <a:pt x="1153" y="61775"/>
                    <a:pt x="-692" y="54053"/>
                    <a:pt x="231" y="45064"/>
                  </a:cubicBezTo>
                  <a:cubicBezTo>
                    <a:pt x="1037" y="36420"/>
                    <a:pt x="4264" y="29735"/>
                    <a:pt x="9566" y="24779"/>
                  </a:cubicBezTo>
                  <a:cubicBezTo>
                    <a:pt x="14983" y="19823"/>
                    <a:pt x="21091" y="17749"/>
                    <a:pt x="27776" y="18556"/>
                  </a:cubicBezTo>
                  <a:cubicBezTo>
                    <a:pt x="38725" y="19823"/>
                    <a:pt x="47138" y="28583"/>
                    <a:pt x="53247" y="44833"/>
                  </a:cubicBezTo>
                  <a:cubicBezTo>
                    <a:pt x="64657" y="37111"/>
                    <a:pt x="70304" y="33308"/>
                    <a:pt x="81829" y="25701"/>
                  </a:cubicBezTo>
                  <a:cubicBezTo>
                    <a:pt x="77450" y="22705"/>
                    <a:pt x="72379" y="20169"/>
                    <a:pt x="66501" y="18095"/>
                  </a:cubicBezTo>
                  <a:cubicBezTo>
                    <a:pt x="68460" y="11986"/>
                    <a:pt x="69497" y="8990"/>
                    <a:pt x="71457" y="2881"/>
                  </a:cubicBezTo>
                  <a:cubicBezTo>
                    <a:pt x="81138" y="6800"/>
                    <a:pt x="88975" y="11295"/>
                    <a:pt x="94853" y="16596"/>
                  </a:cubicBezTo>
                  <a:cubicBezTo>
                    <a:pt x="102459" y="11871"/>
                    <a:pt x="109144" y="6339"/>
                    <a:pt x="114676" y="0"/>
                  </a:cubicBezTo>
                  <a:cubicBezTo>
                    <a:pt x="118710" y="4495"/>
                    <a:pt x="120669" y="6685"/>
                    <a:pt x="124703" y="11180"/>
                  </a:cubicBezTo>
                  <a:cubicBezTo>
                    <a:pt x="120324" y="16596"/>
                    <a:pt x="114215" y="22128"/>
                    <a:pt x="106378" y="27545"/>
                  </a:cubicBezTo>
                  <a:close/>
                  <a:moveTo>
                    <a:pt x="94277" y="35844"/>
                  </a:moveTo>
                  <a:cubicBezTo>
                    <a:pt x="80331" y="45294"/>
                    <a:pt x="73301" y="50135"/>
                    <a:pt x="59470" y="59931"/>
                  </a:cubicBezTo>
                  <a:cubicBezTo>
                    <a:pt x="63274" y="68460"/>
                    <a:pt x="66962" y="74338"/>
                    <a:pt x="70650" y="77450"/>
                  </a:cubicBezTo>
                  <a:cubicBezTo>
                    <a:pt x="74338" y="80562"/>
                    <a:pt x="78026" y="82290"/>
                    <a:pt x="81829" y="82636"/>
                  </a:cubicBezTo>
                  <a:cubicBezTo>
                    <a:pt x="86439" y="82982"/>
                    <a:pt x="91510" y="81483"/>
                    <a:pt x="96812" y="78026"/>
                  </a:cubicBezTo>
                  <a:cubicBezTo>
                    <a:pt x="102114" y="74568"/>
                    <a:pt x="105110" y="69382"/>
                    <a:pt x="105802" y="62236"/>
                  </a:cubicBezTo>
                  <a:cubicBezTo>
                    <a:pt x="106263" y="57857"/>
                    <a:pt x="105341" y="53131"/>
                    <a:pt x="103151" y="48175"/>
                  </a:cubicBezTo>
                  <a:cubicBezTo>
                    <a:pt x="100961" y="43220"/>
                    <a:pt x="97965" y="39071"/>
                    <a:pt x="94161" y="35728"/>
                  </a:cubicBezTo>
                  <a:close/>
                  <a:moveTo>
                    <a:pt x="43335" y="51979"/>
                  </a:moveTo>
                  <a:cubicBezTo>
                    <a:pt x="40338" y="45064"/>
                    <a:pt x="37688" y="40454"/>
                    <a:pt x="35152" y="38264"/>
                  </a:cubicBezTo>
                  <a:cubicBezTo>
                    <a:pt x="32616" y="36074"/>
                    <a:pt x="29735" y="34806"/>
                    <a:pt x="26393" y="34461"/>
                  </a:cubicBezTo>
                  <a:cubicBezTo>
                    <a:pt x="22474" y="33999"/>
                    <a:pt x="19132" y="35037"/>
                    <a:pt x="16366" y="37457"/>
                  </a:cubicBezTo>
                  <a:cubicBezTo>
                    <a:pt x="13600" y="39877"/>
                    <a:pt x="11986" y="43105"/>
                    <a:pt x="11641" y="47138"/>
                  </a:cubicBezTo>
                  <a:cubicBezTo>
                    <a:pt x="11180" y="51287"/>
                    <a:pt x="12102" y="54860"/>
                    <a:pt x="14291" y="57857"/>
                  </a:cubicBezTo>
                  <a:cubicBezTo>
                    <a:pt x="16481" y="60853"/>
                    <a:pt x="19362" y="62467"/>
                    <a:pt x="22935" y="62813"/>
                  </a:cubicBezTo>
                  <a:cubicBezTo>
                    <a:pt x="24664" y="62928"/>
                    <a:pt x="26623" y="62697"/>
                    <a:pt x="28698" y="61775"/>
                  </a:cubicBezTo>
                  <a:cubicBezTo>
                    <a:pt x="30772" y="60968"/>
                    <a:pt x="32962" y="59701"/>
                    <a:pt x="35383" y="57972"/>
                  </a:cubicBezTo>
                  <a:cubicBezTo>
                    <a:pt x="38610" y="55552"/>
                    <a:pt x="40108" y="54284"/>
                    <a:pt x="43335" y="51864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5D7B1A0-F16B-A0C3-AA7D-2522F81065AB}"/>
                </a:ext>
              </a:extLst>
            </p:cNvPr>
            <p:cNvSpPr/>
            <p:nvPr/>
          </p:nvSpPr>
          <p:spPr>
            <a:xfrm>
              <a:off x="4697367" y="2791990"/>
              <a:ext cx="119624" cy="111390"/>
            </a:xfrm>
            <a:custGeom>
              <a:avLst/>
              <a:gdLst>
                <a:gd name="csX0" fmla="*/ 83202 w 119624"/>
                <a:gd name="csY0" fmla="*/ 22705 h 111390"/>
                <a:gd name="csX1" fmla="*/ 90232 w 119624"/>
                <a:gd name="csY1" fmla="*/ 7607 h 111390"/>
                <a:gd name="csX2" fmla="*/ 114781 w 119624"/>
                <a:gd name="csY2" fmla="*/ 31118 h 111390"/>
                <a:gd name="csX3" fmla="*/ 118585 w 119624"/>
                <a:gd name="csY3" fmla="*/ 64196 h 111390"/>
                <a:gd name="csX4" fmla="*/ 105676 w 119624"/>
                <a:gd name="csY4" fmla="*/ 93931 h 111390"/>
                <a:gd name="csX5" fmla="*/ 81012 w 119624"/>
                <a:gd name="csY5" fmla="*/ 108798 h 111390"/>
                <a:gd name="csX6" fmla="*/ 49433 w 119624"/>
                <a:gd name="csY6" fmla="*/ 110412 h 111390"/>
                <a:gd name="csX7" fmla="*/ 19467 w 119624"/>
                <a:gd name="csY7" fmla="*/ 98195 h 111390"/>
                <a:gd name="csX8" fmla="*/ 2756 w 119624"/>
                <a:gd name="csY8" fmla="*/ 73877 h 111390"/>
                <a:gd name="csX9" fmla="*/ 1142 w 119624"/>
                <a:gd name="csY9" fmla="*/ 42413 h 111390"/>
                <a:gd name="csX10" fmla="*/ 15779 w 119624"/>
                <a:gd name="csY10" fmla="*/ 12678 h 111390"/>
                <a:gd name="csX11" fmla="*/ 43670 w 119624"/>
                <a:gd name="csY11" fmla="*/ 0 h 111390"/>
                <a:gd name="csX12" fmla="*/ 43901 w 119624"/>
                <a:gd name="csY12" fmla="*/ 16596 h 111390"/>
                <a:gd name="csX13" fmla="*/ 23501 w 119624"/>
                <a:gd name="csY13" fmla="*/ 25471 h 111390"/>
                <a:gd name="csX14" fmla="*/ 13935 w 119624"/>
                <a:gd name="csY14" fmla="*/ 44949 h 111390"/>
                <a:gd name="csX15" fmla="*/ 16010 w 119624"/>
                <a:gd name="csY15" fmla="*/ 69958 h 111390"/>
                <a:gd name="csX16" fmla="*/ 30647 w 119624"/>
                <a:gd name="csY16" fmla="*/ 86209 h 111390"/>
                <a:gd name="csX17" fmla="*/ 51969 w 119624"/>
                <a:gd name="csY17" fmla="*/ 93585 h 111390"/>
                <a:gd name="csX18" fmla="*/ 78131 w 119624"/>
                <a:gd name="csY18" fmla="*/ 93239 h 111390"/>
                <a:gd name="csX19" fmla="*/ 96687 w 119624"/>
                <a:gd name="csY19" fmla="*/ 82175 h 111390"/>
                <a:gd name="csX20" fmla="*/ 105561 w 119624"/>
                <a:gd name="csY20" fmla="*/ 62928 h 111390"/>
                <a:gd name="csX21" fmla="*/ 102449 w 119624"/>
                <a:gd name="csY21" fmla="*/ 39186 h 111390"/>
                <a:gd name="csX22" fmla="*/ 83317 w 119624"/>
                <a:gd name="csY22" fmla="*/ 22474 h 1113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19624" h="111390">
                  <a:moveTo>
                    <a:pt x="83202" y="22705"/>
                  </a:moveTo>
                  <a:cubicBezTo>
                    <a:pt x="85968" y="16712"/>
                    <a:pt x="87351" y="13600"/>
                    <a:pt x="90232" y="7607"/>
                  </a:cubicBezTo>
                  <a:cubicBezTo>
                    <a:pt x="101873" y="13485"/>
                    <a:pt x="109941" y="21322"/>
                    <a:pt x="114781" y="31118"/>
                  </a:cubicBezTo>
                  <a:cubicBezTo>
                    <a:pt x="119507" y="40915"/>
                    <a:pt x="120774" y="51864"/>
                    <a:pt x="118585" y="64196"/>
                  </a:cubicBezTo>
                  <a:cubicBezTo>
                    <a:pt x="116279" y="76874"/>
                    <a:pt x="112015" y="86785"/>
                    <a:pt x="105676" y="93931"/>
                  </a:cubicBezTo>
                  <a:cubicBezTo>
                    <a:pt x="99337" y="101076"/>
                    <a:pt x="91154" y="106032"/>
                    <a:pt x="81012" y="108798"/>
                  </a:cubicBezTo>
                  <a:cubicBezTo>
                    <a:pt x="70870" y="111565"/>
                    <a:pt x="60382" y="112141"/>
                    <a:pt x="49433" y="110412"/>
                  </a:cubicBezTo>
                  <a:cubicBezTo>
                    <a:pt x="37562" y="108568"/>
                    <a:pt x="27535" y="104534"/>
                    <a:pt x="19467" y="98195"/>
                  </a:cubicBezTo>
                  <a:cubicBezTo>
                    <a:pt x="11400" y="91856"/>
                    <a:pt x="5868" y="83789"/>
                    <a:pt x="2756" y="73877"/>
                  </a:cubicBezTo>
                  <a:cubicBezTo>
                    <a:pt x="-241" y="63965"/>
                    <a:pt x="-817" y="53477"/>
                    <a:pt x="1142" y="42413"/>
                  </a:cubicBezTo>
                  <a:cubicBezTo>
                    <a:pt x="3447" y="29966"/>
                    <a:pt x="8288" y="20054"/>
                    <a:pt x="15779" y="12678"/>
                  </a:cubicBezTo>
                  <a:cubicBezTo>
                    <a:pt x="23271" y="5417"/>
                    <a:pt x="32491" y="1153"/>
                    <a:pt x="43670" y="0"/>
                  </a:cubicBezTo>
                  <a:cubicBezTo>
                    <a:pt x="43670" y="6685"/>
                    <a:pt x="43786" y="10027"/>
                    <a:pt x="43901" y="16596"/>
                  </a:cubicBezTo>
                  <a:cubicBezTo>
                    <a:pt x="35142" y="17749"/>
                    <a:pt x="28227" y="20745"/>
                    <a:pt x="23501" y="25471"/>
                  </a:cubicBezTo>
                  <a:cubicBezTo>
                    <a:pt x="18661" y="30196"/>
                    <a:pt x="15549" y="36766"/>
                    <a:pt x="13935" y="44949"/>
                  </a:cubicBezTo>
                  <a:cubicBezTo>
                    <a:pt x="12206" y="54515"/>
                    <a:pt x="12898" y="62813"/>
                    <a:pt x="16010" y="69958"/>
                  </a:cubicBezTo>
                  <a:cubicBezTo>
                    <a:pt x="19122" y="77104"/>
                    <a:pt x="23962" y="82521"/>
                    <a:pt x="30647" y="86209"/>
                  </a:cubicBezTo>
                  <a:cubicBezTo>
                    <a:pt x="37332" y="89897"/>
                    <a:pt x="44362" y="92433"/>
                    <a:pt x="51969" y="93585"/>
                  </a:cubicBezTo>
                  <a:cubicBezTo>
                    <a:pt x="61650" y="95199"/>
                    <a:pt x="70409" y="95083"/>
                    <a:pt x="78131" y="93239"/>
                  </a:cubicBezTo>
                  <a:cubicBezTo>
                    <a:pt x="85853" y="91511"/>
                    <a:pt x="92076" y="87707"/>
                    <a:pt x="96687" y="82175"/>
                  </a:cubicBezTo>
                  <a:cubicBezTo>
                    <a:pt x="101297" y="76528"/>
                    <a:pt x="104293" y="70189"/>
                    <a:pt x="105561" y="62928"/>
                  </a:cubicBezTo>
                  <a:cubicBezTo>
                    <a:pt x="107175" y="54169"/>
                    <a:pt x="106137" y="46216"/>
                    <a:pt x="102449" y="39186"/>
                  </a:cubicBezTo>
                  <a:cubicBezTo>
                    <a:pt x="98761" y="32156"/>
                    <a:pt x="92422" y="26623"/>
                    <a:pt x="83317" y="22474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F475C6B-FA3F-124F-1461-09583B5B332B}"/>
                </a:ext>
              </a:extLst>
            </p:cNvPr>
            <p:cNvSpPr/>
            <p:nvPr/>
          </p:nvSpPr>
          <p:spPr>
            <a:xfrm>
              <a:off x="4750246" y="2703151"/>
              <a:ext cx="87906" cy="84582"/>
            </a:xfrm>
            <a:custGeom>
              <a:avLst/>
              <a:gdLst>
                <a:gd name="csX0" fmla="*/ 34818 w 87906"/>
                <a:gd name="csY0" fmla="*/ 83191 h 84582"/>
                <a:gd name="csX1" fmla="*/ 4161 w 87906"/>
                <a:gd name="csY1" fmla="*/ 62331 h 84582"/>
                <a:gd name="csX2" fmla="*/ 1395 w 87906"/>
                <a:gd name="csY2" fmla="*/ 32480 h 84582"/>
                <a:gd name="csX3" fmla="*/ 19604 w 87906"/>
                <a:gd name="csY3" fmla="*/ 5511 h 84582"/>
                <a:gd name="csX4" fmla="*/ 52797 w 87906"/>
                <a:gd name="csY4" fmla="*/ 1823 h 84582"/>
                <a:gd name="csX5" fmla="*/ 76193 w 87906"/>
                <a:gd name="csY5" fmla="*/ 13002 h 84582"/>
                <a:gd name="csX6" fmla="*/ 86566 w 87906"/>
                <a:gd name="csY6" fmla="*/ 30751 h 84582"/>
                <a:gd name="csX7" fmla="*/ 86566 w 87906"/>
                <a:gd name="csY7" fmla="*/ 52419 h 84582"/>
                <a:gd name="csX8" fmla="*/ 69048 w 87906"/>
                <a:gd name="csY8" fmla="*/ 78812 h 84582"/>
                <a:gd name="csX9" fmla="*/ 34933 w 87906"/>
                <a:gd name="csY9" fmla="*/ 83076 h 84582"/>
                <a:gd name="csX10" fmla="*/ 38160 w 87906"/>
                <a:gd name="csY10" fmla="*/ 68093 h 84582"/>
                <a:gd name="csX11" fmla="*/ 63285 w 87906"/>
                <a:gd name="csY11" fmla="*/ 66134 h 84582"/>
                <a:gd name="csX12" fmla="*/ 75271 w 87906"/>
                <a:gd name="csY12" fmla="*/ 49883 h 84582"/>
                <a:gd name="csX13" fmla="*/ 71699 w 87906"/>
                <a:gd name="csY13" fmla="*/ 30060 h 84582"/>
                <a:gd name="csX14" fmla="*/ 49685 w 87906"/>
                <a:gd name="csY14" fmla="*/ 17036 h 84582"/>
                <a:gd name="csX15" fmla="*/ 25021 w 87906"/>
                <a:gd name="csY15" fmla="*/ 18765 h 84582"/>
                <a:gd name="csX16" fmla="*/ 12805 w 87906"/>
                <a:gd name="csY16" fmla="*/ 35246 h 84582"/>
                <a:gd name="csX17" fmla="*/ 16262 w 87906"/>
                <a:gd name="csY17" fmla="*/ 55531 h 84582"/>
                <a:gd name="csX18" fmla="*/ 38045 w 87906"/>
                <a:gd name="csY18" fmla="*/ 68093 h 8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7906" h="84582">
                  <a:moveTo>
                    <a:pt x="34818" y="83191"/>
                  </a:moveTo>
                  <a:cubicBezTo>
                    <a:pt x="19720" y="79964"/>
                    <a:pt x="9347" y="73049"/>
                    <a:pt x="4161" y="62331"/>
                  </a:cubicBezTo>
                  <a:cubicBezTo>
                    <a:pt x="-219" y="53456"/>
                    <a:pt x="-1141" y="43429"/>
                    <a:pt x="1395" y="32480"/>
                  </a:cubicBezTo>
                  <a:cubicBezTo>
                    <a:pt x="4276" y="20379"/>
                    <a:pt x="10384" y="11274"/>
                    <a:pt x="19604" y="5511"/>
                  </a:cubicBezTo>
                  <a:cubicBezTo>
                    <a:pt x="28825" y="-252"/>
                    <a:pt x="39889" y="-1519"/>
                    <a:pt x="52797" y="1823"/>
                  </a:cubicBezTo>
                  <a:cubicBezTo>
                    <a:pt x="63170" y="4474"/>
                    <a:pt x="71007" y="8277"/>
                    <a:pt x="76193" y="13002"/>
                  </a:cubicBezTo>
                  <a:cubicBezTo>
                    <a:pt x="81380" y="17843"/>
                    <a:pt x="84837" y="23721"/>
                    <a:pt x="86566" y="30751"/>
                  </a:cubicBezTo>
                  <a:cubicBezTo>
                    <a:pt x="88295" y="37782"/>
                    <a:pt x="88410" y="45043"/>
                    <a:pt x="86566" y="52419"/>
                  </a:cubicBezTo>
                  <a:cubicBezTo>
                    <a:pt x="83800" y="64290"/>
                    <a:pt x="77922" y="73049"/>
                    <a:pt x="69048" y="78812"/>
                  </a:cubicBezTo>
                  <a:cubicBezTo>
                    <a:pt x="60058" y="84574"/>
                    <a:pt x="48763" y="86073"/>
                    <a:pt x="34933" y="83076"/>
                  </a:cubicBezTo>
                  <a:close/>
                  <a:moveTo>
                    <a:pt x="38160" y="68093"/>
                  </a:moveTo>
                  <a:cubicBezTo>
                    <a:pt x="48648" y="70398"/>
                    <a:pt x="56946" y="69707"/>
                    <a:pt x="63285" y="66134"/>
                  </a:cubicBezTo>
                  <a:cubicBezTo>
                    <a:pt x="69509" y="62561"/>
                    <a:pt x="73543" y="57144"/>
                    <a:pt x="75271" y="49883"/>
                  </a:cubicBezTo>
                  <a:cubicBezTo>
                    <a:pt x="77000" y="42737"/>
                    <a:pt x="75732" y="36168"/>
                    <a:pt x="71699" y="30060"/>
                  </a:cubicBezTo>
                  <a:cubicBezTo>
                    <a:pt x="67665" y="24067"/>
                    <a:pt x="60289" y="19687"/>
                    <a:pt x="49685" y="17036"/>
                  </a:cubicBezTo>
                  <a:cubicBezTo>
                    <a:pt x="39658" y="14501"/>
                    <a:pt x="31475" y="15077"/>
                    <a:pt x="25021" y="18765"/>
                  </a:cubicBezTo>
                  <a:cubicBezTo>
                    <a:pt x="18682" y="22453"/>
                    <a:pt x="14533" y="27870"/>
                    <a:pt x="12805" y="35246"/>
                  </a:cubicBezTo>
                  <a:cubicBezTo>
                    <a:pt x="11076" y="42737"/>
                    <a:pt x="12228" y="49422"/>
                    <a:pt x="16262" y="55531"/>
                  </a:cubicBezTo>
                  <a:cubicBezTo>
                    <a:pt x="20296" y="61639"/>
                    <a:pt x="27672" y="65788"/>
                    <a:pt x="38045" y="68093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C46A4051-7014-9C90-CB47-F65E000E0EE6}"/>
                </a:ext>
              </a:extLst>
            </p:cNvPr>
            <p:cNvSpPr/>
            <p:nvPr/>
          </p:nvSpPr>
          <p:spPr>
            <a:xfrm>
              <a:off x="4768007" y="2612662"/>
              <a:ext cx="100269" cy="86318"/>
            </a:xfrm>
            <a:custGeom>
              <a:avLst/>
              <a:gdLst>
                <a:gd name="csX0" fmla="*/ 80907 w 100269"/>
                <a:gd name="csY0" fmla="*/ 86319 h 86318"/>
                <a:gd name="csX1" fmla="*/ 0 w 100269"/>
                <a:gd name="csY1" fmla="*/ 64882 h 86318"/>
                <a:gd name="csX2" fmla="*/ 3573 w 100269"/>
                <a:gd name="csY2" fmla="*/ 51513 h 86318"/>
                <a:gd name="csX3" fmla="*/ 15098 w 100269"/>
                <a:gd name="csY3" fmla="*/ 54624 h 86318"/>
                <a:gd name="csX4" fmla="*/ 9566 w 100269"/>
                <a:gd name="csY4" fmla="*/ 23161 h 86318"/>
                <a:gd name="csX5" fmla="*/ 16366 w 100269"/>
                <a:gd name="csY5" fmla="*/ 9445 h 86318"/>
                <a:gd name="csX6" fmla="*/ 26162 w 100269"/>
                <a:gd name="csY6" fmla="*/ 1608 h 86318"/>
                <a:gd name="csX7" fmla="*/ 37572 w 100269"/>
                <a:gd name="csY7" fmla="*/ 110 h 86318"/>
                <a:gd name="csX8" fmla="*/ 51057 w 100269"/>
                <a:gd name="csY8" fmla="*/ 3337 h 86318"/>
                <a:gd name="csX9" fmla="*/ 100270 w 100269"/>
                <a:gd name="csY9" fmla="*/ 18205 h 86318"/>
                <a:gd name="csX10" fmla="*/ 96005 w 100269"/>
                <a:gd name="csY10" fmla="*/ 32381 h 86318"/>
                <a:gd name="csX11" fmla="*/ 47138 w 100269"/>
                <a:gd name="csY11" fmla="*/ 17974 h 86318"/>
                <a:gd name="csX12" fmla="*/ 34230 w 100269"/>
                <a:gd name="csY12" fmla="*/ 16015 h 86318"/>
                <a:gd name="csX13" fmla="*/ 25932 w 100269"/>
                <a:gd name="csY13" fmla="*/ 20164 h 86318"/>
                <a:gd name="csX14" fmla="*/ 20515 w 100269"/>
                <a:gd name="csY14" fmla="*/ 29730 h 86318"/>
                <a:gd name="csX15" fmla="*/ 21552 w 100269"/>
                <a:gd name="csY15" fmla="*/ 47479 h 86318"/>
                <a:gd name="csX16" fmla="*/ 40684 w 100269"/>
                <a:gd name="csY16" fmla="*/ 60041 h 86318"/>
                <a:gd name="csX17" fmla="*/ 84826 w 100269"/>
                <a:gd name="csY17" fmla="*/ 72027 h 86318"/>
                <a:gd name="csX18" fmla="*/ 81023 w 100269"/>
                <a:gd name="csY18" fmla="*/ 86319 h 863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0269" h="86318">
                  <a:moveTo>
                    <a:pt x="80907" y="86319"/>
                  </a:moveTo>
                  <a:cubicBezTo>
                    <a:pt x="48521" y="77790"/>
                    <a:pt x="32386" y="73411"/>
                    <a:pt x="0" y="64882"/>
                  </a:cubicBezTo>
                  <a:cubicBezTo>
                    <a:pt x="1383" y="59580"/>
                    <a:pt x="2190" y="56814"/>
                    <a:pt x="3573" y="51513"/>
                  </a:cubicBezTo>
                  <a:lnTo>
                    <a:pt x="15098" y="54624"/>
                  </a:lnTo>
                  <a:cubicBezTo>
                    <a:pt x="7952" y="45865"/>
                    <a:pt x="6108" y="35262"/>
                    <a:pt x="9566" y="23161"/>
                  </a:cubicBezTo>
                  <a:cubicBezTo>
                    <a:pt x="11064" y="17859"/>
                    <a:pt x="13369" y="13364"/>
                    <a:pt x="16366" y="9445"/>
                  </a:cubicBezTo>
                  <a:cubicBezTo>
                    <a:pt x="19362" y="5527"/>
                    <a:pt x="22705" y="2991"/>
                    <a:pt x="26162" y="1608"/>
                  </a:cubicBezTo>
                  <a:cubicBezTo>
                    <a:pt x="29620" y="225"/>
                    <a:pt x="33423" y="-236"/>
                    <a:pt x="37572" y="110"/>
                  </a:cubicBezTo>
                  <a:cubicBezTo>
                    <a:pt x="40223" y="340"/>
                    <a:pt x="44718" y="1378"/>
                    <a:pt x="51057" y="3337"/>
                  </a:cubicBezTo>
                  <a:cubicBezTo>
                    <a:pt x="70765" y="9330"/>
                    <a:pt x="80561" y="12211"/>
                    <a:pt x="100270" y="18205"/>
                  </a:cubicBezTo>
                  <a:cubicBezTo>
                    <a:pt x="98541" y="23852"/>
                    <a:pt x="97734" y="26733"/>
                    <a:pt x="96005" y="32381"/>
                  </a:cubicBezTo>
                  <a:cubicBezTo>
                    <a:pt x="76528" y="26618"/>
                    <a:pt x="66731" y="23737"/>
                    <a:pt x="47138" y="17974"/>
                  </a:cubicBezTo>
                  <a:cubicBezTo>
                    <a:pt x="41606" y="16360"/>
                    <a:pt x="37342" y="15669"/>
                    <a:pt x="34230" y="16015"/>
                  </a:cubicBezTo>
                  <a:cubicBezTo>
                    <a:pt x="31118" y="16360"/>
                    <a:pt x="28352" y="17744"/>
                    <a:pt x="25932" y="20164"/>
                  </a:cubicBezTo>
                  <a:cubicBezTo>
                    <a:pt x="23511" y="22584"/>
                    <a:pt x="21667" y="25811"/>
                    <a:pt x="20515" y="29730"/>
                  </a:cubicBezTo>
                  <a:cubicBezTo>
                    <a:pt x="18786" y="35954"/>
                    <a:pt x="19132" y="41947"/>
                    <a:pt x="21552" y="47479"/>
                  </a:cubicBezTo>
                  <a:cubicBezTo>
                    <a:pt x="23973" y="53011"/>
                    <a:pt x="30427" y="57275"/>
                    <a:pt x="40684" y="60041"/>
                  </a:cubicBezTo>
                  <a:lnTo>
                    <a:pt x="84826" y="72027"/>
                  </a:lnTo>
                  <a:cubicBezTo>
                    <a:pt x="83328" y="77675"/>
                    <a:pt x="82521" y="80556"/>
                    <a:pt x="81023" y="86319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06CF908B-F0F1-E80B-DD2C-7BC6B0A0156B}"/>
                </a:ext>
              </a:extLst>
            </p:cNvPr>
            <p:cNvSpPr/>
            <p:nvPr/>
          </p:nvSpPr>
          <p:spPr>
            <a:xfrm>
              <a:off x="4772847" y="2551919"/>
              <a:ext cx="112486" cy="50660"/>
            </a:xfrm>
            <a:custGeom>
              <a:avLst/>
              <a:gdLst>
                <a:gd name="csX0" fmla="*/ 99924 w 112486"/>
                <a:gd name="csY0" fmla="*/ 22359 h 50660"/>
                <a:gd name="csX1" fmla="*/ 112486 w 112486"/>
                <a:gd name="csY1" fmla="*/ 24318 h 50660"/>
                <a:gd name="csX2" fmla="*/ 110181 w 112486"/>
                <a:gd name="csY2" fmla="*/ 35382 h 50660"/>
                <a:gd name="csX3" fmla="*/ 103958 w 112486"/>
                <a:gd name="csY3" fmla="*/ 46562 h 50660"/>
                <a:gd name="csX4" fmla="*/ 95890 w 112486"/>
                <a:gd name="csY4" fmla="*/ 50596 h 50660"/>
                <a:gd name="csX5" fmla="*/ 79409 w 112486"/>
                <a:gd name="csY5" fmla="*/ 47253 h 50660"/>
                <a:gd name="csX6" fmla="*/ 33538 w 112486"/>
                <a:gd name="csY6" fmla="*/ 32732 h 50660"/>
                <a:gd name="csX7" fmla="*/ 30196 w 112486"/>
                <a:gd name="csY7" fmla="*/ 43450 h 50660"/>
                <a:gd name="csX8" fmla="*/ 19708 w 112486"/>
                <a:gd name="csY8" fmla="*/ 40223 h 50660"/>
                <a:gd name="csX9" fmla="*/ 23051 w 112486"/>
                <a:gd name="csY9" fmla="*/ 29389 h 50660"/>
                <a:gd name="csX10" fmla="*/ 3342 w 112486"/>
                <a:gd name="csY10" fmla="*/ 23166 h 50660"/>
                <a:gd name="csX11" fmla="*/ 0 w 112486"/>
                <a:gd name="csY11" fmla="*/ 5763 h 50660"/>
                <a:gd name="csX12" fmla="*/ 27776 w 112486"/>
                <a:gd name="csY12" fmla="*/ 14752 h 50660"/>
                <a:gd name="csX13" fmla="*/ 32616 w 112486"/>
                <a:gd name="csY13" fmla="*/ 0 h 50660"/>
                <a:gd name="csX14" fmla="*/ 43104 w 112486"/>
                <a:gd name="csY14" fmla="*/ 3457 h 50660"/>
                <a:gd name="csX15" fmla="*/ 38264 w 112486"/>
                <a:gd name="csY15" fmla="*/ 18095 h 50660"/>
                <a:gd name="csX16" fmla="*/ 84826 w 112486"/>
                <a:gd name="csY16" fmla="*/ 33193 h 50660"/>
                <a:gd name="csX17" fmla="*/ 92548 w 112486"/>
                <a:gd name="csY17" fmla="*/ 34806 h 50660"/>
                <a:gd name="csX18" fmla="*/ 96005 w 112486"/>
                <a:gd name="csY18" fmla="*/ 33193 h 50660"/>
                <a:gd name="csX19" fmla="*/ 98541 w 112486"/>
                <a:gd name="csY19" fmla="*/ 28698 h 50660"/>
                <a:gd name="csX20" fmla="*/ 100039 w 112486"/>
                <a:gd name="csY20" fmla="*/ 22359 h 506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2486" h="50660">
                  <a:moveTo>
                    <a:pt x="99924" y="22359"/>
                  </a:moveTo>
                  <a:cubicBezTo>
                    <a:pt x="104995" y="23166"/>
                    <a:pt x="107415" y="23511"/>
                    <a:pt x="112486" y="24318"/>
                  </a:cubicBezTo>
                  <a:cubicBezTo>
                    <a:pt x="111910" y="28583"/>
                    <a:pt x="111219" y="32271"/>
                    <a:pt x="110181" y="35382"/>
                  </a:cubicBezTo>
                  <a:cubicBezTo>
                    <a:pt x="108453" y="40454"/>
                    <a:pt x="106493" y="44257"/>
                    <a:pt x="103958" y="46562"/>
                  </a:cubicBezTo>
                  <a:cubicBezTo>
                    <a:pt x="101537" y="48867"/>
                    <a:pt x="98887" y="50250"/>
                    <a:pt x="95890" y="50596"/>
                  </a:cubicBezTo>
                  <a:cubicBezTo>
                    <a:pt x="93009" y="50942"/>
                    <a:pt x="87477" y="49904"/>
                    <a:pt x="79409" y="47253"/>
                  </a:cubicBezTo>
                  <a:cubicBezTo>
                    <a:pt x="61084" y="41491"/>
                    <a:pt x="51864" y="38609"/>
                    <a:pt x="33538" y="32732"/>
                  </a:cubicBezTo>
                  <a:cubicBezTo>
                    <a:pt x="32155" y="36996"/>
                    <a:pt x="31464" y="39186"/>
                    <a:pt x="30196" y="43450"/>
                  </a:cubicBezTo>
                  <a:cubicBezTo>
                    <a:pt x="25932" y="42182"/>
                    <a:pt x="23857" y="41491"/>
                    <a:pt x="19708" y="40223"/>
                  </a:cubicBezTo>
                  <a:cubicBezTo>
                    <a:pt x="21091" y="35959"/>
                    <a:pt x="21667" y="33769"/>
                    <a:pt x="23051" y="29389"/>
                  </a:cubicBezTo>
                  <a:cubicBezTo>
                    <a:pt x="15098" y="26854"/>
                    <a:pt x="11179" y="25701"/>
                    <a:pt x="3342" y="23166"/>
                  </a:cubicBezTo>
                  <a:cubicBezTo>
                    <a:pt x="1959" y="16250"/>
                    <a:pt x="1268" y="12793"/>
                    <a:pt x="0" y="5763"/>
                  </a:cubicBezTo>
                  <a:cubicBezTo>
                    <a:pt x="11179" y="9335"/>
                    <a:pt x="16712" y="11179"/>
                    <a:pt x="27776" y="14752"/>
                  </a:cubicBezTo>
                  <a:cubicBezTo>
                    <a:pt x="29735" y="8874"/>
                    <a:pt x="30657" y="5878"/>
                    <a:pt x="32616" y="0"/>
                  </a:cubicBezTo>
                  <a:cubicBezTo>
                    <a:pt x="36766" y="1383"/>
                    <a:pt x="38840" y="2074"/>
                    <a:pt x="43104" y="3457"/>
                  </a:cubicBezTo>
                  <a:cubicBezTo>
                    <a:pt x="41145" y="9335"/>
                    <a:pt x="40223" y="12217"/>
                    <a:pt x="38264" y="18095"/>
                  </a:cubicBezTo>
                  <a:cubicBezTo>
                    <a:pt x="56935" y="24088"/>
                    <a:pt x="66155" y="27084"/>
                    <a:pt x="84826" y="33193"/>
                  </a:cubicBezTo>
                  <a:cubicBezTo>
                    <a:pt x="88629" y="34460"/>
                    <a:pt x="91280" y="35037"/>
                    <a:pt x="92548" y="34806"/>
                  </a:cubicBezTo>
                  <a:cubicBezTo>
                    <a:pt x="93816" y="34691"/>
                    <a:pt x="94968" y="34115"/>
                    <a:pt x="96005" y="33193"/>
                  </a:cubicBezTo>
                  <a:cubicBezTo>
                    <a:pt x="97043" y="32271"/>
                    <a:pt x="97849" y="30772"/>
                    <a:pt x="98541" y="28698"/>
                  </a:cubicBezTo>
                  <a:cubicBezTo>
                    <a:pt x="99002" y="27084"/>
                    <a:pt x="99578" y="25010"/>
                    <a:pt x="100039" y="22359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1195CCE-0D1A-B78B-21A2-AC3D0F429EB2}"/>
                </a:ext>
              </a:extLst>
            </p:cNvPr>
            <p:cNvSpPr/>
            <p:nvPr/>
          </p:nvSpPr>
          <p:spPr>
            <a:xfrm>
              <a:off x="4817770" y="2474362"/>
              <a:ext cx="88706" cy="84954"/>
            </a:xfrm>
            <a:custGeom>
              <a:avLst/>
              <a:gdLst>
                <a:gd name="csX0" fmla="*/ 66526 w 88706"/>
                <a:gd name="csY0" fmla="*/ 24310 h 84954"/>
                <a:gd name="csX1" fmla="*/ 73672 w 88706"/>
                <a:gd name="csY1" fmla="*/ 10365 h 84954"/>
                <a:gd name="csX2" fmla="*/ 87502 w 88706"/>
                <a:gd name="csY2" fmla="*/ 30073 h 84954"/>
                <a:gd name="csX3" fmla="*/ 85543 w 88706"/>
                <a:gd name="csY3" fmla="*/ 56120 h 84954"/>
                <a:gd name="csX4" fmla="*/ 64797 w 88706"/>
                <a:gd name="csY4" fmla="*/ 81245 h 84954"/>
                <a:gd name="csX5" fmla="*/ 31144 w 88706"/>
                <a:gd name="csY5" fmla="*/ 81821 h 84954"/>
                <a:gd name="csX6" fmla="*/ 3829 w 88706"/>
                <a:gd name="csY6" fmla="*/ 60154 h 84954"/>
                <a:gd name="csX7" fmla="*/ 3022 w 88706"/>
                <a:gd name="csY7" fmla="*/ 27307 h 84954"/>
                <a:gd name="csX8" fmla="*/ 23998 w 88706"/>
                <a:gd name="csY8" fmla="*/ 3219 h 84954"/>
                <a:gd name="csX9" fmla="*/ 58113 w 88706"/>
                <a:gd name="csY9" fmla="*/ 3795 h 84954"/>
                <a:gd name="csX10" fmla="*/ 61570 w 88706"/>
                <a:gd name="csY10" fmla="*/ 5178 h 84954"/>
                <a:gd name="csX11" fmla="*/ 38866 w 88706"/>
                <a:gd name="csY11" fmla="*/ 67761 h 84954"/>
                <a:gd name="csX12" fmla="*/ 61570 w 88706"/>
                <a:gd name="csY12" fmla="*/ 66839 h 84954"/>
                <a:gd name="csX13" fmla="*/ 74594 w 88706"/>
                <a:gd name="csY13" fmla="*/ 51856 h 84954"/>
                <a:gd name="csX14" fmla="*/ 75516 w 88706"/>
                <a:gd name="csY14" fmla="*/ 37219 h 84954"/>
                <a:gd name="csX15" fmla="*/ 66411 w 88706"/>
                <a:gd name="csY15" fmla="*/ 23965 h 84954"/>
                <a:gd name="csX16" fmla="*/ 28147 w 88706"/>
                <a:gd name="csY16" fmla="*/ 63381 h 84954"/>
                <a:gd name="csX17" fmla="*/ 45089 w 88706"/>
                <a:gd name="csY17" fmla="*/ 16243 h 84954"/>
                <a:gd name="csX18" fmla="*/ 28262 w 88706"/>
                <a:gd name="csY18" fmla="*/ 16243 h 84954"/>
                <a:gd name="csX19" fmla="*/ 14086 w 88706"/>
                <a:gd name="csY19" fmla="*/ 31341 h 84954"/>
                <a:gd name="csX20" fmla="*/ 14317 w 88706"/>
                <a:gd name="csY20" fmla="*/ 50242 h 84954"/>
                <a:gd name="csX21" fmla="*/ 28262 w 88706"/>
                <a:gd name="csY21" fmla="*/ 63496 h 8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8706" h="84954">
                  <a:moveTo>
                    <a:pt x="66526" y="24310"/>
                  </a:moveTo>
                  <a:cubicBezTo>
                    <a:pt x="69407" y="18778"/>
                    <a:pt x="70791" y="15897"/>
                    <a:pt x="73672" y="10365"/>
                  </a:cubicBezTo>
                  <a:cubicBezTo>
                    <a:pt x="80817" y="15666"/>
                    <a:pt x="85428" y="22236"/>
                    <a:pt x="87502" y="30073"/>
                  </a:cubicBezTo>
                  <a:cubicBezTo>
                    <a:pt x="89577" y="37910"/>
                    <a:pt x="89000" y="46554"/>
                    <a:pt x="85543" y="56120"/>
                  </a:cubicBezTo>
                  <a:cubicBezTo>
                    <a:pt x="81163" y="68222"/>
                    <a:pt x="74363" y="76520"/>
                    <a:pt x="64797" y="81245"/>
                  </a:cubicBezTo>
                  <a:cubicBezTo>
                    <a:pt x="55231" y="85971"/>
                    <a:pt x="44052" y="86201"/>
                    <a:pt x="31144" y="81821"/>
                  </a:cubicBezTo>
                  <a:cubicBezTo>
                    <a:pt x="17774" y="77327"/>
                    <a:pt x="8669" y="70181"/>
                    <a:pt x="3829" y="60154"/>
                  </a:cubicBezTo>
                  <a:cubicBezTo>
                    <a:pt x="-1012" y="50242"/>
                    <a:pt x="-1242" y="39178"/>
                    <a:pt x="3022" y="27307"/>
                  </a:cubicBezTo>
                  <a:cubicBezTo>
                    <a:pt x="7171" y="15782"/>
                    <a:pt x="14202" y="7714"/>
                    <a:pt x="23998" y="3219"/>
                  </a:cubicBezTo>
                  <a:cubicBezTo>
                    <a:pt x="33794" y="-1276"/>
                    <a:pt x="45204" y="-1045"/>
                    <a:pt x="58113" y="3795"/>
                  </a:cubicBezTo>
                  <a:cubicBezTo>
                    <a:pt x="58920" y="4141"/>
                    <a:pt x="60072" y="4602"/>
                    <a:pt x="61570" y="5178"/>
                  </a:cubicBezTo>
                  <a:cubicBezTo>
                    <a:pt x="52120" y="30073"/>
                    <a:pt x="47510" y="42636"/>
                    <a:pt x="38866" y="67761"/>
                  </a:cubicBezTo>
                  <a:cubicBezTo>
                    <a:pt x="47740" y="70181"/>
                    <a:pt x="55231" y="69950"/>
                    <a:pt x="61570" y="66839"/>
                  </a:cubicBezTo>
                  <a:cubicBezTo>
                    <a:pt x="67794" y="63842"/>
                    <a:pt x="72174" y="58886"/>
                    <a:pt x="74594" y="51856"/>
                  </a:cubicBezTo>
                  <a:cubicBezTo>
                    <a:pt x="76438" y="46669"/>
                    <a:pt x="76784" y="41829"/>
                    <a:pt x="75516" y="37219"/>
                  </a:cubicBezTo>
                  <a:cubicBezTo>
                    <a:pt x="74248" y="32609"/>
                    <a:pt x="71252" y="28229"/>
                    <a:pt x="66411" y="23965"/>
                  </a:cubicBezTo>
                  <a:close/>
                  <a:moveTo>
                    <a:pt x="28147" y="63381"/>
                  </a:moveTo>
                  <a:cubicBezTo>
                    <a:pt x="34716" y="44480"/>
                    <a:pt x="38059" y="35029"/>
                    <a:pt x="45089" y="16243"/>
                  </a:cubicBezTo>
                  <a:cubicBezTo>
                    <a:pt x="38289" y="14399"/>
                    <a:pt x="32642" y="14399"/>
                    <a:pt x="28262" y="16243"/>
                  </a:cubicBezTo>
                  <a:cubicBezTo>
                    <a:pt x="21462" y="18894"/>
                    <a:pt x="16737" y="23965"/>
                    <a:pt x="14086" y="31341"/>
                  </a:cubicBezTo>
                  <a:cubicBezTo>
                    <a:pt x="11666" y="38025"/>
                    <a:pt x="11781" y="44364"/>
                    <a:pt x="14317" y="50242"/>
                  </a:cubicBezTo>
                  <a:cubicBezTo>
                    <a:pt x="16852" y="56120"/>
                    <a:pt x="21462" y="60615"/>
                    <a:pt x="28262" y="63496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7B4F463-194C-75AE-5A7A-30804F3EA2D5}"/>
                </a:ext>
              </a:extLst>
            </p:cNvPr>
            <p:cNvSpPr/>
            <p:nvPr/>
          </p:nvSpPr>
          <p:spPr>
            <a:xfrm>
              <a:off x="4843843" y="2384378"/>
              <a:ext cx="105110" cy="91819"/>
            </a:xfrm>
            <a:custGeom>
              <a:avLst/>
              <a:gdLst>
                <a:gd name="csX0" fmla="*/ 77911 w 105110"/>
                <a:gd name="csY0" fmla="*/ 91819 h 91819"/>
                <a:gd name="csX1" fmla="*/ 0 w 105110"/>
                <a:gd name="csY1" fmla="*/ 61393 h 91819"/>
                <a:gd name="csX2" fmla="*/ 5071 w 105110"/>
                <a:gd name="csY2" fmla="*/ 48369 h 91819"/>
                <a:gd name="csX3" fmla="*/ 16135 w 105110"/>
                <a:gd name="csY3" fmla="*/ 52749 h 91819"/>
                <a:gd name="csX4" fmla="*/ 14291 w 105110"/>
                <a:gd name="csY4" fmla="*/ 20593 h 91819"/>
                <a:gd name="csX5" fmla="*/ 22705 w 105110"/>
                <a:gd name="csY5" fmla="*/ 7570 h 91819"/>
                <a:gd name="csX6" fmla="*/ 33308 w 105110"/>
                <a:gd name="csY6" fmla="*/ 770 h 91819"/>
                <a:gd name="csX7" fmla="*/ 44833 w 105110"/>
                <a:gd name="csY7" fmla="*/ 540 h 91819"/>
                <a:gd name="csX8" fmla="*/ 57857 w 105110"/>
                <a:gd name="csY8" fmla="*/ 5265 h 91819"/>
                <a:gd name="csX9" fmla="*/ 105110 w 105110"/>
                <a:gd name="csY9" fmla="*/ 25665 h 91819"/>
                <a:gd name="csX10" fmla="*/ 99232 w 105110"/>
                <a:gd name="csY10" fmla="*/ 39380 h 91819"/>
                <a:gd name="csX11" fmla="*/ 52325 w 105110"/>
                <a:gd name="csY11" fmla="*/ 19556 h 91819"/>
                <a:gd name="csX12" fmla="*/ 39647 w 105110"/>
                <a:gd name="csY12" fmla="*/ 16214 h 91819"/>
                <a:gd name="csX13" fmla="*/ 30888 w 105110"/>
                <a:gd name="csY13" fmla="*/ 19441 h 91819"/>
                <a:gd name="csX14" fmla="*/ 24434 w 105110"/>
                <a:gd name="csY14" fmla="*/ 28431 h 91819"/>
                <a:gd name="csX15" fmla="*/ 23396 w 105110"/>
                <a:gd name="csY15" fmla="*/ 46295 h 91819"/>
                <a:gd name="csX16" fmla="*/ 41030 w 105110"/>
                <a:gd name="csY16" fmla="*/ 61047 h 91819"/>
                <a:gd name="csX17" fmla="*/ 83443 w 105110"/>
                <a:gd name="csY17" fmla="*/ 77989 h 91819"/>
                <a:gd name="csX18" fmla="*/ 78026 w 105110"/>
                <a:gd name="csY18" fmla="*/ 91819 h 91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5110" h="91819">
                  <a:moveTo>
                    <a:pt x="77911" y="91819"/>
                  </a:moveTo>
                  <a:cubicBezTo>
                    <a:pt x="46677" y="79603"/>
                    <a:pt x="31118" y="73494"/>
                    <a:pt x="0" y="61393"/>
                  </a:cubicBezTo>
                  <a:cubicBezTo>
                    <a:pt x="2075" y="56206"/>
                    <a:pt x="3112" y="53556"/>
                    <a:pt x="5071" y="48369"/>
                  </a:cubicBezTo>
                  <a:cubicBezTo>
                    <a:pt x="9451" y="50098"/>
                    <a:pt x="11756" y="51020"/>
                    <a:pt x="16135" y="52749"/>
                  </a:cubicBezTo>
                  <a:cubicBezTo>
                    <a:pt x="10027" y="43183"/>
                    <a:pt x="9451" y="32349"/>
                    <a:pt x="14291" y="20593"/>
                  </a:cubicBezTo>
                  <a:cubicBezTo>
                    <a:pt x="16366" y="15522"/>
                    <a:pt x="19247" y="11143"/>
                    <a:pt x="22705" y="7570"/>
                  </a:cubicBezTo>
                  <a:cubicBezTo>
                    <a:pt x="26162" y="3997"/>
                    <a:pt x="29735" y="1807"/>
                    <a:pt x="33308" y="770"/>
                  </a:cubicBezTo>
                  <a:cubicBezTo>
                    <a:pt x="36881" y="-152"/>
                    <a:pt x="40799" y="-267"/>
                    <a:pt x="44833" y="540"/>
                  </a:cubicBezTo>
                  <a:cubicBezTo>
                    <a:pt x="47484" y="1001"/>
                    <a:pt x="51748" y="2614"/>
                    <a:pt x="57857" y="5265"/>
                  </a:cubicBezTo>
                  <a:cubicBezTo>
                    <a:pt x="76758" y="13448"/>
                    <a:pt x="86209" y="17482"/>
                    <a:pt x="105110" y="25665"/>
                  </a:cubicBezTo>
                  <a:cubicBezTo>
                    <a:pt x="102690" y="31197"/>
                    <a:pt x="101537" y="33847"/>
                    <a:pt x="99232" y="39380"/>
                  </a:cubicBezTo>
                  <a:cubicBezTo>
                    <a:pt x="80446" y="31427"/>
                    <a:pt x="71111" y="27509"/>
                    <a:pt x="52325" y="19556"/>
                  </a:cubicBezTo>
                  <a:cubicBezTo>
                    <a:pt x="47023" y="17251"/>
                    <a:pt x="42759" y="16214"/>
                    <a:pt x="39647" y="16214"/>
                  </a:cubicBezTo>
                  <a:cubicBezTo>
                    <a:pt x="36535" y="16214"/>
                    <a:pt x="33654" y="17251"/>
                    <a:pt x="30888" y="19441"/>
                  </a:cubicBezTo>
                  <a:cubicBezTo>
                    <a:pt x="28122" y="21631"/>
                    <a:pt x="25932" y="24627"/>
                    <a:pt x="24434" y="28431"/>
                  </a:cubicBezTo>
                  <a:cubicBezTo>
                    <a:pt x="21898" y="34539"/>
                    <a:pt x="21552" y="40532"/>
                    <a:pt x="23396" y="46295"/>
                  </a:cubicBezTo>
                  <a:cubicBezTo>
                    <a:pt x="25240" y="52057"/>
                    <a:pt x="31003" y="57013"/>
                    <a:pt x="41030" y="61047"/>
                  </a:cubicBezTo>
                  <a:cubicBezTo>
                    <a:pt x="57972" y="67847"/>
                    <a:pt x="66501" y="71189"/>
                    <a:pt x="83443" y="77989"/>
                  </a:cubicBezTo>
                  <a:cubicBezTo>
                    <a:pt x="81253" y="83521"/>
                    <a:pt x="80101" y="86287"/>
                    <a:pt x="78026" y="91819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1AA4475-FC82-E361-5CCC-EB2026911E12}"/>
                </a:ext>
              </a:extLst>
            </p:cNvPr>
            <p:cNvSpPr/>
            <p:nvPr/>
          </p:nvSpPr>
          <p:spPr>
            <a:xfrm>
              <a:off x="4862629" y="2324180"/>
              <a:ext cx="109720" cy="57626"/>
            </a:xfrm>
            <a:custGeom>
              <a:avLst/>
              <a:gdLst>
                <a:gd name="csX0" fmla="*/ 97504 w 109720"/>
                <a:gd name="csY0" fmla="*/ 29850 h 57626"/>
                <a:gd name="csX1" fmla="*/ 109720 w 109720"/>
                <a:gd name="csY1" fmla="*/ 33193 h 57626"/>
                <a:gd name="csX2" fmla="*/ 106148 w 109720"/>
                <a:gd name="csY2" fmla="*/ 44026 h 57626"/>
                <a:gd name="csX3" fmla="*/ 98656 w 109720"/>
                <a:gd name="csY3" fmla="*/ 54514 h 57626"/>
                <a:gd name="csX4" fmla="*/ 90243 w 109720"/>
                <a:gd name="csY4" fmla="*/ 57626 h 57626"/>
                <a:gd name="csX5" fmla="*/ 74223 w 109720"/>
                <a:gd name="csY5" fmla="*/ 52440 h 57626"/>
                <a:gd name="csX6" fmla="*/ 30311 w 109720"/>
                <a:gd name="csY6" fmla="*/ 32847 h 57626"/>
                <a:gd name="csX7" fmla="*/ 25701 w 109720"/>
                <a:gd name="csY7" fmla="*/ 43220 h 57626"/>
                <a:gd name="csX8" fmla="*/ 15559 w 109720"/>
                <a:gd name="csY8" fmla="*/ 38725 h 57626"/>
                <a:gd name="csX9" fmla="*/ 20169 w 109720"/>
                <a:gd name="csY9" fmla="*/ 28352 h 57626"/>
                <a:gd name="csX10" fmla="*/ 1268 w 109720"/>
                <a:gd name="csY10" fmla="*/ 19939 h 57626"/>
                <a:gd name="csX11" fmla="*/ 0 w 109720"/>
                <a:gd name="csY11" fmla="*/ 2190 h 57626"/>
                <a:gd name="csX12" fmla="*/ 26623 w 109720"/>
                <a:gd name="csY12" fmla="*/ 14291 h 57626"/>
                <a:gd name="csX13" fmla="*/ 33193 w 109720"/>
                <a:gd name="csY13" fmla="*/ 0 h 57626"/>
                <a:gd name="csX14" fmla="*/ 43220 w 109720"/>
                <a:gd name="csY14" fmla="*/ 4610 h 57626"/>
                <a:gd name="csX15" fmla="*/ 36766 w 109720"/>
                <a:gd name="csY15" fmla="*/ 18786 h 57626"/>
                <a:gd name="csX16" fmla="*/ 81253 w 109720"/>
                <a:gd name="csY16" fmla="*/ 39071 h 57626"/>
                <a:gd name="csX17" fmla="*/ 88629 w 109720"/>
                <a:gd name="csY17" fmla="*/ 41606 h 57626"/>
                <a:gd name="csX18" fmla="*/ 92202 w 109720"/>
                <a:gd name="csY18" fmla="*/ 40454 h 57626"/>
                <a:gd name="csX19" fmla="*/ 95314 w 109720"/>
                <a:gd name="csY19" fmla="*/ 36189 h 57626"/>
                <a:gd name="csX20" fmla="*/ 97619 w 109720"/>
                <a:gd name="csY20" fmla="*/ 29966 h 57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09720" h="57626">
                  <a:moveTo>
                    <a:pt x="97504" y="29850"/>
                  </a:moveTo>
                  <a:cubicBezTo>
                    <a:pt x="102459" y="31118"/>
                    <a:pt x="104880" y="31810"/>
                    <a:pt x="109720" y="33193"/>
                  </a:cubicBezTo>
                  <a:cubicBezTo>
                    <a:pt x="108683" y="37342"/>
                    <a:pt x="107531" y="40915"/>
                    <a:pt x="106148" y="44026"/>
                  </a:cubicBezTo>
                  <a:cubicBezTo>
                    <a:pt x="103842" y="48982"/>
                    <a:pt x="101422" y="52440"/>
                    <a:pt x="98656" y="54514"/>
                  </a:cubicBezTo>
                  <a:cubicBezTo>
                    <a:pt x="95890" y="56589"/>
                    <a:pt x="93124" y="57626"/>
                    <a:pt x="90243" y="57626"/>
                  </a:cubicBezTo>
                  <a:cubicBezTo>
                    <a:pt x="87361" y="57626"/>
                    <a:pt x="81944" y="55898"/>
                    <a:pt x="74223" y="52440"/>
                  </a:cubicBezTo>
                  <a:cubicBezTo>
                    <a:pt x="56589" y="44603"/>
                    <a:pt x="47830" y="40684"/>
                    <a:pt x="30311" y="32847"/>
                  </a:cubicBezTo>
                  <a:cubicBezTo>
                    <a:pt x="28467" y="36996"/>
                    <a:pt x="27545" y="39071"/>
                    <a:pt x="25701" y="43220"/>
                  </a:cubicBezTo>
                  <a:cubicBezTo>
                    <a:pt x="21667" y="41491"/>
                    <a:pt x="19593" y="40569"/>
                    <a:pt x="15559" y="38725"/>
                  </a:cubicBezTo>
                  <a:cubicBezTo>
                    <a:pt x="17403" y="34576"/>
                    <a:pt x="18325" y="32501"/>
                    <a:pt x="20169" y="28352"/>
                  </a:cubicBezTo>
                  <a:cubicBezTo>
                    <a:pt x="12563" y="25010"/>
                    <a:pt x="8874" y="23281"/>
                    <a:pt x="1268" y="19939"/>
                  </a:cubicBezTo>
                  <a:cubicBezTo>
                    <a:pt x="691" y="12793"/>
                    <a:pt x="461" y="9336"/>
                    <a:pt x="0" y="2190"/>
                  </a:cubicBezTo>
                  <a:cubicBezTo>
                    <a:pt x="10603" y="7030"/>
                    <a:pt x="15905" y="9451"/>
                    <a:pt x="26623" y="14291"/>
                  </a:cubicBezTo>
                  <a:cubicBezTo>
                    <a:pt x="29274" y="8644"/>
                    <a:pt x="30542" y="5763"/>
                    <a:pt x="33193" y="0"/>
                  </a:cubicBezTo>
                  <a:cubicBezTo>
                    <a:pt x="37227" y="1844"/>
                    <a:pt x="39186" y="2766"/>
                    <a:pt x="43220" y="4610"/>
                  </a:cubicBezTo>
                  <a:cubicBezTo>
                    <a:pt x="40569" y="10257"/>
                    <a:pt x="39301" y="13139"/>
                    <a:pt x="36766" y="18786"/>
                  </a:cubicBezTo>
                  <a:cubicBezTo>
                    <a:pt x="54514" y="26854"/>
                    <a:pt x="63504" y="31003"/>
                    <a:pt x="81253" y="39071"/>
                  </a:cubicBezTo>
                  <a:cubicBezTo>
                    <a:pt x="84941" y="40799"/>
                    <a:pt x="87361" y="41606"/>
                    <a:pt x="88629" y="41606"/>
                  </a:cubicBezTo>
                  <a:cubicBezTo>
                    <a:pt x="89897" y="41606"/>
                    <a:pt x="91049" y="41260"/>
                    <a:pt x="92202" y="40454"/>
                  </a:cubicBezTo>
                  <a:cubicBezTo>
                    <a:pt x="93355" y="39647"/>
                    <a:pt x="94392" y="38264"/>
                    <a:pt x="95314" y="36189"/>
                  </a:cubicBezTo>
                  <a:cubicBezTo>
                    <a:pt x="96005" y="34691"/>
                    <a:pt x="96812" y="32616"/>
                    <a:pt x="97619" y="29966"/>
                  </a:cubicBezTo>
                  <a:close/>
                </a:path>
              </a:pathLst>
            </a:custGeom>
            <a:solidFill>
              <a:srgbClr val="FFFFFF"/>
            </a:solidFill>
            <a:ln w="115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5" name="Table 23">
            <a:extLst>
              <a:ext uri="{FF2B5EF4-FFF2-40B4-BE49-F238E27FC236}">
                <a16:creationId xmlns:a16="http://schemas.microsoft.com/office/drawing/2014/main" id="{4FA7ED58-07FD-BA30-D20C-AB6DD28AB2E9}"/>
              </a:ext>
            </a:extLst>
          </p:cNvPr>
          <p:cNvGraphicFramePr>
            <a:graphicFrameLocks noGrp="1"/>
          </p:cNvGraphicFramePr>
          <p:nvPr/>
        </p:nvGraphicFramePr>
        <p:xfrm>
          <a:off x="328298" y="2033470"/>
          <a:ext cx="3729352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352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Mobile Access Gateway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n-IN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Critical mobile security, management &amp; adaptation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24661"/>
                  </a:ext>
                </a:extLst>
              </a:tr>
            </a:tbl>
          </a:graphicData>
        </a:graphic>
      </p:graphicFrame>
      <p:graphicFrame>
        <p:nvGraphicFramePr>
          <p:cNvPr id="17" name="Table 23">
            <a:extLst>
              <a:ext uri="{FF2B5EF4-FFF2-40B4-BE49-F238E27FC236}">
                <a16:creationId xmlns:a16="http://schemas.microsoft.com/office/drawing/2014/main" id="{F16EB422-EAF9-A00A-5499-A7874FABFC5B}"/>
              </a:ext>
            </a:extLst>
          </p:cNvPr>
          <p:cNvGraphicFramePr>
            <a:graphicFrameLocks noGrp="1"/>
          </p:cNvGraphicFramePr>
          <p:nvPr/>
        </p:nvGraphicFramePr>
        <p:xfrm>
          <a:off x="328298" y="2746064"/>
          <a:ext cx="3729352" cy="613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352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API Manager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  <a:tr h="343588">
                <a:tc>
                  <a:txBody>
                    <a:bodyPr/>
                    <a:lstStyle/>
                    <a:p>
                      <a:r>
                        <a:rPr lang="en-IN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Secure API Integration Management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24661"/>
                  </a:ext>
                </a:extLst>
              </a:tr>
            </a:tbl>
          </a:graphicData>
        </a:graphic>
      </p:graphicFrame>
      <p:graphicFrame>
        <p:nvGraphicFramePr>
          <p:cNvPr id="20" name="Table 23">
            <a:extLst>
              <a:ext uri="{FF2B5EF4-FFF2-40B4-BE49-F238E27FC236}">
                <a16:creationId xmlns:a16="http://schemas.microsoft.com/office/drawing/2014/main" id="{53302CA7-05E8-290D-7034-1B1AB2669EAF}"/>
              </a:ext>
            </a:extLst>
          </p:cNvPr>
          <p:cNvGraphicFramePr>
            <a:graphicFrameLocks noGrp="1"/>
          </p:cNvGraphicFramePr>
          <p:nvPr/>
        </p:nvGraphicFramePr>
        <p:xfrm>
          <a:off x="328298" y="3532246"/>
          <a:ext cx="3729352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352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</a:tblGrid>
              <a:tr h="343588">
                <a:tc>
                  <a:txBody>
                    <a:bodyPr/>
                    <a:lstStyle/>
                    <a:p>
                      <a:r>
                        <a:rPr lang="en-US" sz="11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System specific features - e.g., silent app push/removal, call/SMS related policies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</a:tbl>
          </a:graphicData>
        </a:graphic>
      </p:graphicFrame>
      <p:graphicFrame>
        <p:nvGraphicFramePr>
          <p:cNvPr id="34" name="Table 23">
            <a:extLst>
              <a:ext uri="{FF2B5EF4-FFF2-40B4-BE49-F238E27FC236}">
                <a16:creationId xmlns:a16="http://schemas.microsoft.com/office/drawing/2014/main" id="{DE40D966-936A-7026-AC2E-A8C487EF0033}"/>
              </a:ext>
            </a:extLst>
          </p:cNvPr>
          <p:cNvGraphicFramePr>
            <a:graphicFrameLocks noGrp="1"/>
          </p:cNvGraphicFramePr>
          <p:nvPr/>
        </p:nvGraphicFramePr>
        <p:xfrm>
          <a:off x="328298" y="4131560"/>
          <a:ext cx="3729352" cy="69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352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Secure boot &amp; secure execution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  <a:tr h="343588">
                <a:tc>
                  <a:txBody>
                    <a:bodyPr/>
                    <a:lstStyle/>
                    <a:p>
                      <a:r>
                        <a:rPr lang="en-IN" sz="1100" spc="-2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Remote Mobile Device Management, biometrics (Fingerprint and Iris recognition) authentication for access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24661"/>
                  </a:ext>
                </a:extLst>
              </a:tr>
            </a:tbl>
          </a:graphicData>
        </a:graphic>
      </p:graphicFrame>
      <p:graphicFrame>
        <p:nvGraphicFramePr>
          <p:cNvPr id="36" name="Table 23">
            <a:extLst>
              <a:ext uri="{FF2B5EF4-FFF2-40B4-BE49-F238E27FC236}">
                <a16:creationId xmlns:a16="http://schemas.microsoft.com/office/drawing/2014/main" id="{B941A1A2-D16C-3C2B-6317-E5065DDC4B7D}"/>
              </a:ext>
            </a:extLst>
          </p:cNvPr>
          <p:cNvGraphicFramePr>
            <a:graphicFrameLocks noGrp="1"/>
          </p:cNvGraphicFramePr>
          <p:nvPr/>
        </p:nvGraphicFramePr>
        <p:xfrm>
          <a:off x="328298" y="5443467"/>
          <a:ext cx="3729352" cy="69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352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Trust Zone Soc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  <a:tr h="343588">
                <a:tc>
                  <a:txBody>
                    <a:bodyPr/>
                    <a:lstStyle/>
                    <a:p>
                      <a:r>
                        <a:rPr lang="en-US" sz="1100" spc="-2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Pre-fused keys, Signed image storage, interface to biometric Sensors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24661"/>
                  </a:ext>
                </a:extLst>
              </a:tr>
            </a:tbl>
          </a:graphicData>
        </a:graphic>
      </p:graphicFrame>
      <p:graphicFrame>
        <p:nvGraphicFramePr>
          <p:cNvPr id="38" name="Table 23">
            <a:extLst>
              <a:ext uri="{FF2B5EF4-FFF2-40B4-BE49-F238E27FC236}">
                <a16:creationId xmlns:a16="http://schemas.microsoft.com/office/drawing/2014/main" id="{571AE890-112F-5252-AEAA-162246AAA602}"/>
              </a:ext>
            </a:extLst>
          </p:cNvPr>
          <p:cNvGraphicFramePr>
            <a:graphicFrameLocks noGrp="1"/>
          </p:cNvGraphicFramePr>
          <p:nvPr/>
        </p:nvGraphicFramePr>
        <p:xfrm>
          <a:off x="328298" y="5000874"/>
          <a:ext cx="3729352" cy="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352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Tightly integrated with Android 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</a:tbl>
          </a:graphicData>
        </a:graphic>
      </p:graphicFrame>
      <p:graphicFrame>
        <p:nvGraphicFramePr>
          <p:cNvPr id="39" name="Table 23">
            <a:extLst>
              <a:ext uri="{FF2B5EF4-FFF2-40B4-BE49-F238E27FC236}">
                <a16:creationId xmlns:a16="http://schemas.microsoft.com/office/drawing/2014/main" id="{B7069B90-A077-4660-7229-A703F9F299CA}"/>
              </a:ext>
            </a:extLst>
          </p:cNvPr>
          <p:cNvGraphicFramePr>
            <a:graphicFrameLocks noGrp="1"/>
          </p:cNvGraphicFramePr>
          <p:nvPr/>
        </p:nvGraphicFramePr>
        <p:xfrm>
          <a:off x="4458337" y="5408434"/>
          <a:ext cx="2433889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296">
                  <a:extLst>
                    <a:ext uri="{9D8B030D-6E8A-4147-A177-3AD203B41FA5}">
                      <a16:colId xmlns:a16="http://schemas.microsoft.com/office/drawing/2014/main" val="3412901360"/>
                    </a:ext>
                  </a:extLst>
                </a:gridCol>
                <a:gridCol w="811297">
                  <a:extLst>
                    <a:ext uri="{9D8B030D-6E8A-4147-A177-3AD203B41FA5}">
                      <a16:colId xmlns:a16="http://schemas.microsoft.com/office/drawing/2014/main" val="1606980588"/>
                    </a:ext>
                  </a:extLst>
                </a:gridCol>
                <a:gridCol w="811296">
                  <a:extLst>
                    <a:ext uri="{9D8B030D-6E8A-4147-A177-3AD203B41FA5}">
                      <a16:colId xmlns:a16="http://schemas.microsoft.com/office/drawing/2014/main" val="787386094"/>
                    </a:ext>
                  </a:extLst>
                </a:gridCol>
              </a:tblGrid>
              <a:tr h="270000">
                <a:tc gridSpan="3"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Android Linux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271366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endParaRPr lang="en-US" sz="1100" spc="-20" baseline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spc="-20" baseline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spc="-20" baseline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24661"/>
                  </a:ext>
                </a:extLst>
              </a:tr>
            </a:tbl>
          </a:graphicData>
        </a:graphic>
      </p:graphicFrame>
      <p:cxnSp>
        <p:nvCxnSpPr>
          <p:cNvPr id="40" name="Connector: Elbow 43">
            <a:extLst>
              <a:ext uri="{FF2B5EF4-FFF2-40B4-BE49-F238E27FC236}">
                <a16:creationId xmlns:a16="http://schemas.microsoft.com/office/drawing/2014/main" id="{86CA4933-5A9F-480D-AC77-39EAAAA39218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057650" y="2303470"/>
            <a:ext cx="391223" cy="914494"/>
          </a:xfrm>
          <a:prstGeom prst="bentConnector3">
            <a:avLst>
              <a:gd name="adj1" fmla="val 50000"/>
            </a:avLst>
          </a:prstGeom>
          <a:ln w="12700">
            <a:solidFill>
              <a:srgbClr val="3238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8">
            <a:extLst>
              <a:ext uri="{FF2B5EF4-FFF2-40B4-BE49-F238E27FC236}">
                <a16:creationId xmlns:a16="http://schemas.microsoft.com/office/drawing/2014/main" id="{3B57B670-BA70-7137-9D5C-370DD75F5E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057650" y="3052858"/>
            <a:ext cx="391223" cy="165106"/>
          </a:xfrm>
          <a:prstGeom prst="bentConnector3">
            <a:avLst>
              <a:gd name="adj1" fmla="val 50000"/>
            </a:avLst>
          </a:prstGeom>
          <a:ln w="12700">
            <a:solidFill>
              <a:srgbClr val="3238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51">
            <a:extLst>
              <a:ext uri="{FF2B5EF4-FFF2-40B4-BE49-F238E27FC236}">
                <a16:creationId xmlns:a16="http://schemas.microsoft.com/office/drawing/2014/main" id="{45467497-67DD-3402-F75F-C340F5E99605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4057650" y="3217964"/>
            <a:ext cx="391223" cy="1261956"/>
          </a:xfrm>
          <a:prstGeom prst="bentConnector3">
            <a:avLst>
              <a:gd name="adj1" fmla="val 50000"/>
            </a:avLst>
          </a:prstGeom>
          <a:ln w="12700">
            <a:solidFill>
              <a:srgbClr val="3238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D5DE7B-3A6E-D876-3A3E-1D4A498CC205}"/>
              </a:ext>
            </a:extLst>
          </p:cNvPr>
          <p:cNvCxnSpPr>
            <a:cxnSpLocks/>
          </p:cNvCxnSpPr>
          <p:nvPr/>
        </p:nvCxnSpPr>
        <p:spPr>
          <a:xfrm>
            <a:off x="4057650" y="3745606"/>
            <a:ext cx="190499" cy="0"/>
          </a:xfrm>
          <a:prstGeom prst="line">
            <a:avLst/>
          </a:prstGeom>
          <a:ln w="12700">
            <a:solidFill>
              <a:srgbClr val="3238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65">
            <a:extLst>
              <a:ext uri="{FF2B5EF4-FFF2-40B4-BE49-F238E27FC236}">
                <a16:creationId xmlns:a16="http://schemas.microsoft.com/office/drawing/2014/main" id="{FD469C84-A08C-57B5-3509-58F0AC721063}"/>
              </a:ext>
            </a:extLst>
          </p:cNvPr>
          <p:cNvCxnSpPr/>
          <p:nvPr/>
        </p:nvCxnSpPr>
        <p:spPr>
          <a:xfrm flipV="1">
            <a:off x="4057650" y="4163924"/>
            <a:ext cx="1215390" cy="971950"/>
          </a:xfrm>
          <a:prstGeom prst="bentConnector3">
            <a:avLst>
              <a:gd name="adj1" fmla="val 23668"/>
            </a:avLst>
          </a:prstGeom>
          <a:ln w="12700">
            <a:solidFill>
              <a:srgbClr val="3238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68">
            <a:extLst>
              <a:ext uri="{FF2B5EF4-FFF2-40B4-BE49-F238E27FC236}">
                <a16:creationId xmlns:a16="http://schemas.microsoft.com/office/drawing/2014/main" id="{4F2D2FC8-C90F-2F1B-5519-2FB6A0B16F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26892" y="5224126"/>
            <a:ext cx="547271" cy="285750"/>
          </a:xfrm>
          <a:prstGeom prst="bentConnector3">
            <a:avLst>
              <a:gd name="adj1" fmla="val 11752"/>
            </a:avLst>
          </a:prstGeom>
          <a:ln w="12700">
            <a:solidFill>
              <a:srgbClr val="3238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73">
            <a:extLst>
              <a:ext uri="{FF2B5EF4-FFF2-40B4-BE49-F238E27FC236}">
                <a16:creationId xmlns:a16="http://schemas.microsoft.com/office/drawing/2014/main" id="{82A1D4B4-44B4-317E-481E-E418C6335EA1}"/>
              </a:ext>
            </a:extLst>
          </p:cNvPr>
          <p:cNvCxnSpPr>
            <a:cxnSpLocks/>
            <a:stCxn id="39" idx="0"/>
          </p:cNvCxnSpPr>
          <p:nvPr/>
        </p:nvCxnSpPr>
        <p:spPr>
          <a:xfrm rot="5400000" flipH="1" flipV="1">
            <a:off x="5166448" y="4616043"/>
            <a:ext cx="1301224" cy="283558"/>
          </a:xfrm>
          <a:prstGeom prst="bentConnector3">
            <a:avLst/>
          </a:prstGeom>
          <a:ln w="12700">
            <a:solidFill>
              <a:srgbClr val="3238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>
            <a:extLst>
              <a:ext uri="{FF2B5EF4-FFF2-40B4-BE49-F238E27FC236}">
                <a16:creationId xmlns:a16="http://schemas.microsoft.com/office/drawing/2014/main" id="{9DEB37F0-410B-E461-22FE-2B17095546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9760" y="5729885"/>
            <a:ext cx="422245" cy="324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E7501045-11C4-90E6-70A5-09DE1EF9F76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2672" y="5729885"/>
            <a:ext cx="352589" cy="3240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A2C47297-2188-8938-40CE-0C425411231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783" y="5729885"/>
            <a:ext cx="276469" cy="324000"/>
          </a:xfrm>
          <a:prstGeom prst="rect">
            <a:avLst/>
          </a:prstGeom>
        </p:spPr>
      </p:pic>
      <p:pic>
        <p:nvPicPr>
          <p:cNvPr id="87" name="Picture 86" descr="A picture containing text, tableware, plate, dishware&#10;&#10;Description automatically generated">
            <a:extLst>
              <a:ext uri="{FF2B5EF4-FFF2-40B4-BE49-F238E27FC236}">
                <a16:creationId xmlns:a16="http://schemas.microsoft.com/office/drawing/2014/main" id="{3B5D9D86-6B56-91B3-58C2-A9029D26C67F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89"/>
          <a:stretch/>
        </p:blipFill>
        <p:spPr>
          <a:xfrm>
            <a:off x="7270748" y="1121204"/>
            <a:ext cx="2027355" cy="6269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7F4671-82AD-29C6-7B6A-26599D1988EE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IN"/>
              <a:t>Device Lifecycle Management Services</a:t>
            </a:r>
          </a:p>
        </p:txBody>
      </p:sp>
    </p:spTree>
    <p:extLst>
      <p:ext uri="{BB962C8B-B14F-4D97-AF65-F5344CB8AC3E}">
        <p14:creationId xmlns:p14="http://schemas.microsoft.com/office/powerpoint/2010/main" val="2878992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C52F-A5D3-8306-9CDD-0B71B18C6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9D56002-AAEA-B595-01C0-B9DF1E6DDB3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53" y="1216826"/>
            <a:ext cx="6469505" cy="55258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877C57-720D-890C-9C38-A672ED8FAEDF}"/>
              </a:ext>
            </a:extLst>
          </p:cNvPr>
          <p:cNvSpPr/>
          <p:nvPr/>
        </p:nvSpPr>
        <p:spPr>
          <a:xfrm>
            <a:off x="6248400" y="5146612"/>
            <a:ext cx="5486400" cy="133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108000" rIns="108000" bIns="1080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 charset="0"/>
              <a:ea typeface="Lato" charset="0"/>
              <a:cs typeface="Lato" charset="0"/>
              <a:sym typeface="Arial"/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D0E8EFE8-3BB7-9488-47D6-5FF5A9317CAE}"/>
              </a:ext>
            </a:extLst>
          </p:cNvPr>
          <p:cNvSpPr/>
          <p:nvPr/>
        </p:nvSpPr>
        <p:spPr>
          <a:xfrm>
            <a:off x="0" y="1379832"/>
            <a:ext cx="2133599" cy="396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108000" rIns="108000" bIns="1080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 charset="0"/>
              <a:ea typeface="Lato" charset="0"/>
              <a:cs typeface="Lato" charset="0"/>
              <a:sym typeface="Arial"/>
            </a:endParaRP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652037C0-8860-3363-107E-A872120BA900}"/>
              </a:ext>
            </a:extLst>
          </p:cNvPr>
          <p:cNvSpPr/>
          <p:nvPr/>
        </p:nvSpPr>
        <p:spPr>
          <a:xfrm>
            <a:off x="5636604" y="1638485"/>
            <a:ext cx="6105691" cy="747003"/>
          </a:xfrm>
          <a:prstGeom prst="roundRect">
            <a:avLst>
              <a:gd name="adj" fmla="val 5689"/>
            </a:avLst>
          </a:prstGeom>
          <a:solidFill>
            <a:srgbClr val="00B0F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108000" rIns="108000" bIns="108000" numCol="1" spcCol="3810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 Security Driven</a:t>
            </a:r>
          </a:p>
          <a:p>
            <a:pPr marL="127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This includes policy admin, Identity and Access Management (IAM),                  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4AA677-C9C7-8575-4814-7D8BB7268AB1}"/>
              </a:ext>
            </a:extLst>
          </p:cNvPr>
          <p:cNvSpPr txBox="1">
            <a:spLocks/>
          </p:cNvSpPr>
          <p:nvPr/>
        </p:nvSpPr>
        <p:spPr>
          <a:xfrm>
            <a:off x="478678" y="970528"/>
            <a:ext cx="11332322" cy="246298"/>
          </a:xfrm>
          <a:prstGeom prst="rect">
            <a:avLst/>
          </a:prstGeom>
        </p:spPr>
        <p:txBody>
          <a:bodyPr lIns="0" tIns="0" rIns="0" bIns="46800"/>
          <a:lstStyle>
            <a:lvl1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097280" rtl="0" latinLnBrk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  <a:sym typeface="Arial"/>
              </a:rPr>
              <a:t>Ari MDM (Mobile Device Management) is a custom-built module for enterprises to secure and manage mobile devices, applications and content.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F741A9-12F4-0A43-631D-B04847EF4DED}"/>
              </a:ext>
            </a:extLst>
          </p:cNvPr>
          <p:cNvSpPr/>
          <p:nvPr/>
        </p:nvSpPr>
        <p:spPr>
          <a:xfrm>
            <a:off x="437147" y="1438980"/>
            <a:ext cx="2269936" cy="277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Functionalities</a:t>
            </a:r>
          </a:p>
        </p:txBody>
      </p:sp>
      <p:sp>
        <p:nvSpPr>
          <p:cNvPr id="19" name="Rounded Rectangle 37">
            <a:extLst>
              <a:ext uri="{FF2B5EF4-FFF2-40B4-BE49-F238E27FC236}">
                <a16:creationId xmlns:a16="http://schemas.microsoft.com/office/drawing/2014/main" id="{1D2BD1BF-6098-E14D-2974-8E7837BEE539}"/>
              </a:ext>
            </a:extLst>
          </p:cNvPr>
          <p:cNvSpPr/>
          <p:nvPr/>
        </p:nvSpPr>
        <p:spPr>
          <a:xfrm>
            <a:off x="5636604" y="2477042"/>
            <a:ext cx="6105691" cy="1190392"/>
          </a:xfrm>
          <a:prstGeom prst="roundRect">
            <a:avLst>
              <a:gd name="adj" fmla="val 5689"/>
            </a:avLst>
          </a:prstGeom>
          <a:solidFill>
            <a:srgbClr val="0070C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108000" rIns="108000" bIns="108000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2. Data collection</a:t>
            </a:r>
          </a:p>
          <a:p>
            <a:pPr marL="127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     - Device logs</a:t>
            </a:r>
          </a:p>
          <a:p>
            <a:pPr marL="127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     - Usage statistics - No. of Apps installed, uninstalled</a:t>
            </a:r>
          </a:p>
          <a:p>
            <a:pPr marL="127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     - Operational parameter of the devices - Battery health, Temperature</a:t>
            </a:r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90EC9429-5448-0DE8-2876-7D68389B950F}"/>
              </a:ext>
            </a:extLst>
          </p:cNvPr>
          <p:cNvSpPr/>
          <p:nvPr/>
        </p:nvSpPr>
        <p:spPr>
          <a:xfrm>
            <a:off x="5629109" y="3758988"/>
            <a:ext cx="6105691" cy="747003"/>
          </a:xfrm>
          <a:prstGeom prst="roundRect">
            <a:avLst>
              <a:gd name="adj" fmla="val 5689"/>
            </a:avLst>
          </a:prstGeom>
          <a:solidFill>
            <a:srgbClr val="00B0F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108000" rIns="108000" bIns="108000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3. Device Administration</a:t>
            </a:r>
          </a:p>
          <a:p>
            <a:pPr marL="501650" marR="0" lvl="0" indent="-488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       -  App Install/Uninstall, Message Push, Content Push</a:t>
            </a:r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4B6EF4A7-8C15-D285-429B-CFC0C14EBD9D}"/>
              </a:ext>
            </a:extLst>
          </p:cNvPr>
          <p:cNvSpPr/>
          <p:nvPr/>
        </p:nvSpPr>
        <p:spPr>
          <a:xfrm>
            <a:off x="6248400" y="4897800"/>
            <a:ext cx="1143000" cy="360000"/>
          </a:xfrm>
          <a:prstGeom prst="roundRect">
            <a:avLst/>
          </a:prstGeom>
          <a:solidFill>
            <a:srgbClr val="0070C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108000" rIns="108000" bIns="1080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 charset="0"/>
              <a:ea typeface="Lato" charset="0"/>
              <a:cs typeface="Lato" charset="0"/>
              <a:sym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43215A-F3B5-D984-303B-17333FE275B3}"/>
              </a:ext>
            </a:extLst>
          </p:cNvPr>
          <p:cNvSpPr/>
          <p:nvPr/>
        </p:nvSpPr>
        <p:spPr>
          <a:xfrm>
            <a:off x="6324600" y="4919176"/>
            <a:ext cx="5417694" cy="149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Highlights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Lato" charset="0"/>
              <a:ea typeface="Lato" charset="0"/>
              <a:cs typeface="Lato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Can be upgraded over the air, targeting specific devices as necessary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Is compatible with all common handheld device operating platforms and applications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Can add or remove devices from the system as necessary to ensure optimum network efficiency and security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BB9988-66E4-86B4-154D-1E2CF13E54CD}"/>
              </a:ext>
            </a:extLst>
          </p:cNvPr>
          <p:cNvSpPr/>
          <p:nvPr/>
        </p:nvSpPr>
        <p:spPr>
          <a:xfrm>
            <a:off x="425449" y="5748314"/>
            <a:ext cx="1936751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Ari MDM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Platform: Android 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97D479-4D17-0476-6667-E90C6E1C1DA3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IN"/>
              <a:t>MDM Solution Overview</a:t>
            </a:r>
          </a:p>
        </p:txBody>
      </p:sp>
    </p:spTree>
    <p:extLst>
      <p:ext uri="{BB962C8B-B14F-4D97-AF65-F5344CB8AC3E}">
        <p14:creationId xmlns:p14="http://schemas.microsoft.com/office/powerpoint/2010/main" val="2844320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D4B7-25EE-3F03-06BD-8326481E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E1E55D-E61A-6C35-AF53-2CE532C3A15C}"/>
              </a:ext>
            </a:extLst>
          </p:cNvPr>
          <p:cNvGrpSpPr/>
          <p:nvPr/>
        </p:nvGrpSpPr>
        <p:grpSpPr>
          <a:xfrm>
            <a:off x="423704" y="994351"/>
            <a:ext cx="11371587" cy="835460"/>
            <a:chOff x="423704" y="994351"/>
            <a:chExt cx="11371587" cy="835460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C2012D73-EFCE-109A-B7A7-274BCC3FE7FC}"/>
                </a:ext>
              </a:extLst>
            </p:cNvPr>
            <p:cNvSpPr/>
            <p:nvPr/>
          </p:nvSpPr>
          <p:spPr>
            <a:xfrm>
              <a:off x="423704" y="994351"/>
              <a:ext cx="2004863" cy="835460"/>
            </a:xfrm>
            <a:custGeom>
              <a:avLst/>
              <a:gdLst>
                <a:gd name="csX0" fmla="*/ 0 w 2004863"/>
                <a:gd name="csY0" fmla="*/ 83546 h 835460"/>
                <a:gd name="csX1" fmla="*/ 83546 w 2004863"/>
                <a:gd name="csY1" fmla="*/ 0 h 835460"/>
                <a:gd name="csX2" fmla="*/ 1921317 w 2004863"/>
                <a:gd name="csY2" fmla="*/ 0 h 835460"/>
                <a:gd name="csX3" fmla="*/ 2004863 w 2004863"/>
                <a:gd name="csY3" fmla="*/ 83546 h 835460"/>
                <a:gd name="csX4" fmla="*/ 2004863 w 2004863"/>
                <a:gd name="csY4" fmla="*/ 751914 h 835460"/>
                <a:gd name="csX5" fmla="*/ 1921317 w 2004863"/>
                <a:gd name="csY5" fmla="*/ 835460 h 835460"/>
                <a:gd name="csX6" fmla="*/ 83546 w 2004863"/>
                <a:gd name="csY6" fmla="*/ 835460 h 835460"/>
                <a:gd name="csX7" fmla="*/ 0 w 2004863"/>
                <a:gd name="csY7" fmla="*/ 751914 h 835460"/>
                <a:gd name="csX8" fmla="*/ 0 w 2004863"/>
                <a:gd name="csY8" fmla="*/ 83546 h 835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863" h="835460">
                  <a:moveTo>
                    <a:pt x="0" y="83546"/>
                  </a:moveTo>
                  <a:cubicBezTo>
                    <a:pt x="0" y="37405"/>
                    <a:pt x="37405" y="0"/>
                    <a:pt x="83546" y="0"/>
                  </a:cubicBezTo>
                  <a:lnTo>
                    <a:pt x="1921317" y="0"/>
                  </a:lnTo>
                  <a:cubicBezTo>
                    <a:pt x="1967458" y="0"/>
                    <a:pt x="2004863" y="37405"/>
                    <a:pt x="2004863" y="83546"/>
                  </a:cubicBezTo>
                  <a:lnTo>
                    <a:pt x="2004863" y="751914"/>
                  </a:lnTo>
                  <a:cubicBezTo>
                    <a:pt x="2004863" y="798055"/>
                    <a:pt x="1967458" y="835460"/>
                    <a:pt x="1921317" y="835460"/>
                  </a:cubicBezTo>
                  <a:lnTo>
                    <a:pt x="83546" y="835460"/>
                  </a:lnTo>
                  <a:cubicBezTo>
                    <a:pt x="37405" y="835460"/>
                    <a:pt x="0" y="798055"/>
                    <a:pt x="0" y="751914"/>
                  </a:cubicBezTo>
                  <a:lnTo>
                    <a:pt x="0" y="8354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00B0F0"/>
              </a:solidFill>
            </a:ln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20" tIns="81620" rIns="81620" bIns="8162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/>
                <a:t>OTA Updates &amp; Firmware Management</a:t>
              </a: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35DC1B3-2E9D-A681-E616-0C620F98894E}"/>
                </a:ext>
              </a:extLst>
            </p:cNvPr>
            <p:cNvSpPr/>
            <p:nvPr/>
          </p:nvSpPr>
          <p:spPr>
            <a:xfrm>
              <a:off x="2765385" y="994351"/>
              <a:ext cx="2004863" cy="835460"/>
            </a:xfrm>
            <a:custGeom>
              <a:avLst/>
              <a:gdLst>
                <a:gd name="csX0" fmla="*/ 0 w 2004863"/>
                <a:gd name="csY0" fmla="*/ 83546 h 835460"/>
                <a:gd name="csX1" fmla="*/ 83546 w 2004863"/>
                <a:gd name="csY1" fmla="*/ 0 h 835460"/>
                <a:gd name="csX2" fmla="*/ 1921317 w 2004863"/>
                <a:gd name="csY2" fmla="*/ 0 h 835460"/>
                <a:gd name="csX3" fmla="*/ 2004863 w 2004863"/>
                <a:gd name="csY3" fmla="*/ 83546 h 835460"/>
                <a:gd name="csX4" fmla="*/ 2004863 w 2004863"/>
                <a:gd name="csY4" fmla="*/ 751914 h 835460"/>
                <a:gd name="csX5" fmla="*/ 1921317 w 2004863"/>
                <a:gd name="csY5" fmla="*/ 835460 h 835460"/>
                <a:gd name="csX6" fmla="*/ 83546 w 2004863"/>
                <a:gd name="csY6" fmla="*/ 835460 h 835460"/>
                <a:gd name="csX7" fmla="*/ 0 w 2004863"/>
                <a:gd name="csY7" fmla="*/ 751914 h 835460"/>
                <a:gd name="csX8" fmla="*/ 0 w 2004863"/>
                <a:gd name="csY8" fmla="*/ 83546 h 835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863" h="835460">
                  <a:moveTo>
                    <a:pt x="0" y="83546"/>
                  </a:moveTo>
                  <a:cubicBezTo>
                    <a:pt x="0" y="37405"/>
                    <a:pt x="37405" y="0"/>
                    <a:pt x="83546" y="0"/>
                  </a:cubicBezTo>
                  <a:lnTo>
                    <a:pt x="1921317" y="0"/>
                  </a:lnTo>
                  <a:cubicBezTo>
                    <a:pt x="1967458" y="0"/>
                    <a:pt x="2004863" y="37405"/>
                    <a:pt x="2004863" y="83546"/>
                  </a:cubicBezTo>
                  <a:lnTo>
                    <a:pt x="2004863" y="751914"/>
                  </a:lnTo>
                  <a:cubicBezTo>
                    <a:pt x="2004863" y="798055"/>
                    <a:pt x="1967458" y="835460"/>
                    <a:pt x="1921317" y="835460"/>
                  </a:cubicBezTo>
                  <a:lnTo>
                    <a:pt x="83546" y="835460"/>
                  </a:lnTo>
                  <a:cubicBezTo>
                    <a:pt x="37405" y="835460"/>
                    <a:pt x="0" y="798055"/>
                    <a:pt x="0" y="751914"/>
                  </a:cubicBezTo>
                  <a:lnTo>
                    <a:pt x="0" y="8354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00B0F0"/>
              </a:solidFill>
            </a:ln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20" tIns="81620" rIns="81620" bIns="8162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/>
                <a:t>Remote provisioning &amp; Configuration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BA2F9E3-9634-FB67-ED1C-726858EF259E}"/>
                </a:ext>
              </a:extLst>
            </p:cNvPr>
            <p:cNvSpPr/>
            <p:nvPr/>
          </p:nvSpPr>
          <p:spPr>
            <a:xfrm>
              <a:off x="5107066" y="994351"/>
              <a:ext cx="2004863" cy="835460"/>
            </a:xfrm>
            <a:custGeom>
              <a:avLst/>
              <a:gdLst>
                <a:gd name="csX0" fmla="*/ 0 w 2004863"/>
                <a:gd name="csY0" fmla="*/ 83546 h 835460"/>
                <a:gd name="csX1" fmla="*/ 83546 w 2004863"/>
                <a:gd name="csY1" fmla="*/ 0 h 835460"/>
                <a:gd name="csX2" fmla="*/ 1921317 w 2004863"/>
                <a:gd name="csY2" fmla="*/ 0 h 835460"/>
                <a:gd name="csX3" fmla="*/ 2004863 w 2004863"/>
                <a:gd name="csY3" fmla="*/ 83546 h 835460"/>
                <a:gd name="csX4" fmla="*/ 2004863 w 2004863"/>
                <a:gd name="csY4" fmla="*/ 751914 h 835460"/>
                <a:gd name="csX5" fmla="*/ 1921317 w 2004863"/>
                <a:gd name="csY5" fmla="*/ 835460 h 835460"/>
                <a:gd name="csX6" fmla="*/ 83546 w 2004863"/>
                <a:gd name="csY6" fmla="*/ 835460 h 835460"/>
                <a:gd name="csX7" fmla="*/ 0 w 2004863"/>
                <a:gd name="csY7" fmla="*/ 751914 h 835460"/>
                <a:gd name="csX8" fmla="*/ 0 w 2004863"/>
                <a:gd name="csY8" fmla="*/ 83546 h 835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863" h="835460">
                  <a:moveTo>
                    <a:pt x="0" y="83546"/>
                  </a:moveTo>
                  <a:cubicBezTo>
                    <a:pt x="0" y="37405"/>
                    <a:pt x="37405" y="0"/>
                    <a:pt x="83546" y="0"/>
                  </a:cubicBezTo>
                  <a:lnTo>
                    <a:pt x="1921317" y="0"/>
                  </a:lnTo>
                  <a:cubicBezTo>
                    <a:pt x="1967458" y="0"/>
                    <a:pt x="2004863" y="37405"/>
                    <a:pt x="2004863" y="83546"/>
                  </a:cubicBezTo>
                  <a:lnTo>
                    <a:pt x="2004863" y="751914"/>
                  </a:lnTo>
                  <a:cubicBezTo>
                    <a:pt x="2004863" y="798055"/>
                    <a:pt x="1967458" y="835460"/>
                    <a:pt x="1921317" y="835460"/>
                  </a:cubicBezTo>
                  <a:lnTo>
                    <a:pt x="83546" y="835460"/>
                  </a:lnTo>
                  <a:cubicBezTo>
                    <a:pt x="37405" y="835460"/>
                    <a:pt x="0" y="798055"/>
                    <a:pt x="0" y="751914"/>
                  </a:cubicBezTo>
                  <a:lnTo>
                    <a:pt x="0" y="8354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00B0F0"/>
              </a:solidFill>
            </a:ln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20" tIns="81620" rIns="81620" bIns="8162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/>
                <a:t>Remote Administration &amp; Support</a:t>
              </a: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6AA2027-3188-AF32-31F1-363F1350B50B}"/>
                </a:ext>
              </a:extLst>
            </p:cNvPr>
            <p:cNvSpPr/>
            <p:nvPr/>
          </p:nvSpPr>
          <p:spPr>
            <a:xfrm>
              <a:off x="7448747" y="994351"/>
              <a:ext cx="2004863" cy="835460"/>
            </a:xfrm>
            <a:custGeom>
              <a:avLst/>
              <a:gdLst>
                <a:gd name="csX0" fmla="*/ 0 w 2004863"/>
                <a:gd name="csY0" fmla="*/ 83546 h 835460"/>
                <a:gd name="csX1" fmla="*/ 83546 w 2004863"/>
                <a:gd name="csY1" fmla="*/ 0 h 835460"/>
                <a:gd name="csX2" fmla="*/ 1921317 w 2004863"/>
                <a:gd name="csY2" fmla="*/ 0 h 835460"/>
                <a:gd name="csX3" fmla="*/ 2004863 w 2004863"/>
                <a:gd name="csY3" fmla="*/ 83546 h 835460"/>
                <a:gd name="csX4" fmla="*/ 2004863 w 2004863"/>
                <a:gd name="csY4" fmla="*/ 751914 h 835460"/>
                <a:gd name="csX5" fmla="*/ 1921317 w 2004863"/>
                <a:gd name="csY5" fmla="*/ 835460 h 835460"/>
                <a:gd name="csX6" fmla="*/ 83546 w 2004863"/>
                <a:gd name="csY6" fmla="*/ 835460 h 835460"/>
                <a:gd name="csX7" fmla="*/ 0 w 2004863"/>
                <a:gd name="csY7" fmla="*/ 751914 h 835460"/>
                <a:gd name="csX8" fmla="*/ 0 w 2004863"/>
                <a:gd name="csY8" fmla="*/ 83546 h 835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863" h="835460">
                  <a:moveTo>
                    <a:pt x="0" y="83546"/>
                  </a:moveTo>
                  <a:cubicBezTo>
                    <a:pt x="0" y="37405"/>
                    <a:pt x="37405" y="0"/>
                    <a:pt x="83546" y="0"/>
                  </a:cubicBezTo>
                  <a:lnTo>
                    <a:pt x="1921317" y="0"/>
                  </a:lnTo>
                  <a:cubicBezTo>
                    <a:pt x="1967458" y="0"/>
                    <a:pt x="2004863" y="37405"/>
                    <a:pt x="2004863" y="83546"/>
                  </a:cubicBezTo>
                  <a:lnTo>
                    <a:pt x="2004863" y="751914"/>
                  </a:lnTo>
                  <a:cubicBezTo>
                    <a:pt x="2004863" y="798055"/>
                    <a:pt x="1967458" y="835460"/>
                    <a:pt x="1921317" y="835460"/>
                  </a:cubicBezTo>
                  <a:lnTo>
                    <a:pt x="83546" y="835460"/>
                  </a:lnTo>
                  <a:cubicBezTo>
                    <a:pt x="37405" y="835460"/>
                    <a:pt x="0" y="798055"/>
                    <a:pt x="0" y="751914"/>
                  </a:cubicBezTo>
                  <a:lnTo>
                    <a:pt x="0" y="8354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00B0F0"/>
              </a:solidFill>
            </a:ln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20" tIns="81620" rIns="81620" bIns="8162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/>
                <a:t>Credential Management, Device Health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AC4557B-7C32-933D-A231-8D40E16CF0D2}"/>
                </a:ext>
              </a:extLst>
            </p:cNvPr>
            <p:cNvSpPr/>
            <p:nvPr/>
          </p:nvSpPr>
          <p:spPr>
            <a:xfrm>
              <a:off x="9790428" y="994351"/>
              <a:ext cx="2004863" cy="835460"/>
            </a:xfrm>
            <a:custGeom>
              <a:avLst/>
              <a:gdLst>
                <a:gd name="csX0" fmla="*/ 0 w 2004863"/>
                <a:gd name="csY0" fmla="*/ 83546 h 835460"/>
                <a:gd name="csX1" fmla="*/ 83546 w 2004863"/>
                <a:gd name="csY1" fmla="*/ 0 h 835460"/>
                <a:gd name="csX2" fmla="*/ 1921317 w 2004863"/>
                <a:gd name="csY2" fmla="*/ 0 h 835460"/>
                <a:gd name="csX3" fmla="*/ 2004863 w 2004863"/>
                <a:gd name="csY3" fmla="*/ 83546 h 835460"/>
                <a:gd name="csX4" fmla="*/ 2004863 w 2004863"/>
                <a:gd name="csY4" fmla="*/ 751914 h 835460"/>
                <a:gd name="csX5" fmla="*/ 1921317 w 2004863"/>
                <a:gd name="csY5" fmla="*/ 835460 h 835460"/>
                <a:gd name="csX6" fmla="*/ 83546 w 2004863"/>
                <a:gd name="csY6" fmla="*/ 835460 h 835460"/>
                <a:gd name="csX7" fmla="*/ 0 w 2004863"/>
                <a:gd name="csY7" fmla="*/ 751914 h 835460"/>
                <a:gd name="csX8" fmla="*/ 0 w 2004863"/>
                <a:gd name="csY8" fmla="*/ 83546 h 835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863" h="835460">
                  <a:moveTo>
                    <a:pt x="0" y="83546"/>
                  </a:moveTo>
                  <a:cubicBezTo>
                    <a:pt x="0" y="37405"/>
                    <a:pt x="37405" y="0"/>
                    <a:pt x="83546" y="0"/>
                  </a:cubicBezTo>
                  <a:lnTo>
                    <a:pt x="1921317" y="0"/>
                  </a:lnTo>
                  <a:cubicBezTo>
                    <a:pt x="1967458" y="0"/>
                    <a:pt x="2004863" y="37405"/>
                    <a:pt x="2004863" y="83546"/>
                  </a:cubicBezTo>
                  <a:lnTo>
                    <a:pt x="2004863" y="751914"/>
                  </a:lnTo>
                  <a:cubicBezTo>
                    <a:pt x="2004863" y="798055"/>
                    <a:pt x="1967458" y="835460"/>
                    <a:pt x="1921317" y="835460"/>
                  </a:cubicBezTo>
                  <a:lnTo>
                    <a:pt x="83546" y="835460"/>
                  </a:lnTo>
                  <a:cubicBezTo>
                    <a:pt x="37405" y="835460"/>
                    <a:pt x="0" y="798055"/>
                    <a:pt x="0" y="751914"/>
                  </a:cubicBezTo>
                  <a:lnTo>
                    <a:pt x="0" y="8354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00B0F0"/>
              </a:solidFill>
            </a:ln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20" tIns="81620" rIns="81620" bIns="8162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/>
                <a:t>Edge AI Deployment &amp; Orchestration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976CEA-1291-DE98-F906-FE71D85B04A8}"/>
              </a:ext>
            </a:extLst>
          </p:cNvPr>
          <p:cNvGraphicFramePr>
            <a:graphicFrameLocks noGrp="1"/>
          </p:cNvGraphicFramePr>
          <p:nvPr/>
        </p:nvGraphicFramePr>
        <p:xfrm>
          <a:off x="759457" y="2262949"/>
          <a:ext cx="11085096" cy="4084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5032">
                  <a:extLst>
                    <a:ext uri="{9D8B030D-6E8A-4147-A177-3AD203B41FA5}">
                      <a16:colId xmlns:a16="http://schemas.microsoft.com/office/drawing/2014/main" val="2249702309"/>
                    </a:ext>
                  </a:extLst>
                </a:gridCol>
                <a:gridCol w="3695032">
                  <a:extLst>
                    <a:ext uri="{9D8B030D-6E8A-4147-A177-3AD203B41FA5}">
                      <a16:colId xmlns:a16="http://schemas.microsoft.com/office/drawing/2014/main" val="3041825822"/>
                    </a:ext>
                  </a:extLst>
                </a:gridCol>
                <a:gridCol w="3695032">
                  <a:extLst>
                    <a:ext uri="{9D8B030D-6E8A-4147-A177-3AD203B41FA5}">
                      <a16:colId xmlns:a16="http://schemas.microsoft.com/office/drawing/2014/main" val="3007994076"/>
                    </a:ext>
                  </a:extLst>
                </a:gridCol>
              </a:tblGrid>
              <a:tr h="149191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964341"/>
                  </a:ext>
                </a:extLst>
              </a:tr>
              <a:tr h="67258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70C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IoT Device Lifecycle </a:t>
                      </a:r>
                    </a:p>
                    <a:p>
                      <a:pPr algn="ctr"/>
                      <a:r>
                        <a:rPr lang="en-US" sz="1400" b="1">
                          <a:solidFill>
                            <a:srgbClr val="0070C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Management Platform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rgbClr val="0070C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OOB Device Management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rgbClr val="0070C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via Cloud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70C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Edge AI Workload Orchestration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152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Developed IoT device lifecycle management platform for a global tools manufacturer, enabling secure onboarding, OTA updates, and stateful device management.</a:t>
                      </a:r>
                    </a:p>
                    <a:p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Features include robust identity management, seamless cloud-device sync, and optimized firmware rollout—enhancing operational efficiency, reducing downtime, and supporting future AI integration across complex tool ecosystems..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Developed an IoT-based OOB (Out-of-Band) Service Agent framework for secure device onboarding, remote management, and telemetry. </a:t>
                      </a:r>
                    </a:p>
                    <a:p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Enables periodic heartbeats, remote rebooting, and real-time positioning via Qualcomm Aware Services. Supports scalable, secure cloud-device interaction with publish/subscribe models—enhancing visibility, reliability, and centralized control of IoT edge devices.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Scalable, secure, and multi-tenant edge AI solution using NVIDIA Jetson and KubeEdge. </a:t>
                      </a:r>
                    </a:p>
                    <a:p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Enabled automated AI model deployment, seamless integration, and high-scale workload management across 100k+ devices per vendor.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93680"/>
                  </a:ext>
                </a:extLst>
              </a:tr>
            </a:tbl>
          </a:graphicData>
        </a:graphic>
      </p:graphicFrame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68E5EA23-522D-AB8A-DC04-C3F4A0CA1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0695" y="2162685"/>
            <a:ext cx="2255921" cy="150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A4D1A7-5D7C-C8F6-93CF-C0B3647592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6922" y="1975527"/>
            <a:ext cx="2506578" cy="1671052"/>
          </a:xfrm>
          <a:prstGeom prst="rect">
            <a:avLst/>
          </a:prstGeom>
          <a:noFill/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341B41D-C2E4-1070-35A7-065B05425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721" y="2082474"/>
            <a:ext cx="1552074" cy="155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9590A79-17B2-0D43-4598-AF19CC249CF3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IN"/>
              <a:t>Device Lifecycle Management – Use Cases &amp; Experience</a:t>
            </a:r>
          </a:p>
        </p:txBody>
      </p:sp>
    </p:spTree>
    <p:extLst>
      <p:ext uri="{BB962C8B-B14F-4D97-AF65-F5344CB8AC3E}">
        <p14:creationId xmlns:p14="http://schemas.microsoft.com/office/powerpoint/2010/main" val="1523435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C708-6AD7-D7C5-D00B-F1D23D23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nip Single Corner of Rectangle 46">
            <a:extLst>
              <a:ext uri="{FF2B5EF4-FFF2-40B4-BE49-F238E27FC236}">
                <a16:creationId xmlns:a16="http://schemas.microsoft.com/office/drawing/2014/main" id="{8D30E4C8-203E-FE3B-03DB-9BDF72582EDB}"/>
              </a:ext>
            </a:extLst>
          </p:cNvPr>
          <p:cNvSpPr/>
          <p:nvPr/>
        </p:nvSpPr>
        <p:spPr>
          <a:xfrm flipH="1">
            <a:off x="631845" y="4460870"/>
            <a:ext cx="9926617" cy="1159390"/>
          </a:xfrm>
          <a:prstGeom prst="snip1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3C894EE2-E56D-E63C-1C7D-CA82CC5BDF27}"/>
              </a:ext>
            </a:extLst>
          </p:cNvPr>
          <p:cNvSpPr txBox="1">
            <a:spLocks/>
          </p:cNvSpPr>
          <p:nvPr/>
        </p:nvSpPr>
        <p:spPr>
          <a:xfrm>
            <a:off x="579738" y="1693802"/>
            <a:ext cx="6006413" cy="1971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Observability, APM, and Telemetry Engineering</a:t>
            </a:r>
            <a:endParaRPr lang="en-IN" sz="4000">
              <a:solidFill>
                <a:schemeClr val="tx2">
                  <a:lumMod val="90000"/>
                  <a:lumOff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3" name="Picture 52" descr="A computer and other objects&#10;&#10;AI-generated content may be incorrect.">
            <a:extLst>
              <a:ext uri="{FF2B5EF4-FFF2-40B4-BE49-F238E27FC236}">
                <a16:creationId xmlns:a16="http://schemas.microsoft.com/office/drawing/2014/main" id="{EB6E3C33-B704-381B-CB97-E18E10F0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52" y="1693803"/>
            <a:ext cx="5345046" cy="39264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645039-A49A-3191-74EA-B2A8E13F9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084023" y="4516089"/>
            <a:ext cx="1048952" cy="10489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9D4828-C353-FEF0-CAA8-E729D4B55B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059050" y="4612736"/>
            <a:ext cx="551462" cy="5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75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4255-529D-ECAE-2E32-C15B0F9B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CB7C-2BA9-2BC1-F623-F042E9C7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Innominds Observability and Telemetry Engineering Framework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75A029-5907-D0C2-FA36-2A9F02FF50A5}"/>
              </a:ext>
            </a:extLst>
          </p:cNvPr>
          <p:cNvSpPr/>
          <p:nvPr/>
        </p:nvSpPr>
        <p:spPr>
          <a:xfrm>
            <a:off x="0" y="864054"/>
            <a:ext cx="12192000" cy="45752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Databricks Lakehouse on Google Cloud: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 A structured approach to building scalable observability platforms for cloud native and distributed systems.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02688EC-9F25-71AD-F56E-57A495E08279}"/>
              </a:ext>
            </a:extLst>
          </p:cNvPr>
          <p:cNvGrpSpPr/>
          <p:nvPr/>
        </p:nvGrpSpPr>
        <p:grpSpPr>
          <a:xfrm>
            <a:off x="3250271" y="2274763"/>
            <a:ext cx="2904002" cy="3954007"/>
            <a:chOff x="660987" y="1281116"/>
            <a:chExt cx="3324027" cy="39540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4E33787-FC8D-3FF1-2FE7-9E2607FC5B8E}"/>
                </a:ext>
              </a:extLst>
            </p:cNvPr>
            <p:cNvGrpSpPr/>
            <p:nvPr/>
          </p:nvGrpSpPr>
          <p:grpSpPr>
            <a:xfrm>
              <a:off x="660987" y="1281116"/>
              <a:ext cx="3324027" cy="3954007"/>
              <a:chOff x="4369387" y="1687516"/>
              <a:chExt cx="3324027" cy="3954007"/>
            </a:xfrm>
          </p:grpSpPr>
          <p:cxnSp>
            <p:nvCxnSpPr>
              <p:cNvPr id="10" name="Connector: Elbow 31">
                <a:extLst>
                  <a:ext uri="{FF2B5EF4-FFF2-40B4-BE49-F238E27FC236}">
                    <a16:creationId xmlns:a16="http://schemas.microsoft.com/office/drawing/2014/main" id="{2DA052F5-841B-DE12-5323-00264F9F95E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944098" y="2213269"/>
                <a:ext cx="3853543" cy="3002965"/>
              </a:xfrm>
              <a:prstGeom prst="bentConnector3">
                <a:avLst>
                  <a:gd name="adj1" fmla="val 282"/>
                </a:avLst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: Elbow 32">
                <a:extLst>
                  <a:ext uri="{FF2B5EF4-FFF2-40B4-BE49-F238E27FC236}">
                    <a16:creationId xmlns:a16="http://schemas.microsoft.com/office/drawing/2014/main" id="{1DAEDB4B-7AB7-160C-78B9-2BD554AA326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146410" y="2188174"/>
                <a:ext cx="3626133" cy="2825747"/>
              </a:xfrm>
              <a:prstGeom prst="bentConnector3">
                <a:avLst>
                  <a:gd name="adj1" fmla="val -168"/>
                </a:avLst>
              </a:prstGeom>
              <a:ln>
                <a:solidFill>
                  <a:srgbClr val="00B0F0"/>
                </a:solidFill>
                <a:prstDash val="sysDash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2A55CEB-7019-FB89-7A9C-EAAAFD7C8CD4}"/>
                  </a:ext>
                </a:extLst>
              </p:cNvPr>
              <p:cNvCxnSpPr/>
              <p:nvPr/>
            </p:nvCxnSpPr>
            <p:spPr>
              <a:xfrm>
                <a:off x="4369387" y="5641523"/>
                <a:ext cx="3119068" cy="0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EF0B5DB-121C-0407-A430-75C84E3F8419}"/>
                  </a:ext>
                </a:extLst>
              </p:cNvPr>
              <p:cNvGrpSpPr/>
              <p:nvPr/>
            </p:nvGrpSpPr>
            <p:grpSpPr>
              <a:xfrm>
                <a:off x="7076323" y="1687516"/>
                <a:ext cx="617091" cy="225410"/>
                <a:chOff x="7076323" y="1687516"/>
                <a:chExt cx="617091" cy="225410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77D69574-A996-5A04-331C-2B73F1C439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76323" y="1800220"/>
                  <a:ext cx="617091" cy="0"/>
                </a:xfrm>
                <a:prstGeom prst="straightConnector1">
                  <a:avLst/>
                </a:prstGeom>
                <a:ln w="82550">
                  <a:solidFill>
                    <a:srgbClr val="00B0F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Isosceles Triangle 36">
                  <a:extLst>
                    <a:ext uri="{FF2B5EF4-FFF2-40B4-BE49-F238E27FC236}">
                      <a16:creationId xmlns:a16="http://schemas.microsoft.com/office/drawing/2014/main" id="{5FFD7A81-A0BD-5CB1-5E8E-8C185508DB95}"/>
                    </a:ext>
                  </a:extLst>
                </p:cNvPr>
                <p:cNvSpPr/>
                <p:nvPr/>
              </p:nvSpPr>
              <p:spPr>
                <a:xfrm rot="5400000">
                  <a:off x="7305425" y="1703062"/>
                  <a:ext cx="225410" cy="194318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D57D07-91E1-5A27-6128-E3FAA361B713}"/>
                </a:ext>
              </a:extLst>
            </p:cNvPr>
            <p:cNvSpPr txBox="1"/>
            <p:nvPr/>
          </p:nvSpPr>
          <p:spPr>
            <a:xfrm>
              <a:off x="838203" y="1846454"/>
              <a:ext cx="261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Telemetry Ingestion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CF6E61-6D3F-25F1-214F-7583CCDABB91}"/>
                </a:ext>
              </a:extLst>
            </p:cNvPr>
            <p:cNvSpPr txBox="1"/>
            <p:nvPr/>
          </p:nvSpPr>
          <p:spPr>
            <a:xfrm>
              <a:off x="838201" y="2263546"/>
              <a:ext cx="2617267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Bef>
                  <a:spcPts val="1200"/>
                </a:spcBef>
                <a:buBlip>
                  <a:blip r:embed="rId3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Streaming ingestion using Pub/Sub or Kafka</a:t>
              </a:r>
            </a:p>
            <a:p>
              <a:pPr marL="171450" indent="-171450">
                <a:spcBef>
                  <a:spcPts val="1200"/>
                </a:spcBef>
                <a:buBlip>
                  <a:blip r:embed="rId3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Log ingestion pipelines using Cloud Logging</a:t>
              </a:r>
            </a:p>
            <a:p>
              <a:pPr marL="171450" indent="-171450">
                <a:spcBef>
                  <a:spcPts val="1200"/>
                </a:spcBef>
                <a:buBlip>
                  <a:blip r:embed="rId3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Telemetry normalization and schema standardization</a:t>
              </a:r>
            </a:p>
            <a:p>
              <a:pPr marL="171450" indent="-171450">
                <a:spcBef>
                  <a:spcPts val="1200"/>
                </a:spcBef>
                <a:buBlip>
                  <a:blip r:embed="rId3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Context enrichment for service and transaction level telemetry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4C3702-4129-CB2A-2AE1-4795D71B85CD}"/>
              </a:ext>
            </a:extLst>
          </p:cNvPr>
          <p:cNvGrpSpPr/>
          <p:nvPr/>
        </p:nvGrpSpPr>
        <p:grpSpPr>
          <a:xfrm>
            <a:off x="6314334" y="2274763"/>
            <a:ext cx="2904002" cy="3954007"/>
            <a:chOff x="660987" y="1281116"/>
            <a:chExt cx="3324027" cy="395400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5848715-77E2-3267-AD46-F55B4AB63AB4}"/>
                </a:ext>
              </a:extLst>
            </p:cNvPr>
            <p:cNvGrpSpPr/>
            <p:nvPr/>
          </p:nvGrpSpPr>
          <p:grpSpPr>
            <a:xfrm>
              <a:off x="660987" y="1281116"/>
              <a:ext cx="3324027" cy="3954007"/>
              <a:chOff x="4369387" y="1687516"/>
              <a:chExt cx="3324027" cy="3954007"/>
            </a:xfrm>
          </p:grpSpPr>
          <p:cxnSp>
            <p:nvCxnSpPr>
              <p:cNvPr id="22" name="Connector: Elbow 23">
                <a:extLst>
                  <a:ext uri="{FF2B5EF4-FFF2-40B4-BE49-F238E27FC236}">
                    <a16:creationId xmlns:a16="http://schemas.microsoft.com/office/drawing/2014/main" id="{063D80FD-833B-8099-0B54-4F9FCB1813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944098" y="2213269"/>
                <a:ext cx="3853543" cy="3002965"/>
              </a:xfrm>
              <a:prstGeom prst="bentConnector3">
                <a:avLst>
                  <a:gd name="adj1" fmla="val 282"/>
                </a:avLst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or: Elbow 24">
                <a:extLst>
                  <a:ext uri="{FF2B5EF4-FFF2-40B4-BE49-F238E27FC236}">
                    <a16:creationId xmlns:a16="http://schemas.microsoft.com/office/drawing/2014/main" id="{51405864-1849-A9FD-FD91-0E13D3F8914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146410" y="2188174"/>
                <a:ext cx="3626133" cy="2825747"/>
              </a:xfrm>
              <a:prstGeom prst="bentConnector3">
                <a:avLst>
                  <a:gd name="adj1" fmla="val -168"/>
                </a:avLst>
              </a:prstGeom>
              <a:ln>
                <a:solidFill>
                  <a:srgbClr val="00B0F0"/>
                </a:solidFill>
                <a:prstDash val="sysDash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ECC6986-FEBD-3FF8-5A71-83CC674BED97}"/>
                  </a:ext>
                </a:extLst>
              </p:cNvPr>
              <p:cNvCxnSpPr/>
              <p:nvPr/>
            </p:nvCxnSpPr>
            <p:spPr>
              <a:xfrm>
                <a:off x="4369387" y="5641523"/>
                <a:ext cx="3119068" cy="0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8B1D91-6CBA-71E0-1D6F-AE710B23DFC3}"/>
                  </a:ext>
                </a:extLst>
              </p:cNvPr>
              <p:cNvGrpSpPr/>
              <p:nvPr/>
            </p:nvGrpSpPr>
            <p:grpSpPr>
              <a:xfrm>
                <a:off x="7076323" y="1687516"/>
                <a:ext cx="617091" cy="225410"/>
                <a:chOff x="7076323" y="1687516"/>
                <a:chExt cx="617091" cy="225410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C9A17ECE-86BF-F07C-52B4-EF333C5E59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76323" y="1800220"/>
                  <a:ext cx="617091" cy="0"/>
                </a:xfrm>
                <a:prstGeom prst="straightConnector1">
                  <a:avLst/>
                </a:prstGeom>
                <a:ln w="82550">
                  <a:solidFill>
                    <a:srgbClr val="00B0F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Isosceles Triangle 28">
                  <a:extLst>
                    <a:ext uri="{FF2B5EF4-FFF2-40B4-BE49-F238E27FC236}">
                      <a16:creationId xmlns:a16="http://schemas.microsoft.com/office/drawing/2014/main" id="{29897008-8706-51AB-D2F9-E13DF206292D}"/>
                    </a:ext>
                  </a:extLst>
                </p:cNvPr>
                <p:cNvSpPr/>
                <p:nvPr/>
              </p:nvSpPr>
              <p:spPr>
                <a:xfrm rot="5400000">
                  <a:off x="7305425" y="1703062"/>
                  <a:ext cx="225410" cy="194318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EFE2E9B-A931-4132-77E6-BAF6302F2716}"/>
                </a:ext>
              </a:extLst>
            </p:cNvPr>
            <p:cNvSpPr txBox="1"/>
            <p:nvPr/>
          </p:nvSpPr>
          <p:spPr>
            <a:xfrm>
              <a:off x="838202" y="1846454"/>
              <a:ext cx="2825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Processing and Correlation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EFB66-7A0C-55C8-9F80-C3170A434DB0}"/>
                </a:ext>
              </a:extLst>
            </p:cNvPr>
            <p:cNvSpPr txBox="1"/>
            <p:nvPr/>
          </p:nvSpPr>
          <p:spPr>
            <a:xfrm>
              <a:off x="853835" y="2241319"/>
              <a:ext cx="2617267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Bef>
                  <a:spcPts val="1200"/>
                </a:spcBef>
                <a:buBlip>
                  <a:blip r:embed="rId4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Spark Structured Streaming pipelines on Databricks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4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Correlation of logs, metrics, and traces across service interactions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4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Aggregation of latency distributions and service level metrics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4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Identification of cross service dependencies and transaction flows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6333D3C-B45D-C02F-B810-D6409E41CDD4}"/>
              </a:ext>
            </a:extLst>
          </p:cNvPr>
          <p:cNvGrpSpPr/>
          <p:nvPr/>
        </p:nvGrpSpPr>
        <p:grpSpPr>
          <a:xfrm>
            <a:off x="9378396" y="2290308"/>
            <a:ext cx="2736252" cy="4036085"/>
            <a:chOff x="7729626" y="1296661"/>
            <a:chExt cx="3132014" cy="4036085"/>
          </a:xfrm>
        </p:grpSpPr>
        <p:cxnSp>
          <p:nvCxnSpPr>
            <p:cNvPr id="38" name="Connector: Elbow 15">
              <a:extLst>
                <a:ext uri="{FF2B5EF4-FFF2-40B4-BE49-F238E27FC236}">
                  <a16:creationId xmlns:a16="http://schemas.microsoft.com/office/drawing/2014/main" id="{03BE5DC3-6690-5397-E996-74BAD918501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04337" y="1806869"/>
              <a:ext cx="3853543" cy="3002965"/>
            </a:xfrm>
            <a:prstGeom prst="bentConnector3">
              <a:avLst>
                <a:gd name="adj1" fmla="val 282"/>
              </a:avLst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16">
              <a:extLst>
                <a:ext uri="{FF2B5EF4-FFF2-40B4-BE49-F238E27FC236}">
                  <a16:creationId xmlns:a16="http://schemas.microsoft.com/office/drawing/2014/main" id="{C7AEEAF2-749E-2DD6-0285-5B27160D079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506649" y="1781774"/>
              <a:ext cx="3626133" cy="2825747"/>
            </a:xfrm>
            <a:prstGeom prst="bentConnector3">
              <a:avLst>
                <a:gd name="adj1" fmla="val -168"/>
              </a:avLst>
            </a:prstGeom>
            <a:ln>
              <a:solidFill>
                <a:srgbClr val="00B0F0"/>
              </a:solidFill>
              <a:prstDash val="sys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2E738C8-E630-653A-FEE6-E599C717D394}"/>
                </a:ext>
              </a:extLst>
            </p:cNvPr>
            <p:cNvCxnSpPr/>
            <p:nvPr/>
          </p:nvCxnSpPr>
          <p:spPr>
            <a:xfrm>
              <a:off x="7729626" y="5235123"/>
              <a:ext cx="3119068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D2C5B6-C083-FF7B-D980-7A40AFFA2DAB}"/>
                </a:ext>
              </a:extLst>
            </p:cNvPr>
            <p:cNvSpPr txBox="1"/>
            <p:nvPr/>
          </p:nvSpPr>
          <p:spPr>
            <a:xfrm>
              <a:off x="7906841" y="1847163"/>
              <a:ext cx="2760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Observability Data Platform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F2743FE-116E-2C2B-8555-5572B98DA639}"/>
                </a:ext>
              </a:extLst>
            </p:cNvPr>
            <p:cNvSpPr/>
            <p:nvPr/>
          </p:nvSpPr>
          <p:spPr>
            <a:xfrm>
              <a:off x="10635430" y="1296661"/>
              <a:ext cx="194318" cy="194318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C162199-53EB-F34E-888D-B9B366EE0FD3}"/>
                </a:ext>
              </a:extLst>
            </p:cNvPr>
            <p:cNvSpPr/>
            <p:nvPr/>
          </p:nvSpPr>
          <p:spPr>
            <a:xfrm>
              <a:off x="10667322" y="5138428"/>
              <a:ext cx="194318" cy="19431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2A9F84-50E3-46B6-379E-996B5CC34233}"/>
                </a:ext>
              </a:extLst>
            </p:cNvPr>
            <p:cNvSpPr txBox="1"/>
            <p:nvPr/>
          </p:nvSpPr>
          <p:spPr>
            <a:xfrm>
              <a:off x="7929816" y="2241319"/>
              <a:ext cx="2617266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Bef>
                  <a:spcPts val="1200"/>
                </a:spcBef>
                <a:buBlip>
                  <a:blip r:embed="rId5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Delta Lake based storage for logs, metrics, and trace datasets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5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Time series optimized storage for large telemetry volumes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5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Historical telemetry retention for performance and reliability analysis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5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Unified analytics layer for operational and engineering teams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5C5010-6087-F73A-23D9-AF631B999AE4}"/>
              </a:ext>
            </a:extLst>
          </p:cNvPr>
          <p:cNvGrpSpPr/>
          <p:nvPr/>
        </p:nvGrpSpPr>
        <p:grpSpPr>
          <a:xfrm>
            <a:off x="186208" y="2274763"/>
            <a:ext cx="2904002" cy="3954007"/>
            <a:chOff x="660987" y="1281116"/>
            <a:chExt cx="3324027" cy="3954007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0919889-99A8-CE7F-F6E1-0071AD0E1D15}"/>
                </a:ext>
              </a:extLst>
            </p:cNvPr>
            <p:cNvGrpSpPr/>
            <p:nvPr/>
          </p:nvGrpSpPr>
          <p:grpSpPr>
            <a:xfrm>
              <a:off x="660987" y="1281116"/>
              <a:ext cx="3324027" cy="3954007"/>
              <a:chOff x="4369387" y="1687516"/>
              <a:chExt cx="3324027" cy="3954007"/>
            </a:xfrm>
          </p:grpSpPr>
          <p:cxnSp>
            <p:nvCxnSpPr>
              <p:cNvPr id="61" name="Connector: Elbow 8">
                <a:extLst>
                  <a:ext uri="{FF2B5EF4-FFF2-40B4-BE49-F238E27FC236}">
                    <a16:creationId xmlns:a16="http://schemas.microsoft.com/office/drawing/2014/main" id="{EC47F44F-8A43-075E-AE2B-927E1EAE17C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944098" y="2213269"/>
                <a:ext cx="3853543" cy="3002965"/>
              </a:xfrm>
              <a:prstGeom prst="bentConnector3">
                <a:avLst>
                  <a:gd name="adj1" fmla="val 282"/>
                </a:avLst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nector: Elbow 9">
                <a:extLst>
                  <a:ext uri="{FF2B5EF4-FFF2-40B4-BE49-F238E27FC236}">
                    <a16:creationId xmlns:a16="http://schemas.microsoft.com/office/drawing/2014/main" id="{B519AB69-6A2E-7113-307F-193B4359216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146410" y="2188174"/>
                <a:ext cx="3626133" cy="2825747"/>
              </a:xfrm>
              <a:prstGeom prst="bentConnector3">
                <a:avLst>
                  <a:gd name="adj1" fmla="val -168"/>
                </a:avLst>
              </a:prstGeom>
              <a:ln>
                <a:solidFill>
                  <a:srgbClr val="00B0F0"/>
                </a:solidFill>
                <a:prstDash val="sysDash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2BD6192-546F-A76F-9630-FB3CA4DAA617}"/>
                  </a:ext>
                </a:extLst>
              </p:cNvPr>
              <p:cNvCxnSpPr/>
              <p:nvPr/>
            </p:nvCxnSpPr>
            <p:spPr>
              <a:xfrm>
                <a:off x="4369387" y="5641523"/>
                <a:ext cx="3119068" cy="0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FE2EF41-AE3E-32FD-73DA-5AF603AC82B0}"/>
                  </a:ext>
                </a:extLst>
              </p:cNvPr>
              <p:cNvGrpSpPr/>
              <p:nvPr/>
            </p:nvGrpSpPr>
            <p:grpSpPr>
              <a:xfrm>
                <a:off x="7076323" y="1687516"/>
                <a:ext cx="617091" cy="225410"/>
                <a:chOff x="7076323" y="1687516"/>
                <a:chExt cx="617091" cy="225410"/>
              </a:xfrm>
            </p:grpSpPr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13B54278-A0E4-304F-4285-B947DFEF0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76323" y="1800220"/>
                  <a:ext cx="617091" cy="0"/>
                </a:xfrm>
                <a:prstGeom prst="straightConnector1">
                  <a:avLst/>
                </a:prstGeom>
                <a:ln w="82550">
                  <a:solidFill>
                    <a:srgbClr val="00B0F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Isosceles Triangle 14">
                  <a:extLst>
                    <a:ext uri="{FF2B5EF4-FFF2-40B4-BE49-F238E27FC236}">
                      <a16:creationId xmlns:a16="http://schemas.microsoft.com/office/drawing/2014/main" id="{AC6E30CE-C1A2-A4C4-B5F9-193F6C6DF37F}"/>
                    </a:ext>
                  </a:extLst>
                </p:cNvPr>
                <p:cNvSpPr/>
                <p:nvPr/>
              </p:nvSpPr>
              <p:spPr>
                <a:xfrm rot="5400000">
                  <a:off x="7305425" y="1703062"/>
                  <a:ext cx="225410" cy="194318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48D8A01-8025-CBDD-A88D-4990F119EC08}"/>
                </a:ext>
              </a:extLst>
            </p:cNvPr>
            <p:cNvSpPr txBox="1"/>
            <p:nvPr/>
          </p:nvSpPr>
          <p:spPr>
            <a:xfrm>
              <a:off x="838203" y="1846454"/>
              <a:ext cx="27743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Telemetry Instrumentation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D1F65ED-05A5-3357-9A84-AF527F1E964A}"/>
                </a:ext>
              </a:extLst>
            </p:cNvPr>
            <p:cNvSpPr txBox="1"/>
            <p:nvPr/>
          </p:nvSpPr>
          <p:spPr>
            <a:xfrm>
              <a:off x="836603" y="2255155"/>
              <a:ext cx="2617267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Bef>
                  <a:spcPts val="1200"/>
                </a:spcBef>
                <a:buBlip>
                  <a:blip r:embed="rId6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Open Telemetry based instrumentation across services and APIs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6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Metrics collection through Prometheus exporters and service instrumentation</a:t>
              </a:r>
            </a:p>
            <a:p>
              <a:pPr marL="171450" indent="-171450">
                <a:spcBef>
                  <a:spcPts val="1200"/>
                </a:spcBef>
                <a:buBlip>
                  <a:blip r:embed="rId6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Centralized logging integration across application components</a:t>
              </a:r>
            </a:p>
            <a:p>
              <a:pPr marL="171450" indent="-171450">
                <a:spcBef>
                  <a:spcPts val="1200"/>
                </a:spcBef>
                <a:buBlip>
                  <a:blip r:embed="rId6"/>
                </a:buBlip>
              </a:pPr>
              <a:r>
                <a:rPr lang="en-US" sz="12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Telemetry capture from applications, backend services, and edge systems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EB5E738-ADFD-8E9F-251C-51F2D15BE787}"/>
              </a:ext>
            </a:extLst>
          </p:cNvPr>
          <p:cNvGrpSpPr/>
          <p:nvPr/>
        </p:nvGrpSpPr>
        <p:grpSpPr>
          <a:xfrm>
            <a:off x="1090346" y="2058335"/>
            <a:ext cx="970054" cy="648294"/>
            <a:chOff x="1123212" y="1735556"/>
            <a:chExt cx="795466" cy="531617"/>
          </a:xfrm>
        </p:grpSpPr>
        <p:sp>
          <p:nvSpPr>
            <p:cNvPr id="76" name="Arrow: Pentagon 45">
              <a:extLst>
                <a:ext uri="{FF2B5EF4-FFF2-40B4-BE49-F238E27FC236}">
                  <a16:creationId xmlns:a16="http://schemas.microsoft.com/office/drawing/2014/main" id="{1EB5618B-7A4F-E848-4406-7C0DB3BCCF7D}"/>
                </a:ext>
              </a:extLst>
            </p:cNvPr>
            <p:cNvSpPr/>
            <p:nvPr/>
          </p:nvSpPr>
          <p:spPr>
            <a:xfrm>
              <a:off x="1123212" y="1735556"/>
              <a:ext cx="795466" cy="531617"/>
            </a:xfrm>
            <a:prstGeom prst="homePlate">
              <a:avLst>
                <a:gd name="adj" fmla="val 32481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E064107-A50E-68A5-0753-DDB6F3561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 flipH="1">
              <a:off x="1228778" y="1789744"/>
              <a:ext cx="428965" cy="428966"/>
            </a:xfrm>
            <a:prstGeom prst="rect">
              <a:avLst/>
            </a:prstGeom>
          </p:spPr>
        </p:pic>
      </p:grpSp>
      <p:sp>
        <p:nvSpPr>
          <p:cNvPr id="79" name="Arrow: Pentagon 46">
            <a:extLst>
              <a:ext uri="{FF2B5EF4-FFF2-40B4-BE49-F238E27FC236}">
                <a16:creationId xmlns:a16="http://schemas.microsoft.com/office/drawing/2014/main" id="{91306150-9BBD-1F60-8158-26ED88456A4D}"/>
              </a:ext>
            </a:extLst>
          </p:cNvPr>
          <p:cNvSpPr/>
          <p:nvPr/>
        </p:nvSpPr>
        <p:spPr>
          <a:xfrm>
            <a:off x="4107210" y="2058335"/>
            <a:ext cx="970054" cy="648294"/>
          </a:xfrm>
          <a:prstGeom prst="homePlate">
            <a:avLst>
              <a:gd name="adj" fmla="val 3248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ECA5C4B-590C-291F-3BDD-8B2508FAD630}"/>
              </a:ext>
            </a:extLst>
          </p:cNvPr>
          <p:cNvGrpSpPr/>
          <p:nvPr/>
        </p:nvGrpSpPr>
        <p:grpSpPr>
          <a:xfrm>
            <a:off x="7178501" y="2058335"/>
            <a:ext cx="970054" cy="648294"/>
            <a:chOff x="7211367" y="1735556"/>
            <a:chExt cx="795466" cy="531617"/>
          </a:xfrm>
        </p:grpSpPr>
        <p:sp>
          <p:nvSpPr>
            <p:cNvPr id="82" name="Arrow: Pentagon 47">
              <a:extLst>
                <a:ext uri="{FF2B5EF4-FFF2-40B4-BE49-F238E27FC236}">
                  <a16:creationId xmlns:a16="http://schemas.microsoft.com/office/drawing/2014/main" id="{F869473E-0D75-2254-D324-C670DBCAD443}"/>
                </a:ext>
              </a:extLst>
            </p:cNvPr>
            <p:cNvSpPr/>
            <p:nvPr/>
          </p:nvSpPr>
          <p:spPr>
            <a:xfrm>
              <a:off x="7211367" y="1735556"/>
              <a:ext cx="795466" cy="531617"/>
            </a:xfrm>
            <a:prstGeom prst="homePlate">
              <a:avLst>
                <a:gd name="adj" fmla="val 32481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6B9A53E-276B-EDCD-2F93-4F1696C5D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7293771" y="1773955"/>
              <a:ext cx="454816" cy="454818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56B4FE3-644E-66C9-AEEB-C12243ECE30F}"/>
              </a:ext>
            </a:extLst>
          </p:cNvPr>
          <p:cNvGrpSpPr/>
          <p:nvPr/>
        </p:nvGrpSpPr>
        <p:grpSpPr>
          <a:xfrm>
            <a:off x="10260678" y="2058335"/>
            <a:ext cx="970054" cy="648294"/>
            <a:chOff x="10293544" y="1735556"/>
            <a:chExt cx="795466" cy="531617"/>
          </a:xfrm>
        </p:grpSpPr>
        <p:sp>
          <p:nvSpPr>
            <p:cNvPr id="85" name="Arrow: Pentagon 48">
              <a:extLst>
                <a:ext uri="{FF2B5EF4-FFF2-40B4-BE49-F238E27FC236}">
                  <a16:creationId xmlns:a16="http://schemas.microsoft.com/office/drawing/2014/main" id="{B5193734-FCFD-F954-9958-568083B6DDF8}"/>
                </a:ext>
              </a:extLst>
            </p:cNvPr>
            <p:cNvSpPr/>
            <p:nvPr/>
          </p:nvSpPr>
          <p:spPr>
            <a:xfrm>
              <a:off x="10293544" y="1735556"/>
              <a:ext cx="795466" cy="531617"/>
            </a:xfrm>
            <a:prstGeom prst="homePlate">
              <a:avLst>
                <a:gd name="adj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F7652569-5EF8-73DA-CEAC-E1318AABB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0456705" y="1768210"/>
              <a:ext cx="477994" cy="477996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95DADE8-B307-D40B-39B9-92CEA29FF164}"/>
              </a:ext>
            </a:extLst>
          </p:cNvPr>
          <p:cNvSpPr txBox="1"/>
          <p:nvPr/>
        </p:nvSpPr>
        <p:spPr>
          <a:xfrm>
            <a:off x="200833" y="1402328"/>
            <a:ext cx="2749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Standardized instrumentation across application, platform, and infrastructure layers. </a:t>
            </a:r>
            <a:endParaRPr lang="en-IN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89090F8-57FC-6DCD-9D00-F229E9767A80}"/>
              </a:ext>
            </a:extLst>
          </p:cNvPr>
          <p:cNvSpPr txBox="1"/>
          <p:nvPr/>
        </p:nvSpPr>
        <p:spPr>
          <a:xfrm>
            <a:off x="3217697" y="1402328"/>
            <a:ext cx="274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 throughput ingestion pipelines for large scale telemetry streams. </a:t>
            </a:r>
            <a:endParaRPr lang="en-IN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B0E496C-F984-5372-3D1B-25854C532186}"/>
              </a:ext>
            </a:extLst>
          </p:cNvPr>
          <p:cNvSpPr txBox="1"/>
          <p:nvPr/>
        </p:nvSpPr>
        <p:spPr>
          <a:xfrm>
            <a:off x="6249881" y="1402328"/>
            <a:ext cx="274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 time processing and correlation of observability signals. </a:t>
            </a:r>
            <a:endParaRPr lang="en-IN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F488E2-B484-233D-AFBC-86875832F44D}"/>
              </a:ext>
            </a:extLst>
          </p:cNvPr>
          <p:cNvSpPr txBox="1"/>
          <p:nvPr/>
        </p:nvSpPr>
        <p:spPr>
          <a:xfrm>
            <a:off x="9393021" y="1402328"/>
            <a:ext cx="274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telemetry Lakehouse for analytics and monitoring. </a:t>
            </a:r>
            <a:endParaRPr lang="en-IN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752F-EF2B-2EE3-FD78-B9E75E4F79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32847" y="2112591"/>
            <a:ext cx="547846" cy="54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66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51C0-E705-E025-1CE4-A1B00127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0600-814A-2579-5536-269930CB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APM and Operational Intelligence Layer</a:t>
            </a:r>
            <a:endParaRPr lang="en-US" noProof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87AE9ED-D63F-BF60-16AB-9AEECCB51A84}"/>
              </a:ext>
            </a:extLst>
          </p:cNvPr>
          <p:cNvGrpSpPr/>
          <p:nvPr/>
        </p:nvGrpSpPr>
        <p:grpSpPr>
          <a:xfrm>
            <a:off x="381000" y="881743"/>
            <a:ext cx="11309916" cy="5596173"/>
            <a:chOff x="381000" y="881743"/>
            <a:chExt cx="11309916" cy="559617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43751D6-2BC2-BE7C-1DA9-A7FC8B533D09}"/>
                </a:ext>
              </a:extLst>
            </p:cNvPr>
            <p:cNvSpPr/>
            <p:nvPr/>
          </p:nvSpPr>
          <p:spPr>
            <a:xfrm>
              <a:off x="381000" y="892628"/>
              <a:ext cx="3233057" cy="5529943"/>
            </a:xfrm>
            <a:prstGeom prst="roundRect">
              <a:avLst>
                <a:gd name="adj" fmla="val 6230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33FE40-A9CB-2A0E-E108-4FE3CE75686B}"/>
                </a:ext>
              </a:extLst>
            </p:cNvPr>
            <p:cNvGrpSpPr/>
            <p:nvPr/>
          </p:nvGrpSpPr>
          <p:grpSpPr>
            <a:xfrm>
              <a:off x="3255175" y="881743"/>
              <a:ext cx="8435741" cy="5596173"/>
              <a:chOff x="3255175" y="930275"/>
              <a:chExt cx="8435741" cy="559617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0E7D089-9F1A-77B8-064F-C386737EADA2}"/>
                  </a:ext>
                </a:extLst>
              </p:cNvPr>
              <p:cNvGrpSpPr/>
              <p:nvPr/>
            </p:nvGrpSpPr>
            <p:grpSpPr>
              <a:xfrm>
                <a:off x="3255175" y="930275"/>
                <a:ext cx="8435741" cy="1603599"/>
                <a:chOff x="3255175" y="930275"/>
                <a:chExt cx="8435741" cy="1603599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F6D1D2A-7CE9-A277-FE42-EFBD38623494}"/>
                    </a:ext>
                  </a:extLst>
                </p:cNvPr>
                <p:cNvSpPr/>
                <p:nvPr/>
              </p:nvSpPr>
              <p:spPr>
                <a:xfrm>
                  <a:off x="5250777" y="1891839"/>
                  <a:ext cx="301625" cy="889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E030F3C8-CCDC-9502-552E-7B242DDBDF23}"/>
                    </a:ext>
                  </a:extLst>
                </p:cNvPr>
                <p:cNvSpPr/>
                <p:nvPr/>
              </p:nvSpPr>
              <p:spPr>
                <a:xfrm>
                  <a:off x="3255175" y="1258680"/>
                  <a:ext cx="2046515" cy="1193761"/>
                </a:xfrm>
                <a:prstGeom prst="roundRect">
                  <a:avLst>
                    <a:gd name="adj" fmla="val 6230"/>
                  </a:avLst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600" b="1">
                      <a:solidFill>
                        <a:srgbClr val="0070C0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Application Performance Monitoring</a:t>
                  </a: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354D2855-C8DF-F961-3EEA-12635287D71E}"/>
                    </a:ext>
                  </a:extLst>
                </p:cNvPr>
                <p:cNvSpPr/>
                <p:nvPr/>
              </p:nvSpPr>
              <p:spPr>
                <a:xfrm>
                  <a:off x="5464974" y="930275"/>
                  <a:ext cx="6225942" cy="1603599"/>
                </a:xfrm>
                <a:prstGeom prst="roundRect">
                  <a:avLst>
                    <a:gd name="adj" fmla="val 6230"/>
                  </a:avLst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  <a:effectLst>
                  <a:outerShdw dist="50800" algn="l" rotWithShape="0">
                    <a:srgbClr val="00B0F0"/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>
                    <a:buSzPts val="1000"/>
                    <a:tabLst>
                      <a:tab pos="457200" algn="l"/>
                    </a:tabLst>
                  </a:pPr>
                  <a:r>
                    <a:rPr lang="en-US" sz="1200" b="1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Deep visibility into service behavior and transaction performance</a:t>
                  </a:r>
                </a:p>
                <a:p>
                  <a:pPr lvl="0">
                    <a:buSzPts val="1000"/>
                    <a:tabLst>
                      <a:tab pos="457200" algn="l"/>
                    </a:tabLst>
                  </a:pPr>
                  <a:endParaRPr lang="en-US" sz="1200">
                    <a:solidFill>
                      <a:srgbClr val="21212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Distributed tracing across microservices and APIs</a:t>
                  </a: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Monitoring request latency, throughput, and error rates</a:t>
                  </a: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Transaction flow tracing across multiple services</a:t>
                  </a: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Dependency mapping across distributed service architectures</a:t>
                  </a:r>
                  <a:endParaRPr lang="en-IN" sz="1200">
                    <a:solidFill>
                      <a:srgbClr val="21212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A064621-A5F8-7344-2EB5-B3AA8C219F45}"/>
                  </a:ext>
                </a:extLst>
              </p:cNvPr>
              <p:cNvGrpSpPr/>
              <p:nvPr/>
            </p:nvGrpSpPr>
            <p:grpSpPr>
              <a:xfrm>
                <a:off x="3255175" y="4675877"/>
                <a:ext cx="8435741" cy="1850571"/>
                <a:chOff x="3255175" y="2271041"/>
                <a:chExt cx="8435741" cy="185057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62AE2531-EEDC-46D4-E1E4-1866F566501D}"/>
                    </a:ext>
                  </a:extLst>
                </p:cNvPr>
                <p:cNvSpPr/>
                <p:nvPr/>
              </p:nvSpPr>
              <p:spPr>
                <a:xfrm>
                  <a:off x="5229009" y="3113747"/>
                  <a:ext cx="301625" cy="889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56EC4EED-A89E-8171-E220-74D2BE7A1342}"/>
                    </a:ext>
                  </a:extLst>
                </p:cNvPr>
                <p:cNvSpPr/>
                <p:nvPr/>
              </p:nvSpPr>
              <p:spPr>
                <a:xfrm>
                  <a:off x="3255175" y="2599446"/>
                  <a:ext cx="2046515" cy="1193761"/>
                </a:xfrm>
                <a:prstGeom prst="roundRect">
                  <a:avLst>
                    <a:gd name="adj" fmla="val 6230"/>
                  </a:avLst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>
                      <a:solidFill>
                        <a:srgbClr val="0070C0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Incident Detection and Operational Intelligence</a:t>
                  </a:r>
                  <a:endParaRPr lang="en-IN" sz="1600" b="1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BA20E553-F535-7DC9-860E-2BB0350040CC}"/>
                    </a:ext>
                  </a:extLst>
                </p:cNvPr>
                <p:cNvSpPr/>
                <p:nvPr/>
              </p:nvSpPr>
              <p:spPr>
                <a:xfrm>
                  <a:off x="5464974" y="2271041"/>
                  <a:ext cx="6225942" cy="1850571"/>
                </a:xfrm>
                <a:prstGeom prst="roundRect">
                  <a:avLst>
                    <a:gd name="adj" fmla="val 6230"/>
                  </a:avLst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  <a:effectLst>
                  <a:outerShdw dist="50800" algn="l" rotWithShape="0">
                    <a:srgbClr val="00B0F0"/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lvl="0">
                    <a:buSzPts val="1000"/>
                    <a:tabLst>
                      <a:tab pos="457200" algn="l"/>
                    </a:tabLst>
                  </a:pPr>
                  <a:r>
                    <a:rPr lang="en-US" sz="1200" b="1">
                      <a:solidFill>
                        <a:srgbClr val="212121"/>
                      </a:solidFill>
                      <a:latin typeface="Lato"/>
                      <a:ea typeface="Lato"/>
                      <a:cs typeface="Lato"/>
                    </a:rPr>
                    <a:t>Intelligent monitoring for reliability and operational resilience.</a:t>
                  </a:r>
                </a:p>
                <a:p>
                  <a:pPr lvl="0">
                    <a:buSzPts val="1000"/>
                    <a:tabLst>
                      <a:tab pos="457200" algn="l"/>
                    </a:tabLst>
                  </a:pPr>
                  <a:endParaRPr lang="en-US" sz="1200">
                    <a:solidFill>
                      <a:srgbClr val="21212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Telemetry driven anomaly detection using ML models</a:t>
                  </a: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Alerting for latency spikes, throughput drops, and service errors</a:t>
                  </a: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Root cause analysis using cross signal telemetry correlation</a:t>
                  </a:r>
                </a:p>
                <a:p>
                  <a:pPr marL="342900" lvl="0" indent="-342900">
                    <a:buSzPts val="1000"/>
                    <a:buBlip>
                      <a:blip r:embed="rId3"/>
                    </a:buBlip>
                    <a:tabLst>
                      <a:tab pos="457200" algn="l"/>
                    </a:tabLst>
                  </a:pPr>
                  <a:r>
                    <a:rPr lang="en-US" sz="1200">
                      <a:solidFill>
                        <a:srgbClr val="212121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Operational insights for reliability engineering teams</a:t>
                  </a:r>
                </a:p>
              </p:txBody>
            </p:sp>
          </p:grp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3E8DE-00CC-9593-EC2B-508CE0DBC69A}"/>
              </a:ext>
            </a:extLst>
          </p:cNvPr>
          <p:cNvSpPr/>
          <p:nvPr/>
        </p:nvSpPr>
        <p:spPr>
          <a:xfrm>
            <a:off x="5250777" y="3465278"/>
            <a:ext cx="301625" cy="88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D5C62F-8427-2904-0CDA-7B61C3755274}"/>
              </a:ext>
            </a:extLst>
          </p:cNvPr>
          <p:cNvSpPr/>
          <p:nvPr/>
        </p:nvSpPr>
        <p:spPr>
          <a:xfrm>
            <a:off x="3255175" y="2832119"/>
            <a:ext cx="2046515" cy="1193761"/>
          </a:xfrm>
          <a:prstGeom prst="roundRect">
            <a:avLst>
              <a:gd name="adj" fmla="val 623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Observability Analytics and Monitoring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B526B0-8995-D8AE-DC5A-3F0CEFB83F2D}"/>
              </a:ext>
            </a:extLst>
          </p:cNvPr>
          <p:cNvSpPr/>
          <p:nvPr/>
        </p:nvSpPr>
        <p:spPr>
          <a:xfrm>
            <a:off x="5464974" y="2737947"/>
            <a:ext cx="6225942" cy="1616338"/>
          </a:xfrm>
          <a:prstGeom prst="roundRect">
            <a:avLst>
              <a:gd name="adj" fmla="val 623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50800" algn="l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SzPts val="1000"/>
              <a:tabLst>
                <a:tab pos="457200" algn="l"/>
              </a:tabLst>
            </a:pPr>
            <a:r>
              <a:rPr lang="en-US" sz="1200" b="1">
                <a:solidFill>
                  <a:srgbClr val="21212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Operational monitoring across platform and service layers.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US" sz="1200">
              <a:solidFill>
                <a:srgbClr val="21212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>
              <a:buSzPts val="1000"/>
              <a:buBlip>
                <a:blip r:embed="rId3"/>
              </a:buBlip>
              <a:tabLst>
                <a:tab pos="457200" algn="l"/>
              </a:tabLst>
            </a:pPr>
            <a:r>
              <a:rPr lang="en-US" sz="1200">
                <a:solidFill>
                  <a:srgbClr val="21212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 time dashboards built using Databricks SQL and Looker</a:t>
            </a:r>
          </a:p>
          <a:p>
            <a:pPr marL="342900" lvl="0" indent="-342900">
              <a:buSzPts val="1000"/>
              <a:buBlip>
                <a:blip r:embed="rId3"/>
              </a:buBlip>
              <a:tabLst>
                <a:tab pos="457200" algn="l"/>
              </a:tabLst>
            </a:pPr>
            <a:r>
              <a:rPr lang="en-US" sz="1200">
                <a:solidFill>
                  <a:srgbClr val="21212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 health monitoring across environments</a:t>
            </a:r>
          </a:p>
          <a:p>
            <a:pPr marL="342900" lvl="0" indent="-342900">
              <a:buSzPts val="1000"/>
              <a:buBlip>
                <a:blip r:embed="rId3"/>
              </a:buBlip>
              <a:tabLst>
                <a:tab pos="457200" algn="l"/>
              </a:tabLst>
            </a:pPr>
            <a:r>
              <a:rPr lang="en-US" sz="1200">
                <a:solidFill>
                  <a:srgbClr val="21212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Monitoring service level objectives and operational KPIs</a:t>
            </a:r>
          </a:p>
          <a:p>
            <a:pPr marL="342900" lvl="0" indent="-342900">
              <a:buSzPts val="1000"/>
              <a:buBlip>
                <a:blip r:embed="rId3"/>
              </a:buBlip>
              <a:tabLst>
                <a:tab pos="457200" algn="l"/>
              </a:tabLst>
            </a:pPr>
            <a:r>
              <a:rPr lang="en-US" sz="1200">
                <a:solidFill>
                  <a:srgbClr val="21212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Historical telemetry analysis to identify performance trends</a:t>
            </a:r>
            <a:endParaRPr lang="en-IN" sz="1200">
              <a:solidFill>
                <a:srgbClr val="21212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A51169-114D-E99D-A13F-2B22158ADA18}"/>
              </a:ext>
            </a:extLst>
          </p:cNvPr>
          <p:cNvSpPr/>
          <p:nvPr/>
        </p:nvSpPr>
        <p:spPr>
          <a:xfrm>
            <a:off x="0" y="580038"/>
            <a:ext cx="12192000" cy="45752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End to end monitoring and performance intelligence built on unified telemetry data.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FEF1F0-6BEB-8CBF-6E98-9BC7D0A7D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749" y="1910907"/>
            <a:ext cx="2665927" cy="353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40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501D-4902-9AE1-E090-28FE3CB8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086D-5BD1-DC6F-0015-7FE0B6F5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Innominds as - End-to-end MedTech Engineering Partner</a:t>
            </a:r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B1B906-20EE-258F-1521-A1DDF308D2FF}"/>
              </a:ext>
            </a:extLst>
          </p:cNvPr>
          <p:cNvGrpSpPr/>
          <p:nvPr/>
        </p:nvGrpSpPr>
        <p:grpSpPr>
          <a:xfrm>
            <a:off x="3302162" y="1900256"/>
            <a:ext cx="2685980" cy="2004653"/>
            <a:chOff x="6300786" y="1984377"/>
            <a:chExt cx="2520000" cy="1474419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4" name="Triangle 47">
              <a:extLst>
                <a:ext uri="{FF2B5EF4-FFF2-40B4-BE49-F238E27FC236}">
                  <a16:creationId xmlns:a16="http://schemas.microsoft.com/office/drawing/2014/main" id="{05119587-321B-8F94-3CC4-C9C9C4C2B3BB}"/>
                </a:ext>
              </a:extLst>
            </p:cNvPr>
            <p:cNvSpPr/>
            <p:nvPr/>
          </p:nvSpPr>
          <p:spPr>
            <a:xfrm>
              <a:off x="7173704" y="1984377"/>
              <a:ext cx="755562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ounded Rectangle 46">
              <a:extLst>
                <a:ext uri="{FF2B5EF4-FFF2-40B4-BE49-F238E27FC236}">
                  <a16:creationId xmlns:a16="http://schemas.microsoft.com/office/drawing/2014/main" id="{D12F5DB5-D32E-619C-7131-722934EA5E07}"/>
                </a:ext>
              </a:extLst>
            </p:cNvPr>
            <p:cNvSpPr/>
            <p:nvPr/>
          </p:nvSpPr>
          <p:spPr>
            <a:xfrm>
              <a:off x="6300786" y="2187558"/>
              <a:ext cx="2520000" cy="1271238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AI models for diagnostics, predictive maintenance, and clinical decision support.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Regulatory-compliant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V&amp;V for SaMD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and integration of real-world evidence to enhance product safety &amp; performance.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3794A32-F39B-E08A-65D2-9259413F59B1}"/>
              </a:ext>
            </a:extLst>
          </p:cNvPr>
          <p:cNvGrpSpPr/>
          <p:nvPr/>
        </p:nvGrpSpPr>
        <p:grpSpPr>
          <a:xfrm>
            <a:off x="424847" y="1900259"/>
            <a:ext cx="2685979" cy="2016530"/>
            <a:chOff x="6300786" y="1984377"/>
            <a:chExt cx="2520000" cy="1483153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7" name="Triangle 50">
              <a:extLst>
                <a:ext uri="{FF2B5EF4-FFF2-40B4-BE49-F238E27FC236}">
                  <a16:creationId xmlns:a16="http://schemas.microsoft.com/office/drawing/2014/main" id="{63B59454-C1BE-0F20-3369-F2463B876C2B}"/>
                </a:ext>
              </a:extLst>
            </p:cNvPr>
            <p:cNvSpPr/>
            <p:nvPr/>
          </p:nvSpPr>
          <p:spPr>
            <a:xfrm>
              <a:off x="7173704" y="1984377"/>
              <a:ext cx="755562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ounded Rectangle 49">
              <a:extLst>
                <a:ext uri="{FF2B5EF4-FFF2-40B4-BE49-F238E27FC236}">
                  <a16:creationId xmlns:a16="http://schemas.microsoft.com/office/drawing/2014/main" id="{C277B6B0-B18C-FA50-ABE1-2F9DCF02EF84}"/>
                </a:ext>
              </a:extLst>
            </p:cNvPr>
            <p:cNvSpPr/>
            <p:nvPr/>
          </p:nvSpPr>
          <p:spPr>
            <a:xfrm>
              <a:off x="6300786" y="2196292"/>
              <a:ext cx="2520000" cy="1271238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Expertise in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IoMT engineering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companion app development,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FHIR/HL7 integration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and EMR interoperability.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Secure cloud connectivity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real-time monitoring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and device-to-cloud data pipelines for renal care equipment.</a:t>
              </a:r>
              <a:endParaRPr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787FF8-D17B-CABE-160F-2E9323AB8331}"/>
              </a:ext>
            </a:extLst>
          </p:cNvPr>
          <p:cNvGrpSpPr/>
          <p:nvPr/>
        </p:nvGrpSpPr>
        <p:grpSpPr>
          <a:xfrm>
            <a:off x="6191664" y="1971504"/>
            <a:ext cx="2685979" cy="1945279"/>
            <a:chOff x="6300786" y="1984377"/>
            <a:chExt cx="2520000" cy="2027820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10" name="Triangle 39">
              <a:extLst>
                <a:ext uri="{FF2B5EF4-FFF2-40B4-BE49-F238E27FC236}">
                  <a16:creationId xmlns:a16="http://schemas.microsoft.com/office/drawing/2014/main" id="{37C36BC0-B815-8EE2-36C7-B656F83BD244}"/>
                </a:ext>
              </a:extLst>
            </p:cNvPr>
            <p:cNvSpPr/>
            <p:nvPr/>
          </p:nvSpPr>
          <p:spPr>
            <a:xfrm>
              <a:off x="7299181" y="1984377"/>
              <a:ext cx="504610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ounded Rectangle 38">
              <a:extLst>
                <a:ext uri="{FF2B5EF4-FFF2-40B4-BE49-F238E27FC236}">
                  <a16:creationId xmlns:a16="http://schemas.microsoft.com/office/drawing/2014/main" id="{4A9AE816-7417-3176-3069-46CFED6D149B}"/>
                </a:ext>
              </a:extLst>
            </p:cNvPr>
            <p:cNvSpPr/>
            <p:nvPr/>
          </p:nvSpPr>
          <p:spPr>
            <a:xfrm>
              <a:off x="6300786" y="2210455"/>
              <a:ext cx="2520000" cy="1801742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ISO 13485, FDA, CE, HIPAA-aligned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product engineering.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Automated verification /validation,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cybersecurity risk assessments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and digital QMS platforms</a:t>
              </a:r>
              <a:endParaRPr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</p:txBody>
        </p:sp>
      </p:grp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51C8F894-2BA8-60FC-7867-D02161F92A9B}"/>
              </a:ext>
            </a:extLst>
          </p:cNvPr>
          <p:cNvSpPr/>
          <p:nvPr/>
        </p:nvSpPr>
        <p:spPr>
          <a:xfrm>
            <a:off x="424849" y="1276676"/>
            <a:ext cx="2673791" cy="558529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Digital Health &amp; Connected Devices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FC91A50-7117-64EB-3DFD-12EE38527CD3}"/>
              </a:ext>
            </a:extLst>
          </p:cNvPr>
          <p:cNvSpPr/>
          <p:nvPr/>
        </p:nvSpPr>
        <p:spPr>
          <a:xfrm>
            <a:off x="3302162" y="1270794"/>
            <a:ext cx="2685981" cy="576000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in Medical Devices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94736B7-A116-43DF-DA65-880A2A8E98E3}"/>
              </a:ext>
            </a:extLst>
          </p:cNvPr>
          <p:cNvSpPr/>
          <p:nvPr/>
        </p:nvSpPr>
        <p:spPr>
          <a:xfrm>
            <a:off x="6191665" y="1270794"/>
            <a:ext cx="2685981" cy="575138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Regulatory-First Engineering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2F59D1-FBE5-C460-48FA-E1271F2B36B2}"/>
              </a:ext>
            </a:extLst>
          </p:cNvPr>
          <p:cNvGrpSpPr/>
          <p:nvPr/>
        </p:nvGrpSpPr>
        <p:grpSpPr>
          <a:xfrm>
            <a:off x="3302159" y="4830207"/>
            <a:ext cx="2685979" cy="2001034"/>
            <a:chOff x="6300786" y="1984377"/>
            <a:chExt cx="2520000" cy="1471756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9B787D6A-3E38-1E00-7C1A-BC42430E1BEF}"/>
                </a:ext>
              </a:extLst>
            </p:cNvPr>
            <p:cNvSpPr/>
            <p:nvPr/>
          </p:nvSpPr>
          <p:spPr>
            <a:xfrm>
              <a:off x="7173704" y="1984377"/>
              <a:ext cx="755562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2FCF3AF-771A-3EA6-828F-74714C6CFDCD}"/>
                </a:ext>
              </a:extLst>
            </p:cNvPr>
            <p:cNvSpPr/>
            <p:nvPr/>
          </p:nvSpPr>
          <p:spPr>
            <a:xfrm>
              <a:off x="6300786" y="2184895"/>
              <a:ext cx="2520000" cy="1271238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b="1">
                  <a:solidFill>
                    <a:schemeClr val="tx1"/>
                  </a:solidFill>
                  <a:latin typeface="Lato"/>
                  <a:ea typeface="Lato"/>
                  <a:cs typeface="Lato"/>
                </a:rPr>
                <a:t>Secure OTA firmware </a:t>
              </a:r>
              <a:r>
                <a:rPr lang="en-US" sz="1200">
                  <a:solidFill>
                    <a:schemeClr val="tx1"/>
                  </a:solidFill>
                  <a:latin typeface="Lato"/>
                  <a:ea typeface="Lato"/>
                  <a:cs typeface="Lato"/>
                </a:rPr>
                <a:t>updates, SBOM management, and kernel/OS upgrades.</a:t>
              </a:r>
            </a:p>
            <a:p>
              <a:pPr marL="285750" indent="-285750"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endParaRPr lang="en-US" sz="1200">
                <a:solidFill>
                  <a:schemeClr val="tx1"/>
                </a:solidFill>
                <a:latin typeface="Lato"/>
                <a:ea typeface="Lato"/>
                <a:cs typeface="Lato"/>
              </a:endParaRPr>
            </a:p>
            <a:p>
              <a:pPr marL="285750" indent="-285750"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b="1">
                  <a:solidFill>
                    <a:schemeClr val="tx1"/>
                  </a:solidFill>
                  <a:latin typeface="Lato"/>
                  <a:ea typeface="Lato"/>
                  <a:cs typeface="Lato"/>
                </a:rPr>
                <a:t>Threat detection </a:t>
              </a:r>
              <a:r>
                <a:rPr lang="en-US" sz="1200">
                  <a:solidFill>
                    <a:schemeClr val="tx1"/>
                  </a:solidFill>
                  <a:latin typeface="Lato"/>
                  <a:ea typeface="Lato"/>
                  <a:cs typeface="Lato"/>
                </a:rPr>
                <a:t>and vulnerability management for connected medical devices.</a:t>
              </a:r>
              <a:endParaRPr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91381-C38B-C284-CB41-F3F092281B2B}"/>
              </a:ext>
            </a:extLst>
          </p:cNvPr>
          <p:cNvGrpSpPr/>
          <p:nvPr/>
        </p:nvGrpSpPr>
        <p:grpSpPr>
          <a:xfrm>
            <a:off x="6191661" y="4830200"/>
            <a:ext cx="2685978" cy="1978734"/>
            <a:chOff x="6300786" y="1984377"/>
            <a:chExt cx="2520000" cy="2062694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19" name="Triangle 21">
              <a:extLst>
                <a:ext uri="{FF2B5EF4-FFF2-40B4-BE49-F238E27FC236}">
                  <a16:creationId xmlns:a16="http://schemas.microsoft.com/office/drawing/2014/main" id="{2635123A-297D-50B2-6A64-08D1F430214F}"/>
                </a:ext>
              </a:extLst>
            </p:cNvPr>
            <p:cNvSpPr/>
            <p:nvPr/>
          </p:nvSpPr>
          <p:spPr>
            <a:xfrm>
              <a:off x="7299180" y="1984377"/>
              <a:ext cx="504612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Rounded Rectangle 22">
              <a:extLst>
                <a:ext uri="{FF2B5EF4-FFF2-40B4-BE49-F238E27FC236}">
                  <a16:creationId xmlns:a16="http://schemas.microsoft.com/office/drawing/2014/main" id="{9B045FE6-1038-D055-D905-D39909523F8E}"/>
                </a:ext>
              </a:extLst>
            </p:cNvPr>
            <p:cNvSpPr/>
            <p:nvPr/>
          </p:nvSpPr>
          <p:spPr>
            <a:xfrm>
              <a:off x="6300786" y="2245328"/>
              <a:ext cx="2520000" cy="1801743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Edge-cloud orchestration, zero-trust architectures, and AI-assisted workflows.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Network engineering for smart ORs and remote surgical support.</a:t>
              </a:r>
            </a:p>
          </p:txBody>
        </p:sp>
      </p:grp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B3FC4AA2-AF03-0821-F1B2-1B98E40CF004}"/>
              </a:ext>
            </a:extLst>
          </p:cNvPr>
          <p:cNvSpPr/>
          <p:nvPr/>
        </p:nvSpPr>
        <p:spPr>
          <a:xfrm>
            <a:off x="424849" y="4190013"/>
            <a:ext cx="2685981" cy="575138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Accelerated NPI &amp; Miniaturization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60FF3489-3716-6A2E-C25D-EBE042FE6729}"/>
              </a:ext>
            </a:extLst>
          </p:cNvPr>
          <p:cNvSpPr/>
          <p:nvPr/>
        </p:nvSpPr>
        <p:spPr>
          <a:xfrm>
            <a:off x="3302162" y="4201602"/>
            <a:ext cx="2685981" cy="575138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Cybersecurity &amp; Long-Term Support (LTS)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82B5D9D7-362D-53BE-D14B-26BA3B70D59F}"/>
              </a:ext>
            </a:extLst>
          </p:cNvPr>
          <p:cNvSpPr/>
          <p:nvPr/>
        </p:nvSpPr>
        <p:spPr>
          <a:xfrm>
            <a:off x="6191665" y="4190013"/>
            <a:ext cx="2685981" cy="575138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Hospital &amp; OT Digital Transformation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65996D-A390-27BB-BD6D-6DC704CE255B}"/>
              </a:ext>
            </a:extLst>
          </p:cNvPr>
          <p:cNvGrpSpPr/>
          <p:nvPr/>
        </p:nvGrpSpPr>
        <p:grpSpPr>
          <a:xfrm>
            <a:off x="9081172" y="1900255"/>
            <a:ext cx="2685981" cy="2016530"/>
            <a:chOff x="6300786" y="1984377"/>
            <a:chExt cx="2520000" cy="2102094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25" name="Triangle 6">
              <a:extLst>
                <a:ext uri="{FF2B5EF4-FFF2-40B4-BE49-F238E27FC236}">
                  <a16:creationId xmlns:a16="http://schemas.microsoft.com/office/drawing/2014/main" id="{C31EE3B5-8F37-3D9B-4605-156853DCB801}"/>
                </a:ext>
              </a:extLst>
            </p:cNvPr>
            <p:cNvSpPr/>
            <p:nvPr/>
          </p:nvSpPr>
          <p:spPr>
            <a:xfrm>
              <a:off x="7266860" y="1984377"/>
              <a:ext cx="569250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ounded Rectangle 7">
              <a:extLst>
                <a:ext uri="{FF2B5EF4-FFF2-40B4-BE49-F238E27FC236}">
                  <a16:creationId xmlns:a16="http://schemas.microsoft.com/office/drawing/2014/main" id="{8818B8DF-1A9E-9AD7-CB4E-C9555ABC727A}"/>
                </a:ext>
              </a:extLst>
            </p:cNvPr>
            <p:cNvSpPr/>
            <p:nvPr/>
          </p:nvSpPr>
          <p:spPr>
            <a:xfrm>
              <a:off x="6300786" y="2284729"/>
              <a:ext cx="2520000" cy="1801742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Migration to scalable, secure multi-tenant SaaS and cloud-native platforms (AWS, Azure, GCP).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Digital twins and AI-enabled analytics for device performance and patient outcome optimization.</a:t>
              </a:r>
              <a:endParaRPr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</p:txBody>
        </p:sp>
      </p:grp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C58250E2-B281-9BBE-BECB-29C9C8770158}"/>
              </a:ext>
            </a:extLst>
          </p:cNvPr>
          <p:cNvSpPr/>
          <p:nvPr/>
        </p:nvSpPr>
        <p:spPr>
          <a:xfrm>
            <a:off x="9081169" y="1270794"/>
            <a:ext cx="2685981" cy="575138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Cloud-First Platforms &amp; Data Modernization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B0952E-06CF-9460-5E8E-36FE7251DB23}"/>
              </a:ext>
            </a:extLst>
          </p:cNvPr>
          <p:cNvGrpSpPr/>
          <p:nvPr/>
        </p:nvGrpSpPr>
        <p:grpSpPr>
          <a:xfrm>
            <a:off x="9081165" y="4830200"/>
            <a:ext cx="2685977" cy="1978734"/>
            <a:chOff x="6300786" y="1984377"/>
            <a:chExt cx="2519999" cy="2062694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29" name="Triangle 12">
              <a:extLst>
                <a:ext uri="{FF2B5EF4-FFF2-40B4-BE49-F238E27FC236}">
                  <a16:creationId xmlns:a16="http://schemas.microsoft.com/office/drawing/2014/main" id="{7C03B4D8-ED6F-C824-354D-84E54DB1DA00}"/>
                </a:ext>
              </a:extLst>
            </p:cNvPr>
            <p:cNvSpPr/>
            <p:nvPr/>
          </p:nvSpPr>
          <p:spPr>
            <a:xfrm>
              <a:off x="7336688" y="1984377"/>
              <a:ext cx="429595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ounded Rectangle 13">
              <a:extLst>
                <a:ext uri="{FF2B5EF4-FFF2-40B4-BE49-F238E27FC236}">
                  <a16:creationId xmlns:a16="http://schemas.microsoft.com/office/drawing/2014/main" id="{567E36C3-B6CF-4DC6-25BB-BA0CEDFE4D43}"/>
                </a:ext>
              </a:extLst>
            </p:cNvPr>
            <p:cNvSpPr/>
            <p:nvPr/>
          </p:nvSpPr>
          <p:spPr>
            <a:xfrm>
              <a:off x="6300786" y="2245328"/>
              <a:ext cx="2519999" cy="1801743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Energy-efficient and recyclable designs, lifecycle cost reduction, and supply chain optimization.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+mn-cs"/>
                </a:rPr>
                <a:t>Device redesign and component engineering for extending product life.</a:t>
              </a:r>
            </a:p>
          </p:txBody>
        </p:sp>
      </p:grp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26BA2EDC-7D4F-70C0-40F9-AD099B010456}"/>
              </a:ext>
            </a:extLst>
          </p:cNvPr>
          <p:cNvSpPr/>
          <p:nvPr/>
        </p:nvSpPr>
        <p:spPr>
          <a:xfrm>
            <a:off x="9081169" y="4190013"/>
            <a:ext cx="2685981" cy="575138"/>
          </a:xfrm>
          <a:prstGeom prst="roundRect">
            <a:avLst>
              <a:gd name="adj" fmla="val 29373"/>
            </a:avLst>
          </a:prstGeom>
          <a:solidFill>
            <a:srgbClr val="0070C0"/>
          </a:solidFill>
          <a:ln>
            <a:noFill/>
          </a:ln>
          <a:effectLst>
            <a:outerShdw blurRad="160187" sx="102000" sy="102000" algn="ctr" rotWithShape="0">
              <a:prstClr val="black">
                <a:alpha val="1994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Sustainability &amp; Cost Optimization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FCAFF8-A35A-E83A-6010-965B816047F6}"/>
              </a:ext>
            </a:extLst>
          </p:cNvPr>
          <p:cNvGrpSpPr/>
          <p:nvPr/>
        </p:nvGrpSpPr>
        <p:grpSpPr>
          <a:xfrm>
            <a:off x="424847" y="4807900"/>
            <a:ext cx="2685979" cy="2001034"/>
            <a:chOff x="6300786" y="1984377"/>
            <a:chExt cx="2520000" cy="1471756"/>
          </a:xfrm>
          <a:solidFill>
            <a:schemeClr val="bg1"/>
          </a:solidFill>
          <a:effectLst>
            <a:outerShdw blurRad="257081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33" name="Triangle 15">
              <a:extLst>
                <a:ext uri="{FF2B5EF4-FFF2-40B4-BE49-F238E27FC236}">
                  <a16:creationId xmlns:a16="http://schemas.microsoft.com/office/drawing/2014/main" id="{92186638-55EE-CDB6-D576-24BE4EA7F201}"/>
                </a:ext>
              </a:extLst>
            </p:cNvPr>
            <p:cNvSpPr/>
            <p:nvPr/>
          </p:nvSpPr>
          <p:spPr>
            <a:xfrm>
              <a:off x="7173704" y="1984377"/>
              <a:ext cx="755562" cy="2841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Rounded Rectangle 16">
              <a:extLst>
                <a:ext uri="{FF2B5EF4-FFF2-40B4-BE49-F238E27FC236}">
                  <a16:creationId xmlns:a16="http://schemas.microsoft.com/office/drawing/2014/main" id="{B4E2209B-1D6B-4D78-75CB-3B7C4E339B37}"/>
                </a:ext>
              </a:extLst>
            </p:cNvPr>
            <p:cNvSpPr/>
            <p:nvPr/>
          </p:nvSpPr>
          <p:spPr>
            <a:xfrm>
              <a:off x="6300786" y="2184895"/>
              <a:ext cx="2520000" cy="1271238"/>
            </a:xfrm>
            <a:prstGeom prst="roundRect">
              <a:avLst>
                <a:gd name="adj" fmla="val 48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Virtual prototyping,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edge AI integration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, and multi-sensor architectures.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ODM partnerships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ato"/>
                  <a:ea typeface="Lato"/>
                  <a:cs typeface="Lato"/>
                </a:rPr>
                <a:t>to shorten regulatory cycles and reduce time-to-market.</a:t>
              </a:r>
              <a:endParaRPr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Lato"/>
                <a:cs typeface="Lato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A633EB4-F9F7-8E50-12B5-0A57B802B4BB}"/>
              </a:ext>
            </a:extLst>
          </p:cNvPr>
          <p:cNvSpPr txBox="1"/>
          <p:nvPr/>
        </p:nvSpPr>
        <p:spPr>
          <a:xfrm>
            <a:off x="190501" y="721617"/>
            <a:ext cx="1170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Regulatory-aligned, data-driven, and AI-powered solutions — delivering connected devices, digital platforms, SaMD, and full lifecycle services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64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22AD-8600-7CB7-1BB3-727C73E3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A3185D-247E-BC76-DF25-68FAE9CA15DA}"/>
              </a:ext>
            </a:extLst>
          </p:cNvPr>
          <p:cNvSpPr txBox="1">
            <a:spLocks/>
          </p:cNvSpPr>
          <p:nvPr/>
        </p:nvSpPr>
        <p:spPr>
          <a:xfrm>
            <a:off x="282902" y="199925"/>
            <a:ext cx="1051560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E44C25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Our Comprehensive Solutions for Med Device Engineering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787FDCB6-3280-D932-4278-EDB02C0AAB80}"/>
              </a:ext>
            </a:extLst>
          </p:cNvPr>
          <p:cNvSpPr txBox="1">
            <a:spLocks/>
          </p:cNvSpPr>
          <p:nvPr/>
        </p:nvSpPr>
        <p:spPr>
          <a:xfrm>
            <a:off x="8280278" y="5647462"/>
            <a:ext cx="2666114" cy="43088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Integration of IoT-enabled Wearables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 Monitoring | Data Collection</a:t>
            </a:r>
          </a:p>
        </p:txBody>
      </p:sp>
      <p:pic>
        <p:nvPicPr>
          <p:cNvPr id="54" name="Picture 13">
            <a:extLst>
              <a:ext uri="{FF2B5EF4-FFF2-40B4-BE49-F238E27FC236}">
                <a16:creationId xmlns:a16="http://schemas.microsoft.com/office/drawing/2014/main" id="{513C915E-F9C5-4137-2C49-75DE96179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" b="18798"/>
          <a:stretch/>
        </p:blipFill>
        <p:spPr bwMode="auto">
          <a:xfrm>
            <a:off x="8245065" y="3807060"/>
            <a:ext cx="2735355" cy="1481213"/>
          </a:xfrm>
          <a:custGeom>
            <a:avLst/>
            <a:gdLst>
              <a:gd name="connsiteX0" fmla="*/ 115799 w 3278135"/>
              <a:gd name="connsiteY0" fmla="*/ 0 h 1528098"/>
              <a:gd name="connsiteX1" fmla="*/ 3162336 w 3278135"/>
              <a:gd name="connsiteY1" fmla="*/ 0 h 1528098"/>
              <a:gd name="connsiteX2" fmla="*/ 3278135 w 3278135"/>
              <a:gd name="connsiteY2" fmla="*/ 115799 h 1528098"/>
              <a:gd name="connsiteX3" fmla="*/ 3278135 w 3278135"/>
              <a:gd name="connsiteY3" fmla="*/ 1412299 h 1528098"/>
              <a:gd name="connsiteX4" fmla="*/ 3162336 w 3278135"/>
              <a:gd name="connsiteY4" fmla="*/ 1528098 h 1528098"/>
              <a:gd name="connsiteX5" fmla="*/ 115799 w 3278135"/>
              <a:gd name="connsiteY5" fmla="*/ 1528098 h 1528098"/>
              <a:gd name="connsiteX6" fmla="*/ 0 w 3278135"/>
              <a:gd name="connsiteY6" fmla="*/ 1412299 h 1528098"/>
              <a:gd name="connsiteX7" fmla="*/ 0 w 3278135"/>
              <a:gd name="connsiteY7" fmla="*/ 115799 h 1528098"/>
              <a:gd name="connsiteX8" fmla="*/ 115799 w 3278135"/>
              <a:gd name="connsiteY8" fmla="*/ 0 h 152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5" h="1528098">
                <a:moveTo>
                  <a:pt x="115799" y="0"/>
                </a:moveTo>
                <a:lnTo>
                  <a:pt x="3162336" y="0"/>
                </a:lnTo>
                <a:cubicBezTo>
                  <a:pt x="3226290" y="0"/>
                  <a:pt x="3278135" y="51845"/>
                  <a:pt x="3278135" y="115799"/>
                </a:cubicBezTo>
                <a:lnTo>
                  <a:pt x="3278135" y="1412299"/>
                </a:lnTo>
                <a:cubicBezTo>
                  <a:pt x="3278135" y="1476253"/>
                  <a:pt x="3226290" y="1528098"/>
                  <a:pt x="3162336" y="1528098"/>
                </a:cubicBezTo>
                <a:lnTo>
                  <a:pt x="115799" y="1528098"/>
                </a:lnTo>
                <a:cubicBezTo>
                  <a:pt x="51845" y="1528098"/>
                  <a:pt x="0" y="1476253"/>
                  <a:pt x="0" y="1412299"/>
                </a:cubicBezTo>
                <a:lnTo>
                  <a:pt x="0" y="115799"/>
                </a:lnTo>
                <a:cubicBezTo>
                  <a:pt x="0" y="51845"/>
                  <a:pt x="51845" y="0"/>
                  <a:pt x="11579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Freeform 936">
            <a:extLst>
              <a:ext uri="{FF2B5EF4-FFF2-40B4-BE49-F238E27FC236}">
                <a16:creationId xmlns:a16="http://schemas.microsoft.com/office/drawing/2014/main" id="{F77AE2A9-C6DE-2DB3-8CBE-F31CF4B39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807" y="3399963"/>
            <a:ext cx="681512" cy="681514"/>
          </a:xfrm>
          <a:custGeom>
            <a:avLst/>
            <a:gdLst>
              <a:gd name="T0" fmla="*/ 1806716 w 296503"/>
              <a:gd name="T1" fmla="*/ 2521042 h 296053"/>
              <a:gd name="T2" fmla="*/ 1728165 w 296503"/>
              <a:gd name="T3" fmla="*/ 2548969 h 296053"/>
              <a:gd name="T4" fmla="*/ 1476798 w 296503"/>
              <a:gd name="T5" fmla="*/ 2660632 h 296053"/>
              <a:gd name="T6" fmla="*/ 1500362 w 296503"/>
              <a:gd name="T7" fmla="*/ 2780290 h 296053"/>
              <a:gd name="T8" fmla="*/ 1315761 w 296503"/>
              <a:gd name="T9" fmla="*/ 2991678 h 296053"/>
              <a:gd name="T10" fmla="*/ 2525481 w 296503"/>
              <a:gd name="T11" fmla="*/ 3179152 h 296053"/>
              <a:gd name="T12" fmla="*/ 2470489 w 296503"/>
              <a:gd name="T13" fmla="*/ 2672592 h 296053"/>
              <a:gd name="T14" fmla="*/ 2415490 w 296503"/>
              <a:gd name="T15" fmla="*/ 2616767 h 296053"/>
              <a:gd name="T16" fmla="*/ 2113062 w 296503"/>
              <a:gd name="T17" fmla="*/ 2245832 h 296053"/>
              <a:gd name="T18" fmla="*/ 620564 w 296503"/>
              <a:gd name="T19" fmla="*/ 1950682 h 296053"/>
              <a:gd name="T20" fmla="*/ 616653 w 296503"/>
              <a:gd name="T21" fmla="*/ 2082305 h 296053"/>
              <a:gd name="T22" fmla="*/ 490982 w 296503"/>
              <a:gd name="T23" fmla="*/ 2086293 h 296053"/>
              <a:gd name="T24" fmla="*/ 490982 w 296503"/>
              <a:gd name="T25" fmla="*/ 2883965 h 296053"/>
              <a:gd name="T26" fmla="*/ 1390395 w 296503"/>
              <a:gd name="T27" fmla="*/ 2728441 h 296053"/>
              <a:gd name="T28" fmla="*/ 1626051 w 296503"/>
              <a:gd name="T29" fmla="*/ 2409355 h 296053"/>
              <a:gd name="T30" fmla="*/ 2050226 w 296503"/>
              <a:gd name="T31" fmla="*/ 2154103 h 296053"/>
              <a:gd name="T32" fmla="*/ 1810640 w 296503"/>
              <a:gd name="T33" fmla="*/ 1854948 h 296053"/>
              <a:gd name="T34" fmla="*/ 1598554 w 296503"/>
              <a:gd name="T35" fmla="*/ 1926755 h 296053"/>
              <a:gd name="T36" fmla="*/ 1095805 w 296503"/>
              <a:gd name="T37" fmla="*/ 1464107 h 296053"/>
              <a:gd name="T38" fmla="*/ 1225427 w 296503"/>
              <a:gd name="T39" fmla="*/ 1380337 h 296053"/>
              <a:gd name="T40" fmla="*/ 1810640 w 296503"/>
              <a:gd name="T41" fmla="*/ 1755248 h 296053"/>
              <a:gd name="T42" fmla="*/ 2446917 w 296503"/>
              <a:gd name="T43" fmla="*/ 1416233 h 296053"/>
              <a:gd name="T44" fmla="*/ 1834210 w 296503"/>
              <a:gd name="T45" fmla="*/ 698292 h 296053"/>
              <a:gd name="T46" fmla="*/ 2148417 w 296503"/>
              <a:gd name="T47" fmla="*/ 2058369 h 296053"/>
              <a:gd name="T48" fmla="*/ 2148417 w 296503"/>
              <a:gd name="T49" fmla="*/ 2150122 h 296053"/>
              <a:gd name="T50" fmla="*/ 2517618 w 296503"/>
              <a:gd name="T51" fmla="*/ 2568903 h 296053"/>
              <a:gd name="T52" fmla="*/ 2525481 w 296503"/>
              <a:gd name="T53" fmla="*/ 3278851 h 296053"/>
              <a:gd name="T54" fmla="*/ 1217570 w 296503"/>
              <a:gd name="T55" fmla="*/ 2991678 h 296053"/>
              <a:gd name="T56" fmla="*/ 490982 w 296503"/>
              <a:gd name="T57" fmla="*/ 2983689 h 296053"/>
              <a:gd name="T58" fmla="*/ 526313 w 296503"/>
              <a:gd name="T59" fmla="*/ 1990572 h 296053"/>
              <a:gd name="T60" fmla="*/ 1095805 w 296503"/>
              <a:gd name="T61" fmla="*/ 1368373 h 296053"/>
              <a:gd name="T62" fmla="*/ 1834210 w 296503"/>
              <a:gd name="T63" fmla="*/ 698292 h 296053"/>
              <a:gd name="T64" fmla="*/ 1873792 w 296503"/>
              <a:gd name="T65" fmla="*/ 14933 h 296053"/>
              <a:gd name="T66" fmla="*/ 2794579 w 296503"/>
              <a:gd name="T67" fmla="*/ 400998 h 296053"/>
              <a:gd name="T68" fmla="*/ 2841802 w 296503"/>
              <a:gd name="T69" fmla="*/ 994075 h 296053"/>
              <a:gd name="T70" fmla="*/ 3239232 w 296503"/>
              <a:gd name="T71" fmla="*/ 1415991 h 296053"/>
              <a:gd name="T72" fmla="*/ 2841802 w 296503"/>
              <a:gd name="T73" fmla="*/ 1837894 h 296053"/>
              <a:gd name="T74" fmla="*/ 2794579 w 296503"/>
              <a:gd name="T75" fmla="*/ 2434932 h 296053"/>
              <a:gd name="T76" fmla="*/ 2578164 w 296503"/>
              <a:gd name="T77" fmla="*/ 2383192 h 296053"/>
              <a:gd name="T78" fmla="*/ 2743420 w 296503"/>
              <a:gd name="T79" fmla="*/ 2335427 h 296053"/>
              <a:gd name="T80" fmla="*/ 2759168 w 296503"/>
              <a:gd name="T81" fmla="*/ 1782153 h 296053"/>
              <a:gd name="T82" fmla="*/ 2759168 w 296503"/>
              <a:gd name="T83" fmla="*/ 1049779 h 296053"/>
              <a:gd name="T84" fmla="*/ 2743420 w 296503"/>
              <a:gd name="T85" fmla="*/ 500517 h 296053"/>
              <a:gd name="T86" fmla="*/ 2200401 w 296503"/>
              <a:gd name="T87" fmla="*/ 484585 h 296053"/>
              <a:gd name="T88" fmla="*/ 1476353 w 296503"/>
              <a:gd name="T89" fmla="*/ 484585 h 296053"/>
              <a:gd name="T90" fmla="*/ 933332 w 296503"/>
              <a:gd name="T91" fmla="*/ 500517 h 296053"/>
              <a:gd name="T92" fmla="*/ 917581 w 296503"/>
              <a:gd name="T93" fmla="*/ 1049779 h 296053"/>
              <a:gd name="T94" fmla="*/ 590998 w 296503"/>
              <a:gd name="T95" fmla="*/ 1451815 h 296053"/>
              <a:gd name="T96" fmla="*/ 524086 w 296503"/>
              <a:gd name="T97" fmla="*/ 1519446 h 296053"/>
              <a:gd name="T98" fmla="*/ 453259 w 296503"/>
              <a:gd name="T99" fmla="*/ 1380163 h 296053"/>
              <a:gd name="T100" fmla="*/ 834959 w 296503"/>
              <a:gd name="T101" fmla="*/ 448764 h 296053"/>
              <a:gd name="T102" fmla="*/ 1425206 w 296503"/>
              <a:gd name="T103" fmla="*/ 400998 h 29605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96503" h="296053">
                <a:moveTo>
                  <a:pt x="193419" y="202780"/>
                </a:moveTo>
                <a:cubicBezTo>
                  <a:pt x="179398" y="202780"/>
                  <a:pt x="167175" y="213584"/>
                  <a:pt x="165377" y="227629"/>
                </a:cubicBezTo>
                <a:cubicBezTo>
                  <a:pt x="165377" y="229069"/>
                  <a:pt x="164299" y="230510"/>
                  <a:pt x="162501" y="231230"/>
                </a:cubicBezTo>
                <a:cubicBezTo>
                  <a:pt x="161063" y="231590"/>
                  <a:pt x="159266" y="231230"/>
                  <a:pt x="158187" y="230150"/>
                </a:cubicBezTo>
                <a:cubicBezTo>
                  <a:pt x="155671" y="227989"/>
                  <a:pt x="152075" y="226548"/>
                  <a:pt x="148840" y="226548"/>
                </a:cubicBezTo>
                <a:cubicBezTo>
                  <a:pt x="141290" y="226548"/>
                  <a:pt x="135178" y="232670"/>
                  <a:pt x="135178" y="240233"/>
                </a:cubicBezTo>
                <a:cubicBezTo>
                  <a:pt x="135178" y="242754"/>
                  <a:pt x="135897" y="244915"/>
                  <a:pt x="136976" y="246715"/>
                </a:cubicBezTo>
                <a:cubicBezTo>
                  <a:pt x="137695" y="248156"/>
                  <a:pt x="137695" y="249596"/>
                  <a:pt x="137335" y="251037"/>
                </a:cubicBezTo>
                <a:cubicBezTo>
                  <a:pt x="136616" y="252477"/>
                  <a:pt x="135538" y="253198"/>
                  <a:pt x="134100" y="253558"/>
                </a:cubicBezTo>
                <a:cubicBezTo>
                  <a:pt x="125831" y="255358"/>
                  <a:pt x="120438" y="262201"/>
                  <a:pt x="120438" y="270124"/>
                </a:cubicBezTo>
                <a:cubicBezTo>
                  <a:pt x="120438" y="279487"/>
                  <a:pt x="127988" y="287050"/>
                  <a:pt x="137335" y="287050"/>
                </a:cubicBezTo>
                <a:lnTo>
                  <a:pt x="231169" y="287050"/>
                </a:lnTo>
                <a:cubicBezTo>
                  <a:pt x="243752" y="287050"/>
                  <a:pt x="254178" y="276606"/>
                  <a:pt x="254178" y="264002"/>
                </a:cubicBezTo>
                <a:cubicBezTo>
                  <a:pt x="254178" y="249957"/>
                  <a:pt x="241235" y="238432"/>
                  <a:pt x="226135" y="241313"/>
                </a:cubicBezTo>
                <a:cubicBezTo>
                  <a:pt x="224697" y="242034"/>
                  <a:pt x="223259" y="241313"/>
                  <a:pt x="222181" y="240233"/>
                </a:cubicBezTo>
                <a:cubicBezTo>
                  <a:pt x="221102" y="239153"/>
                  <a:pt x="220743" y="237712"/>
                  <a:pt x="221102" y="236272"/>
                </a:cubicBezTo>
                <a:cubicBezTo>
                  <a:pt x="221462" y="234471"/>
                  <a:pt x="221462" y="232670"/>
                  <a:pt x="221462" y="231230"/>
                </a:cubicBezTo>
                <a:cubicBezTo>
                  <a:pt x="221462" y="215744"/>
                  <a:pt x="208879" y="202780"/>
                  <a:pt x="193419" y="202780"/>
                </a:cubicBezTo>
                <a:close/>
                <a:moveTo>
                  <a:pt x="100305" y="132195"/>
                </a:moveTo>
                <a:cubicBezTo>
                  <a:pt x="76577" y="132195"/>
                  <a:pt x="56804" y="152002"/>
                  <a:pt x="56804" y="176130"/>
                </a:cubicBezTo>
                <a:cubicBezTo>
                  <a:pt x="56804" y="178651"/>
                  <a:pt x="57163" y="181172"/>
                  <a:pt x="57882" y="184053"/>
                </a:cubicBezTo>
                <a:cubicBezTo>
                  <a:pt x="57882" y="185494"/>
                  <a:pt x="57523" y="186934"/>
                  <a:pt x="56444" y="188015"/>
                </a:cubicBezTo>
                <a:cubicBezTo>
                  <a:pt x="55366" y="189095"/>
                  <a:pt x="53928" y="189455"/>
                  <a:pt x="52490" y="189095"/>
                </a:cubicBezTo>
                <a:cubicBezTo>
                  <a:pt x="49973" y="188735"/>
                  <a:pt x="47456" y="188375"/>
                  <a:pt x="44940" y="188375"/>
                </a:cubicBezTo>
                <a:cubicBezTo>
                  <a:pt x="25166" y="188375"/>
                  <a:pt x="8988" y="204580"/>
                  <a:pt x="8988" y="224387"/>
                </a:cubicBezTo>
                <a:cubicBezTo>
                  <a:pt x="8988" y="244555"/>
                  <a:pt x="25166" y="260400"/>
                  <a:pt x="44940" y="260400"/>
                </a:cubicBezTo>
                <a:lnTo>
                  <a:pt x="113248" y="260400"/>
                </a:lnTo>
                <a:cubicBezTo>
                  <a:pt x="115764" y="254278"/>
                  <a:pt x="120798" y="249236"/>
                  <a:pt x="127269" y="246355"/>
                </a:cubicBezTo>
                <a:cubicBezTo>
                  <a:pt x="126550" y="244555"/>
                  <a:pt x="126550" y="242394"/>
                  <a:pt x="126550" y="240233"/>
                </a:cubicBezTo>
                <a:cubicBezTo>
                  <a:pt x="126550" y="227989"/>
                  <a:pt x="136616" y="217545"/>
                  <a:pt x="148840" y="217545"/>
                </a:cubicBezTo>
                <a:cubicBezTo>
                  <a:pt x="152075" y="217545"/>
                  <a:pt x="155311" y="218265"/>
                  <a:pt x="158187" y="219706"/>
                </a:cubicBezTo>
                <a:cubicBezTo>
                  <a:pt x="162142" y="206381"/>
                  <a:pt x="174006" y="196658"/>
                  <a:pt x="187667" y="194497"/>
                </a:cubicBezTo>
                <a:cubicBezTo>
                  <a:pt x="188027" y="192696"/>
                  <a:pt x="188027" y="191256"/>
                  <a:pt x="188027" y="189455"/>
                </a:cubicBezTo>
                <a:cubicBezTo>
                  <a:pt x="188027" y="177211"/>
                  <a:pt x="177960" y="167487"/>
                  <a:pt x="165737" y="167487"/>
                </a:cubicBezTo>
                <a:cubicBezTo>
                  <a:pt x="160344" y="167487"/>
                  <a:pt x="155311" y="169288"/>
                  <a:pt x="150997" y="173249"/>
                </a:cubicBezTo>
                <a:cubicBezTo>
                  <a:pt x="149918" y="173970"/>
                  <a:pt x="148121" y="174690"/>
                  <a:pt x="146323" y="173970"/>
                </a:cubicBezTo>
                <a:cubicBezTo>
                  <a:pt x="144885" y="173609"/>
                  <a:pt x="143807" y="172169"/>
                  <a:pt x="143807" y="170368"/>
                </a:cubicBezTo>
                <a:cubicBezTo>
                  <a:pt x="140930" y="148761"/>
                  <a:pt x="122236" y="132195"/>
                  <a:pt x="100305" y="132195"/>
                </a:cubicBezTo>
                <a:close/>
                <a:moveTo>
                  <a:pt x="167894" y="71693"/>
                </a:moveTo>
                <a:cubicBezTo>
                  <a:pt x="138054" y="71693"/>
                  <a:pt x="113607" y="95462"/>
                  <a:pt x="112169" y="124632"/>
                </a:cubicBezTo>
                <a:cubicBezTo>
                  <a:pt x="130864" y="128954"/>
                  <a:pt x="145964" y="143359"/>
                  <a:pt x="150997" y="162085"/>
                </a:cubicBezTo>
                <a:cubicBezTo>
                  <a:pt x="155671" y="159564"/>
                  <a:pt x="160704" y="158484"/>
                  <a:pt x="165737" y="158484"/>
                </a:cubicBezTo>
                <a:cubicBezTo>
                  <a:pt x="178679" y="158484"/>
                  <a:pt x="189465" y="166047"/>
                  <a:pt x="194498" y="176851"/>
                </a:cubicBezTo>
                <a:cubicBezTo>
                  <a:pt x="212114" y="167487"/>
                  <a:pt x="223978" y="149121"/>
                  <a:pt x="223978" y="127873"/>
                </a:cubicBezTo>
                <a:cubicBezTo>
                  <a:pt x="223978" y="96902"/>
                  <a:pt x="198812" y="71693"/>
                  <a:pt x="167894" y="71693"/>
                </a:cubicBezTo>
                <a:close/>
                <a:moveTo>
                  <a:pt x="167894" y="63050"/>
                </a:moveTo>
                <a:cubicBezTo>
                  <a:pt x="203486" y="63050"/>
                  <a:pt x="232966" y="92220"/>
                  <a:pt x="232966" y="127873"/>
                </a:cubicBezTo>
                <a:cubicBezTo>
                  <a:pt x="232966" y="153442"/>
                  <a:pt x="217867" y="175410"/>
                  <a:pt x="196655" y="185854"/>
                </a:cubicBezTo>
                <a:cubicBezTo>
                  <a:pt x="197015" y="187294"/>
                  <a:pt x="197015" y="188375"/>
                  <a:pt x="197015" y="189455"/>
                </a:cubicBezTo>
                <a:cubicBezTo>
                  <a:pt x="197015" y="191256"/>
                  <a:pt x="197015" y="192696"/>
                  <a:pt x="196655" y="194137"/>
                </a:cubicBezTo>
                <a:cubicBezTo>
                  <a:pt x="215709" y="195577"/>
                  <a:pt x="230450" y="211783"/>
                  <a:pt x="230450" y="231230"/>
                </a:cubicBezTo>
                <a:cubicBezTo>
                  <a:pt x="230450" y="231590"/>
                  <a:pt x="230450" y="231590"/>
                  <a:pt x="230450" y="231950"/>
                </a:cubicBezTo>
                <a:cubicBezTo>
                  <a:pt x="248425" y="231950"/>
                  <a:pt x="263165" y="246355"/>
                  <a:pt x="263165" y="264002"/>
                </a:cubicBezTo>
                <a:cubicBezTo>
                  <a:pt x="263165" y="281648"/>
                  <a:pt x="248785" y="296053"/>
                  <a:pt x="231169" y="296053"/>
                </a:cubicBezTo>
                <a:lnTo>
                  <a:pt x="137335" y="296053"/>
                </a:lnTo>
                <a:cubicBezTo>
                  <a:pt x="122955" y="296053"/>
                  <a:pt x="111450" y="284529"/>
                  <a:pt x="111450" y="270124"/>
                </a:cubicBezTo>
                <a:cubicBezTo>
                  <a:pt x="111450" y="270124"/>
                  <a:pt x="111450" y="269764"/>
                  <a:pt x="111450" y="269403"/>
                </a:cubicBezTo>
                <a:lnTo>
                  <a:pt x="44940" y="269403"/>
                </a:lnTo>
                <a:cubicBezTo>
                  <a:pt x="20133" y="269403"/>
                  <a:pt x="0" y="249236"/>
                  <a:pt x="0" y="224387"/>
                </a:cubicBezTo>
                <a:cubicBezTo>
                  <a:pt x="0" y="198818"/>
                  <a:pt x="21931" y="177571"/>
                  <a:pt x="48175" y="179732"/>
                </a:cubicBezTo>
                <a:cubicBezTo>
                  <a:pt x="48175" y="178291"/>
                  <a:pt x="48175" y="177211"/>
                  <a:pt x="48175" y="176130"/>
                </a:cubicBezTo>
                <a:cubicBezTo>
                  <a:pt x="48175" y="146960"/>
                  <a:pt x="71544" y="123552"/>
                  <a:pt x="100305" y="123552"/>
                </a:cubicBezTo>
                <a:cubicBezTo>
                  <a:pt x="101384" y="123552"/>
                  <a:pt x="102462" y="123552"/>
                  <a:pt x="103181" y="123552"/>
                </a:cubicBezTo>
                <a:cubicBezTo>
                  <a:pt x="105338" y="89700"/>
                  <a:pt x="133740" y="63050"/>
                  <a:pt x="167894" y="63050"/>
                </a:cubicBezTo>
                <a:close/>
                <a:moveTo>
                  <a:pt x="165394" y="1347"/>
                </a:moveTo>
                <a:cubicBezTo>
                  <a:pt x="166835" y="-450"/>
                  <a:pt x="169717" y="-450"/>
                  <a:pt x="171517" y="1347"/>
                </a:cubicBezTo>
                <a:lnTo>
                  <a:pt x="206456" y="36207"/>
                </a:lnTo>
                <a:lnTo>
                  <a:pt x="255801" y="36207"/>
                </a:lnTo>
                <a:cubicBezTo>
                  <a:pt x="258323" y="36207"/>
                  <a:pt x="260124" y="38004"/>
                  <a:pt x="260124" y="40520"/>
                </a:cubicBezTo>
                <a:lnTo>
                  <a:pt x="260124" y="89756"/>
                </a:lnTo>
                <a:lnTo>
                  <a:pt x="295062" y="124616"/>
                </a:lnTo>
                <a:cubicBezTo>
                  <a:pt x="295782" y="125335"/>
                  <a:pt x="296503" y="126773"/>
                  <a:pt x="296503" y="127851"/>
                </a:cubicBezTo>
                <a:cubicBezTo>
                  <a:pt x="296503" y="128929"/>
                  <a:pt x="295782" y="130007"/>
                  <a:pt x="295062" y="131085"/>
                </a:cubicBezTo>
                <a:lnTo>
                  <a:pt x="260124" y="165946"/>
                </a:lnTo>
                <a:lnTo>
                  <a:pt x="260124" y="215182"/>
                </a:lnTo>
                <a:cubicBezTo>
                  <a:pt x="260124" y="217697"/>
                  <a:pt x="258323" y="219854"/>
                  <a:pt x="255801" y="219854"/>
                </a:cubicBezTo>
                <a:lnTo>
                  <a:pt x="240313" y="219854"/>
                </a:lnTo>
                <a:cubicBezTo>
                  <a:pt x="238152" y="219854"/>
                  <a:pt x="235991" y="217697"/>
                  <a:pt x="235991" y="215182"/>
                </a:cubicBezTo>
                <a:cubicBezTo>
                  <a:pt x="235991" y="212666"/>
                  <a:pt x="238152" y="210869"/>
                  <a:pt x="240313" y="210869"/>
                </a:cubicBezTo>
                <a:lnTo>
                  <a:pt x="251119" y="210869"/>
                </a:lnTo>
                <a:lnTo>
                  <a:pt x="251119" y="164149"/>
                </a:lnTo>
                <a:cubicBezTo>
                  <a:pt x="251119" y="162711"/>
                  <a:pt x="251839" y="161993"/>
                  <a:pt x="252560" y="160914"/>
                </a:cubicBezTo>
                <a:lnTo>
                  <a:pt x="285697" y="127851"/>
                </a:lnTo>
                <a:lnTo>
                  <a:pt x="252560" y="94787"/>
                </a:lnTo>
                <a:cubicBezTo>
                  <a:pt x="251839" y="94069"/>
                  <a:pt x="251119" y="92990"/>
                  <a:pt x="251119" y="91912"/>
                </a:cubicBezTo>
                <a:lnTo>
                  <a:pt x="251119" y="45192"/>
                </a:lnTo>
                <a:lnTo>
                  <a:pt x="204655" y="45192"/>
                </a:lnTo>
                <a:cubicBezTo>
                  <a:pt x="203214" y="45192"/>
                  <a:pt x="202133" y="44833"/>
                  <a:pt x="201413" y="43754"/>
                </a:cubicBezTo>
                <a:lnTo>
                  <a:pt x="168276" y="10691"/>
                </a:lnTo>
                <a:lnTo>
                  <a:pt x="135138" y="43754"/>
                </a:lnTo>
                <a:cubicBezTo>
                  <a:pt x="134418" y="44833"/>
                  <a:pt x="133337" y="45192"/>
                  <a:pt x="131897" y="45192"/>
                </a:cubicBezTo>
                <a:lnTo>
                  <a:pt x="85432" y="45192"/>
                </a:lnTo>
                <a:lnTo>
                  <a:pt x="85432" y="91912"/>
                </a:lnTo>
                <a:cubicBezTo>
                  <a:pt x="85432" y="92990"/>
                  <a:pt x="84712" y="94069"/>
                  <a:pt x="83992" y="94787"/>
                </a:cubicBezTo>
                <a:lnTo>
                  <a:pt x="50854" y="127851"/>
                </a:lnTo>
                <a:lnTo>
                  <a:pt x="54096" y="131085"/>
                </a:lnTo>
                <a:cubicBezTo>
                  <a:pt x="55897" y="132523"/>
                  <a:pt x="55897" y="135757"/>
                  <a:pt x="54096" y="137195"/>
                </a:cubicBezTo>
                <a:cubicBezTo>
                  <a:pt x="52295" y="138992"/>
                  <a:pt x="49413" y="138992"/>
                  <a:pt x="47973" y="137195"/>
                </a:cubicBezTo>
                <a:lnTo>
                  <a:pt x="41489" y="131085"/>
                </a:lnTo>
                <a:cubicBezTo>
                  <a:pt x="39688" y="129288"/>
                  <a:pt x="39688" y="126413"/>
                  <a:pt x="41489" y="124616"/>
                </a:cubicBezTo>
                <a:lnTo>
                  <a:pt x="76428" y="89756"/>
                </a:lnTo>
                <a:lnTo>
                  <a:pt x="76428" y="40520"/>
                </a:lnTo>
                <a:cubicBezTo>
                  <a:pt x="76428" y="38004"/>
                  <a:pt x="78228" y="36207"/>
                  <a:pt x="80750" y="36207"/>
                </a:cubicBezTo>
                <a:lnTo>
                  <a:pt x="130456" y="36207"/>
                </a:lnTo>
                <a:lnTo>
                  <a:pt x="165394" y="13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2A67DE-D29A-5F67-DF0D-2353A0A26908}"/>
              </a:ext>
            </a:extLst>
          </p:cNvPr>
          <p:cNvSpPr txBox="1"/>
          <p:nvPr/>
        </p:nvSpPr>
        <p:spPr>
          <a:xfrm>
            <a:off x="1402918" y="5403993"/>
            <a:ext cx="231185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Regulatory Compliance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6D42AD44-68EF-9B32-0BA9-12383664A43E}"/>
              </a:ext>
            </a:extLst>
          </p:cNvPr>
          <p:cNvSpPr txBox="1">
            <a:spLocks/>
          </p:cNvSpPr>
          <p:nvPr/>
        </p:nvSpPr>
        <p:spPr>
          <a:xfrm>
            <a:off x="1402918" y="5661496"/>
            <a:ext cx="2989522" cy="43088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Adherence to Regulatory Standards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SaMD | Operate Services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5B39ED-7539-EE95-57CA-3B1A0D52EB99}"/>
              </a:ext>
            </a:extLst>
          </p:cNvPr>
          <p:cNvSpPr txBox="1"/>
          <p:nvPr/>
        </p:nvSpPr>
        <p:spPr>
          <a:xfrm>
            <a:off x="8280278" y="5389959"/>
            <a:ext cx="2666114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Interfacing with Wearables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1DC1FB-0B95-5A8F-9491-2E1B36B3A8B8}"/>
              </a:ext>
            </a:extLst>
          </p:cNvPr>
          <p:cNvSpPr txBox="1"/>
          <p:nvPr/>
        </p:nvSpPr>
        <p:spPr>
          <a:xfrm>
            <a:off x="4880065" y="5408596"/>
            <a:ext cx="289374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Clinical Workflow Integration</a:t>
            </a:r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8ABF6E57-BA2C-6BF1-5560-51CEF6EE4ECA}"/>
              </a:ext>
            </a:extLst>
          </p:cNvPr>
          <p:cNvSpPr txBox="1">
            <a:spLocks/>
          </p:cNvSpPr>
          <p:nvPr/>
        </p:nvSpPr>
        <p:spPr>
          <a:xfrm>
            <a:off x="4880064" y="5666100"/>
            <a:ext cx="3214143" cy="76944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Seamless integration with existing Clinical Workflows, EHR Systems and Interoperability between standards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HL7 | FHIR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AF334A-E6F7-4851-D702-2E6BF416E1F6}"/>
              </a:ext>
            </a:extLst>
          </p:cNvPr>
          <p:cNvSpPr txBox="1"/>
          <p:nvPr/>
        </p:nvSpPr>
        <p:spPr>
          <a:xfrm>
            <a:off x="1401250" y="2682849"/>
            <a:ext cx="2042547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SaMD Development</a:t>
            </a:r>
          </a:p>
        </p:txBody>
      </p:sp>
      <p:sp>
        <p:nvSpPr>
          <p:cNvPr id="62" name="Subtitle 2">
            <a:extLst>
              <a:ext uri="{FF2B5EF4-FFF2-40B4-BE49-F238E27FC236}">
                <a16:creationId xmlns:a16="http://schemas.microsoft.com/office/drawing/2014/main" id="{0C58CCD9-9E31-64E5-5FD9-E097E2B8B8BB}"/>
              </a:ext>
            </a:extLst>
          </p:cNvPr>
          <p:cNvSpPr txBox="1">
            <a:spLocks/>
          </p:cNvSpPr>
          <p:nvPr/>
        </p:nvSpPr>
        <p:spPr>
          <a:xfrm>
            <a:off x="1401413" y="2940353"/>
            <a:ext cx="3112990" cy="44627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Rapid Prototyping and Development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Diagnostics | Remote Monitoring | Therapeutics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350184-90C7-3CF4-8366-B08A0449E8EB}"/>
              </a:ext>
            </a:extLst>
          </p:cNvPr>
          <p:cNvSpPr txBox="1"/>
          <p:nvPr/>
        </p:nvSpPr>
        <p:spPr>
          <a:xfrm>
            <a:off x="8280278" y="2660842"/>
            <a:ext cx="2795958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Enablement for SaMD</a:t>
            </a:r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14C6D170-0C6A-30D5-C521-303DF01F4817}"/>
              </a:ext>
            </a:extLst>
          </p:cNvPr>
          <p:cNvSpPr txBox="1">
            <a:spLocks/>
          </p:cNvSpPr>
          <p:nvPr/>
        </p:nvSpPr>
        <p:spPr>
          <a:xfrm>
            <a:off x="8291454" y="2926295"/>
            <a:ext cx="2794849" cy="600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Scalable, Secure, and Cost-Effective Cloud Deployments, and Support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AWS | Azure | GCP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3B2081-8ED4-3399-61BD-149B411244FA}"/>
              </a:ext>
            </a:extLst>
          </p:cNvPr>
          <p:cNvSpPr txBox="1"/>
          <p:nvPr/>
        </p:nvSpPr>
        <p:spPr>
          <a:xfrm>
            <a:off x="4875808" y="2660842"/>
            <a:ext cx="2593980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Security and Privacy</a:t>
            </a:r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523E80DF-E8DE-3F32-8624-149E85E0868E}"/>
              </a:ext>
            </a:extLst>
          </p:cNvPr>
          <p:cNvSpPr txBox="1">
            <a:spLocks/>
          </p:cNvSpPr>
          <p:nvPr/>
        </p:nvSpPr>
        <p:spPr>
          <a:xfrm>
            <a:off x="4878514" y="2923196"/>
            <a:ext cx="3112990" cy="43088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Privacy, Security, and Compliance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HIPAA | GDPR</a:t>
            </a:r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917509AE-7618-1A39-0981-375BD8009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1129" y="1087120"/>
            <a:ext cx="2728677" cy="1486535"/>
          </a:xfrm>
          <a:custGeom>
            <a:avLst/>
            <a:gdLst>
              <a:gd name="connsiteX0" fmla="*/ 115799 w 3278135"/>
              <a:gd name="connsiteY0" fmla="*/ 0 h 1528098"/>
              <a:gd name="connsiteX1" fmla="*/ 3162336 w 3278135"/>
              <a:gd name="connsiteY1" fmla="*/ 0 h 1528098"/>
              <a:gd name="connsiteX2" fmla="*/ 3278135 w 3278135"/>
              <a:gd name="connsiteY2" fmla="*/ 115799 h 1528098"/>
              <a:gd name="connsiteX3" fmla="*/ 3278135 w 3278135"/>
              <a:gd name="connsiteY3" fmla="*/ 1412299 h 1528098"/>
              <a:gd name="connsiteX4" fmla="*/ 3162336 w 3278135"/>
              <a:gd name="connsiteY4" fmla="*/ 1528098 h 1528098"/>
              <a:gd name="connsiteX5" fmla="*/ 115799 w 3278135"/>
              <a:gd name="connsiteY5" fmla="*/ 1528098 h 1528098"/>
              <a:gd name="connsiteX6" fmla="*/ 0 w 3278135"/>
              <a:gd name="connsiteY6" fmla="*/ 1412299 h 1528098"/>
              <a:gd name="connsiteX7" fmla="*/ 0 w 3278135"/>
              <a:gd name="connsiteY7" fmla="*/ 115799 h 1528098"/>
              <a:gd name="connsiteX8" fmla="*/ 115799 w 3278135"/>
              <a:gd name="connsiteY8" fmla="*/ 0 h 152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5" h="1528098">
                <a:moveTo>
                  <a:pt x="115799" y="0"/>
                </a:moveTo>
                <a:lnTo>
                  <a:pt x="3162336" y="0"/>
                </a:lnTo>
                <a:cubicBezTo>
                  <a:pt x="3226290" y="0"/>
                  <a:pt x="3278135" y="51845"/>
                  <a:pt x="3278135" y="115799"/>
                </a:cubicBezTo>
                <a:lnTo>
                  <a:pt x="3278135" y="1412299"/>
                </a:lnTo>
                <a:cubicBezTo>
                  <a:pt x="3278135" y="1476253"/>
                  <a:pt x="3226290" y="1528098"/>
                  <a:pt x="3162336" y="1528098"/>
                </a:cubicBezTo>
                <a:lnTo>
                  <a:pt x="115799" y="1528098"/>
                </a:lnTo>
                <a:cubicBezTo>
                  <a:pt x="51845" y="1528098"/>
                  <a:pt x="0" y="1476253"/>
                  <a:pt x="0" y="1412299"/>
                </a:cubicBezTo>
                <a:lnTo>
                  <a:pt x="0" y="115799"/>
                </a:lnTo>
                <a:cubicBezTo>
                  <a:pt x="0" y="51845"/>
                  <a:pt x="51845" y="0"/>
                  <a:pt x="11579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Doctor Using Laptop with Digital Security Icons">
            <a:extLst>
              <a:ext uri="{FF2B5EF4-FFF2-40B4-BE49-F238E27FC236}">
                <a16:creationId xmlns:a16="http://schemas.microsoft.com/office/drawing/2014/main" id="{21824B02-52C5-DE63-F77F-6E2D512ED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4181" y="1087120"/>
            <a:ext cx="2740099" cy="1493520"/>
          </a:xfrm>
          <a:custGeom>
            <a:avLst/>
            <a:gdLst>
              <a:gd name="connsiteX0" fmla="*/ 115799 w 3278135"/>
              <a:gd name="connsiteY0" fmla="*/ 0 h 1528098"/>
              <a:gd name="connsiteX1" fmla="*/ 3162336 w 3278135"/>
              <a:gd name="connsiteY1" fmla="*/ 0 h 1528098"/>
              <a:gd name="connsiteX2" fmla="*/ 3278135 w 3278135"/>
              <a:gd name="connsiteY2" fmla="*/ 115799 h 1528098"/>
              <a:gd name="connsiteX3" fmla="*/ 3278135 w 3278135"/>
              <a:gd name="connsiteY3" fmla="*/ 1412299 h 1528098"/>
              <a:gd name="connsiteX4" fmla="*/ 3162336 w 3278135"/>
              <a:gd name="connsiteY4" fmla="*/ 1528098 h 1528098"/>
              <a:gd name="connsiteX5" fmla="*/ 115799 w 3278135"/>
              <a:gd name="connsiteY5" fmla="*/ 1528098 h 1528098"/>
              <a:gd name="connsiteX6" fmla="*/ 0 w 3278135"/>
              <a:gd name="connsiteY6" fmla="*/ 1412299 h 1528098"/>
              <a:gd name="connsiteX7" fmla="*/ 0 w 3278135"/>
              <a:gd name="connsiteY7" fmla="*/ 115799 h 1528098"/>
              <a:gd name="connsiteX8" fmla="*/ 115799 w 3278135"/>
              <a:gd name="connsiteY8" fmla="*/ 0 h 152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5" h="1528098">
                <a:moveTo>
                  <a:pt x="115799" y="0"/>
                </a:moveTo>
                <a:lnTo>
                  <a:pt x="3162336" y="0"/>
                </a:lnTo>
                <a:cubicBezTo>
                  <a:pt x="3226290" y="0"/>
                  <a:pt x="3278135" y="51845"/>
                  <a:pt x="3278135" y="115799"/>
                </a:cubicBezTo>
                <a:lnTo>
                  <a:pt x="3278135" y="1412299"/>
                </a:lnTo>
                <a:cubicBezTo>
                  <a:pt x="3278135" y="1476253"/>
                  <a:pt x="3226290" y="1528098"/>
                  <a:pt x="3162336" y="1528098"/>
                </a:cubicBezTo>
                <a:lnTo>
                  <a:pt x="115799" y="1528098"/>
                </a:lnTo>
                <a:cubicBezTo>
                  <a:pt x="51845" y="1528098"/>
                  <a:pt x="0" y="1476253"/>
                  <a:pt x="0" y="1412299"/>
                </a:cubicBezTo>
                <a:lnTo>
                  <a:pt x="0" y="115799"/>
                </a:lnTo>
                <a:cubicBezTo>
                  <a:pt x="0" y="51845"/>
                  <a:pt x="51845" y="0"/>
                  <a:pt x="11579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7" descr="Businessman Presents Futuristic Cloud Computing Network">
            <a:extLst>
              <a:ext uri="{FF2B5EF4-FFF2-40B4-BE49-F238E27FC236}">
                <a16:creationId xmlns:a16="http://schemas.microsoft.com/office/drawing/2014/main" id="{3E2BCF62-8AB2-203C-AFBC-AA2CA397B2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238041" y="1097400"/>
            <a:ext cx="2727139" cy="1489512"/>
          </a:xfrm>
          <a:custGeom>
            <a:avLst/>
            <a:gdLst>
              <a:gd name="connsiteX0" fmla="*/ 115799 w 3278135"/>
              <a:gd name="connsiteY0" fmla="*/ 0 h 1528098"/>
              <a:gd name="connsiteX1" fmla="*/ 3162336 w 3278135"/>
              <a:gd name="connsiteY1" fmla="*/ 0 h 1528098"/>
              <a:gd name="connsiteX2" fmla="*/ 3278135 w 3278135"/>
              <a:gd name="connsiteY2" fmla="*/ 115799 h 1528098"/>
              <a:gd name="connsiteX3" fmla="*/ 3278135 w 3278135"/>
              <a:gd name="connsiteY3" fmla="*/ 1412299 h 1528098"/>
              <a:gd name="connsiteX4" fmla="*/ 3162336 w 3278135"/>
              <a:gd name="connsiteY4" fmla="*/ 1528098 h 1528098"/>
              <a:gd name="connsiteX5" fmla="*/ 115799 w 3278135"/>
              <a:gd name="connsiteY5" fmla="*/ 1528098 h 1528098"/>
              <a:gd name="connsiteX6" fmla="*/ 0 w 3278135"/>
              <a:gd name="connsiteY6" fmla="*/ 1412299 h 1528098"/>
              <a:gd name="connsiteX7" fmla="*/ 0 w 3278135"/>
              <a:gd name="connsiteY7" fmla="*/ 115799 h 1528098"/>
              <a:gd name="connsiteX8" fmla="*/ 115799 w 3278135"/>
              <a:gd name="connsiteY8" fmla="*/ 0 h 152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5" h="1528098">
                <a:moveTo>
                  <a:pt x="115799" y="0"/>
                </a:moveTo>
                <a:lnTo>
                  <a:pt x="3162336" y="0"/>
                </a:lnTo>
                <a:cubicBezTo>
                  <a:pt x="3226290" y="0"/>
                  <a:pt x="3278135" y="51845"/>
                  <a:pt x="3278135" y="115799"/>
                </a:cubicBezTo>
                <a:lnTo>
                  <a:pt x="3278135" y="1412299"/>
                </a:lnTo>
                <a:cubicBezTo>
                  <a:pt x="3278135" y="1476253"/>
                  <a:pt x="3226290" y="1528098"/>
                  <a:pt x="3162336" y="1528098"/>
                </a:cubicBezTo>
                <a:lnTo>
                  <a:pt x="115799" y="1528098"/>
                </a:lnTo>
                <a:cubicBezTo>
                  <a:pt x="51845" y="1528098"/>
                  <a:pt x="0" y="1476253"/>
                  <a:pt x="0" y="1412299"/>
                </a:cubicBezTo>
                <a:lnTo>
                  <a:pt x="0" y="115799"/>
                </a:lnTo>
                <a:cubicBezTo>
                  <a:pt x="0" y="51845"/>
                  <a:pt x="51845" y="0"/>
                  <a:pt x="11579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9">
            <a:extLst>
              <a:ext uri="{FF2B5EF4-FFF2-40B4-BE49-F238E27FC236}">
                <a16:creationId xmlns:a16="http://schemas.microsoft.com/office/drawing/2014/main" id="{E5C7DF3D-69DA-71B7-FC36-3F11F17E3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5"/>
          <a:stretch/>
        </p:blipFill>
        <p:spPr bwMode="auto">
          <a:xfrm>
            <a:off x="1365471" y="3820160"/>
            <a:ext cx="2734089" cy="1457960"/>
          </a:xfrm>
          <a:custGeom>
            <a:avLst/>
            <a:gdLst>
              <a:gd name="connsiteX0" fmla="*/ 115799 w 3278135"/>
              <a:gd name="connsiteY0" fmla="*/ 0 h 1528098"/>
              <a:gd name="connsiteX1" fmla="*/ 3162336 w 3278135"/>
              <a:gd name="connsiteY1" fmla="*/ 0 h 1528098"/>
              <a:gd name="connsiteX2" fmla="*/ 3278135 w 3278135"/>
              <a:gd name="connsiteY2" fmla="*/ 115799 h 1528098"/>
              <a:gd name="connsiteX3" fmla="*/ 3278135 w 3278135"/>
              <a:gd name="connsiteY3" fmla="*/ 1412299 h 1528098"/>
              <a:gd name="connsiteX4" fmla="*/ 3162336 w 3278135"/>
              <a:gd name="connsiteY4" fmla="*/ 1528098 h 1528098"/>
              <a:gd name="connsiteX5" fmla="*/ 115799 w 3278135"/>
              <a:gd name="connsiteY5" fmla="*/ 1528098 h 1528098"/>
              <a:gd name="connsiteX6" fmla="*/ 0 w 3278135"/>
              <a:gd name="connsiteY6" fmla="*/ 1412299 h 1528098"/>
              <a:gd name="connsiteX7" fmla="*/ 0 w 3278135"/>
              <a:gd name="connsiteY7" fmla="*/ 115799 h 1528098"/>
              <a:gd name="connsiteX8" fmla="*/ 115799 w 3278135"/>
              <a:gd name="connsiteY8" fmla="*/ 0 h 152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5" h="1528098">
                <a:moveTo>
                  <a:pt x="115799" y="0"/>
                </a:moveTo>
                <a:lnTo>
                  <a:pt x="3162336" y="0"/>
                </a:lnTo>
                <a:cubicBezTo>
                  <a:pt x="3226290" y="0"/>
                  <a:pt x="3278135" y="51845"/>
                  <a:pt x="3278135" y="115799"/>
                </a:cubicBezTo>
                <a:lnTo>
                  <a:pt x="3278135" y="1412299"/>
                </a:lnTo>
                <a:cubicBezTo>
                  <a:pt x="3278135" y="1476253"/>
                  <a:pt x="3226290" y="1528098"/>
                  <a:pt x="3162336" y="1528098"/>
                </a:cubicBezTo>
                <a:lnTo>
                  <a:pt x="115799" y="1528098"/>
                </a:lnTo>
                <a:cubicBezTo>
                  <a:pt x="51845" y="1528098"/>
                  <a:pt x="0" y="1476253"/>
                  <a:pt x="0" y="1412299"/>
                </a:cubicBezTo>
                <a:lnTo>
                  <a:pt x="0" y="115799"/>
                </a:lnTo>
                <a:cubicBezTo>
                  <a:pt x="0" y="51845"/>
                  <a:pt x="51845" y="0"/>
                  <a:pt x="11579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1">
            <a:extLst>
              <a:ext uri="{FF2B5EF4-FFF2-40B4-BE49-F238E27FC236}">
                <a16:creationId xmlns:a16="http://schemas.microsoft.com/office/drawing/2014/main" id="{C805F56B-BF7B-3FB9-5BDC-D257B8F73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2" b="3918"/>
          <a:stretch/>
        </p:blipFill>
        <p:spPr bwMode="auto">
          <a:xfrm>
            <a:off x="4837802" y="3800781"/>
            <a:ext cx="2721237" cy="1495112"/>
          </a:xfrm>
          <a:custGeom>
            <a:avLst/>
            <a:gdLst>
              <a:gd name="connsiteX0" fmla="*/ 115799 w 3278135"/>
              <a:gd name="connsiteY0" fmla="*/ 0 h 1528098"/>
              <a:gd name="connsiteX1" fmla="*/ 3162336 w 3278135"/>
              <a:gd name="connsiteY1" fmla="*/ 0 h 1528098"/>
              <a:gd name="connsiteX2" fmla="*/ 3278135 w 3278135"/>
              <a:gd name="connsiteY2" fmla="*/ 115799 h 1528098"/>
              <a:gd name="connsiteX3" fmla="*/ 3278135 w 3278135"/>
              <a:gd name="connsiteY3" fmla="*/ 1412299 h 1528098"/>
              <a:gd name="connsiteX4" fmla="*/ 3162336 w 3278135"/>
              <a:gd name="connsiteY4" fmla="*/ 1528098 h 1528098"/>
              <a:gd name="connsiteX5" fmla="*/ 115799 w 3278135"/>
              <a:gd name="connsiteY5" fmla="*/ 1528098 h 1528098"/>
              <a:gd name="connsiteX6" fmla="*/ 0 w 3278135"/>
              <a:gd name="connsiteY6" fmla="*/ 1412299 h 1528098"/>
              <a:gd name="connsiteX7" fmla="*/ 0 w 3278135"/>
              <a:gd name="connsiteY7" fmla="*/ 115799 h 1528098"/>
              <a:gd name="connsiteX8" fmla="*/ 115799 w 3278135"/>
              <a:gd name="connsiteY8" fmla="*/ 0 h 152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8135" h="1528098">
                <a:moveTo>
                  <a:pt x="115799" y="0"/>
                </a:moveTo>
                <a:lnTo>
                  <a:pt x="3162336" y="0"/>
                </a:lnTo>
                <a:cubicBezTo>
                  <a:pt x="3226290" y="0"/>
                  <a:pt x="3278135" y="51845"/>
                  <a:pt x="3278135" y="115799"/>
                </a:cubicBezTo>
                <a:lnTo>
                  <a:pt x="3278135" y="1412299"/>
                </a:lnTo>
                <a:cubicBezTo>
                  <a:pt x="3278135" y="1476253"/>
                  <a:pt x="3226290" y="1528098"/>
                  <a:pt x="3162336" y="1528098"/>
                </a:cubicBezTo>
                <a:lnTo>
                  <a:pt x="115799" y="1528098"/>
                </a:lnTo>
                <a:cubicBezTo>
                  <a:pt x="51845" y="1528098"/>
                  <a:pt x="0" y="1476253"/>
                  <a:pt x="0" y="1412299"/>
                </a:cubicBezTo>
                <a:lnTo>
                  <a:pt x="0" y="115799"/>
                </a:lnTo>
                <a:cubicBezTo>
                  <a:pt x="0" y="51845"/>
                  <a:pt x="51845" y="0"/>
                  <a:pt x="11579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0612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91DA-B11F-7F33-384D-658364D1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2E1D-0489-FD70-57A8-0091A436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Compliances &amp; Certifications Experience</a:t>
            </a:r>
          </a:p>
        </p:txBody>
      </p:sp>
      <p:sp>
        <p:nvSpPr>
          <p:cNvPr id="3" name="Rounded Rectangle 25">
            <a:extLst>
              <a:ext uri="{FF2B5EF4-FFF2-40B4-BE49-F238E27FC236}">
                <a16:creationId xmlns:a16="http://schemas.microsoft.com/office/drawing/2014/main" id="{B9DF26D7-9D3E-4983-2911-1296CA34377B}"/>
              </a:ext>
            </a:extLst>
          </p:cNvPr>
          <p:cNvSpPr/>
          <p:nvPr/>
        </p:nvSpPr>
        <p:spPr>
          <a:xfrm>
            <a:off x="6290851" y="2269647"/>
            <a:ext cx="5420484" cy="3053470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>
            <a:noFill/>
          </a:ln>
          <a:effectLst>
            <a:outerShdw blurRad="185403" dist="38100" dir="5400000" algn="t" rotWithShape="0">
              <a:prstClr val="black">
                <a:alpha val="1985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1">
            <a:extLst>
              <a:ext uri="{FF2B5EF4-FFF2-40B4-BE49-F238E27FC236}">
                <a16:creationId xmlns:a16="http://schemas.microsoft.com/office/drawing/2014/main" id="{BB484B4F-3D9D-48E0-133C-A3644240BC6D}"/>
              </a:ext>
            </a:extLst>
          </p:cNvPr>
          <p:cNvSpPr/>
          <p:nvPr/>
        </p:nvSpPr>
        <p:spPr>
          <a:xfrm>
            <a:off x="6570884" y="4468136"/>
            <a:ext cx="2310698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5D8CF003-D7EE-2DFD-D782-8678B6E47F69}"/>
              </a:ext>
            </a:extLst>
          </p:cNvPr>
          <p:cNvSpPr/>
          <p:nvPr/>
        </p:nvSpPr>
        <p:spPr>
          <a:xfrm>
            <a:off x="9037164" y="4468136"/>
            <a:ext cx="1821712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le 28">
            <a:extLst>
              <a:ext uri="{FF2B5EF4-FFF2-40B4-BE49-F238E27FC236}">
                <a16:creationId xmlns:a16="http://schemas.microsoft.com/office/drawing/2014/main" id="{C16AEC21-1DD1-170A-6D59-E4242965C7A1}"/>
              </a:ext>
            </a:extLst>
          </p:cNvPr>
          <p:cNvSpPr/>
          <p:nvPr/>
        </p:nvSpPr>
        <p:spPr>
          <a:xfrm>
            <a:off x="6570884" y="3071210"/>
            <a:ext cx="1616038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ounded Rectangle 29">
            <a:extLst>
              <a:ext uri="{FF2B5EF4-FFF2-40B4-BE49-F238E27FC236}">
                <a16:creationId xmlns:a16="http://schemas.microsoft.com/office/drawing/2014/main" id="{A7467407-0865-3AAC-3BCC-E3A67264E07E}"/>
              </a:ext>
            </a:extLst>
          </p:cNvPr>
          <p:cNvSpPr/>
          <p:nvPr/>
        </p:nvSpPr>
        <p:spPr>
          <a:xfrm>
            <a:off x="8314624" y="3071210"/>
            <a:ext cx="1400310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ounded Rectangle 30">
            <a:extLst>
              <a:ext uri="{FF2B5EF4-FFF2-40B4-BE49-F238E27FC236}">
                <a16:creationId xmlns:a16="http://schemas.microsoft.com/office/drawing/2014/main" id="{E9FA1F0E-51AF-6ADB-209C-577B9F9650CB}"/>
              </a:ext>
            </a:extLst>
          </p:cNvPr>
          <p:cNvSpPr/>
          <p:nvPr/>
        </p:nvSpPr>
        <p:spPr>
          <a:xfrm>
            <a:off x="9845712" y="3071210"/>
            <a:ext cx="1637303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ound Same-side Corner of Rectangle 26">
            <a:extLst>
              <a:ext uri="{FF2B5EF4-FFF2-40B4-BE49-F238E27FC236}">
                <a16:creationId xmlns:a16="http://schemas.microsoft.com/office/drawing/2014/main" id="{BFE8AB29-EBAD-C8E1-AF87-40EC291E3C68}"/>
              </a:ext>
            </a:extLst>
          </p:cNvPr>
          <p:cNvSpPr/>
          <p:nvPr/>
        </p:nvSpPr>
        <p:spPr>
          <a:xfrm>
            <a:off x="6290850" y="2269646"/>
            <a:ext cx="5420485" cy="56064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  <a:sym typeface="Arial"/>
              </a:rPr>
              <a:t>A Few of Our Clients</a:t>
            </a:r>
          </a:p>
        </p:txBody>
      </p:sp>
      <p:pic>
        <p:nvPicPr>
          <p:cNvPr id="10" name="Picture 4" descr="Medtronic Vector Logo - Download Free ...">
            <a:extLst>
              <a:ext uri="{FF2B5EF4-FFF2-40B4-BE49-F238E27FC236}">
                <a16:creationId xmlns:a16="http://schemas.microsoft.com/office/drawing/2014/main" id="{20E5D339-AAAF-2226-4D5D-C60726DE8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7136" y="3241079"/>
            <a:ext cx="1345610" cy="22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Frank Chen as Chief Operating Officer">
            <a:extLst>
              <a:ext uri="{FF2B5EF4-FFF2-40B4-BE49-F238E27FC236}">
                <a16:creationId xmlns:a16="http://schemas.microsoft.com/office/drawing/2014/main" id="{70FB4D30-9FB7-9AF0-57B5-DA3793B681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641" b="13641"/>
          <a:stretch/>
        </p:blipFill>
        <p:spPr bwMode="auto">
          <a:xfrm>
            <a:off x="10007369" y="3116455"/>
            <a:ext cx="1312612" cy="49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Smith &amp; Nephew Vector Logo - Download ...">
            <a:extLst>
              <a:ext uri="{FF2B5EF4-FFF2-40B4-BE49-F238E27FC236}">
                <a16:creationId xmlns:a16="http://schemas.microsoft.com/office/drawing/2014/main" id="{744E65EC-AD23-BEB6-7701-A03F3E851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3987" y="4583363"/>
            <a:ext cx="2047008" cy="33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E9A125-2CA1-4916-36C6-1FDE8166A6D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4645" y="3170539"/>
            <a:ext cx="1168287" cy="3663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98FFBE2-C30E-C0A7-B8FB-923B54E5D22F}"/>
              </a:ext>
            </a:extLst>
          </p:cNvPr>
          <p:cNvGrpSpPr/>
          <p:nvPr/>
        </p:nvGrpSpPr>
        <p:grpSpPr>
          <a:xfrm>
            <a:off x="543624" y="2269646"/>
            <a:ext cx="5420485" cy="3980509"/>
            <a:chOff x="387828" y="1383972"/>
            <a:chExt cx="5420485" cy="3980509"/>
          </a:xfrm>
        </p:grpSpPr>
        <p:sp>
          <p:nvSpPr>
            <p:cNvPr id="15" name="Rounded Rectangle 1">
              <a:extLst>
                <a:ext uri="{FF2B5EF4-FFF2-40B4-BE49-F238E27FC236}">
                  <a16:creationId xmlns:a16="http://schemas.microsoft.com/office/drawing/2014/main" id="{4271F293-6F0E-7615-566F-BBB56256AA18}"/>
                </a:ext>
              </a:extLst>
            </p:cNvPr>
            <p:cNvSpPr/>
            <p:nvPr/>
          </p:nvSpPr>
          <p:spPr>
            <a:xfrm>
              <a:off x="387829" y="1383973"/>
              <a:ext cx="5420484" cy="3980508"/>
            </a:xfrm>
            <a:prstGeom prst="roundRect">
              <a:avLst>
                <a:gd name="adj" fmla="val 2646"/>
              </a:avLst>
            </a:prstGeom>
            <a:solidFill>
              <a:schemeClr val="bg1"/>
            </a:solidFill>
            <a:ln>
              <a:noFill/>
            </a:ln>
            <a:effectLst>
              <a:outerShdw blurRad="185403" dist="38100" dir="5400000" algn="t" rotWithShape="0">
                <a:prstClr val="black">
                  <a:alpha val="1985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ound Same-side Corner of Rectangle 3">
              <a:extLst>
                <a:ext uri="{FF2B5EF4-FFF2-40B4-BE49-F238E27FC236}">
                  <a16:creationId xmlns:a16="http://schemas.microsoft.com/office/drawing/2014/main" id="{05875F5A-E979-ED98-94C3-3A47CA9C8810}"/>
                </a:ext>
              </a:extLst>
            </p:cNvPr>
            <p:cNvSpPr/>
            <p:nvPr/>
          </p:nvSpPr>
          <p:spPr>
            <a:xfrm>
              <a:off x="387828" y="1383972"/>
              <a:ext cx="5420485" cy="56064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Compliances &amp; Certifications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2BB2B3-DE2C-E0F6-9EB8-DB3C5DA9F97E}"/>
                </a:ext>
              </a:extLst>
            </p:cNvPr>
            <p:cNvSpPr txBox="1"/>
            <p:nvPr/>
          </p:nvSpPr>
          <p:spPr>
            <a:xfrm>
              <a:off x="609634" y="2076287"/>
              <a:ext cx="5198679" cy="2031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numCol="2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ISO 13485 QMS implementation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ISO 14971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IEC 60601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ISO 14001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UL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ICMED 13485  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ICMED 9000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FCC/IC  50980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CE Certification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IEC 60601-1 Safety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RoHS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IEC 60601-1-2 EMC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IEC 60601-2-18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IEC 62304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77"/>
                  <a:ea typeface="+mn-ea"/>
                  <a:cs typeface="Arial"/>
                  <a:sym typeface="Arial"/>
                </a:rPr>
                <a:t>FDA guidance for Cyber Security. 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AAE1BC-D12B-7FE5-762E-4B27E8C96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7685" y="4523818"/>
              <a:ext cx="1397000" cy="546100"/>
            </a:xfrm>
            <a:prstGeom prst="rect">
              <a:avLst/>
            </a:prstGeom>
          </p:spPr>
        </p:pic>
        <p:pic>
          <p:nvPicPr>
            <p:cNvPr id="19" name="Picture 2" descr="Iso 27001 2013 standard certified - information Vector Image">
              <a:extLst>
                <a:ext uri="{FF2B5EF4-FFF2-40B4-BE49-F238E27FC236}">
                  <a16:creationId xmlns:a16="http://schemas.microsoft.com/office/drawing/2014/main" id="{55967222-8069-5F0B-F42F-59D5414DA3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311" t="5374" r="16311" b="13108"/>
            <a:stretch/>
          </p:blipFill>
          <p:spPr bwMode="auto">
            <a:xfrm>
              <a:off x="2370258" y="4494457"/>
              <a:ext cx="570855" cy="604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F5B94550-4F2E-8359-0058-37AE577184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307479" y="4374719"/>
              <a:ext cx="829114" cy="84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421B579-FC97-6B7B-096A-F78009085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05459" y="4492639"/>
              <a:ext cx="1095227" cy="608459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67E71B-BC87-B376-3B5A-8647809C39A9}"/>
                </a:ext>
              </a:extLst>
            </p:cNvPr>
            <p:cNvCxnSpPr>
              <a:cxnSpLocks/>
            </p:cNvCxnSpPr>
            <p:nvPr/>
          </p:nvCxnSpPr>
          <p:spPr>
            <a:xfrm>
              <a:off x="612392" y="4230178"/>
              <a:ext cx="4971359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26F3870C-3FA8-28AC-EDBA-CA9345D0F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21572" y="4568624"/>
            <a:ext cx="1465312" cy="36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ounded Rectangle 41">
            <a:extLst>
              <a:ext uri="{FF2B5EF4-FFF2-40B4-BE49-F238E27FC236}">
                <a16:creationId xmlns:a16="http://schemas.microsoft.com/office/drawing/2014/main" id="{492262A0-D32D-FFE0-D9AD-A139C3D1C055}"/>
              </a:ext>
            </a:extLst>
          </p:cNvPr>
          <p:cNvSpPr/>
          <p:nvPr/>
        </p:nvSpPr>
        <p:spPr>
          <a:xfrm>
            <a:off x="7882233" y="3755514"/>
            <a:ext cx="1168286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ounded Rectangle 42">
            <a:extLst>
              <a:ext uri="{FF2B5EF4-FFF2-40B4-BE49-F238E27FC236}">
                <a16:creationId xmlns:a16="http://schemas.microsoft.com/office/drawing/2014/main" id="{4B02A72D-E1DE-45BA-D7F0-933A2E4D5472}"/>
              </a:ext>
            </a:extLst>
          </p:cNvPr>
          <p:cNvSpPr/>
          <p:nvPr/>
        </p:nvSpPr>
        <p:spPr>
          <a:xfrm>
            <a:off x="9186493" y="3755514"/>
            <a:ext cx="911722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ounded Rectangle 43">
            <a:extLst>
              <a:ext uri="{FF2B5EF4-FFF2-40B4-BE49-F238E27FC236}">
                <a16:creationId xmlns:a16="http://schemas.microsoft.com/office/drawing/2014/main" id="{C43863F0-7A81-3E64-57E7-1841C0BC715C}"/>
              </a:ext>
            </a:extLst>
          </p:cNvPr>
          <p:cNvSpPr/>
          <p:nvPr/>
        </p:nvSpPr>
        <p:spPr>
          <a:xfrm>
            <a:off x="10234189" y="3755514"/>
            <a:ext cx="1254729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ounded Rectangle 44">
            <a:extLst>
              <a:ext uri="{FF2B5EF4-FFF2-40B4-BE49-F238E27FC236}">
                <a16:creationId xmlns:a16="http://schemas.microsoft.com/office/drawing/2014/main" id="{D8888DD7-FDA5-D477-78EF-DB6CC5B5A980}"/>
              </a:ext>
            </a:extLst>
          </p:cNvPr>
          <p:cNvSpPr/>
          <p:nvPr/>
        </p:nvSpPr>
        <p:spPr>
          <a:xfrm>
            <a:off x="6570884" y="3755514"/>
            <a:ext cx="1168286" cy="567305"/>
          </a:xfrm>
          <a:prstGeom prst="roundRect">
            <a:avLst>
              <a:gd name="adj" fmla="val 11669"/>
            </a:avLst>
          </a:prstGeom>
          <a:solidFill>
            <a:schemeClr val="bg1"/>
          </a:solidFill>
          <a:ln>
            <a:noFill/>
          </a:ln>
          <a:effectLst>
            <a:outerShdw blurRad="162572" dist="38100" dir="5400000" algn="t" rotWithShape="0">
              <a:prstClr val="black">
                <a:alpha val="1470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Picture 2" descr="Surgical Intelligence and Sensing Platform">
            <a:extLst>
              <a:ext uri="{FF2B5EF4-FFF2-40B4-BE49-F238E27FC236}">
                <a16:creationId xmlns:a16="http://schemas.microsoft.com/office/drawing/2014/main" id="{509A7A61-B2C6-05F3-FAA4-02086CA5A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7136" y="3891024"/>
            <a:ext cx="884294" cy="29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7492C38-418C-85C2-784D-69FB27E522B5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567" y="3922562"/>
            <a:ext cx="1055921" cy="257280"/>
          </a:xfrm>
          <a:prstGeom prst="rect">
            <a:avLst/>
          </a:prstGeom>
        </p:spPr>
      </p:pic>
      <p:pic>
        <p:nvPicPr>
          <p:cNvPr id="30" name="Picture 4" descr="Cala Health Raises $77M to Expand Patient Access and Fuel Continued  Innovation - UCSF Rosenman Institute">
            <a:extLst>
              <a:ext uri="{FF2B5EF4-FFF2-40B4-BE49-F238E27FC236}">
                <a16:creationId xmlns:a16="http://schemas.microsoft.com/office/drawing/2014/main" id="{F0D402B5-F8E4-7181-3A09-B97D732EC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50554" y="3788436"/>
            <a:ext cx="808463" cy="53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Lenexa Smart Mattress - Glo-Med Networks">
            <a:extLst>
              <a:ext uri="{FF2B5EF4-FFF2-40B4-BE49-F238E27FC236}">
                <a16:creationId xmlns:a16="http://schemas.microsoft.com/office/drawing/2014/main" id="{E5C3F1E9-3641-9490-4E55-FCC94BF28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75640" y="3915007"/>
            <a:ext cx="995916" cy="24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6671C75-BCC1-AF08-1AFE-86A2E0946BF2}"/>
              </a:ext>
            </a:extLst>
          </p:cNvPr>
          <p:cNvSpPr txBox="1"/>
          <p:nvPr/>
        </p:nvSpPr>
        <p:spPr>
          <a:xfrm>
            <a:off x="763101" y="1046391"/>
            <a:ext cx="103924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Quality-First Approach for Device Innovation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Innominds operates with strict adherence to international healthcare and medical device standards, ensuring compliance across the entire product lifecycle.</a:t>
            </a:r>
          </a:p>
        </p:txBody>
      </p:sp>
    </p:spTree>
    <p:extLst>
      <p:ext uri="{BB962C8B-B14F-4D97-AF65-F5344CB8AC3E}">
        <p14:creationId xmlns:p14="http://schemas.microsoft.com/office/powerpoint/2010/main" val="17499717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095F-8C9A-8DA1-DF25-90BF8DC8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Integrated Talent Transition &amp; Continuity Model</a:t>
            </a:r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449796-E776-9F2F-2BA8-298521F1F052}"/>
              </a:ext>
            </a:extLst>
          </p:cNvPr>
          <p:cNvGrpSpPr/>
          <p:nvPr/>
        </p:nvGrpSpPr>
        <p:grpSpPr>
          <a:xfrm>
            <a:off x="152400" y="3363685"/>
            <a:ext cx="11887200" cy="457200"/>
            <a:chOff x="152400" y="3363685"/>
            <a:chExt cx="11887200" cy="4572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C530CC-30C5-591B-3200-E676B37024D7}"/>
                </a:ext>
              </a:extLst>
            </p:cNvPr>
            <p:cNvSpPr/>
            <p:nvPr/>
          </p:nvSpPr>
          <p:spPr>
            <a:xfrm>
              <a:off x="152400" y="3363685"/>
              <a:ext cx="11887200" cy="457200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BDF5252-E719-C75B-AE9B-E4D92C3672B8}"/>
                </a:ext>
              </a:extLst>
            </p:cNvPr>
            <p:cNvSpPr/>
            <p:nvPr/>
          </p:nvSpPr>
          <p:spPr>
            <a:xfrm>
              <a:off x="152400" y="3544509"/>
              <a:ext cx="11887200" cy="95553"/>
            </a:xfrm>
            <a:prstGeom prst="roundRect">
              <a:avLst>
                <a:gd name="adj" fmla="val 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B176297-46B4-BBC8-0EA3-130803F1CDAD}"/>
              </a:ext>
            </a:extLst>
          </p:cNvPr>
          <p:cNvGrpSpPr/>
          <p:nvPr/>
        </p:nvGrpSpPr>
        <p:grpSpPr>
          <a:xfrm>
            <a:off x="786851" y="895154"/>
            <a:ext cx="3283793" cy="5067692"/>
            <a:chOff x="656836" y="1039194"/>
            <a:chExt cx="3283793" cy="506769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729384F-0FFC-A126-1CD8-7ECE016265DB}"/>
                </a:ext>
              </a:extLst>
            </p:cNvPr>
            <p:cNvSpPr/>
            <p:nvPr/>
          </p:nvSpPr>
          <p:spPr>
            <a:xfrm>
              <a:off x="656836" y="1039194"/>
              <a:ext cx="3283793" cy="5067692"/>
            </a:xfrm>
            <a:prstGeom prst="roundRect">
              <a:avLst>
                <a:gd name="adj" fmla="val 5552"/>
              </a:avLst>
            </a:prstGeom>
            <a:solidFill>
              <a:schemeClr val="bg1"/>
            </a:solidFill>
            <a:ln w="12700">
              <a:solidFill>
                <a:srgbClr val="00B0F0"/>
              </a:solidFill>
            </a:ln>
            <a:effectLst>
              <a:outerShdw dist="38100" dir="5400000" algn="t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b"/>
            <a:lstStyle/>
            <a:p>
              <a:pPr marL="171450" indent="-171450">
                <a:spcBef>
                  <a:spcPts val="12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endParaRPr lang="en-US" sz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C4220E-281F-EEA4-B1E0-BAFFE1FD5717}"/>
                </a:ext>
              </a:extLst>
            </p:cNvPr>
            <p:cNvSpPr/>
            <p:nvPr/>
          </p:nvSpPr>
          <p:spPr>
            <a:xfrm>
              <a:off x="656836" y="1205640"/>
              <a:ext cx="3283793" cy="73685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600" b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Rebadging Process / Approach</a:t>
              </a:r>
              <a:endPara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9496ED4-8882-B1E3-F81A-369E8D9442C9}"/>
              </a:ext>
            </a:extLst>
          </p:cNvPr>
          <p:cNvGrpSpPr/>
          <p:nvPr/>
        </p:nvGrpSpPr>
        <p:grpSpPr>
          <a:xfrm>
            <a:off x="4386412" y="899774"/>
            <a:ext cx="3283793" cy="5067692"/>
            <a:chOff x="656836" y="1039194"/>
            <a:chExt cx="3283793" cy="506769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D983B38-F20B-A76E-BD1A-1538270A55C1}"/>
                </a:ext>
              </a:extLst>
            </p:cNvPr>
            <p:cNvSpPr/>
            <p:nvPr/>
          </p:nvSpPr>
          <p:spPr>
            <a:xfrm>
              <a:off x="656836" y="1039194"/>
              <a:ext cx="3283793" cy="5067692"/>
            </a:xfrm>
            <a:prstGeom prst="roundRect">
              <a:avLst>
                <a:gd name="adj" fmla="val 5552"/>
              </a:avLst>
            </a:prstGeom>
            <a:solidFill>
              <a:schemeClr val="bg1"/>
            </a:solidFill>
            <a:ln w="12700">
              <a:solidFill>
                <a:srgbClr val="00B0F0"/>
              </a:solidFill>
            </a:ln>
            <a:effectLst>
              <a:outerShdw dist="38100" dir="5400000" algn="t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b"/>
            <a:lstStyle/>
            <a:p>
              <a:pPr marL="171450" indent="-171450">
                <a:spcBef>
                  <a:spcPts val="12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endParaRPr lang="en-US" sz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C66362-95D5-4440-22DC-BC7A65667EFF}"/>
                </a:ext>
              </a:extLst>
            </p:cNvPr>
            <p:cNvSpPr/>
            <p:nvPr/>
          </p:nvSpPr>
          <p:spPr>
            <a:xfrm>
              <a:off x="656836" y="1205640"/>
              <a:ext cx="3283793" cy="73685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600" b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Innominds Talent Pool Leverage</a:t>
              </a:r>
              <a:endPara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BBE819B-DB5C-D6B2-AAAC-DBD0C5D0499E}"/>
              </a:ext>
            </a:extLst>
          </p:cNvPr>
          <p:cNvSpPr txBox="1"/>
          <p:nvPr/>
        </p:nvSpPr>
        <p:spPr>
          <a:xfrm>
            <a:off x="940690" y="1905939"/>
            <a:ext cx="296837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critical incumbent vendor resources based on skill fit, performance, and program dependency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Conduct joint technical and domain assessments with Convatec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Seamless rebadging into Innominds with role continuity and minimal disruption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Accelerated onboarding aligned to existing delivery workflows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Retention-first strategy to preserve domain knowledge and delivery velocity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F25C86-4ACB-A29E-D14D-6EC7DAC2EA53}"/>
              </a:ext>
            </a:extLst>
          </p:cNvPr>
          <p:cNvSpPr txBox="1"/>
          <p:nvPr/>
        </p:nvSpPr>
        <p:spPr>
          <a:xfrm>
            <a:off x="4498047" y="1905939"/>
            <a:ext cx="2968370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Leverage pre-vetted Innominds resources from existing delivery pools and CoEs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Rapid deployment for short-term needs, scale-up scenarios, or niche skills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Plug-and-play integration into Convatec programs</a:t>
            </a:r>
          </a:p>
          <a:p>
            <a:pPr marL="171450" marR="0" lvl="0" indent="-171450" fontAlgn="auto">
              <a:spcBef>
                <a:spcPts val="1200"/>
              </a:spcBef>
              <a:spcAft>
                <a:spcPts val="60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Ensures speed, flexibility, and risk mitigation during transition and steady state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6F425A-CF2B-FBDC-41CE-EB2DBD57A6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10242" y="5355100"/>
            <a:ext cx="576000" cy="57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1AAD9A-9AE5-1D79-469D-21B7AA0690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35140" y="5299823"/>
            <a:ext cx="631277" cy="63127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AAA4F51-24CC-1ED8-A34B-CC57DEF0FDBD}"/>
              </a:ext>
            </a:extLst>
          </p:cNvPr>
          <p:cNvGrpSpPr/>
          <p:nvPr/>
        </p:nvGrpSpPr>
        <p:grpSpPr>
          <a:xfrm>
            <a:off x="7985974" y="886034"/>
            <a:ext cx="3283793" cy="5067692"/>
            <a:chOff x="7985974" y="886034"/>
            <a:chExt cx="3283793" cy="506769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3AD4BC1-C0AE-DD8F-D51D-5BD02F21FE02}"/>
                </a:ext>
              </a:extLst>
            </p:cNvPr>
            <p:cNvGrpSpPr/>
            <p:nvPr/>
          </p:nvGrpSpPr>
          <p:grpSpPr>
            <a:xfrm>
              <a:off x="7985974" y="886034"/>
              <a:ext cx="3283793" cy="5067692"/>
              <a:chOff x="656836" y="1039194"/>
              <a:chExt cx="3283793" cy="5067692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D9E3AC1-CB01-3730-ACB5-8859A8092F9C}"/>
                  </a:ext>
                </a:extLst>
              </p:cNvPr>
              <p:cNvSpPr/>
              <p:nvPr/>
            </p:nvSpPr>
            <p:spPr>
              <a:xfrm>
                <a:off x="656836" y="1039194"/>
                <a:ext cx="3283793" cy="5067692"/>
              </a:xfrm>
              <a:prstGeom prst="roundRect">
                <a:avLst>
                  <a:gd name="adj" fmla="val 5552"/>
                </a:avLst>
              </a:prstGeom>
              <a:solidFill>
                <a:schemeClr val="bg1"/>
              </a:solidFill>
              <a:ln w="12700">
                <a:solidFill>
                  <a:srgbClr val="00B0F0"/>
                </a:solidFill>
              </a:ln>
              <a:effectLst>
                <a:outerShdw dist="38100" dir="5400000" algn="t" rotWithShape="0">
                  <a:srgbClr val="00B0F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91440" rtlCol="0" anchor="b"/>
              <a:lstStyle/>
              <a:p>
                <a:pPr marL="171450" indent="-171450">
                  <a:spcBef>
                    <a:spcPts val="1200"/>
                  </a:spcBef>
                  <a:buClr>
                    <a:srgbClr val="00B0F0"/>
                  </a:buClr>
                  <a:buFont typeface="Wingdings" panose="05000000000000000000" pitchFamily="2" charset="2"/>
                  <a:buChar char="Ø"/>
                </a:pPr>
                <a:endParaRPr lang="en-US" sz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6CA8699-CC08-4F45-FDD9-063F2B6B2EDD}"/>
                  </a:ext>
                </a:extLst>
              </p:cNvPr>
              <p:cNvSpPr/>
              <p:nvPr/>
            </p:nvSpPr>
            <p:spPr>
              <a:xfrm>
                <a:off x="656836" y="1205640"/>
                <a:ext cx="3283793" cy="736853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6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New Hiring Process / Approach</a:t>
                </a:r>
                <a:endParaRPr lang="en-US" sz="16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CAFEC18-7121-E51F-C9E1-2D039A21A2B4}"/>
                </a:ext>
              </a:extLst>
            </p:cNvPr>
            <p:cNvSpPr txBox="1"/>
            <p:nvPr/>
          </p:nvSpPr>
          <p:spPr>
            <a:xfrm>
              <a:off x="8077414" y="1894509"/>
              <a:ext cx="2968370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fontAlgn="auto">
                <a:spcBef>
                  <a:spcPts val="1200"/>
                </a:spcBef>
                <a:spcAft>
                  <a:spcPts val="600"/>
                </a:spcAft>
                <a:buClr>
                  <a:srgbClr val="00B0F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Targeted hiring for skill gaps across Quality, Data, Digital, and Cloud Engineering</a:t>
              </a:r>
            </a:p>
            <a:p>
              <a:pPr marL="171450" marR="0" lvl="0" indent="-171450" fontAlgn="auto">
                <a:spcBef>
                  <a:spcPts val="1200"/>
                </a:spcBef>
                <a:spcAft>
                  <a:spcPts val="600"/>
                </a:spcAft>
                <a:buClr>
                  <a:srgbClr val="00B0F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Priority sourcing aligned to Convatec’s technology stack and compliance needs</a:t>
              </a:r>
            </a:p>
            <a:p>
              <a:pPr marL="171450" marR="0" lvl="0" indent="-171450" fontAlgn="auto">
                <a:spcBef>
                  <a:spcPts val="1200"/>
                </a:spcBef>
                <a:spcAft>
                  <a:spcPts val="600"/>
                </a:spcAft>
                <a:buClr>
                  <a:srgbClr val="00B0F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Parallel hiring and onboarding to avoid delivery impact</a:t>
              </a:r>
            </a:p>
            <a:p>
              <a:pPr marL="171450" marR="0" lvl="0" indent="-171450" fontAlgn="auto">
                <a:spcBef>
                  <a:spcPts val="1200"/>
                </a:spcBef>
                <a:spcAft>
                  <a:spcPts val="600"/>
                </a:spcAft>
                <a:buClr>
                  <a:srgbClr val="00B0F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Structured knowledge transfer and shadowing with rebadged/tenured resources</a:t>
              </a:r>
            </a:p>
            <a:p>
              <a:pPr marL="171450" marR="0" lvl="0" indent="-171450" fontAlgn="auto">
                <a:spcBef>
                  <a:spcPts val="1200"/>
                </a:spcBef>
                <a:spcAft>
                  <a:spcPts val="600"/>
                </a:spcAft>
                <a:buClr>
                  <a:srgbClr val="00B0F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Rapid productivity enablement through standardized onboarding playbooks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E103677-D550-B407-80BA-1B2B8F45C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561224" y="5343670"/>
              <a:ext cx="576000" cy="57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4436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12064" y="182880"/>
            <a:ext cx="1146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Innominds Chrome OS Services</a:t>
            </a:r>
          </a:p>
        </p:txBody>
      </p:sp>
      <p:sp>
        <p:nvSpPr>
          <p:cNvPr id="6" name="Text 4"/>
          <p:cNvSpPr/>
          <p:nvPr/>
        </p:nvSpPr>
        <p:spPr>
          <a:xfrm>
            <a:off x="512064" y="902208"/>
            <a:ext cx="1146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Enterprise Chrome OS Advisory and Managed Services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292353"/>
            <a:ext cx="11338560" cy="26823"/>
          </a:xfrm>
          <a:prstGeom prst="rect">
            <a:avLst/>
          </a:prstGeom>
          <a:solidFill>
            <a:srgbClr val="C5CDD6"/>
          </a:solidFill>
          <a:ln w="12700">
            <a:solidFill>
              <a:srgbClr val="C5CD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12064" y="1353312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adoption strategy through managed fleet operations — engineering depth at every stage of the Chrome OS lifecycle.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512064" y="1755648"/>
            <a:ext cx="2743200" cy="43647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512064" y="1755648"/>
            <a:ext cx="2743200" cy="6705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82752" y="1865376"/>
            <a:ext cx="853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A23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2667" dirty="0"/>
          </a:p>
        </p:txBody>
      </p:sp>
      <p:sp>
        <p:nvSpPr>
          <p:cNvPr id="12" name="Shape 10"/>
          <p:cNvSpPr/>
          <p:nvPr/>
        </p:nvSpPr>
        <p:spPr>
          <a:xfrm>
            <a:off x="682752" y="2328672"/>
            <a:ext cx="2401824" cy="3657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82752" y="2401824"/>
            <a:ext cx="240182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A23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Advisory &amp;</a:t>
            </a:r>
            <a:endParaRPr lang="en-US" sz="1467" dirty="0"/>
          </a:p>
          <a:p>
            <a:r>
              <a:rPr lang="en-US" sz="1467" b="1" dirty="0">
                <a:solidFill>
                  <a:srgbClr val="0A234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Readiness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82752" y="3243072"/>
            <a:ext cx="24018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Chrome OS adoption strategy &amp; business case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 portfolio assessment &amp; rationalization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Windows app gap analysis &amp; remediation plan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&amp; compliance readiness assessment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Persona-based device &amp; licensing strategy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77184" y="1755648"/>
            <a:ext cx="2743200" cy="43647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3377184" y="1755648"/>
            <a:ext cx="2743200" cy="67056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3547872" y="1865376"/>
            <a:ext cx="853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1B4F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2667" dirty="0"/>
          </a:p>
        </p:txBody>
      </p:sp>
      <p:sp>
        <p:nvSpPr>
          <p:cNvPr id="18" name="Shape 16"/>
          <p:cNvSpPr/>
          <p:nvPr/>
        </p:nvSpPr>
        <p:spPr>
          <a:xfrm>
            <a:off x="3547872" y="2328672"/>
            <a:ext cx="2401824" cy="36576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3547872" y="2401824"/>
            <a:ext cx="240182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4F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Enterprise Integration</a:t>
            </a:r>
            <a:endParaRPr lang="en-US" sz="1467" dirty="0"/>
          </a:p>
          <a:p>
            <a:r>
              <a:rPr lang="en-US" sz="1467" b="1" dirty="0">
                <a:solidFill>
                  <a:srgbClr val="1B4F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&amp; Engineering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3547872" y="3243072"/>
            <a:ext cx="24018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Admin Console architecture &amp; OU design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 federation: Azure AD, Okta &amp; SSO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Intune &amp; Chrome Enterprise connector integration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VDI &amp; Windows app delivery integration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PWA enablement &amp; Android app validation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 policy automation &amp; API-driven config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2304" y="1755648"/>
            <a:ext cx="2743200" cy="43647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242304" y="1755648"/>
            <a:ext cx="2743200" cy="670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412992" y="1865376"/>
            <a:ext cx="853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2E6C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2667" dirty="0"/>
          </a:p>
        </p:txBody>
      </p:sp>
      <p:sp>
        <p:nvSpPr>
          <p:cNvPr id="24" name="Shape 22"/>
          <p:cNvSpPr/>
          <p:nvPr/>
        </p:nvSpPr>
        <p:spPr>
          <a:xfrm>
            <a:off x="6412992" y="2328672"/>
            <a:ext cx="2401824" cy="3657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412992" y="2401824"/>
            <a:ext cx="240182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E6C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Deployment &amp;</a:t>
            </a:r>
            <a:endParaRPr lang="en-US" sz="1467" dirty="0"/>
          </a:p>
          <a:p>
            <a:r>
              <a:rPr lang="en-US" sz="1467" b="1" dirty="0">
                <a:solidFill>
                  <a:srgbClr val="2E6C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Modernization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412992" y="3243072"/>
            <a:ext cx="24018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Zero-touch enrollment &amp; large-scale rollout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Enterprise policy baseline configuration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browser &amp; endpoint hardening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Legacy Windows endpoint migration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Kiosk &amp; frontline device configuration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1755648"/>
            <a:ext cx="2743200" cy="43647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9107424" y="1755648"/>
            <a:ext cx="2743200" cy="67056"/>
          </a:xfrm>
          <a:prstGeom prst="rect">
            <a:avLst/>
          </a:prstGeom>
          <a:solidFill>
            <a:srgbClr val="D4600A"/>
          </a:solidFill>
          <a:ln w="12700">
            <a:solidFill>
              <a:srgbClr val="D4600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9278112" y="1865376"/>
            <a:ext cx="853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D460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2667" dirty="0"/>
          </a:p>
        </p:txBody>
      </p:sp>
      <p:sp>
        <p:nvSpPr>
          <p:cNvPr id="30" name="Shape 28"/>
          <p:cNvSpPr/>
          <p:nvPr/>
        </p:nvSpPr>
        <p:spPr>
          <a:xfrm>
            <a:off x="9278112" y="2328672"/>
            <a:ext cx="2401824" cy="36576"/>
          </a:xfrm>
          <a:prstGeom prst="rect">
            <a:avLst/>
          </a:prstGeom>
          <a:solidFill>
            <a:srgbClr val="D4600A"/>
          </a:solidFill>
          <a:ln w="12700">
            <a:solidFill>
              <a:srgbClr val="D4600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9278112" y="2401824"/>
            <a:ext cx="240182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460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Managed Services</a:t>
            </a:r>
            <a:endParaRPr lang="en-US" sz="1467" dirty="0"/>
          </a:p>
          <a:p>
            <a:r>
              <a:rPr lang="en-US" sz="1467" b="1" dirty="0">
                <a:solidFill>
                  <a:srgbClr val="D460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&amp; Optimization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9278112" y="3243072"/>
            <a:ext cx="24018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Fleet monitoring, analytics &amp; health dashboards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drift detection &amp; compliance reporting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 lifecycle &amp; update management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 &amp; L3 enterprise support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cost &amp; performance optimization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" y="6132576"/>
            <a:ext cx="11338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don't provision Chrome OS.  We engineer it into your enterprise — and operate it with accountability.</a:t>
            </a:r>
            <a:endParaRPr lang="en-US" sz="1333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1CF6B-5120-93A7-8B05-387F5E93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ame-side Corner of Rectangle 8">
            <a:extLst>
              <a:ext uri="{FF2B5EF4-FFF2-40B4-BE49-F238E27FC236}">
                <a16:creationId xmlns:a16="http://schemas.microsoft.com/office/drawing/2014/main" id="{428691C2-24A5-74AA-1BA2-5798B5996527}"/>
              </a:ext>
            </a:extLst>
          </p:cNvPr>
          <p:cNvSpPr/>
          <p:nvPr/>
        </p:nvSpPr>
        <p:spPr>
          <a:xfrm rot="10800000">
            <a:off x="423676" y="2666464"/>
            <a:ext cx="4748539" cy="3811112"/>
          </a:xfrm>
          <a:prstGeom prst="round2SameRect">
            <a:avLst>
              <a:gd name="adj1" fmla="val 3801"/>
              <a:gd name="adj2" fmla="val 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  <a:effectLst>
            <a:outerShdw dist="38100" dir="5400000" algn="t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8072B-E87E-5E27-817D-F59B122B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Experience with Audio Systems Quality (ASQ)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76FC3-70E9-118A-17A2-D4E019944B9F}"/>
              </a:ext>
            </a:extLst>
          </p:cNvPr>
          <p:cNvSpPr txBox="1"/>
          <p:nvPr/>
        </p:nvSpPr>
        <p:spPr>
          <a:xfrm>
            <a:off x="697657" y="2737467"/>
            <a:ext cx="420057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Audio Systems Quality (ASQ):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Scope: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Products testing HW/SW in robotic / automation fixtures to generate test results and measure KPIs. 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​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B0F0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Requires to set-up, deploy, and maintain test devices and fixtures for use in testing in connectivity automation and build models, disassemble, modify and re-assemble systems​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B0F0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test setups, execute tests, and perform analysis for validity of test data​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B0F0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RCA from technically complex systems and create test reports and summaries​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B0F0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Handle prototype/development hardware to protocols regarding handling of units​</a:t>
            </a:r>
          </a:p>
        </p:txBody>
      </p:sp>
      <p:sp>
        <p:nvSpPr>
          <p:cNvPr id="3" name="Round Diagonal Corner of Rectangle 2">
            <a:extLst>
              <a:ext uri="{FF2B5EF4-FFF2-40B4-BE49-F238E27FC236}">
                <a16:creationId xmlns:a16="http://schemas.microsoft.com/office/drawing/2014/main" id="{94209BC7-7A2B-4024-F783-2A51B6049A28}"/>
              </a:ext>
            </a:extLst>
          </p:cNvPr>
          <p:cNvSpPr/>
          <p:nvPr/>
        </p:nvSpPr>
        <p:spPr>
          <a:xfrm>
            <a:off x="423676" y="839361"/>
            <a:ext cx="4748539" cy="1614859"/>
          </a:xfrm>
          <a:prstGeom prst="round2DiagRect">
            <a:avLst>
              <a:gd name="adj1" fmla="val 26957"/>
              <a:gd name="adj2" fmla="val 0"/>
            </a:avLst>
          </a:prstGeom>
          <a:solidFill>
            <a:srgbClr val="0064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D38EA-868F-5618-180A-55CAE452AE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0599" y="1071090"/>
            <a:ext cx="1095926" cy="10959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1A0E81-B626-B5A4-FA76-95677F431E11}"/>
              </a:ext>
            </a:extLst>
          </p:cNvPr>
          <p:cNvSpPr txBox="1"/>
          <p:nvPr/>
        </p:nvSpPr>
        <p:spPr>
          <a:xfrm>
            <a:off x="731018" y="1022765"/>
            <a:ext cx="29738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ASQ ensures a consistent, reliable, and high-quality audio experience across devices, operating systems, and the ecosystem by combining engineering validation, psychoacoustics, automation, and user-experience testing.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464247-2539-B408-7035-07DCC89DCBEB}"/>
              </a:ext>
            </a:extLst>
          </p:cNvPr>
          <p:cNvGrpSpPr/>
          <p:nvPr/>
        </p:nvGrpSpPr>
        <p:grpSpPr>
          <a:xfrm>
            <a:off x="5474265" y="721618"/>
            <a:ext cx="6265979" cy="1378725"/>
            <a:chOff x="5359963" y="721617"/>
            <a:chExt cx="6265979" cy="1045503"/>
          </a:xfrm>
        </p:grpSpPr>
        <p:sp>
          <p:nvSpPr>
            <p:cNvPr id="10" name="Rectangle: Rounded Corners 44">
              <a:extLst>
                <a:ext uri="{FF2B5EF4-FFF2-40B4-BE49-F238E27FC236}">
                  <a16:creationId xmlns:a16="http://schemas.microsoft.com/office/drawing/2014/main" id="{EA380167-A5A7-9760-F094-37C612DB0887}"/>
                </a:ext>
              </a:extLst>
            </p:cNvPr>
            <p:cNvSpPr/>
            <p:nvPr/>
          </p:nvSpPr>
          <p:spPr>
            <a:xfrm>
              <a:off x="5359963" y="929034"/>
              <a:ext cx="2233832" cy="63066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" name="Rectangle: Rounded Corners 45">
              <a:extLst>
                <a:ext uri="{FF2B5EF4-FFF2-40B4-BE49-F238E27FC236}">
                  <a16:creationId xmlns:a16="http://schemas.microsoft.com/office/drawing/2014/main" id="{44732041-46E7-76EC-63A0-5A9F3454CD5B}"/>
                </a:ext>
              </a:extLst>
            </p:cNvPr>
            <p:cNvSpPr/>
            <p:nvPr/>
          </p:nvSpPr>
          <p:spPr>
            <a:xfrm>
              <a:off x="6143981" y="721617"/>
              <a:ext cx="5481961" cy="104550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: Rounded Corners 46">
              <a:extLst>
                <a:ext uri="{FF2B5EF4-FFF2-40B4-BE49-F238E27FC236}">
                  <a16:creationId xmlns:a16="http://schemas.microsoft.com/office/drawing/2014/main" id="{F1AC3967-50D0-88AF-C486-EFEB93022547}"/>
                </a:ext>
              </a:extLst>
            </p:cNvPr>
            <p:cNvSpPr/>
            <p:nvPr/>
          </p:nvSpPr>
          <p:spPr>
            <a:xfrm>
              <a:off x="5436342" y="988797"/>
              <a:ext cx="1810479" cy="511143"/>
            </a:xfrm>
            <a:prstGeom prst="roundRect">
              <a:avLst/>
            </a:prstGeom>
            <a:solidFill>
              <a:srgbClr val="0064D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Overall Audio Expertise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4A5C6D-E7E4-1AFA-E578-9D3FD57C0263}"/>
                </a:ext>
              </a:extLst>
            </p:cNvPr>
            <p:cNvSpPr txBox="1"/>
            <p:nvPr/>
          </p:nvSpPr>
          <p:spPr>
            <a:xfrm>
              <a:off x="7246821" y="795498"/>
              <a:ext cx="4206311" cy="910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F0"/>
                </a:buClr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Audio customization and stack porting on Android/Linux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F0"/>
                </a:buClr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Mic/speaker audio tuning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F0"/>
                </a:buClr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DSP experience (QDSP4/5/6, TI DSP/OMAP)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F0"/>
                </a:buClr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Speech, audio, and Bluetooth codecs (A2DP/SBC)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F0"/>
                </a:buClr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Windows Media certifications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F0"/>
                </a:buClr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Multithreaded optimization and debugging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7BBDEA-02DD-4B00-9772-DB5F7BAAD04B}"/>
              </a:ext>
            </a:extLst>
          </p:cNvPr>
          <p:cNvGrpSpPr/>
          <p:nvPr/>
        </p:nvGrpSpPr>
        <p:grpSpPr>
          <a:xfrm>
            <a:off x="5474265" y="2180695"/>
            <a:ext cx="6265979" cy="1378725"/>
            <a:chOff x="5359963" y="721617"/>
            <a:chExt cx="6265979" cy="1045503"/>
          </a:xfrm>
        </p:grpSpPr>
        <p:sp>
          <p:nvSpPr>
            <p:cNvPr id="31" name="Rectangle: Rounded Corners 44">
              <a:extLst>
                <a:ext uri="{FF2B5EF4-FFF2-40B4-BE49-F238E27FC236}">
                  <a16:creationId xmlns:a16="http://schemas.microsoft.com/office/drawing/2014/main" id="{B21C8F49-F688-1514-6668-FC4A00B54FC0}"/>
                </a:ext>
              </a:extLst>
            </p:cNvPr>
            <p:cNvSpPr/>
            <p:nvPr/>
          </p:nvSpPr>
          <p:spPr>
            <a:xfrm>
              <a:off x="5359963" y="929034"/>
              <a:ext cx="2233832" cy="63066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2" name="Rectangle: Rounded Corners 45">
              <a:extLst>
                <a:ext uri="{FF2B5EF4-FFF2-40B4-BE49-F238E27FC236}">
                  <a16:creationId xmlns:a16="http://schemas.microsoft.com/office/drawing/2014/main" id="{558ABD48-CF02-C9EB-6BB4-3402D9CC4C12}"/>
                </a:ext>
              </a:extLst>
            </p:cNvPr>
            <p:cNvSpPr/>
            <p:nvPr/>
          </p:nvSpPr>
          <p:spPr>
            <a:xfrm>
              <a:off x="6143981" y="721617"/>
              <a:ext cx="5481961" cy="104550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Rectangle: Rounded Corners 46">
              <a:extLst>
                <a:ext uri="{FF2B5EF4-FFF2-40B4-BE49-F238E27FC236}">
                  <a16:creationId xmlns:a16="http://schemas.microsoft.com/office/drawing/2014/main" id="{AB644BAC-B4F9-7E5D-0825-E4AC3FD8BE4E}"/>
                </a:ext>
              </a:extLst>
            </p:cNvPr>
            <p:cNvSpPr/>
            <p:nvPr/>
          </p:nvSpPr>
          <p:spPr>
            <a:xfrm>
              <a:off x="5436342" y="988797"/>
              <a:ext cx="1810479" cy="511143"/>
            </a:xfrm>
            <a:prstGeom prst="roundRect">
              <a:avLst/>
            </a:prstGeom>
            <a:solidFill>
              <a:srgbClr val="0064D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Audio SW Stack Expertise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C36FEA-0BD6-EC26-17EF-1B3D9D41A3D7}"/>
                </a:ext>
              </a:extLst>
            </p:cNvPr>
            <p:cNvSpPr txBox="1"/>
            <p:nvPr/>
          </p:nvSpPr>
          <p:spPr>
            <a:xfrm>
              <a:off x="7371807" y="875419"/>
              <a:ext cx="3626391" cy="770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ALSA and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PulseAudio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frameworks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Audio manager updates and DSP optimizations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Audio post-processing and fixed-point coding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OpenDSP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program, release, and shim-layer abstraction work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0FBF58-8ED3-3131-BB70-AC2A35E59CAE}"/>
              </a:ext>
            </a:extLst>
          </p:cNvPr>
          <p:cNvGrpSpPr/>
          <p:nvPr/>
        </p:nvGrpSpPr>
        <p:grpSpPr>
          <a:xfrm>
            <a:off x="5474265" y="3639773"/>
            <a:ext cx="6265979" cy="1378725"/>
            <a:chOff x="5359963" y="721617"/>
            <a:chExt cx="6265979" cy="1045503"/>
          </a:xfrm>
        </p:grpSpPr>
        <p:sp>
          <p:nvSpPr>
            <p:cNvPr id="36" name="Rectangle: Rounded Corners 44">
              <a:extLst>
                <a:ext uri="{FF2B5EF4-FFF2-40B4-BE49-F238E27FC236}">
                  <a16:creationId xmlns:a16="http://schemas.microsoft.com/office/drawing/2014/main" id="{400DCB62-B8BE-4A4A-FC6E-6A1C34785181}"/>
                </a:ext>
              </a:extLst>
            </p:cNvPr>
            <p:cNvSpPr/>
            <p:nvPr/>
          </p:nvSpPr>
          <p:spPr>
            <a:xfrm>
              <a:off x="5359963" y="929034"/>
              <a:ext cx="2233832" cy="63066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7" name="Rectangle: Rounded Corners 45">
              <a:extLst>
                <a:ext uri="{FF2B5EF4-FFF2-40B4-BE49-F238E27FC236}">
                  <a16:creationId xmlns:a16="http://schemas.microsoft.com/office/drawing/2014/main" id="{D6A7A827-8D66-3503-9B6D-45AF583586BA}"/>
                </a:ext>
              </a:extLst>
            </p:cNvPr>
            <p:cNvSpPr/>
            <p:nvPr/>
          </p:nvSpPr>
          <p:spPr>
            <a:xfrm>
              <a:off x="6143981" y="721617"/>
              <a:ext cx="5481961" cy="104550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Rectangle: Rounded Corners 46">
              <a:extLst>
                <a:ext uri="{FF2B5EF4-FFF2-40B4-BE49-F238E27FC236}">
                  <a16:creationId xmlns:a16="http://schemas.microsoft.com/office/drawing/2014/main" id="{60358654-1134-F6AA-9D80-18B01668EC38}"/>
                </a:ext>
              </a:extLst>
            </p:cNvPr>
            <p:cNvSpPr/>
            <p:nvPr/>
          </p:nvSpPr>
          <p:spPr>
            <a:xfrm>
              <a:off x="5436342" y="988797"/>
              <a:ext cx="1810479" cy="511143"/>
            </a:xfrm>
            <a:prstGeom prst="roundRect">
              <a:avLst/>
            </a:prstGeom>
            <a:solidFill>
              <a:srgbClr val="0064D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Algorithms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96D73C-B12F-B798-41D0-8F1075C730A0}"/>
                </a:ext>
              </a:extLst>
            </p:cNvPr>
            <p:cNvSpPr txBox="1"/>
            <p:nvPr/>
          </p:nvSpPr>
          <p:spPr>
            <a:xfrm>
              <a:off x="7371807" y="791969"/>
              <a:ext cx="3626391" cy="910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VAD and keyword spotting (audio AI/ML for transcription)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Algorithm optimization for power and performance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Audio post-processing and filter chains (EQ, echo, Doppler, normalization)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0980B3-E7BF-4622-0D3E-8EE194A69331}"/>
              </a:ext>
            </a:extLst>
          </p:cNvPr>
          <p:cNvGrpSpPr/>
          <p:nvPr/>
        </p:nvGrpSpPr>
        <p:grpSpPr>
          <a:xfrm>
            <a:off x="5474265" y="5098851"/>
            <a:ext cx="6265979" cy="1378725"/>
            <a:chOff x="5359963" y="721617"/>
            <a:chExt cx="6265979" cy="1045503"/>
          </a:xfrm>
        </p:grpSpPr>
        <p:sp>
          <p:nvSpPr>
            <p:cNvPr id="41" name="Rectangle: Rounded Corners 44">
              <a:extLst>
                <a:ext uri="{FF2B5EF4-FFF2-40B4-BE49-F238E27FC236}">
                  <a16:creationId xmlns:a16="http://schemas.microsoft.com/office/drawing/2014/main" id="{F1A96C4C-1E97-F099-1627-17A3308E351A}"/>
                </a:ext>
              </a:extLst>
            </p:cNvPr>
            <p:cNvSpPr/>
            <p:nvPr/>
          </p:nvSpPr>
          <p:spPr>
            <a:xfrm>
              <a:off x="5359963" y="929034"/>
              <a:ext cx="2233832" cy="63066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2" name="Rectangle: Rounded Corners 45">
              <a:extLst>
                <a:ext uri="{FF2B5EF4-FFF2-40B4-BE49-F238E27FC236}">
                  <a16:creationId xmlns:a16="http://schemas.microsoft.com/office/drawing/2014/main" id="{1F58882F-8500-57C2-2BF6-371CF1A6A4A5}"/>
                </a:ext>
              </a:extLst>
            </p:cNvPr>
            <p:cNvSpPr/>
            <p:nvPr/>
          </p:nvSpPr>
          <p:spPr>
            <a:xfrm>
              <a:off x="6143981" y="721617"/>
              <a:ext cx="5481961" cy="104550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</a:ln>
            <a:effectLst>
              <a:outerShdw dist="50800" algn="l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Rectangle: Rounded Corners 46">
              <a:extLst>
                <a:ext uri="{FF2B5EF4-FFF2-40B4-BE49-F238E27FC236}">
                  <a16:creationId xmlns:a16="http://schemas.microsoft.com/office/drawing/2014/main" id="{09463495-5EDD-518E-348A-25ACE3CC2C27}"/>
                </a:ext>
              </a:extLst>
            </p:cNvPr>
            <p:cNvSpPr/>
            <p:nvPr/>
          </p:nvSpPr>
          <p:spPr>
            <a:xfrm>
              <a:off x="5436342" y="988797"/>
              <a:ext cx="1810479" cy="511143"/>
            </a:xfrm>
            <a:prstGeom prst="roundRect">
              <a:avLst/>
            </a:prstGeom>
            <a:solidFill>
              <a:srgbClr val="0064D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Framework Expertise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353FDB-8A0E-5C65-D814-CC18FFCCB91C}"/>
                </a:ext>
              </a:extLst>
            </p:cNvPr>
            <p:cNvSpPr txBox="1"/>
            <p:nvPr/>
          </p:nvSpPr>
          <p:spPr>
            <a:xfrm>
              <a:off x="7371807" y="925596"/>
              <a:ext cx="4008234" cy="630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Audio streaming via RTP/RTSP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Concurrent video stack using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GStreamer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OpenCV porting and optimization (Intel/Snapdragon)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Blip>
                  <a:blip r:embed="rId3"/>
                </a:buBlip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Video, camera, and MPEG codecs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86624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0D298-631D-27F3-96AE-4D5B91F9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1CFA-CB3E-5652-790D-A9A0B699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54" y="198700"/>
            <a:ext cx="10926134" cy="576000"/>
          </a:xfrm>
        </p:spPr>
        <p:txBody>
          <a:bodyPr>
            <a:normAutofit/>
          </a:bodyPr>
          <a:lstStyle/>
          <a:p>
            <a:r>
              <a:rPr lang="en-US"/>
              <a:t>Kick-Off Dialogue with Dexcom</a:t>
            </a:r>
            <a:endParaRPr lang="en-US" sz="2800" b="1">
              <a:solidFill>
                <a:srgbClr val="E44C2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2FB37E-0151-C648-A628-78EF3E8BBC37}"/>
              </a:ext>
            </a:extLst>
          </p:cNvPr>
          <p:cNvGrpSpPr/>
          <p:nvPr/>
        </p:nvGrpSpPr>
        <p:grpSpPr>
          <a:xfrm>
            <a:off x="1232927" y="1093503"/>
            <a:ext cx="4004055" cy="1555494"/>
            <a:chOff x="938059" y="1147379"/>
            <a:chExt cx="4004055" cy="21183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FE31D8F-8884-8DC6-B738-5FA80A77E3AA}"/>
                </a:ext>
              </a:extLst>
            </p:cNvPr>
            <p:cNvGrpSpPr/>
            <p:nvPr/>
          </p:nvGrpSpPr>
          <p:grpSpPr>
            <a:xfrm>
              <a:off x="1318985" y="1383936"/>
              <a:ext cx="3623129" cy="1881776"/>
              <a:chOff x="4963886" y="1637937"/>
              <a:chExt cx="2778128" cy="1181463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D2838F1-E5B8-7930-0D64-93F8F2E75C7A}"/>
                  </a:ext>
                </a:extLst>
              </p:cNvPr>
              <p:cNvSpPr/>
              <p:nvPr/>
            </p:nvSpPr>
            <p:spPr>
              <a:xfrm>
                <a:off x="5040085" y="1807029"/>
                <a:ext cx="2701929" cy="1012371"/>
              </a:xfrm>
              <a:prstGeom prst="roundRect">
                <a:avLst>
                  <a:gd name="adj" fmla="val 8065"/>
                </a:avLst>
              </a:prstGeom>
              <a:solidFill>
                <a:schemeClr val="bg1"/>
              </a:solidFill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What are the immediate challenges you're facing with </a:t>
                </a:r>
                <a:r>
                  <a:rPr lang="en-US" sz="140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Stelo</a:t>
                </a:r>
                <a:r>
                  <a:rPr lang="en-US" sz="1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(or related initiatives)?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119DC03-C44A-1EE5-7FE3-5C725B9F2369}"/>
                  </a:ext>
                </a:extLst>
              </p:cNvPr>
              <p:cNvSpPr/>
              <p:nvPr/>
            </p:nvSpPr>
            <p:spPr>
              <a:xfrm>
                <a:off x="4963886" y="1637937"/>
                <a:ext cx="2449286" cy="318054"/>
              </a:xfrm>
              <a:prstGeom prst="roundRect">
                <a:avLst>
                  <a:gd name="adj" fmla="val 8065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 Priorities &amp; Pain Points</a:t>
                </a:r>
              </a:p>
            </p:txBody>
          </p:sp>
        </p:grp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12FDA4DD-A5E1-7987-D14F-5001D2438A3B}"/>
                </a:ext>
              </a:extLst>
            </p:cNvPr>
            <p:cNvSpPr/>
            <p:nvPr/>
          </p:nvSpPr>
          <p:spPr>
            <a:xfrm>
              <a:off x="938059" y="1147379"/>
              <a:ext cx="861228" cy="742438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220F87-67DF-DB7A-C3E7-725060D01DA5}"/>
              </a:ext>
            </a:extLst>
          </p:cNvPr>
          <p:cNvGrpSpPr/>
          <p:nvPr/>
        </p:nvGrpSpPr>
        <p:grpSpPr>
          <a:xfrm>
            <a:off x="6010172" y="1093503"/>
            <a:ext cx="4004055" cy="1555494"/>
            <a:chOff x="938059" y="1147379"/>
            <a:chExt cx="4004055" cy="211833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F107539-CE4F-CA54-0B6B-A59A08F2C114}"/>
                </a:ext>
              </a:extLst>
            </p:cNvPr>
            <p:cNvGrpSpPr/>
            <p:nvPr/>
          </p:nvGrpSpPr>
          <p:grpSpPr>
            <a:xfrm>
              <a:off x="1318985" y="1383936"/>
              <a:ext cx="3623129" cy="1881776"/>
              <a:chOff x="4963886" y="1637937"/>
              <a:chExt cx="2778128" cy="1181463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B868AA9-AFA5-D217-C7BA-802384D0050F}"/>
                  </a:ext>
                </a:extLst>
              </p:cNvPr>
              <p:cNvSpPr/>
              <p:nvPr/>
            </p:nvSpPr>
            <p:spPr>
              <a:xfrm>
                <a:off x="5040085" y="1807029"/>
                <a:ext cx="2701929" cy="1012371"/>
              </a:xfrm>
              <a:prstGeom prst="roundRect">
                <a:avLst>
                  <a:gd name="adj" fmla="val 8065"/>
                </a:avLst>
              </a:prstGeom>
              <a:solidFill>
                <a:schemeClr val="bg1"/>
              </a:solidFill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Are there specific areas where you'd like Innominds to step in right away?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8523F4C4-3E9E-A208-6668-8303C949DC8C}"/>
                  </a:ext>
                </a:extLst>
              </p:cNvPr>
              <p:cNvSpPr/>
              <p:nvPr/>
            </p:nvSpPr>
            <p:spPr>
              <a:xfrm>
                <a:off x="4963886" y="1637937"/>
                <a:ext cx="2449286" cy="318054"/>
              </a:xfrm>
              <a:prstGeom prst="roundRect">
                <a:avLst>
                  <a:gd name="adj" fmla="val 8065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Short-Term Needs</a:t>
                </a:r>
              </a:p>
            </p:txBody>
          </p:sp>
        </p:grp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52F1EA1A-6228-0BB3-A968-70F71E3CB7F4}"/>
                </a:ext>
              </a:extLst>
            </p:cNvPr>
            <p:cNvSpPr/>
            <p:nvPr/>
          </p:nvSpPr>
          <p:spPr>
            <a:xfrm>
              <a:off x="938059" y="1147379"/>
              <a:ext cx="861228" cy="742438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C9FC6D-BFC6-586E-2560-B897AD25938F}"/>
              </a:ext>
            </a:extLst>
          </p:cNvPr>
          <p:cNvGrpSpPr/>
          <p:nvPr/>
        </p:nvGrpSpPr>
        <p:grpSpPr>
          <a:xfrm>
            <a:off x="1232927" y="2974421"/>
            <a:ext cx="4004055" cy="1555494"/>
            <a:chOff x="938059" y="1147379"/>
            <a:chExt cx="4004055" cy="211833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F6831E2-A45D-B9F5-E274-EA0BE104F961}"/>
                </a:ext>
              </a:extLst>
            </p:cNvPr>
            <p:cNvGrpSpPr/>
            <p:nvPr/>
          </p:nvGrpSpPr>
          <p:grpSpPr>
            <a:xfrm>
              <a:off x="1318985" y="1383936"/>
              <a:ext cx="3623129" cy="1881776"/>
              <a:chOff x="4963886" y="1637937"/>
              <a:chExt cx="2778128" cy="1181463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5ECA2B9-0F7B-0C27-30AC-E4D0A029779F}"/>
                  </a:ext>
                </a:extLst>
              </p:cNvPr>
              <p:cNvSpPr/>
              <p:nvPr/>
            </p:nvSpPr>
            <p:spPr>
              <a:xfrm>
                <a:off x="5040085" y="1807029"/>
                <a:ext cx="2701929" cy="1012371"/>
              </a:xfrm>
              <a:prstGeom prst="roundRect">
                <a:avLst>
                  <a:gd name="adj" fmla="val 8065"/>
                </a:avLst>
              </a:prstGeom>
              <a:solidFill>
                <a:schemeClr val="bg1"/>
              </a:solidFill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What does the next 6-12 months look like for your mobility, embedded, and data strategy?</a:t>
                </a: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BF5F7256-2C47-4804-6A7B-0E7CD3D8BE7B}"/>
                  </a:ext>
                </a:extLst>
              </p:cNvPr>
              <p:cNvSpPr/>
              <p:nvPr/>
            </p:nvSpPr>
            <p:spPr>
              <a:xfrm>
                <a:off x="4963886" y="1637937"/>
                <a:ext cx="2449286" cy="318054"/>
              </a:xfrm>
              <a:prstGeom prst="roundRect">
                <a:avLst>
                  <a:gd name="adj" fmla="val 8065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Roadmap Alignment</a:t>
                </a:r>
              </a:p>
            </p:txBody>
          </p:sp>
        </p:grp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4C19A71B-34D6-0CEA-A390-FAC0DCDAE604}"/>
                </a:ext>
              </a:extLst>
            </p:cNvPr>
            <p:cNvSpPr/>
            <p:nvPr/>
          </p:nvSpPr>
          <p:spPr>
            <a:xfrm>
              <a:off x="938059" y="1147379"/>
              <a:ext cx="861228" cy="742438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E4F1A3-5938-D3A7-981F-D8C7016E2E5B}"/>
              </a:ext>
            </a:extLst>
          </p:cNvPr>
          <p:cNvGrpSpPr/>
          <p:nvPr/>
        </p:nvGrpSpPr>
        <p:grpSpPr>
          <a:xfrm>
            <a:off x="6010172" y="2974421"/>
            <a:ext cx="4004055" cy="1555494"/>
            <a:chOff x="938059" y="1147379"/>
            <a:chExt cx="4004055" cy="211833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0B704-7467-3B4A-ECBC-B3F4F49660A5}"/>
                </a:ext>
              </a:extLst>
            </p:cNvPr>
            <p:cNvGrpSpPr/>
            <p:nvPr/>
          </p:nvGrpSpPr>
          <p:grpSpPr>
            <a:xfrm>
              <a:off x="1318985" y="1383936"/>
              <a:ext cx="3623129" cy="1881776"/>
              <a:chOff x="4963886" y="1637937"/>
              <a:chExt cx="2778128" cy="11814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2891BF37-FC53-6259-2E99-108296CBB2F6}"/>
                  </a:ext>
                </a:extLst>
              </p:cNvPr>
              <p:cNvSpPr/>
              <p:nvPr/>
            </p:nvSpPr>
            <p:spPr>
              <a:xfrm>
                <a:off x="5040085" y="1807029"/>
                <a:ext cx="2701929" cy="1012371"/>
              </a:xfrm>
              <a:prstGeom prst="roundRect">
                <a:avLst>
                  <a:gd name="adj" fmla="val 8065"/>
                </a:avLst>
              </a:prstGeom>
              <a:solidFill>
                <a:schemeClr val="bg1"/>
              </a:solidFill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What capabilities, outcomes, or deliverables matter most to you?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D3D6617C-467F-F548-6A35-A773CAE76F0D}"/>
                  </a:ext>
                </a:extLst>
              </p:cNvPr>
              <p:cNvSpPr/>
              <p:nvPr/>
            </p:nvSpPr>
            <p:spPr>
              <a:xfrm>
                <a:off x="4963886" y="1637937"/>
                <a:ext cx="2449286" cy="318054"/>
              </a:xfrm>
              <a:prstGeom prst="roundRect">
                <a:avLst>
                  <a:gd name="adj" fmla="val 8065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Expectations from </a:t>
                </a:r>
                <a:r>
                  <a:rPr lang="en-US" sz="1400" b="1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Innominds</a:t>
                </a:r>
                <a:endParaRPr lang="en-US" sz="1400" b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79D7B29D-69C6-8D0F-6C76-67C9A7508F78}"/>
                </a:ext>
              </a:extLst>
            </p:cNvPr>
            <p:cNvSpPr/>
            <p:nvPr/>
          </p:nvSpPr>
          <p:spPr>
            <a:xfrm>
              <a:off x="938059" y="1147379"/>
              <a:ext cx="861228" cy="742438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8E5E076-C95A-A0A3-44AE-95CF691777BD}"/>
              </a:ext>
            </a:extLst>
          </p:cNvPr>
          <p:cNvGrpSpPr/>
          <p:nvPr/>
        </p:nvGrpSpPr>
        <p:grpSpPr>
          <a:xfrm>
            <a:off x="3842674" y="4870704"/>
            <a:ext cx="4004055" cy="1555494"/>
            <a:chOff x="938059" y="1147379"/>
            <a:chExt cx="4004055" cy="211833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CEF8CE1-5882-BEDD-E1FF-137144696A7D}"/>
                </a:ext>
              </a:extLst>
            </p:cNvPr>
            <p:cNvGrpSpPr/>
            <p:nvPr/>
          </p:nvGrpSpPr>
          <p:grpSpPr>
            <a:xfrm>
              <a:off x="1318985" y="1383936"/>
              <a:ext cx="3623129" cy="1881776"/>
              <a:chOff x="4963886" y="1637937"/>
              <a:chExt cx="2778128" cy="1181463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CFD1A26-D02A-8EBA-DB00-E5E9F00F136F}"/>
                  </a:ext>
                </a:extLst>
              </p:cNvPr>
              <p:cNvSpPr/>
              <p:nvPr/>
            </p:nvSpPr>
            <p:spPr>
              <a:xfrm>
                <a:off x="5040085" y="1807029"/>
                <a:ext cx="2701929" cy="1012371"/>
              </a:xfrm>
              <a:prstGeom prst="roundRect">
                <a:avLst>
                  <a:gd name="adj" fmla="val 8065"/>
                </a:avLst>
              </a:prstGeom>
              <a:solidFill>
                <a:schemeClr val="bg1"/>
              </a:solidFill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Beyond the current scope, are there other initiatives (Other Apps &amp; Areas)  we can explore together?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63843A48-D7F6-0275-3FE3-1BA8C67B322C}"/>
                  </a:ext>
                </a:extLst>
              </p:cNvPr>
              <p:cNvSpPr/>
              <p:nvPr/>
            </p:nvSpPr>
            <p:spPr>
              <a:xfrm>
                <a:off x="4963886" y="1637937"/>
                <a:ext cx="2449286" cy="318054"/>
              </a:xfrm>
              <a:prstGeom prst="roundRect">
                <a:avLst>
                  <a:gd name="adj" fmla="val 8065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b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Potential Collaboration Areas</a:t>
                </a:r>
              </a:p>
            </p:txBody>
          </p:sp>
        </p:grp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3E670A2E-7F7F-7478-D0A5-657797DF935B}"/>
                </a:ext>
              </a:extLst>
            </p:cNvPr>
            <p:cNvSpPr/>
            <p:nvPr/>
          </p:nvSpPr>
          <p:spPr>
            <a:xfrm>
              <a:off x="938059" y="1147379"/>
              <a:ext cx="861228" cy="742438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9D3C05DD-4A9B-E797-3AD1-BCC25368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16" y="1146622"/>
            <a:ext cx="450850" cy="4318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87AB8A7-883F-6F23-2252-BFB335B3F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1020" y="1150189"/>
            <a:ext cx="450850" cy="4318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05B27D0-B2D5-0473-BA9D-2C40E64B76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02283" y="3024471"/>
            <a:ext cx="450850" cy="4318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6C2E97C-A8C7-00CC-5666-ACF92B0816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1020" y="2997200"/>
            <a:ext cx="450850" cy="4318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A33F27B-BABE-DDD0-B36C-BDE946F48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5346" y="4932611"/>
            <a:ext cx="435885" cy="41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531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ED62-C529-CDDD-9E08-52D55652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18D5-DA17-EDF4-DC89-549756F3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Enhancing UX for Better Engagement &amp;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A61E4-5A5D-E06D-C8AB-94AD83535CB9}"/>
              </a:ext>
            </a:extLst>
          </p:cNvPr>
          <p:cNvSpPr txBox="1"/>
          <p:nvPr/>
        </p:nvSpPr>
        <p:spPr>
          <a:xfrm>
            <a:off x="3320240" y="6257974"/>
            <a:ext cx="5551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UI/UX Specific Insights &amp; Recommendations for Dexcom </a:t>
            </a:r>
            <a:r>
              <a:rPr kumimoji="0" lang="en-IN" sz="1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Stelo</a:t>
            </a: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6B01E4-3302-C8D4-2A90-E32EAF6CF760}"/>
              </a:ext>
            </a:extLst>
          </p:cNvPr>
          <p:cNvGrpSpPr/>
          <p:nvPr/>
        </p:nvGrpSpPr>
        <p:grpSpPr>
          <a:xfrm>
            <a:off x="4152434" y="1079192"/>
            <a:ext cx="3848562" cy="4841849"/>
            <a:chOff x="401048" y="764399"/>
            <a:chExt cx="3797181" cy="403602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8ACBF20-FB24-0F16-861D-FC530627631C}"/>
                </a:ext>
              </a:extLst>
            </p:cNvPr>
            <p:cNvSpPr/>
            <p:nvPr/>
          </p:nvSpPr>
          <p:spPr>
            <a:xfrm>
              <a:off x="511602" y="814107"/>
              <a:ext cx="3590522" cy="64408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How </a:t>
              </a:r>
              <a:r>
                <a:rPr kumimoji="0" lang="en-IN" sz="1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Innominds</a:t>
              </a: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Can Support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UI/UX Modernization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A9F502-2685-9E37-4493-7C2ADA84280A}"/>
                </a:ext>
              </a:extLst>
            </p:cNvPr>
            <p:cNvSpPr/>
            <p:nvPr/>
          </p:nvSpPr>
          <p:spPr>
            <a:xfrm>
              <a:off x="405462" y="1664374"/>
              <a:ext cx="3792767" cy="31360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10000"/>
                  <a:lumOff val="90000"/>
                </a:schemeClr>
              </a:solidFill>
            </a:ln>
            <a:effectLst>
              <a:outerShdw blurRad="50800" dist="38100" dir="16200000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marL="37719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37719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Conduct UX audits and user research to identify pain points and prioritize improvements.</a:t>
              </a:r>
            </a:p>
            <a:p>
              <a:pPr marL="37719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Create wireframes, prototypes, and high-fidelity designs incorporating accessibility best practices.</a:t>
              </a:r>
            </a:p>
            <a:p>
              <a:pPr marL="37719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Implement UI/UX using modern native frameworks ensuring responsiveness and platform compliance.</a:t>
              </a:r>
            </a:p>
            <a:p>
              <a:pPr marL="37719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Perform usability testing with real users to validate design decisions and refine the experience.</a:t>
              </a:r>
            </a:p>
            <a:p>
              <a:pPr marL="37719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70C0"/>
                </a:buClr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Integrate analytics to track user behavior and continuously optimize UX.</a:t>
              </a:r>
            </a:p>
          </p:txBody>
        </p:sp>
        <p:sp>
          <p:nvSpPr>
            <p:cNvPr id="21" name="Half Frame 20">
              <a:extLst>
                <a:ext uri="{FF2B5EF4-FFF2-40B4-BE49-F238E27FC236}">
                  <a16:creationId xmlns:a16="http://schemas.microsoft.com/office/drawing/2014/main" id="{017B890F-4F17-C1E4-155D-CCF17DD55D3C}"/>
                </a:ext>
              </a:extLst>
            </p:cNvPr>
            <p:cNvSpPr/>
            <p:nvPr/>
          </p:nvSpPr>
          <p:spPr>
            <a:xfrm>
              <a:off x="401048" y="764399"/>
              <a:ext cx="434791" cy="580872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8" name="Right Arrow 7">
            <a:extLst>
              <a:ext uri="{FF2B5EF4-FFF2-40B4-BE49-F238E27FC236}">
                <a16:creationId xmlns:a16="http://schemas.microsoft.com/office/drawing/2014/main" id="{7FD98A42-A2D0-00BD-4287-1394CD1BA3B1}"/>
              </a:ext>
            </a:extLst>
          </p:cNvPr>
          <p:cNvSpPr/>
          <p:nvPr/>
        </p:nvSpPr>
        <p:spPr>
          <a:xfrm>
            <a:off x="3342542" y="3228975"/>
            <a:ext cx="711175" cy="20002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D5A8A9-221B-710C-B598-AF7C7C631982}"/>
              </a:ext>
            </a:extLst>
          </p:cNvPr>
          <p:cNvGrpSpPr/>
          <p:nvPr/>
        </p:nvGrpSpPr>
        <p:grpSpPr>
          <a:xfrm>
            <a:off x="281845" y="1079191"/>
            <a:ext cx="2984064" cy="3620123"/>
            <a:chOff x="347980" y="764399"/>
            <a:chExt cx="4140448" cy="4092672"/>
          </a:xfrm>
        </p:grpSpPr>
        <p:sp>
          <p:nvSpPr>
            <p:cNvPr id="5" name="Rectangle: Rounded Corners 14">
              <a:extLst>
                <a:ext uri="{FF2B5EF4-FFF2-40B4-BE49-F238E27FC236}">
                  <a16:creationId xmlns:a16="http://schemas.microsoft.com/office/drawing/2014/main" id="{99C90110-F7F5-76E4-6FC1-C0E856E8DB42}"/>
                </a:ext>
              </a:extLst>
            </p:cNvPr>
            <p:cNvSpPr/>
            <p:nvPr/>
          </p:nvSpPr>
          <p:spPr>
            <a:xfrm>
              <a:off x="405462" y="814107"/>
              <a:ext cx="4082966" cy="64408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Recommended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UI/UX Enhancements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5D903E-A4FC-C858-E4B0-AF20BA16F37B}"/>
                </a:ext>
              </a:extLst>
            </p:cNvPr>
            <p:cNvSpPr/>
            <p:nvPr/>
          </p:nvSpPr>
          <p:spPr>
            <a:xfrm>
              <a:off x="405459" y="1664374"/>
              <a:ext cx="4082969" cy="31926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10000"/>
                  <a:lumOff val="90000"/>
                </a:schemeClr>
              </a:solidFill>
            </a:ln>
            <a:effectLst>
              <a:outerShdw blurRad="50800" dist="38100" dir="16200000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endParaRPr lang="en-US" sz="14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Simplify Navigation &amp; Flow 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Advanced Data Visualization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Personalization &amp; Customization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Accessibility Improvements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Consistent Platform-Optimized Design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Onboarding &amp; Help Features</a:t>
              </a:r>
            </a:p>
          </p:txBody>
        </p:sp>
        <p:sp>
          <p:nvSpPr>
            <p:cNvPr id="7" name="Half Frame 16">
              <a:extLst>
                <a:ext uri="{FF2B5EF4-FFF2-40B4-BE49-F238E27FC236}">
                  <a16:creationId xmlns:a16="http://schemas.microsoft.com/office/drawing/2014/main" id="{F3961D1E-3CC3-36F9-835E-A0D94893F58C}"/>
                </a:ext>
              </a:extLst>
            </p:cNvPr>
            <p:cNvSpPr/>
            <p:nvPr/>
          </p:nvSpPr>
          <p:spPr>
            <a:xfrm>
              <a:off x="347980" y="764399"/>
              <a:ext cx="434791" cy="580872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09DFE19-96EB-794B-0AD6-E4B0693BA133}"/>
              </a:ext>
            </a:extLst>
          </p:cNvPr>
          <p:cNvGrpSpPr/>
          <p:nvPr/>
        </p:nvGrpSpPr>
        <p:grpSpPr>
          <a:xfrm>
            <a:off x="8494290" y="1079191"/>
            <a:ext cx="3317020" cy="3620123"/>
            <a:chOff x="347980" y="764399"/>
            <a:chExt cx="3648004" cy="4036027"/>
          </a:xfrm>
        </p:grpSpPr>
        <p:sp>
          <p:nvSpPr>
            <p:cNvPr id="10" name="Rectangle: Rounded Corners 18">
              <a:extLst>
                <a:ext uri="{FF2B5EF4-FFF2-40B4-BE49-F238E27FC236}">
                  <a16:creationId xmlns:a16="http://schemas.microsoft.com/office/drawing/2014/main" id="{EC757CC1-1685-C3E5-B706-624EF35CF9FB}"/>
                </a:ext>
              </a:extLst>
            </p:cNvPr>
            <p:cNvSpPr/>
            <p:nvPr/>
          </p:nvSpPr>
          <p:spPr>
            <a:xfrm>
              <a:off x="405462" y="814107"/>
              <a:ext cx="3590522" cy="64408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Few Suggestions/Observations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E5C35F-9EAA-BDE1-B498-E53FC29F1297}"/>
                </a:ext>
              </a:extLst>
            </p:cNvPr>
            <p:cNvSpPr/>
            <p:nvPr/>
          </p:nvSpPr>
          <p:spPr>
            <a:xfrm>
              <a:off x="405462" y="1664374"/>
              <a:ext cx="3590522" cy="31360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10000"/>
                  <a:lumOff val="90000"/>
                </a:schemeClr>
              </a:solidFill>
            </a:ln>
            <a:effectLst>
              <a:outerShdw blurRad="50800" dist="38100" dir="16200000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endParaRPr lang="en-US" sz="14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Provide Custom Time Range for Historical Data Visualization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Critical Alerts (Out of Range) as Notifications.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Combined Data Visualization of Glucose Levels vs Food Intake</a:t>
              </a:r>
            </a:p>
            <a:p>
              <a:pPr marL="377190" lvl="1" indent="-285750"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40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Material Design for Android &amp; Human interface Guidelines (and Liquid Glass) for iOS.</a:t>
              </a:r>
            </a:p>
          </p:txBody>
        </p:sp>
        <p:sp>
          <p:nvSpPr>
            <p:cNvPr id="12" name="Half Frame 20">
              <a:extLst>
                <a:ext uri="{FF2B5EF4-FFF2-40B4-BE49-F238E27FC236}">
                  <a16:creationId xmlns:a16="http://schemas.microsoft.com/office/drawing/2014/main" id="{CA071098-02A6-029A-40F5-4CE9399B1AC4}"/>
                </a:ext>
              </a:extLst>
            </p:cNvPr>
            <p:cNvSpPr/>
            <p:nvPr/>
          </p:nvSpPr>
          <p:spPr>
            <a:xfrm>
              <a:off x="347980" y="764399"/>
              <a:ext cx="434791" cy="580872"/>
            </a:xfrm>
            <a:prstGeom prst="halfFram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807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0CB03-D89C-EE32-E005-81231D52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2CD0FAB-EF07-8F96-E278-0C0BE95550B2}"/>
              </a:ext>
            </a:extLst>
          </p:cNvPr>
          <p:cNvCxnSpPr>
            <a:cxnSpLocks/>
          </p:cNvCxnSpPr>
          <p:nvPr/>
        </p:nvCxnSpPr>
        <p:spPr>
          <a:xfrm flipH="1">
            <a:off x="3841986" y="5077341"/>
            <a:ext cx="160920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A7FE789-55CC-48D4-75DD-BDAC7B725A6C}"/>
              </a:ext>
            </a:extLst>
          </p:cNvPr>
          <p:cNvCxnSpPr>
            <a:cxnSpLocks/>
          </p:cNvCxnSpPr>
          <p:nvPr/>
        </p:nvCxnSpPr>
        <p:spPr>
          <a:xfrm flipH="1">
            <a:off x="3841986" y="1336328"/>
            <a:ext cx="160920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1E013C7-F3FB-E69C-1F9B-D817691B9E35}"/>
              </a:ext>
            </a:extLst>
          </p:cNvPr>
          <p:cNvCxnSpPr>
            <a:cxnSpLocks/>
          </p:cNvCxnSpPr>
          <p:nvPr/>
        </p:nvCxnSpPr>
        <p:spPr>
          <a:xfrm flipH="1">
            <a:off x="6351373" y="1320849"/>
            <a:ext cx="126904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133F6D7-581E-8998-97B8-107324D8BABD}"/>
              </a:ext>
            </a:extLst>
          </p:cNvPr>
          <p:cNvCxnSpPr>
            <a:cxnSpLocks/>
          </p:cNvCxnSpPr>
          <p:nvPr/>
        </p:nvCxnSpPr>
        <p:spPr>
          <a:xfrm flipH="1">
            <a:off x="3841986" y="3198438"/>
            <a:ext cx="160920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BE087C-E418-E40E-43E7-8070E29C2EEF}"/>
              </a:ext>
            </a:extLst>
          </p:cNvPr>
          <p:cNvCxnSpPr>
            <a:cxnSpLocks/>
          </p:cNvCxnSpPr>
          <p:nvPr/>
        </p:nvCxnSpPr>
        <p:spPr>
          <a:xfrm flipH="1">
            <a:off x="6215901" y="5090788"/>
            <a:ext cx="126904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F5F2A-1DE7-1374-5984-C9B154249757}"/>
              </a:ext>
            </a:extLst>
          </p:cNvPr>
          <p:cNvCxnSpPr>
            <a:cxnSpLocks/>
          </p:cNvCxnSpPr>
          <p:nvPr/>
        </p:nvCxnSpPr>
        <p:spPr>
          <a:xfrm flipH="1">
            <a:off x="3841986" y="2250829"/>
            <a:ext cx="160920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0A6370-D663-DB8D-D718-00B68D4C5EAF}"/>
              </a:ext>
            </a:extLst>
          </p:cNvPr>
          <p:cNvCxnSpPr>
            <a:cxnSpLocks/>
          </p:cNvCxnSpPr>
          <p:nvPr/>
        </p:nvCxnSpPr>
        <p:spPr>
          <a:xfrm flipH="1">
            <a:off x="3841986" y="4137949"/>
            <a:ext cx="160920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816688-FDA5-AC1D-E88F-E171DB756129}"/>
              </a:ext>
            </a:extLst>
          </p:cNvPr>
          <p:cNvCxnSpPr>
            <a:cxnSpLocks/>
          </p:cNvCxnSpPr>
          <p:nvPr/>
        </p:nvCxnSpPr>
        <p:spPr>
          <a:xfrm flipH="1">
            <a:off x="3841986" y="6016012"/>
            <a:ext cx="160920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296E55B-541A-E975-7355-8CA0CCA4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4" y="145617"/>
            <a:ext cx="11055457" cy="576000"/>
          </a:xfrm>
        </p:spPr>
        <p:txBody>
          <a:bodyPr>
            <a:noAutofit/>
          </a:bodyPr>
          <a:lstStyle/>
          <a:p>
            <a:r>
              <a:rPr lang="en-US">
                <a:sym typeface="Arial"/>
              </a:rPr>
              <a:t>Dexcom Goals - Innominds Alignment Map</a:t>
            </a:r>
          </a:p>
        </p:txBody>
      </p:sp>
      <p:sp>
        <p:nvSpPr>
          <p:cNvPr id="3" name="Graphic 47">
            <a:extLst>
              <a:ext uri="{FF2B5EF4-FFF2-40B4-BE49-F238E27FC236}">
                <a16:creationId xmlns:a16="http://schemas.microsoft.com/office/drawing/2014/main" id="{DD335124-A8BF-872C-105E-2D4D8AA6EA5C}"/>
              </a:ext>
            </a:extLst>
          </p:cNvPr>
          <p:cNvSpPr/>
          <p:nvPr/>
        </p:nvSpPr>
        <p:spPr>
          <a:xfrm>
            <a:off x="5194188" y="868303"/>
            <a:ext cx="937399" cy="5624401"/>
          </a:xfrm>
          <a:custGeom>
            <a:avLst/>
            <a:gdLst>
              <a:gd name="connsiteX0" fmla="*/ 0 w 937399"/>
              <a:gd name="connsiteY0" fmla="*/ 0 h 5624401"/>
              <a:gd name="connsiteX1" fmla="*/ 468700 w 937399"/>
              <a:gd name="connsiteY1" fmla="*/ 0 h 5624401"/>
              <a:gd name="connsiteX2" fmla="*/ 937400 w 937399"/>
              <a:gd name="connsiteY2" fmla="*/ 468700 h 5624401"/>
              <a:gd name="connsiteX3" fmla="*/ 937400 w 937399"/>
              <a:gd name="connsiteY3" fmla="*/ 468700 h 5624401"/>
              <a:gd name="connsiteX4" fmla="*/ 468700 w 937399"/>
              <a:gd name="connsiteY4" fmla="*/ 937400 h 5624401"/>
              <a:gd name="connsiteX5" fmla="*/ 468700 w 937399"/>
              <a:gd name="connsiteY5" fmla="*/ 937400 h 5624401"/>
              <a:gd name="connsiteX6" fmla="*/ 0 w 937399"/>
              <a:gd name="connsiteY6" fmla="*/ 1406100 h 5624401"/>
              <a:gd name="connsiteX7" fmla="*/ 0 w 937399"/>
              <a:gd name="connsiteY7" fmla="*/ 1406100 h 5624401"/>
              <a:gd name="connsiteX8" fmla="*/ 468700 w 937399"/>
              <a:gd name="connsiteY8" fmla="*/ 1874801 h 5624401"/>
              <a:gd name="connsiteX9" fmla="*/ 468700 w 937399"/>
              <a:gd name="connsiteY9" fmla="*/ 1874801 h 5624401"/>
              <a:gd name="connsiteX10" fmla="*/ 937400 w 937399"/>
              <a:gd name="connsiteY10" fmla="*/ 2343501 h 5624401"/>
              <a:gd name="connsiteX11" fmla="*/ 937400 w 937399"/>
              <a:gd name="connsiteY11" fmla="*/ 2343501 h 5624401"/>
              <a:gd name="connsiteX12" fmla="*/ 468700 w 937399"/>
              <a:gd name="connsiteY12" fmla="*/ 2812201 h 5624401"/>
              <a:gd name="connsiteX13" fmla="*/ 468700 w 937399"/>
              <a:gd name="connsiteY13" fmla="*/ 2812201 h 5624401"/>
              <a:gd name="connsiteX14" fmla="*/ 0 w 937399"/>
              <a:gd name="connsiteY14" fmla="*/ 3280901 h 5624401"/>
              <a:gd name="connsiteX15" fmla="*/ 0 w 937399"/>
              <a:gd name="connsiteY15" fmla="*/ 3280901 h 5624401"/>
              <a:gd name="connsiteX16" fmla="*/ 468700 w 937399"/>
              <a:gd name="connsiteY16" fmla="*/ 3749601 h 5624401"/>
              <a:gd name="connsiteX17" fmla="*/ 468700 w 937399"/>
              <a:gd name="connsiteY17" fmla="*/ 3749601 h 5624401"/>
              <a:gd name="connsiteX18" fmla="*/ 937400 w 937399"/>
              <a:gd name="connsiteY18" fmla="*/ 4218301 h 5624401"/>
              <a:gd name="connsiteX19" fmla="*/ 937400 w 937399"/>
              <a:gd name="connsiteY19" fmla="*/ 4218301 h 5624401"/>
              <a:gd name="connsiteX20" fmla="*/ 468700 w 937399"/>
              <a:gd name="connsiteY20" fmla="*/ 4687001 h 5624401"/>
              <a:gd name="connsiteX21" fmla="*/ 468700 w 937399"/>
              <a:gd name="connsiteY21" fmla="*/ 4687001 h 5624401"/>
              <a:gd name="connsiteX22" fmla="*/ 0 w 937399"/>
              <a:gd name="connsiteY22" fmla="*/ 5155702 h 5624401"/>
              <a:gd name="connsiteX23" fmla="*/ 0 w 937399"/>
              <a:gd name="connsiteY23" fmla="*/ 5155702 h 5624401"/>
              <a:gd name="connsiteX24" fmla="*/ 468700 w 937399"/>
              <a:gd name="connsiteY24" fmla="*/ 5624402 h 5624401"/>
              <a:gd name="connsiteX25" fmla="*/ 937400 w 937399"/>
              <a:gd name="connsiteY25" fmla="*/ 5624402 h 562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37399" h="5624401">
                <a:moveTo>
                  <a:pt x="0" y="0"/>
                </a:moveTo>
                <a:lnTo>
                  <a:pt x="468700" y="0"/>
                </a:lnTo>
                <a:cubicBezTo>
                  <a:pt x="727572" y="0"/>
                  <a:pt x="937400" y="209828"/>
                  <a:pt x="937400" y="468700"/>
                </a:cubicBezTo>
                <a:lnTo>
                  <a:pt x="937400" y="468700"/>
                </a:lnTo>
                <a:cubicBezTo>
                  <a:pt x="937400" y="727572"/>
                  <a:pt x="727572" y="937400"/>
                  <a:pt x="468700" y="937400"/>
                </a:cubicBezTo>
                <a:lnTo>
                  <a:pt x="468700" y="937400"/>
                </a:lnTo>
                <a:cubicBezTo>
                  <a:pt x="209828" y="937400"/>
                  <a:pt x="0" y="1147228"/>
                  <a:pt x="0" y="1406100"/>
                </a:cubicBezTo>
                <a:lnTo>
                  <a:pt x="0" y="1406100"/>
                </a:lnTo>
                <a:cubicBezTo>
                  <a:pt x="0" y="1664972"/>
                  <a:pt x="209828" y="1874801"/>
                  <a:pt x="468700" y="1874801"/>
                </a:cubicBezTo>
                <a:lnTo>
                  <a:pt x="468700" y="1874801"/>
                </a:lnTo>
                <a:cubicBezTo>
                  <a:pt x="727572" y="1874801"/>
                  <a:pt x="937400" y="2084629"/>
                  <a:pt x="937400" y="2343501"/>
                </a:cubicBezTo>
                <a:lnTo>
                  <a:pt x="937400" y="2343501"/>
                </a:lnTo>
                <a:cubicBezTo>
                  <a:pt x="937400" y="2602373"/>
                  <a:pt x="727572" y="2812201"/>
                  <a:pt x="468700" y="2812201"/>
                </a:cubicBezTo>
                <a:lnTo>
                  <a:pt x="468700" y="2812201"/>
                </a:lnTo>
                <a:cubicBezTo>
                  <a:pt x="209828" y="2812201"/>
                  <a:pt x="0" y="3022029"/>
                  <a:pt x="0" y="3280901"/>
                </a:cubicBezTo>
                <a:lnTo>
                  <a:pt x="0" y="3280901"/>
                </a:lnTo>
                <a:cubicBezTo>
                  <a:pt x="0" y="3539773"/>
                  <a:pt x="209828" y="3749601"/>
                  <a:pt x="468700" y="3749601"/>
                </a:cubicBezTo>
                <a:lnTo>
                  <a:pt x="468700" y="3749601"/>
                </a:lnTo>
                <a:cubicBezTo>
                  <a:pt x="727572" y="3749601"/>
                  <a:pt x="937400" y="3959429"/>
                  <a:pt x="937400" y="4218301"/>
                </a:cubicBezTo>
                <a:lnTo>
                  <a:pt x="937400" y="4218301"/>
                </a:lnTo>
                <a:cubicBezTo>
                  <a:pt x="937400" y="4477173"/>
                  <a:pt x="727572" y="4687001"/>
                  <a:pt x="468700" y="4687001"/>
                </a:cubicBezTo>
                <a:lnTo>
                  <a:pt x="468700" y="4687001"/>
                </a:lnTo>
                <a:cubicBezTo>
                  <a:pt x="209828" y="4687001"/>
                  <a:pt x="0" y="4896830"/>
                  <a:pt x="0" y="5155702"/>
                </a:cubicBezTo>
                <a:lnTo>
                  <a:pt x="0" y="5155702"/>
                </a:lnTo>
                <a:cubicBezTo>
                  <a:pt x="0" y="5414574"/>
                  <a:pt x="209828" y="5624402"/>
                  <a:pt x="468700" y="5624402"/>
                </a:cubicBezTo>
                <a:lnTo>
                  <a:pt x="937400" y="5624402"/>
                </a:lnTo>
              </a:path>
            </a:pathLst>
          </a:custGeom>
          <a:noFill/>
          <a:ln w="144015" cap="flat">
            <a:solidFill>
              <a:srgbClr val="0070C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95940D1-9D8D-58D1-2CE9-B673FAEDAF88}"/>
              </a:ext>
            </a:extLst>
          </p:cNvPr>
          <p:cNvSpPr/>
          <p:nvPr/>
        </p:nvSpPr>
        <p:spPr>
          <a:xfrm>
            <a:off x="5308478" y="993021"/>
            <a:ext cx="685800" cy="6858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79AF51-F99A-F961-2851-DCA6E4BA8644}"/>
              </a:ext>
            </a:extLst>
          </p:cNvPr>
          <p:cNvSpPr/>
          <p:nvPr/>
        </p:nvSpPr>
        <p:spPr>
          <a:xfrm>
            <a:off x="5325412" y="1931706"/>
            <a:ext cx="685800" cy="6858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53EA24-E802-4254-488E-F30B374F123D}"/>
              </a:ext>
            </a:extLst>
          </p:cNvPr>
          <p:cNvSpPr/>
          <p:nvPr/>
        </p:nvSpPr>
        <p:spPr>
          <a:xfrm>
            <a:off x="5308478" y="2874891"/>
            <a:ext cx="685800" cy="6858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7870B9-CD6C-CA4C-D5D3-D1B4BA7272A7}"/>
              </a:ext>
            </a:extLst>
          </p:cNvPr>
          <p:cNvSpPr/>
          <p:nvPr/>
        </p:nvSpPr>
        <p:spPr>
          <a:xfrm>
            <a:off x="5325412" y="3808496"/>
            <a:ext cx="685800" cy="6858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97E1CE9-0D5A-43B0-3EB1-D87221440395}"/>
              </a:ext>
            </a:extLst>
          </p:cNvPr>
          <p:cNvSpPr/>
          <p:nvPr/>
        </p:nvSpPr>
        <p:spPr>
          <a:xfrm>
            <a:off x="5308478" y="4741521"/>
            <a:ext cx="685800" cy="6858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BB5B3DD-0427-AE2C-1AC9-DAA4A2BD8261}"/>
              </a:ext>
            </a:extLst>
          </p:cNvPr>
          <p:cNvSpPr/>
          <p:nvPr/>
        </p:nvSpPr>
        <p:spPr>
          <a:xfrm>
            <a:off x="5325412" y="5675126"/>
            <a:ext cx="685800" cy="6858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094554-723E-ACF7-135C-3FBB3CF94153}"/>
              </a:ext>
            </a:extLst>
          </p:cNvPr>
          <p:cNvSpPr txBox="1"/>
          <p:nvPr/>
        </p:nvSpPr>
        <p:spPr>
          <a:xfrm>
            <a:off x="307144" y="1228469"/>
            <a:ext cx="283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Fast, low-risk kickoff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BED7C4-7633-E601-EBDA-9234BC20BCB0}"/>
              </a:ext>
            </a:extLst>
          </p:cNvPr>
          <p:cNvSpPr txBox="1"/>
          <p:nvPr/>
        </p:nvSpPr>
        <p:spPr>
          <a:xfrm>
            <a:off x="7766982" y="1260756"/>
            <a:ext cx="40455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Pre-assembled Agile PODs (Core/ Flex)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Onboarding &amp; tools and source code ready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37A9F8-EA03-9DEB-FA0E-BFEE58F49383}"/>
              </a:ext>
            </a:extLst>
          </p:cNvPr>
          <p:cNvSpPr txBox="1"/>
          <p:nvPr/>
        </p:nvSpPr>
        <p:spPr>
          <a:xfrm>
            <a:off x="307144" y="2150247"/>
            <a:ext cx="3404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Seamless transition from Dexcom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F157A-14F3-98BD-77DA-9A24AC7910AD}"/>
              </a:ext>
            </a:extLst>
          </p:cNvPr>
          <p:cNvSpPr txBox="1"/>
          <p:nvPr/>
        </p:nvSpPr>
        <p:spPr>
          <a:xfrm>
            <a:off x="1113897" y="693167"/>
            <a:ext cx="3099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3509B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Dexcom Goal / Expectation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3509B"/>
              </a:solidFill>
              <a:effectLst/>
              <a:uLnTx/>
              <a:uFillTx/>
              <a:latin typeface="Lato" panose="020F0502020204030203"/>
              <a:ea typeface="+mn-ea"/>
              <a:cs typeface="+mn-cs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3ACE7-C828-EF37-22FC-9DC73A175188}"/>
              </a:ext>
            </a:extLst>
          </p:cNvPr>
          <p:cNvSpPr txBox="1"/>
          <p:nvPr/>
        </p:nvSpPr>
        <p:spPr>
          <a:xfrm>
            <a:off x="7451432" y="669888"/>
            <a:ext cx="3991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3509B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How Innominds Is Already Aligned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3509B"/>
              </a:solidFill>
              <a:effectLst/>
              <a:uLnTx/>
              <a:uFillTx/>
              <a:latin typeface="Lato" panose="020F0502020204030203"/>
              <a:ea typeface="+mn-ea"/>
              <a:cs typeface="+mn-cs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029F6-F248-C9F9-40C8-39A3BA232965}"/>
              </a:ext>
            </a:extLst>
          </p:cNvPr>
          <p:cNvSpPr txBox="1"/>
          <p:nvPr/>
        </p:nvSpPr>
        <p:spPr>
          <a:xfrm>
            <a:off x="7766982" y="2097668"/>
            <a:ext cx="40455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2</a:t>
            </a:r>
            <a:r>
              <a:rPr lang="en-US" sz="1200">
                <a:latin typeface="Lato" panose="020F0502020204030203"/>
              </a:rPr>
              <a:t> – 4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weeks shadowing &amp; knowledge transfer plan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CI/CD &amp; code hand-off playbook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F1CFF5-BE3C-BDED-1601-B29C99AF4AA9}"/>
              </a:ext>
            </a:extLst>
          </p:cNvPr>
          <p:cNvCxnSpPr>
            <a:cxnSpLocks/>
          </p:cNvCxnSpPr>
          <p:nvPr/>
        </p:nvCxnSpPr>
        <p:spPr>
          <a:xfrm flipH="1">
            <a:off x="6317505" y="2264276"/>
            <a:ext cx="126904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BA1E4-BB03-F1FB-B502-3D719EC17B15}"/>
              </a:ext>
            </a:extLst>
          </p:cNvPr>
          <p:cNvCxnSpPr>
            <a:cxnSpLocks/>
          </p:cNvCxnSpPr>
          <p:nvPr/>
        </p:nvCxnSpPr>
        <p:spPr>
          <a:xfrm flipH="1">
            <a:off x="6283637" y="3195516"/>
            <a:ext cx="126904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D4F8FB-AE6B-3F76-5865-88FA5195E5B8}"/>
              </a:ext>
            </a:extLst>
          </p:cNvPr>
          <p:cNvCxnSpPr>
            <a:cxnSpLocks/>
          </p:cNvCxnSpPr>
          <p:nvPr/>
        </p:nvCxnSpPr>
        <p:spPr>
          <a:xfrm flipH="1">
            <a:off x="6249769" y="4129764"/>
            <a:ext cx="126904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9FE7E5-0086-16CF-EC59-B2F2FAAAE12E}"/>
              </a:ext>
            </a:extLst>
          </p:cNvPr>
          <p:cNvCxnSpPr>
            <a:cxnSpLocks/>
          </p:cNvCxnSpPr>
          <p:nvPr/>
        </p:nvCxnSpPr>
        <p:spPr>
          <a:xfrm flipH="1">
            <a:off x="6182033" y="6029459"/>
            <a:ext cx="126904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B0CEAD-6FA9-9270-7869-0517D5011B36}"/>
              </a:ext>
            </a:extLst>
          </p:cNvPr>
          <p:cNvSpPr txBox="1"/>
          <p:nvPr/>
        </p:nvSpPr>
        <p:spPr>
          <a:xfrm>
            <a:off x="307144" y="3025858"/>
            <a:ext cx="3404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Re-engineer legacy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BF6165-D275-C4D8-F0D0-3C67C73C69E4}"/>
              </a:ext>
            </a:extLst>
          </p:cNvPr>
          <p:cNvSpPr txBox="1"/>
          <p:nvPr/>
        </p:nvSpPr>
        <p:spPr>
          <a:xfrm>
            <a:off x="307144" y="4086824"/>
            <a:ext cx="3404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Strict SaMD quality &amp; compliance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0B9274-F1E1-A060-118C-7347BA42AA7F}"/>
              </a:ext>
            </a:extLst>
          </p:cNvPr>
          <p:cNvSpPr txBox="1"/>
          <p:nvPr/>
        </p:nvSpPr>
        <p:spPr>
          <a:xfrm>
            <a:off x="307144" y="5011863"/>
            <a:ext cx="3404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Clear productivity metrics &amp; governance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5902FB-5AFC-4E6A-A101-128CA09D604B}"/>
              </a:ext>
            </a:extLst>
          </p:cNvPr>
          <p:cNvSpPr txBox="1"/>
          <p:nvPr/>
        </p:nvSpPr>
        <p:spPr>
          <a:xfrm>
            <a:off x="307144" y="5936902"/>
            <a:ext cx="3404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F7FC2"/>
                </a:solidFill>
                <a:effectLst/>
                <a:uLnTx/>
                <a:uFillTx/>
                <a:latin typeface="Lato" panose="020F0502020204030203"/>
                <a:ea typeface="+mn-ea"/>
                <a:cs typeface="+mn-cs"/>
                <a:sym typeface="Arial"/>
              </a:rPr>
              <a:t>Data / AI insights roadmap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40AD3B-F3A3-1E2C-4BBD-6A059C7561AE}"/>
              </a:ext>
            </a:extLst>
          </p:cNvPr>
          <p:cNvSpPr txBox="1"/>
          <p:nvPr/>
        </p:nvSpPr>
        <p:spPr>
          <a:xfrm>
            <a:off x="7774779" y="3119873"/>
            <a:ext cx="40455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Legacy Modernization Framework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Successful reengineering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F1FA13-F7C6-BCA7-27A5-EF5A2AC92293}"/>
              </a:ext>
            </a:extLst>
          </p:cNvPr>
          <p:cNvSpPr txBox="1"/>
          <p:nvPr/>
        </p:nvSpPr>
        <p:spPr>
          <a:xfrm>
            <a:off x="7774779" y="4107816"/>
            <a:ext cx="40455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End-to-end V&amp;V with traceability (Figma → TestRail)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Functional equivalence, 70%+ automation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1C53E1-AA02-C4E0-DFEF-42971823A16D}"/>
              </a:ext>
            </a:extLst>
          </p:cNvPr>
          <p:cNvSpPr txBox="1"/>
          <p:nvPr/>
        </p:nvSpPr>
        <p:spPr>
          <a:xfrm>
            <a:off x="7774779" y="4944728"/>
            <a:ext cx="40455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KPI dashboards, telemetry instrumentation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MBR model + underperformance mitigation plan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A81FBB-A987-3AE8-758E-48BC37C17274}"/>
              </a:ext>
            </a:extLst>
          </p:cNvPr>
          <p:cNvSpPr txBox="1"/>
          <p:nvPr/>
        </p:nvSpPr>
        <p:spPr>
          <a:xfrm>
            <a:off x="7774779" y="5836869"/>
            <a:ext cx="40455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AI-ready data platform team (Snowflake, Databricks)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/>
                <a:ea typeface="+mn-ea"/>
                <a:cs typeface="+mn-cs"/>
              </a:rPr>
              <a:t>Workshop planned for predictive insights</a:t>
            </a:r>
          </a:p>
        </p:txBody>
      </p:sp>
    </p:spTree>
    <p:extLst>
      <p:ext uri="{BB962C8B-B14F-4D97-AF65-F5344CB8AC3E}">
        <p14:creationId xmlns:p14="http://schemas.microsoft.com/office/powerpoint/2010/main" val="23346796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DCA0-BAA7-4BDD-F0CF-FF17696C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22FF0C-76ED-92F6-A71B-C7CF7B90183F}"/>
              </a:ext>
            </a:extLst>
          </p:cNvPr>
          <p:cNvSpPr/>
          <p:nvPr/>
        </p:nvSpPr>
        <p:spPr>
          <a:xfrm>
            <a:off x="478972" y="721617"/>
            <a:ext cx="10014858" cy="5788040"/>
          </a:xfrm>
          <a:prstGeom prst="roundRect">
            <a:avLst>
              <a:gd name="adj" fmla="val 5195"/>
            </a:avLst>
          </a:prstGeom>
          <a:solidFill>
            <a:schemeClr val="bg1">
              <a:alpha val="98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C2FE5-50B7-D233-0735-7A34B337AC2D}"/>
              </a:ext>
            </a:extLst>
          </p:cNvPr>
          <p:cNvSpPr txBox="1"/>
          <p:nvPr/>
        </p:nvSpPr>
        <p:spPr>
          <a:xfrm>
            <a:off x="743005" y="840641"/>
            <a:ext cx="9486791" cy="54630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Requirements &amp; Roadmap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US" sz="12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Dexcom’s prioritized feature backlog and success KPIs?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lang="en-US" sz="120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lang="en-US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Style Guide &amp; Assets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IN" sz="1200"/>
              <a:t>Dexcom Style guide  &amp; Fonts for new UX Design development</a:t>
            </a:r>
            <a:endParaRPr lang="en-US" sz="120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lang="en-US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 code &amp; Tools Access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 code access, all tools, Environment Access for Development and V&amp;V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tabLst>
                <a:tab pos="457200" algn="l"/>
              </a:tabLst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Devices &amp; Sensors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Ship ~5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Stelo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sensor kits and reference phones (iOS + Android) for dev and QA.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tabLst>
                <a:tab pos="457200" algn="l"/>
              </a:tabLst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Compliance Artifacts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Existing V&amp;V documents (BRDs, PRDs, test cases, trace matrices) we should align to.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Tx/>
              <a:buNone/>
              <a:tabLst>
                <a:tab pos="457200" algn="l"/>
              </a:tabLst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Stakeholders &amp; Governance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Primary product, engineering, and release contacts, and what cadence works for check-ins (MBR).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lang="en-US" sz="120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lvl="0" indent="-171450"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lang="en-US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Technical Document &amp; Modernization</a:t>
            </a: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US" sz="12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Migration plan for new technologies like Kotlin, Jetpack Compose, Swift UI</a:t>
            </a:r>
          </a:p>
          <a:p>
            <a:pPr marL="171450" lvl="0" indent="-171450"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endParaRPr lang="en-US" sz="1200" b="1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lvl="0" indent="-171450">
              <a:buClr>
                <a:srgbClr val="061DC6"/>
              </a:buClr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  <a:defRPr/>
            </a:pPr>
            <a:r>
              <a:rPr lang="en-US" sz="1400" b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WebApp</a:t>
            </a:r>
            <a:endParaRPr lang="en-US" sz="140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628650" lvl="1" indent="-171450">
              <a:spcBef>
                <a:spcPts val="600"/>
              </a:spcBef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US" sz="12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There’s also a web app for </a:t>
            </a:r>
            <a:r>
              <a:rPr lang="en-US" sz="120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Stelo</a:t>
            </a:r>
            <a:r>
              <a:rPr lang="en-US" sz="12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Do we need to consider a facelift or UI/UX improvements for that as well soon?</a:t>
            </a:r>
          </a:p>
          <a:p>
            <a:pPr marL="171450" lvl="0" indent="-171450">
              <a:buClr>
                <a:srgbClr val="061DC6"/>
              </a:buClr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lang="en-US" sz="1200">
              <a:solidFill>
                <a:prstClr val="black"/>
              </a:solidFill>
              <a:highlight>
                <a:srgbClr val="FFFF00"/>
              </a:highlight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21">
            <a:extLst>
              <a:ext uri="{FF2B5EF4-FFF2-40B4-BE49-F238E27FC236}">
                <a16:creationId xmlns:a16="http://schemas.microsoft.com/office/drawing/2014/main" id="{E252D01B-D3B1-5AA8-89D8-2744A7D8511D}"/>
              </a:ext>
            </a:extLst>
          </p:cNvPr>
          <p:cNvSpPr txBox="1">
            <a:spLocks/>
          </p:cNvSpPr>
          <p:nvPr/>
        </p:nvSpPr>
        <p:spPr>
          <a:xfrm>
            <a:off x="285205" y="145617"/>
            <a:ext cx="10926134" cy="57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/>
              <a:t>Kick Off Need - What we need to Jump Start ?</a:t>
            </a:r>
            <a:endParaRPr 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45553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ED087-6F10-50A4-C04E-BC0A42F4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5;p6">
            <a:extLst>
              <a:ext uri="{FF2B5EF4-FFF2-40B4-BE49-F238E27FC236}">
                <a16:creationId xmlns:a16="http://schemas.microsoft.com/office/drawing/2014/main" id="{454F688D-B5AA-8326-19DC-1881AFB8384F}"/>
              </a:ext>
            </a:extLst>
          </p:cNvPr>
          <p:cNvSpPr/>
          <p:nvPr/>
        </p:nvSpPr>
        <p:spPr>
          <a:xfrm>
            <a:off x="3325364" y="1762487"/>
            <a:ext cx="2514101" cy="4472734"/>
          </a:xfrm>
          <a:prstGeom prst="roundRect">
            <a:avLst/>
          </a:prstGeom>
          <a:solidFill>
            <a:srgbClr val="FFFFFF"/>
          </a:solidFill>
          <a:ln w="63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152548"/>
              </a:buClr>
              <a:buSzPts val="1800"/>
            </a:pPr>
            <a:endParaRPr>
              <a:solidFill>
                <a:srgbClr val="DDDFE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orbel"/>
            </a:endParaRPr>
          </a:p>
        </p:txBody>
      </p:sp>
      <p:sp>
        <p:nvSpPr>
          <p:cNvPr id="3" name="Google Shape;255;p6">
            <a:extLst>
              <a:ext uri="{FF2B5EF4-FFF2-40B4-BE49-F238E27FC236}">
                <a16:creationId xmlns:a16="http://schemas.microsoft.com/office/drawing/2014/main" id="{8FFBD10A-12F6-195D-1171-5E51A6280D5D}"/>
              </a:ext>
            </a:extLst>
          </p:cNvPr>
          <p:cNvSpPr/>
          <p:nvPr/>
        </p:nvSpPr>
        <p:spPr>
          <a:xfrm>
            <a:off x="533496" y="1755745"/>
            <a:ext cx="2514101" cy="4438026"/>
          </a:xfrm>
          <a:prstGeom prst="roundRect">
            <a:avLst/>
          </a:prstGeom>
          <a:solidFill>
            <a:srgbClr val="FFFFFF"/>
          </a:solidFill>
          <a:ln w="63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548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DDDFE5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orbel"/>
            </a:endParaRPr>
          </a:p>
        </p:txBody>
      </p:sp>
      <p:sp>
        <p:nvSpPr>
          <p:cNvPr id="4" name="Google Shape;257;p6">
            <a:extLst>
              <a:ext uri="{FF2B5EF4-FFF2-40B4-BE49-F238E27FC236}">
                <a16:creationId xmlns:a16="http://schemas.microsoft.com/office/drawing/2014/main" id="{94E0AAF3-8142-5C03-F907-D732FA429A9F}"/>
              </a:ext>
            </a:extLst>
          </p:cNvPr>
          <p:cNvSpPr txBox="1"/>
          <p:nvPr/>
        </p:nvSpPr>
        <p:spPr>
          <a:xfrm>
            <a:off x="733920" y="1932607"/>
            <a:ext cx="2127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Regulatory 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Consulting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</p:txBody>
      </p:sp>
      <p:sp>
        <p:nvSpPr>
          <p:cNvPr id="5" name="Google Shape;266;p6">
            <a:extLst>
              <a:ext uri="{FF2B5EF4-FFF2-40B4-BE49-F238E27FC236}">
                <a16:creationId xmlns:a16="http://schemas.microsoft.com/office/drawing/2014/main" id="{BCCBB666-0391-1369-B160-029BC3B13FB9}"/>
              </a:ext>
            </a:extLst>
          </p:cNvPr>
          <p:cNvSpPr txBox="1"/>
          <p:nvPr/>
        </p:nvSpPr>
        <p:spPr>
          <a:xfrm>
            <a:off x="3511363" y="1921068"/>
            <a:ext cx="2127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Regulatory 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Submissions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</p:txBody>
      </p:sp>
      <p:sp>
        <p:nvSpPr>
          <p:cNvPr id="9" name="Google Shape;268;p6">
            <a:extLst>
              <a:ext uri="{FF2B5EF4-FFF2-40B4-BE49-F238E27FC236}">
                <a16:creationId xmlns:a16="http://schemas.microsoft.com/office/drawing/2014/main" id="{DD1B6744-7A4C-EEF0-BE53-7B9D50531637}"/>
              </a:ext>
            </a:extLst>
          </p:cNvPr>
          <p:cNvSpPr txBox="1"/>
          <p:nvPr/>
        </p:nvSpPr>
        <p:spPr>
          <a:xfrm>
            <a:off x="8848327" y="2120542"/>
            <a:ext cx="21256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2548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Regulatory Writing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52548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2548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&amp; Labeling  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52548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</p:txBody>
      </p:sp>
      <p:sp>
        <p:nvSpPr>
          <p:cNvPr id="10" name="Google Shape;269;p6">
            <a:extLst>
              <a:ext uri="{FF2B5EF4-FFF2-40B4-BE49-F238E27FC236}">
                <a16:creationId xmlns:a16="http://schemas.microsoft.com/office/drawing/2014/main" id="{103AA100-AD76-48B9-BC10-080CA30BD2D6}"/>
              </a:ext>
            </a:extLst>
          </p:cNvPr>
          <p:cNvSpPr txBox="1"/>
          <p:nvPr/>
        </p:nvSpPr>
        <p:spPr>
          <a:xfrm>
            <a:off x="9957233" y="2098660"/>
            <a:ext cx="2127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2548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Medical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52548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2548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Devices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52548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</p:txBody>
      </p:sp>
      <p:sp>
        <p:nvSpPr>
          <p:cNvPr id="12" name="Google Shape;169;p6">
            <a:extLst>
              <a:ext uri="{FF2B5EF4-FFF2-40B4-BE49-F238E27FC236}">
                <a16:creationId xmlns:a16="http://schemas.microsoft.com/office/drawing/2014/main" id="{75698A9E-D354-E019-E24B-C8D7E71D659A}"/>
              </a:ext>
            </a:extLst>
          </p:cNvPr>
          <p:cNvSpPr/>
          <p:nvPr/>
        </p:nvSpPr>
        <p:spPr>
          <a:xfrm>
            <a:off x="691764" y="2477843"/>
            <a:ext cx="2149060" cy="360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75" tIns="182875" rIns="99550" bIns="112000" anchor="t" anchorCtr="0">
            <a:noAutofit/>
          </a:bodyPr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MDR, IVDR, UDI process and strategy consulting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EUDAMED, PMS consulting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Business Process Definition &amp; Optimization - UDI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Audit Services – Pharmacovigilance, Quality, Regulatory compliance readiness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Regulatory Intelligence Consulting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Strategic advisory consulting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EU Authorized Representative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Regulatory  Intelligence</a:t>
            </a:r>
          </a:p>
          <a:p>
            <a:pPr marL="254000" marR="0" lvl="1" indent="-1714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54000" marR="0" lvl="1" indent="-1714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Google Shape;175;p6">
            <a:extLst>
              <a:ext uri="{FF2B5EF4-FFF2-40B4-BE49-F238E27FC236}">
                <a16:creationId xmlns:a16="http://schemas.microsoft.com/office/drawing/2014/main" id="{61ADFC7C-FD87-B2A2-7C3D-2D9332ACE530}"/>
              </a:ext>
            </a:extLst>
          </p:cNvPr>
          <p:cNvSpPr/>
          <p:nvPr/>
        </p:nvSpPr>
        <p:spPr>
          <a:xfrm>
            <a:off x="3377327" y="2551733"/>
            <a:ext cx="2587425" cy="313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75" tIns="182875" rIns="99550" bIns="112000" anchor="t" anchorCtr="0">
            <a:noAutofit/>
          </a:bodyPr>
          <a:lstStyle/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510(k), PMA,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DeNovo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and global regulatory  submissions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US, EU, Australian, Chinese, and Canadian documentation and technical file development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Notified Body responses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Import and Export License applications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In country representation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Global Medical Device and IVD Registrations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41300" marR="0" lvl="1" indent="-17145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</p:txBody>
      </p:sp>
      <p:sp>
        <p:nvSpPr>
          <p:cNvPr id="15" name="Google Shape;255;p6">
            <a:extLst>
              <a:ext uri="{FF2B5EF4-FFF2-40B4-BE49-F238E27FC236}">
                <a16:creationId xmlns:a16="http://schemas.microsoft.com/office/drawing/2014/main" id="{28FE5CFA-533D-9C8F-CB6E-0633447A4BA5}"/>
              </a:ext>
            </a:extLst>
          </p:cNvPr>
          <p:cNvSpPr/>
          <p:nvPr/>
        </p:nvSpPr>
        <p:spPr>
          <a:xfrm>
            <a:off x="6144071" y="1762487"/>
            <a:ext cx="2514101" cy="4472734"/>
          </a:xfrm>
          <a:prstGeom prst="roundRect">
            <a:avLst/>
          </a:prstGeom>
          <a:solidFill>
            <a:srgbClr val="FFFFFF"/>
          </a:solidFill>
          <a:ln w="63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152548"/>
              </a:buClr>
              <a:buSzPts val="1800"/>
            </a:pPr>
            <a:endParaRPr>
              <a:solidFill>
                <a:srgbClr val="DDDFE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orbel"/>
            </a:endParaRPr>
          </a:p>
        </p:txBody>
      </p:sp>
      <p:sp>
        <p:nvSpPr>
          <p:cNvPr id="16" name="Google Shape;267;p6">
            <a:extLst>
              <a:ext uri="{FF2B5EF4-FFF2-40B4-BE49-F238E27FC236}">
                <a16:creationId xmlns:a16="http://schemas.microsoft.com/office/drawing/2014/main" id="{0FA65D9E-6459-80D4-4E15-D78DFF3AD269}"/>
              </a:ext>
            </a:extLst>
          </p:cNvPr>
          <p:cNvSpPr txBox="1"/>
          <p:nvPr/>
        </p:nvSpPr>
        <p:spPr>
          <a:xfrm>
            <a:off x="6376634" y="1985009"/>
            <a:ext cx="21256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Gap Assessment &amp; Audit Support</a:t>
            </a:r>
          </a:p>
        </p:txBody>
      </p:sp>
      <p:sp>
        <p:nvSpPr>
          <p:cNvPr id="17" name="Google Shape;176;p6">
            <a:extLst>
              <a:ext uri="{FF2B5EF4-FFF2-40B4-BE49-F238E27FC236}">
                <a16:creationId xmlns:a16="http://schemas.microsoft.com/office/drawing/2014/main" id="{FB6EDC62-3B9A-AC18-371A-4E892140B9AB}"/>
              </a:ext>
            </a:extLst>
          </p:cNvPr>
          <p:cNvSpPr/>
          <p:nvPr/>
        </p:nvSpPr>
        <p:spPr>
          <a:xfrm>
            <a:off x="6300877" y="2515565"/>
            <a:ext cx="2125664" cy="31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75" tIns="182875" rIns="99550" bIns="112000" anchor="t" anchorCtr="0">
            <a:noAutofit/>
          </a:bodyPr>
          <a:lstStyle/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BSI-certified mock audits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Assessment of equivalent devices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QMS audit support</a:t>
            </a: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Gap assessment and MDR / IVDR readiness plans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Technical file remediation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Compliance training for manufacturers</a:t>
            </a: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Google Shape;255;p6">
            <a:extLst>
              <a:ext uri="{FF2B5EF4-FFF2-40B4-BE49-F238E27FC236}">
                <a16:creationId xmlns:a16="http://schemas.microsoft.com/office/drawing/2014/main" id="{D54B55C4-40E1-A457-A30E-8D1CD7BCBF8C}"/>
              </a:ext>
            </a:extLst>
          </p:cNvPr>
          <p:cNvSpPr/>
          <p:nvPr/>
        </p:nvSpPr>
        <p:spPr>
          <a:xfrm>
            <a:off x="8924083" y="1797195"/>
            <a:ext cx="2696993" cy="4438026"/>
          </a:xfrm>
          <a:prstGeom prst="roundRect">
            <a:avLst/>
          </a:prstGeom>
          <a:solidFill>
            <a:srgbClr val="FFFFFF"/>
          </a:solidFill>
          <a:ln w="63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152548"/>
              </a:buClr>
              <a:buSzPts val="1800"/>
            </a:pPr>
            <a:endParaRPr>
              <a:solidFill>
                <a:srgbClr val="DDDFE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orbel"/>
            </a:endParaRPr>
          </a:p>
        </p:txBody>
      </p:sp>
      <p:sp>
        <p:nvSpPr>
          <p:cNvPr id="19" name="Google Shape;177;p6">
            <a:extLst>
              <a:ext uri="{FF2B5EF4-FFF2-40B4-BE49-F238E27FC236}">
                <a16:creationId xmlns:a16="http://schemas.microsoft.com/office/drawing/2014/main" id="{AFBC4928-FE62-D123-DA78-9CFB87FF07A9}"/>
              </a:ext>
            </a:extLst>
          </p:cNvPr>
          <p:cNvSpPr/>
          <p:nvPr/>
        </p:nvSpPr>
        <p:spPr>
          <a:xfrm>
            <a:off x="9020255" y="2442761"/>
            <a:ext cx="2417929" cy="408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75" tIns="182875" rIns="99550" bIns="112000" anchor="t" anchorCtr="0">
            <a:noAutofit/>
          </a:bodyPr>
          <a:lstStyle/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Literature search and review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CEP/CER, PEP/PER, PMS Report, and risk management, documentation development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CER/PER remediation from Rev 3 to Rev 4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PMCF Plans and Reports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PSUR, SSCP, FSCA, PMSR 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Clinical Study Reports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Health Hazard Evaluation  and Risk Assessment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Protocol &amp; Amendment writing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2413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2413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  <a:p>
            <a:pPr marL="2413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ts val="1100"/>
              <a:buFont typeface="Wingdings" panose="05000000000000000000" pitchFamily="2" charset="2"/>
              <a:buChar char="Ø"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"/>
            </a:endParaRPr>
          </a:p>
        </p:txBody>
      </p:sp>
      <p:sp>
        <p:nvSpPr>
          <p:cNvPr id="20" name="Google Shape;181;p6">
            <a:extLst>
              <a:ext uri="{FF2B5EF4-FFF2-40B4-BE49-F238E27FC236}">
                <a16:creationId xmlns:a16="http://schemas.microsoft.com/office/drawing/2014/main" id="{E521E6BB-2279-368B-05EA-3683FADAC8F9}"/>
              </a:ext>
            </a:extLst>
          </p:cNvPr>
          <p:cNvSpPr txBox="1"/>
          <p:nvPr/>
        </p:nvSpPr>
        <p:spPr>
          <a:xfrm>
            <a:off x="9166999" y="2014069"/>
            <a:ext cx="229108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6BE"/>
              </a:buClr>
              <a:buSzPts val="1400"/>
              <a:buFont typeface="Poppins Medium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Medium"/>
              </a:rPr>
              <a:t>Documentation and Report Writing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Medium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346E45-6DF5-FB49-32C0-43EB9B7BC51A}"/>
              </a:ext>
            </a:extLst>
          </p:cNvPr>
          <p:cNvSpPr txBox="1">
            <a:spLocks/>
          </p:cNvSpPr>
          <p:nvPr/>
        </p:nvSpPr>
        <p:spPr>
          <a:xfrm>
            <a:off x="285204" y="145617"/>
            <a:ext cx="11055457" cy="57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E44C2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>
                <a:solidFill>
                  <a:srgbClr val="E34A2A"/>
                </a:solidFill>
              </a:rPr>
              <a:t>Regulatory Affairs Services &amp; Software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214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99B3-5593-032B-0324-3CE27535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Governance Automation Vision &amp; Framework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5A0301-873C-BE1D-0C58-D37630A90720}"/>
              </a:ext>
            </a:extLst>
          </p:cNvPr>
          <p:cNvGrpSpPr/>
          <p:nvPr/>
        </p:nvGrpSpPr>
        <p:grpSpPr>
          <a:xfrm>
            <a:off x="1239723" y="715971"/>
            <a:ext cx="9258926" cy="408914"/>
            <a:chOff x="1466537" y="721617"/>
            <a:chExt cx="9258926" cy="408914"/>
          </a:xfrm>
        </p:grpSpPr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3ADE10C0-C321-CC3B-39B2-B837866DD640}"/>
                </a:ext>
              </a:extLst>
            </p:cNvPr>
            <p:cNvSpPr/>
            <p:nvPr/>
          </p:nvSpPr>
          <p:spPr>
            <a:xfrm>
              <a:off x="1466537" y="814795"/>
              <a:ext cx="9258926" cy="222559"/>
            </a:xfrm>
            <a:prstGeom prst="roundRect">
              <a:avLst>
                <a:gd name="adj" fmla="val 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" name="Rounded Rectangle 2">
              <a:extLst>
                <a:ext uri="{FF2B5EF4-FFF2-40B4-BE49-F238E27FC236}">
                  <a16:creationId xmlns:a16="http://schemas.microsoft.com/office/drawing/2014/main" id="{18E9073A-9F23-EFA5-F375-5B41BC18A3AC}"/>
                </a:ext>
              </a:extLst>
            </p:cNvPr>
            <p:cNvSpPr/>
            <p:nvPr/>
          </p:nvSpPr>
          <p:spPr>
            <a:xfrm>
              <a:off x="1962307" y="721617"/>
              <a:ext cx="8267386" cy="408914"/>
            </a:xfrm>
            <a:prstGeom prst="roundRect">
              <a:avLst>
                <a:gd name="adj" fmla="val 50000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Building Autonomous, Policy-Driven Governance Across the Data Lifecycle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9E1551-6B4F-D49F-685E-1D02DDF73E78}"/>
              </a:ext>
            </a:extLst>
          </p:cNvPr>
          <p:cNvCxnSpPr>
            <a:cxnSpLocks/>
          </p:cNvCxnSpPr>
          <p:nvPr/>
        </p:nvCxnSpPr>
        <p:spPr>
          <a:xfrm>
            <a:off x="386015" y="1321064"/>
            <a:ext cx="0" cy="4988271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E03709-B65C-89A3-2E36-EDE4D6D32F6D}"/>
              </a:ext>
            </a:extLst>
          </p:cNvPr>
          <p:cNvSpPr txBox="1"/>
          <p:nvPr/>
        </p:nvSpPr>
        <p:spPr>
          <a:xfrm>
            <a:off x="584621" y="1340056"/>
            <a:ext cx="570592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Vision:</a:t>
            </a:r>
          </a:p>
          <a:p>
            <a:pPr marL="285750" indent="-285750">
              <a:spcBef>
                <a:spcPts val="1200"/>
              </a:spcBef>
              <a:buBlip>
                <a:blip r:embed="rId2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 enterprise vision through Smart Data + Smart Governance with a strong foundation of automated, AI-enabled data governance.</a:t>
            </a:r>
          </a:p>
          <a:p>
            <a:pPr>
              <a:spcBef>
                <a:spcPts val="1200"/>
              </a:spcBef>
            </a:pPr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</a:t>
            </a:r>
          </a:p>
          <a:p>
            <a:pPr marL="285750" indent="-285750">
              <a:spcBef>
                <a:spcPts val="1200"/>
              </a:spcBef>
              <a:buBlip>
                <a:blip r:embed="rId2"/>
              </a:buBlip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Transform governance through end-to-end Information Lifecycle Management</a:t>
            </a:r>
          </a:p>
          <a:p>
            <a:pPr>
              <a:spcBef>
                <a:spcPts val="1200"/>
              </a:spcBef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</a:t>
            </a:r>
            <a:r>
              <a:rPr lang="en-IN" sz="1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(Acquire → Process → Store → Share → Archive)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CB390C-57F8-D6A0-5A9A-B95D86A32298}"/>
              </a:ext>
            </a:extLst>
          </p:cNvPr>
          <p:cNvSpPr txBox="1"/>
          <p:nvPr/>
        </p:nvSpPr>
        <p:spPr>
          <a:xfrm>
            <a:off x="584621" y="3937717"/>
            <a:ext cx="5705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 Principles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Clearly defined ownership &amp; accountability across lifecycle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 embedded close to data sources (ERP/MDM/SAP)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Digital &amp; AI-enabled enforcement vs manual oversight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 integrated into development &amp; data lifecycle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ECA1F-7775-EC54-CF99-A96279C7F62F}"/>
              </a:ext>
            </a:extLst>
          </p:cNvPr>
          <p:cNvSpPr txBox="1"/>
          <p:nvPr/>
        </p:nvSpPr>
        <p:spPr>
          <a:xfrm>
            <a:off x="2411912" y="5607992"/>
            <a:ext cx="28840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Quality &amp; Trust Foundation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BCDA44-A222-F2A3-C91D-303EBE24B0D4}"/>
              </a:ext>
            </a:extLst>
          </p:cNvPr>
          <p:cNvGrpSpPr/>
          <p:nvPr/>
        </p:nvGrpSpPr>
        <p:grpSpPr>
          <a:xfrm>
            <a:off x="499038" y="5915769"/>
            <a:ext cx="6709830" cy="510688"/>
            <a:chOff x="2280843" y="5352235"/>
            <a:chExt cx="7633178" cy="510688"/>
          </a:xfrm>
        </p:grpSpPr>
        <p:sp>
          <p:nvSpPr>
            <p:cNvPr id="17" name="Rounded Rectangle 75">
              <a:extLst>
                <a:ext uri="{FF2B5EF4-FFF2-40B4-BE49-F238E27FC236}">
                  <a16:creationId xmlns:a16="http://schemas.microsoft.com/office/drawing/2014/main" id="{2AF61487-10F5-D16D-E0BF-D23C86E07E0C}"/>
                </a:ext>
              </a:extLst>
            </p:cNvPr>
            <p:cNvSpPr/>
            <p:nvPr/>
          </p:nvSpPr>
          <p:spPr>
            <a:xfrm>
              <a:off x="2280843" y="5352235"/>
              <a:ext cx="7633178" cy="510688"/>
            </a:xfrm>
            <a:prstGeom prst="roundRect">
              <a:avLst>
                <a:gd name="adj" fmla="val 789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9242" tIns="24621" rIns="49242" bIns="24621" rtlCol="0" anchor="t"/>
            <a:lstStyle/>
            <a:p>
              <a:pPr marL="11113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8899CD4-58E0-BCB9-0593-DAF3E5A6FD13}"/>
                </a:ext>
              </a:extLst>
            </p:cNvPr>
            <p:cNvGrpSpPr/>
            <p:nvPr/>
          </p:nvGrpSpPr>
          <p:grpSpPr>
            <a:xfrm>
              <a:off x="2504108" y="5427579"/>
              <a:ext cx="7186648" cy="360000"/>
              <a:chOff x="2413547" y="5363782"/>
              <a:chExt cx="7186648" cy="360000"/>
            </a:xfrm>
          </p:grpSpPr>
          <p:sp>
            <p:nvSpPr>
              <p:cNvPr id="18" name="Rounded Rectangle 78">
                <a:extLst>
                  <a:ext uri="{FF2B5EF4-FFF2-40B4-BE49-F238E27FC236}">
                    <a16:creationId xmlns:a16="http://schemas.microsoft.com/office/drawing/2014/main" id="{416A8415-E536-CFCF-0BA2-34F12AC39935}"/>
                  </a:ext>
                </a:extLst>
              </p:cNvPr>
              <p:cNvSpPr/>
              <p:nvPr/>
            </p:nvSpPr>
            <p:spPr>
              <a:xfrm>
                <a:off x="2413547" y="5363782"/>
                <a:ext cx="108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49242" tIns="24621" rIns="49242" bIns="24621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Complete</a:t>
                </a:r>
              </a:p>
            </p:txBody>
          </p:sp>
          <p:sp>
            <p:nvSpPr>
              <p:cNvPr id="19" name="Rounded Rectangle 80">
                <a:extLst>
                  <a:ext uri="{FF2B5EF4-FFF2-40B4-BE49-F238E27FC236}">
                    <a16:creationId xmlns:a16="http://schemas.microsoft.com/office/drawing/2014/main" id="{4EEA09EA-0E14-9C86-7BC2-18B29FC77EAD}"/>
                  </a:ext>
                </a:extLst>
              </p:cNvPr>
              <p:cNvSpPr/>
              <p:nvPr/>
            </p:nvSpPr>
            <p:spPr>
              <a:xfrm>
                <a:off x="3634877" y="5363782"/>
                <a:ext cx="108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49242" tIns="24621" rIns="49242" bIns="24621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Consistent</a:t>
                </a:r>
              </a:p>
            </p:txBody>
          </p:sp>
          <p:sp>
            <p:nvSpPr>
              <p:cNvPr id="20" name="Rounded Rectangle 85">
                <a:extLst>
                  <a:ext uri="{FF2B5EF4-FFF2-40B4-BE49-F238E27FC236}">
                    <a16:creationId xmlns:a16="http://schemas.microsoft.com/office/drawing/2014/main" id="{46E155A0-A2D0-6454-1100-2A03B1F25ED5}"/>
                  </a:ext>
                </a:extLst>
              </p:cNvPr>
              <p:cNvSpPr/>
              <p:nvPr/>
            </p:nvSpPr>
            <p:spPr>
              <a:xfrm>
                <a:off x="4856207" y="5363782"/>
                <a:ext cx="108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49242" tIns="24621" rIns="49242" bIns="24621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Valid</a:t>
                </a:r>
              </a:p>
            </p:txBody>
          </p:sp>
          <p:sp>
            <p:nvSpPr>
              <p:cNvPr id="21" name="Rounded Rectangle 86">
                <a:extLst>
                  <a:ext uri="{FF2B5EF4-FFF2-40B4-BE49-F238E27FC236}">
                    <a16:creationId xmlns:a16="http://schemas.microsoft.com/office/drawing/2014/main" id="{83989F02-2D9F-8AD9-B38C-95AC72359219}"/>
                  </a:ext>
                </a:extLst>
              </p:cNvPr>
              <p:cNvSpPr/>
              <p:nvPr/>
            </p:nvSpPr>
            <p:spPr>
              <a:xfrm>
                <a:off x="6077537" y="5363782"/>
                <a:ext cx="108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49242" tIns="24621" rIns="49242" bIns="24621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Accurate</a:t>
                </a:r>
              </a:p>
            </p:txBody>
          </p:sp>
          <p:sp>
            <p:nvSpPr>
              <p:cNvPr id="24" name="Rounded Rectangle 78">
                <a:extLst>
                  <a:ext uri="{FF2B5EF4-FFF2-40B4-BE49-F238E27FC236}">
                    <a16:creationId xmlns:a16="http://schemas.microsoft.com/office/drawing/2014/main" id="{BB119CCC-C866-6D62-839B-66EC3E640840}"/>
                  </a:ext>
                </a:extLst>
              </p:cNvPr>
              <p:cNvSpPr/>
              <p:nvPr/>
            </p:nvSpPr>
            <p:spPr>
              <a:xfrm>
                <a:off x="7298867" y="5363782"/>
                <a:ext cx="108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49242" tIns="24621" rIns="49242" bIns="24621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Timely</a:t>
                </a:r>
              </a:p>
            </p:txBody>
          </p:sp>
          <p:sp>
            <p:nvSpPr>
              <p:cNvPr id="25" name="Rounded Rectangle 80">
                <a:extLst>
                  <a:ext uri="{FF2B5EF4-FFF2-40B4-BE49-F238E27FC236}">
                    <a16:creationId xmlns:a16="http://schemas.microsoft.com/office/drawing/2014/main" id="{3F294F07-FDD1-6734-70DA-DD38974786F8}"/>
                  </a:ext>
                </a:extLst>
              </p:cNvPr>
              <p:cNvSpPr/>
              <p:nvPr/>
            </p:nvSpPr>
            <p:spPr>
              <a:xfrm>
                <a:off x="8520195" y="5363782"/>
                <a:ext cx="108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49242" tIns="24621" rIns="49242" bIns="24621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Secure</a:t>
                </a: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3210F54-9350-902E-092A-2293B9402ED5}"/>
              </a:ext>
            </a:extLst>
          </p:cNvPr>
          <p:cNvGrpSpPr/>
          <p:nvPr/>
        </p:nvGrpSpPr>
        <p:grpSpPr>
          <a:xfrm>
            <a:off x="6530271" y="1242918"/>
            <a:ext cx="5450230" cy="5418666"/>
            <a:chOff x="6530271" y="1242918"/>
            <a:chExt cx="5450230" cy="541866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CA655E-3D9B-6610-CF0C-CFA76B47E927}"/>
                </a:ext>
              </a:extLst>
            </p:cNvPr>
            <p:cNvSpPr txBox="1"/>
            <p:nvPr/>
          </p:nvSpPr>
          <p:spPr>
            <a:xfrm>
              <a:off x="9443358" y="3727903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Demo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C3EF312-F4E5-CD7A-9E31-24325616F76F}"/>
                </a:ext>
              </a:extLst>
            </p:cNvPr>
            <p:cNvGrpSpPr/>
            <p:nvPr/>
          </p:nvGrpSpPr>
          <p:grpSpPr>
            <a:xfrm>
              <a:off x="6530271" y="1242918"/>
              <a:ext cx="5450230" cy="5418666"/>
              <a:chOff x="6530271" y="1062158"/>
              <a:chExt cx="5450230" cy="5418666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00194DC-162C-A2DE-B7AD-7E6FAAA16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0271" y="1062158"/>
                <a:ext cx="5418666" cy="5418666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589F89-8DC5-CC0D-4BE6-B5F1D9F46345}"/>
                  </a:ext>
                </a:extLst>
              </p:cNvPr>
              <p:cNvSpPr txBox="1"/>
              <p:nvPr/>
            </p:nvSpPr>
            <p:spPr>
              <a:xfrm>
                <a:off x="8602698" y="3433791"/>
                <a:ext cx="13076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B0F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DATA GOVERNANCE FRAMEWORK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5F454A-A57F-30BE-36C3-AE33DA61768B}"/>
                  </a:ext>
                </a:extLst>
              </p:cNvPr>
              <p:cNvSpPr txBox="1"/>
              <p:nvPr/>
            </p:nvSpPr>
            <p:spPr>
              <a:xfrm>
                <a:off x="8341857" y="1382945"/>
                <a:ext cx="21567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Data Management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Enterprise data strategy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Information lifecycle management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Data standards &amp; quality</a:t>
                </a:r>
                <a:endParaRPr lang="en-US" sz="10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5FAFBC-90AB-0FD7-FE7B-00F76BD5C645}"/>
                  </a:ext>
                </a:extLst>
              </p:cNvPr>
              <p:cNvSpPr txBox="1"/>
              <p:nvPr/>
            </p:nvSpPr>
            <p:spPr>
              <a:xfrm>
                <a:off x="10708504" y="2971789"/>
                <a:ext cx="1271997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Enablers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People &amp; culture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Process &amp; operating model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Tools &amp; technology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1F6F28B-7E28-F6BD-735F-4CE99D4C2E66}"/>
                  </a:ext>
                </a:extLst>
              </p:cNvPr>
              <p:cNvSpPr txBox="1"/>
              <p:nvPr/>
            </p:nvSpPr>
            <p:spPr>
              <a:xfrm>
                <a:off x="6634716" y="3032827"/>
                <a:ext cx="1271996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Strategy</a:t>
                </a:r>
              </a:p>
              <a:p>
                <a:pPr marL="85725" indent="-85725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Maturity assessment &amp; vision</a:t>
                </a:r>
              </a:p>
              <a:p>
                <a:pPr marL="85725" indent="-85725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Governance framework &amp; org model</a:t>
                </a:r>
              </a:p>
              <a:p>
                <a:pPr marL="85725" indent="-85725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Technology selection</a:t>
                </a:r>
              </a:p>
              <a:p>
                <a:pPr marL="85725" indent="-85725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Implementation roadmap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4D8642-03A8-B7FE-0CF5-7678ADAB9C53}"/>
                  </a:ext>
                </a:extLst>
              </p:cNvPr>
              <p:cNvSpPr txBox="1"/>
              <p:nvPr/>
            </p:nvSpPr>
            <p:spPr>
              <a:xfrm>
                <a:off x="8364962" y="5392673"/>
                <a:ext cx="21567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rgbClr val="0070C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Stewardship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Data stewardship model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Glossary &amp; metadata</a:t>
                </a:r>
              </a:p>
              <a:p>
                <a:pPr marL="171450" indent="-171450">
                  <a:buClr>
                    <a:srgbClr val="00B0F0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Lineage, quality, privacy &amp; security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1DBB9E-4EF7-7C6D-06D9-34A4A906DBFD}"/>
                </a:ext>
              </a:extLst>
            </p:cNvPr>
            <p:cNvSpPr txBox="1"/>
            <p:nvPr/>
          </p:nvSpPr>
          <p:spPr>
            <a:xfrm>
              <a:off x="7824499" y="3803167"/>
              <a:ext cx="33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6ACFF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  <a:endParaRPr lang="en-US" sz="1400" dirty="0">
                <a:solidFill>
                  <a:srgbClr val="6ACFF4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A6D787D-8DCC-DDF1-CF21-90923F8D75C7}"/>
                </a:ext>
              </a:extLst>
            </p:cNvPr>
            <p:cNvSpPr txBox="1"/>
            <p:nvPr/>
          </p:nvSpPr>
          <p:spPr>
            <a:xfrm>
              <a:off x="9089580" y="2566412"/>
              <a:ext cx="33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6ACFF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  <a:endParaRPr lang="en-US" sz="1400" dirty="0">
                <a:solidFill>
                  <a:srgbClr val="6ACFF4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D772A4-E51C-6AF8-BFDA-B8A73206891C}"/>
                </a:ext>
              </a:extLst>
            </p:cNvPr>
            <p:cNvSpPr txBox="1"/>
            <p:nvPr/>
          </p:nvSpPr>
          <p:spPr>
            <a:xfrm>
              <a:off x="10280805" y="3768623"/>
              <a:ext cx="33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6ACFF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</a:t>
              </a:r>
              <a:endParaRPr lang="en-US" sz="1400" dirty="0">
                <a:solidFill>
                  <a:srgbClr val="6ACFF4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6841886-24B1-F180-0F15-56365808FF24}"/>
                </a:ext>
              </a:extLst>
            </p:cNvPr>
            <p:cNvSpPr txBox="1"/>
            <p:nvPr/>
          </p:nvSpPr>
          <p:spPr>
            <a:xfrm>
              <a:off x="9069827" y="5054723"/>
              <a:ext cx="33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6ACFF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4</a:t>
              </a:r>
              <a:endParaRPr lang="en-US" sz="1400" dirty="0">
                <a:solidFill>
                  <a:srgbClr val="6ACF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2156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A67C-0D67-CA3E-04A1-8269A486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Governance Automation Operating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338FD-F34A-A37C-8EE1-7BD5E8DFE90E}"/>
              </a:ext>
            </a:extLst>
          </p:cNvPr>
          <p:cNvSpPr txBox="1"/>
          <p:nvPr/>
        </p:nvSpPr>
        <p:spPr>
          <a:xfrm>
            <a:off x="3056905" y="944902"/>
            <a:ext cx="5382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Manual Governance to Continuous, Embedded Governance</a:t>
            </a:r>
            <a:endParaRPr lang="en-IN" sz="14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9C77A97-7F67-8DF4-2FC3-F33E6F10F4D0}"/>
              </a:ext>
            </a:extLst>
          </p:cNvPr>
          <p:cNvSpPr/>
          <p:nvPr/>
        </p:nvSpPr>
        <p:spPr>
          <a:xfrm>
            <a:off x="136259" y="1627993"/>
            <a:ext cx="500743" cy="1021064"/>
          </a:xfrm>
          <a:custGeom>
            <a:avLst/>
            <a:gdLst>
              <a:gd name="connsiteX0" fmla="*/ 500743 w 500743"/>
              <a:gd name="connsiteY0" fmla="*/ 0 h 1021064"/>
              <a:gd name="connsiteX1" fmla="*/ 500743 w 500743"/>
              <a:gd name="connsiteY1" fmla="*/ 1021064 h 1021064"/>
              <a:gd name="connsiteX2" fmla="*/ 408518 w 500743"/>
              <a:gd name="connsiteY2" fmla="*/ 1011767 h 1021064"/>
              <a:gd name="connsiteX3" fmla="*/ 0 w 500743"/>
              <a:gd name="connsiteY3" fmla="*/ 510532 h 1021064"/>
              <a:gd name="connsiteX4" fmla="*/ 408518 w 500743"/>
              <a:gd name="connsiteY4" fmla="*/ 9297 h 1021064"/>
              <a:gd name="connsiteX5" fmla="*/ 500743 w 500743"/>
              <a:gd name="connsiteY5" fmla="*/ 0 h 10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743" h="1021064">
                <a:moveTo>
                  <a:pt x="500743" y="0"/>
                </a:moveTo>
                <a:lnTo>
                  <a:pt x="500743" y="1021064"/>
                </a:lnTo>
                <a:lnTo>
                  <a:pt x="408518" y="1011767"/>
                </a:lnTo>
                <a:cubicBezTo>
                  <a:pt x="175377" y="964059"/>
                  <a:pt x="0" y="757777"/>
                  <a:pt x="0" y="510532"/>
                </a:cubicBezTo>
                <a:cubicBezTo>
                  <a:pt x="0" y="263288"/>
                  <a:pt x="175377" y="57005"/>
                  <a:pt x="408518" y="9297"/>
                </a:cubicBezTo>
                <a:lnTo>
                  <a:pt x="5007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D83DBF2-5868-A5DF-A70F-7C1AD97C6B86}"/>
              </a:ext>
            </a:extLst>
          </p:cNvPr>
          <p:cNvCxnSpPr>
            <a:cxnSpLocks/>
          </p:cNvCxnSpPr>
          <p:nvPr/>
        </p:nvCxnSpPr>
        <p:spPr>
          <a:xfrm>
            <a:off x="637002" y="2438317"/>
            <a:ext cx="0" cy="32040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60A4C82-F24A-A8A8-8B64-95D882E754B0}"/>
              </a:ext>
            </a:extLst>
          </p:cNvPr>
          <p:cNvSpPr/>
          <p:nvPr/>
        </p:nvSpPr>
        <p:spPr>
          <a:xfrm>
            <a:off x="378216" y="1803245"/>
            <a:ext cx="2632061" cy="67056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Governance Foundation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D0CB40-F265-2B38-4662-EBA1B58466C9}"/>
              </a:ext>
            </a:extLst>
          </p:cNvPr>
          <p:cNvSpPr/>
          <p:nvPr/>
        </p:nvSpPr>
        <p:spPr>
          <a:xfrm>
            <a:off x="233710" y="1730394"/>
            <a:ext cx="806584" cy="806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8C5BCF-26EF-56FA-DB0E-11139927A850}"/>
              </a:ext>
            </a:extLst>
          </p:cNvPr>
          <p:cNvSpPr txBox="1"/>
          <p:nvPr/>
        </p:nvSpPr>
        <p:spPr>
          <a:xfrm>
            <a:off x="647186" y="2834894"/>
            <a:ext cx="2604050" cy="12311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en-US"/>
            </a:defPPr>
            <a:lvl2pPr marL="285750" lvl="1" indent="-28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F0"/>
              </a:buClr>
              <a:buFont typeface="Wingdings" panose="05000000000000000000" pitchFamily="2" charset="2"/>
              <a:buChar char="v"/>
              <a:def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Define vision, policies, standards &amp; operating model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Assign data owners &amp; stewards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Set up glossary, metadata &amp; lineage foundation</a:t>
            </a: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5C63EFD0-3E50-25BC-1F30-B8C94B3CF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144"/>
                    </a14:imgEffect>
                    <a14:imgEffect>
                      <a14:saturation sat="217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411686" y="1899348"/>
            <a:ext cx="482106" cy="48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1561A1E-197D-63D6-E1AB-383BD12DDB1C}"/>
              </a:ext>
            </a:extLst>
          </p:cNvPr>
          <p:cNvSpPr/>
          <p:nvPr/>
        </p:nvSpPr>
        <p:spPr>
          <a:xfrm>
            <a:off x="3011026" y="1627993"/>
            <a:ext cx="500743" cy="1021064"/>
          </a:xfrm>
          <a:custGeom>
            <a:avLst/>
            <a:gdLst>
              <a:gd name="connsiteX0" fmla="*/ 500743 w 500743"/>
              <a:gd name="connsiteY0" fmla="*/ 0 h 1021064"/>
              <a:gd name="connsiteX1" fmla="*/ 500743 w 500743"/>
              <a:gd name="connsiteY1" fmla="*/ 1021064 h 1021064"/>
              <a:gd name="connsiteX2" fmla="*/ 408518 w 500743"/>
              <a:gd name="connsiteY2" fmla="*/ 1011767 h 1021064"/>
              <a:gd name="connsiteX3" fmla="*/ 0 w 500743"/>
              <a:gd name="connsiteY3" fmla="*/ 510532 h 1021064"/>
              <a:gd name="connsiteX4" fmla="*/ 408518 w 500743"/>
              <a:gd name="connsiteY4" fmla="*/ 9297 h 1021064"/>
              <a:gd name="connsiteX5" fmla="*/ 500743 w 500743"/>
              <a:gd name="connsiteY5" fmla="*/ 0 h 10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743" h="1021064">
                <a:moveTo>
                  <a:pt x="500743" y="0"/>
                </a:moveTo>
                <a:lnTo>
                  <a:pt x="500743" y="1021064"/>
                </a:lnTo>
                <a:lnTo>
                  <a:pt x="408518" y="1011767"/>
                </a:lnTo>
                <a:cubicBezTo>
                  <a:pt x="175377" y="964059"/>
                  <a:pt x="0" y="757777"/>
                  <a:pt x="0" y="510532"/>
                </a:cubicBezTo>
                <a:cubicBezTo>
                  <a:pt x="0" y="263288"/>
                  <a:pt x="175377" y="57005"/>
                  <a:pt x="408518" y="9297"/>
                </a:cubicBezTo>
                <a:lnTo>
                  <a:pt x="5007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DD5DC3-72F2-1990-3601-2594B722B7A4}"/>
              </a:ext>
            </a:extLst>
          </p:cNvPr>
          <p:cNvCxnSpPr>
            <a:cxnSpLocks/>
          </p:cNvCxnSpPr>
          <p:nvPr/>
        </p:nvCxnSpPr>
        <p:spPr>
          <a:xfrm>
            <a:off x="3511769" y="2438317"/>
            <a:ext cx="0" cy="32040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272ABA9-8C24-719F-F916-B2553D162C3D}"/>
              </a:ext>
            </a:extLst>
          </p:cNvPr>
          <p:cNvSpPr/>
          <p:nvPr/>
        </p:nvSpPr>
        <p:spPr>
          <a:xfrm>
            <a:off x="3252983" y="1803245"/>
            <a:ext cx="2632061" cy="67056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Automate Stewardship &amp; </a:t>
            </a:r>
          </a:p>
          <a:p>
            <a:pPr algn="r"/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Policy Execution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108CE52-2F27-5047-B05E-7AC665E9EF90}"/>
              </a:ext>
            </a:extLst>
          </p:cNvPr>
          <p:cNvSpPr/>
          <p:nvPr/>
        </p:nvSpPr>
        <p:spPr>
          <a:xfrm>
            <a:off x="3108477" y="1730394"/>
            <a:ext cx="806584" cy="806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615ACD-4819-ED85-2F67-3FD2E96A0B19}"/>
              </a:ext>
            </a:extLst>
          </p:cNvPr>
          <p:cNvSpPr txBox="1"/>
          <p:nvPr/>
        </p:nvSpPr>
        <p:spPr>
          <a:xfrm>
            <a:off x="3504302" y="2834894"/>
            <a:ext cx="2290438" cy="204979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en-US"/>
            </a:defPPr>
            <a:lvl2pPr marL="285750" lvl="1" indent="-28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F0"/>
              </a:buClr>
              <a:buFont typeface="Wingdings" panose="05000000000000000000" pitchFamily="2" charset="2"/>
              <a:buChar char="v"/>
              <a:def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Automated metadata ingestion &amp; cataloging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AI-assisted data discovery &amp; classification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Workflow-driven stewardship &amp; approvals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Policy enforcement embedded into data lifecycle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E728CEC-918E-C55B-3567-871AD9CEB4A5}"/>
              </a:ext>
            </a:extLst>
          </p:cNvPr>
          <p:cNvSpPr/>
          <p:nvPr/>
        </p:nvSpPr>
        <p:spPr>
          <a:xfrm>
            <a:off x="5891002" y="1627993"/>
            <a:ext cx="500743" cy="1021064"/>
          </a:xfrm>
          <a:custGeom>
            <a:avLst/>
            <a:gdLst>
              <a:gd name="connsiteX0" fmla="*/ 500743 w 500743"/>
              <a:gd name="connsiteY0" fmla="*/ 0 h 1021064"/>
              <a:gd name="connsiteX1" fmla="*/ 500743 w 500743"/>
              <a:gd name="connsiteY1" fmla="*/ 1021064 h 1021064"/>
              <a:gd name="connsiteX2" fmla="*/ 408518 w 500743"/>
              <a:gd name="connsiteY2" fmla="*/ 1011767 h 1021064"/>
              <a:gd name="connsiteX3" fmla="*/ 0 w 500743"/>
              <a:gd name="connsiteY3" fmla="*/ 510532 h 1021064"/>
              <a:gd name="connsiteX4" fmla="*/ 408518 w 500743"/>
              <a:gd name="connsiteY4" fmla="*/ 9297 h 1021064"/>
              <a:gd name="connsiteX5" fmla="*/ 500743 w 500743"/>
              <a:gd name="connsiteY5" fmla="*/ 0 h 10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743" h="1021064">
                <a:moveTo>
                  <a:pt x="500743" y="0"/>
                </a:moveTo>
                <a:lnTo>
                  <a:pt x="500743" y="1021064"/>
                </a:lnTo>
                <a:lnTo>
                  <a:pt x="408518" y="1011767"/>
                </a:lnTo>
                <a:cubicBezTo>
                  <a:pt x="175377" y="964059"/>
                  <a:pt x="0" y="757777"/>
                  <a:pt x="0" y="510532"/>
                </a:cubicBezTo>
                <a:cubicBezTo>
                  <a:pt x="0" y="263288"/>
                  <a:pt x="175377" y="57005"/>
                  <a:pt x="408518" y="9297"/>
                </a:cubicBezTo>
                <a:lnTo>
                  <a:pt x="5007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6609D4-2623-1DB7-259F-79264CEF1FE6}"/>
              </a:ext>
            </a:extLst>
          </p:cNvPr>
          <p:cNvCxnSpPr>
            <a:cxnSpLocks/>
          </p:cNvCxnSpPr>
          <p:nvPr/>
        </p:nvCxnSpPr>
        <p:spPr>
          <a:xfrm>
            <a:off x="6391748" y="2438317"/>
            <a:ext cx="0" cy="32040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E536B8E-C03D-44AA-A56E-2B4D5B7C2F72}"/>
              </a:ext>
            </a:extLst>
          </p:cNvPr>
          <p:cNvSpPr/>
          <p:nvPr/>
        </p:nvSpPr>
        <p:spPr>
          <a:xfrm>
            <a:off x="6132959" y="1803245"/>
            <a:ext cx="2632061" cy="67056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Continuous Monitoring &amp; Control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51AFB99-E995-0D69-220E-21A5386C59CA}"/>
              </a:ext>
            </a:extLst>
          </p:cNvPr>
          <p:cNvSpPr/>
          <p:nvPr/>
        </p:nvSpPr>
        <p:spPr>
          <a:xfrm>
            <a:off x="5988453" y="1730394"/>
            <a:ext cx="806584" cy="806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2" descr="Testing ">
            <a:extLst>
              <a:ext uri="{FF2B5EF4-FFF2-40B4-BE49-F238E27FC236}">
                <a16:creationId xmlns:a16="http://schemas.microsoft.com/office/drawing/2014/main" id="{9157708B-9E26-8C31-5F3F-E9BB495B5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6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758" y="1907848"/>
            <a:ext cx="482106" cy="49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F906D-53A5-6F3C-3302-DB2CBBB28A63}"/>
              </a:ext>
            </a:extLst>
          </p:cNvPr>
          <p:cNvSpPr txBox="1"/>
          <p:nvPr/>
        </p:nvSpPr>
        <p:spPr>
          <a:xfrm>
            <a:off x="6412432" y="2834894"/>
            <a:ext cx="2484409" cy="188359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en-US"/>
            </a:defPPr>
            <a:lvl2pPr marL="285750" lvl="1" indent="-28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F0"/>
              </a:buClr>
              <a:buFont typeface="Wingdings" panose="05000000000000000000" pitchFamily="2" charset="2"/>
              <a:buChar char="v"/>
              <a:def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Automated data quality &amp; compliance checks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Real-time policy conformance monitoring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Usage, access &amp; risk monitoring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Automated audit trails &amp; reporting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5F5079A-87DC-7EF1-CAFE-1A4F389B38FD}"/>
              </a:ext>
            </a:extLst>
          </p:cNvPr>
          <p:cNvSpPr/>
          <p:nvPr/>
        </p:nvSpPr>
        <p:spPr>
          <a:xfrm>
            <a:off x="8764841" y="1627993"/>
            <a:ext cx="500743" cy="1021064"/>
          </a:xfrm>
          <a:custGeom>
            <a:avLst/>
            <a:gdLst>
              <a:gd name="connsiteX0" fmla="*/ 500743 w 500743"/>
              <a:gd name="connsiteY0" fmla="*/ 0 h 1021064"/>
              <a:gd name="connsiteX1" fmla="*/ 500743 w 500743"/>
              <a:gd name="connsiteY1" fmla="*/ 1021064 h 1021064"/>
              <a:gd name="connsiteX2" fmla="*/ 408518 w 500743"/>
              <a:gd name="connsiteY2" fmla="*/ 1011767 h 1021064"/>
              <a:gd name="connsiteX3" fmla="*/ 0 w 500743"/>
              <a:gd name="connsiteY3" fmla="*/ 510532 h 1021064"/>
              <a:gd name="connsiteX4" fmla="*/ 408518 w 500743"/>
              <a:gd name="connsiteY4" fmla="*/ 9297 h 1021064"/>
              <a:gd name="connsiteX5" fmla="*/ 500743 w 500743"/>
              <a:gd name="connsiteY5" fmla="*/ 0 h 10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743" h="1021064">
                <a:moveTo>
                  <a:pt x="500743" y="0"/>
                </a:moveTo>
                <a:lnTo>
                  <a:pt x="500743" y="1021064"/>
                </a:lnTo>
                <a:lnTo>
                  <a:pt x="408518" y="1011767"/>
                </a:lnTo>
                <a:cubicBezTo>
                  <a:pt x="175377" y="964059"/>
                  <a:pt x="0" y="757777"/>
                  <a:pt x="0" y="510532"/>
                </a:cubicBezTo>
                <a:cubicBezTo>
                  <a:pt x="0" y="263288"/>
                  <a:pt x="175377" y="57005"/>
                  <a:pt x="408518" y="9297"/>
                </a:cubicBezTo>
                <a:lnTo>
                  <a:pt x="5007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5B1DBBD-CEA8-3F40-9571-9FBC18E51707}"/>
              </a:ext>
            </a:extLst>
          </p:cNvPr>
          <p:cNvCxnSpPr>
            <a:cxnSpLocks/>
          </p:cNvCxnSpPr>
          <p:nvPr/>
        </p:nvCxnSpPr>
        <p:spPr>
          <a:xfrm>
            <a:off x="9265584" y="2438317"/>
            <a:ext cx="0" cy="320400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43BA5F-1657-E93B-30B4-17A092465700}"/>
              </a:ext>
            </a:extLst>
          </p:cNvPr>
          <p:cNvSpPr/>
          <p:nvPr/>
        </p:nvSpPr>
        <p:spPr>
          <a:xfrm>
            <a:off x="9006798" y="1803245"/>
            <a:ext cx="2632061" cy="67056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Community &amp; </a:t>
            </a:r>
          </a:p>
          <a:p>
            <a:pPr algn="r"/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Collaboration Layer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B2A2438-098B-F683-B853-33E108DAD0FB}"/>
              </a:ext>
            </a:extLst>
          </p:cNvPr>
          <p:cNvSpPr/>
          <p:nvPr/>
        </p:nvSpPr>
        <p:spPr>
          <a:xfrm>
            <a:off x="8862292" y="1730394"/>
            <a:ext cx="806584" cy="806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4">
            <a:extLst>
              <a:ext uri="{FF2B5EF4-FFF2-40B4-BE49-F238E27FC236}">
                <a16:creationId xmlns:a16="http://schemas.microsoft.com/office/drawing/2014/main" id="{A517DABE-9702-E05E-D836-46F4CFDD1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014357" y="1839278"/>
            <a:ext cx="539512" cy="53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D975629-2FC5-06D7-680C-6E13A2B70235}"/>
              </a:ext>
            </a:extLst>
          </p:cNvPr>
          <p:cNvSpPr txBox="1"/>
          <p:nvPr/>
        </p:nvSpPr>
        <p:spPr>
          <a:xfrm>
            <a:off x="9280133" y="2890357"/>
            <a:ext cx="2604050" cy="12311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en-US"/>
            </a:defPPr>
            <a:lvl2pPr marL="285750" lvl="1" indent="-28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F0"/>
              </a:buClr>
              <a:buFont typeface="Wingdings" panose="05000000000000000000" pitchFamily="2" charset="2"/>
              <a:buChar char="v"/>
              <a:defRPr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Promote trusted data usage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Knowledge sharing &amp; peer review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Continuous curation of critical data assets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9A89374-AFDF-0B5C-EFF9-CBF860398C6D}"/>
              </a:ext>
            </a:extLst>
          </p:cNvPr>
          <p:cNvSpPr/>
          <p:nvPr/>
        </p:nvSpPr>
        <p:spPr>
          <a:xfrm>
            <a:off x="511629" y="6052873"/>
            <a:ext cx="11190514" cy="593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Arrow: Straight with solid fill">
            <a:extLst>
              <a:ext uri="{FF2B5EF4-FFF2-40B4-BE49-F238E27FC236}">
                <a16:creationId xmlns:a16="http://schemas.microsoft.com/office/drawing/2014/main" id="{797D078F-9FC7-B0AE-08B4-D83DC7A284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2855069" y="5625327"/>
            <a:ext cx="914400" cy="914400"/>
          </a:xfrm>
          <a:prstGeom prst="rect">
            <a:avLst/>
          </a:prstGeom>
        </p:spPr>
      </p:pic>
      <p:pic>
        <p:nvPicPr>
          <p:cNvPr id="64" name="Graphic 63" descr="Arrow: Straight with solid fill">
            <a:extLst>
              <a:ext uri="{FF2B5EF4-FFF2-40B4-BE49-F238E27FC236}">
                <a16:creationId xmlns:a16="http://schemas.microsoft.com/office/drawing/2014/main" id="{13473040-8FAF-15A9-8E4B-389BC93781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5742066" y="5625327"/>
            <a:ext cx="914400" cy="914400"/>
          </a:xfrm>
          <a:prstGeom prst="rect">
            <a:avLst/>
          </a:prstGeom>
        </p:spPr>
      </p:pic>
      <p:pic>
        <p:nvPicPr>
          <p:cNvPr id="65" name="Graphic 64" descr="Arrow: Straight with solid fill">
            <a:extLst>
              <a:ext uri="{FF2B5EF4-FFF2-40B4-BE49-F238E27FC236}">
                <a16:creationId xmlns:a16="http://schemas.microsoft.com/office/drawing/2014/main" id="{BC406720-4030-A3C7-D80A-9197E69912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635162" y="5625327"/>
            <a:ext cx="914400" cy="914400"/>
          </a:xfrm>
          <a:prstGeom prst="rect">
            <a:avLst/>
          </a:prstGeom>
        </p:spPr>
      </p:pic>
      <p:sp>
        <p:nvSpPr>
          <p:cNvPr id="66" name="Oval 65">
            <a:extLst>
              <a:ext uri="{FF2B5EF4-FFF2-40B4-BE49-F238E27FC236}">
                <a16:creationId xmlns:a16="http://schemas.microsoft.com/office/drawing/2014/main" id="{65848CE1-D42F-FBFB-4B55-0049832640FD}"/>
              </a:ext>
            </a:extLst>
          </p:cNvPr>
          <p:cNvSpPr/>
          <p:nvPr/>
        </p:nvSpPr>
        <p:spPr>
          <a:xfrm>
            <a:off x="11580988" y="5870087"/>
            <a:ext cx="390974" cy="39097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587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Graphic 66" descr="Arrow: Straight with solid fill">
            <a:extLst>
              <a:ext uri="{FF2B5EF4-FFF2-40B4-BE49-F238E27FC236}">
                <a16:creationId xmlns:a16="http://schemas.microsoft.com/office/drawing/2014/main" id="{97579559-02E3-01B6-CDB6-B653A47667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-9694" y="5604140"/>
            <a:ext cx="914400" cy="9144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3CE1144-2421-0F14-DD25-8302955116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2175" y="1850039"/>
            <a:ext cx="567294" cy="56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8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C9B6-0792-6008-344A-4BF8A41F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Lineage &amp; Provenance – Foundation for Trusted &amp; AI-Ready Data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D6F32-61E2-D283-29BA-56F158D83054}"/>
              </a:ext>
            </a:extLst>
          </p:cNvPr>
          <p:cNvSpPr txBox="1"/>
          <p:nvPr/>
        </p:nvSpPr>
        <p:spPr>
          <a:xfrm>
            <a:off x="3047114" y="790721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Establishing End-to-End Data Traceability Across Enterprise Lifecycle</a:t>
            </a:r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67118042-AB59-30AD-51B7-D06B45D3FB73}"/>
              </a:ext>
            </a:extLst>
          </p:cNvPr>
          <p:cNvSpPr/>
          <p:nvPr/>
        </p:nvSpPr>
        <p:spPr>
          <a:xfrm>
            <a:off x="523763" y="1096833"/>
            <a:ext cx="10950058" cy="588204"/>
          </a:xfrm>
          <a:prstGeom prst="snipRoundRect">
            <a:avLst>
              <a:gd name="adj1" fmla="val 16667"/>
              <a:gd name="adj2" fmla="val 50000"/>
            </a:avLst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2AA84-F2F9-FCA1-ED95-0D2D19ABD986}"/>
              </a:ext>
            </a:extLst>
          </p:cNvPr>
          <p:cNvSpPr txBox="1"/>
          <p:nvPr/>
        </p:nvSpPr>
        <p:spPr>
          <a:xfrm>
            <a:off x="967395" y="1084873"/>
            <a:ext cx="85602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Vision: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 trusted, explainable, and AI-ready data through end-to-end lineage and provenance visibility</a:t>
            </a:r>
            <a:endParaRPr lang="en-IN" sz="14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Round Same-side Corner of Rectangle 20">
            <a:extLst>
              <a:ext uri="{FF2B5EF4-FFF2-40B4-BE49-F238E27FC236}">
                <a16:creationId xmlns:a16="http://schemas.microsoft.com/office/drawing/2014/main" id="{51EA742A-1124-3282-C694-4AA90E2ED4AE}"/>
              </a:ext>
            </a:extLst>
          </p:cNvPr>
          <p:cNvSpPr/>
          <p:nvPr/>
        </p:nvSpPr>
        <p:spPr>
          <a:xfrm rot="16200000">
            <a:off x="7625867" y="2556410"/>
            <a:ext cx="3455854" cy="2127679"/>
          </a:xfrm>
          <a:prstGeom prst="round2SameRect">
            <a:avLst>
              <a:gd name="adj1" fmla="val 8783"/>
              <a:gd name="adj2" fmla="val 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21">
            <a:extLst>
              <a:ext uri="{FF2B5EF4-FFF2-40B4-BE49-F238E27FC236}">
                <a16:creationId xmlns:a16="http://schemas.microsoft.com/office/drawing/2014/main" id="{1FA232E6-AB8E-602B-371C-AA083E6C8B3E}"/>
              </a:ext>
            </a:extLst>
          </p:cNvPr>
          <p:cNvSpPr/>
          <p:nvPr/>
        </p:nvSpPr>
        <p:spPr>
          <a:xfrm>
            <a:off x="8406085" y="1970628"/>
            <a:ext cx="3577188" cy="3280232"/>
          </a:xfrm>
          <a:prstGeom prst="roundRect">
            <a:avLst>
              <a:gd name="adj" fmla="val 5921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3">
            <a:extLst>
              <a:ext uri="{FF2B5EF4-FFF2-40B4-BE49-F238E27FC236}">
                <a16:creationId xmlns:a16="http://schemas.microsoft.com/office/drawing/2014/main" id="{686EFA10-1B18-89C2-D64F-C6D1B6185BF6}"/>
              </a:ext>
            </a:extLst>
          </p:cNvPr>
          <p:cNvSpPr/>
          <p:nvPr/>
        </p:nvSpPr>
        <p:spPr>
          <a:xfrm>
            <a:off x="8581598" y="2132115"/>
            <a:ext cx="3226160" cy="43288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Traceability Across Information Lifecycle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F770A5-C1B6-3BA1-1848-064285FB2AE1}"/>
              </a:ext>
            </a:extLst>
          </p:cNvPr>
          <p:cNvSpPr txBox="1"/>
          <p:nvPr/>
        </p:nvSpPr>
        <p:spPr>
          <a:xfrm>
            <a:off x="8406084" y="2692569"/>
            <a:ext cx="3577188" cy="216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Capture lineage across: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Structured &amp; unstructured data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ERP (SAP), MDM &amp; enterprise applications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warehouses &amp; data hubs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Reports, AI/analytics consumption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E7CEBF-CD50-C44E-F10E-E568C1F7DF1A}"/>
              </a:ext>
            </a:extLst>
          </p:cNvPr>
          <p:cNvGrpSpPr/>
          <p:nvPr/>
        </p:nvGrpSpPr>
        <p:grpSpPr>
          <a:xfrm>
            <a:off x="394010" y="5563026"/>
            <a:ext cx="8637373" cy="1062681"/>
            <a:chOff x="617838" y="5288692"/>
            <a:chExt cx="8637373" cy="106268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D103045-47EA-90CA-3A17-7329BDC6CB63}"/>
                </a:ext>
              </a:extLst>
            </p:cNvPr>
            <p:cNvGrpSpPr/>
            <p:nvPr/>
          </p:nvGrpSpPr>
          <p:grpSpPr>
            <a:xfrm>
              <a:off x="617838" y="5288692"/>
              <a:ext cx="1062681" cy="1062681"/>
              <a:chOff x="617838" y="5288692"/>
              <a:chExt cx="1062681" cy="106268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D070FF-9DDA-7D93-AAB4-36661173A37C}"/>
                  </a:ext>
                </a:extLst>
              </p:cNvPr>
              <p:cNvSpPr/>
              <p:nvPr/>
            </p:nvSpPr>
            <p:spPr>
              <a:xfrm>
                <a:off x="617838" y="5288692"/>
                <a:ext cx="1062681" cy="106268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7" name="Graphic 46">
                <a:extLst>
                  <a:ext uri="{FF2B5EF4-FFF2-40B4-BE49-F238E27FC236}">
                    <a16:creationId xmlns:a16="http://schemas.microsoft.com/office/drawing/2014/main" id="{AAE0804F-FEEE-C72C-BA2C-C929DA502E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753761" y="5424615"/>
                <a:ext cx="790834" cy="790834"/>
              </a:xfrm>
              <a:prstGeom prst="rect">
                <a:avLst/>
              </a:prstGeom>
            </p:spPr>
          </p:pic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385FA9-BE2F-5ADF-7D1C-57BD4B052AFB}"/>
                </a:ext>
              </a:extLst>
            </p:cNvPr>
            <p:cNvSpPr/>
            <p:nvPr/>
          </p:nvSpPr>
          <p:spPr>
            <a:xfrm>
              <a:off x="1544595" y="5356654"/>
              <a:ext cx="7710616" cy="92675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B0F0"/>
              </a:solidFill>
            </a:ln>
            <a:effectLst>
              <a:outerShdw dist="38100" dir="10800000" algn="r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05BFDD-30DF-AB73-0CB7-694B5FDAE897}"/>
                </a:ext>
              </a:extLst>
            </p:cNvPr>
            <p:cNvSpPr txBox="1"/>
            <p:nvPr/>
          </p:nvSpPr>
          <p:spPr>
            <a:xfrm>
              <a:off x="1611006" y="5424615"/>
              <a:ext cx="19925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  <a:buClr>
                  <a:srgbClr val="00B0F0"/>
                </a:buClr>
              </a:pPr>
              <a:r>
                <a:rPr lang="en-US" sz="12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Outcome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F764F34-0C10-82B0-6F31-8107F539305B}"/>
                </a:ext>
              </a:extLst>
            </p:cNvPr>
            <p:cNvSpPr txBox="1"/>
            <p:nvPr/>
          </p:nvSpPr>
          <p:spPr>
            <a:xfrm>
              <a:off x="1602649" y="5688782"/>
              <a:ext cx="765256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Bef>
                  <a:spcPts val="6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Trusted data foundation enabling</a:t>
              </a:r>
            </a:p>
            <a:p>
              <a:pPr marL="171450" indent="-171450">
                <a:spcBef>
                  <a:spcPts val="6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Better decisions, compliance, and AI adoption</a:t>
              </a:r>
            </a:p>
          </p:txBody>
        </p:sp>
      </p:grpSp>
      <p:sp>
        <p:nvSpPr>
          <p:cNvPr id="49" name="Round Same-side Corner of Rectangle 20">
            <a:extLst>
              <a:ext uri="{FF2B5EF4-FFF2-40B4-BE49-F238E27FC236}">
                <a16:creationId xmlns:a16="http://schemas.microsoft.com/office/drawing/2014/main" id="{B7DF61A9-9528-F012-681E-0375C43A97C6}"/>
              </a:ext>
            </a:extLst>
          </p:cNvPr>
          <p:cNvSpPr/>
          <p:nvPr/>
        </p:nvSpPr>
        <p:spPr>
          <a:xfrm rot="16200000">
            <a:off x="3658618" y="2556409"/>
            <a:ext cx="3455852" cy="2127679"/>
          </a:xfrm>
          <a:prstGeom prst="round2SameRect">
            <a:avLst>
              <a:gd name="adj1" fmla="val 8783"/>
              <a:gd name="adj2" fmla="val 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ED49AEFD-449A-8B8E-6FD8-DB143F3AC336}"/>
              </a:ext>
            </a:extLst>
          </p:cNvPr>
          <p:cNvSpPr/>
          <p:nvPr/>
        </p:nvSpPr>
        <p:spPr>
          <a:xfrm>
            <a:off x="4438835" y="1970628"/>
            <a:ext cx="3577188" cy="3280232"/>
          </a:xfrm>
          <a:prstGeom prst="roundRect">
            <a:avLst>
              <a:gd name="adj" fmla="val 5921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33">
            <a:extLst>
              <a:ext uri="{FF2B5EF4-FFF2-40B4-BE49-F238E27FC236}">
                <a16:creationId xmlns:a16="http://schemas.microsoft.com/office/drawing/2014/main" id="{A78273A6-7A71-C52D-9FDA-14F2D6ECDD23}"/>
              </a:ext>
            </a:extLst>
          </p:cNvPr>
          <p:cNvSpPr/>
          <p:nvPr/>
        </p:nvSpPr>
        <p:spPr>
          <a:xfrm>
            <a:off x="4614348" y="2132115"/>
            <a:ext cx="3226160" cy="43288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 Objectives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A9AF04-C7A9-8DD1-6BCD-F899ED93F60D}"/>
              </a:ext>
            </a:extLst>
          </p:cNvPr>
          <p:cNvSpPr txBox="1"/>
          <p:nvPr/>
        </p:nvSpPr>
        <p:spPr>
          <a:xfrm>
            <a:off x="4438834" y="2692569"/>
            <a:ext cx="3577188" cy="2034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single source of truth for data movement &amp; ownership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Provide contextual understanding of data usage &amp; transformations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 audit-ready and explainable data ecosystem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Strengthen trust for analytics, AI &amp; decision-making</a:t>
            </a:r>
          </a:p>
        </p:txBody>
      </p:sp>
      <p:sp>
        <p:nvSpPr>
          <p:cNvPr id="54" name="Round Same-side Corner of Rectangle 20">
            <a:extLst>
              <a:ext uri="{FF2B5EF4-FFF2-40B4-BE49-F238E27FC236}">
                <a16:creationId xmlns:a16="http://schemas.microsoft.com/office/drawing/2014/main" id="{7D3DDC73-FAB1-32FB-9FE1-13A7AAD13876}"/>
              </a:ext>
            </a:extLst>
          </p:cNvPr>
          <p:cNvSpPr/>
          <p:nvPr/>
        </p:nvSpPr>
        <p:spPr>
          <a:xfrm rot="16200000">
            <a:off x="-308634" y="2556410"/>
            <a:ext cx="3455854" cy="2127679"/>
          </a:xfrm>
          <a:prstGeom prst="round2SameRect">
            <a:avLst>
              <a:gd name="adj1" fmla="val 8783"/>
              <a:gd name="adj2" fmla="val 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21">
            <a:extLst>
              <a:ext uri="{FF2B5EF4-FFF2-40B4-BE49-F238E27FC236}">
                <a16:creationId xmlns:a16="http://schemas.microsoft.com/office/drawing/2014/main" id="{83102A68-D41B-9B39-A74B-80A290329479}"/>
              </a:ext>
            </a:extLst>
          </p:cNvPr>
          <p:cNvSpPr/>
          <p:nvPr/>
        </p:nvSpPr>
        <p:spPr>
          <a:xfrm>
            <a:off x="471584" y="1970628"/>
            <a:ext cx="3577188" cy="3280232"/>
          </a:xfrm>
          <a:prstGeom prst="roundRect">
            <a:avLst>
              <a:gd name="adj" fmla="val 5921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33">
            <a:extLst>
              <a:ext uri="{FF2B5EF4-FFF2-40B4-BE49-F238E27FC236}">
                <a16:creationId xmlns:a16="http://schemas.microsoft.com/office/drawing/2014/main" id="{AAEBBFD5-D6FB-7DC1-014D-D59A4CCC0DEE}"/>
              </a:ext>
            </a:extLst>
          </p:cNvPr>
          <p:cNvSpPr/>
          <p:nvPr/>
        </p:nvSpPr>
        <p:spPr>
          <a:xfrm>
            <a:off x="647097" y="2132115"/>
            <a:ext cx="3226160" cy="4328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It Matters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00EF6E-5A1D-3E44-3285-4602C8B31BBF}"/>
              </a:ext>
            </a:extLst>
          </p:cNvPr>
          <p:cNvSpPr txBox="1"/>
          <p:nvPr/>
        </p:nvSpPr>
        <p:spPr>
          <a:xfrm>
            <a:off x="471583" y="2692569"/>
            <a:ext cx="3577188" cy="255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Limited visibility into origin → transformation → consumption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Difficult to assess business impact of data issues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Increasing need for AI explainability &amp; regulatory traceability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Need full traceability across enterprise value chain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(Source → ERP/MDM → Processing → Analytics → Business outcomes)</a:t>
            </a:r>
          </a:p>
        </p:txBody>
      </p:sp>
    </p:spTree>
    <p:extLst>
      <p:ext uri="{BB962C8B-B14F-4D97-AF65-F5344CB8AC3E}">
        <p14:creationId xmlns:p14="http://schemas.microsoft.com/office/powerpoint/2010/main" val="21493268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046B-5647-05EF-9AB5-ECCBFDFC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Lineage &amp; Provenance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1D1B8-E7AC-6B21-F24A-FCC9FA753DBE}"/>
              </a:ext>
            </a:extLst>
          </p:cNvPr>
          <p:cNvSpPr txBox="1"/>
          <p:nvPr/>
        </p:nvSpPr>
        <p:spPr>
          <a:xfrm>
            <a:off x="3372736" y="721617"/>
            <a:ext cx="5446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Static Documentation to Continuous, Intelligent Traceability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A50EB-44EC-4F1B-99CA-4D1EB7CA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37" y="1179186"/>
            <a:ext cx="4010526" cy="401052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9BEF424-46CB-95ED-6A2F-1E3B9D7374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017839" y="2261777"/>
            <a:ext cx="566980" cy="56698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E3E9593-611E-AA78-6BC2-DB3E66315BE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457663" y="2261777"/>
            <a:ext cx="566980" cy="56698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F25D720-1EE4-E95A-592D-14890E819C9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457663" y="3547584"/>
            <a:ext cx="566980" cy="5669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EE5A0A-3BD1-A009-308E-2DB3489C6600}"/>
              </a:ext>
            </a:extLst>
          </p:cNvPr>
          <p:cNvSpPr txBox="1"/>
          <p:nvPr/>
        </p:nvSpPr>
        <p:spPr>
          <a:xfrm>
            <a:off x="8214867" y="1186924"/>
            <a:ext cx="345613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 Automated Lineage Capture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Automated discovery of data flows &amp; transformations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Column-level &amp; business-process lineage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Provenance tracking (origin, changes, usage)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Integration with MDM, SAP &amp; governance tools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294FD-C165-A299-17B6-D2EEAC9550DB}"/>
              </a:ext>
            </a:extLst>
          </p:cNvPr>
          <p:cNvSpPr txBox="1"/>
          <p:nvPr/>
        </p:nvSpPr>
        <p:spPr>
          <a:xfrm>
            <a:off x="8214867" y="3565257"/>
            <a:ext cx="3456138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&amp; Future-Ready Capabilities</a:t>
            </a:r>
          </a:p>
          <a:p>
            <a:pPr marL="171450" indent="-171450">
              <a:spcBef>
                <a:spcPts val="12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AI-assisted lineage discovery &amp; mapping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Explainability layer for AI/analytics outputs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Intelligent impact prediction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Integration into Data Fabric &amp; governance automation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5F522A-DC3C-27CF-799A-AB5A42FA05D9}"/>
              </a:ext>
            </a:extLst>
          </p:cNvPr>
          <p:cNvSpPr/>
          <p:nvPr/>
        </p:nvSpPr>
        <p:spPr>
          <a:xfrm>
            <a:off x="8150941" y="1186924"/>
            <a:ext cx="63925" cy="18145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D2E7C-DD6D-7247-0541-43A123684470}"/>
              </a:ext>
            </a:extLst>
          </p:cNvPr>
          <p:cNvSpPr/>
          <p:nvPr/>
        </p:nvSpPr>
        <p:spPr>
          <a:xfrm>
            <a:off x="8150941" y="3565257"/>
            <a:ext cx="63925" cy="18145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1A923-CE77-4817-73C6-50714B2993E2}"/>
              </a:ext>
            </a:extLst>
          </p:cNvPr>
          <p:cNvSpPr txBox="1"/>
          <p:nvPr/>
        </p:nvSpPr>
        <p:spPr>
          <a:xfrm>
            <a:off x="520995" y="1186924"/>
            <a:ext cx="341545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Lineage Foundation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Metadata ingestion across enterprise systems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Business glossary &amp; data definitions alignment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critical data elements &amp; ownership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Map source-to-consumption data flows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6986D-67D1-DC37-03FD-70D4801DDC07}"/>
              </a:ext>
            </a:extLst>
          </p:cNvPr>
          <p:cNvSpPr txBox="1"/>
          <p:nvPr/>
        </p:nvSpPr>
        <p:spPr>
          <a:xfrm>
            <a:off x="520995" y="3565257"/>
            <a:ext cx="341545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Continuous Monitoring &amp; Impact Analysis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Track data movement &amp; transformation in real time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downstream impact of data changes/issues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Root-cause analysis for quality &amp; compliance issues</a:t>
            </a:r>
          </a:p>
          <a:p>
            <a:pPr marL="171450" indent="-171450" algn="r"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 audit, risk &amp; regulatory reporting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78E030-6F94-81F1-4FC8-820DA7CA3216}"/>
              </a:ext>
            </a:extLst>
          </p:cNvPr>
          <p:cNvSpPr/>
          <p:nvPr/>
        </p:nvSpPr>
        <p:spPr>
          <a:xfrm>
            <a:off x="3976739" y="1186924"/>
            <a:ext cx="63925" cy="18145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83E610-6547-663D-659F-08E5A7EB9953}"/>
              </a:ext>
            </a:extLst>
          </p:cNvPr>
          <p:cNvSpPr/>
          <p:nvPr/>
        </p:nvSpPr>
        <p:spPr>
          <a:xfrm>
            <a:off x="3976739" y="3565257"/>
            <a:ext cx="63925" cy="18145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B3C09A-92CF-3851-8831-BCEE7DACF032}"/>
              </a:ext>
            </a:extLst>
          </p:cNvPr>
          <p:cNvGrpSpPr/>
          <p:nvPr/>
        </p:nvGrpSpPr>
        <p:grpSpPr>
          <a:xfrm>
            <a:off x="5017839" y="3565257"/>
            <a:ext cx="731648" cy="731648"/>
            <a:chOff x="4844129" y="5245206"/>
            <a:chExt cx="914400" cy="914400"/>
          </a:xfrm>
        </p:grpSpPr>
        <p:pic>
          <p:nvPicPr>
            <p:cNvPr id="19" name="Graphic 18" descr="Monitor with solid fill">
              <a:extLst>
                <a:ext uri="{FF2B5EF4-FFF2-40B4-BE49-F238E27FC236}">
                  <a16:creationId xmlns:a16="http://schemas.microsoft.com/office/drawing/2014/main" id="{9B571C10-95F4-FBA0-9CD8-3AE28E51C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44129" y="5245206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Gauge with solid fill">
              <a:extLst>
                <a:ext uri="{FF2B5EF4-FFF2-40B4-BE49-F238E27FC236}">
                  <a16:creationId xmlns:a16="http://schemas.microsoft.com/office/drawing/2014/main" id="{4ED12E23-799D-D139-84D5-7330F69B8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29719" y="5329208"/>
              <a:ext cx="561230" cy="56123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F2BEDB-1F16-19BF-E0ED-F8F74B9867A7}"/>
              </a:ext>
            </a:extLst>
          </p:cNvPr>
          <p:cNvGrpSpPr/>
          <p:nvPr/>
        </p:nvGrpSpPr>
        <p:grpSpPr>
          <a:xfrm>
            <a:off x="394010" y="5563026"/>
            <a:ext cx="8637373" cy="1062681"/>
            <a:chOff x="617838" y="5288692"/>
            <a:chExt cx="8637373" cy="106268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9F1445D-0A8F-C445-7288-241B9D040949}"/>
                </a:ext>
              </a:extLst>
            </p:cNvPr>
            <p:cNvGrpSpPr/>
            <p:nvPr/>
          </p:nvGrpSpPr>
          <p:grpSpPr>
            <a:xfrm>
              <a:off x="617838" y="5288692"/>
              <a:ext cx="1062681" cy="1062681"/>
              <a:chOff x="617838" y="5288692"/>
              <a:chExt cx="1062681" cy="106268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243DF86-1A27-125C-B644-B76936B09914}"/>
                  </a:ext>
                </a:extLst>
              </p:cNvPr>
              <p:cNvSpPr/>
              <p:nvPr/>
            </p:nvSpPr>
            <p:spPr>
              <a:xfrm>
                <a:off x="617838" y="5288692"/>
                <a:ext cx="1062681" cy="106268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9" name="Graphic 46">
                <a:extLst>
                  <a:ext uri="{FF2B5EF4-FFF2-40B4-BE49-F238E27FC236}">
                    <a16:creationId xmlns:a16="http://schemas.microsoft.com/office/drawing/2014/main" id="{AEEF145D-6DDC-A467-0ADF-4CDFF161B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753761" y="5424615"/>
                <a:ext cx="790834" cy="790834"/>
              </a:xfrm>
              <a:prstGeom prst="rect">
                <a:avLst/>
              </a:prstGeom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35FE05-E23B-E96F-7C88-371404CCDB3B}"/>
                </a:ext>
              </a:extLst>
            </p:cNvPr>
            <p:cNvSpPr/>
            <p:nvPr/>
          </p:nvSpPr>
          <p:spPr>
            <a:xfrm>
              <a:off x="1544595" y="5356654"/>
              <a:ext cx="7710616" cy="92675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B0F0"/>
              </a:solidFill>
            </a:ln>
            <a:effectLst>
              <a:outerShdw dist="38100" dir="10800000" algn="r" rotWithShape="0">
                <a:srgbClr val="00B0F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1D9BCF-3443-FDF4-30FB-0DA43F621D29}"/>
                </a:ext>
              </a:extLst>
            </p:cNvPr>
            <p:cNvSpPr txBox="1"/>
            <p:nvPr/>
          </p:nvSpPr>
          <p:spPr>
            <a:xfrm>
              <a:off x="1611006" y="5382083"/>
              <a:ext cx="19925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  <a:buClr>
                  <a:srgbClr val="00B0F0"/>
                </a:buClr>
              </a:pPr>
              <a:r>
                <a:rPr lang="en-US" sz="1200" b="1" dirty="0">
                  <a:solidFill>
                    <a:srgbClr val="0070C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Outcome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C9D64E-A2FE-53CC-A8D9-6E81D4431242}"/>
                </a:ext>
              </a:extLst>
            </p:cNvPr>
            <p:cNvSpPr txBox="1"/>
            <p:nvPr/>
          </p:nvSpPr>
          <p:spPr>
            <a:xfrm>
              <a:off x="1816441" y="5567554"/>
              <a:ext cx="7219671" cy="723275"/>
            </a:xfrm>
            <a:prstGeom prst="rect">
              <a:avLst/>
            </a:prstGeom>
            <a:noFill/>
          </p:spPr>
          <p:txBody>
            <a:bodyPr wrap="square" numCol="2" rtlCol="0">
              <a:spAutoFit/>
            </a:bodyPr>
            <a:lstStyle/>
            <a:p>
              <a:pPr marL="171450" indent="-171450">
                <a:spcBef>
                  <a:spcPts val="6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End-to-end transparency &amp; trust in enterprise data</a:t>
              </a:r>
            </a:p>
            <a:p>
              <a:pPr marL="171450" indent="-171450">
                <a:spcBef>
                  <a:spcPts val="6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Faster issue resolution &amp; impact analysis</a:t>
              </a:r>
            </a:p>
            <a:p>
              <a:pPr marL="171450" indent="-171450">
                <a:spcBef>
                  <a:spcPts val="6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Strong compliance &amp; audit readiness</a:t>
              </a:r>
            </a:p>
            <a:p>
              <a:pPr marL="171450" indent="-171450">
                <a:spcBef>
                  <a:spcPts val="600"/>
                </a:spcBef>
                <a:buClr>
                  <a:srgbClr val="00B0F0"/>
                </a:buClr>
                <a:buFont typeface="Wingdings" panose="05000000000000000000" pitchFamily="2" charset="2"/>
                <a:buChar char="Ø"/>
              </a:pP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Foundation for AI, knowledge graph &amp; semantic layer initiatives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9652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5EA6-AC37-5023-0B3C-D12F191A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Three Pillars Of Quality</a:t>
            </a:r>
          </a:p>
        </p:txBody>
      </p:sp>
      <p:sp>
        <p:nvSpPr>
          <p:cNvPr id="10" name="Rounded Rectangle 25">
            <a:extLst>
              <a:ext uri="{FF2B5EF4-FFF2-40B4-BE49-F238E27FC236}">
                <a16:creationId xmlns:a16="http://schemas.microsoft.com/office/drawing/2014/main" id="{86430DA1-6065-670A-F6F9-55CF0A5834AA}"/>
              </a:ext>
            </a:extLst>
          </p:cNvPr>
          <p:cNvSpPr/>
          <p:nvPr/>
        </p:nvSpPr>
        <p:spPr>
          <a:xfrm>
            <a:off x="4912600" y="1658169"/>
            <a:ext cx="3137346" cy="3438880"/>
          </a:xfrm>
          <a:prstGeom prst="roundRect">
            <a:avLst>
              <a:gd name="adj" fmla="val 10762"/>
            </a:avLst>
          </a:prstGeom>
          <a:solidFill>
            <a:schemeClr val="bg1"/>
          </a:solidFill>
          <a:ln>
            <a:solidFill>
              <a:srgbClr val="45B2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ound Same-side Corner of Rectangle 26">
            <a:extLst>
              <a:ext uri="{FF2B5EF4-FFF2-40B4-BE49-F238E27FC236}">
                <a16:creationId xmlns:a16="http://schemas.microsoft.com/office/drawing/2014/main" id="{5AFB2D00-4E5D-202D-31E6-54F541F02E78}"/>
              </a:ext>
            </a:extLst>
          </p:cNvPr>
          <p:cNvSpPr/>
          <p:nvPr/>
        </p:nvSpPr>
        <p:spPr>
          <a:xfrm rot="16200000">
            <a:off x="3426018" y="3144753"/>
            <a:ext cx="3438878" cy="4657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64BE0D-9B9F-B3E8-791C-F53E72C060BE}"/>
              </a:ext>
            </a:extLst>
          </p:cNvPr>
          <p:cNvSpPr/>
          <p:nvPr/>
        </p:nvSpPr>
        <p:spPr>
          <a:xfrm>
            <a:off x="4214029" y="2866618"/>
            <a:ext cx="1021983" cy="1021984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20CE85-AF8C-DBF4-324D-C6043A770F33}"/>
              </a:ext>
            </a:extLst>
          </p:cNvPr>
          <p:cNvSpPr txBox="1"/>
          <p:nvPr/>
        </p:nvSpPr>
        <p:spPr>
          <a:xfrm>
            <a:off x="5446789" y="1851552"/>
            <a:ext cx="1678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CA9AD-5A4C-C399-B290-33FA3E0387BE}"/>
              </a:ext>
            </a:extLst>
          </p:cNvPr>
          <p:cNvSpPr txBox="1"/>
          <p:nvPr/>
        </p:nvSpPr>
        <p:spPr>
          <a:xfrm>
            <a:off x="5446789" y="2961078"/>
            <a:ext cx="2378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Clr>
                <a:srgbClr val="0070C0"/>
              </a:buClr>
              <a:buFont typeface="Wingdings" pitchFamily="2" charset="2"/>
              <a:buChar char="Ø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LLMs interpret business context to distinguish valid outliers from errors.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AE732E-B426-43C4-1D8D-98229B6CA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481716" y="3096792"/>
            <a:ext cx="561634" cy="561634"/>
          </a:xfrm>
          <a:prstGeom prst="rect">
            <a:avLst/>
          </a:prstGeom>
        </p:spPr>
      </p:pic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AD4F1B65-D457-E39D-37D8-28CD078F9E97}"/>
              </a:ext>
            </a:extLst>
          </p:cNvPr>
          <p:cNvSpPr/>
          <p:nvPr/>
        </p:nvSpPr>
        <p:spPr>
          <a:xfrm>
            <a:off x="931503" y="1658170"/>
            <a:ext cx="3137346" cy="3438878"/>
          </a:xfrm>
          <a:prstGeom prst="roundRect">
            <a:avLst>
              <a:gd name="adj" fmla="val 10762"/>
            </a:avLst>
          </a:prstGeom>
          <a:solidFill>
            <a:schemeClr val="bg1"/>
          </a:solidFill>
          <a:ln>
            <a:solidFill>
              <a:srgbClr val="45B2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ound Same-side Corner of Rectangle 4">
            <a:extLst>
              <a:ext uri="{FF2B5EF4-FFF2-40B4-BE49-F238E27FC236}">
                <a16:creationId xmlns:a16="http://schemas.microsoft.com/office/drawing/2014/main" id="{645143EF-809D-B4F8-52FE-7B7D522A4CCA}"/>
              </a:ext>
            </a:extLst>
          </p:cNvPr>
          <p:cNvSpPr/>
          <p:nvPr/>
        </p:nvSpPr>
        <p:spPr>
          <a:xfrm rot="16200000">
            <a:off x="-555078" y="3144753"/>
            <a:ext cx="3438876" cy="4657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D23954-C7BE-0824-EF97-4960F1B5C495}"/>
              </a:ext>
            </a:extLst>
          </p:cNvPr>
          <p:cNvSpPr/>
          <p:nvPr/>
        </p:nvSpPr>
        <p:spPr>
          <a:xfrm>
            <a:off x="232932" y="2866618"/>
            <a:ext cx="1021983" cy="1021984"/>
          </a:xfrm>
          <a:prstGeom prst="ellipse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D0342-7229-5E22-69D8-C22E0A0ADD7B}"/>
              </a:ext>
            </a:extLst>
          </p:cNvPr>
          <p:cNvSpPr txBox="1"/>
          <p:nvPr/>
        </p:nvSpPr>
        <p:spPr>
          <a:xfrm>
            <a:off x="1465692" y="1851553"/>
            <a:ext cx="1947359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AUTONOMY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09F6A-0DE9-E671-1E38-9B32C01CDC90}"/>
              </a:ext>
            </a:extLst>
          </p:cNvPr>
          <p:cNvSpPr txBox="1"/>
          <p:nvPr/>
        </p:nvSpPr>
        <p:spPr>
          <a:xfrm>
            <a:off x="1465692" y="2961079"/>
            <a:ext cx="24647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Clr>
                <a:srgbClr val="00B0F0"/>
              </a:buClr>
              <a:buFont typeface="Wingdings" pitchFamily="2" charset="2"/>
              <a:buChar char="Ø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continuously monitor data streams without scheduled jobs.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F157E6-B0C2-11CC-FB44-1A81FE73E2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27753" y="3154102"/>
            <a:ext cx="561634" cy="447014"/>
          </a:xfrm>
          <a:prstGeom prst="rect">
            <a:avLst/>
          </a:prstGeom>
        </p:spPr>
      </p:pic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4541A588-0C9F-D2FC-3574-9EF544F28440}"/>
              </a:ext>
            </a:extLst>
          </p:cNvPr>
          <p:cNvSpPr/>
          <p:nvPr/>
        </p:nvSpPr>
        <p:spPr>
          <a:xfrm>
            <a:off x="8813647" y="1658169"/>
            <a:ext cx="3137346" cy="3438880"/>
          </a:xfrm>
          <a:prstGeom prst="roundRect">
            <a:avLst>
              <a:gd name="adj" fmla="val 10762"/>
            </a:avLst>
          </a:prstGeom>
          <a:solidFill>
            <a:schemeClr val="bg1"/>
          </a:solidFill>
          <a:ln>
            <a:solidFill>
              <a:srgbClr val="45B2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ound Same-side Corner of Rectangle 26">
            <a:extLst>
              <a:ext uri="{FF2B5EF4-FFF2-40B4-BE49-F238E27FC236}">
                <a16:creationId xmlns:a16="http://schemas.microsoft.com/office/drawing/2014/main" id="{555AF29B-7001-1AC0-7978-4899E177E408}"/>
              </a:ext>
            </a:extLst>
          </p:cNvPr>
          <p:cNvSpPr/>
          <p:nvPr/>
        </p:nvSpPr>
        <p:spPr>
          <a:xfrm rot="16200000">
            <a:off x="7327065" y="3144753"/>
            <a:ext cx="3438878" cy="46571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CE3FD3C-5979-7575-680A-166B5659CCDD}"/>
              </a:ext>
            </a:extLst>
          </p:cNvPr>
          <p:cNvSpPr/>
          <p:nvPr/>
        </p:nvSpPr>
        <p:spPr>
          <a:xfrm>
            <a:off x="8115076" y="2866618"/>
            <a:ext cx="1021983" cy="102198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59E5BF-5860-863A-00B2-9738A053B104}"/>
              </a:ext>
            </a:extLst>
          </p:cNvPr>
          <p:cNvSpPr txBox="1"/>
          <p:nvPr/>
        </p:nvSpPr>
        <p:spPr>
          <a:xfrm>
            <a:off x="9347836" y="1851552"/>
            <a:ext cx="1678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TOOL-USE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B1812F-F175-4220-39C1-165A3141132A}"/>
              </a:ext>
            </a:extLst>
          </p:cNvPr>
          <p:cNvSpPr txBox="1"/>
          <p:nvPr/>
        </p:nvSpPr>
        <p:spPr>
          <a:xfrm>
            <a:off x="9347836" y="2961078"/>
            <a:ext cx="2378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Clr>
                <a:srgbClr val="0070C0"/>
              </a:buClr>
              <a:buFont typeface="Wingdings" pitchFamily="2" charset="2"/>
              <a:buChar char="Ø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connect directly to SQL engines to execute fixes.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423E82E-824A-5FF1-4B7C-387013BAF0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382763" y="3096792"/>
            <a:ext cx="561634" cy="56163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5866A1E-ED97-35C4-3199-2EB805744E41}"/>
              </a:ext>
            </a:extLst>
          </p:cNvPr>
          <p:cNvSpPr txBox="1"/>
          <p:nvPr/>
        </p:nvSpPr>
        <p:spPr>
          <a:xfrm>
            <a:off x="4557727" y="772803"/>
            <a:ext cx="2736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Three Pillars Of Quality</a:t>
            </a:r>
            <a:endParaRPr lang="en-IN" sz="14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4095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93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1DE6188E-69DA-A14F-A49F-0BE1E18ADB6B}" vid="{5EB948F6-E585-C049-8399-ED2AA8E49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D102E421FC3B45AEEC9A3D43DB7BE2" ma:contentTypeVersion="21" ma:contentTypeDescription="Create a new document." ma:contentTypeScope="" ma:versionID="efcaa136722f7b3349060e805db4100d">
  <xsd:schema xmlns:xsd="http://www.w3.org/2001/XMLSchema" xmlns:xs="http://www.w3.org/2001/XMLSchema" xmlns:p="http://schemas.microsoft.com/office/2006/metadata/properties" xmlns:ns1="http://schemas.microsoft.com/sharepoint/v3" xmlns:ns3="856716c4-77e4-4ad5-a2b8-b2dccf5d65df" xmlns:ns4="cafaca3c-a3dd-4d3f-89ad-0cd9126724a1" targetNamespace="http://schemas.microsoft.com/office/2006/metadata/properties" ma:root="true" ma:fieldsID="8622d9bdfc9a47c7d628cd48bce0fe89" ns1:_="" ns3:_="" ns4:_="">
    <xsd:import namespace="http://schemas.microsoft.com/sharepoint/v3"/>
    <xsd:import namespace="856716c4-77e4-4ad5-a2b8-b2dccf5d65df"/>
    <xsd:import namespace="cafaca3c-a3dd-4d3f-89ad-0cd9126724a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1:_ip_UnifiedCompliancePolicyProperties" minOccurs="0"/>
                <xsd:element ref="ns1:_ip_UnifiedCompliancePolicyUIAc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716c4-77e4-4ad5-a2b8-b2dccf5d65d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aca3c-a3dd-4d3f-89ad-0cd912672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cafaca3c-a3dd-4d3f-89ad-0cd9126724a1" xsi:nil="true"/>
  </documentManagement>
</p:properties>
</file>

<file path=customXml/itemProps1.xml><?xml version="1.0" encoding="utf-8"?>
<ds:datastoreItem xmlns:ds="http://schemas.openxmlformats.org/officeDocument/2006/customXml" ds:itemID="{5A0D8775-8C6D-4935-BDAA-C6D431FCCF2D}">
  <ds:schemaRefs>
    <ds:schemaRef ds:uri="856716c4-77e4-4ad5-a2b8-b2dccf5d65df"/>
    <ds:schemaRef ds:uri="cafaca3c-a3dd-4d3f-89ad-0cd9126724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CA113D-8DEB-408B-9006-AC739901E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D99604-1732-4DF1-97C5-7E3D6D849FE5}">
  <ds:schemaRefs>
    <ds:schemaRef ds:uri="http://purl.org/dc/elements/1.1/"/>
    <ds:schemaRef ds:uri="http://schemas.microsoft.com/office/2006/documentManagement/types"/>
    <ds:schemaRef ds:uri="856716c4-77e4-4ad5-a2b8-b2dccf5d65df"/>
    <ds:schemaRef ds:uri="http://schemas.microsoft.com/office/2006/metadata/properties"/>
    <ds:schemaRef ds:uri="http://schemas.microsoft.com/sharepoint/v3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afaca3c-a3dd-4d3f-89ad-0cd9126724a1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6439914-63b7-464e-8327-9b13737ae8cf}" enabled="0" method="" siteId="{46439914-63b7-464e-8327-9b13737ae8c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</TotalTime>
  <Words>8734</Words>
  <Application>Microsoft Office PowerPoint</Application>
  <PresentationFormat>Widescreen</PresentationFormat>
  <Paragraphs>1515</Paragraphs>
  <Slides>58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-apple-system</vt:lpstr>
      <vt:lpstr>Aptos</vt:lpstr>
      <vt:lpstr>Arial</vt:lpstr>
      <vt:lpstr>Avenir Book</vt:lpstr>
      <vt:lpstr>Calibri</vt:lpstr>
      <vt:lpstr>Courier New</vt:lpstr>
      <vt:lpstr>DM Sans</vt:lpstr>
      <vt:lpstr>Lato</vt:lpstr>
      <vt:lpstr>Lato Light</vt:lpstr>
      <vt:lpstr>Poppins Medium</vt:lpstr>
      <vt:lpstr>Roboto</vt:lpstr>
      <vt:lpstr>Wingdings</vt:lpstr>
      <vt:lpstr>Office Theme</vt:lpstr>
      <vt:lpstr>Innominds Engineering Partnership for Next-Generation Connected Fitness Platforms</vt:lpstr>
      <vt:lpstr>Understanding Precor Product Architecture</vt:lpstr>
      <vt:lpstr>PowerPoint Presentation</vt:lpstr>
      <vt:lpstr>Why Innominds</vt:lpstr>
      <vt:lpstr>Application Capabilities</vt:lpstr>
      <vt:lpstr>Innominds Capabilities</vt:lpstr>
      <vt:lpstr>Our Approach to bring-up Android on New device / Upgrades</vt:lpstr>
      <vt:lpstr>Embedded Systems &amp; Sensor Integration</vt:lpstr>
      <vt:lpstr>Functional Coverage &amp; Code Coverage Testing Strategies</vt:lpstr>
      <vt:lpstr>PowerPoint Presentation</vt:lpstr>
      <vt:lpstr>New Product (NPI) Development Process</vt:lpstr>
      <vt:lpstr>PowerPoint Presentation</vt:lpstr>
      <vt:lpstr>Fitness Equipment System Architecture</vt:lpstr>
      <vt:lpstr>Proof-of-Concept Development Framework </vt:lpstr>
      <vt:lpstr>Design Thinking based AI/ML Development Approach</vt:lpstr>
      <vt:lpstr>Innominds Edge AI capabilities</vt:lpstr>
      <vt:lpstr>Edge AI–Driven Personalized Fitness System Features</vt:lpstr>
      <vt:lpstr>Innominds Cloud services</vt:lpstr>
      <vt:lpstr>Data &amp; BI Offerings</vt:lpstr>
      <vt:lpstr>AI/ML Capabilities</vt:lpstr>
      <vt:lpstr>Cloud Data &amp; AI Platform for Precor Consoles</vt:lpstr>
      <vt:lpstr>NPI Device Manufacturing Model</vt:lpstr>
      <vt:lpstr>Our Engagement Models</vt:lpstr>
      <vt:lpstr>Proposed Business Models</vt:lpstr>
      <vt:lpstr>Innominds  |  Team Augmentation &amp; Staffing Experiance</vt:lpstr>
      <vt:lpstr>PowerPoint Presentation</vt:lpstr>
      <vt:lpstr>Innominds Capabilities</vt:lpstr>
      <vt:lpstr>Our Approach to bring-up Android on New device / Upgrades</vt:lpstr>
      <vt:lpstr>Innominds Experience in Security Patching</vt:lpstr>
      <vt:lpstr>PowerPoint Presentation</vt:lpstr>
      <vt:lpstr>Google Mobile Services Enablement and Certification Optimization</vt:lpstr>
      <vt:lpstr>Benchmarking and Validation Framework for GMS Certification</vt:lpstr>
      <vt:lpstr>PowerPoint Presentation</vt:lpstr>
      <vt:lpstr>Device Security &amp; OTA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Innominds Observability and Telemetry Engineering Framework</vt:lpstr>
      <vt:lpstr>APM and Operational Intelligence Layer</vt:lpstr>
      <vt:lpstr>Innominds as - End-to-end MedTech Engineering Partner</vt:lpstr>
      <vt:lpstr>PowerPoint Presentation</vt:lpstr>
      <vt:lpstr>Compliances &amp; Certifications Experience</vt:lpstr>
      <vt:lpstr>Integrated Talent Transition &amp; Continuity Model</vt:lpstr>
      <vt:lpstr>PowerPoint Presentation</vt:lpstr>
      <vt:lpstr>Our Experience with Audio Systems Quality (ASQ)</vt:lpstr>
      <vt:lpstr>Kick-Off Dialogue with Dexcom</vt:lpstr>
      <vt:lpstr>Enhancing UX for Better Engagement &amp; Outcomes</vt:lpstr>
      <vt:lpstr>Dexcom Goals - Innominds Alignment Map</vt:lpstr>
      <vt:lpstr>PowerPoint Presentation</vt:lpstr>
      <vt:lpstr>PowerPoint Presentation</vt:lpstr>
      <vt:lpstr>Data Governance Automation Vision &amp; Framework</vt:lpstr>
      <vt:lpstr>Governance Automation Operating Model</vt:lpstr>
      <vt:lpstr>Lineage &amp; Provenance – Foundation for Trusted &amp; AI-Ready Data</vt:lpstr>
      <vt:lpstr>Automated Lineage &amp; Provenance Framework</vt:lpstr>
      <vt:lpstr>The Three Pillars Of Quality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Saleemuddin</dc:creator>
  <cp:lastModifiedBy>Srinivasa Raghuram</cp:lastModifiedBy>
  <cp:revision>5</cp:revision>
  <dcterms:created xsi:type="dcterms:W3CDTF">2024-12-20T05:53:39Z</dcterms:created>
  <dcterms:modified xsi:type="dcterms:W3CDTF">2026-04-10T04:50:50Z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0x0101008ED102E421FC3B45AEEC9A3D43DB7BE2</vt:lpwstr>
  </property>
</Properties>
</file>